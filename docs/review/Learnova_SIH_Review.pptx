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99" r:id="rId3"/>
    <p:sldId id="300" r:id="rId4"/>
    <p:sldId id="301" r:id="rId5"/>
    <p:sldId id="302" r:id="rId6"/>
    <p:sldId id="303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57"/>
  </p:normalViewPr>
  <p:slideViewPr>
    <p:cSldViewPr snapToGrid="0">
      <p:cViewPr varScale="1">
        <p:scale>
          <a:sx n="102" d="100"/>
          <a:sy n="102" d="100"/>
        </p:scale>
        <p:origin x="928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A0762-A7DF-323A-E966-83E211DE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3DD3CDC9-F405-0E2C-0AA4-B84DFE7D4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F3B404A-445C-F4D3-D4CF-94CA45A8CB6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8254C39A-36CC-1F58-64BB-17D84729E2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953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10/28/26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10/28/26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10/28/26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east-coast-freight-desk.vercel.app/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84.png"/><Relationship Id="rId8" Type="http://schemas.openxmlformats.org/officeDocument/2006/relationships/image" Target="../media/image8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86.png"/><Relationship Id="rId10" Type="http://schemas.openxmlformats.org/officeDocument/2006/relationships/image" Target="../media/image87.png"/><Relationship Id="rId11" Type="http://schemas.openxmlformats.org/officeDocument/2006/relationships/image" Target="../media/image88.png"/><Relationship Id="rId12" Type="http://schemas.openxmlformats.org/officeDocument/2006/relationships/image" Target="../media/image89.png"/><Relationship Id="rId13" Type="http://schemas.openxmlformats.org/officeDocument/2006/relationships/image" Target="../media/image90.png"/><Relationship Id="rId14" Type="http://schemas.openxmlformats.org/officeDocument/2006/relationships/image" Target="../media/image91.png"/><Relationship Id="rId15" Type="http://schemas.openxmlformats.org/officeDocument/2006/relationships/image" Target="../media/image92.png"/><Relationship Id="rId16" Type="http://schemas.openxmlformats.org/officeDocument/2006/relationships/image" Target="../media/image93.png"/><Relationship Id="rId17" Type="http://schemas.openxmlformats.org/officeDocument/2006/relationships/image" Target="../media/image94.png"/><Relationship Id="rId18" Type="http://schemas.openxmlformats.org/officeDocument/2006/relationships/image" Target="../media/image95.png"/><Relationship Id="rId19" Type="http://schemas.openxmlformats.org/officeDocument/2006/relationships/image" Target="../media/image96.png"/><Relationship Id="rId20" Type="http://schemas.openxmlformats.org/officeDocument/2006/relationships/image" Target="../media/image97.png"/><Relationship Id="rId21" Type="http://schemas.openxmlformats.org/officeDocument/2006/relationships/image" Target="../media/image98.png"/><Relationship Id="rId22" Type="http://schemas.openxmlformats.org/officeDocument/2006/relationships/image" Target="../media/image99.png"/><Relationship Id="rId23" Type="http://schemas.openxmlformats.org/officeDocument/2006/relationships/image" Target="../media/image100.png"/><Relationship Id="rId24" Type="http://schemas.openxmlformats.org/officeDocument/2006/relationships/image" Target="../media/image101.png"/><Relationship Id="rId25" Type="http://schemas.openxmlformats.org/officeDocument/2006/relationships/image" Target="../media/image102.png"/><Relationship Id="rId26" Type="http://schemas.openxmlformats.org/officeDocument/2006/relationships/image" Target="../media/image103.png"/><Relationship Id="rId27" Type="http://schemas.openxmlformats.org/officeDocument/2006/relationships/image" Target="../media/image104.png"/><Relationship Id="rId28" Type="http://schemas.openxmlformats.org/officeDocument/2006/relationships/image" Target="../media/image105.png"/><Relationship Id="rId29" Type="http://schemas.openxmlformats.org/officeDocument/2006/relationships/image" Target="../media/image106.png"/><Relationship Id="rId30" Type="http://schemas.openxmlformats.org/officeDocument/2006/relationships/image" Target="../media/image107.png"/><Relationship Id="rId31" Type="http://schemas.openxmlformats.org/officeDocument/2006/relationships/image" Target="../media/image108.png"/><Relationship Id="rId32" Type="http://schemas.openxmlformats.org/officeDocument/2006/relationships/image" Target="../media/image109.png"/><Relationship Id="rId33" Type="http://schemas.openxmlformats.org/officeDocument/2006/relationships/image" Target="../media/image110.png"/><Relationship Id="rId34" Type="http://schemas.openxmlformats.org/officeDocument/2006/relationships/image" Target="../media/image111.png"/><Relationship Id="rId35" Type="http://schemas.openxmlformats.org/officeDocument/2006/relationships/image" Target="../media/image112.png"/><Relationship Id="rId36" Type="http://schemas.openxmlformats.org/officeDocument/2006/relationships/image" Target="../media/image113.png"/><Relationship Id="rId37" Type="http://schemas.openxmlformats.org/officeDocument/2006/relationships/image" Target="../media/image114.png"/><Relationship Id="rId38" Type="http://schemas.openxmlformats.org/officeDocument/2006/relationships/image" Target="../media/image115.png"/><Relationship Id="rId39" Type="http://schemas.openxmlformats.org/officeDocument/2006/relationships/image" Target="../media/image116.png"/><Relationship Id="rId40" Type="http://schemas.openxmlformats.org/officeDocument/2006/relationships/image" Target="../media/image117.jpg"/><Relationship Id="rId41" Type="http://schemas.openxmlformats.org/officeDocument/2006/relationships/image" Target="../media/image118.png"/><Relationship Id="rId42" Type="http://schemas.openxmlformats.org/officeDocument/2006/relationships/image" Target="../media/image1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4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Relationship Id="rId15" Type="http://schemas.openxmlformats.org/officeDocument/2006/relationships/hyperlink" Target="https://east-coast-freight-desk.vercel.app/" TargetMode="External"/><Relationship Id="rId16" Type="http://schemas.openxmlformats.org/officeDocument/2006/relationships/hyperlink" Target="https://github.com/SDP42/east-coast-freight-desk" TargetMode="External"/><Relationship Id="rId17" Type="http://schemas.openxmlformats.org/officeDocument/2006/relationships/hyperlink" Target="https://github.com/SDP42/east-coast-freight-desk/blob/main/MODELS.md" TargetMode="External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Relationship Id="rId22" Type="http://schemas.openxmlformats.org/officeDocument/2006/relationships/image" Target="../media/image24.png"/><Relationship Id="rId23" Type="http://schemas.openxmlformats.org/officeDocument/2006/relationships/image" Target="../media/image25.png"/><Relationship Id="rId24" Type="http://schemas.openxmlformats.org/officeDocument/2006/relationships/image" Target="../media/image26.png"/><Relationship Id="rId25" Type="http://schemas.openxmlformats.org/officeDocument/2006/relationships/hyperlink" Target="https://github.com/SDP42/east-coast-freight-desk/blob/main/LICENCES.md" TargetMode="External"/><Relationship Id="rId26" Type="http://schemas.openxmlformats.org/officeDocument/2006/relationships/image" Target="../media/image85.png"/><Relationship Id="rId27" Type="http://schemas.openxmlformats.org/officeDocument/2006/relationships/image" Target="../media/image120.png"/><Relationship Id="rId28" Type="http://schemas.openxmlformats.org/officeDocument/2006/relationships/image" Target="../media/image121.png"/><Relationship Id="rId29" Type="http://schemas.openxmlformats.org/officeDocument/2006/relationships/image" Target="../media/image122.png"/><Relationship Id="rId30" Type="http://schemas.openxmlformats.org/officeDocument/2006/relationships/image" Target="../media/image1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12.png"/><Relationship Id="rId10" Type="http://schemas.openxmlformats.org/officeDocument/2006/relationships/image" Target="../media/image32.png"/><Relationship Id="rId11" Type="http://schemas.openxmlformats.org/officeDocument/2006/relationships/image" Target="../media/image10.png"/><Relationship Id="rId12" Type="http://schemas.openxmlformats.org/officeDocument/2006/relationships/image" Target="../media/image33.png"/><Relationship Id="rId13" Type="http://schemas.openxmlformats.org/officeDocument/2006/relationships/image" Target="../media/image34.png"/><Relationship Id="rId14" Type="http://schemas.openxmlformats.org/officeDocument/2006/relationships/image" Target="../media/image35.png"/><Relationship Id="rId15" Type="http://schemas.openxmlformats.org/officeDocument/2006/relationships/image" Target="../media/image36.png"/><Relationship Id="rId16" Type="http://schemas.openxmlformats.org/officeDocument/2006/relationships/image" Target="../media/image37.png"/><Relationship Id="rId17" Type="http://schemas.openxmlformats.org/officeDocument/2006/relationships/image" Target="../media/image38.png"/><Relationship Id="rId18" Type="http://schemas.openxmlformats.org/officeDocument/2006/relationships/image" Target="../media/image39.png"/><Relationship Id="rId19" Type="http://schemas.openxmlformats.org/officeDocument/2006/relationships/image" Target="../media/image40.png"/><Relationship Id="rId20" Type="http://schemas.openxmlformats.org/officeDocument/2006/relationships/image" Target="../media/image41.png"/><Relationship Id="rId21" Type="http://schemas.openxmlformats.org/officeDocument/2006/relationships/image" Target="../media/image124.png"/><Relationship Id="rId22" Type="http://schemas.openxmlformats.org/officeDocument/2006/relationships/image" Target="../media/image125.png"/><Relationship Id="rId23" Type="http://schemas.openxmlformats.org/officeDocument/2006/relationships/image" Target="../media/image126.png"/><Relationship Id="rId24" Type="http://schemas.openxmlformats.org/officeDocument/2006/relationships/image" Target="../media/image127.png"/><Relationship Id="rId25" Type="http://schemas.openxmlformats.org/officeDocument/2006/relationships/image" Target="../media/image128.png"/><Relationship Id="rId26" Type="http://schemas.openxmlformats.org/officeDocument/2006/relationships/image" Target="../media/image83.png"/><Relationship Id="rId27" Type="http://schemas.openxmlformats.org/officeDocument/2006/relationships/image" Target="../media/image1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hyperlink" Target="https://cag.gov.in/webroot/uploads/download_audit_report/2025/Report-No.-10-of-2025_Commercial_English-(02-06-2025)-0688c6e7a787f56.02536410.pdf" TargetMode="External"/><Relationship Id="rId7" Type="http://schemas.openxmlformats.org/officeDocument/2006/relationships/image" Target="../media/image44.png"/><Relationship Id="rId8" Type="http://schemas.openxmlformats.org/officeDocument/2006/relationships/hyperlink" Target="https://steel.gov.in/sites/default/files/2025-04/WEBSITE%20UPDATION_200824.pdf" TargetMode="External"/><Relationship Id="rId9" Type="http://schemas.openxmlformats.org/officeDocument/2006/relationships/image" Target="../media/image45.png"/><Relationship Id="rId10" Type="http://schemas.openxmlformats.org/officeDocument/2006/relationships/hyperlink" Target="https://unctad.org/system/files/official-document/rmt2025_en.pdf" TargetMode="External"/><Relationship Id="rId11" Type="http://schemas.openxmlformats.org/officeDocument/2006/relationships/image" Target="../media/image46.png"/><Relationship Id="rId12" Type="http://schemas.openxmlformats.org/officeDocument/2006/relationships/image" Target="../media/image47.png"/><Relationship Id="rId13" Type="http://schemas.openxmlformats.org/officeDocument/2006/relationships/hyperlink" Target="https://www.ncei.noaa.gov/products/international-best-track-archive" TargetMode="External"/><Relationship Id="rId14" Type="http://schemas.openxmlformats.org/officeDocument/2006/relationships/image" Target="../media/image48.png"/><Relationship Id="rId15" Type="http://schemas.openxmlformats.org/officeDocument/2006/relationships/hyperlink" Target="https://www.drybulkmagazine.com/ports-terminals/10092026/historic-maritime-milestone-at-paradip-port/" TargetMode="External"/><Relationship Id="rId16" Type="http://schemas.openxmlformats.org/officeDocument/2006/relationships/image" Target="../media/image49.png"/><Relationship Id="rId17" Type="http://schemas.openxmlformats.org/officeDocument/2006/relationships/hyperlink" Target="https://doi.org/10.1175/2009BAMS2755.1" TargetMode="External"/><Relationship Id="rId18" Type="http://schemas.openxmlformats.org/officeDocument/2006/relationships/image" Target="../media/image50.png"/><Relationship Id="rId19" Type="http://schemas.openxmlformats.org/officeDocument/2006/relationships/image" Target="../media/image51.png"/><Relationship Id="rId20" Type="http://schemas.openxmlformats.org/officeDocument/2006/relationships/hyperlink" Target="https://www.argusmedia.com/en/news-and-insights/latest-market-news/2778953-india-s-steel-expansion-to-drive-coking-coal-demand" TargetMode="External"/><Relationship Id="rId21" Type="http://schemas.openxmlformats.org/officeDocument/2006/relationships/image" Target="../media/image52.png"/><Relationship Id="rId22" Type="http://schemas.openxmlformats.org/officeDocument/2006/relationships/hyperlink" Target="https://gmk.center/en/news/india-increased-its-imports-of-coking-coal-by-10-y-y-in-2025/" TargetMode="External"/><Relationship Id="rId23" Type="http://schemas.openxmlformats.org/officeDocument/2006/relationships/image" Target="../media/image53.png"/><Relationship Id="rId24" Type="http://schemas.openxmlformats.org/officeDocument/2006/relationships/hyperlink" Target="https://doi.org/10.1057/s41278-025-00334-3" TargetMode="External"/><Relationship Id="rId25" Type="http://schemas.openxmlformats.org/officeDocument/2006/relationships/image" Target="../media/image54.png"/><Relationship Id="rId26" Type="http://schemas.openxmlformats.org/officeDocument/2006/relationships/image" Target="../media/image55.png"/><Relationship Id="rId27" Type="http://schemas.openxmlformats.org/officeDocument/2006/relationships/hyperlink" Target="https://www.tribuneindia.com/news/business/sail-exploring-new-markets-to-source-coking-coal-chairman-150901/amp" TargetMode="External"/><Relationship Id="rId28" Type="http://schemas.openxmlformats.org/officeDocument/2006/relationships/image" Target="../media/image56.png"/><Relationship Id="rId29" Type="http://schemas.openxmlformats.org/officeDocument/2006/relationships/hyperlink" Target="https://www.business-standard.com/article/news-ians/sail-rinl-allowed-direct-charter-of-ships-for-coal-imports-113051600999_1.html" TargetMode="External"/><Relationship Id="rId30" Type="http://schemas.openxmlformats.org/officeDocument/2006/relationships/image" Target="../media/image57.png"/><Relationship Id="rId31" Type="http://schemas.openxmlformats.org/officeDocument/2006/relationships/hyperlink" Target="https://wwwcdn.imo.org/localresources/en/KnowledgeCentre/IndexofIMOResolutions/MEPCDocuments/MEPC.354(78).pdf" TargetMode="External"/><Relationship Id="rId32" Type="http://schemas.openxmlformats.org/officeDocument/2006/relationships/image" Target="../media/image58.png"/><Relationship Id="rId33" Type="http://schemas.openxmlformats.org/officeDocument/2006/relationships/image" Target="../media/image59.png"/><Relationship Id="rId34" Type="http://schemas.openxmlformats.org/officeDocument/2006/relationships/hyperlink" Target="https://www.ams.usda.gov/sites/default/files/media/GTRFigure20.xlsx" TargetMode="External"/><Relationship Id="rId35" Type="http://schemas.openxmlformats.org/officeDocument/2006/relationships/image" Target="../media/image60.png"/><Relationship Id="rId36" Type="http://schemas.openxmlformats.org/officeDocument/2006/relationships/hyperlink" Target="https://fred.stlouisfed.org/series/WPU30130101" TargetMode="External"/><Relationship Id="rId37" Type="http://schemas.openxmlformats.org/officeDocument/2006/relationships/image" Target="../media/image61.png"/><Relationship Id="rId38" Type="http://schemas.openxmlformats.org/officeDocument/2006/relationships/hyperlink" Target="https://doi.org/10.1371/journal.pone.0325106" TargetMode="External"/><Relationship Id="rId39" Type="http://schemas.openxmlformats.org/officeDocument/2006/relationships/image" Target="../media/image62.png"/><Relationship Id="rId40" Type="http://schemas.openxmlformats.org/officeDocument/2006/relationships/image" Target="../media/image63.png"/><Relationship Id="rId41" Type="http://schemas.openxmlformats.org/officeDocument/2006/relationships/hyperlink" Target="https://fred.stlouisfed.org/series/DCOILBRENTEU" TargetMode="External"/><Relationship Id="rId42" Type="http://schemas.openxmlformats.org/officeDocument/2006/relationships/image" Target="../media/image64.png"/><Relationship Id="rId43" Type="http://schemas.openxmlformats.org/officeDocument/2006/relationships/hyperlink" Target="https://fred.stlouisfed.org/series/DEXINUS" TargetMode="External"/><Relationship Id="rId44" Type="http://schemas.openxmlformats.org/officeDocument/2006/relationships/image" Target="../media/image65.png"/><Relationship Id="rId45" Type="http://schemas.openxmlformats.org/officeDocument/2006/relationships/hyperlink" Target="https://doi.org/10.1080/14697688.2025.2568045" TargetMode="External"/><Relationship Id="rId46" Type="http://schemas.openxmlformats.org/officeDocument/2006/relationships/image" Target="../media/image66.png"/><Relationship Id="rId47" Type="http://schemas.openxmlformats.org/officeDocument/2006/relationships/image" Target="../media/image67.png"/><Relationship Id="rId48" Type="http://schemas.openxmlformats.org/officeDocument/2006/relationships/hyperlink" Target="https://www.naturalearthdata.com/downloads/" TargetMode="External"/><Relationship Id="rId49" Type="http://schemas.openxmlformats.org/officeDocument/2006/relationships/image" Target="../media/image68.png"/><Relationship Id="rId50" Type="http://schemas.openxmlformats.org/officeDocument/2006/relationships/hyperlink" Target="https://github.com/SDP42/east-coast-freight-desk/blob/main/LICENCES.md" TargetMode="External"/><Relationship Id="rId51" Type="http://schemas.openxmlformats.org/officeDocument/2006/relationships/image" Target="../media/image69.png"/><Relationship Id="rId52" Type="http://schemas.openxmlformats.org/officeDocument/2006/relationships/hyperlink" Target="https://doi.org/10.1038/s41592-019-0686-2" TargetMode="External"/><Relationship Id="rId53" Type="http://schemas.openxmlformats.org/officeDocument/2006/relationships/image" Target="../media/image70.png"/><Relationship Id="rId54" Type="http://schemas.openxmlformats.org/officeDocument/2006/relationships/image" Target="../media/image71.png"/><Relationship Id="rId55" Type="http://schemas.openxmlformats.org/officeDocument/2006/relationships/hyperlink" Target="https://doi.org/10.1177/03611981261441288" TargetMode="External"/><Relationship Id="rId56" Type="http://schemas.openxmlformats.org/officeDocument/2006/relationships/image" Target="../media/image72.png"/><Relationship Id="rId57" Type="http://schemas.openxmlformats.org/officeDocument/2006/relationships/hyperlink" Target="https://arxiv.org/abs/2107.07511" TargetMode="External"/><Relationship Id="rId58" Type="http://schemas.openxmlformats.org/officeDocument/2006/relationships/image" Target="../media/image73.png"/><Relationship Id="rId59" Type="http://schemas.openxmlformats.org/officeDocument/2006/relationships/hyperlink" Target="https://papers.nips.cc/paper/7062-a-unified-approach-to-interpreting-model-predictions" TargetMode="External"/><Relationship Id="rId60" Type="http://schemas.openxmlformats.org/officeDocument/2006/relationships/image" Target="../media/image74.png"/><Relationship Id="rId61" Type="http://schemas.openxmlformats.org/officeDocument/2006/relationships/image" Target="../media/image75.png"/><Relationship Id="rId62" Type="http://schemas.openxmlformats.org/officeDocument/2006/relationships/hyperlink" Target="https://github.com/SDP42/east-coast-freight-desk" TargetMode="External"/><Relationship Id="rId63" Type="http://schemas.openxmlformats.org/officeDocument/2006/relationships/image" Target="../media/image76.png"/><Relationship Id="rId64" Type="http://schemas.openxmlformats.org/officeDocument/2006/relationships/hyperlink" Target="https://github.com/SDP42/east-coast-freight-desk/blob/main/MODELS.md" TargetMode="External"/><Relationship Id="rId65" Type="http://schemas.openxmlformats.org/officeDocument/2006/relationships/image" Target="../media/image77.png"/><Relationship Id="rId66" Type="http://schemas.openxmlformats.org/officeDocument/2006/relationships/hyperlink" Target="https://arxiv.org/abs/1503.01889" TargetMode="External"/><Relationship Id="rId67" Type="http://schemas.openxmlformats.org/officeDocument/2006/relationships/image" Target="../media/image78.png"/><Relationship Id="rId68" Type="http://schemas.openxmlformats.org/officeDocument/2006/relationships/image" Target="../media/image79.png"/><Relationship Id="rId69" Type="http://schemas.openxmlformats.org/officeDocument/2006/relationships/hyperlink" Target="https://east-coast-freight-desk.vercel.app/" TargetMode="External"/><Relationship Id="rId70" Type="http://schemas.openxmlformats.org/officeDocument/2006/relationships/image" Target="../media/image80.png"/><Relationship Id="rId71" Type="http://schemas.openxmlformats.org/officeDocument/2006/relationships/hyperlink" Target="https://freight-desk-api.onrender.com/docs" TargetMode="External"/><Relationship Id="rId72" Type="http://schemas.openxmlformats.org/officeDocument/2006/relationships/image" Target="../media/image81.png"/><Relationship Id="rId73" Type="http://schemas.openxmlformats.org/officeDocument/2006/relationships/image" Target="../media/image82.png"/><Relationship Id="rId74" Type="http://schemas.openxmlformats.org/officeDocument/2006/relationships/image" Target="../media/image130.png"/><Relationship Id="rId75" Type="http://schemas.openxmlformats.org/officeDocument/2006/relationships/image" Target="../media/image131.png"/><Relationship Id="rId76" Type="http://schemas.openxmlformats.org/officeDocument/2006/relationships/image" Target="../media/image132.png"/><Relationship Id="rId77" Type="http://schemas.openxmlformats.org/officeDocument/2006/relationships/image" Target="../media/image133.png"/><Relationship Id="rId78" Type="http://schemas.openxmlformats.org/officeDocument/2006/relationships/image" Target="../media/image85.png"/><Relationship Id="rId79" Type="http://schemas.openxmlformats.org/officeDocument/2006/relationships/image" Target="../media/image134.png"/><Relationship Id="rId80" Type="http://schemas.openxmlformats.org/officeDocument/2006/relationships/image" Target="../media/image135.png"/><Relationship Id="rId81" Type="http://schemas.openxmlformats.org/officeDocument/2006/relationships/image" Target="../media/image136.png"/><Relationship Id="rId82" Type="http://schemas.openxmlformats.org/officeDocument/2006/relationships/image" Target="../media/image137.png"/><Relationship Id="rId83" Type="http://schemas.openxmlformats.org/officeDocument/2006/relationships/image" Target="../media/image138.png"/><Relationship Id="rId84" Type="http://schemas.openxmlformats.org/officeDocument/2006/relationships/image" Target="../media/image139.png"/><Relationship Id="rId85" Type="http://schemas.openxmlformats.org/officeDocument/2006/relationships/image" Target="../media/image140.png"/><Relationship Id="rId86" Type="http://schemas.openxmlformats.org/officeDocument/2006/relationships/image" Target="../media/image141.png"/><Relationship Id="rId87" Type="http://schemas.openxmlformats.org/officeDocument/2006/relationships/image" Target="../media/image142.png"/><Relationship Id="rId88" Type="http://schemas.openxmlformats.org/officeDocument/2006/relationships/image" Target="../media/image143.png"/><Relationship Id="rId89" Type="http://schemas.openxmlformats.org/officeDocument/2006/relationships/image" Target="../media/image144.png"/><Relationship Id="rId90" Type="http://schemas.openxmlformats.org/officeDocument/2006/relationships/image" Target="../media/image145.png"/><Relationship Id="rId91" Type="http://schemas.openxmlformats.org/officeDocument/2006/relationships/image" Target="../media/image146.png"/><Relationship Id="rId92" Type="http://schemas.openxmlformats.org/officeDocument/2006/relationships/image" Target="../media/image147.png"/><Relationship Id="rId93" Type="http://schemas.openxmlformats.org/officeDocument/2006/relationships/image" Target="../media/image148.png"/><Relationship Id="rId94" Type="http://schemas.openxmlformats.org/officeDocument/2006/relationships/image" Target="../media/image149.png"/><Relationship Id="rId95" Type="http://schemas.openxmlformats.org/officeDocument/2006/relationships/image" Target="../media/image150.png"/><Relationship Id="rId96" Type="http://schemas.openxmlformats.org/officeDocument/2006/relationships/image" Target="../media/image151.png"/><Relationship Id="rId97" Type="http://schemas.openxmlformats.org/officeDocument/2006/relationships/image" Target="../media/image1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91" y="2954406"/>
            <a:ext cx="3203508" cy="94918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40021"/>
            <a:ext cx="8534400" cy="175260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IPD PROJECT REVIEW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943102"/>
            <a:ext cx="6150990" cy="5794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Project – Learnova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 – EdTech · Generative AI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Category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Group No. – 1 (AI &amp; DS, DJSCE)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– Swayam · Kawaljeet · Jeevesh · Rishit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HoD – Dr. Pratik Kanani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55988" y="-434978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LEARNOVA — IDEA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r>
              <a:t>2</a:t>
            </a:r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IPD Review · Learnova · AI&amp;DS DJSCE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71EEB9-6D83-8C55-0E51-374C68A449AA}"/>
              </a:ext>
            </a:extLst>
          </p:cNvPr>
          <p:cNvSpPr/>
          <p:nvPr/>
        </p:nvSpPr>
        <p:spPr>
          <a:xfrm>
            <a:off x="2093843" y="735322"/>
            <a:ext cx="7553740" cy="33566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/>
              <a:t>5 real lecture decks: 83 untitled slides · 0 diagrams · 0 quizzes</a:t>
            </a:r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B602B6-D98C-15B1-D01D-2E3D4B3BDDBD}"/>
              </a:ext>
            </a:extLst>
          </p:cNvPr>
          <p:cNvSpPr txBox="1"/>
          <p:nvPr/>
        </p:nvSpPr>
        <p:spPr>
          <a:xfrm>
            <a:off x="320040" y="1097280"/>
            <a:ext cx="11567160" cy="720197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6DC0"/>
                </a:solidFill>
                <a:latin typeface="Arial"/>
              </a:rPr>
              <a:t>Proposed Solution:  </a:t>
            </a:r>
            <a:r>
              <a:rPr sz="1400" b="0">
                <a:solidFill>
                  <a:srgbClr val="222222"/>
                </a:solidFill>
                <a:latin typeface="Arial"/>
              </a:rPr>
              <a:t>Teachers reuse old decks for years and students revise from them before every exam, yet most are walls of bullets with pictures of equations. Learnova takes the deck a teacher already has (PPTX, PDF, Word notes or a topic) and rebuilds it as an editable PowerPoint, an interactive web deck and a study pack — every point kept, plus a visual, an illustration, quizzes, solved steps and labs.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D012FC5-15A9-0546-C9FA-50497D272C92}"/>
              </a:ext>
            </a:extLst>
          </p:cNvPr>
          <p:cNvSpPr/>
          <p:nvPr/>
        </p:nvSpPr>
        <p:spPr>
          <a:xfrm>
            <a:off x="320040" y="1828800"/>
            <a:ext cx="3749039" cy="3364992"/>
          </a:xfrm>
          <a:prstGeom prst="roundRect">
            <a:avLst>
              <a:gd name="adj" fmla="val 2500"/>
            </a:avLst>
          </a:prstGeom>
          <a:solidFill>
            <a:srgbClr val="E8F3FC"/>
          </a:solidFill>
          <a:ln w="28575">
            <a:solidFill>
              <a:srgbClr val="0B6D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BE69CBB-0ED2-9A9D-0190-49FE66606B31}"/>
              </a:ext>
            </a:extLst>
          </p:cNvPr>
          <p:cNvSpPr/>
          <p:nvPr/>
        </p:nvSpPr>
        <p:spPr>
          <a:xfrm>
            <a:off x="320040" y="1828800"/>
            <a:ext cx="3749039" cy="475488"/>
          </a:xfrm>
          <a:prstGeom prst="roundRect">
            <a:avLst>
              <a:gd name="adj" fmla="val 15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A20DA3-8D46-4E9F-A47C-06DC7B414BFC}"/>
              </a:ext>
            </a:extLst>
          </p:cNvPr>
          <p:cNvSpPr txBox="1"/>
          <p:nvPr/>
        </p:nvSpPr>
        <p:spPr>
          <a:xfrm>
            <a:off x="365759" y="2350008"/>
            <a:ext cx="3657599" cy="2859244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Slide Reader: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every page read with titles, bullet levels, tables, figures; OCR only for picture slides.</a:t>
            </a:r>
            <a:endParaRPr sz="1150" b="0">
              <a:solidFill>
                <a:srgbClr val="222222"/>
              </a:solidFill>
              <a:latin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Decision Engine: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27 detectors pick process, timeline, comparison, definition, chart or cards — with a reason.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Assertion Titles: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each title states the point of its slide; split parts are named, never “(2/5)”.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Illustrations: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AI-drawn diagram, teacher's figure or offline scene on every slide, linked as an HTML page.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Explainers &amp; Labs: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beginner step-by-step solutions and hands-on labs for hard topics.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Outputs: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editable PPTX, web deck, study pack, share link, tutor.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3CAB6CC-98C9-A97C-1B06-05A6B7B0C645}"/>
              </a:ext>
            </a:extLst>
          </p:cNvPr>
          <p:cNvSpPr/>
          <p:nvPr/>
        </p:nvSpPr>
        <p:spPr>
          <a:xfrm>
            <a:off x="4206240" y="1828800"/>
            <a:ext cx="3794760" cy="3364992"/>
          </a:xfrm>
          <a:prstGeom prst="roundRect">
            <a:avLst>
              <a:gd name="adj" fmla="val 2500"/>
            </a:avLst>
          </a:prstGeom>
          <a:solidFill>
            <a:srgbClr val="E6F6E8"/>
          </a:solidFill>
          <a:ln w="28575">
            <a:solidFill>
              <a:srgbClr val="2E9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9F4C6065-DF91-FAA4-601B-43E2AC7F5A9B}"/>
              </a:ext>
            </a:extLst>
          </p:cNvPr>
          <p:cNvSpPr/>
          <p:nvPr/>
        </p:nvSpPr>
        <p:spPr>
          <a:xfrm>
            <a:off x="4206240" y="1828800"/>
            <a:ext cx="3794760" cy="475488"/>
          </a:xfrm>
          <a:prstGeom prst="roundRect">
            <a:avLst>
              <a:gd name="adj" fmla="val 15000"/>
            </a:avLst>
          </a:prstGeom>
          <a:solidFill>
            <a:srgbClr val="2E9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pic>
        <p:nvPicPr>
          <p:cNvPr id="15362" name="Picture 153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4088" y="2359152"/>
            <a:ext cx="2179064" cy="2743200"/>
          </a:xfrm>
          <a:prstGeom prst="rect">
            <a:avLst/>
          </a:prstGeom>
        </p:spPr>
      </p:pic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BCAA32EE-671F-6D71-32FE-6365E20C40A3}"/>
              </a:ext>
            </a:extLst>
          </p:cNvPr>
          <p:cNvSpPr/>
          <p:nvPr/>
        </p:nvSpPr>
        <p:spPr>
          <a:xfrm>
            <a:off x="8138160" y="1828800"/>
            <a:ext cx="3749039" cy="3364992"/>
          </a:xfrm>
          <a:prstGeom prst="roundRect">
            <a:avLst>
              <a:gd name="adj" fmla="val 2500"/>
            </a:avLst>
          </a:prstGeom>
          <a:solidFill>
            <a:srgbClr val="FFF1DE"/>
          </a:solidFill>
          <a:ln w="2857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ADDFF8-572C-7790-64D1-FFB080701534}"/>
              </a:ext>
            </a:extLst>
          </p:cNvPr>
          <p:cNvSpPr txBox="1"/>
          <p:nvPr/>
        </p:nvSpPr>
        <p:spPr>
          <a:xfrm>
            <a:off x="8183880" y="2350008"/>
            <a:ext cx="3657599" cy="2859244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Redesign, not generate: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starts from the teacher's own deck; other tools start from a prompt.</a:t>
            </a:r>
            <a:endParaRPr sz="1150" b="0">
              <a:solidFill>
                <a:srgbClr val="222222"/>
              </a:solidFill>
              <a:latin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Faithful by design: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source text kept verbatim; 98–100% of facts retained on real decks.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Explainable choices: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every visual decision shows its rule and confidence.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PSF metric + CLASS: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our own slide-fitness score and load-optimal slide splitting.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Two safety nets: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5 Gemini keys rotate; if all fail, offline rules finish the deck.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Verified AI output: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diagrams sanitised, labs code-checked, titles grounded in the slide.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  <a:p>
            <a:pPr marL="182880" indent="-182880" algn="just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150" b="1">
                <a:solidFill>
                  <a:srgbClr val="0B2545"/>
                </a:solidFill>
                <a:latin typeface="Arial"/>
                <a:ea typeface="ＭＳ Ｐゴシック"/>
              </a:rPr>
              <a:t>Works offline: </a:t>
            </a:r>
            <a:r>
              <a:rPr sz="1150" b="0">
                <a:solidFill>
                  <a:srgbClr val="222222"/>
                </a:solidFill>
                <a:latin typeface="Arial"/>
                <a:ea typeface="ＭＳ Ｐゴシック"/>
              </a:rPr>
              <a:t>no paid licence, runs on a college laptop.</a:t>
            </a:r>
            <a:endParaRPr sz="1150" b="0">
              <a:solidFill>
                <a:srgbClr val="222222"/>
              </a:solidFill>
              <a:latin typeface="Arial"/>
              <a:cs typeface="Arial"/>
            </a:endParaRP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5DA9AECF-B3DB-DE77-9515-406F95DDEBFB}"/>
              </a:ext>
            </a:extLst>
          </p:cNvPr>
          <p:cNvSpPr/>
          <p:nvPr/>
        </p:nvSpPr>
        <p:spPr>
          <a:xfrm>
            <a:off x="8138160" y="1828800"/>
            <a:ext cx="3749039" cy="475488"/>
          </a:xfrm>
          <a:prstGeom prst="roundRect">
            <a:avLst>
              <a:gd name="adj" fmla="val 15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47" name="Pentagon 46">
            <a:extLst>
              <a:ext uri="{FF2B5EF4-FFF2-40B4-BE49-F238E27FC236}">
                <a16:creationId xmlns:a16="http://schemas.microsoft.com/office/drawing/2014/main" id="{67543618-DAF7-994A-69CD-840EFBC1E5C5}"/>
              </a:ext>
            </a:extLst>
          </p:cNvPr>
          <p:cNvSpPr/>
          <p:nvPr/>
        </p:nvSpPr>
        <p:spPr>
          <a:xfrm>
            <a:off x="320040" y="5266944"/>
            <a:ext cx="2724912" cy="274320"/>
          </a:xfrm>
          <a:prstGeom prst="homePlate">
            <a:avLst>
              <a:gd name="adj" fmla="val 32000"/>
            </a:avLst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Ins="13716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PHASE 1 · Sep–Dec 2025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629DB7-B70F-B719-6874-37DDBBFEE0F8}"/>
              </a:ext>
            </a:extLst>
          </p:cNvPr>
          <p:cNvSpPr txBox="1"/>
          <p:nvPr/>
        </p:nvSpPr>
        <p:spPr>
          <a:xfrm>
            <a:off x="320040" y="5550407"/>
            <a:ext cx="2679192" cy="201168"/>
          </a:xfrm>
          <a:prstGeom prst="rect">
            <a:avLst/>
          </a:prstGeom>
          <a:noFill/>
        </p:spPr>
        <p:txBody>
          <a:bodyPr wrap="square" lIns="73152" tIns="9144" rIns="18288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3A89E"/>
                </a:solidFill>
                <a:latin typeface="Arial"/>
              </a:rPr>
              <a:t>Research and design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C7B066-3549-585F-FC35-8773E505B690}"/>
              </a:ext>
            </a:extLst>
          </p:cNvPr>
          <p:cNvSpPr txBox="1"/>
          <p:nvPr/>
        </p:nvSpPr>
        <p:spPr>
          <a:xfrm>
            <a:off x="320040" y="5742431"/>
            <a:ext cx="2679192" cy="548640"/>
          </a:xfrm>
          <a:prstGeom prst="rect">
            <a:avLst/>
          </a:prstGeom>
          <a:noFill/>
        </p:spPr>
        <p:txBody>
          <a:bodyPr wrap="square" lIns="54864" tIns="0" rIns="18288" bIns="0" anchor="t">
            <a:spAutoFit/>
          </a:bodyPr>
          <a:lstStyle/>
          <a:p>
            <a:pPr marL="182880" indent="-182880" algn="l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050" b="0">
                <a:solidFill>
                  <a:srgbClr val="222222"/>
                </a:solidFill>
                <a:latin typeface="Arial"/>
              </a:rPr>
              <a:t>Literature + competitor study</a:t>
            </a:r>
          </a:p>
          <a:p>
            <a:pPr marL="182880" indent="-182880" algn="l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050" b="0">
                <a:solidFill>
                  <a:srgbClr val="222222"/>
                </a:solidFill>
                <a:latin typeface="Arial"/>
              </a:rPr>
              <a:t>Problem, architecture, UI plan</a:t>
            </a:r>
          </a:p>
        </p:txBody>
      </p:sp>
      <p:sp>
        <p:nvSpPr>
          <p:cNvPr id="50" name="Pentagon 49">
            <a:extLst>
              <a:ext uri="{FF2B5EF4-FFF2-40B4-BE49-F238E27FC236}">
                <a16:creationId xmlns:a16="http://schemas.microsoft.com/office/drawing/2014/main" id="{1757FBB5-BDBF-AC61-799B-57271D599C04}"/>
              </a:ext>
            </a:extLst>
          </p:cNvPr>
          <p:cNvSpPr/>
          <p:nvPr/>
        </p:nvSpPr>
        <p:spPr>
          <a:xfrm>
            <a:off x="3072384" y="5266944"/>
            <a:ext cx="2724912" cy="274320"/>
          </a:xfrm>
          <a:prstGeom prst="homePlate">
            <a:avLst>
              <a:gd name="adj" fmla="val 3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Ins="13716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PHASE 2 · Jan–Jul 2026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3871FB-14A9-F43F-9501-C279A9217132}"/>
              </a:ext>
            </a:extLst>
          </p:cNvPr>
          <p:cNvSpPr txBox="1"/>
          <p:nvPr/>
        </p:nvSpPr>
        <p:spPr>
          <a:xfrm>
            <a:off x="3072384" y="5550407"/>
            <a:ext cx="2679192" cy="201168"/>
          </a:xfrm>
          <a:prstGeom prst="rect">
            <a:avLst/>
          </a:prstGeom>
          <a:noFill/>
        </p:spPr>
        <p:txBody>
          <a:bodyPr wrap="square" lIns="73152" tIns="9144" rIns="18288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E08A00"/>
                </a:solidFill>
                <a:latin typeface="Arial"/>
              </a:rPr>
              <a:t>Build the platform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B5456D-7817-404A-5BBF-4016CD10A39F}"/>
              </a:ext>
            </a:extLst>
          </p:cNvPr>
          <p:cNvSpPr txBox="1"/>
          <p:nvPr/>
        </p:nvSpPr>
        <p:spPr>
          <a:xfrm>
            <a:off x="3072384" y="5742431"/>
            <a:ext cx="2679192" cy="548640"/>
          </a:xfrm>
          <a:prstGeom prst="rect">
            <a:avLst/>
          </a:prstGeom>
          <a:noFill/>
        </p:spPr>
        <p:txBody>
          <a:bodyPr wrap="square" lIns="54864" tIns="0" rIns="18288" bIns="0" anchor="t">
            <a:spAutoFit/>
          </a:bodyPr>
          <a:lstStyle/>
          <a:p>
            <a:pPr marL="182880" indent="-182880" algn="l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050" b="0">
                <a:solidFill>
                  <a:srgbClr val="222222"/>
                </a:solidFill>
                <a:latin typeface="Arial"/>
              </a:rPr>
              <a:t>Prototype V1 → Learnova V2</a:t>
            </a:r>
          </a:p>
          <a:p>
            <a:pPr marL="182880" indent="-182880" algn="l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050" b="0">
                <a:solidFill>
                  <a:srgbClr val="222222"/>
                </a:solidFill>
                <a:latin typeface="Arial"/>
              </a:rPr>
              <a:t>Engine, builders, accounts</a:t>
            </a:r>
          </a:p>
        </p:txBody>
      </p:sp>
      <p:sp>
        <p:nvSpPr>
          <p:cNvPr id="53" name="Pentagon 52">
            <a:extLst>
              <a:ext uri="{FF2B5EF4-FFF2-40B4-BE49-F238E27FC236}">
                <a16:creationId xmlns:a16="http://schemas.microsoft.com/office/drawing/2014/main" id="{08040038-5E8F-5355-D4F2-110E8F970E5A}"/>
              </a:ext>
            </a:extLst>
          </p:cNvPr>
          <p:cNvSpPr/>
          <p:nvPr/>
        </p:nvSpPr>
        <p:spPr>
          <a:xfrm>
            <a:off x="5824727" y="5266944"/>
            <a:ext cx="2724912" cy="274320"/>
          </a:xfrm>
          <a:prstGeom prst="homePlate">
            <a:avLst>
              <a:gd name="adj" fmla="val 3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Ins="13716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PHASE 3 · Aug–Oct 2026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680FEE-4F3E-5C08-26DC-6620700BF32B}"/>
              </a:ext>
            </a:extLst>
          </p:cNvPr>
          <p:cNvSpPr txBox="1"/>
          <p:nvPr/>
        </p:nvSpPr>
        <p:spPr>
          <a:xfrm>
            <a:off x="5824727" y="5550407"/>
            <a:ext cx="2679192" cy="201168"/>
          </a:xfrm>
          <a:prstGeom prst="rect">
            <a:avLst/>
          </a:prstGeom>
          <a:noFill/>
        </p:spPr>
        <p:txBody>
          <a:bodyPr wrap="square" lIns="73152" tIns="9144" rIns="18288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B2545"/>
                </a:solidFill>
                <a:latin typeface="Arial"/>
              </a:rPr>
              <a:t>Real decks, AI, research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6FE902F-C67A-6C39-DA3E-54BD1FA6BE3E}"/>
              </a:ext>
            </a:extLst>
          </p:cNvPr>
          <p:cNvSpPr txBox="1"/>
          <p:nvPr/>
        </p:nvSpPr>
        <p:spPr>
          <a:xfrm>
            <a:off x="5824727" y="5742431"/>
            <a:ext cx="2679192" cy="548640"/>
          </a:xfrm>
          <a:prstGeom prst="rect">
            <a:avLst/>
          </a:prstGeom>
          <a:noFill/>
        </p:spPr>
        <p:txBody>
          <a:bodyPr wrap="square" lIns="54864" tIns="0" rIns="18288" bIns="0" anchor="t">
            <a:spAutoFit/>
          </a:bodyPr>
          <a:lstStyle/>
          <a:p>
            <a:pPr marL="182880" indent="-182880" algn="l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050" b="0">
                <a:solidFill>
                  <a:srgbClr val="222222"/>
                </a:solidFill>
                <a:latin typeface="Arial"/>
              </a:rPr>
              <a:t>Reader + OCR, illustrations, labs</a:t>
            </a:r>
          </a:p>
          <a:p>
            <a:pPr marL="182880" indent="-182880" algn="l">
              <a:lnSpc>
                <a:spcPct val="100000"/>
              </a:lnSpc>
              <a:spcAft>
                <a:spcPts val="0"/>
              </a:spcAft>
              <a:buChar char="•"/>
            </a:pPr>
            <a:r>
              <a:rPr sz="1050" b="0">
                <a:solidFill>
                  <a:srgbClr val="222222"/>
                </a:solidFill>
                <a:latin typeface="Arial"/>
              </a:rPr>
              <a:t>AI key pool, papers, review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668666A2-C9D4-6E69-DCB9-4DB35685D293}"/>
              </a:ext>
            </a:extLst>
          </p:cNvPr>
          <p:cNvSpPr/>
          <p:nvPr/>
        </p:nvSpPr>
        <p:spPr>
          <a:xfrm>
            <a:off x="9646920" y="5266944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13A8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C753A60-1074-F144-4A3D-5F1E4B3F92F3}"/>
              </a:ext>
            </a:extLst>
          </p:cNvPr>
          <p:cNvSpPr txBox="1"/>
          <p:nvPr/>
        </p:nvSpPr>
        <p:spPr>
          <a:xfrm>
            <a:off x="9692640" y="5285231"/>
            <a:ext cx="2148840" cy="237744"/>
          </a:xfrm>
          <a:prstGeom prst="rect">
            <a:avLst/>
          </a:prstGeom>
          <a:noFill/>
        </p:spPr>
        <p:txBody>
          <a:bodyPr wrap="square" lIns="45720" tIns="18288" rIns="18288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3A89E"/>
                </a:solidFill>
                <a:latin typeface="Arial"/>
              </a:rPr>
              <a:t>LIVE CODE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0B1CD18-DFCA-19AB-9C02-299A07B5DC5C}"/>
              </a:ext>
            </a:extLst>
          </p:cNvPr>
          <p:cNvSpPr txBox="1"/>
          <p:nvPr/>
        </p:nvSpPr>
        <p:spPr>
          <a:xfrm>
            <a:off x="10378440" y="5522976"/>
            <a:ext cx="1463040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B6DC0"/>
                </a:solidFill>
                <a:latin typeface="Arial"/>
                <a:hlinkClick r:id="rId5"/>
              </a:rPr>
              <a:t>github.com/SDP42/LearnovaV2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Open source · 755 tests · demo decks</a:t>
            </a:r>
          </a:p>
        </p:txBody>
      </p:sp>
      <p:pic>
        <p:nvPicPr>
          <p:cNvPr id="15363" name="Picture 1536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0072" y="5522976"/>
            <a:ext cx="621792" cy="621792"/>
          </a:xfrm>
          <a:prstGeom prst="rect">
            <a:avLst/>
          </a:prstGeom>
        </p:spPr>
      </p:pic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E0A67830-4443-0A20-2A44-8CF48C2C8C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96924"/>
            <a:ext cx="1902611" cy="32263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dirty="0"/>
              <a:t>Learnova</a:t>
            </a:r>
            <a:endParaRPr lang="en-US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32B89-2369-2FCC-6745-DEE87F23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38C0BA-5070-93C5-414C-1B9E7624D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279AAA37-CB74-B25D-64AE-53B3F8C63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82662"/>
            <a:ext cx="10972800" cy="843988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A03A7-2539-4A2D-F71A-F5F37F5DA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r>
              <a:t>3</a:t>
            </a:r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92AC042-6453-70B0-5DB4-7181492D3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IPD Review · Learnova · AI&amp;DS DJSCE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0E2A979-97FD-F669-DD46-B7D2FBB1E86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96924"/>
            <a:ext cx="1902611" cy="32263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dirty="0"/>
              <a:t>Learnova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556EEB2-E1A5-DC6A-FB57-902562A74225}"/>
              </a:ext>
            </a:extLst>
          </p:cNvPr>
          <p:cNvSpPr/>
          <p:nvPr/>
        </p:nvSpPr>
        <p:spPr>
          <a:xfrm>
            <a:off x="158573" y="663230"/>
            <a:ext cx="8092440" cy="329184"/>
          </a:xfrm>
          <a:prstGeom prst="roundRect">
            <a:avLst>
              <a:gd name="adj" fmla="val 25000"/>
            </a:avLst>
          </a:prstGeom>
          <a:solidFill>
            <a:srgbClr val="2E9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Methodology and process for implementation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3CD4A75-4478-41D2-BAD9-E7A0F7E4BC8A}"/>
              </a:ext>
            </a:extLst>
          </p:cNvPr>
          <p:cNvSpPr/>
          <p:nvPr/>
        </p:nvSpPr>
        <p:spPr>
          <a:xfrm>
            <a:off x="8503920" y="1097280"/>
            <a:ext cx="3410712" cy="329184"/>
          </a:xfrm>
          <a:prstGeom prst="roundRect">
            <a:avLst>
              <a:gd name="adj" fmla="val 25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Technologies to be used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E6D803-F27A-DFF5-1175-4CE35C2B7AE2}"/>
              </a:ext>
            </a:extLst>
          </p:cNvPr>
          <p:cNvSpPr txBox="1"/>
          <p:nvPr/>
        </p:nvSpPr>
        <p:spPr>
          <a:xfrm>
            <a:off x="8503920" y="2392445"/>
            <a:ext cx="3410712" cy="2314993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500"/>
              </a:spcAft>
            </a:pPr>
            <a:r>
              <a:rPr sz="1050" b="1" dirty="0">
                <a:solidFill>
                  <a:srgbClr val="0B2545"/>
                </a:solidFill>
                <a:latin typeface="Arial"/>
              </a:rPr>
              <a:t>Frontend: </a:t>
            </a:r>
            <a:r>
              <a:rPr sz="1050" b="0" dirty="0">
                <a:solidFill>
                  <a:srgbClr val="222222"/>
                </a:solidFill>
                <a:latin typeface="Arial"/>
              </a:rPr>
              <a:t>React 18 · Vite · Tailwind CSS · Reveal.js web deck · PWA</a:t>
            </a:r>
            <a:endParaRPr sz="1050" b="0" dirty="0">
              <a:solidFill>
                <a:srgbClr val="222222"/>
              </a:solidFill>
              <a:latin typeface="Arial"/>
            </a:endParaRPr>
          </a:p>
          <a:p>
            <a:pPr algn="just">
              <a:lnSpc>
                <a:spcPct val="100000"/>
              </a:lnSpc>
              <a:spcAft>
                <a:spcPts val="500"/>
              </a:spcAft>
            </a:pPr>
            <a:r>
              <a:rPr sz="1050" b="1" dirty="0">
                <a:solidFill>
                  <a:srgbClr val="0B2545"/>
                </a:solidFill>
                <a:latin typeface="Arial"/>
              </a:rPr>
              <a:t>Backend: </a:t>
            </a:r>
            <a:r>
              <a:rPr sz="1050" b="0" dirty="0">
                <a:solidFill>
                  <a:srgbClr val="222222"/>
                </a:solidFill>
                <a:latin typeface="Arial"/>
              </a:rPr>
              <a:t>Python 3.12 · FastAPI · Pydantic · job queue · SQLite · OTP auth</a:t>
            </a:r>
            <a:endParaRPr sz="1050" b="0" dirty="0">
              <a:solidFill>
                <a:srgbClr val="222222"/>
              </a:solidFill>
              <a:latin typeface="Arial"/>
            </a:endParaRPr>
          </a:p>
          <a:p>
            <a:pPr algn="just">
              <a:lnSpc>
                <a:spcPct val="100000"/>
              </a:lnSpc>
              <a:spcAft>
                <a:spcPts val="500"/>
              </a:spcAft>
            </a:pPr>
            <a:r>
              <a:rPr sz="1050" b="1" dirty="0">
                <a:solidFill>
                  <a:srgbClr val="0B2545"/>
                </a:solidFill>
                <a:latin typeface="Arial"/>
              </a:rPr>
              <a:t>Documents: </a:t>
            </a:r>
            <a:r>
              <a:rPr sz="1050" b="0" dirty="0">
                <a:solidFill>
                  <a:srgbClr val="222222"/>
                </a:solidFill>
                <a:latin typeface="Arial"/>
              </a:rPr>
              <a:t>python-pptx · PyMuPDF · LibreOffice · python-docx · Tesseract OCR</a:t>
            </a:r>
          </a:p>
          <a:p>
            <a:pPr algn="just">
              <a:lnSpc>
                <a:spcPct val="100000"/>
              </a:lnSpc>
              <a:spcAft>
                <a:spcPts val="500"/>
              </a:spcAft>
            </a:pPr>
            <a:r>
              <a:rPr sz="1050" b="1" dirty="0">
                <a:solidFill>
                  <a:srgbClr val="0B2545"/>
                </a:solidFill>
                <a:latin typeface="Arial"/>
              </a:rPr>
              <a:t>AI / NLP: </a:t>
            </a:r>
            <a:r>
              <a:rPr sz="1050" b="1" dirty="0" err="1">
                <a:solidFill>
                  <a:srgbClr val="0B2545"/>
                </a:solidFill>
                <a:latin typeface="Arial"/>
              </a:rPr>
              <a:t>Gemini (5-key pool) · Groq · NVIDIA NIM via failover router</a:t>
            </a:r>
            <a:endParaRPr sz="1050" b="0" dirty="0">
              <a:solidFill>
                <a:srgbClr val="222222"/>
              </a:solidFill>
              <a:latin typeface="Arial"/>
            </a:endParaRPr>
          </a:p>
          <a:p>
            <a:pPr algn="just">
              <a:lnSpc>
                <a:spcPct val="100000"/>
              </a:lnSpc>
              <a:spcAft>
                <a:spcPts val="500"/>
              </a:spcAft>
            </a:pPr>
            <a:r>
              <a:rPr sz="1050" b="1" dirty="0">
                <a:solidFill>
                  <a:srgbClr val="0B2545"/>
                </a:solidFill>
                <a:latin typeface="Arial"/>
              </a:rPr>
              <a:t>Maths &amp; labs: </a:t>
            </a:r>
            <a:r>
              <a:rPr sz="1050" b="0" dirty="0">
                <a:solidFill>
                  <a:srgbClr val="222222"/>
                </a:solidFill>
                <a:latin typeface="Arial"/>
              </a:rPr>
              <a:t>SymPy exact solvers · JavaScript lab engine · SVG</a:t>
            </a:r>
            <a:endParaRPr sz="1050" b="0" dirty="0">
              <a:solidFill>
                <a:srgbClr val="222222"/>
              </a:solidFill>
              <a:latin typeface="Arial"/>
            </a:endParaRPr>
          </a:p>
          <a:p>
            <a:pPr algn="just">
              <a:lnSpc>
                <a:spcPct val="100000"/>
              </a:lnSpc>
              <a:spcAft>
                <a:spcPts val="500"/>
              </a:spcAft>
            </a:pPr>
            <a:r>
              <a:rPr sz="1050" b="1" dirty="0">
                <a:solidFill>
                  <a:srgbClr val="0B2545"/>
                </a:solidFill>
                <a:latin typeface="Arial"/>
              </a:rPr>
              <a:t>Quality &amp; DevOps: </a:t>
            </a:r>
            <a:r>
              <a:rPr sz="1050" b="0" dirty="0">
                <a:solidFill>
                  <a:srgbClr val="222222"/>
                </a:solidFill>
                <a:latin typeface="Arial"/>
              </a:rPr>
              <a:t>pytest (755 tests) · layout audit · GitHub · Docker</a:t>
            </a:r>
            <a:endParaRPr sz="1050" b="0" dirty="0">
              <a:solidFill>
                <a:srgbClr val="222222"/>
              </a:solidFill>
              <a:latin typeface="Arial"/>
            </a:endParaRPr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1BF317FF-0F0F-DD1D-CB2F-1F1BC16CD803}"/>
              </a:ext>
            </a:extLst>
          </p:cNvPr>
          <p:cNvSpPr/>
          <p:nvPr/>
        </p:nvSpPr>
        <p:spPr>
          <a:xfrm>
            <a:off x="274320" y="5175504"/>
            <a:ext cx="1975104" cy="274320"/>
          </a:xfrm>
          <a:prstGeom prst="homePlate">
            <a:avLst>
              <a:gd name="adj" fmla="val 30000"/>
            </a:avLst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Ins="13716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1 · Read faithfully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6DF4BF-E730-9C9A-8B37-B4C88ADA09C6}"/>
              </a:ext>
            </a:extLst>
          </p:cNvPr>
          <p:cNvSpPr txBox="1"/>
          <p:nvPr/>
        </p:nvSpPr>
        <p:spPr>
          <a:xfrm>
            <a:off x="274320" y="5468112"/>
            <a:ext cx="1929384" cy="777240"/>
          </a:xfrm>
          <a:prstGeom prst="rect">
            <a:avLst/>
          </a:prstGeom>
          <a:noFill/>
        </p:spPr>
        <p:txBody>
          <a:bodyPr wrap="square" lIns="54864" tIns="18288" rIns="36576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Every page, title, level, table and figure recovered; nothing summarised away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0DA3D604-1B35-DEFE-F8F0-E0002648A670}"/>
              </a:ext>
            </a:extLst>
          </p:cNvPr>
          <p:cNvSpPr/>
          <p:nvPr/>
        </p:nvSpPr>
        <p:spPr>
          <a:xfrm>
            <a:off x="2276856" y="5175504"/>
            <a:ext cx="1975104" cy="274320"/>
          </a:xfrm>
          <a:prstGeom prst="homePlate">
            <a:avLst>
              <a:gd name="adj" fmla="val 30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Ins="13716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2 · Decide with rules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5E210F-93BC-1EA3-642D-BE5B36D80F3F}"/>
              </a:ext>
            </a:extLst>
          </p:cNvPr>
          <p:cNvSpPr txBox="1"/>
          <p:nvPr/>
        </p:nvSpPr>
        <p:spPr>
          <a:xfrm>
            <a:off x="2276856" y="5468112"/>
            <a:ext cx="1929384" cy="777240"/>
          </a:xfrm>
          <a:prstGeom prst="rect">
            <a:avLst/>
          </a:prstGeom>
          <a:noFill/>
        </p:spPr>
        <p:txBody>
          <a:bodyPr wrap="square" lIns="54864" tIns="18288" rIns="36576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27 detectors + PSF score: 97% right visual on 101 gold slides, &lt; 1 ms</a:t>
            </a:r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330C2298-1E5B-5D2C-4F71-0D0E2FAB7948}"/>
              </a:ext>
            </a:extLst>
          </p:cNvPr>
          <p:cNvSpPr/>
          <p:nvPr/>
        </p:nvSpPr>
        <p:spPr>
          <a:xfrm>
            <a:off x="4279392" y="5175504"/>
            <a:ext cx="1975104" cy="274320"/>
          </a:xfrm>
          <a:prstGeom prst="homePlate">
            <a:avLst>
              <a:gd name="adj" fmla="val 30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Ins="13716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3 · Enrich with AI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B285B8-1445-A2F0-3BC3-35AD2646A35C}"/>
              </a:ext>
            </a:extLst>
          </p:cNvPr>
          <p:cNvSpPr txBox="1"/>
          <p:nvPr/>
        </p:nvSpPr>
        <p:spPr>
          <a:xfrm>
            <a:off x="4279392" y="5468112"/>
            <a:ext cx="1929384" cy="777240"/>
          </a:xfrm>
          <a:prstGeom prst="rect">
            <a:avLst/>
          </a:prstGeom>
          <a:noFill/>
        </p:spPr>
        <p:txBody>
          <a:bodyPr wrap="square" lIns="54864" tIns="18288" rIns="36576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Titles, diagrams, labs from 5 Gemini keys — each checked before use</a:t>
            </a:r>
          </a:p>
        </p:txBody>
      </p:sp>
      <p:sp>
        <p:nvSpPr>
          <p:cNvPr id="20" name="Pentagon 19">
            <a:extLst>
              <a:ext uri="{FF2B5EF4-FFF2-40B4-BE49-F238E27FC236}">
                <a16:creationId xmlns:a16="http://schemas.microsoft.com/office/drawing/2014/main" id="{FCE9A398-EF94-6BCD-0C61-6BCED401CAF7}"/>
              </a:ext>
            </a:extLst>
          </p:cNvPr>
          <p:cNvSpPr/>
          <p:nvPr/>
        </p:nvSpPr>
        <p:spPr>
          <a:xfrm>
            <a:off x="6281928" y="5175504"/>
            <a:ext cx="1975104" cy="274320"/>
          </a:xfrm>
          <a:prstGeom prst="homePlate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Ins="13716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4 · Build and audit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A1DCA8-5F5D-4CF1-CFB3-49B8D90CC53A}"/>
              </a:ext>
            </a:extLst>
          </p:cNvPr>
          <p:cNvSpPr txBox="1"/>
          <p:nvPr/>
        </p:nvSpPr>
        <p:spPr>
          <a:xfrm>
            <a:off x="6281928" y="5468112"/>
            <a:ext cx="1929384" cy="777240"/>
          </a:xfrm>
          <a:prstGeom prst="rect">
            <a:avLst/>
          </a:prstGeom>
          <a:noFill/>
        </p:spPr>
        <p:txBody>
          <a:bodyPr wrap="square" lIns="54864" tIns="18288" rIns="36576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PPTX + web deck; 0 broken words, 98–100% facts kept, 755 tests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AF57D-EEEB-463F-8C77-4CFA04477160}"/>
              </a:ext>
            </a:extLst>
          </p:cNvPr>
          <p:cNvSpPr txBox="1"/>
          <p:nvPr/>
        </p:nvSpPr>
        <p:spPr>
          <a:xfrm>
            <a:off x="8503920" y="5120640"/>
            <a:ext cx="3410712" cy="21945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3A89E"/>
                </a:solidFill>
                <a:latin typeface="Arial"/>
              </a:rPr>
              <a:t>WORKING PROTOTYPE · real screens from Learnova</a:t>
            </a:r>
          </a:p>
        </p:txBody>
      </p:sp>
      <p:pic>
        <p:nvPicPr>
          <p:cNvPr id="17586" name="Picture 17585" descr="image.jp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600227" y="5358384"/>
            <a:ext cx="895522" cy="671642"/>
          </a:xfrm>
          <a:prstGeom prst="rect">
            <a:avLst/>
          </a:prstGeom>
        </p:spPr>
      </p:pic>
      <p:pic>
        <p:nvPicPr>
          <p:cNvPr id="17587" name="Picture 17586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665208" y="5388167"/>
            <a:ext cx="1088136" cy="612076"/>
          </a:xfrm>
          <a:prstGeom prst="rect">
            <a:avLst/>
          </a:prstGeom>
        </p:spPr>
      </p:pic>
      <p:pic>
        <p:nvPicPr>
          <p:cNvPr id="17588" name="Picture 17587" descr="image.jp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922803" y="5358384"/>
            <a:ext cx="895522" cy="671642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04293" y="1008696"/>
            <a:ext cx="1554480" cy="4114800"/>
          </a:xfrm>
          <a:prstGeom prst="roundRect">
            <a:avLst>
              <a:gd name="adj" fmla="val 4000"/>
            </a:avLst>
          </a:prstGeom>
          <a:solidFill>
            <a:srgbClr val="F7F8FB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387173" y="953831"/>
            <a:ext cx="1188719" cy="219456"/>
          </a:xfrm>
          <a:prstGeom prst="roundRect">
            <a:avLst>
              <a:gd name="adj" fmla="val 5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387173" y="953831"/>
            <a:ext cx="1188719" cy="21945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INPUTS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59157" y="122815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Oval 17413"/>
          <p:cNvSpPr/>
          <p:nvPr/>
        </p:nvSpPr>
        <p:spPr>
          <a:xfrm>
            <a:off x="295733" y="1292160"/>
            <a:ext cx="274320" cy="27432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5" name="Picture 174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597" y="1347024"/>
            <a:ext cx="164592" cy="164592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597485" y="126472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PowerPoint .pptx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95733" y="157562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teacher's old deck, any template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59157" y="200539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295733" y="2069399"/>
            <a:ext cx="274320" cy="27432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0597" y="2124263"/>
            <a:ext cx="164592" cy="16459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597485" y="204196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Slide PDF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95733" y="235286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exported or scanned lecture slides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59157" y="278263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Oval 17423"/>
          <p:cNvSpPr/>
          <p:nvPr/>
        </p:nvSpPr>
        <p:spPr>
          <a:xfrm>
            <a:off x="295733" y="2846640"/>
            <a:ext cx="274320" cy="27432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0597" y="2901504"/>
            <a:ext cx="164592" cy="164592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597485" y="281920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Word / notes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95733" y="313010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.docx, markdown or plain text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259157" y="355987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Oval 17428"/>
          <p:cNvSpPr/>
          <p:nvPr/>
        </p:nvSpPr>
        <p:spPr>
          <a:xfrm>
            <a:off x="295733" y="3623879"/>
            <a:ext cx="274320" cy="27432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0" name="Picture 1742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0597" y="3678743"/>
            <a:ext cx="164592" cy="164592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597485" y="3596447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Typed topic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295733" y="390734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a syllabus line or a prompt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259157" y="433711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295733" y="4401120"/>
            <a:ext cx="274320" cy="27432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5" name="Picture 1743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0597" y="4455984"/>
            <a:ext cx="164592" cy="164592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597485" y="437368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Teacher labs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295733" y="468458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own HTML labs added via API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1767917" y="3093528"/>
            <a:ext cx="91440" cy="0"/>
          </a:xfrm>
          <a:prstGeom prst="line">
            <a:avLst/>
          </a:prstGeom>
          <a:ln w="25400">
            <a:solidFill>
              <a:srgbClr val="17213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1868500" y="1008696"/>
            <a:ext cx="1554480" cy="4114800"/>
          </a:xfrm>
          <a:prstGeom prst="roundRect">
            <a:avLst>
              <a:gd name="adj" fmla="val 4000"/>
            </a:avLst>
          </a:prstGeom>
          <a:solidFill>
            <a:srgbClr val="F7F8FB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2051381" y="953831"/>
            <a:ext cx="1188719" cy="21945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2051381" y="953831"/>
            <a:ext cx="1188719" cy="21945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923364" y="122815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Oval 17442"/>
          <p:cNvSpPr/>
          <p:nvPr/>
        </p:nvSpPr>
        <p:spPr>
          <a:xfrm>
            <a:off x="1959940" y="1292160"/>
            <a:ext cx="274320" cy="27432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4" name="Picture 1744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14804" y="1347024"/>
            <a:ext cx="164592" cy="164592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2261693" y="126472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LibreOffice convert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1959940" y="157562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PPTX → PDF, cached by file hash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1923364" y="200539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Oval 17447"/>
          <p:cNvSpPr/>
          <p:nvPr/>
        </p:nvSpPr>
        <p:spPr>
          <a:xfrm>
            <a:off x="1959940" y="2069399"/>
            <a:ext cx="274320" cy="27432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9" name="Picture 1744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14804" y="2124263"/>
            <a:ext cx="164592" cy="16459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2261693" y="204196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Slide reader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1959940" y="235286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titles, bullet levels, tables, figures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1923364" y="278263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Oval 17452"/>
          <p:cNvSpPr/>
          <p:nvPr/>
        </p:nvSpPr>
        <p:spPr>
          <a:xfrm>
            <a:off x="1959940" y="2846640"/>
            <a:ext cx="274320" cy="27432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4" name="Picture 1745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14804" y="2901504"/>
            <a:ext cx="164592" cy="164592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2261693" y="281920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OCR decision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1959940" y="313010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Tesseract only when γ ≤ 0.42, conf ≥ 62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1923364" y="355987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1959940" y="3623879"/>
            <a:ext cx="274320" cy="27432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9" name="Picture 1745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14804" y="3678743"/>
            <a:ext cx="164592" cy="164592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2261693" y="3596447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Repair rules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1959940" y="390734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logos, page numbers, glued titles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1923364" y="433711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3" name="Oval 17462"/>
          <p:cNvSpPr/>
          <p:nvPr/>
        </p:nvSpPr>
        <p:spPr>
          <a:xfrm>
            <a:off x="1959940" y="4401120"/>
            <a:ext cx="274320" cy="27432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14804" y="4455984"/>
            <a:ext cx="164592" cy="164592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2261693" y="437368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Colour DNA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1959940" y="468458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source palette becomes the theme</a:t>
            </a:r>
          </a:p>
        </p:txBody>
      </p:sp>
      <p:cxnSp>
        <p:nvCxnSpPr>
          <p:cNvPr id="17467" name="Connector 17466"/>
          <p:cNvCxnSpPr/>
          <p:nvPr/>
        </p:nvCxnSpPr>
        <p:spPr>
          <a:xfrm>
            <a:off x="3432124" y="3093528"/>
            <a:ext cx="91441" cy="0"/>
          </a:xfrm>
          <a:prstGeom prst="line">
            <a:avLst/>
          </a:prstGeom>
          <a:ln w="25400">
            <a:solidFill>
              <a:srgbClr val="17213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8" name="Rounded Rectangle 17467"/>
          <p:cNvSpPr/>
          <p:nvPr/>
        </p:nvSpPr>
        <p:spPr>
          <a:xfrm>
            <a:off x="3532708" y="1008696"/>
            <a:ext cx="1554480" cy="4114800"/>
          </a:xfrm>
          <a:prstGeom prst="roundRect">
            <a:avLst>
              <a:gd name="adj" fmla="val 4000"/>
            </a:avLst>
          </a:prstGeom>
          <a:solidFill>
            <a:srgbClr val="F7F8FB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9" name="Rounded Rectangle 17468"/>
          <p:cNvSpPr/>
          <p:nvPr/>
        </p:nvSpPr>
        <p:spPr>
          <a:xfrm>
            <a:off x="3715588" y="953831"/>
            <a:ext cx="1188719" cy="219456"/>
          </a:xfrm>
          <a:prstGeom prst="roundRect">
            <a:avLst>
              <a:gd name="adj" fmla="val 50000"/>
            </a:avLst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0" name="TextBox 17469"/>
          <p:cNvSpPr txBox="1"/>
          <p:nvPr/>
        </p:nvSpPr>
        <p:spPr>
          <a:xfrm>
            <a:off x="3715588" y="953831"/>
            <a:ext cx="1188719" cy="21945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ENGINES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3587572" y="122815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2" name="Oval 17471"/>
          <p:cNvSpPr/>
          <p:nvPr/>
        </p:nvSpPr>
        <p:spPr>
          <a:xfrm>
            <a:off x="3624148" y="1292160"/>
            <a:ext cx="274320" cy="27432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3" name="Picture 1747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79012" y="1347024"/>
            <a:ext cx="164592" cy="164592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3925900" y="126472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Planner + CLASS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3624148" y="157562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load-optimal split, agenda, glossary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3587572" y="200539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7" name="Oval 17476"/>
          <p:cNvSpPr/>
          <p:nvPr/>
        </p:nvSpPr>
        <p:spPr>
          <a:xfrm>
            <a:off x="3624148" y="2069399"/>
            <a:ext cx="274320" cy="27432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8" name="Picture 17477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79012" y="2124263"/>
            <a:ext cx="164592" cy="164592"/>
          </a:xfrm>
          <a:prstGeom prst="rect">
            <a:avLst/>
          </a:prstGeom>
        </p:spPr>
      </p:pic>
      <p:sp>
        <p:nvSpPr>
          <p:cNvPr id="17479" name="TextBox 17478"/>
          <p:cNvSpPr txBox="1"/>
          <p:nvPr/>
        </p:nvSpPr>
        <p:spPr>
          <a:xfrm>
            <a:off x="3925900" y="204196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Decision engine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3624148" y="235286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27 detectors → visual + reason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3587572" y="278263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2" name="Oval 17481"/>
          <p:cNvSpPr/>
          <p:nvPr/>
        </p:nvSpPr>
        <p:spPr>
          <a:xfrm>
            <a:off x="3624148" y="2846640"/>
            <a:ext cx="274320" cy="27432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83" name="Picture 1748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79012" y="2901504"/>
            <a:ext cx="164592" cy="164592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3925900" y="281920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Layout engine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3624148" y="313010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glyph-measured, 11 pt floor, no breaks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3587572" y="355987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7" name="Oval 17486"/>
          <p:cNvSpPr/>
          <p:nvPr/>
        </p:nvSpPr>
        <p:spPr>
          <a:xfrm>
            <a:off x="3624148" y="3623879"/>
            <a:ext cx="274320" cy="27432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88" name="Picture 17487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79012" y="3678743"/>
            <a:ext cx="164592" cy="164592"/>
          </a:xfrm>
          <a:prstGeom prst="rect">
            <a:avLst/>
          </a:prstGeom>
        </p:spPr>
      </p:pic>
      <p:sp>
        <p:nvSpPr>
          <p:cNvPr id="17489" name="TextBox 17488"/>
          <p:cNvSpPr txBox="1"/>
          <p:nvPr/>
        </p:nvSpPr>
        <p:spPr>
          <a:xfrm>
            <a:off x="3925900" y="3596447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Explainer solvers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3624148" y="390734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exact steps with reasons (SymPy)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3587572" y="433711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2" name="Oval 17491"/>
          <p:cNvSpPr/>
          <p:nvPr/>
        </p:nvSpPr>
        <p:spPr>
          <a:xfrm>
            <a:off x="3624148" y="4401120"/>
            <a:ext cx="274320" cy="27432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93" name="Picture 1749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79012" y="4455984"/>
            <a:ext cx="164592" cy="164592"/>
          </a:xfrm>
          <a:prstGeom prst="rect">
            <a:avLst/>
          </a:prstGeom>
        </p:spPr>
      </p:pic>
      <p:sp>
        <p:nvSpPr>
          <p:cNvPr id="17494" name="TextBox 17493"/>
          <p:cNvSpPr txBox="1"/>
          <p:nvPr/>
        </p:nvSpPr>
        <p:spPr>
          <a:xfrm>
            <a:off x="3925900" y="437368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PSF scorer + audit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3624148" y="468458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fitness, overflow, fact retention</a:t>
            </a:r>
          </a:p>
        </p:txBody>
      </p:sp>
      <p:cxnSp>
        <p:nvCxnSpPr>
          <p:cNvPr id="17496" name="Connector 17495"/>
          <p:cNvCxnSpPr/>
          <p:nvPr/>
        </p:nvCxnSpPr>
        <p:spPr>
          <a:xfrm>
            <a:off x="5096333" y="3093528"/>
            <a:ext cx="91440" cy="0"/>
          </a:xfrm>
          <a:prstGeom prst="line">
            <a:avLst/>
          </a:prstGeom>
          <a:ln w="25400">
            <a:solidFill>
              <a:srgbClr val="17213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7" name="Rounded Rectangle 17496"/>
          <p:cNvSpPr/>
          <p:nvPr/>
        </p:nvSpPr>
        <p:spPr>
          <a:xfrm>
            <a:off x="5196916" y="1008696"/>
            <a:ext cx="1554480" cy="4114800"/>
          </a:xfrm>
          <a:prstGeom prst="roundRect">
            <a:avLst>
              <a:gd name="adj" fmla="val 4000"/>
            </a:avLst>
          </a:prstGeom>
          <a:solidFill>
            <a:srgbClr val="F7F8FB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8" name="Rounded Rectangle 17497"/>
          <p:cNvSpPr/>
          <p:nvPr/>
        </p:nvSpPr>
        <p:spPr>
          <a:xfrm>
            <a:off x="5379796" y="953831"/>
            <a:ext cx="1188719" cy="219456"/>
          </a:xfrm>
          <a:prstGeom prst="roundRect">
            <a:avLst>
              <a:gd name="adj" fmla="val 50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9" name="TextBox 17498"/>
          <p:cNvSpPr txBox="1"/>
          <p:nvPr/>
        </p:nvSpPr>
        <p:spPr>
          <a:xfrm>
            <a:off x="5379796" y="953831"/>
            <a:ext cx="1188719" cy="21945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AI SERVICE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5251780" y="122815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1" name="Oval 17500"/>
          <p:cNvSpPr/>
          <p:nvPr/>
        </p:nvSpPr>
        <p:spPr>
          <a:xfrm>
            <a:off x="5288356" y="1292160"/>
            <a:ext cx="274320" cy="27432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02" name="Picture 1750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343220" y="1347024"/>
            <a:ext cx="164592" cy="164592"/>
          </a:xfrm>
          <a:prstGeom prst="rect">
            <a:avLst/>
          </a:prstGeom>
        </p:spPr>
      </p:pic>
      <p:sp>
        <p:nvSpPr>
          <p:cNvPr id="17503" name="TextBox 17502"/>
          <p:cNvSpPr txBox="1"/>
          <p:nvPr/>
        </p:nvSpPr>
        <p:spPr>
          <a:xfrm>
            <a:off x="5590108" y="126472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LLM router</a:t>
            </a:r>
          </a:p>
        </p:txBody>
      </p:sp>
      <p:sp>
        <p:nvSpPr>
          <p:cNvPr id="17504" name="TextBox 17503"/>
          <p:cNvSpPr txBox="1"/>
          <p:nvPr/>
        </p:nvSpPr>
        <p:spPr>
          <a:xfrm>
            <a:off x="5288356" y="157562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Gemini ×5 → Groq → NVIDIA</a:t>
            </a:r>
          </a:p>
        </p:txBody>
      </p:sp>
      <p:sp>
        <p:nvSpPr>
          <p:cNvPr id="17505" name="Rounded Rectangle 17504"/>
          <p:cNvSpPr/>
          <p:nvPr/>
        </p:nvSpPr>
        <p:spPr>
          <a:xfrm>
            <a:off x="5251780" y="200539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6" name="Oval 17505"/>
          <p:cNvSpPr/>
          <p:nvPr/>
        </p:nvSpPr>
        <p:spPr>
          <a:xfrm>
            <a:off x="5288356" y="2069399"/>
            <a:ext cx="274320" cy="27432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07" name="Picture 1750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43220" y="2124263"/>
            <a:ext cx="164592" cy="164592"/>
          </a:xfrm>
          <a:prstGeom prst="rect">
            <a:avLst/>
          </a:prstGeom>
        </p:spPr>
      </p:pic>
      <p:sp>
        <p:nvSpPr>
          <p:cNvPr id="17508" name="TextBox 17507"/>
          <p:cNvSpPr txBox="1"/>
          <p:nvPr/>
        </p:nvSpPr>
        <p:spPr>
          <a:xfrm>
            <a:off x="5590108" y="204196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AI polish</a:t>
            </a:r>
          </a:p>
        </p:txBody>
      </p:sp>
      <p:sp>
        <p:nvSpPr>
          <p:cNvPr id="17509" name="TextBox 17508"/>
          <p:cNvSpPr txBox="1"/>
          <p:nvPr/>
        </p:nvSpPr>
        <p:spPr>
          <a:xfrm>
            <a:off x="5288356" y="235286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assertion titles, plain explanations</a:t>
            </a:r>
          </a:p>
        </p:txBody>
      </p:sp>
      <p:sp>
        <p:nvSpPr>
          <p:cNvPr id="17510" name="Rounded Rectangle 17509"/>
          <p:cNvSpPr/>
          <p:nvPr/>
        </p:nvSpPr>
        <p:spPr>
          <a:xfrm>
            <a:off x="5251780" y="278263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1" name="Oval 17510"/>
          <p:cNvSpPr/>
          <p:nvPr/>
        </p:nvSpPr>
        <p:spPr>
          <a:xfrm>
            <a:off x="5288356" y="2846640"/>
            <a:ext cx="274320" cy="27432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12" name="Picture 1751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43220" y="2901504"/>
            <a:ext cx="164592" cy="164592"/>
          </a:xfrm>
          <a:prstGeom prst="rect">
            <a:avLst/>
          </a:prstGeom>
        </p:spPr>
      </p:pic>
      <p:sp>
        <p:nvSpPr>
          <p:cNvPr id="17513" name="TextBox 17512"/>
          <p:cNvSpPr txBox="1"/>
          <p:nvPr/>
        </p:nvSpPr>
        <p:spPr>
          <a:xfrm>
            <a:off x="5590108" y="281920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Topic diagrams</a:t>
            </a:r>
          </a:p>
        </p:txBody>
      </p:sp>
      <p:sp>
        <p:nvSpPr>
          <p:cNvPr id="17514" name="TextBox 17513"/>
          <p:cNvSpPr txBox="1"/>
          <p:nvPr/>
        </p:nvSpPr>
        <p:spPr>
          <a:xfrm>
            <a:off x="5288356" y="313010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SVG sanitised → PNG + HTML page</a:t>
            </a:r>
          </a:p>
        </p:txBody>
      </p:sp>
      <p:sp>
        <p:nvSpPr>
          <p:cNvPr id="17515" name="Rounded Rectangle 17514"/>
          <p:cNvSpPr/>
          <p:nvPr/>
        </p:nvSpPr>
        <p:spPr>
          <a:xfrm>
            <a:off x="5251780" y="355987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6" name="Oval 17515"/>
          <p:cNvSpPr/>
          <p:nvPr/>
        </p:nvSpPr>
        <p:spPr>
          <a:xfrm>
            <a:off x="5288356" y="3623879"/>
            <a:ext cx="274320" cy="27432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17" name="Picture 1751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343220" y="3678743"/>
            <a:ext cx="164592" cy="164592"/>
          </a:xfrm>
          <a:prstGeom prst="rect">
            <a:avLst/>
          </a:prstGeom>
        </p:spPr>
      </p:pic>
      <p:sp>
        <p:nvSpPr>
          <p:cNvPr id="17518" name="TextBox 17517"/>
          <p:cNvSpPr txBox="1"/>
          <p:nvPr/>
        </p:nvSpPr>
        <p:spPr>
          <a:xfrm>
            <a:off x="5590108" y="3596447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AI labs</a:t>
            </a:r>
          </a:p>
        </p:txBody>
      </p:sp>
      <p:sp>
        <p:nvSpPr>
          <p:cNvPr id="17519" name="TextBox 17518"/>
          <p:cNvSpPr txBox="1"/>
          <p:nvPr/>
        </p:nvSpPr>
        <p:spPr>
          <a:xfrm>
            <a:off x="5288356" y="390734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JS checked, no network access</a:t>
            </a:r>
          </a:p>
        </p:txBody>
      </p:sp>
      <p:sp>
        <p:nvSpPr>
          <p:cNvPr id="17520" name="Rounded Rectangle 17519"/>
          <p:cNvSpPr/>
          <p:nvPr/>
        </p:nvSpPr>
        <p:spPr>
          <a:xfrm>
            <a:off x="5251780" y="433711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1" name="Oval 17520"/>
          <p:cNvSpPr/>
          <p:nvPr/>
        </p:nvSpPr>
        <p:spPr>
          <a:xfrm>
            <a:off x="5288356" y="4401120"/>
            <a:ext cx="274320" cy="27432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22" name="Picture 17521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343220" y="4455984"/>
            <a:ext cx="164592" cy="164592"/>
          </a:xfrm>
          <a:prstGeom prst="rect">
            <a:avLst/>
          </a:prstGeom>
        </p:spPr>
      </p:pic>
      <p:sp>
        <p:nvSpPr>
          <p:cNvPr id="17523" name="TextBox 17522"/>
          <p:cNvSpPr txBox="1"/>
          <p:nvPr/>
        </p:nvSpPr>
        <p:spPr>
          <a:xfrm>
            <a:off x="5590108" y="437368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Offline fallback</a:t>
            </a:r>
          </a:p>
        </p:txBody>
      </p:sp>
      <p:sp>
        <p:nvSpPr>
          <p:cNvPr id="17524" name="TextBox 17523"/>
          <p:cNvSpPr txBox="1"/>
          <p:nvPr/>
        </p:nvSpPr>
        <p:spPr>
          <a:xfrm>
            <a:off x="5288356" y="468458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rules, scenes, structure labs</a:t>
            </a:r>
          </a:p>
        </p:txBody>
      </p:sp>
      <p:cxnSp>
        <p:nvCxnSpPr>
          <p:cNvPr id="17525" name="Connector 17524"/>
          <p:cNvCxnSpPr/>
          <p:nvPr/>
        </p:nvCxnSpPr>
        <p:spPr>
          <a:xfrm>
            <a:off x="6760540" y="3093528"/>
            <a:ext cx="91440" cy="0"/>
          </a:xfrm>
          <a:prstGeom prst="line">
            <a:avLst/>
          </a:prstGeom>
          <a:ln w="25400">
            <a:solidFill>
              <a:srgbClr val="17213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26" name="Rounded Rectangle 17525"/>
          <p:cNvSpPr/>
          <p:nvPr/>
        </p:nvSpPr>
        <p:spPr>
          <a:xfrm>
            <a:off x="6861124" y="1008696"/>
            <a:ext cx="1554480" cy="4114800"/>
          </a:xfrm>
          <a:prstGeom prst="roundRect">
            <a:avLst>
              <a:gd name="adj" fmla="val 4000"/>
            </a:avLst>
          </a:prstGeom>
          <a:solidFill>
            <a:srgbClr val="F7F8FB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7" name="Rounded Rectangle 17526"/>
          <p:cNvSpPr/>
          <p:nvPr/>
        </p:nvSpPr>
        <p:spPr>
          <a:xfrm>
            <a:off x="7044004" y="953831"/>
            <a:ext cx="1188719" cy="219456"/>
          </a:xfrm>
          <a:prstGeom prst="roundRect">
            <a:avLst>
              <a:gd name="adj" fmla="val 50000"/>
            </a:avLst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8" name="TextBox 17527"/>
          <p:cNvSpPr txBox="1"/>
          <p:nvPr/>
        </p:nvSpPr>
        <p:spPr>
          <a:xfrm>
            <a:off x="7044004" y="953831"/>
            <a:ext cx="1188719" cy="21945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OUTPUTS</a:t>
            </a:r>
          </a:p>
        </p:txBody>
      </p:sp>
      <p:sp>
        <p:nvSpPr>
          <p:cNvPr id="17529" name="Rounded Rectangle 17528"/>
          <p:cNvSpPr/>
          <p:nvPr/>
        </p:nvSpPr>
        <p:spPr>
          <a:xfrm>
            <a:off x="6915988" y="122815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0" name="Oval 17529"/>
          <p:cNvSpPr/>
          <p:nvPr/>
        </p:nvSpPr>
        <p:spPr>
          <a:xfrm>
            <a:off x="6952564" y="1292160"/>
            <a:ext cx="274320" cy="27432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31" name="Picture 17530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007428" y="1347024"/>
            <a:ext cx="164592" cy="164592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7254316" y="126472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Editable PPTX</a:t>
            </a:r>
          </a:p>
        </p:txBody>
      </p:sp>
      <p:sp>
        <p:nvSpPr>
          <p:cNvPr id="17533" name="TextBox 17532"/>
          <p:cNvSpPr txBox="1"/>
          <p:nvPr/>
        </p:nvSpPr>
        <p:spPr>
          <a:xfrm>
            <a:off x="6952564" y="157562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native shapes, linked pictures, notes</a:t>
            </a:r>
          </a:p>
        </p:txBody>
      </p:sp>
      <p:sp>
        <p:nvSpPr>
          <p:cNvPr id="17534" name="Rounded Rectangle 17533"/>
          <p:cNvSpPr/>
          <p:nvPr/>
        </p:nvSpPr>
        <p:spPr>
          <a:xfrm>
            <a:off x="6915988" y="200539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5" name="Oval 17534"/>
          <p:cNvSpPr/>
          <p:nvPr/>
        </p:nvSpPr>
        <p:spPr>
          <a:xfrm>
            <a:off x="6952564" y="2069399"/>
            <a:ext cx="274320" cy="27432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36" name="Picture 1753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007428" y="2124263"/>
            <a:ext cx="164592" cy="164592"/>
          </a:xfrm>
          <a:prstGeom prst="rect">
            <a:avLst/>
          </a:prstGeom>
        </p:spPr>
      </p:pic>
      <p:sp>
        <p:nvSpPr>
          <p:cNvPr id="17537" name="TextBox 17536"/>
          <p:cNvSpPr txBox="1"/>
          <p:nvPr/>
        </p:nvSpPr>
        <p:spPr>
          <a:xfrm>
            <a:off x="7254316" y="204196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Web deck</a:t>
            </a:r>
          </a:p>
        </p:txBody>
      </p:sp>
      <p:sp>
        <p:nvSpPr>
          <p:cNvPr id="17538" name="TextBox 17537"/>
          <p:cNvSpPr txBox="1"/>
          <p:nvPr/>
        </p:nvSpPr>
        <p:spPr>
          <a:xfrm>
            <a:off x="6952564" y="235286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click reveals, labs, flip cards</a:t>
            </a:r>
          </a:p>
        </p:txBody>
      </p:sp>
      <p:sp>
        <p:nvSpPr>
          <p:cNvPr id="17539" name="Rounded Rectangle 17538"/>
          <p:cNvSpPr/>
          <p:nvPr/>
        </p:nvSpPr>
        <p:spPr>
          <a:xfrm>
            <a:off x="6915988" y="278263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0" name="Oval 17539"/>
          <p:cNvSpPr/>
          <p:nvPr/>
        </p:nvSpPr>
        <p:spPr>
          <a:xfrm>
            <a:off x="6952564" y="2846640"/>
            <a:ext cx="274320" cy="27432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41" name="Picture 17540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07428" y="2901504"/>
            <a:ext cx="164592" cy="164592"/>
          </a:xfrm>
          <a:prstGeom prst="rect">
            <a:avLst/>
          </a:prstGeom>
        </p:spPr>
      </p:pic>
      <p:sp>
        <p:nvSpPr>
          <p:cNvPr id="17542" name="TextBox 17541"/>
          <p:cNvSpPr txBox="1"/>
          <p:nvPr/>
        </p:nvSpPr>
        <p:spPr>
          <a:xfrm>
            <a:off x="7254316" y="281920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Study pack</a:t>
            </a:r>
          </a:p>
        </p:txBody>
      </p:sp>
      <p:sp>
        <p:nvSpPr>
          <p:cNvPr id="17543" name="TextBox 17542"/>
          <p:cNvSpPr txBox="1"/>
          <p:nvPr/>
        </p:nvSpPr>
        <p:spPr>
          <a:xfrm>
            <a:off x="6952564" y="313010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flashcards, Anki, quiz bank, cheat sheet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6915988" y="3559871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5" name="Oval 17544"/>
          <p:cNvSpPr/>
          <p:nvPr/>
        </p:nvSpPr>
        <p:spPr>
          <a:xfrm>
            <a:off x="6952564" y="3623879"/>
            <a:ext cx="274320" cy="27432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46" name="Picture 17545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007428" y="3678743"/>
            <a:ext cx="164592" cy="164592"/>
          </a:xfrm>
          <a:prstGeom prst="rect">
            <a:avLst/>
          </a:prstGeom>
        </p:spPr>
      </p:pic>
      <p:sp>
        <p:nvSpPr>
          <p:cNvPr id="17547" name="TextBox 17546"/>
          <p:cNvSpPr txBox="1"/>
          <p:nvPr/>
        </p:nvSpPr>
        <p:spPr>
          <a:xfrm>
            <a:off x="7254316" y="3596447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Share + present</a:t>
            </a:r>
          </a:p>
        </p:txBody>
      </p:sp>
      <p:sp>
        <p:nvSpPr>
          <p:cNvPr id="17548" name="TextBox 17547"/>
          <p:cNvSpPr txBox="1"/>
          <p:nvPr/>
        </p:nvSpPr>
        <p:spPr>
          <a:xfrm>
            <a:off x="6952564" y="3907343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view-only link, presenter console</a:t>
            </a:r>
          </a:p>
        </p:txBody>
      </p:sp>
      <p:sp>
        <p:nvSpPr>
          <p:cNvPr id="17549" name="Rounded Rectangle 17548"/>
          <p:cNvSpPr/>
          <p:nvPr/>
        </p:nvSpPr>
        <p:spPr>
          <a:xfrm>
            <a:off x="6915988" y="4337112"/>
            <a:ext cx="144475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0" name="Oval 17549"/>
          <p:cNvSpPr/>
          <p:nvPr/>
        </p:nvSpPr>
        <p:spPr>
          <a:xfrm>
            <a:off x="6952564" y="4401120"/>
            <a:ext cx="274320" cy="27432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51" name="Picture 17550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007428" y="4455984"/>
            <a:ext cx="164592" cy="164592"/>
          </a:xfrm>
          <a:prstGeom prst="rect">
            <a:avLst/>
          </a:prstGeom>
        </p:spPr>
      </p:pic>
      <p:sp>
        <p:nvSpPr>
          <p:cNvPr id="17552" name="TextBox 17551"/>
          <p:cNvSpPr txBox="1"/>
          <p:nvPr/>
        </p:nvSpPr>
        <p:spPr>
          <a:xfrm>
            <a:off x="7254316" y="4373688"/>
            <a:ext cx="1078992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r>
              <a:rPr sz="860" b="1">
                <a:solidFill>
                  <a:srgbClr val="172131"/>
                </a:solidFill>
                <a:latin typeface="Calibri"/>
              </a:rPr>
              <a:t>Deck tutor</a:t>
            </a:r>
          </a:p>
        </p:txBody>
      </p:sp>
      <p:sp>
        <p:nvSpPr>
          <p:cNvPr id="17553" name="TextBox 17552"/>
          <p:cNvSpPr txBox="1"/>
          <p:nvPr/>
        </p:nvSpPr>
        <p:spPr>
          <a:xfrm>
            <a:off x="6952564" y="4684584"/>
            <a:ext cx="1371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r>
              <a:rPr sz="760" b="0">
                <a:solidFill>
                  <a:srgbClr val="555F6D"/>
                </a:solidFill>
                <a:latin typeface="Calibri"/>
              </a:rPr>
              <a:t>answers only from the deck</a:t>
            </a:r>
          </a:p>
        </p:txBody>
      </p:sp>
      <p:sp>
        <p:nvSpPr>
          <p:cNvPr id="17554" name="Oval 17553"/>
          <p:cNvSpPr/>
          <p:nvPr/>
        </p:nvSpPr>
        <p:spPr>
          <a:xfrm>
            <a:off x="8549640" y="1527048"/>
            <a:ext cx="365760" cy="365760"/>
          </a:xfrm>
          <a:prstGeom prst="ellipse">
            <a:avLst/>
          </a:prstGeom>
          <a:solidFill>
            <a:srgbClr val="149E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55" name="Picture 1755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622792" y="1600200"/>
            <a:ext cx="219456" cy="219456"/>
          </a:xfrm>
          <a:prstGeom prst="rect">
            <a:avLst/>
          </a:prstGeom>
        </p:spPr>
      </p:pic>
      <p:sp>
        <p:nvSpPr>
          <p:cNvPr id="17556" name="Oval 17555"/>
          <p:cNvSpPr/>
          <p:nvPr/>
        </p:nvSpPr>
        <p:spPr>
          <a:xfrm>
            <a:off x="8965692" y="1527048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57" name="Picture 1755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038844" y="1600200"/>
            <a:ext cx="219456" cy="219456"/>
          </a:xfrm>
          <a:prstGeom prst="rect">
            <a:avLst/>
          </a:prstGeom>
        </p:spPr>
      </p:pic>
      <p:sp>
        <p:nvSpPr>
          <p:cNvPr id="17558" name="Oval 17557"/>
          <p:cNvSpPr/>
          <p:nvPr/>
        </p:nvSpPr>
        <p:spPr>
          <a:xfrm>
            <a:off x="9381744" y="1527048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59" name="Picture 17558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454896" y="1600200"/>
            <a:ext cx="219456" cy="219456"/>
          </a:xfrm>
          <a:prstGeom prst="rect">
            <a:avLst/>
          </a:prstGeom>
        </p:spPr>
      </p:pic>
      <p:sp>
        <p:nvSpPr>
          <p:cNvPr id="17560" name="Oval 17559"/>
          <p:cNvSpPr/>
          <p:nvPr/>
        </p:nvSpPr>
        <p:spPr>
          <a:xfrm>
            <a:off x="9797796" y="1527048"/>
            <a:ext cx="365760" cy="365760"/>
          </a:xfrm>
          <a:prstGeom prst="ellipse">
            <a:avLst/>
          </a:prstGeom>
          <a:solidFill>
            <a:srgbClr val="E09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61" name="Picture 17560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870948" y="1600200"/>
            <a:ext cx="219456" cy="219456"/>
          </a:xfrm>
          <a:prstGeom prst="rect">
            <a:avLst/>
          </a:prstGeom>
        </p:spPr>
      </p:pic>
      <p:sp>
        <p:nvSpPr>
          <p:cNvPr id="17562" name="Oval 17561"/>
          <p:cNvSpPr/>
          <p:nvPr/>
        </p:nvSpPr>
        <p:spPr>
          <a:xfrm>
            <a:off x="10213848" y="1527048"/>
            <a:ext cx="365760" cy="365760"/>
          </a:xfrm>
          <a:prstGeom prst="ellipse">
            <a:avLst/>
          </a:prstGeom>
          <a:solidFill>
            <a:srgbClr val="30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63" name="Picture 1756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287000" y="1600200"/>
            <a:ext cx="219456" cy="219456"/>
          </a:xfrm>
          <a:prstGeom prst="rect">
            <a:avLst/>
          </a:prstGeom>
        </p:spPr>
      </p:pic>
      <p:sp>
        <p:nvSpPr>
          <p:cNvPr id="17564" name="Oval 17563"/>
          <p:cNvSpPr/>
          <p:nvPr/>
        </p:nvSpPr>
        <p:spPr>
          <a:xfrm>
            <a:off x="10629900" y="1527048"/>
            <a:ext cx="365760" cy="365760"/>
          </a:xfrm>
          <a:prstGeom prst="ellipse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65" name="Picture 17564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703052" y="1600200"/>
            <a:ext cx="219456" cy="219456"/>
          </a:xfrm>
          <a:prstGeom prst="rect">
            <a:avLst/>
          </a:prstGeom>
        </p:spPr>
      </p:pic>
      <p:sp>
        <p:nvSpPr>
          <p:cNvPr id="17566" name="Oval 17565"/>
          <p:cNvSpPr/>
          <p:nvPr/>
        </p:nvSpPr>
        <p:spPr>
          <a:xfrm>
            <a:off x="11045952" y="1527048"/>
            <a:ext cx="365760" cy="365760"/>
          </a:xfrm>
          <a:prstGeom prst="ellipse">
            <a:avLst/>
          </a:prstGeom>
          <a:solidFill>
            <a:srgbClr val="0F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67" name="Picture 17566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1119104" y="1600200"/>
            <a:ext cx="219456" cy="219456"/>
          </a:xfrm>
          <a:prstGeom prst="rect">
            <a:avLst/>
          </a:prstGeom>
        </p:spPr>
      </p:pic>
      <p:sp>
        <p:nvSpPr>
          <p:cNvPr id="17568" name="Oval 17567"/>
          <p:cNvSpPr/>
          <p:nvPr/>
        </p:nvSpPr>
        <p:spPr>
          <a:xfrm>
            <a:off x="11462004" y="1527048"/>
            <a:ext cx="365760" cy="365760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69" name="Picture 1756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35156" y="1600200"/>
            <a:ext cx="219456" cy="219456"/>
          </a:xfrm>
          <a:prstGeom prst="rect">
            <a:avLst/>
          </a:prstGeom>
        </p:spPr>
      </p:pic>
      <p:sp>
        <p:nvSpPr>
          <p:cNvPr id="17570" name="Oval 17569"/>
          <p:cNvSpPr/>
          <p:nvPr/>
        </p:nvSpPr>
        <p:spPr>
          <a:xfrm>
            <a:off x="8549640" y="1965960"/>
            <a:ext cx="365760" cy="365760"/>
          </a:xfrm>
          <a:prstGeom prst="ellipse">
            <a:avLst/>
          </a:prstGeom>
          <a:solidFill>
            <a:srgbClr val="18A3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71" name="Picture 1757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22792" y="2039112"/>
            <a:ext cx="219456" cy="219456"/>
          </a:xfrm>
          <a:prstGeom prst="rect">
            <a:avLst/>
          </a:prstGeom>
        </p:spPr>
      </p:pic>
      <p:sp>
        <p:nvSpPr>
          <p:cNvPr id="17572" name="Oval 17571"/>
          <p:cNvSpPr/>
          <p:nvPr/>
        </p:nvSpPr>
        <p:spPr>
          <a:xfrm>
            <a:off x="8965692" y="1965960"/>
            <a:ext cx="365760" cy="365760"/>
          </a:xfrm>
          <a:prstGeom prst="ellipse">
            <a:avLst/>
          </a:prstGeom>
          <a:solidFill>
            <a:srgbClr val="555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73" name="Picture 1757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38844" y="2039112"/>
            <a:ext cx="219456" cy="219456"/>
          </a:xfrm>
          <a:prstGeom prst="rect">
            <a:avLst/>
          </a:prstGeom>
        </p:spPr>
      </p:pic>
      <p:sp>
        <p:nvSpPr>
          <p:cNvPr id="17574" name="Oval 17573"/>
          <p:cNvSpPr/>
          <p:nvPr/>
        </p:nvSpPr>
        <p:spPr>
          <a:xfrm>
            <a:off x="9381744" y="196596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75" name="Picture 17574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454896" y="2039112"/>
            <a:ext cx="219456" cy="219456"/>
          </a:xfrm>
          <a:prstGeom prst="rect">
            <a:avLst/>
          </a:prstGeom>
        </p:spPr>
      </p:pic>
      <p:sp>
        <p:nvSpPr>
          <p:cNvPr id="17576" name="Oval 17575"/>
          <p:cNvSpPr/>
          <p:nvPr/>
        </p:nvSpPr>
        <p:spPr>
          <a:xfrm>
            <a:off x="9797796" y="1965960"/>
            <a:ext cx="365760" cy="365760"/>
          </a:xfrm>
          <a:prstGeom prst="ellipse">
            <a:avLst/>
          </a:prstGeom>
          <a:solidFill>
            <a:srgbClr val="F55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77" name="Picture 1757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870948" y="2039112"/>
            <a:ext cx="219456" cy="219456"/>
          </a:xfrm>
          <a:prstGeom prst="rect">
            <a:avLst/>
          </a:prstGeom>
        </p:spPr>
      </p:pic>
      <p:sp>
        <p:nvSpPr>
          <p:cNvPr id="17578" name="Oval 17577"/>
          <p:cNvSpPr/>
          <p:nvPr/>
        </p:nvSpPr>
        <p:spPr>
          <a:xfrm>
            <a:off x="10213848" y="1965960"/>
            <a:ext cx="365760" cy="365760"/>
          </a:xfrm>
          <a:prstGeom prst="ellipse">
            <a:avLst/>
          </a:prstGeom>
          <a:solidFill>
            <a:srgbClr val="3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79" name="Picture 17578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87000" y="2039112"/>
            <a:ext cx="219456" cy="219456"/>
          </a:xfrm>
          <a:prstGeom prst="rect">
            <a:avLst/>
          </a:prstGeom>
        </p:spPr>
      </p:pic>
      <p:sp>
        <p:nvSpPr>
          <p:cNvPr id="17580" name="Oval 17579"/>
          <p:cNvSpPr/>
          <p:nvPr/>
        </p:nvSpPr>
        <p:spPr>
          <a:xfrm>
            <a:off x="10629900" y="1965960"/>
            <a:ext cx="365760" cy="365760"/>
          </a:xfrm>
          <a:prstGeom prst="ellipse">
            <a:avLst/>
          </a:prstGeom>
          <a:solidFill>
            <a:srgbClr val="C89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81" name="Picture 17580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703052" y="2039112"/>
            <a:ext cx="219456" cy="219456"/>
          </a:xfrm>
          <a:prstGeom prst="rect">
            <a:avLst/>
          </a:prstGeom>
        </p:spPr>
      </p:pic>
      <p:sp>
        <p:nvSpPr>
          <p:cNvPr id="17582" name="Oval 17581"/>
          <p:cNvSpPr/>
          <p:nvPr/>
        </p:nvSpPr>
        <p:spPr>
          <a:xfrm>
            <a:off x="11045952" y="1965960"/>
            <a:ext cx="365760" cy="365760"/>
          </a:xfrm>
          <a:prstGeom prst="ellipse">
            <a:avLst/>
          </a:prstGeom>
          <a:solidFill>
            <a:srgbClr val="172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83" name="Picture 1758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1119104" y="2039112"/>
            <a:ext cx="219456" cy="219456"/>
          </a:xfrm>
          <a:prstGeom prst="rect">
            <a:avLst/>
          </a:prstGeom>
        </p:spPr>
      </p:pic>
      <p:sp>
        <p:nvSpPr>
          <p:cNvPr id="17584" name="Oval 17583"/>
          <p:cNvSpPr/>
          <p:nvPr/>
        </p:nvSpPr>
        <p:spPr>
          <a:xfrm>
            <a:off x="11462004" y="1965960"/>
            <a:ext cx="365760" cy="365760"/>
          </a:xfrm>
          <a:prstGeom prst="ellipse">
            <a:avLst/>
          </a:prstGeom>
          <a:solidFill>
            <a:srgbClr val="1D6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85" name="Picture 1758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1535156" y="2039112"/>
            <a:ext cx="219456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755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67589" y="-167046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r>
              <a:t>4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IPD Review · Learnova · AI&amp;DS DJSCE</a:t>
            </a:r>
          </a:p>
        </p:txBody>
      </p:sp>
      <p:sp>
        <p:nvSpPr>
          <p:cNvPr id="17488" name="TextBox 17487">
            <a:extLst>
              <a:ext uri="{FF2B5EF4-FFF2-40B4-BE49-F238E27FC236}">
                <a16:creationId xmlns:a16="http://schemas.microsoft.com/office/drawing/2014/main" id="{846A38AE-601E-3549-1CA4-3E44392DD2CA}"/>
              </a:ext>
            </a:extLst>
          </p:cNvPr>
          <p:cNvSpPr txBox="1"/>
          <p:nvPr/>
        </p:nvSpPr>
        <p:spPr>
          <a:xfrm>
            <a:off x="3104131" y="625790"/>
            <a:ext cx="609971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i="1">
                <a:solidFill>
                  <a:srgbClr val="0B6DC0"/>
                </a:solidFill>
                <a:latin typeface="Arial"/>
              </a:rPr>
              <a:t>Running today  ·  pilot-ready  ·  every risk has a safeguard</a:t>
            </a:r>
            <a:endParaRPr lang="en-US"/>
          </a:p>
        </p:txBody>
      </p:sp>
      <p:sp>
        <p:nvSpPr>
          <p:cNvPr id="17489" name="Rounded Rectangle 17488">
            <a:extLst>
              <a:ext uri="{FF2B5EF4-FFF2-40B4-BE49-F238E27FC236}">
                <a16:creationId xmlns:a16="http://schemas.microsoft.com/office/drawing/2014/main" id="{0CECA936-FEEA-621C-445B-C6CC19AF94B8}"/>
              </a:ext>
            </a:extLst>
          </p:cNvPr>
          <p:cNvSpPr/>
          <p:nvPr/>
        </p:nvSpPr>
        <p:spPr>
          <a:xfrm>
            <a:off x="274320" y="1097280"/>
            <a:ext cx="3749039" cy="310896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B6DC0"/>
              </a:gs>
              <a:gs pos="100000">
                <a:srgbClr val="2C8BE0"/>
              </a:gs>
            </a:gsLst>
            <a:lin ang="0" scaled="0"/>
          </a:gra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90" name="Rounded Rectangle 17489">
            <a:extLst>
              <a:ext uri="{FF2B5EF4-FFF2-40B4-BE49-F238E27FC236}">
                <a16:creationId xmlns:a16="http://schemas.microsoft.com/office/drawing/2014/main" id="{C7C642EA-5C45-6E3C-C0A1-79CD4587ADF0}"/>
              </a:ext>
            </a:extLst>
          </p:cNvPr>
          <p:cNvSpPr/>
          <p:nvPr/>
        </p:nvSpPr>
        <p:spPr>
          <a:xfrm>
            <a:off x="274320" y="1444752"/>
            <a:ext cx="3749039" cy="3840480"/>
          </a:xfrm>
          <a:prstGeom prst="roundRect">
            <a:avLst>
              <a:gd name="adj" fmla="val 2000"/>
            </a:avLst>
          </a:prstGeom>
          <a:solidFill>
            <a:srgbClr val="D9E9F9"/>
          </a:solidFill>
          <a:ln w="25400">
            <a:solidFill>
              <a:srgbClr val="0B6D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1" name="Rounded Rectangle 17490">
            <a:extLst>
              <a:ext uri="{FF2B5EF4-FFF2-40B4-BE49-F238E27FC236}">
                <a16:creationId xmlns:a16="http://schemas.microsoft.com/office/drawing/2014/main" id="{3FA82823-3CC1-ABD1-0AC0-8A169AF6CF97}"/>
              </a:ext>
            </a:extLst>
          </p:cNvPr>
          <p:cNvSpPr/>
          <p:nvPr/>
        </p:nvSpPr>
        <p:spPr>
          <a:xfrm>
            <a:off x="338328" y="1490472"/>
            <a:ext cx="3621023" cy="5981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2" name="Rounded Rectangle 17491">
            <a:extLst>
              <a:ext uri="{FF2B5EF4-FFF2-40B4-BE49-F238E27FC236}">
                <a16:creationId xmlns:a16="http://schemas.microsoft.com/office/drawing/2014/main" id="{6905A36A-CA4F-8056-DA9F-D33CA4D41EA8}"/>
              </a:ext>
            </a:extLst>
          </p:cNvPr>
          <p:cNvSpPr/>
          <p:nvPr/>
        </p:nvSpPr>
        <p:spPr>
          <a:xfrm>
            <a:off x="338328" y="2120646"/>
            <a:ext cx="3621023" cy="5981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3" name="Rounded Rectangle 17492">
            <a:extLst>
              <a:ext uri="{FF2B5EF4-FFF2-40B4-BE49-F238E27FC236}">
                <a16:creationId xmlns:a16="http://schemas.microsoft.com/office/drawing/2014/main" id="{33358528-3D47-4714-4A3D-60A986709D73}"/>
              </a:ext>
            </a:extLst>
          </p:cNvPr>
          <p:cNvSpPr/>
          <p:nvPr/>
        </p:nvSpPr>
        <p:spPr>
          <a:xfrm>
            <a:off x="338328" y="2750820"/>
            <a:ext cx="3621023" cy="5981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4" name="Rounded Rectangle 17493">
            <a:extLst>
              <a:ext uri="{FF2B5EF4-FFF2-40B4-BE49-F238E27FC236}">
                <a16:creationId xmlns:a16="http://schemas.microsoft.com/office/drawing/2014/main" id="{88308A12-7E89-D69E-1A1D-347569AF8C80}"/>
              </a:ext>
            </a:extLst>
          </p:cNvPr>
          <p:cNvSpPr/>
          <p:nvPr/>
        </p:nvSpPr>
        <p:spPr>
          <a:xfrm>
            <a:off x="338328" y="3380994"/>
            <a:ext cx="3621023" cy="5981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5" name="Rounded Rectangle 17494">
            <a:extLst>
              <a:ext uri="{FF2B5EF4-FFF2-40B4-BE49-F238E27FC236}">
                <a16:creationId xmlns:a16="http://schemas.microsoft.com/office/drawing/2014/main" id="{DC8C58BC-4076-FEFA-447A-AF277A045648}"/>
              </a:ext>
            </a:extLst>
          </p:cNvPr>
          <p:cNvSpPr/>
          <p:nvPr/>
        </p:nvSpPr>
        <p:spPr>
          <a:xfrm>
            <a:off x="338328" y="4011168"/>
            <a:ext cx="3621023" cy="5981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6" name="Rounded Rectangle 17495">
            <a:extLst>
              <a:ext uri="{FF2B5EF4-FFF2-40B4-BE49-F238E27FC236}">
                <a16:creationId xmlns:a16="http://schemas.microsoft.com/office/drawing/2014/main" id="{E3C1830C-222C-666E-D840-196B65AC7199}"/>
              </a:ext>
            </a:extLst>
          </p:cNvPr>
          <p:cNvSpPr/>
          <p:nvPr/>
        </p:nvSpPr>
        <p:spPr>
          <a:xfrm>
            <a:off x="338328" y="4641342"/>
            <a:ext cx="3621023" cy="5981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7" name="Rounded Rectangle 17496">
            <a:extLst>
              <a:ext uri="{FF2B5EF4-FFF2-40B4-BE49-F238E27FC236}">
                <a16:creationId xmlns:a16="http://schemas.microsoft.com/office/drawing/2014/main" id="{0E219B4D-BD50-364D-CCCC-1171DCDEAB8F}"/>
              </a:ext>
            </a:extLst>
          </p:cNvPr>
          <p:cNvSpPr/>
          <p:nvPr/>
        </p:nvSpPr>
        <p:spPr>
          <a:xfrm>
            <a:off x="402336" y="1588389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8" name="Rounded Rectangle 17497">
            <a:extLst>
              <a:ext uri="{FF2B5EF4-FFF2-40B4-BE49-F238E27FC236}">
                <a16:creationId xmlns:a16="http://schemas.microsoft.com/office/drawing/2014/main" id="{55DFBCBD-EA64-951C-1C7A-D90EF50DD8BC}"/>
              </a:ext>
            </a:extLst>
          </p:cNvPr>
          <p:cNvSpPr/>
          <p:nvPr/>
        </p:nvSpPr>
        <p:spPr>
          <a:xfrm>
            <a:off x="402336" y="2218563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9" name="Rounded Rectangle 17498">
            <a:extLst>
              <a:ext uri="{FF2B5EF4-FFF2-40B4-BE49-F238E27FC236}">
                <a16:creationId xmlns:a16="http://schemas.microsoft.com/office/drawing/2014/main" id="{62974744-90F2-FB81-4C3B-85FDBD8E212B}"/>
              </a:ext>
            </a:extLst>
          </p:cNvPr>
          <p:cNvSpPr/>
          <p:nvPr/>
        </p:nvSpPr>
        <p:spPr>
          <a:xfrm>
            <a:off x="402336" y="2848737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00" name="Rounded Rectangle 17499">
            <a:extLst>
              <a:ext uri="{FF2B5EF4-FFF2-40B4-BE49-F238E27FC236}">
                <a16:creationId xmlns:a16="http://schemas.microsoft.com/office/drawing/2014/main" id="{64E10F3C-0CBF-3D79-ED13-A8535135530F}"/>
              </a:ext>
            </a:extLst>
          </p:cNvPr>
          <p:cNvSpPr/>
          <p:nvPr/>
        </p:nvSpPr>
        <p:spPr>
          <a:xfrm>
            <a:off x="402336" y="3478911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01" name="Rounded Rectangle 17500">
            <a:extLst>
              <a:ext uri="{FF2B5EF4-FFF2-40B4-BE49-F238E27FC236}">
                <a16:creationId xmlns:a16="http://schemas.microsoft.com/office/drawing/2014/main" id="{1E48B8CC-B1FA-B3A6-6CB3-86BB517C056F}"/>
              </a:ext>
            </a:extLst>
          </p:cNvPr>
          <p:cNvSpPr/>
          <p:nvPr/>
        </p:nvSpPr>
        <p:spPr>
          <a:xfrm>
            <a:off x="402336" y="4109085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02" name="Rounded Rectangle 17501">
            <a:extLst>
              <a:ext uri="{FF2B5EF4-FFF2-40B4-BE49-F238E27FC236}">
                <a16:creationId xmlns:a16="http://schemas.microsoft.com/office/drawing/2014/main" id="{F57D97D4-DFCD-9714-071A-B38601FAC6EB}"/>
              </a:ext>
            </a:extLst>
          </p:cNvPr>
          <p:cNvSpPr/>
          <p:nvPr/>
        </p:nvSpPr>
        <p:spPr>
          <a:xfrm>
            <a:off x="402336" y="4739259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503" name="Picture 17502" descr="if_cpu.png">
            <a:extLst>
              <a:ext uri="{FF2B5EF4-FFF2-40B4-BE49-F238E27FC236}">
                <a16:creationId xmlns:a16="http://schemas.microsoft.com/office/drawing/2014/main" id="{3A279E84-20AE-E03B-6F52-708DDFEF3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1634109"/>
            <a:ext cx="310896" cy="310896"/>
          </a:xfrm>
          <a:prstGeom prst="rect">
            <a:avLst/>
          </a:prstGeom>
        </p:spPr>
      </p:pic>
      <p:pic>
        <p:nvPicPr>
          <p:cNvPr id="17504" name="Picture 17503" descr="if_database.png">
            <a:extLst>
              <a:ext uri="{FF2B5EF4-FFF2-40B4-BE49-F238E27FC236}">
                <a16:creationId xmlns:a16="http://schemas.microsoft.com/office/drawing/2014/main" id="{AA3473C4-5E5E-C17B-0A4B-5E295AF471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" y="2264283"/>
            <a:ext cx="310896" cy="310896"/>
          </a:xfrm>
          <a:prstGeom prst="rect">
            <a:avLst/>
          </a:prstGeom>
        </p:spPr>
      </p:pic>
      <p:pic>
        <p:nvPicPr>
          <p:cNvPr id="17505" name="Picture 17504" descr="if_rupee.png">
            <a:extLst>
              <a:ext uri="{FF2B5EF4-FFF2-40B4-BE49-F238E27FC236}">
                <a16:creationId xmlns:a16="http://schemas.microsoft.com/office/drawing/2014/main" id="{DCF45F98-704F-FC9C-97D6-6ABF5E6283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2894457"/>
            <a:ext cx="310896" cy="310896"/>
          </a:xfrm>
          <a:prstGeom prst="rect">
            <a:avLst/>
          </a:prstGeom>
        </p:spPr>
      </p:pic>
      <p:pic>
        <p:nvPicPr>
          <p:cNvPr id="17506" name="Picture 17505" descr="if_users.png">
            <a:extLst>
              <a:ext uri="{FF2B5EF4-FFF2-40B4-BE49-F238E27FC236}">
                <a16:creationId xmlns:a16="http://schemas.microsoft.com/office/drawing/2014/main" id="{A11BCD40-7267-389F-27DB-91CAB0C7D2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" y="3524631"/>
            <a:ext cx="310896" cy="310896"/>
          </a:xfrm>
          <a:prstGeom prst="rect">
            <a:avLst/>
          </a:prstGeom>
        </p:spPr>
      </p:pic>
      <p:pic>
        <p:nvPicPr>
          <p:cNvPr id="17507" name="Picture 17506" descr="if_shield.png">
            <a:extLst>
              <a:ext uri="{FF2B5EF4-FFF2-40B4-BE49-F238E27FC236}">
                <a16:creationId xmlns:a16="http://schemas.microsoft.com/office/drawing/2014/main" id="{2EB3BC60-9851-B5EB-489D-582D6D99E0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" y="4154805"/>
            <a:ext cx="310896" cy="310896"/>
          </a:xfrm>
          <a:prstGeom prst="rect">
            <a:avLst/>
          </a:prstGeom>
        </p:spPr>
      </p:pic>
      <p:pic>
        <p:nvPicPr>
          <p:cNvPr id="17508" name="Picture 17507" descr="if_trend.png">
            <a:extLst>
              <a:ext uri="{FF2B5EF4-FFF2-40B4-BE49-F238E27FC236}">
                <a16:creationId xmlns:a16="http://schemas.microsoft.com/office/drawing/2014/main" id="{B913EA68-13FA-D74F-E924-DBA6BD36471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056" y="4784979"/>
            <a:ext cx="310896" cy="310896"/>
          </a:xfrm>
          <a:prstGeom prst="rect">
            <a:avLst/>
          </a:prstGeom>
        </p:spPr>
      </p:pic>
      <p:sp>
        <p:nvSpPr>
          <p:cNvPr id="17509" name="TextBox 17508">
            <a:extLst>
              <a:ext uri="{FF2B5EF4-FFF2-40B4-BE49-F238E27FC236}">
                <a16:creationId xmlns:a16="http://schemas.microsoft.com/office/drawing/2014/main" id="{9E52964B-EA83-89FA-B89E-5C1AD7156D8D}"/>
              </a:ext>
            </a:extLst>
          </p:cNvPr>
          <p:cNvSpPr txBox="1"/>
          <p:nvPr/>
        </p:nvSpPr>
        <p:spPr>
          <a:xfrm>
            <a:off x="850392" y="1513332"/>
            <a:ext cx="3072383" cy="57073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B6DC0"/>
                </a:solidFill>
                <a:latin typeface="Arial"/>
              </a:rPr>
              <a:t>TECHNICAL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22222"/>
                </a:solidFill>
                <a:latin typeface="Arial"/>
              </a:rPr>
              <a:t>Working end to end: FastAPI back end, React front end, 755 automated tests and a layout audit; each stage is a separate module.</a:t>
            </a:r>
          </a:p>
        </p:txBody>
      </p:sp>
      <p:sp>
        <p:nvSpPr>
          <p:cNvPr id="17510" name="TextBox 17509">
            <a:extLst>
              <a:ext uri="{FF2B5EF4-FFF2-40B4-BE49-F238E27FC236}">
                <a16:creationId xmlns:a16="http://schemas.microsoft.com/office/drawing/2014/main" id="{E07E40B9-6210-BFC0-3EA2-B2346163EBA3}"/>
              </a:ext>
            </a:extLst>
          </p:cNvPr>
          <p:cNvSpPr txBox="1"/>
          <p:nvPr/>
        </p:nvSpPr>
        <p:spPr>
          <a:xfrm>
            <a:off x="850392" y="2143506"/>
            <a:ext cx="3072383" cy="57073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B6DC0"/>
                </a:solidFill>
                <a:latin typeface="Arial"/>
              </a:rPr>
              <a:t>DATA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22222"/>
                </a:solidFill>
                <a:latin typeface="Arial"/>
              </a:rPr>
              <a:t>Input is the college's own material (PPTX, PDF, DOCX). Tested on 7 real decks of 15–216 slides from NLP and ML courses.</a:t>
            </a:r>
          </a:p>
        </p:txBody>
      </p:sp>
      <p:sp>
        <p:nvSpPr>
          <p:cNvPr id="17511" name="TextBox 17510">
            <a:extLst>
              <a:ext uri="{FF2B5EF4-FFF2-40B4-BE49-F238E27FC236}">
                <a16:creationId xmlns:a16="http://schemas.microsoft.com/office/drawing/2014/main" id="{22DB99AF-7373-B014-F1E1-063C7F0378FB}"/>
              </a:ext>
            </a:extLst>
          </p:cNvPr>
          <p:cNvSpPr txBox="1"/>
          <p:nvPr/>
        </p:nvSpPr>
        <p:spPr>
          <a:xfrm>
            <a:off x="850392" y="2773680"/>
            <a:ext cx="3072383" cy="57073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B6DC0"/>
                </a:solidFill>
                <a:latin typeface="Arial"/>
              </a:rPr>
              <a:t>ECONOMIC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22222"/>
                </a:solidFill>
                <a:latin typeface="Arial"/>
              </a:rPr>
              <a:t>Free offline; Gemini free-tier keys optional (pool of 5). A department server costs less than one paid AI-slides licence.</a:t>
            </a:r>
          </a:p>
        </p:txBody>
      </p:sp>
      <p:sp>
        <p:nvSpPr>
          <p:cNvPr id="17512" name="TextBox 17511">
            <a:extLst>
              <a:ext uri="{FF2B5EF4-FFF2-40B4-BE49-F238E27FC236}">
                <a16:creationId xmlns:a16="http://schemas.microsoft.com/office/drawing/2014/main" id="{4762D134-A08A-0BC5-201A-466850032C8C}"/>
              </a:ext>
            </a:extLst>
          </p:cNvPr>
          <p:cNvSpPr txBox="1"/>
          <p:nvPr/>
        </p:nvSpPr>
        <p:spPr>
          <a:xfrm>
            <a:off x="850392" y="3403854"/>
            <a:ext cx="3072383" cy="57073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B6DC0"/>
                </a:solidFill>
                <a:latin typeface="Arial"/>
              </a:rPr>
              <a:t>OPERATIONAL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22222"/>
                </a:solidFill>
                <a:latin typeface="Arial"/>
              </a:rPr>
              <a:t>Teachers stay in control: every slide editable, every automatic choice shows its reason; students need only a browser.</a:t>
            </a:r>
          </a:p>
        </p:txBody>
      </p:sp>
      <p:sp>
        <p:nvSpPr>
          <p:cNvPr id="17513" name="TextBox 17512">
            <a:extLst>
              <a:ext uri="{FF2B5EF4-FFF2-40B4-BE49-F238E27FC236}">
                <a16:creationId xmlns:a16="http://schemas.microsoft.com/office/drawing/2014/main" id="{C6880CB2-AB3B-A5B3-02EB-CD45D4748216}"/>
              </a:ext>
            </a:extLst>
          </p:cNvPr>
          <p:cNvSpPr txBox="1"/>
          <p:nvPr/>
        </p:nvSpPr>
        <p:spPr>
          <a:xfrm>
            <a:off x="850392" y="4034028"/>
            <a:ext cx="3072383" cy="57073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B6DC0"/>
                </a:solidFill>
                <a:latin typeface="Arial"/>
              </a:rPr>
              <a:t>SECURITY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22222"/>
                </a:solidFill>
                <a:latin typeface="Arial"/>
              </a:rPr>
              <a:t>OTP sign-in, hashed codes, rate limits; AI SVG and lab code sanitised and checked; share links are view-only.</a:t>
            </a:r>
          </a:p>
        </p:txBody>
      </p:sp>
      <p:sp>
        <p:nvSpPr>
          <p:cNvPr id="17514" name="TextBox 17513">
            <a:extLst>
              <a:ext uri="{FF2B5EF4-FFF2-40B4-BE49-F238E27FC236}">
                <a16:creationId xmlns:a16="http://schemas.microsoft.com/office/drawing/2014/main" id="{4ED29CDE-2C0B-9CE3-15B8-D6820A076E21}"/>
              </a:ext>
            </a:extLst>
          </p:cNvPr>
          <p:cNvSpPr txBox="1"/>
          <p:nvPr/>
        </p:nvSpPr>
        <p:spPr>
          <a:xfrm>
            <a:off x="850392" y="4664202"/>
            <a:ext cx="3072383" cy="57073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B6DC0"/>
                </a:solidFill>
                <a:latin typeface="Arial"/>
              </a:rPr>
              <a:t>SCALE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22222"/>
                </a:solidFill>
                <a:latin typeface="Arial"/>
              </a:rPr>
              <a:t>216-page PDF → full deck in ~35 s offline; work runs in parallel and is cached by content hash.</a:t>
            </a:r>
          </a:p>
        </p:txBody>
      </p:sp>
      <p:sp>
        <p:nvSpPr>
          <p:cNvPr id="17515" name="Rounded Rectangle 17514">
            <a:extLst>
              <a:ext uri="{FF2B5EF4-FFF2-40B4-BE49-F238E27FC236}">
                <a16:creationId xmlns:a16="http://schemas.microsoft.com/office/drawing/2014/main" id="{AEDC64F7-8197-9F94-C8B6-44223E5FA3C1}"/>
              </a:ext>
            </a:extLst>
          </p:cNvPr>
          <p:cNvSpPr/>
          <p:nvPr/>
        </p:nvSpPr>
        <p:spPr>
          <a:xfrm>
            <a:off x="2816351" y="1531620"/>
            <a:ext cx="1069848" cy="173736"/>
          </a:xfrm>
          <a:prstGeom prst="roundRect">
            <a:avLst>
              <a:gd name="adj" fmla="val 50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Arial"/>
              </a:rPr>
              <a:t>755 tests</a:t>
            </a:r>
          </a:p>
        </p:txBody>
      </p:sp>
      <p:sp>
        <p:nvSpPr>
          <p:cNvPr id="17516" name="Rounded Rectangle 17515">
            <a:extLst>
              <a:ext uri="{FF2B5EF4-FFF2-40B4-BE49-F238E27FC236}">
                <a16:creationId xmlns:a16="http://schemas.microsoft.com/office/drawing/2014/main" id="{234E927E-B379-053A-C371-B1F0BAD4A4D8}"/>
              </a:ext>
            </a:extLst>
          </p:cNvPr>
          <p:cNvSpPr/>
          <p:nvPr/>
        </p:nvSpPr>
        <p:spPr>
          <a:xfrm>
            <a:off x="2816351" y="2161794"/>
            <a:ext cx="1069848" cy="173736"/>
          </a:xfrm>
          <a:prstGeom prst="roundRect">
            <a:avLst>
              <a:gd name="adj" fmla="val 50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Arial"/>
              </a:rPr>
              <a:t>7 real decks</a:t>
            </a:r>
          </a:p>
        </p:txBody>
      </p:sp>
      <p:sp>
        <p:nvSpPr>
          <p:cNvPr id="17517" name="Rounded Rectangle 17516">
            <a:extLst>
              <a:ext uri="{FF2B5EF4-FFF2-40B4-BE49-F238E27FC236}">
                <a16:creationId xmlns:a16="http://schemas.microsoft.com/office/drawing/2014/main" id="{2525F3AD-98CD-6127-276A-39576A64081D}"/>
              </a:ext>
            </a:extLst>
          </p:cNvPr>
          <p:cNvSpPr/>
          <p:nvPr/>
        </p:nvSpPr>
        <p:spPr>
          <a:xfrm>
            <a:off x="2816351" y="2791968"/>
            <a:ext cx="1069848" cy="173736"/>
          </a:xfrm>
          <a:prstGeom prst="roundRect">
            <a:avLst>
              <a:gd name="adj" fmla="val 50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Arial"/>
              </a:rPr>
              <a:t>₹0 offline</a:t>
            </a:r>
          </a:p>
        </p:txBody>
      </p:sp>
      <p:sp>
        <p:nvSpPr>
          <p:cNvPr id="17518" name="Rounded Rectangle 17517">
            <a:extLst>
              <a:ext uri="{FF2B5EF4-FFF2-40B4-BE49-F238E27FC236}">
                <a16:creationId xmlns:a16="http://schemas.microsoft.com/office/drawing/2014/main" id="{BC21F808-D117-5B9E-9F7F-A8DD2E6B8FF6}"/>
              </a:ext>
            </a:extLst>
          </p:cNvPr>
          <p:cNvSpPr/>
          <p:nvPr/>
        </p:nvSpPr>
        <p:spPr>
          <a:xfrm>
            <a:off x="2816351" y="3422142"/>
            <a:ext cx="1069848" cy="173736"/>
          </a:xfrm>
          <a:prstGeom prst="roundRect">
            <a:avLst>
              <a:gd name="adj" fmla="val 50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Arial"/>
              </a:rPr>
              <a:t>editable</a:t>
            </a:r>
          </a:p>
        </p:txBody>
      </p:sp>
      <p:sp>
        <p:nvSpPr>
          <p:cNvPr id="17519" name="Rounded Rectangle 17518">
            <a:extLst>
              <a:ext uri="{FF2B5EF4-FFF2-40B4-BE49-F238E27FC236}">
                <a16:creationId xmlns:a16="http://schemas.microsoft.com/office/drawing/2014/main" id="{C64EA6FA-F404-B026-335C-310953E87614}"/>
              </a:ext>
            </a:extLst>
          </p:cNvPr>
          <p:cNvSpPr/>
          <p:nvPr/>
        </p:nvSpPr>
        <p:spPr>
          <a:xfrm>
            <a:off x="2816351" y="4052316"/>
            <a:ext cx="1069848" cy="173736"/>
          </a:xfrm>
          <a:prstGeom prst="roundRect">
            <a:avLst>
              <a:gd name="adj" fmla="val 50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Arial"/>
              </a:rPr>
              <a:t>sanitised</a:t>
            </a:r>
          </a:p>
        </p:txBody>
      </p:sp>
      <p:sp>
        <p:nvSpPr>
          <p:cNvPr id="17520" name="Rounded Rectangle 17519">
            <a:extLst>
              <a:ext uri="{FF2B5EF4-FFF2-40B4-BE49-F238E27FC236}">
                <a16:creationId xmlns:a16="http://schemas.microsoft.com/office/drawing/2014/main" id="{B340A7AB-BB00-613F-B3C8-E40E86743351}"/>
              </a:ext>
            </a:extLst>
          </p:cNvPr>
          <p:cNvSpPr/>
          <p:nvPr/>
        </p:nvSpPr>
        <p:spPr>
          <a:xfrm>
            <a:off x="2816351" y="4682490"/>
            <a:ext cx="1069848" cy="173736"/>
          </a:xfrm>
          <a:prstGeom prst="roundRect">
            <a:avLst>
              <a:gd name="adj" fmla="val 50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Arial"/>
              </a:rPr>
              <a:t>~35 s / 216 pp</a:t>
            </a:r>
          </a:p>
        </p:txBody>
      </p:sp>
      <p:sp>
        <p:nvSpPr>
          <p:cNvPr id="17521" name="Rounded Rectangle 17520">
            <a:extLst>
              <a:ext uri="{FF2B5EF4-FFF2-40B4-BE49-F238E27FC236}">
                <a16:creationId xmlns:a16="http://schemas.microsoft.com/office/drawing/2014/main" id="{599A47B9-4E5C-8847-988C-A2E925FC52E9}"/>
              </a:ext>
            </a:extLst>
          </p:cNvPr>
          <p:cNvSpPr/>
          <p:nvPr/>
        </p:nvSpPr>
        <p:spPr>
          <a:xfrm>
            <a:off x="4114800" y="1097280"/>
            <a:ext cx="4114800" cy="310896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E08A00"/>
              </a:gs>
              <a:gs pos="100000">
                <a:srgbClr val="F2A93B"/>
              </a:gs>
            </a:gsLst>
            <a:lin ang="0" scaled="0"/>
          </a:gra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pic>
        <p:nvPicPr>
          <p:cNvPr id="17588" name="Picture 1758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114800" y="1449995"/>
            <a:ext cx="4114800" cy="3829994"/>
          </a:xfrm>
          <a:prstGeom prst="rect">
            <a:avLst/>
          </a:prstGeom>
        </p:spPr>
      </p:pic>
      <p:sp>
        <p:nvSpPr>
          <p:cNvPr id="17523" name="Rounded Rectangle 17522">
            <a:extLst>
              <a:ext uri="{FF2B5EF4-FFF2-40B4-BE49-F238E27FC236}">
                <a16:creationId xmlns:a16="http://schemas.microsoft.com/office/drawing/2014/main" id="{4ED7E28E-DA17-032E-EB66-80BF876E6D23}"/>
              </a:ext>
            </a:extLst>
          </p:cNvPr>
          <p:cNvSpPr/>
          <p:nvPr/>
        </p:nvSpPr>
        <p:spPr>
          <a:xfrm>
            <a:off x="274320" y="5358384"/>
            <a:ext cx="4343400" cy="90525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4A3B8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24" name="Rounded Rectangle 17523">
            <a:extLst>
              <a:ext uri="{FF2B5EF4-FFF2-40B4-BE49-F238E27FC236}">
                <a16:creationId xmlns:a16="http://schemas.microsoft.com/office/drawing/2014/main" id="{21924696-6E1E-53CB-38F0-488E1E62E88F}"/>
              </a:ext>
            </a:extLst>
          </p:cNvPr>
          <p:cNvSpPr/>
          <p:nvPr/>
        </p:nvSpPr>
        <p:spPr>
          <a:xfrm>
            <a:off x="274320" y="5358384"/>
            <a:ext cx="731520" cy="90525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2545"/>
              </a:gs>
              <a:gs pos="100000">
                <a:srgbClr val="1B4A8C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VERIFY IT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YOURSELF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BFD3F2"/>
                </a:solidFill>
                <a:latin typeface="Arial"/>
              </a:rPr>
              <a:t>scan / click</a:t>
            </a:r>
          </a:p>
        </p:txBody>
      </p:sp>
      <p:pic>
        <p:nvPicPr>
          <p:cNvPr id="17584" name="Picture 1758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55573" y="5413248"/>
            <a:ext cx="603504" cy="603504"/>
          </a:xfrm>
          <a:prstGeom prst="rect">
            <a:avLst/>
          </a:prstGeom>
        </p:spPr>
      </p:pic>
      <p:pic>
        <p:nvPicPr>
          <p:cNvPr id="17585" name="Picture 1758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058543" y="5413248"/>
            <a:ext cx="603504" cy="603504"/>
          </a:xfrm>
          <a:prstGeom prst="rect">
            <a:avLst/>
          </a:prstGeom>
        </p:spPr>
      </p:pic>
      <p:pic>
        <p:nvPicPr>
          <p:cNvPr id="17586" name="Picture 1758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961513" y="5413248"/>
            <a:ext cx="603504" cy="603504"/>
          </a:xfrm>
          <a:prstGeom prst="rect">
            <a:avLst/>
          </a:prstGeom>
        </p:spPr>
      </p:pic>
      <p:pic>
        <p:nvPicPr>
          <p:cNvPr id="17587" name="Picture 1758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64483" y="5413248"/>
            <a:ext cx="603504" cy="603504"/>
          </a:xfrm>
          <a:prstGeom prst="rect">
            <a:avLst/>
          </a:prstGeom>
        </p:spPr>
      </p:pic>
      <p:sp>
        <p:nvSpPr>
          <p:cNvPr id="17529" name="TextBox 17528">
            <a:extLst>
              <a:ext uri="{FF2B5EF4-FFF2-40B4-BE49-F238E27FC236}">
                <a16:creationId xmlns:a16="http://schemas.microsoft.com/office/drawing/2014/main" id="{3D681329-B663-0DE2-FECD-927B7B4C9890}"/>
              </a:ext>
            </a:extLst>
          </p:cNvPr>
          <p:cNvSpPr txBox="1"/>
          <p:nvPr/>
        </p:nvSpPr>
        <p:spPr>
          <a:xfrm>
            <a:off x="1005840" y="6025896"/>
            <a:ext cx="9029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1">
                <a:solidFill>
                  <a:srgbClr val="0B6DC0"/>
                </a:solidFill>
                <a:latin typeface="Arial"/>
                <a:hlinkClick r:id="rId15"/>
              </a:rPr>
              <a:t>Code</a:t>
            </a:r>
          </a:p>
        </p:txBody>
      </p:sp>
      <p:sp>
        <p:nvSpPr>
          <p:cNvPr id="17530" name="TextBox 17529">
            <a:extLst>
              <a:ext uri="{FF2B5EF4-FFF2-40B4-BE49-F238E27FC236}">
                <a16:creationId xmlns:a16="http://schemas.microsoft.com/office/drawing/2014/main" id="{75E31AE8-9149-8A70-17D0-F72C69B8AB01}"/>
              </a:ext>
            </a:extLst>
          </p:cNvPr>
          <p:cNvSpPr txBox="1"/>
          <p:nvPr/>
        </p:nvSpPr>
        <p:spPr>
          <a:xfrm>
            <a:off x="1908810" y="6025896"/>
            <a:ext cx="9029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1">
                <a:solidFill>
                  <a:srgbClr val="0B6DC0"/>
                </a:solidFill>
                <a:latin typeface="Arial"/>
                <a:hlinkClick r:id="rId16"/>
              </a:rPr>
              <a:t>Tests</a:t>
            </a:r>
          </a:p>
        </p:txBody>
      </p:sp>
      <p:sp>
        <p:nvSpPr>
          <p:cNvPr id="17531" name="TextBox 17530">
            <a:extLst>
              <a:ext uri="{FF2B5EF4-FFF2-40B4-BE49-F238E27FC236}">
                <a16:creationId xmlns:a16="http://schemas.microsoft.com/office/drawing/2014/main" id="{8892CF5A-78B7-04BA-1720-B5EB44EBC804}"/>
              </a:ext>
            </a:extLst>
          </p:cNvPr>
          <p:cNvSpPr txBox="1"/>
          <p:nvPr/>
        </p:nvSpPr>
        <p:spPr>
          <a:xfrm>
            <a:off x="2811780" y="6025896"/>
            <a:ext cx="9029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1">
                <a:solidFill>
                  <a:srgbClr val="0B6DC0"/>
                </a:solidFill>
                <a:latin typeface="Arial"/>
                <a:hlinkClick r:id="rId17"/>
              </a:rPr>
              <a:t>Gold sets</a:t>
            </a:r>
          </a:p>
        </p:txBody>
      </p:sp>
      <p:sp>
        <p:nvSpPr>
          <p:cNvPr id="17532" name="Rounded Rectangle 17531">
            <a:extLst>
              <a:ext uri="{FF2B5EF4-FFF2-40B4-BE49-F238E27FC236}">
                <a16:creationId xmlns:a16="http://schemas.microsoft.com/office/drawing/2014/main" id="{94E92A08-6BD9-B843-192E-211F12DCDB5D}"/>
              </a:ext>
            </a:extLst>
          </p:cNvPr>
          <p:cNvSpPr/>
          <p:nvPr/>
        </p:nvSpPr>
        <p:spPr>
          <a:xfrm>
            <a:off x="4709160" y="5358384"/>
            <a:ext cx="3520439" cy="90525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4A3B8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33" name="TextBox 17532">
            <a:extLst>
              <a:ext uri="{FF2B5EF4-FFF2-40B4-BE49-F238E27FC236}">
                <a16:creationId xmlns:a16="http://schemas.microsoft.com/office/drawing/2014/main" id="{CBA03E63-98A3-5E47-C762-A241A76A2F54}"/>
              </a:ext>
            </a:extLst>
          </p:cNvPr>
          <p:cNvSpPr txBox="1"/>
          <p:nvPr/>
        </p:nvSpPr>
        <p:spPr>
          <a:xfrm>
            <a:off x="4754880" y="5376672"/>
            <a:ext cx="3428999" cy="182880"/>
          </a:xfrm>
          <a:prstGeom prst="rect">
            <a:avLst/>
          </a:prstGeom>
          <a:noFill/>
        </p:spPr>
        <p:txBody>
          <a:bodyPr wrap="square" lIns="45720" tIns="0" rIns="18288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ADOPTION PATH  ·  low-risk, one step at a time</a:t>
            </a:r>
          </a:p>
        </p:txBody>
      </p:sp>
      <p:sp>
        <p:nvSpPr>
          <p:cNvPr id="17534" name="Pentagon 17533">
            <a:extLst>
              <a:ext uri="{FF2B5EF4-FFF2-40B4-BE49-F238E27FC236}">
                <a16:creationId xmlns:a16="http://schemas.microsoft.com/office/drawing/2014/main" id="{080C08B8-441E-C380-5030-4E360B8414DB}"/>
              </a:ext>
            </a:extLst>
          </p:cNvPr>
          <p:cNvSpPr/>
          <p:nvPr/>
        </p:nvSpPr>
        <p:spPr>
          <a:xfrm>
            <a:off x="4782312" y="5586984"/>
            <a:ext cx="1161287" cy="246888"/>
          </a:xfrm>
          <a:prstGeom prst="homePlate">
            <a:avLst>
              <a:gd name="adj" fmla="val 35000"/>
            </a:avLst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rIns="4572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 · PILOT</a:t>
            </a:r>
          </a:p>
        </p:txBody>
      </p:sp>
      <p:sp>
        <p:nvSpPr>
          <p:cNvPr id="17535" name="Chevron 17534">
            <a:extLst>
              <a:ext uri="{FF2B5EF4-FFF2-40B4-BE49-F238E27FC236}">
                <a16:creationId xmlns:a16="http://schemas.microsoft.com/office/drawing/2014/main" id="{B906F7B8-3E6B-8BA3-9A91-D055BE95E733}"/>
              </a:ext>
            </a:extLst>
          </p:cNvPr>
          <p:cNvSpPr/>
          <p:nvPr/>
        </p:nvSpPr>
        <p:spPr>
          <a:xfrm>
            <a:off x="5907024" y="5586984"/>
            <a:ext cx="1161287" cy="246888"/>
          </a:xfrm>
          <a:prstGeom prst="chevron">
            <a:avLst>
              <a:gd name="adj" fmla="val 35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rIns="4572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 · DEPT</a:t>
            </a:r>
          </a:p>
        </p:txBody>
      </p:sp>
      <p:sp>
        <p:nvSpPr>
          <p:cNvPr id="17536" name="Chevron 17535">
            <a:extLst>
              <a:ext uri="{FF2B5EF4-FFF2-40B4-BE49-F238E27FC236}">
                <a16:creationId xmlns:a16="http://schemas.microsoft.com/office/drawing/2014/main" id="{6AAF5E08-0E6C-2C28-AA3E-61EDDC025787}"/>
              </a:ext>
            </a:extLst>
          </p:cNvPr>
          <p:cNvSpPr/>
          <p:nvPr/>
        </p:nvSpPr>
        <p:spPr>
          <a:xfrm>
            <a:off x="7031736" y="5586984"/>
            <a:ext cx="1161287" cy="246888"/>
          </a:xfrm>
          <a:prstGeom prst="chevron">
            <a:avLst>
              <a:gd name="adj" fmla="val 35000"/>
            </a:avLst>
          </a:prstGeom>
          <a:solidFill>
            <a:srgbClr val="2E9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rIns="4572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 · COLLEGE</a:t>
            </a:r>
          </a:p>
        </p:txBody>
      </p:sp>
      <p:sp>
        <p:nvSpPr>
          <p:cNvPr id="17537" name="TextBox 17536">
            <a:extLst>
              <a:ext uri="{FF2B5EF4-FFF2-40B4-BE49-F238E27FC236}">
                <a16:creationId xmlns:a16="http://schemas.microsoft.com/office/drawing/2014/main" id="{E2C0AE50-EC38-DCB7-E12F-BB2286A520DB}"/>
              </a:ext>
            </a:extLst>
          </p:cNvPr>
          <p:cNvSpPr txBox="1"/>
          <p:nvPr/>
        </p:nvSpPr>
        <p:spPr>
          <a:xfrm>
            <a:off x="4782312" y="5861304"/>
            <a:ext cx="1124711" cy="384048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222222"/>
                </a:solidFill>
                <a:latin typeface="Arial"/>
              </a:rPr>
              <a:t>Our AI &amp; DS courses; 3–4 faculty</a:t>
            </a:r>
          </a:p>
        </p:txBody>
      </p:sp>
      <p:sp>
        <p:nvSpPr>
          <p:cNvPr id="17538" name="TextBox 17537">
            <a:extLst>
              <a:ext uri="{FF2B5EF4-FFF2-40B4-BE49-F238E27FC236}">
                <a16:creationId xmlns:a16="http://schemas.microsoft.com/office/drawing/2014/main" id="{C51124EF-C149-9D05-B373-6712236E83FB}"/>
              </a:ext>
            </a:extLst>
          </p:cNvPr>
          <p:cNvSpPr txBox="1"/>
          <p:nvPr/>
        </p:nvSpPr>
        <p:spPr>
          <a:xfrm>
            <a:off x="5907024" y="5861304"/>
            <a:ext cx="1124711" cy="384048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222222"/>
                </a:solidFill>
                <a:latin typeface="Arial"/>
              </a:rPr>
              <a:t>Shared server, deck + lab library</a:t>
            </a:r>
          </a:p>
        </p:txBody>
      </p:sp>
      <p:sp>
        <p:nvSpPr>
          <p:cNvPr id="17539" name="TextBox 17538">
            <a:extLst>
              <a:ext uri="{FF2B5EF4-FFF2-40B4-BE49-F238E27FC236}">
                <a16:creationId xmlns:a16="http://schemas.microsoft.com/office/drawing/2014/main" id="{E852847A-444A-FCC7-CE35-777DD0A86FEE}"/>
              </a:ext>
            </a:extLst>
          </p:cNvPr>
          <p:cNvSpPr txBox="1"/>
          <p:nvPr/>
        </p:nvSpPr>
        <p:spPr>
          <a:xfrm>
            <a:off x="7031736" y="5861304"/>
            <a:ext cx="1124711" cy="384048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222222"/>
                </a:solidFill>
                <a:latin typeface="Arial"/>
              </a:rPr>
              <a:t>LMS export, regional languages</a:t>
            </a:r>
          </a:p>
        </p:txBody>
      </p:sp>
      <p:sp>
        <p:nvSpPr>
          <p:cNvPr id="17540" name="Rounded Rectangle 17539">
            <a:extLst>
              <a:ext uri="{FF2B5EF4-FFF2-40B4-BE49-F238E27FC236}">
                <a16:creationId xmlns:a16="http://schemas.microsoft.com/office/drawing/2014/main" id="{16DE842E-01D1-2447-7C8F-9AE900E42E07}"/>
              </a:ext>
            </a:extLst>
          </p:cNvPr>
          <p:cNvSpPr/>
          <p:nvPr/>
        </p:nvSpPr>
        <p:spPr>
          <a:xfrm>
            <a:off x="8321040" y="1097280"/>
            <a:ext cx="3593592" cy="310896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E9E45"/>
              </a:gs>
              <a:gs pos="100000">
                <a:srgbClr val="4FBF63"/>
              </a:gs>
            </a:gsLst>
            <a:lin ang="0" scaled="0"/>
          </a:gradFill>
          <a:ln>
            <a:noFill/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541" name="Rounded Rectangle 17540">
            <a:extLst>
              <a:ext uri="{FF2B5EF4-FFF2-40B4-BE49-F238E27FC236}">
                <a16:creationId xmlns:a16="http://schemas.microsoft.com/office/drawing/2014/main" id="{7269F730-66F1-6B2F-5379-2FAF0825EA02}"/>
              </a:ext>
            </a:extLst>
          </p:cNvPr>
          <p:cNvSpPr/>
          <p:nvPr/>
        </p:nvSpPr>
        <p:spPr>
          <a:xfrm>
            <a:off x="8321040" y="1444752"/>
            <a:ext cx="3593592" cy="6570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B463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42" name="Rounded Rectangle 17541">
            <a:extLst>
              <a:ext uri="{FF2B5EF4-FFF2-40B4-BE49-F238E27FC236}">
                <a16:creationId xmlns:a16="http://schemas.microsoft.com/office/drawing/2014/main" id="{A0EDD5A8-EF82-D2C6-4739-199E5397CFD3}"/>
              </a:ext>
            </a:extLst>
          </p:cNvPr>
          <p:cNvSpPr/>
          <p:nvPr/>
        </p:nvSpPr>
        <p:spPr>
          <a:xfrm>
            <a:off x="8321040" y="2138389"/>
            <a:ext cx="3593592" cy="6570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B463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43" name="Rounded Rectangle 17542">
            <a:extLst>
              <a:ext uri="{FF2B5EF4-FFF2-40B4-BE49-F238E27FC236}">
                <a16:creationId xmlns:a16="http://schemas.microsoft.com/office/drawing/2014/main" id="{A579F0F8-87F2-55CC-E30D-B9C98B46FF91}"/>
              </a:ext>
            </a:extLst>
          </p:cNvPr>
          <p:cNvSpPr/>
          <p:nvPr/>
        </p:nvSpPr>
        <p:spPr>
          <a:xfrm>
            <a:off x="8321040" y="2832027"/>
            <a:ext cx="3593592" cy="6570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B463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44" name="Rounded Rectangle 17543">
            <a:extLst>
              <a:ext uri="{FF2B5EF4-FFF2-40B4-BE49-F238E27FC236}">
                <a16:creationId xmlns:a16="http://schemas.microsoft.com/office/drawing/2014/main" id="{42E7F884-38D5-65AD-B1FA-A74126B9922B}"/>
              </a:ext>
            </a:extLst>
          </p:cNvPr>
          <p:cNvSpPr/>
          <p:nvPr/>
        </p:nvSpPr>
        <p:spPr>
          <a:xfrm>
            <a:off x="8321040" y="3525665"/>
            <a:ext cx="3593592" cy="6570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B463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45" name="Rounded Rectangle 17544">
            <a:extLst>
              <a:ext uri="{FF2B5EF4-FFF2-40B4-BE49-F238E27FC236}">
                <a16:creationId xmlns:a16="http://schemas.microsoft.com/office/drawing/2014/main" id="{460B1C59-75B4-141A-5BF2-F75D730EA467}"/>
              </a:ext>
            </a:extLst>
          </p:cNvPr>
          <p:cNvSpPr/>
          <p:nvPr/>
        </p:nvSpPr>
        <p:spPr>
          <a:xfrm>
            <a:off x="8321040" y="4219302"/>
            <a:ext cx="3593592" cy="6570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B463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46" name="Rounded Rectangle 17545">
            <a:extLst>
              <a:ext uri="{FF2B5EF4-FFF2-40B4-BE49-F238E27FC236}">
                <a16:creationId xmlns:a16="http://schemas.microsoft.com/office/drawing/2014/main" id="{590CC0DF-B9F2-AA20-BCB9-6BEC6D9C1EAC}"/>
              </a:ext>
            </a:extLst>
          </p:cNvPr>
          <p:cNvSpPr/>
          <p:nvPr/>
        </p:nvSpPr>
        <p:spPr>
          <a:xfrm>
            <a:off x="8321040" y="4912940"/>
            <a:ext cx="3593592" cy="6570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B463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47" name="Rounded Rectangle 17546">
            <a:extLst>
              <a:ext uri="{FF2B5EF4-FFF2-40B4-BE49-F238E27FC236}">
                <a16:creationId xmlns:a16="http://schemas.microsoft.com/office/drawing/2014/main" id="{10A6C839-D905-3B4E-7B6F-F9BCA8083CE4}"/>
              </a:ext>
            </a:extLst>
          </p:cNvPr>
          <p:cNvSpPr/>
          <p:nvPr/>
        </p:nvSpPr>
        <p:spPr>
          <a:xfrm>
            <a:off x="8321040" y="5606578"/>
            <a:ext cx="3593592" cy="6570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B463"/>
            </a:solidFill>
          </a:ln>
          <a:effectLst>
            <a:outerShdw blurRad="63500" dist="25400" dir="5400000" algn="t" rotWithShape="0">
              <a:srgbClr val="0B254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48" name="Oval 17547">
            <a:extLst>
              <a:ext uri="{FF2B5EF4-FFF2-40B4-BE49-F238E27FC236}">
                <a16:creationId xmlns:a16="http://schemas.microsoft.com/office/drawing/2014/main" id="{F783636D-40FD-7495-A739-1703CE19F61A}"/>
              </a:ext>
            </a:extLst>
          </p:cNvPr>
          <p:cNvSpPr/>
          <p:nvPr/>
        </p:nvSpPr>
        <p:spPr>
          <a:xfrm>
            <a:off x="8385048" y="1508760"/>
            <a:ext cx="237744" cy="237744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549" name="Oval 17548">
            <a:extLst>
              <a:ext uri="{FF2B5EF4-FFF2-40B4-BE49-F238E27FC236}">
                <a16:creationId xmlns:a16="http://schemas.microsoft.com/office/drawing/2014/main" id="{654760E3-1F9A-3E20-4EB5-4C451F92596D}"/>
              </a:ext>
            </a:extLst>
          </p:cNvPr>
          <p:cNvSpPr/>
          <p:nvPr/>
        </p:nvSpPr>
        <p:spPr>
          <a:xfrm>
            <a:off x="8385048" y="2202397"/>
            <a:ext cx="237744" cy="237744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550" name="Oval 17549">
            <a:extLst>
              <a:ext uri="{FF2B5EF4-FFF2-40B4-BE49-F238E27FC236}">
                <a16:creationId xmlns:a16="http://schemas.microsoft.com/office/drawing/2014/main" id="{93FB9EDC-2B48-CA7A-B52B-51BB069C7996}"/>
              </a:ext>
            </a:extLst>
          </p:cNvPr>
          <p:cNvSpPr/>
          <p:nvPr/>
        </p:nvSpPr>
        <p:spPr>
          <a:xfrm>
            <a:off x="8385048" y="2896035"/>
            <a:ext cx="237744" cy="237744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551" name="Oval 17550">
            <a:extLst>
              <a:ext uri="{FF2B5EF4-FFF2-40B4-BE49-F238E27FC236}">
                <a16:creationId xmlns:a16="http://schemas.microsoft.com/office/drawing/2014/main" id="{B237CC86-8984-19E7-1885-1E0909BB08F0}"/>
              </a:ext>
            </a:extLst>
          </p:cNvPr>
          <p:cNvSpPr/>
          <p:nvPr/>
        </p:nvSpPr>
        <p:spPr>
          <a:xfrm>
            <a:off x="8385048" y="3589673"/>
            <a:ext cx="237744" cy="237744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552" name="Oval 17551">
            <a:extLst>
              <a:ext uri="{FF2B5EF4-FFF2-40B4-BE49-F238E27FC236}">
                <a16:creationId xmlns:a16="http://schemas.microsoft.com/office/drawing/2014/main" id="{40F05864-D535-6C2D-9E7C-F3EB27E311D7}"/>
              </a:ext>
            </a:extLst>
          </p:cNvPr>
          <p:cNvSpPr/>
          <p:nvPr/>
        </p:nvSpPr>
        <p:spPr>
          <a:xfrm>
            <a:off x="8385048" y="4283310"/>
            <a:ext cx="237744" cy="237744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553" name="Oval 17552">
            <a:extLst>
              <a:ext uri="{FF2B5EF4-FFF2-40B4-BE49-F238E27FC236}">
                <a16:creationId xmlns:a16="http://schemas.microsoft.com/office/drawing/2014/main" id="{51C6D2D1-4CA3-260D-3423-E7CA4AC589DD}"/>
              </a:ext>
            </a:extLst>
          </p:cNvPr>
          <p:cNvSpPr/>
          <p:nvPr/>
        </p:nvSpPr>
        <p:spPr>
          <a:xfrm>
            <a:off x="8385048" y="4976948"/>
            <a:ext cx="237744" cy="237744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554" name="Oval 17553">
            <a:extLst>
              <a:ext uri="{FF2B5EF4-FFF2-40B4-BE49-F238E27FC236}">
                <a16:creationId xmlns:a16="http://schemas.microsoft.com/office/drawing/2014/main" id="{34BD0207-35F6-E973-A551-5586DD72A9F3}"/>
              </a:ext>
            </a:extLst>
          </p:cNvPr>
          <p:cNvSpPr/>
          <p:nvPr/>
        </p:nvSpPr>
        <p:spPr>
          <a:xfrm>
            <a:off x="8385048" y="5670586"/>
            <a:ext cx="237744" cy="237744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pic>
        <p:nvPicPr>
          <p:cNvPr id="17555" name="Picture 17554" descr="is7_1.png">
            <a:extLst>
              <a:ext uri="{FF2B5EF4-FFF2-40B4-BE49-F238E27FC236}">
                <a16:creationId xmlns:a16="http://schemas.microsoft.com/office/drawing/2014/main" id="{F27240F6-79B8-36CC-DF82-4509EA85EB6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75904" y="1810512"/>
            <a:ext cx="256032" cy="256032"/>
          </a:xfrm>
          <a:prstGeom prst="rect">
            <a:avLst/>
          </a:prstGeom>
        </p:spPr>
      </p:pic>
      <p:pic>
        <p:nvPicPr>
          <p:cNvPr id="17556" name="Picture 17555" descr="is7_2.png">
            <a:extLst>
              <a:ext uri="{FF2B5EF4-FFF2-40B4-BE49-F238E27FC236}">
                <a16:creationId xmlns:a16="http://schemas.microsoft.com/office/drawing/2014/main" id="{86D5F4DA-759E-22C4-9423-C01CF7AA91A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75904" y="2504149"/>
            <a:ext cx="256032" cy="256032"/>
          </a:xfrm>
          <a:prstGeom prst="rect">
            <a:avLst/>
          </a:prstGeom>
        </p:spPr>
      </p:pic>
      <p:pic>
        <p:nvPicPr>
          <p:cNvPr id="17557" name="Picture 17556" descr="is7_3.png">
            <a:extLst>
              <a:ext uri="{FF2B5EF4-FFF2-40B4-BE49-F238E27FC236}">
                <a16:creationId xmlns:a16="http://schemas.microsoft.com/office/drawing/2014/main" id="{FF0D3F69-21AC-D8ED-DEBF-CCEBFC0B3AB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75904" y="3197787"/>
            <a:ext cx="256032" cy="256032"/>
          </a:xfrm>
          <a:prstGeom prst="rect">
            <a:avLst/>
          </a:prstGeom>
        </p:spPr>
      </p:pic>
      <p:pic>
        <p:nvPicPr>
          <p:cNvPr id="17558" name="Picture 17557" descr="is7_4.png">
            <a:extLst>
              <a:ext uri="{FF2B5EF4-FFF2-40B4-BE49-F238E27FC236}">
                <a16:creationId xmlns:a16="http://schemas.microsoft.com/office/drawing/2014/main" id="{29C584BD-6C40-EACB-1064-F005CF58D6A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75904" y="3891425"/>
            <a:ext cx="256032" cy="256032"/>
          </a:xfrm>
          <a:prstGeom prst="rect">
            <a:avLst/>
          </a:prstGeom>
        </p:spPr>
      </p:pic>
      <p:pic>
        <p:nvPicPr>
          <p:cNvPr id="17559" name="Picture 17558" descr="is7_5.png">
            <a:extLst>
              <a:ext uri="{FF2B5EF4-FFF2-40B4-BE49-F238E27FC236}">
                <a16:creationId xmlns:a16="http://schemas.microsoft.com/office/drawing/2014/main" id="{C7EA01A8-66EC-D7F1-4FBB-4D9E56F108A9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75904" y="4585062"/>
            <a:ext cx="256032" cy="256032"/>
          </a:xfrm>
          <a:prstGeom prst="rect">
            <a:avLst/>
          </a:prstGeom>
        </p:spPr>
      </p:pic>
      <p:pic>
        <p:nvPicPr>
          <p:cNvPr id="17560" name="Picture 17559" descr="is7_6.png">
            <a:extLst>
              <a:ext uri="{FF2B5EF4-FFF2-40B4-BE49-F238E27FC236}">
                <a16:creationId xmlns:a16="http://schemas.microsoft.com/office/drawing/2014/main" id="{C2CC5D7A-8C52-DBA5-AF3B-9899F5DC4AFC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75904" y="5278700"/>
            <a:ext cx="256032" cy="256032"/>
          </a:xfrm>
          <a:prstGeom prst="rect">
            <a:avLst/>
          </a:prstGeom>
        </p:spPr>
      </p:pic>
      <p:pic>
        <p:nvPicPr>
          <p:cNvPr id="17561" name="Picture 17560" descr="is7_7.png">
            <a:extLst>
              <a:ext uri="{FF2B5EF4-FFF2-40B4-BE49-F238E27FC236}">
                <a16:creationId xmlns:a16="http://schemas.microsoft.com/office/drawing/2014/main" id="{0503EDE6-B67C-0EB5-B6AE-EE28524D3F65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75904" y="5972338"/>
            <a:ext cx="256032" cy="256032"/>
          </a:xfrm>
          <a:prstGeom prst="rect">
            <a:avLst/>
          </a:prstGeom>
        </p:spPr>
      </p:pic>
      <p:sp>
        <p:nvSpPr>
          <p:cNvPr id="17562" name="TextBox 17561">
            <a:extLst>
              <a:ext uri="{FF2B5EF4-FFF2-40B4-BE49-F238E27FC236}">
                <a16:creationId xmlns:a16="http://schemas.microsoft.com/office/drawing/2014/main" id="{4DB69547-E5AE-F1B9-589D-D6A4C0822A67}"/>
              </a:ext>
            </a:extLst>
          </p:cNvPr>
          <p:cNvSpPr txBox="1"/>
          <p:nvPr/>
        </p:nvSpPr>
        <p:spPr>
          <a:xfrm>
            <a:off x="8705088" y="1463040"/>
            <a:ext cx="3172968" cy="219456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2545"/>
                </a:solidFill>
                <a:latin typeface="Arial"/>
              </a:rPr>
              <a:t>Faithful Reader</a:t>
            </a:r>
          </a:p>
        </p:txBody>
      </p:sp>
      <p:sp>
        <p:nvSpPr>
          <p:cNvPr id="17563" name="TextBox 17562">
            <a:extLst>
              <a:ext uri="{FF2B5EF4-FFF2-40B4-BE49-F238E27FC236}">
                <a16:creationId xmlns:a16="http://schemas.microsoft.com/office/drawing/2014/main" id="{4746D308-7516-68FB-EE25-DC6C0CBFE682}"/>
              </a:ext>
            </a:extLst>
          </p:cNvPr>
          <p:cNvSpPr txBox="1"/>
          <p:nvPr/>
        </p:nvSpPr>
        <p:spPr>
          <a:xfrm>
            <a:off x="8705088" y="1673352"/>
            <a:ext cx="3172968" cy="273921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890" b="0">
                <a:solidFill>
                  <a:srgbClr val="222222"/>
                </a:solidFill>
                <a:latin typeface="Arial"/>
              </a:rPr>
              <a:t>Page reader, title DP split and OCR decision keep messy PDFs, logos and picture slides correct.</a:t>
            </a:r>
          </a:p>
        </p:txBody>
      </p:sp>
      <p:sp>
        <p:nvSpPr>
          <p:cNvPr id="17564" name="Rounded Rectangle 17563">
            <a:extLst>
              <a:ext uri="{FF2B5EF4-FFF2-40B4-BE49-F238E27FC236}">
                <a16:creationId xmlns:a16="http://schemas.microsoft.com/office/drawing/2014/main" id="{918B0078-57C3-77F2-5042-0AFAFE6A3AA9}"/>
              </a:ext>
            </a:extLst>
          </p:cNvPr>
          <p:cNvSpPr/>
          <p:nvPr/>
        </p:nvSpPr>
        <p:spPr>
          <a:xfrm>
            <a:off x="10747857" y="1490472"/>
            <a:ext cx="1102766" cy="173736"/>
          </a:xfrm>
          <a:prstGeom prst="roundRect">
            <a:avLst>
              <a:gd name="adj" fmla="val 50000"/>
            </a:avLst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vs Messy PDFs</a:t>
            </a:r>
          </a:p>
        </p:txBody>
      </p:sp>
      <p:sp>
        <p:nvSpPr>
          <p:cNvPr id="17565" name="Rounded Rectangle 17564">
            <a:extLst>
              <a:ext uri="{FF2B5EF4-FFF2-40B4-BE49-F238E27FC236}">
                <a16:creationId xmlns:a16="http://schemas.microsoft.com/office/drawing/2014/main" id="{FD778CFC-669A-F070-C050-6F9DCE79E6B1}"/>
              </a:ext>
            </a:extLst>
          </p:cNvPr>
          <p:cNvSpPr/>
          <p:nvPr/>
        </p:nvSpPr>
        <p:spPr>
          <a:xfrm>
            <a:off x="11013033" y="2184109"/>
            <a:ext cx="837590" cy="173736"/>
          </a:xfrm>
          <a:prstGeom prst="roundRect">
            <a:avLst>
              <a:gd name="adj" fmla="val 50000"/>
            </a:avLst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vs Hallucination</a:t>
            </a:r>
          </a:p>
        </p:txBody>
      </p:sp>
      <p:sp>
        <p:nvSpPr>
          <p:cNvPr id="17566" name="Rounded Rectangle 17565">
            <a:extLst>
              <a:ext uri="{FF2B5EF4-FFF2-40B4-BE49-F238E27FC236}">
                <a16:creationId xmlns:a16="http://schemas.microsoft.com/office/drawing/2014/main" id="{30F0840A-5782-5B2D-FF54-0FA04B8D5D22}"/>
              </a:ext>
            </a:extLst>
          </p:cNvPr>
          <p:cNvSpPr/>
          <p:nvPr/>
        </p:nvSpPr>
        <p:spPr>
          <a:xfrm>
            <a:off x="10747857" y="2877747"/>
            <a:ext cx="1102766" cy="173736"/>
          </a:xfrm>
          <a:prstGeom prst="roundRect">
            <a:avLst>
              <a:gd name="adj" fmla="val 50000"/>
            </a:avLst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vs Quota / cost</a:t>
            </a:r>
          </a:p>
        </p:txBody>
      </p:sp>
      <p:sp>
        <p:nvSpPr>
          <p:cNvPr id="17567" name="Rounded Rectangle 17566">
            <a:extLst>
              <a:ext uri="{FF2B5EF4-FFF2-40B4-BE49-F238E27FC236}">
                <a16:creationId xmlns:a16="http://schemas.microsoft.com/office/drawing/2014/main" id="{231AAE79-4A05-00A1-189C-8A9EFFB05177}"/>
              </a:ext>
            </a:extLst>
          </p:cNvPr>
          <p:cNvSpPr/>
          <p:nvPr/>
        </p:nvSpPr>
        <p:spPr>
          <a:xfrm>
            <a:off x="10535716" y="3571385"/>
            <a:ext cx="1314907" cy="173736"/>
          </a:xfrm>
          <a:prstGeom prst="roundRect">
            <a:avLst>
              <a:gd name="adj" fmla="val 50000"/>
            </a:avLst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vs Black-box</a:t>
            </a:r>
          </a:p>
        </p:txBody>
      </p:sp>
      <p:sp>
        <p:nvSpPr>
          <p:cNvPr id="17568" name="Rounded Rectangle 17567">
            <a:extLst>
              <a:ext uri="{FF2B5EF4-FFF2-40B4-BE49-F238E27FC236}">
                <a16:creationId xmlns:a16="http://schemas.microsoft.com/office/drawing/2014/main" id="{88ACB0CA-2CD2-0DBE-E033-83B8707303AA}"/>
              </a:ext>
            </a:extLst>
          </p:cNvPr>
          <p:cNvSpPr/>
          <p:nvPr/>
        </p:nvSpPr>
        <p:spPr>
          <a:xfrm>
            <a:off x="10800892" y="4265022"/>
            <a:ext cx="1049731" cy="173736"/>
          </a:xfrm>
          <a:prstGeom prst="roundRect">
            <a:avLst>
              <a:gd name="adj" fmla="val 50000"/>
            </a:avLst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vs Broken layout</a:t>
            </a:r>
          </a:p>
        </p:txBody>
      </p:sp>
      <p:sp>
        <p:nvSpPr>
          <p:cNvPr id="17569" name="Rounded Rectangle 17568">
            <a:extLst>
              <a:ext uri="{FF2B5EF4-FFF2-40B4-BE49-F238E27FC236}">
                <a16:creationId xmlns:a16="http://schemas.microsoft.com/office/drawing/2014/main" id="{E0D66606-2179-B9B7-4501-6DAF2B59188A}"/>
              </a:ext>
            </a:extLst>
          </p:cNvPr>
          <p:cNvSpPr/>
          <p:nvPr/>
        </p:nvSpPr>
        <p:spPr>
          <a:xfrm>
            <a:off x="11013033" y="4958660"/>
            <a:ext cx="837590" cy="173736"/>
          </a:xfrm>
          <a:prstGeom prst="roundRect">
            <a:avLst>
              <a:gd name="adj" fmla="val 50000"/>
            </a:avLst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vs Slow decks</a:t>
            </a:r>
          </a:p>
        </p:txBody>
      </p:sp>
      <p:sp>
        <p:nvSpPr>
          <p:cNvPr id="17570" name="Rounded Rectangle 17569">
            <a:extLst>
              <a:ext uri="{FF2B5EF4-FFF2-40B4-BE49-F238E27FC236}">
                <a16:creationId xmlns:a16="http://schemas.microsoft.com/office/drawing/2014/main" id="{00914F72-A95A-81A2-E2A7-64C6E55FA33B}"/>
              </a:ext>
            </a:extLst>
          </p:cNvPr>
          <p:cNvSpPr/>
          <p:nvPr/>
        </p:nvSpPr>
        <p:spPr>
          <a:xfrm>
            <a:off x="10800892" y="5652298"/>
            <a:ext cx="1049731" cy="173736"/>
          </a:xfrm>
          <a:prstGeom prst="roundRect">
            <a:avLst>
              <a:gd name="adj" fmla="val 50000"/>
            </a:avLst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Arial"/>
              </a:rPr>
              <a:t>vs Unsafe code</a:t>
            </a:r>
          </a:p>
        </p:txBody>
      </p:sp>
      <p:sp>
        <p:nvSpPr>
          <p:cNvPr id="17571" name="TextBox 17570">
            <a:extLst>
              <a:ext uri="{FF2B5EF4-FFF2-40B4-BE49-F238E27FC236}">
                <a16:creationId xmlns:a16="http://schemas.microsoft.com/office/drawing/2014/main" id="{DA2F42C6-F3C8-9CBE-4F44-B16D808E1CC8}"/>
              </a:ext>
            </a:extLst>
          </p:cNvPr>
          <p:cNvSpPr txBox="1"/>
          <p:nvPr/>
        </p:nvSpPr>
        <p:spPr>
          <a:xfrm>
            <a:off x="8705088" y="2156677"/>
            <a:ext cx="3172968" cy="219456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2545"/>
                </a:solidFill>
                <a:latin typeface="Arial"/>
              </a:rPr>
              <a:t>Grounded AI</a:t>
            </a:r>
          </a:p>
        </p:txBody>
      </p:sp>
      <p:sp>
        <p:nvSpPr>
          <p:cNvPr id="17572" name="TextBox 17571">
            <a:extLst>
              <a:ext uri="{FF2B5EF4-FFF2-40B4-BE49-F238E27FC236}">
                <a16:creationId xmlns:a16="http://schemas.microsoft.com/office/drawing/2014/main" id="{32779D4E-B0D2-8536-ACAA-C583E1D42586}"/>
              </a:ext>
            </a:extLst>
          </p:cNvPr>
          <p:cNvSpPr txBox="1"/>
          <p:nvPr/>
        </p:nvSpPr>
        <p:spPr>
          <a:xfrm>
            <a:off x="8705088" y="2850315"/>
            <a:ext cx="3172968" cy="219456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2545"/>
                </a:solidFill>
                <a:latin typeface="Arial"/>
              </a:rPr>
              <a:t>Key Pool + Offline</a:t>
            </a:r>
          </a:p>
        </p:txBody>
      </p:sp>
      <p:sp>
        <p:nvSpPr>
          <p:cNvPr id="17573" name="TextBox 17572">
            <a:extLst>
              <a:ext uri="{FF2B5EF4-FFF2-40B4-BE49-F238E27FC236}">
                <a16:creationId xmlns:a16="http://schemas.microsoft.com/office/drawing/2014/main" id="{7D9FA808-A98C-535B-87EE-046D1AD56DA3}"/>
              </a:ext>
            </a:extLst>
          </p:cNvPr>
          <p:cNvSpPr txBox="1"/>
          <p:nvPr/>
        </p:nvSpPr>
        <p:spPr>
          <a:xfrm>
            <a:off x="8705088" y="3543953"/>
            <a:ext cx="3172968" cy="219456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2545"/>
                </a:solidFill>
                <a:latin typeface="Arial"/>
              </a:rPr>
              <a:t>Glass-box Decisions</a:t>
            </a:r>
          </a:p>
        </p:txBody>
      </p:sp>
      <p:sp>
        <p:nvSpPr>
          <p:cNvPr id="17574" name="TextBox 17573">
            <a:extLst>
              <a:ext uri="{FF2B5EF4-FFF2-40B4-BE49-F238E27FC236}">
                <a16:creationId xmlns:a16="http://schemas.microsoft.com/office/drawing/2014/main" id="{640CC758-C3FA-1390-C5C3-97D5BAA3C8C0}"/>
              </a:ext>
            </a:extLst>
          </p:cNvPr>
          <p:cNvSpPr txBox="1"/>
          <p:nvPr/>
        </p:nvSpPr>
        <p:spPr>
          <a:xfrm>
            <a:off x="8705088" y="4237590"/>
            <a:ext cx="3172968" cy="219456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2545"/>
                </a:solidFill>
                <a:latin typeface="Arial"/>
              </a:rPr>
              <a:t>Measured Layout</a:t>
            </a:r>
          </a:p>
        </p:txBody>
      </p:sp>
      <p:sp>
        <p:nvSpPr>
          <p:cNvPr id="17575" name="TextBox 17574">
            <a:extLst>
              <a:ext uri="{FF2B5EF4-FFF2-40B4-BE49-F238E27FC236}">
                <a16:creationId xmlns:a16="http://schemas.microsoft.com/office/drawing/2014/main" id="{9211EF1B-7110-46E1-934D-9B6D1A8F0402}"/>
              </a:ext>
            </a:extLst>
          </p:cNvPr>
          <p:cNvSpPr txBox="1"/>
          <p:nvPr/>
        </p:nvSpPr>
        <p:spPr>
          <a:xfrm>
            <a:off x="8705088" y="4931228"/>
            <a:ext cx="3172968" cy="219456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2545"/>
                </a:solidFill>
                <a:latin typeface="Arial"/>
              </a:rPr>
              <a:t>Fast by Design</a:t>
            </a:r>
          </a:p>
        </p:txBody>
      </p:sp>
      <p:sp>
        <p:nvSpPr>
          <p:cNvPr id="17576" name="TextBox 17575">
            <a:extLst>
              <a:ext uri="{FF2B5EF4-FFF2-40B4-BE49-F238E27FC236}">
                <a16:creationId xmlns:a16="http://schemas.microsoft.com/office/drawing/2014/main" id="{E9D16BF9-0226-1AEE-5391-35980DC6DE89}"/>
              </a:ext>
            </a:extLst>
          </p:cNvPr>
          <p:cNvSpPr txBox="1"/>
          <p:nvPr/>
        </p:nvSpPr>
        <p:spPr>
          <a:xfrm>
            <a:off x="8705088" y="5624866"/>
            <a:ext cx="3172968" cy="219456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B2545"/>
                </a:solidFill>
                <a:latin typeface="Arial"/>
              </a:rPr>
              <a:t>Safe Generated Code</a:t>
            </a:r>
          </a:p>
        </p:txBody>
      </p:sp>
      <p:sp>
        <p:nvSpPr>
          <p:cNvPr id="17577" name="TextBox 17576">
            <a:extLst>
              <a:ext uri="{FF2B5EF4-FFF2-40B4-BE49-F238E27FC236}">
                <a16:creationId xmlns:a16="http://schemas.microsoft.com/office/drawing/2014/main" id="{F6247FFD-7646-8DDF-4432-E2F4660DEA5C}"/>
              </a:ext>
            </a:extLst>
          </p:cNvPr>
          <p:cNvSpPr txBox="1"/>
          <p:nvPr/>
        </p:nvSpPr>
        <p:spPr>
          <a:xfrm>
            <a:off x="8705088" y="2366989"/>
            <a:ext cx="3172968" cy="273921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890" b="0">
                <a:solidFill>
                  <a:srgbClr val="222222"/>
                </a:solidFill>
                <a:latin typeface="Arial"/>
              </a:rPr>
              <a:t>AI titles and explanations accepted only if they reuse the slide's words; numbers come from SymPy.</a:t>
            </a:r>
          </a:p>
        </p:txBody>
      </p:sp>
      <p:sp>
        <p:nvSpPr>
          <p:cNvPr id="17578" name="TextBox 17577">
            <a:extLst>
              <a:ext uri="{FF2B5EF4-FFF2-40B4-BE49-F238E27FC236}">
                <a16:creationId xmlns:a16="http://schemas.microsoft.com/office/drawing/2014/main" id="{269536B4-CFD0-1120-7EF6-849A8EB33245}"/>
              </a:ext>
            </a:extLst>
          </p:cNvPr>
          <p:cNvSpPr txBox="1"/>
          <p:nvPr/>
        </p:nvSpPr>
        <p:spPr>
          <a:xfrm>
            <a:off x="8705088" y="3060627"/>
            <a:ext cx="3172968" cy="273921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890" b="0">
                <a:solidFill>
                  <a:srgbClr val="222222"/>
                </a:solidFill>
                <a:latin typeface="Arial"/>
              </a:rPr>
              <a:t>5 Gemini keys, per-key pacing and rotation; Groq/NVIDIA failover; offline rules always finish.</a:t>
            </a:r>
          </a:p>
        </p:txBody>
      </p:sp>
      <p:sp>
        <p:nvSpPr>
          <p:cNvPr id="17579" name="TextBox 17578">
            <a:extLst>
              <a:ext uri="{FF2B5EF4-FFF2-40B4-BE49-F238E27FC236}">
                <a16:creationId xmlns:a16="http://schemas.microsoft.com/office/drawing/2014/main" id="{63EBCED9-F1D4-F726-F223-B3BA75B77547}"/>
              </a:ext>
            </a:extLst>
          </p:cNvPr>
          <p:cNvSpPr txBox="1"/>
          <p:nvPr/>
        </p:nvSpPr>
        <p:spPr>
          <a:xfrm>
            <a:off x="8705088" y="3754265"/>
            <a:ext cx="3172968" cy="273921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890" b="0">
                <a:solidFill>
                  <a:srgbClr val="222222"/>
                </a:solidFill>
                <a:latin typeface="Arial"/>
              </a:rPr>
              <a:t>Every visual shows its rule, confidence and alternatives; slide stays editable in the editor.</a:t>
            </a:r>
          </a:p>
        </p:txBody>
      </p:sp>
      <p:sp>
        <p:nvSpPr>
          <p:cNvPr id="17580" name="TextBox 17579">
            <a:extLst>
              <a:ext uri="{FF2B5EF4-FFF2-40B4-BE49-F238E27FC236}">
                <a16:creationId xmlns:a16="http://schemas.microsoft.com/office/drawing/2014/main" id="{4E144BB4-1DCF-B93E-859C-1759A506563D}"/>
              </a:ext>
            </a:extLst>
          </p:cNvPr>
          <p:cNvSpPr txBox="1"/>
          <p:nvPr/>
        </p:nvSpPr>
        <p:spPr>
          <a:xfrm>
            <a:off x="8705088" y="4447902"/>
            <a:ext cx="3172968" cy="273921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890" b="0">
                <a:solidFill>
                  <a:srgbClr val="222222"/>
                </a:solidFill>
                <a:latin typeface="Arial"/>
              </a:rPr>
              <a:t>Glyph-measured fitting, 11 pt floor, CLASS continuation slides: no overflow, no broken words.</a:t>
            </a:r>
          </a:p>
        </p:txBody>
      </p:sp>
      <p:sp>
        <p:nvSpPr>
          <p:cNvPr id="17581" name="TextBox 17580">
            <a:extLst>
              <a:ext uri="{FF2B5EF4-FFF2-40B4-BE49-F238E27FC236}">
                <a16:creationId xmlns:a16="http://schemas.microsoft.com/office/drawing/2014/main" id="{5E5373BC-5BFB-E31A-B48E-FD05D80DCF23}"/>
              </a:ext>
            </a:extLst>
          </p:cNvPr>
          <p:cNvSpPr txBox="1"/>
          <p:nvPr/>
        </p:nvSpPr>
        <p:spPr>
          <a:xfrm>
            <a:off x="8705088" y="5141540"/>
            <a:ext cx="3172968" cy="273921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890" b="0">
                <a:solidFill>
                  <a:srgbClr val="222222"/>
                </a:solidFill>
                <a:latin typeface="Arial"/>
              </a:rPr>
              <a:t>Parallel diagrams and labs (2 per key), content-hash caches: re-runs are instant.</a:t>
            </a:r>
          </a:p>
        </p:txBody>
      </p:sp>
      <p:sp>
        <p:nvSpPr>
          <p:cNvPr id="17582" name="TextBox 17581">
            <a:extLst>
              <a:ext uri="{FF2B5EF4-FFF2-40B4-BE49-F238E27FC236}">
                <a16:creationId xmlns:a16="http://schemas.microsoft.com/office/drawing/2014/main" id="{3CDC79EA-BA9A-F801-39C9-3B86AE873633}"/>
              </a:ext>
            </a:extLst>
          </p:cNvPr>
          <p:cNvSpPr txBox="1"/>
          <p:nvPr/>
        </p:nvSpPr>
        <p:spPr>
          <a:xfrm>
            <a:off x="8705088" y="5835178"/>
            <a:ext cx="3172968" cy="273921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890" b="0">
                <a:solidFill>
                  <a:srgbClr val="222222"/>
                </a:solidFill>
                <a:latin typeface="Arial"/>
              </a:rPr>
              <a:t>SVG whitelist and sanitiser; lab JS passes node --check and may not use network or storage.</a:t>
            </a:r>
          </a:p>
        </p:txBody>
      </p:sp>
      <p:sp>
        <p:nvSpPr>
          <p:cNvPr id="17583" name="TextBox 17582">
            <a:extLst>
              <a:ext uri="{FF2B5EF4-FFF2-40B4-BE49-F238E27FC236}">
                <a16:creationId xmlns:a16="http://schemas.microsoft.com/office/drawing/2014/main" id="{775147DE-D731-F0F1-5526-55DBEA707654}"/>
              </a:ext>
            </a:extLst>
          </p:cNvPr>
          <p:cNvSpPr txBox="1"/>
          <p:nvPr/>
        </p:nvSpPr>
        <p:spPr>
          <a:xfrm>
            <a:off x="3714750" y="6025896"/>
            <a:ext cx="9029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1">
                <a:solidFill>
                  <a:srgbClr val="0B6DC0"/>
                </a:solidFill>
                <a:latin typeface="Arial"/>
                <a:hlinkClick r:id="rId25"/>
              </a:rPr>
              <a:t>Papers</a:t>
            </a:r>
          </a:p>
        </p:txBody>
      </p:sp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ADBD8EB9-729D-1502-5973-F96C2A6BC6E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96924"/>
            <a:ext cx="1902611" cy="32263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dirty="0"/>
              <a:t>Learnova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8494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r>
              <a:t>5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IPD Review · Learnova · AI&amp;DS DJSCE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5F3F9E1-14A7-9E5C-8779-BC7887264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  <a:p>
            <a:pPr algn="ctr"/>
            <a:r>
              <a:rPr sz="1500" i="1">
                <a:solidFill>
                  <a:srgbClr val="0B6DC0"/>
                </a:solidFill>
                <a:latin typeface="Arial"/>
              </a:rPr>
              <a:t>Measured on our own test decks — not on promises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7360A2-579A-DAE3-C68F-949CF846CEB7}"/>
              </a:ext>
            </a:extLst>
          </p:cNvPr>
          <p:cNvSpPr/>
          <p:nvPr/>
        </p:nvSpPr>
        <p:spPr>
          <a:xfrm>
            <a:off x="246888" y="1088136"/>
            <a:ext cx="2843784" cy="23880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1" name="Picture 1742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74320" y="1115568"/>
            <a:ext cx="2788920" cy="18302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D9CCD1-29EF-3CE8-CBFA-08F204FC4D07}"/>
              </a:ext>
            </a:extLst>
          </p:cNvPr>
          <p:cNvSpPr txBox="1"/>
          <p:nvPr/>
        </p:nvSpPr>
        <p:spPr>
          <a:xfrm>
            <a:off x="347472" y="3019470"/>
            <a:ext cx="2697479" cy="364715"/>
          </a:xfrm>
          <a:prstGeom prst="rect">
            <a:avLst/>
          </a:prstGeom>
          <a:noFill/>
        </p:spPr>
        <p:txBody>
          <a:bodyPr wrap="square" lIns="27432" tIns="0" rIns="18288" bIns="0" anchor="ctr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222222"/>
                </a:solidFill>
                <a:latin typeface="Arial"/>
              </a:rPr>
              <a:t>Untitled slides across 5 real decks fell from 83 to 0: every slide now states its point in a full-sentence title.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5FC0C9-B4B1-7FDC-951F-793B4F263459}"/>
              </a:ext>
            </a:extLst>
          </p:cNvPr>
          <p:cNvSpPr/>
          <p:nvPr/>
        </p:nvSpPr>
        <p:spPr>
          <a:xfrm>
            <a:off x="274320" y="2982372"/>
            <a:ext cx="45720" cy="438912"/>
          </a:xfrm>
          <a:prstGeom prst="rect">
            <a:avLst/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26C7E64-B240-8999-D0AA-D5EBF42D5877}"/>
              </a:ext>
            </a:extLst>
          </p:cNvPr>
          <p:cNvSpPr/>
          <p:nvPr/>
        </p:nvSpPr>
        <p:spPr>
          <a:xfrm>
            <a:off x="3197352" y="1088136"/>
            <a:ext cx="2843784" cy="23880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2" name="Picture 1742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224784" y="1115568"/>
            <a:ext cx="2788920" cy="183022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B8521EF-B548-1F07-8309-57D7E2AE2BF8}"/>
              </a:ext>
            </a:extLst>
          </p:cNvPr>
          <p:cNvSpPr txBox="1"/>
          <p:nvPr/>
        </p:nvSpPr>
        <p:spPr>
          <a:xfrm>
            <a:off x="3297936" y="3019470"/>
            <a:ext cx="2697479" cy="364715"/>
          </a:xfrm>
          <a:prstGeom prst="rect">
            <a:avLst/>
          </a:prstGeom>
          <a:noFill/>
        </p:spPr>
        <p:txBody>
          <a:bodyPr wrap="square" lIns="27432" tIns="0" rIns="18288" bIns="0" anchor="ctr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222222"/>
                </a:solidFill>
                <a:latin typeface="Arial"/>
              </a:rPr>
              <a:t>Slides showing a picture rose on every deck — the teacher's figures kept, plus AI diagrams on topic slides.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10909A-1F02-989B-2667-855AF475F5CF}"/>
              </a:ext>
            </a:extLst>
          </p:cNvPr>
          <p:cNvSpPr/>
          <p:nvPr/>
        </p:nvSpPr>
        <p:spPr>
          <a:xfrm>
            <a:off x="3224784" y="2982372"/>
            <a:ext cx="45720" cy="438912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65C39A1-3E7D-8DC6-2AAF-045C57F17E4E}"/>
              </a:ext>
            </a:extLst>
          </p:cNvPr>
          <p:cNvSpPr/>
          <p:nvPr/>
        </p:nvSpPr>
        <p:spPr>
          <a:xfrm>
            <a:off x="6147816" y="1088136"/>
            <a:ext cx="2843784" cy="23880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3" name="Picture 1742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175248" y="1115568"/>
            <a:ext cx="2788920" cy="18302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F7AAF0B-F08C-AF86-C617-5BC334AAD1D5}"/>
              </a:ext>
            </a:extLst>
          </p:cNvPr>
          <p:cNvSpPr txBox="1"/>
          <p:nvPr/>
        </p:nvSpPr>
        <p:spPr>
          <a:xfrm>
            <a:off x="6248400" y="3019470"/>
            <a:ext cx="2697479" cy="364715"/>
          </a:xfrm>
          <a:prstGeom prst="rect">
            <a:avLst/>
          </a:prstGeom>
          <a:noFill/>
        </p:spPr>
        <p:txBody>
          <a:bodyPr wrap="square" lIns="27432" tIns="0" rIns="18288" bIns="0" anchor="ctr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222222"/>
                </a:solidFill>
                <a:latin typeface="Arial"/>
              </a:rPr>
              <a:t>Visual slides, quizzes and labs went from zero to hundreds, all generated from the deck's own content.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D7E218C-6966-FB1C-F5D8-D8107BB6A1A8}"/>
              </a:ext>
            </a:extLst>
          </p:cNvPr>
          <p:cNvSpPr/>
          <p:nvPr/>
        </p:nvSpPr>
        <p:spPr>
          <a:xfrm>
            <a:off x="6175248" y="2982372"/>
            <a:ext cx="45720" cy="43891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F1F4E9F-ADD1-6D98-72C0-E761F073BBAE}"/>
              </a:ext>
            </a:extLst>
          </p:cNvPr>
          <p:cNvSpPr/>
          <p:nvPr/>
        </p:nvSpPr>
        <p:spPr>
          <a:xfrm>
            <a:off x="9098280" y="1088136"/>
            <a:ext cx="2843784" cy="23880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4" name="Picture 1742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125712" y="1115568"/>
            <a:ext cx="2788920" cy="183022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9B62EB9-90F1-0688-51E7-956122B92C22}"/>
              </a:ext>
            </a:extLst>
          </p:cNvPr>
          <p:cNvSpPr txBox="1"/>
          <p:nvPr/>
        </p:nvSpPr>
        <p:spPr>
          <a:xfrm>
            <a:off x="9198864" y="3019470"/>
            <a:ext cx="2697479" cy="364715"/>
          </a:xfrm>
          <a:prstGeom prst="rect">
            <a:avLst/>
          </a:prstGeom>
          <a:noFill/>
        </p:spPr>
        <p:txBody>
          <a:bodyPr wrap="square" lIns="27432" tIns="0" rIns="18288" bIns="0" anchor="ctr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222222"/>
                </a:solidFill>
                <a:latin typeface="Arial"/>
              </a:rPr>
              <a:t>Run time grows linearly with length: a 216-page PDF becomes a full deck in about 35 s without any API key.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2842B7-D6C9-5CBB-68A4-5183B0CA1C41}"/>
              </a:ext>
            </a:extLst>
          </p:cNvPr>
          <p:cNvSpPr/>
          <p:nvPr/>
        </p:nvSpPr>
        <p:spPr>
          <a:xfrm>
            <a:off x="9125712" y="2982372"/>
            <a:ext cx="45720" cy="438912"/>
          </a:xfrm>
          <a:prstGeom prst="rect">
            <a:avLst/>
          </a:prstGeom>
          <a:solidFill>
            <a:srgbClr val="2E9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AF89CC3-F232-2713-A8FA-F1785653B34C}"/>
              </a:ext>
            </a:extLst>
          </p:cNvPr>
          <p:cNvSpPr/>
          <p:nvPr/>
        </p:nvSpPr>
        <p:spPr>
          <a:xfrm>
            <a:off x="274320" y="3549300"/>
            <a:ext cx="2788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41D55F8-0BF5-2E49-BA46-32A6180CCC3B}"/>
              </a:ext>
            </a:extLst>
          </p:cNvPr>
          <p:cNvSpPr/>
          <p:nvPr/>
        </p:nvSpPr>
        <p:spPr>
          <a:xfrm>
            <a:off x="274320" y="3604164"/>
            <a:ext cx="54864" cy="438912"/>
          </a:xfrm>
          <a:prstGeom prst="rect">
            <a:avLst/>
          </a:prstGeom>
          <a:solidFill>
            <a:srgbClr val="0B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86F9C1-EC15-855A-AA46-39E1AB10D0BC}"/>
              </a:ext>
            </a:extLst>
          </p:cNvPr>
          <p:cNvSpPr txBox="1"/>
          <p:nvPr/>
        </p:nvSpPr>
        <p:spPr>
          <a:xfrm>
            <a:off x="658368" y="3576732"/>
            <a:ext cx="2368296" cy="2194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B6DC0"/>
                </a:solidFill>
                <a:latin typeface="Arial"/>
              </a:rPr>
              <a:t>EDUCATIONAL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F77ADC-71E2-BE13-02B5-8BF6AC64CD11}"/>
              </a:ext>
            </a:extLst>
          </p:cNvPr>
          <p:cNvSpPr txBox="1"/>
          <p:nvPr/>
        </p:nvSpPr>
        <p:spPr>
          <a:xfrm>
            <a:off x="365760" y="3796188"/>
            <a:ext cx="2660903" cy="24006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222222"/>
                </a:solidFill>
                <a:latin typeface="Arial"/>
              </a:rPr>
              <a:t>One idea per slide with a picture; solved steps with reasons; quizzes and labs to practise.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5D58C2B-9446-A21C-50B3-AF404C14F5C3}"/>
              </a:ext>
            </a:extLst>
          </p:cNvPr>
          <p:cNvSpPr/>
          <p:nvPr/>
        </p:nvSpPr>
        <p:spPr>
          <a:xfrm>
            <a:off x="3224784" y="3549300"/>
            <a:ext cx="2788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l_people.png">
            <a:extLst>
              <a:ext uri="{FF2B5EF4-FFF2-40B4-BE49-F238E27FC236}">
                <a16:creationId xmlns:a16="http://schemas.microsoft.com/office/drawing/2014/main" id="{F7DFC6B3-9019-880A-5132-C60A80C70F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4512" y="3604164"/>
            <a:ext cx="237744" cy="23774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E8A5B4C-2FFD-D912-D651-842B76F50EF8}"/>
              </a:ext>
            </a:extLst>
          </p:cNvPr>
          <p:cNvSpPr txBox="1"/>
          <p:nvPr/>
        </p:nvSpPr>
        <p:spPr>
          <a:xfrm>
            <a:off x="3608832" y="3576732"/>
            <a:ext cx="2368296" cy="2194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2E9E45"/>
                </a:solidFill>
                <a:latin typeface="Arial"/>
              </a:rPr>
              <a:t>SOCIAL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994715-85ED-5D81-779C-15BA84D5A7E4}"/>
              </a:ext>
            </a:extLst>
          </p:cNvPr>
          <p:cNvSpPr txBox="1"/>
          <p:nvPr/>
        </p:nvSpPr>
        <p:spPr>
          <a:xfrm>
            <a:off x="3316224" y="3796188"/>
            <a:ext cx="2660903" cy="24006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222222"/>
                </a:solidFill>
                <a:latin typeface="Arial"/>
              </a:rPr>
              <a:t>Works offline and free, so students without paid tools or stable internet get the same material.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DE2A374-569D-5426-65F7-30BB6918181A}"/>
              </a:ext>
            </a:extLst>
          </p:cNvPr>
          <p:cNvSpPr/>
          <p:nvPr/>
        </p:nvSpPr>
        <p:spPr>
          <a:xfrm>
            <a:off x="3224784" y="3604164"/>
            <a:ext cx="54864" cy="438912"/>
          </a:xfrm>
          <a:prstGeom prst="rect">
            <a:avLst/>
          </a:prstGeom>
          <a:solidFill>
            <a:srgbClr val="2E9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l_rupee.png">
            <a:extLst>
              <a:ext uri="{FF2B5EF4-FFF2-40B4-BE49-F238E27FC236}">
                <a16:creationId xmlns:a16="http://schemas.microsoft.com/office/drawing/2014/main" id="{232A1479-7B48-6B5D-135E-F0B4E9AC1C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4048" y="3604164"/>
            <a:ext cx="192024" cy="192024"/>
          </a:xfrm>
          <a:prstGeom prst="rect">
            <a:avLst/>
          </a:prstGeom>
        </p:spPr>
      </p:pic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3172E326-A1B7-D103-EF26-CB3371D309FA}"/>
              </a:ext>
            </a:extLst>
          </p:cNvPr>
          <p:cNvSpPr/>
          <p:nvPr/>
        </p:nvSpPr>
        <p:spPr>
          <a:xfrm>
            <a:off x="6175248" y="3549300"/>
            <a:ext cx="2788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673313-C3A2-4890-5DD4-9D89F10FAED1}"/>
              </a:ext>
            </a:extLst>
          </p:cNvPr>
          <p:cNvSpPr txBox="1"/>
          <p:nvPr/>
        </p:nvSpPr>
        <p:spPr>
          <a:xfrm>
            <a:off x="6559296" y="3576732"/>
            <a:ext cx="2368296" cy="2194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E8E4B"/>
                </a:solidFill>
                <a:latin typeface="Arial"/>
              </a:rPr>
              <a:t>INSTITUTIONAL</a:t>
            </a:r>
          </a:p>
        </p:txBody>
      </p:sp>
      <p:pic>
        <p:nvPicPr>
          <p:cNvPr id="40" name="Picture 39" descr="il_leaf.png">
            <a:extLst>
              <a:ext uri="{FF2B5EF4-FFF2-40B4-BE49-F238E27FC236}">
                <a16:creationId xmlns:a16="http://schemas.microsoft.com/office/drawing/2014/main" id="{7EC3754A-D10E-0C4D-405A-730C2C4D495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4976" y="3604164"/>
            <a:ext cx="237744" cy="23774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6EA61EB-6E1C-6C8A-288F-F8673FE1CD85}"/>
              </a:ext>
            </a:extLst>
          </p:cNvPr>
          <p:cNvSpPr txBox="1"/>
          <p:nvPr/>
        </p:nvSpPr>
        <p:spPr>
          <a:xfrm>
            <a:off x="6266688" y="3796188"/>
            <a:ext cx="2660903" cy="24006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222222"/>
                </a:solidFill>
                <a:latin typeface="Arial"/>
              </a:rPr>
              <a:t>Consistent, accessible course decks; reusable lab library; supports flipped and remote classes.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027EA1C-0285-0DBF-8D8F-5F85634DFC43}"/>
              </a:ext>
            </a:extLst>
          </p:cNvPr>
          <p:cNvSpPr/>
          <p:nvPr/>
        </p:nvSpPr>
        <p:spPr>
          <a:xfrm>
            <a:off x="6175248" y="3604164"/>
            <a:ext cx="54864" cy="438912"/>
          </a:xfrm>
          <a:prstGeom prst="rect">
            <a:avLst/>
          </a:prstGeom>
          <a:solidFill>
            <a:srgbClr val="1E8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49C8C696-AFAE-F2A1-2B5A-6655B4BA2B05}"/>
              </a:ext>
            </a:extLst>
          </p:cNvPr>
          <p:cNvSpPr/>
          <p:nvPr/>
        </p:nvSpPr>
        <p:spPr>
          <a:xfrm>
            <a:off x="9125712" y="3549300"/>
            <a:ext cx="2788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C8A3B6-E216-DAFA-39E0-EA6D3A75BAEE}"/>
              </a:ext>
            </a:extLst>
          </p:cNvPr>
          <p:cNvSpPr txBox="1"/>
          <p:nvPr/>
        </p:nvSpPr>
        <p:spPr>
          <a:xfrm>
            <a:off x="9509760" y="3576732"/>
            <a:ext cx="2368296" cy="2194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TECHNOLOGICAL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4CB32A2-1DB1-4724-39F0-F7168997AFA4}"/>
              </a:ext>
            </a:extLst>
          </p:cNvPr>
          <p:cNvSpPr/>
          <p:nvPr/>
        </p:nvSpPr>
        <p:spPr>
          <a:xfrm>
            <a:off x="9125712" y="3604164"/>
            <a:ext cx="54864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l_cpu.png">
            <a:extLst>
              <a:ext uri="{FF2B5EF4-FFF2-40B4-BE49-F238E27FC236}">
                <a16:creationId xmlns:a16="http://schemas.microsoft.com/office/drawing/2014/main" id="{C03AEB76-74F4-7912-377E-0F16A6C9C87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35440" y="3604164"/>
            <a:ext cx="237744" cy="237744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334712A-A78C-A85D-FFC4-3AE67130F19F}"/>
              </a:ext>
            </a:extLst>
          </p:cNvPr>
          <p:cNvSpPr txBox="1"/>
          <p:nvPr/>
        </p:nvSpPr>
        <p:spPr>
          <a:xfrm>
            <a:off x="9217152" y="3796188"/>
            <a:ext cx="2660903" cy="24006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222222"/>
                </a:solidFill>
                <a:latin typeface="Arial"/>
              </a:rPr>
              <a:t>Explainable rules, our PSF metric and CLASS splitting; AI used only where it can be checked.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08E386FD-CF41-FE42-5253-31BA55EC16D2}"/>
              </a:ext>
            </a:extLst>
          </p:cNvPr>
          <p:cNvSpPr/>
          <p:nvPr/>
        </p:nvSpPr>
        <p:spPr>
          <a:xfrm>
            <a:off x="274320" y="4152804"/>
            <a:ext cx="1894332" cy="457200"/>
          </a:xfrm>
          <a:prstGeom prst="roundRect">
            <a:avLst>
              <a:gd name="adj" fmla="val 14000"/>
            </a:avLst>
          </a:prstGeom>
          <a:solidFill>
            <a:srgbClr val="E4F4E8"/>
          </a:solidFill>
          <a:ln w="12700">
            <a:solidFill>
              <a:srgbClr val="2E9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B195E69A-AC77-CF3F-DEF3-CB53E8BAC1CD}"/>
              </a:ext>
            </a:extLst>
          </p:cNvPr>
          <p:cNvSpPr/>
          <p:nvPr/>
        </p:nvSpPr>
        <p:spPr>
          <a:xfrm>
            <a:off x="2223516" y="4152804"/>
            <a:ext cx="1894332" cy="457200"/>
          </a:xfrm>
          <a:prstGeom prst="roundRect">
            <a:avLst>
              <a:gd name="adj" fmla="val 14000"/>
            </a:avLst>
          </a:prstGeom>
          <a:solidFill>
            <a:srgbClr val="E4F4E8"/>
          </a:solidFill>
          <a:ln w="12700">
            <a:solidFill>
              <a:srgbClr val="2E9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10ECBC03-8D9F-7E84-9C4D-0DB1FCE8368A}"/>
              </a:ext>
            </a:extLst>
          </p:cNvPr>
          <p:cNvSpPr/>
          <p:nvPr/>
        </p:nvSpPr>
        <p:spPr>
          <a:xfrm>
            <a:off x="4172712" y="4152804"/>
            <a:ext cx="1894332" cy="457200"/>
          </a:xfrm>
          <a:prstGeom prst="roundRect">
            <a:avLst>
              <a:gd name="adj" fmla="val 14000"/>
            </a:avLst>
          </a:prstGeom>
          <a:solidFill>
            <a:srgbClr val="E4F4E8"/>
          </a:solidFill>
          <a:ln w="12700">
            <a:solidFill>
              <a:srgbClr val="2E9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4AF9467-9CA8-1D81-46FB-2953FE6DB7A9}"/>
              </a:ext>
            </a:extLst>
          </p:cNvPr>
          <p:cNvSpPr/>
          <p:nvPr/>
        </p:nvSpPr>
        <p:spPr>
          <a:xfrm>
            <a:off x="6121908" y="4152804"/>
            <a:ext cx="1894332" cy="457200"/>
          </a:xfrm>
          <a:prstGeom prst="roundRect">
            <a:avLst>
              <a:gd name="adj" fmla="val 14000"/>
            </a:avLst>
          </a:prstGeom>
          <a:solidFill>
            <a:srgbClr val="E4F4E8"/>
          </a:solidFill>
          <a:ln w="12700">
            <a:solidFill>
              <a:srgbClr val="2E9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0966103E-CF4C-33C9-0553-2E37CD0B8823}"/>
              </a:ext>
            </a:extLst>
          </p:cNvPr>
          <p:cNvSpPr/>
          <p:nvPr/>
        </p:nvSpPr>
        <p:spPr>
          <a:xfrm>
            <a:off x="8071104" y="4152804"/>
            <a:ext cx="1894332" cy="457200"/>
          </a:xfrm>
          <a:prstGeom prst="roundRect">
            <a:avLst>
              <a:gd name="adj" fmla="val 14000"/>
            </a:avLst>
          </a:prstGeom>
          <a:solidFill>
            <a:srgbClr val="E4F4E8"/>
          </a:solidFill>
          <a:ln w="12700">
            <a:solidFill>
              <a:srgbClr val="2E9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0AC436FD-5DCF-C6E8-061B-151C2FD1D778}"/>
              </a:ext>
            </a:extLst>
          </p:cNvPr>
          <p:cNvSpPr/>
          <p:nvPr/>
        </p:nvSpPr>
        <p:spPr>
          <a:xfrm>
            <a:off x="10020300" y="4152804"/>
            <a:ext cx="1894332" cy="457200"/>
          </a:xfrm>
          <a:prstGeom prst="roundRect">
            <a:avLst>
              <a:gd name="adj" fmla="val 14000"/>
            </a:avLst>
          </a:prstGeom>
          <a:solidFill>
            <a:srgbClr val="E4F4E8"/>
          </a:solidFill>
          <a:ln w="12700">
            <a:solidFill>
              <a:srgbClr val="2E9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Picture 53" descr="iw_1.png">
            <a:extLst>
              <a:ext uri="{FF2B5EF4-FFF2-40B4-BE49-F238E27FC236}">
                <a16:creationId xmlns:a16="http://schemas.microsoft.com/office/drawing/2014/main" id="{8A5FFE91-5358-7C7E-43BA-3E77AB72FAD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8328" y="4262532"/>
            <a:ext cx="237744" cy="237744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AC070A-0FAD-13E5-92DB-0FDE2C176BC8}"/>
              </a:ext>
            </a:extLst>
          </p:cNvPr>
          <p:cNvSpPr txBox="1"/>
          <p:nvPr/>
        </p:nvSpPr>
        <p:spPr>
          <a:xfrm>
            <a:off x="603503" y="4152804"/>
            <a:ext cx="1528572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B2545"/>
                </a:solidFill>
                <a:latin typeface="Arial"/>
              </a:rPr>
              <a:t>Students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revise with visuals, quizzes, labs</a:t>
            </a:r>
          </a:p>
        </p:txBody>
      </p:sp>
      <p:pic>
        <p:nvPicPr>
          <p:cNvPr id="56" name="Picture 55" descr="iw_2.png">
            <a:extLst>
              <a:ext uri="{FF2B5EF4-FFF2-40B4-BE49-F238E27FC236}">
                <a16:creationId xmlns:a16="http://schemas.microsoft.com/office/drawing/2014/main" id="{DC6D39EA-87A1-1956-3113-92A685A648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87524" y="4262532"/>
            <a:ext cx="237744" cy="23774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B229840-8D2C-0659-F39E-E25F2318BB3C}"/>
              </a:ext>
            </a:extLst>
          </p:cNvPr>
          <p:cNvSpPr txBox="1"/>
          <p:nvPr/>
        </p:nvSpPr>
        <p:spPr>
          <a:xfrm>
            <a:off x="2552700" y="4152804"/>
            <a:ext cx="1528572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B2545"/>
                </a:solidFill>
                <a:latin typeface="Arial"/>
              </a:rPr>
              <a:t>Faculty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old deck redesigned in a minute</a:t>
            </a:r>
          </a:p>
        </p:txBody>
      </p:sp>
      <p:pic>
        <p:nvPicPr>
          <p:cNvPr id="58" name="Picture 57" descr="iw_3.png">
            <a:extLst>
              <a:ext uri="{FF2B5EF4-FFF2-40B4-BE49-F238E27FC236}">
                <a16:creationId xmlns:a16="http://schemas.microsoft.com/office/drawing/2014/main" id="{33B9F58C-33E1-EF61-51DF-28517809C1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6720" y="4262532"/>
            <a:ext cx="237744" cy="237744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4B9BA7D-45A4-556B-808C-D319DCEF0656}"/>
              </a:ext>
            </a:extLst>
          </p:cNvPr>
          <p:cNvSpPr txBox="1"/>
          <p:nvPr/>
        </p:nvSpPr>
        <p:spPr>
          <a:xfrm>
            <a:off x="4501896" y="4152804"/>
            <a:ext cx="1528572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B2545"/>
                </a:solidFill>
                <a:latin typeface="Arial"/>
              </a:rPr>
              <a:t>HoD / Department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consistent course material</a:t>
            </a:r>
          </a:p>
        </p:txBody>
      </p:sp>
      <p:pic>
        <p:nvPicPr>
          <p:cNvPr id="60" name="Picture 59" descr="iw_4.png">
            <a:extLst>
              <a:ext uri="{FF2B5EF4-FFF2-40B4-BE49-F238E27FC236}">
                <a16:creationId xmlns:a16="http://schemas.microsoft.com/office/drawing/2014/main" id="{7062322D-24F3-C0AE-92AE-A0EAA521085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85916" y="4262532"/>
            <a:ext cx="237744" cy="237744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9EE30F70-79DA-19B0-6805-E82FAD1CFC62}"/>
              </a:ext>
            </a:extLst>
          </p:cNvPr>
          <p:cNvSpPr txBox="1"/>
          <p:nvPr/>
        </p:nvSpPr>
        <p:spPr>
          <a:xfrm>
            <a:off x="6451092" y="4152804"/>
            <a:ext cx="1528572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B2545"/>
                </a:solidFill>
                <a:latin typeface="Arial"/>
              </a:rPr>
              <a:t>Exam preparation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flashcards, quiz bank, cheat sheet</a:t>
            </a:r>
          </a:p>
        </p:txBody>
      </p:sp>
      <p:pic>
        <p:nvPicPr>
          <p:cNvPr id="62" name="Picture 61" descr="iw_5.png">
            <a:extLst>
              <a:ext uri="{FF2B5EF4-FFF2-40B4-BE49-F238E27FC236}">
                <a16:creationId xmlns:a16="http://schemas.microsoft.com/office/drawing/2014/main" id="{D70B195C-83FB-2D91-E5E1-4A612E1F0BA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35112" y="4262532"/>
            <a:ext cx="237744" cy="237744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7D4CA631-C596-D9A5-3E08-EC8ED5A71425}"/>
              </a:ext>
            </a:extLst>
          </p:cNvPr>
          <p:cNvSpPr txBox="1"/>
          <p:nvPr/>
        </p:nvSpPr>
        <p:spPr>
          <a:xfrm>
            <a:off x="8400288" y="4152804"/>
            <a:ext cx="1528572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B2545"/>
                </a:solidFill>
                <a:latin typeface="Arial"/>
              </a:rPr>
              <a:t>Remote learners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share link, phone app, offline</a:t>
            </a:r>
          </a:p>
        </p:txBody>
      </p:sp>
      <p:pic>
        <p:nvPicPr>
          <p:cNvPr id="17408" name="Picture 17407" descr="iw_6.png">
            <a:extLst>
              <a:ext uri="{FF2B5EF4-FFF2-40B4-BE49-F238E27FC236}">
                <a16:creationId xmlns:a16="http://schemas.microsoft.com/office/drawing/2014/main" id="{2B17B9AC-0D37-0346-9BFA-CB42C95B99B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84308" y="4262532"/>
            <a:ext cx="237744" cy="237744"/>
          </a:xfrm>
          <a:prstGeom prst="rect">
            <a:avLst/>
          </a:prstGeom>
        </p:spPr>
      </p:pic>
      <p:sp>
        <p:nvSpPr>
          <p:cNvPr id="17411" name="TextBox 17410">
            <a:extLst>
              <a:ext uri="{FF2B5EF4-FFF2-40B4-BE49-F238E27FC236}">
                <a16:creationId xmlns:a16="http://schemas.microsoft.com/office/drawing/2014/main" id="{AC307792-D10D-31D9-86F4-BBC6C9B40861}"/>
              </a:ext>
            </a:extLst>
          </p:cNvPr>
          <p:cNvSpPr txBox="1"/>
          <p:nvPr/>
        </p:nvSpPr>
        <p:spPr>
          <a:xfrm>
            <a:off x="10349484" y="4152804"/>
            <a:ext cx="1528572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B2545"/>
                </a:solidFill>
                <a:latin typeface="Arial"/>
              </a:rPr>
              <a:t>Accessibility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readable text, alt text, plain words</a:t>
            </a:r>
          </a:p>
        </p:txBody>
      </p:sp>
      <p:sp>
        <p:nvSpPr>
          <p:cNvPr id="17412" name="Rounded Rectangle 17411">
            <a:extLst>
              <a:ext uri="{FF2B5EF4-FFF2-40B4-BE49-F238E27FC236}">
                <a16:creationId xmlns:a16="http://schemas.microsoft.com/office/drawing/2014/main" id="{1B9A772F-74BC-836B-1D40-C217F3944DDE}"/>
              </a:ext>
            </a:extLst>
          </p:cNvPr>
          <p:cNvSpPr/>
          <p:nvPr/>
        </p:nvSpPr>
        <p:spPr>
          <a:xfrm>
            <a:off x="246888" y="4646580"/>
            <a:ext cx="4123944" cy="164449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5" name="Picture 1742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95858" y="4674012"/>
            <a:ext cx="2826003" cy="1589627"/>
          </a:xfrm>
          <a:prstGeom prst="rect">
            <a:avLst/>
          </a:prstGeom>
        </p:spPr>
      </p:pic>
      <p:sp>
        <p:nvSpPr>
          <p:cNvPr id="17414" name="Rounded Rectangle 17413">
            <a:extLst>
              <a:ext uri="{FF2B5EF4-FFF2-40B4-BE49-F238E27FC236}">
                <a16:creationId xmlns:a16="http://schemas.microsoft.com/office/drawing/2014/main" id="{E47E558A-6D2A-C110-456C-0AC0CE70F247}"/>
              </a:ext>
            </a:extLst>
          </p:cNvPr>
          <p:cNvSpPr/>
          <p:nvPr/>
        </p:nvSpPr>
        <p:spPr>
          <a:xfrm>
            <a:off x="4416552" y="4646580"/>
            <a:ext cx="3895344" cy="164449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Rounded Rectangle 17414">
            <a:extLst>
              <a:ext uri="{FF2B5EF4-FFF2-40B4-BE49-F238E27FC236}">
                <a16:creationId xmlns:a16="http://schemas.microsoft.com/office/drawing/2014/main" id="{81C736D6-3CD1-9F59-1AFD-8243EEAA5D14}"/>
              </a:ext>
            </a:extLst>
          </p:cNvPr>
          <p:cNvSpPr/>
          <p:nvPr/>
        </p:nvSpPr>
        <p:spPr>
          <a:xfrm>
            <a:off x="8357616" y="4646580"/>
            <a:ext cx="3584448" cy="164449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6" name="Picture 1742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443984" y="4899865"/>
            <a:ext cx="3840479" cy="1137920"/>
          </a:xfrm>
          <a:prstGeom prst="rect">
            <a:avLst/>
          </a:prstGeom>
        </p:spPr>
      </p:pic>
      <p:pic>
        <p:nvPicPr>
          <p:cNvPr id="17427" name="Picture 1742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45865" y="4674012"/>
            <a:ext cx="2007949" cy="1589627"/>
          </a:xfrm>
          <a:prstGeom prst="rect">
            <a:avLst/>
          </a:prstGeom>
        </p:spPr>
      </p:pic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66051C07-827E-3EC0-ED91-4F0D3C7142F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96924"/>
            <a:ext cx="1902611" cy="32263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dirty="0"/>
              <a:t>Learnova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8567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r>
              <a:t>6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IPD Review · Learnova · AI&amp;DS DJSCE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B283AD8-E6DF-DDDD-BC27-9AA50D70B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50583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  <a:p>
            <a:pPr algn="ctr"/>
            <a:r>
              <a:rPr sz="1500" i="1">
                <a:solidFill>
                  <a:srgbClr val="0B6DC0"/>
                </a:solidFill>
                <a:latin typeface="Arial"/>
              </a:rPr>
              <a:t>12 road signs  ·  36 sources  ·  scan any code to check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3A5570-00B3-A9C2-29AB-37A7FCFF7043}"/>
              </a:ext>
            </a:extLst>
          </p:cNvPr>
          <p:cNvSpPr/>
          <p:nvPr/>
        </p:nvSpPr>
        <p:spPr>
          <a:xfrm>
            <a:off x="274320" y="1115568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D62839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67" name="Rounded Rectangle 17466">
            <a:extLst>
              <a:ext uri="{FF2B5EF4-FFF2-40B4-BE49-F238E27FC236}">
                <a16:creationId xmlns:a16="http://schemas.microsoft.com/office/drawing/2014/main" id="{DD9D78EB-40DC-9B95-955D-D7F46D303813}"/>
              </a:ext>
            </a:extLst>
          </p:cNvPr>
          <p:cNvSpPr/>
          <p:nvPr/>
        </p:nvSpPr>
        <p:spPr>
          <a:xfrm>
            <a:off x="274320" y="1115568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79" name="Picture 17478" descr="sign_stop.png">
            <a:extLst>
              <a:ext uri="{FF2B5EF4-FFF2-40B4-BE49-F238E27FC236}">
                <a16:creationId xmlns:a16="http://schemas.microsoft.com/office/drawing/2014/main" id="{C5B08350-C414-95EF-B783-0445B76582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70432"/>
            <a:ext cx="420624" cy="420624"/>
          </a:xfrm>
          <a:prstGeom prst="rect">
            <a:avLst/>
          </a:prstGeom>
        </p:spPr>
      </p:pic>
      <p:sp>
        <p:nvSpPr>
          <p:cNvPr id="17491" name="TextBox 17490">
            <a:extLst>
              <a:ext uri="{FF2B5EF4-FFF2-40B4-BE49-F238E27FC236}">
                <a16:creationId xmlns:a16="http://schemas.microsoft.com/office/drawing/2014/main" id="{EF311063-41E7-2E14-0CA2-3C9A06918AE2}"/>
              </a:ext>
            </a:extLst>
          </p:cNvPr>
          <p:cNvSpPr txBox="1"/>
          <p:nvPr/>
        </p:nvSpPr>
        <p:spPr>
          <a:xfrm>
            <a:off x="841247" y="1143000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62839"/>
                </a:solidFill>
                <a:latin typeface="Arial"/>
              </a:rPr>
              <a:t>THE PROBLEM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why old decks fail learners</a:t>
            </a:r>
          </a:p>
        </p:txBody>
      </p:sp>
      <p:pic>
        <p:nvPicPr>
          <p:cNvPr id="17528" name="Picture 17527" descr="image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365760" y="1691639"/>
            <a:ext cx="329184" cy="329184"/>
          </a:xfrm>
          <a:prstGeom prst="rect">
            <a:avLst/>
          </a:prstGeom>
        </p:spPr>
      </p:pic>
      <p:sp>
        <p:nvSpPr>
          <p:cNvPr id="17414" name="TextBox 17413">
            <a:extLst>
              <a:ext uri="{FF2B5EF4-FFF2-40B4-BE49-F238E27FC236}">
                <a16:creationId xmlns:a16="http://schemas.microsoft.com/office/drawing/2014/main" id="{2ADFCC07-9FEA-9A92-FEA4-72B796412AE8}"/>
              </a:ext>
            </a:extLst>
          </p:cNvPr>
          <p:cNvSpPr txBox="1"/>
          <p:nvPr/>
        </p:nvSpPr>
        <p:spPr>
          <a:xfrm>
            <a:off x="749808" y="1682495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6"/>
              </a:rPr>
              <a:t>Tufte 2003: Cognitive Style of PowerPoint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bullets fragment the argument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D62839"/>
                </a:solidFill>
                <a:latin typeface="Arial"/>
              </a:rPr>
              <a:t>edwardtufte.com</a:t>
            </a:r>
            <a:endParaRPr sz="740" b="1">
              <a:solidFill>
                <a:srgbClr val="D62839"/>
              </a:solidFill>
              <a:latin typeface="Arial"/>
            </a:endParaRPr>
          </a:p>
        </p:txBody>
      </p:sp>
      <p:cxnSp>
        <p:nvCxnSpPr>
          <p:cNvPr id="57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84048" y="2027224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29" name="Picture 17528" descr="image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365760" y="2043683"/>
            <a:ext cx="329184" cy="329184"/>
          </a:xfrm>
          <a:prstGeom prst="rect">
            <a:avLst/>
          </a:prstGeom>
        </p:spPr>
      </p:pic>
      <p:sp>
        <p:nvSpPr>
          <p:cNvPr id="17415" name="TextBox 17414">
            <a:extLst>
              <a:ext uri="{FF2B5EF4-FFF2-40B4-BE49-F238E27FC236}">
                <a16:creationId xmlns:a16="http://schemas.microsoft.com/office/drawing/2014/main" id="{AEE79EF0-6149-6E32-6B6B-203FF4DBD448}"/>
              </a:ext>
            </a:extLst>
          </p:cNvPr>
          <p:cNvSpPr txBox="1"/>
          <p:nvPr/>
        </p:nvSpPr>
        <p:spPr>
          <a:xfrm>
            <a:off x="749808" y="2034539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8"/>
              </a:rPr>
              <a:t>Sweller 1988: Cognitive load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working memory limits learning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D62839"/>
                </a:solidFill>
                <a:latin typeface="Arial"/>
              </a:rPr>
              <a:t>doi.org/10.1207/s15516709cog1202_4</a:t>
            </a:r>
          </a:p>
        </p:txBody>
      </p:sp>
      <p:cxnSp>
        <p:nvCxnSpPr>
          <p:cNvPr id="2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84048" y="2379268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30" name="Picture 17529" descr="image.png"/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365760" y="2395727"/>
            <a:ext cx="329184" cy="329184"/>
          </a:xfrm>
          <a:prstGeom prst="rect">
            <a:avLst/>
          </a:prstGeom>
        </p:spPr>
      </p:pic>
      <p:sp>
        <p:nvSpPr>
          <p:cNvPr id="3" name="TextBox 17413">
            <a:extLst>
              <a:ext uri="{FF2B5EF4-FFF2-40B4-BE49-F238E27FC236}">
                <a16:creationId xmlns:a16="http://schemas.microsoft.com/office/drawing/2014/main" id="{2ADFCC07-9FEA-9A92-FEA4-72B796412AE8}"/>
              </a:ext>
            </a:extLst>
          </p:cNvPr>
          <p:cNvSpPr txBox="1"/>
          <p:nvPr/>
        </p:nvSpPr>
        <p:spPr>
          <a:xfrm>
            <a:off x="749808" y="238658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10"/>
              </a:rPr>
              <a:t>Cowan 2001: the magical number 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about four chunks at a time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D62839"/>
                </a:solidFill>
                <a:latin typeface="Arial"/>
              </a:rPr>
              <a:t>doi.org/10.1017/S0140525X01003922</a:t>
            </a:r>
            <a:endParaRPr sz="740" b="1">
              <a:solidFill>
                <a:srgbClr val="D62839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03F891A-7C74-6D3B-97F1-064F6641E67B}"/>
              </a:ext>
            </a:extLst>
          </p:cNvPr>
          <p:cNvSpPr/>
          <p:nvPr/>
        </p:nvSpPr>
        <p:spPr>
          <a:xfrm>
            <a:off x="3209544" y="1115568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D97706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68" name="Rounded Rectangle 17467">
            <a:extLst>
              <a:ext uri="{FF2B5EF4-FFF2-40B4-BE49-F238E27FC236}">
                <a16:creationId xmlns:a16="http://schemas.microsoft.com/office/drawing/2014/main" id="{03F0AEEA-AC82-E24A-DAF6-0CD2EA2269A6}"/>
              </a:ext>
            </a:extLst>
          </p:cNvPr>
          <p:cNvSpPr/>
          <p:nvPr/>
        </p:nvSpPr>
        <p:spPr>
          <a:xfrm>
            <a:off x="3209544" y="1115568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0" name="Picture 17479" descr="sign_warning.png">
            <a:extLst>
              <a:ext uri="{FF2B5EF4-FFF2-40B4-BE49-F238E27FC236}">
                <a16:creationId xmlns:a16="http://schemas.microsoft.com/office/drawing/2014/main" id="{E986CE4C-68BC-9532-268D-2EC44577F1C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91839" y="1170432"/>
            <a:ext cx="420624" cy="420624"/>
          </a:xfrm>
          <a:prstGeom prst="rect">
            <a:avLst/>
          </a:prstGeom>
        </p:spPr>
      </p:pic>
      <p:sp>
        <p:nvSpPr>
          <p:cNvPr id="17492" name="TextBox 17491">
            <a:extLst>
              <a:ext uri="{FF2B5EF4-FFF2-40B4-BE49-F238E27FC236}">
                <a16:creationId xmlns:a16="http://schemas.microsoft.com/office/drawing/2014/main" id="{81AB5AD2-2138-07B9-2668-558E1289A410}"/>
              </a:ext>
            </a:extLst>
          </p:cNvPr>
          <p:cNvSpPr txBox="1"/>
          <p:nvPr/>
        </p:nvSpPr>
        <p:spPr>
          <a:xfrm>
            <a:off x="3776472" y="1143000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97706"/>
                </a:solidFill>
                <a:latin typeface="Arial"/>
              </a:rPr>
              <a:t>SLIDE DESIGN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what a good slide looks like</a:t>
            </a:r>
          </a:p>
        </p:txBody>
      </p:sp>
      <p:pic>
        <p:nvPicPr>
          <p:cNvPr id="17531" name="Picture 17530" descr="image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3300984" y="1691639"/>
            <a:ext cx="329184" cy="329184"/>
          </a:xfrm>
          <a:prstGeom prst="rect">
            <a:avLst/>
          </a:prstGeom>
        </p:spPr>
      </p:pic>
      <p:sp>
        <p:nvSpPr>
          <p:cNvPr id="17416" name="TextBox 17415">
            <a:extLst>
              <a:ext uri="{FF2B5EF4-FFF2-40B4-BE49-F238E27FC236}">
                <a16:creationId xmlns:a16="http://schemas.microsoft.com/office/drawing/2014/main" id="{037F708F-5ABC-FC30-3F2F-C139DD13074E}"/>
              </a:ext>
            </a:extLst>
          </p:cNvPr>
          <p:cNvSpPr txBox="1"/>
          <p:nvPr/>
        </p:nvSpPr>
        <p:spPr>
          <a:xfrm>
            <a:off x="3685031" y="1682495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13"/>
              </a:rPr>
              <a:t>Garner &amp; Alley 2013, IJEE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assertion-evidence beats bullets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D97706"/>
                </a:solidFill>
                <a:latin typeface="Arial"/>
              </a:rPr>
              <a:t>ijee.ie</a:t>
            </a:r>
          </a:p>
        </p:txBody>
      </p:sp>
      <p:cxnSp>
        <p:nvCxnSpPr>
          <p:cNvPr id="4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319272" y="2027224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32" name="Picture 17531" descr="image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3300984" y="2043683"/>
            <a:ext cx="329184" cy="329184"/>
          </a:xfrm>
          <a:prstGeom prst="rect">
            <a:avLst/>
          </a:prstGeom>
        </p:spPr>
      </p:pic>
      <p:sp>
        <p:nvSpPr>
          <p:cNvPr id="17417" name="TextBox 17416">
            <a:extLst>
              <a:ext uri="{FF2B5EF4-FFF2-40B4-BE49-F238E27FC236}">
                <a16:creationId xmlns:a16="http://schemas.microsoft.com/office/drawing/2014/main" id="{D176318B-777C-C85D-7396-56EE183AC633}"/>
              </a:ext>
            </a:extLst>
          </p:cNvPr>
          <p:cNvSpPr txBox="1"/>
          <p:nvPr/>
        </p:nvSpPr>
        <p:spPr>
          <a:xfrm>
            <a:off x="3685031" y="2034539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15"/>
              </a:rPr>
              <a:t>Alley et al. 2006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sentence headlines aid retention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D97706"/>
                </a:solidFill>
                <a:latin typeface="Arial"/>
              </a:rPr>
              <a:t>Technical Communication 53(2)</a:t>
            </a:r>
          </a:p>
        </p:txBody>
      </p:sp>
      <p:cxnSp>
        <p:nvCxnSpPr>
          <p:cNvPr id="23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319272" y="2379268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33" name="Picture 17532" descr="image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3300984" y="2395727"/>
            <a:ext cx="329184" cy="329184"/>
          </a:xfrm>
          <a:prstGeom prst="rect">
            <a:avLst/>
          </a:prstGeom>
        </p:spPr>
      </p:pic>
      <p:sp>
        <p:nvSpPr>
          <p:cNvPr id="24" name="TextBox 17415">
            <a:extLst>
              <a:ext uri="{FF2B5EF4-FFF2-40B4-BE49-F238E27FC236}">
                <a16:creationId xmlns:a16="http://schemas.microsoft.com/office/drawing/2014/main" id="{037F708F-5ABC-FC30-3F2F-C139DD13074E}"/>
              </a:ext>
            </a:extLst>
          </p:cNvPr>
          <p:cNvSpPr txBox="1"/>
          <p:nvPr/>
        </p:nvSpPr>
        <p:spPr>
          <a:xfrm>
            <a:off x="3685031" y="238658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17"/>
              </a:rPr>
              <a:t>Mayer 2009: Multimedia Learning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coherence, signalling, contiguity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D97706"/>
                </a:solidFill>
                <a:latin typeface="Arial"/>
              </a:rPr>
              <a:t>cambridge.org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D0F7097-E652-2811-E2B0-D8CBC6E30B56}"/>
              </a:ext>
            </a:extLst>
          </p:cNvPr>
          <p:cNvSpPr/>
          <p:nvPr/>
        </p:nvSpPr>
        <p:spPr>
          <a:xfrm>
            <a:off x="6144768" y="1115568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B91C1C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69" name="Rounded Rectangle 17468">
            <a:extLst>
              <a:ext uri="{FF2B5EF4-FFF2-40B4-BE49-F238E27FC236}">
                <a16:creationId xmlns:a16="http://schemas.microsoft.com/office/drawing/2014/main" id="{3C950F4E-C049-8503-1EB4-5EF643F7F04B}"/>
              </a:ext>
            </a:extLst>
          </p:cNvPr>
          <p:cNvSpPr/>
          <p:nvPr/>
        </p:nvSpPr>
        <p:spPr>
          <a:xfrm>
            <a:off x="6144768" y="1115568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1" name="Picture 17480" descr="sign_speed.png">
            <a:extLst>
              <a:ext uri="{FF2B5EF4-FFF2-40B4-BE49-F238E27FC236}">
                <a16:creationId xmlns:a16="http://schemas.microsoft.com/office/drawing/2014/main" id="{58522CA7-8BE8-4123-C6A9-FC09B4248CE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27064" y="1170432"/>
            <a:ext cx="420624" cy="420624"/>
          </a:xfrm>
          <a:prstGeom prst="rect">
            <a:avLst/>
          </a:prstGeom>
        </p:spPr>
      </p:pic>
      <p:sp>
        <p:nvSpPr>
          <p:cNvPr id="17493" name="TextBox 17492">
            <a:extLst>
              <a:ext uri="{FF2B5EF4-FFF2-40B4-BE49-F238E27FC236}">
                <a16:creationId xmlns:a16="http://schemas.microsoft.com/office/drawing/2014/main" id="{59A66B88-65BE-96B5-1B20-B054E068F549}"/>
              </a:ext>
            </a:extLst>
          </p:cNvPr>
          <p:cNvSpPr txBox="1"/>
          <p:nvPr/>
        </p:nvSpPr>
        <p:spPr>
          <a:xfrm>
            <a:off x="6711696" y="1143000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1C1C"/>
                </a:solidFill>
                <a:latin typeface="Arial"/>
              </a:rPr>
              <a:t>SLIDE GENERATION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prior systems we improve on</a:t>
            </a:r>
          </a:p>
        </p:txBody>
      </p:sp>
      <p:pic>
        <p:nvPicPr>
          <p:cNvPr id="17534" name="Picture 17533" descr="image.png"/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6236207" y="1691639"/>
            <a:ext cx="329184" cy="329184"/>
          </a:xfrm>
          <a:prstGeom prst="rect">
            <a:avLst/>
          </a:prstGeom>
        </p:spPr>
      </p:pic>
      <p:sp>
        <p:nvSpPr>
          <p:cNvPr id="17418" name="TextBox 17417">
            <a:extLst>
              <a:ext uri="{FF2B5EF4-FFF2-40B4-BE49-F238E27FC236}">
                <a16:creationId xmlns:a16="http://schemas.microsoft.com/office/drawing/2014/main" id="{A960CEC7-34FD-5D83-C09F-BB3E746BC80E}"/>
              </a:ext>
            </a:extLst>
          </p:cNvPr>
          <p:cNvSpPr txBox="1"/>
          <p:nvPr/>
        </p:nvSpPr>
        <p:spPr>
          <a:xfrm>
            <a:off x="6620256" y="1682495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20"/>
              </a:rPr>
              <a:t>Fu et al. 2022: DOC2PPT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paper → slides, neural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91C1C"/>
                </a:solidFill>
                <a:latin typeface="Arial"/>
              </a:rPr>
              <a:t>doi.org/10.1609/aaai.v36i1.19943</a:t>
            </a:r>
          </a:p>
        </p:txBody>
      </p:sp>
      <p:cxnSp>
        <p:nvCxnSpPr>
          <p:cNvPr id="25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6254496" y="2027224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35" name="Picture 17534" descr="image.png"/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6236207" y="2043683"/>
            <a:ext cx="329184" cy="329184"/>
          </a:xfrm>
          <a:prstGeom prst="rect">
            <a:avLst/>
          </a:prstGeom>
        </p:spPr>
      </p:pic>
      <p:sp>
        <p:nvSpPr>
          <p:cNvPr id="17419" name="TextBox 17418">
            <a:extLst>
              <a:ext uri="{FF2B5EF4-FFF2-40B4-BE49-F238E27FC236}">
                <a16:creationId xmlns:a16="http://schemas.microsoft.com/office/drawing/2014/main" id="{A18A0D3E-4D85-7430-4035-2DBE42584365}"/>
              </a:ext>
            </a:extLst>
          </p:cNvPr>
          <p:cNvSpPr txBox="1"/>
          <p:nvPr/>
        </p:nvSpPr>
        <p:spPr>
          <a:xfrm>
            <a:off x="6620256" y="2034539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22"/>
              </a:rPr>
              <a:t>Sun et al. 2021: D2S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query-based summarisation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91C1C"/>
                </a:solidFill>
                <a:latin typeface="Arial"/>
              </a:rPr>
              <a:t>aclanthology.org/2021.naacl-main.111</a:t>
            </a:r>
          </a:p>
        </p:txBody>
      </p:sp>
      <p:cxnSp>
        <p:nvCxnSpPr>
          <p:cNvPr id="26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6254496" y="2379268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36" name="Picture 17535" descr="image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6236207" y="2395727"/>
            <a:ext cx="329184" cy="329184"/>
          </a:xfrm>
          <a:prstGeom prst="rect">
            <a:avLst/>
          </a:prstGeom>
        </p:spPr>
      </p:pic>
      <p:sp>
        <p:nvSpPr>
          <p:cNvPr id="27" name="TextBox 17417">
            <a:extLst>
              <a:ext uri="{FF2B5EF4-FFF2-40B4-BE49-F238E27FC236}">
                <a16:creationId xmlns:a16="http://schemas.microsoft.com/office/drawing/2014/main" id="{A960CEC7-34FD-5D83-C09F-BB3E746BC80E}"/>
              </a:ext>
            </a:extLst>
          </p:cNvPr>
          <p:cNvSpPr txBox="1"/>
          <p:nvPr/>
        </p:nvSpPr>
        <p:spPr>
          <a:xfrm>
            <a:off x="6620256" y="238658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24"/>
              </a:rPr>
              <a:t>Hu &amp; Wan 2015: PPSGen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learned sentence selection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91C1C"/>
                </a:solidFill>
                <a:latin typeface="Arial"/>
              </a:rPr>
              <a:t>doi.org/10.1109/TKDE.2014.2359652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4F2DF5-5B35-B3D0-F544-1E9CBC9E754C}"/>
              </a:ext>
            </a:extLst>
          </p:cNvPr>
          <p:cNvSpPr/>
          <p:nvPr/>
        </p:nvSpPr>
        <p:spPr>
          <a:xfrm>
            <a:off x="9089136" y="1115568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DC2626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0" name="Rounded Rectangle 17469">
            <a:extLst>
              <a:ext uri="{FF2B5EF4-FFF2-40B4-BE49-F238E27FC236}">
                <a16:creationId xmlns:a16="http://schemas.microsoft.com/office/drawing/2014/main" id="{DCC91A88-9134-AFA5-F11E-8116DAB5D4FD}"/>
              </a:ext>
            </a:extLst>
          </p:cNvPr>
          <p:cNvSpPr/>
          <p:nvPr/>
        </p:nvSpPr>
        <p:spPr>
          <a:xfrm>
            <a:off x="9089136" y="1115568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2" name="Picture 17481" descr="sign_yield.png">
            <a:extLst>
              <a:ext uri="{FF2B5EF4-FFF2-40B4-BE49-F238E27FC236}">
                <a16:creationId xmlns:a16="http://schemas.microsoft.com/office/drawing/2014/main" id="{E91EAB86-F99C-D8EF-F77E-3DA77CF94DF4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171432" y="1170432"/>
            <a:ext cx="420624" cy="420624"/>
          </a:xfrm>
          <a:prstGeom prst="rect">
            <a:avLst/>
          </a:prstGeom>
        </p:spPr>
      </p:pic>
      <p:sp>
        <p:nvSpPr>
          <p:cNvPr id="17494" name="TextBox 17493">
            <a:extLst>
              <a:ext uri="{FF2B5EF4-FFF2-40B4-BE49-F238E27FC236}">
                <a16:creationId xmlns:a16="http://schemas.microsoft.com/office/drawing/2014/main" id="{3BEC9CE5-33AF-C51F-4843-5555B3C2EA3C}"/>
              </a:ext>
            </a:extLst>
          </p:cNvPr>
          <p:cNvSpPr txBox="1"/>
          <p:nvPr/>
        </p:nvSpPr>
        <p:spPr>
          <a:xfrm>
            <a:off x="9656063" y="1143000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FAITHFULNESS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why we keep text verbatim</a:t>
            </a:r>
          </a:p>
        </p:txBody>
      </p:sp>
      <p:pic>
        <p:nvPicPr>
          <p:cNvPr id="17537" name="Picture 17536" descr="image.png"/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9180576" y="1691639"/>
            <a:ext cx="329184" cy="329184"/>
          </a:xfrm>
          <a:prstGeom prst="rect">
            <a:avLst/>
          </a:prstGeom>
        </p:spPr>
      </p:pic>
      <p:sp>
        <p:nvSpPr>
          <p:cNvPr id="17466" name="TextBox 17465">
            <a:extLst>
              <a:ext uri="{FF2B5EF4-FFF2-40B4-BE49-F238E27FC236}">
                <a16:creationId xmlns:a16="http://schemas.microsoft.com/office/drawing/2014/main" id="{10037DBF-120C-8372-24E5-EEDF08B84DE4}"/>
              </a:ext>
            </a:extLst>
          </p:cNvPr>
          <p:cNvSpPr txBox="1"/>
          <p:nvPr/>
        </p:nvSpPr>
        <p:spPr>
          <a:xfrm>
            <a:off x="9564624" y="1682495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27"/>
              </a:rPr>
              <a:t>Maynez et al. 2020, ACL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summaries hallucinate and omit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DC2626"/>
                </a:solidFill>
                <a:latin typeface="Arial"/>
              </a:rPr>
              <a:t>aclanthology.org/2020.acl-main.173</a:t>
            </a:r>
            <a:endParaRPr sz="740" b="1">
              <a:solidFill>
                <a:srgbClr val="DC2626"/>
              </a:solidFill>
              <a:latin typeface="Arial"/>
            </a:endParaRPr>
          </a:p>
        </p:txBody>
      </p:sp>
      <p:cxnSp>
        <p:nvCxnSpPr>
          <p:cNvPr id="28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9198863" y="2027224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38" name="Picture 17537" descr="image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9180576" y="2043683"/>
            <a:ext cx="329184" cy="329184"/>
          </a:xfrm>
          <a:prstGeom prst="rect">
            <a:avLst/>
          </a:prstGeom>
        </p:spPr>
      </p:pic>
      <p:sp>
        <p:nvSpPr>
          <p:cNvPr id="17450" name="TextBox 17449">
            <a:extLst>
              <a:ext uri="{FF2B5EF4-FFF2-40B4-BE49-F238E27FC236}">
                <a16:creationId xmlns:a16="http://schemas.microsoft.com/office/drawing/2014/main" id="{FD126597-4C74-7C69-E3CE-C0B45E11C4E0}"/>
              </a:ext>
            </a:extLst>
          </p:cNvPr>
          <p:cNvSpPr txBox="1"/>
          <p:nvPr/>
        </p:nvSpPr>
        <p:spPr>
          <a:xfrm>
            <a:off x="9564624" y="2034539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29"/>
              </a:rPr>
              <a:t>Ji et al. 2023, ACM CSUR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survey of hallucination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DC2626"/>
                </a:solidFill>
                <a:latin typeface="Arial"/>
              </a:rPr>
              <a:t>doi.org/10.1145/3571730</a:t>
            </a:r>
            <a:endParaRPr sz="740" b="1">
              <a:solidFill>
                <a:srgbClr val="DC2626"/>
              </a:solidFill>
              <a:latin typeface="Arial"/>
            </a:endParaRPr>
          </a:p>
        </p:txBody>
      </p:sp>
      <p:cxnSp>
        <p:nvCxnSpPr>
          <p:cNvPr id="29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9198863" y="2379268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39" name="Picture 17538" descr="image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9180576" y="2395727"/>
            <a:ext cx="329184" cy="329184"/>
          </a:xfrm>
          <a:prstGeom prst="rect">
            <a:avLst/>
          </a:prstGeom>
        </p:spPr>
      </p:pic>
      <p:sp>
        <p:nvSpPr>
          <p:cNvPr id="30" name="TextBox 17465">
            <a:extLst>
              <a:ext uri="{FF2B5EF4-FFF2-40B4-BE49-F238E27FC236}">
                <a16:creationId xmlns:a16="http://schemas.microsoft.com/office/drawing/2014/main" id="{10037DBF-120C-8372-24E5-EEDF08B84DE4}"/>
              </a:ext>
            </a:extLst>
          </p:cNvPr>
          <p:cNvSpPr txBox="1"/>
          <p:nvPr/>
        </p:nvSpPr>
        <p:spPr>
          <a:xfrm>
            <a:off x="9564624" y="238658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31"/>
              </a:rPr>
              <a:t>Kasneci et al. 2023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LLMs in education: risks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DC2626"/>
                </a:solidFill>
                <a:latin typeface="Arial"/>
              </a:rPr>
              <a:t>doi.org/10.1016/j.lindif.2023.102274</a:t>
            </a:r>
            <a:endParaRPr sz="740" b="1">
              <a:solidFill>
                <a:srgbClr val="DC2626"/>
              </a:solidFill>
              <a:latin typeface="Arial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8CF099D-9FB8-97CC-A47D-576CF630F928}"/>
              </a:ext>
            </a:extLst>
          </p:cNvPr>
          <p:cNvSpPr/>
          <p:nvPr/>
        </p:nvSpPr>
        <p:spPr>
          <a:xfrm>
            <a:off x="274320" y="2862072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D4ED8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1" name="Rounded Rectangle 17470">
            <a:extLst>
              <a:ext uri="{FF2B5EF4-FFF2-40B4-BE49-F238E27FC236}">
                <a16:creationId xmlns:a16="http://schemas.microsoft.com/office/drawing/2014/main" id="{69140471-7231-67F6-ADBF-737CCBAE0FD4}"/>
              </a:ext>
            </a:extLst>
          </p:cNvPr>
          <p:cNvSpPr/>
          <p:nvPr/>
        </p:nvSpPr>
        <p:spPr>
          <a:xfrm>
            <a:off x="274320" y="2862072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E8E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3" name="Picture 17482" descr="sign_oneway.png">
            <a:extLst>
              <a:ext uri="{FF2B5EF4-FFF2-40B4-BE49-F238E27FC236}">
                <a16:creationId xmlns:a16="http://schemas.microsoft.com/office/drawing/2014/main" id="{A6958DC2-4787-945E-C4C0-29E3D35AC6EF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56616" y="2916936"/>
            <a:ext cx="420624" cy="420624"/>
          </a:xfrm>
          <a:prstGeom prst="rect">
            <a:avLst/>
          </a:prstGeom>
        </p:spPr>
      </p:pic>
      <p:sp>
        <p:nvSpPr>
          <p:cNvPr id="17495" name="TextBox 17494">
            <a:extLst>
              <a:ext uri="{FF2B5EF4-FFF2-40B4-BE49-F238E27FC236}">
                <a16:creationId xmlns:a16="http://schemas.microsoft.com/office/drawing/2014/main" id="{533F2826-2E25-D5F4-C79C-986627224C51}"/>
              </a:ext>
            </a:extLst>
          </p:cNvPr>
          <p:cNvSpPr txBox="1"/>
          <p:nvPr/>
        </p:nvSpPr>
        <p:spPr>
          <a:xfrm>
            <a:off x="841247" y="2889503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WORKED EXAMPLES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steps with reasons</a:t>
            </a:r>
          </a:p>
        </p:txBody>
      </p:sp>
      <p:pic>
        <p:nvPicPr>
          <p:cNvPr id="17540" name="Picture 17539" descr="image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365760" y="3438144"/>
            <a:ext cx="329184" cy="329184"/>
          </a:xfrm>
          <a:prstGeom prst="rect">
            <a:avLst/>
          </a:prstGeom>
        </p:spPr>
      </p:pic>
      <p:sp>
        <p:nvSpPr>
          <p:cNvPr id="17420" name="TextBox 17419">
            <a:extLst>
              <a:ext uri="{FF2B5EF4-FFF2-40B4-BE49-F238E27FC236}">
                <a16:creationId xmlns:a16="http://schemas.microsoft.com/office/drawing/2014/main" id="{EFF92B58-E0E2-1AA0-3267-1148CBAB73BA}"/>
              </a:ext>
            </a:extLst>
          </p:cNvPr>
          <p:cNvSpPr txBox="1"/>
          <p:nvPr/>
        </p:nvSpPr>
        <p:spPr>
          <a:xfrm>
            <a:off x="749808" y="3429000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34"/>
              </a:rPr>
              <a:t>Sweller &amp; Cooper 1985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worked examples teach novices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D4ED8"/>
                </a:solidFill>
                <a:latin typeface="Arial"/>
              </a:rPr>
              <a:t>doi.org/10.1207/s1532690xci0201_3</a:t>
            </a:r>
          </a:p>
        </p:txBody>
      </p:sp>
      <p:cxnSp>
        <p:nvCxnSpPr>
          <p:cNvPr id="31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84048" y="3773728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41" name="Picture 17540" descr="image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365760" y="3790187"/>
            <a:ext cx="329184" cy="329184"/>
          </a:xfrm>
          <a:prstGeom prst="rect">
            <a:avLst/>
          </a:prstGeom>
        </p:spPr>
      </p:pic>
      <p:sp>
        <p:nvSpPr>
          <p:cNvPr id="17421" name="TextBox 17420">
            <a:extLst>
              <a:ext uri="{FF2B5EF4-FFF2-40B4-BE49-F238E27FC236}">
                <a16:creationId xmlns:a16="http://schemas.microsoft.com/office/drawing/2014/main" id="{E78EE967-C8F3-0111-60A0-900D676ABA39}"/>
              </a:ext>
            </a:extLst>
          </p:cNvPr>
          <p:cNvSpPr txBox="1"/>
          <p:nvPr/>
        </p:nvSpPr>
        <p:spPr>
          <a:xfrm>
            <a:off x="749808" y="378104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36"/>
              </a:rPr>
              <a:t>Atkinson et al. 2000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principles of example study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D4ED8"/>
                </a:solidFill>
                <a:latin typeface="Arial"/>
              </a:rPr>
              <a:t>doi.org/10.3102/00346543070002181</a:t>
            </a:r>
          </a:p>
        </p:txBody>
      </p:sp>
      <p:cxnSp>
        <p:nvCxnSpPr>
          <p:cNvPr id="32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84048" y="4125772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42" name="Picture 17541" descr="image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365760" y="4142231"/>
            <a:ext cx="329184" cy="329184"/>
          </a:xfrm>
          <a:prstGeom prst="rect">
            <a:avLst/>
          </a:prstGeom>
        </p:spPr>
      </p:pic>
      <p:sp>
        <p:nvSpPr>
          <p:cNvPr id="33" name="TextBox 17419">
            <a:extLst>
              <a:ext uri="{FF2B5EF4-FFF2-40B4-BE49-F238E27FC236}">
                <a16:creationId xmlns:a16="http://schemas.microsoft.com/office/drawing/2014/main" id="{EFF92B58-E0E2-1AA0-3267-1148CBAB73BA}"/>
              </a:ext>
            </a:extLst>
          </p:cNvPr>
          <p:cNvSpPr txBox="1"/>
          <p:nvPr/>
        </p:nvSpPr>
        <p:spPr>
          <a:xfrm>
            <a:off x="749808" y="4133087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38"/>
              </a:rPr>
              <a:t>Renkl 2014, Cognitive Science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example-based learning theory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D4ED8"/>
                </a:solidFill>
                <a:latin typeface="Arial"/>
              </a:rPr>
              <a:t>doi.org/10.1111/cogs.12086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9D7F37F-E771-71F9-8336-5856A1FC6E88}"/>
              </a:ext>
            </a:extLst>
          </p:cNvPr>
          <p:cNvSpPr/>
          <p:nvPr/>
        </p:nvSpPr>
        <p:spPr>
          <a:xfrm>
            <a:off x="3209544" y="2862072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2" name="Rounded Rectangle 17471">
            <a:extLst>
              <a:ext uri="{FF2B5EF4-FFF2-40B4-BE49-F238E27FC236}">
                <a16:creationId xmlns:a16="http://schemas.microsoft.com/office/drawing/2014/main" id="{28D2A9BE-D718-FD97-294D-26DD05455B24}"/>
              </a:ext>
            </a:extLst>
          </p:cNvPr>
          <p:cNvSpPr/>
          <p:nvPr/>
        </p:nvSpPr>
        <p:spPr>
          <a:xfrm>
            <a:off x="3209544" y="2862072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E8E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4" name="Picture 17483" descr="sign_round.png">
            <a:extLst>
              <a:ext uri="{FF2B5EF4-FFF2-40B4-BE49-F238E27FC236}">
                <a16:creationId xmlns:a16="http://schemas.microsoft.com/office/drawing/2014/main" id="{1687784D-B05B-C7D8-D879-68FDAF0E1BEB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291839" y="2916936"/>
            <a:ext cx="420624" cy="420624"/>
          </a:xfrm>
          <a:prstGeom prst="rect">
            <a:avLst/>
          </a:prstGeom>
        </p:spPr>
      </p:pic>
      <p:sp>
        <p:nvSpPr>
          <p:cNvPr id="17496" name="TextBox 17495">
            <a:extLst>
              <a:ext uri="{FF2B5EF4-FFF2-40B4-BE49-F238E27FC236}">
                <a16:creationId xmlns:a16="http://schemas.microsoft.com/office/drawing/2014/main" id="{7B284F23-3B31-1462-E3E5-861580DE8452}"/>
              </a:ext>
            </a:extLst>
          </p:cNvPr>
          <p:cNvSpPr txBox="1"/>
          <p:nvPr/>
        </p:nvSpPr>
        <p:spPr>
          <a:xfrm>
            <a:off x="3776472" y="2889503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INTERACTIVE LABS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learning by doing</a:t>
            </a:r>
          </a:p>
        </p:txBody>
      </p:sp>
      <p:pic>
        <p:nvPicPr>
          <p:cNvPr id="17543" name="Picture 17542" descr="image.png"/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3300984" y="3438144"/>
            <a:ext cx="329184" cy="329184"/>
          </a:xfrm>
          <a:prstGeom prst="rect">
            <a:avLst/>
          </a:prstGeom>
        </p:spPr>
      </p:pic>
      <p:sp>
        <p:nvSpPr>
          <p:cNvPr id="17422" name="TextBox 17421">
            <a:extLst>
              <a:ext uri="{FF2B5EF4-FFF2-40B4-BE49-F238E27FC236}">
                <a16:creationId xmlns:a16="http://schemas.microsoft.com/office/drawing/2014/main" id="{73D75A7B-3178-2CB9-A5A4-E6F4E30C3588}"/>
              </a:ext>
            </a:extLst>
          </p:cNvPr>
          <p:cNvSpPr txBox="1"/>
          <p:nvPr/>
        </p:nvSpPr>
        <p:spPr>
          <a:xfrm>
            <a:off x="3685031" y="3429000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41"/>
              </a:rPr>
              <a:t>Hundhausen et al. 2002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engagement drives visualisation gains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563EB"/>
                </a:solidFill>
                <a:latin typeface="Arial"/>
              </a:rPr>
              <a:t>doi.org/10.1006/jvlc.2002.0237</a:t>
            </a:r>
          </a:p>
        </p:txBody>
      </p:sp>
      <p:cxnSp>
        <p:nvCxnSpPr>
          <p:cNvPr id="34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319272" y="3773728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44" name="Picture 17543" descr="image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3300984" y="3790187"/>
            <a:ext cx="329184" cy="329184"/>
          </a:xfrm>
          <a:prstGeom prst="rect">
            <a:avLst/>
          </a:prstGeom>
        </p:spPr>
      </p:pic>
      <p:sp>
        <p:nvSpPr>
          <p:cNvPr id="17423" name="TextBox 17422">
            <a:extLst>
              <a:ext uri="{FF2B5EF4-FFF2-40B4-BE49-F238E27FC236}">
                <a16:creationId xmlns:a16="http://schemas.microsoft.com/office/drawing/2014/main" id="{F55D97A1-1885-46B0-B857-1863ED579C00}"/>
              </a:ext>
            </a:extLst>
          </p:cNvPr>
          <p:cNvSpPr txBox="1"/>
          <p:nvPr/>
        </p:nvSpPr>
        <p:spPr>
          <a:xfrm>
            <a:off x="3685031" y="378104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43"/>
              </a:rPr>
              <a:t>Wieman et al. 2008: PhET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simulations that teach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563EB"/>
                </a:solidFill>
                <a:latin typeface="Arial"/>
              </a:rPr>
              <a:t>doi.org/10.1126/science.1161948</a:t>
            </a:r>
          </a:p>
        </p:txBody>
      </p:sp>
      <p:cxnSp>
        <p:nvCxnSpPr>
          <p:cNvPr id="58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319272" y="4125772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45" name="Picture 17544" descr="image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3300984" y="4142231"/>
            <a:ext cx="329184" cy="329184"/>
          </a:xfrm>
          <a:prstGeom prst="rect">
            <a:avLst/>
          </a:prstGeom>
        </p:spPr>
      </p:pic>
      <p:sp>
        <p:nvSpPr>
          <p:cNvPr id="59" name="TextBox 17421">
            <a:extLst>
              <a:ext uri="{FF2B5EF4-FFF2-40B4-BE49-F238E27FC236}">
                <a16:creationId xmlns:a16="http://schemas.microsoft.com/office/drawing/2014/main" id="{73D75A7B-3178-2CB9-A5A4-E6F4E30C3588}"/>
              </a:ext>
            </a:extLst>
          </p:cNvPr>
          <p:cNvSpPr txBox="1"/>
          <p:nvPr/>
        </p:nvSpPr>
        <p:spPr>
          <a:xfrm>
            <a:off x="3685031" y="4133087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45"/>
              </a:rPr>
              <a:t>Chi &amp; Wylie 2014: ICAP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interactive &gt; active &gt; passive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563EB"/>
                </a:solidFill>
                <a:latin typeface="Arial"/>
              </a:rPr>
              <a:t>doi.org/10.1080/00461520.2014.965823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AD1DB24-58AC-34B0-A0D4-2279264592EB}"/>
              </a:ext>
            </a:extLst>
          </p:cNvPr>
          <p:cNvSpPr/>
          <p:nvPr/>
        </p:nvSpPr>
        <p:spPr>
          <a:xfrm>
            <a:off x="6144768" y="2862072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B6DC0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3" name="Rounded Rectangle 17472">
            <a:extLst>
              <a:ext uri="{FF2B5EF4-FFF2-40B4-BE49-F238E27FC236}">
                <a16:creationId xmlns:a16="http://schemas.microsoft.com/office/drawing/2014/main" id="{F827C0B7-8832-1049-602F-59AF48D882D0}"/>
              </a:ext>
            </a:extLst>
          </p:cNvPr>
          <p:cNvSpPr/>
          <p:nvPr/>
        </p:nvSpPr>
        <p:spPr>
          <a:xfrm>
            <a:off x="6144768" y="2862072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E6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5" name="Picture 17484" descr="sign_info.png">
            <a:extLst>
              <a:ext uri="{FF2B5EF4-FFF2-40B4-BE49-F238E27FC236}">
                <a16:creationId xmlns:a16="http://schemas.microsoft.com/office/drawing/2014/main" id="{EADCFC41-51A2-C3B5-80A6-A9EDF4BD1736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6227064" y="2916936"/>
            <a:ext cx="420624" cy="420624"/>
          </a:xfrm>
          <a:prstGeom prst="rect">
            <a:avLst/>
          </a:prstGeom>
        </p:spPr>
      </p:pic>
      <p:sp>
        <p:nvSpPr>
          <p:cNvPr id="17497" name="TextBox 17496">
            <a:extLst>
              <a:ext uri="{FF2B5EF4-FFF2-40B4-BE49-F238E27FC236}">
                <a16:creationId xmlns:a16="http://schemas.microsoft.com/office/drawing/2014/main" id="{CC20DC44-F7A4-AB21-7732-7AE920B9D57F}"/>
              </a:ext>
            </a:extLst>
          </p:cNvPr>
          <p:cNvSpPr txBox="1"/>
          <p:nvPr/>
        </p:nvSpPr>
        <p:spPr>
          <a:xfrm>
            <a:off x="6711696" y="2889503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B6DC0"/>
                </a:solidFill>
                <a:latin typeface="Arial"/>
              </a:rPr>
              <a:t>LAYOUT &amp; DESIGN 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algorithms we adapted</a:t>
            </a:r>
          </a:p>
        </p:txBody>
      </p:sp>
      <p:pic>
        <p:nvPicPr>
          <p:cNvPr id="17546" name="Picture 17545" descr="image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6236207" y="3438144"/>
            <a:ext cx="329184" cy="329184"/>
          </a:xfrm>
          <a:prstGeom prst="rect">
            <a:avLst/>
          </a:prstGeom>
        </p:spPr>
      </p:pic>
      <p:sp>
        <p:nvSpPr>
          <p:cNvPr id="17424" name="TextBox 17423">
            <a:extLst>
              <a:ext uri="{FF2B5EF4-FFF2-40B4-BE49-F238E27FC236}">
                <a16:creationId xmlns:a16="http://schemas.microsoft.com/office/drawing/2014/main" id="{381F579B-B4A9-DDD2-AC22-6E6889C073FC}"/>
              </a:ext>
            </a:extLst>
          </p:cNvPr>
          <p:cNvSpPr txBox="1"/>
          <p:nvPr/>
        </p:nvSpPr>
        <p:spPr>
          <a:xfrm>
            <a:off x="6620256" y="3429000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48"/>
              </a:rPr>
              <a:t>Knuth &amp; Plass 1981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optimal line breaking → CLASS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0B6DC0"/>
                </a:solidFill>
                <a:latin typeface="Arial"/>
              </a:rPr>
              <a:t>doi.org/10.1002/spe.4380111102</a:t>
            </a:r>
          </a:p>
        </p:txBody>
      </p:sp>
      <p:cxnSp>
        <p:nvCxnSpPr>
          <p:cNvPr id="60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6254496" y="3773728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47" name="Picture 17546" descr="image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6236207" y="3790187"/>
            <a:ext cx="329184" cy="329184"/>
          </a:xfrm>
          <a:prstGeom prst="rect">
            <a:avLst/>
          </a:prstGeom>
        </p:spPr>
      </p:pic>
      <p:sp>
        <p:nvSpPr>
          <p:cNvPr id="17425" name="TextBox 17424">
            <a:extLst>
              <a:ext uri="{FF2B5EF4-FFF2-40B4-BE49-F238E27FC236}">
                <a16:creationId xmlns:a16="http://schemas.microsoft.com/office/drawing/2014/main" id="{F875D566-3217-B523-FF28-0732D5C4F13E}"/>
              </a:ext>
            </a:extLst>
          </p:cNvPr>
          <p:cNvSpPr txBox="1"/>
          <p:nvPr/>
        </p:nvSpPr>
        <p:spPr>
          <a:xfrm>
            <a:off x="6620256" y="378104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50"/>
              </a:rPr>
              <a:t>Mackinlay 1986: APT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automatic visual design 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0B6DC0"/>
                </a:solidFill>
                <a:latin typeface="Arial"/>
              </a:rPr>
              <a:t>doi.org/10.1145/22949.22950</a:t>
            </a:r>
          </a:p>
        </p:txBody>
      </p:sp>
      <p:cxnSp>
        <p:nvCxnSpPr>
          <p:cNvPr id="61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6254496" y="4125772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48" name="Picture 17547" descr="image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6236207" y="4142231"/>
            <a:ext cx="329184" cy="329184"/>
          </a:xfrm>
          <a:prstGeom prst="rect">
            <a:avLst/>
          </a:prstGeom>
        </p:spPr>
      </p:pic>
      <p:sp>
        <p:nvSpPr>
          <p:cNvPr id="62" name="TextBox 17423">
            <a:extLst>
              <a:ext uri="{FF2B5EF4-FFF2-40B4-BE49-F238E27FC236}">
                <a16:creationId xmlns:a16="http://schemas.microsoft.com/office/drawing/2014/main" id="{381F579B-B4A9-DDD2-AC22-6E6889C073FC}"/>
              </a:ext>
            </a:extLst>
          </p:cNvPr>
          <p:cNvSpPr txBox="1"/>
          <p:nvPr/>
        </p:nvSpPr>
        <p:spPr>
          <a:xfrm>
            <a:off x="6620256" y="4133087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52"/>
              </a:rPr>
              <a:t>Moritz et al. 2019: Draco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design knowledge as constraints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0B6DC0"/>
                </a:solidFill>
                <a:latin typeface="Arial"/>
              </a:rPr>
              <a:t>doi.org/10.1109/TVCG.2018.2865240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C576A30-A72D-DD44-5BD2-00D715778365}"/>
              </a:ext>
            </a:extLst>
          </p:cNvPr>
          <p:cNvSpPr/>
          <p:nvPr/>
        </p:nvSpPr>
        <p:spPr>
          <a:xfrm>
            <a:off x="9089136" y="2862072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4D7C0F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4" name="Rounded Rectangle 17473">
            <a:extLst>
              <a:ext uri="{FF2B5EF4-FFF2-40B4-BE49-F238E27FC236}">
                <a16:creationId xmlns:a16="http://schemas.microsoft.com/office/drawing/2014/main" id="{F9649F95-8389-EC2D-6A93-A6DFB99575C3}"/>
              </a:ext>
            </a:extLst>
          </p:cNvPr>
          <p:cNvSpPr/>
          <p:nvPr/>
        </p:nvSpPr>
        <p:spPr>
          <a:xfrm>
            <a:off x="9089136" y="2862072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F1F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6" name="Picture 17485" descr="sign_school.png">
            <a:extLst>
              <a:ext uri="{FF2B5EF4-FFF2-40B4-BE49-F238E27FC236}">
                <a16:creationId xmlns:a16="http://schemas.microsoft.com/office/drawing/2014/main" id="{3E0826B5-68C9-7672-0C27-33C2BB498673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9171432" y="2916936"/>
            <a:ext cx="420624" cy="420624"/>
          </a:xfrm>
          <a:prstGeom prst="rect">
            <a:avLst/>
          </a:prstGeom>
        </p:spPr>
      </p:pic>
      <p:sp>
        <p:nvSpPr>
          <p:cNvPr id="17498" name="TextBox 17497">
            <a:extLst>
              <a:ext uri="{FF2B5EF4-FFF2-40B4-BE49-F238E27FC236}">
                <a16:creationId xmlns:a16="http://schemas.microsoft.com/office/drawing/2014/main" id="{FAEA1EA5-2319-D22E-0FAA-53262EFC64C0}"/>
              </a:ext>
            </a:extLst>
          </p:cNvPr>
          <p:cNvSpPr txBox="1"/>
          <p:nvPr/>
        </p:nvSpPr>
        <p:spPr>
          <a:xfrm>
            <a:off x="9656063" y="2889503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4D7C0F"/>
                </a:solidFill>
                <a:latin typeface="Arial"/>
              </a:rPr>
              <a:t>DOCUMENTS &amp; OCR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reading real decks</a:t>
            </a:r>
          </a:p>
        </p:txBody>
      </p:sp>
      <p:pic>
        <p:nvPicPr>
          <p:cNvPr id="17549" name="Picture 17548" descr="image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9180576" y="3438144"/>
            <a:ext cx="329184" cy="329184"/>
          </a:xfrm>
          <a:prstGeom prst="rect">
            <a:avLst/>
          </a:prstGeom>
        </p:spPr>
      </p:pic>
      <p:sp>
        <p:nvSpPr>
          <p:cNvPr id="17426" name="TextBox 17425">
            <a:extLst>
              <a:ext uri="{FF2B5EF4-FFF2-40B4-BE49-F238E27FC236}">
                <a16:creationId xmlns:a16="http://schemas.microsoft.com/office/drawing/2014/main" id="{34F48890-0B25-000B-6978-0B21CA57339D}"/>
              </a:ext>
            </a:extLst>
          </p:cNvPr>
          <p:cNvSpPr txBox="1"/>
          <p:nvPr/>
        </p:nvSpPr>
        <p:spPr>
          <a:xfrm>
            <a:off x="9564624" y="3429000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55"/>
              </a:rPr>
              <a:t>Smith 2007: Tesseract OCR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open-source OCR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15803D"/>
                </a:solidFill>
                <a:latin typeface="Arial"/>
              </a:rPr>
              <a:t>github.com/tesseract-ocr</a:t>
            </a:r>
          </a:p>
        </p:txBody>
      </p:sp>
      <p:cxnSp>
        <p:nvCxnSpPr>
          <p:cNvPr id="63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9198863" y="3773728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50" name="Picture 17549" descr="image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9180576" y="3790187"/>
            <a:ext cx="329184" cy="329184"/>
          </a:xfrm>
          <a:prstGeom prst="rect">
            <a:avLst/>
          </a:prstGeom>
        </p:spPr>
      </p:pic>
      <p:sp>
        <p:nvSpPr>
          <p:cNvPr id="17515" name="TextBox 17425">
            <a:extLst>
              <a:ext uri="{FF2B5EF4-FFF2-40B4-BE49-F238E27FC236}">
                <a16:creationId xmlns:a16="http://schemas.microsoft.com/office/drawing/2014/main" id="{34F48890-0B25-000B-6978-0B21CA57339D}"/>
              </a:ext>
            </a:extLst>
          </p:cNvPr>
          <p:cNvSpPr txBox="1"/>
          <p:nvPr/>
        </p:nvSpPr>
        <p:spPr>
          <a:xfrm>
            <a:off x="9564624" y="378104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57"/>
              </a:rPr>
              <a:t>PyMuPDF + LibreOffice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PDF geometry, PPTX → PDF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15803D"/>
                </a:solidFill>
                <a:latin typeface="Arial"/>
              </a:rPr>
              <a:t>pymupdf.readthedocs.io</a:t>
            </a:r>
          </a:p>
        </p:txBody>
      </p:sp>
      <p:cxnSp>
        <p:nvCxnSpPr>
          <p:cNvPr id="17516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9198863" y="4125772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51" name="Picture 17550" descr="image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9180576" y="4142231"/>
            <a:ext cx="329184" cy="329184"/>
          </a:xfrm>
          <a:prstGeom prst="rect">
            <a:avLst/>
          </a:prstGeom>
        </p:spPr>
      </p:pic>
      <p:sp>
        <p:nvSpPr>
          <p:cNvPr id="17517" name="TextBox 17425">
            <a:extLst>
              <a:ext uri="{FF2B5EF4-FFF2-40B4-BE49-F238E27FC236}">
                <a16:creationId xmlns:a16="http://schemas.microsoft.com/office/drawing/2014/main" id="{34F48890-0B25-000B-6978-0B21CA57339D}"/>
              </a:ext>
            </a:extLst>
          </p:cNvPr>
          <p:cNvSpPr txBox="1"/>
          <p:nvPr/>
        </p:nvSpPr>
        <p:spPr>
          <a:xfrm>
            <a:off x="9564624" y="4133087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59"/>
              </a:rPr>
              <a:t>python-pptx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native, editable PowerPoint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15803D"/>
                </a:solidFill>
                <a:latin typeface="Arial"/>
              </a:rPr>
              <a:t>python-pptx.readthedocs.io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85FD102-A58D-172F-9B86-6152E2334734}"/>
              </a:ext>
            </a:extLst>
          </p:cNvPr>
          <p:cNvSpPr/>
          <p:nvPr/>
        </p:nvSpPr>
        <p:spPr>
          <a:xfrm>
            <a:off x="274320" y="4608576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5803D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5" name="Rounded Rectangle 17474">
            <a:extLst>
              <a:ext uri="{FF2B5EF4-FFF2-40B4-BE49-F238E27FC236}">
                <a16:creationId xmlns:a16="http://schemas.microsoft.com/office/drawing/2014/main" id="{303E28C7-3496-0F54-0634-535207DE53EE}"/>
              </a:ext>
            </a:extLst>
          </p:cNvPr>
          <p:cNvSpPr/>
          <p:nvPr/>
        </p:nvSpPr>
        <p:spPr>
          <a:xfrm>
            <a:off x="274320" y="4608576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E9F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7" name="Picture 17486" descr="sign_shield.png">
            <a:extLst>
              <a:ext uri="{FF2B5EF4-FFF2-40B4-BE49-F238E27FC236}">
                <a16:creationId xmlns:a16="http://schemas.microsoft.com/office/drawing/2014/main" id="{010BD586-24FF-518E-4F9E-59A2EF77DA4A}"/>
              </a:ext>
            </a:extLst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56616" y="4663440"/>
            <a:ext cx="420624" cy="420624"/>
          </a:xfrm>
          <a:prstGeom prst="rect">
            <a:avLst/>
          </a:prstGeom>
        </p:spPr>
      </p:pic>
      <p:sp>
        <p:nvSpPr>
          <p:cNvPr id="17499" name="TextBox 17498">
            <a:extLst>
              <a:ext uri="{FF2B5EF4-FFF2-40B4-BE49-F238E27FC236}">
                <a16:creationId xmlns:a16="http://schemas.microsoft.com/office/drawing/2014/main" id="{A6FFAF45-5ED2-58E9-AE69-A89789989F9B}"/>
              </a:ext>
            </a:extLst>
          </p:cNvPr>
          <p:cNvSpPr txBox="1"/>
          <p:nvPr/>
        </p:nvSpPr>
        <p:spPr>
          <a:xfrm>
            <a:off x="841247" y="4636008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803D"/>
                </a:solidFill>
                <a:latin typeface="Arial"/>
              </a:rPr>
              <a:t>CODE AND TESTS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open, testable, honest</a:t>
            </a:r>
          </a:p>
        </p:txBody>
      </p:sp>
      <p:pic>
        <p:nvPicPr>
          <p:cNvPr id="17552" name="Picture 17551" descr="image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365760" y="5184648"/>
            <a:ext cx="329184" cy="329184"/>
          </a:xfrm>
          <a:prstGeom prst="rect">
            <a:avLst/>
          </a:prstGeom>
        </p:spPr>
      </p:pic>
      <p:sp>
        <p:nvSpPr>
          <p:cNvPr id="17518" name="TextBox 17425">
            <a:extLst>
              <a:ext uri="{FF2B5EF4-FFF2-40B4-BE49-F238E27FC236}">
                <a16:creationId xmlns:a16="http://schemas.microsoft.com/office/drawing/2014/main" id="{34F48890-0B25-000B-6978-0B21CA57339D}"/>
              </a:ext>
            </a:extLst>
          </p:cNvPr>
          <p:cNvSpPr txBox="1"/>
          <p:nvPr/>
        </p:nvSpPr>
        <p:spPr>
          <a:xfrm>
            <a:off x="749808" y="517550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62"/>
              </a:rPr>
              <a:t>Source code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755 tests, all modules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15803D"/>
                </a:solidFill>
                <a:latin typeface="Arial"/>
              </a:rPr>
              <a:t>github.com/SDP42/LearnovaV2</a:t>
            </a:r>
          </a:p>
        </p:txBody>
      </p:sp>
      <p:cxnSp>
        <p:nvCxnSpPr>
          <p:cNvPr id="17519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84048" y="5520232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53" name="Picture 17552" descr="image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365760" y="5536692"/>
            <a:ext cx="329184" cy="329184"/>
          </a:xfrm>
          <a:prstGeom prst="rect">
            <a:avLst/>
          </a:prstGeom>
        </p:spPr>
      </p:pic>
      <p:sp>
        <p:nvSpPr>
          <p:cNvPr id="17427" name="TextBox 17426">
            <a:extLst>
              <a:ext uri="{FF2B5EF4-FFF2-40B4-BE49-F238E27FC236}">
                <a16:creationId xmlns:a16="http://schemas.microsoft.com/office/drawing/2014/main" id="{4E2E4989-6CE9-33E5-95D9-6D40202FEBBA}"/>
              </a:ext>
            </a:extLst>
          </p:cNvPr>
          <p:cNvSpPr txBox="1"/>
          <p:nvPr/>
        </p:nvSpPr>
        <p:spPr>
          <a:xfrm>
            <a:off x="749808" y="5527548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64"/>
              </a:rPr>
              <a:t>Gold sets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101 labelled slides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15803D"/>
                </a:solidFill>
                <a:latin typeface="Arial"/>
              </a:rPr>
              <a:t>tests/fixtures on GitHub</a:t>
            </a:r>
          </a:p>
        </p:txBody>
      </p:sp>
      <p:cxnSp>
        <p:nvCxnSpPr>
          <p:cNvPr id="17520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84048" y="5872276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54" name="Picture 17553" descr="image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365760" y="5888736"/>
            <a:ext cx="329184" cy="329184"/>
          </a:xfrm>
          <a:prstGeom prst="rect">
            <a:avLst/>
          </a:prstGeom>
        </p:spPr>
      </p:pic>
      <p:sp>
        <p:nvSpPr>
          <p:cNvPr id="17521" name="TextBox 17425">
            <a:extLst>
              <a:ext uri="{FF2B5EF4-FFF2-40B4-BE49-F238E27FC236}">
                <a16:creationId xmlns:a16="http://schemas.microsoft.com/office/drawing/2014/main" id="{34F48890-0B25-000B-6978-0B21CA57339D}"/>
              </a:ext>
            </a:extLst>
          </p:cNvPr>
          <p:cNvSpPr txBox="1"/>
          <p:nvPr/>
        </p:nvSpPr>
        <p:spPr>
          <a:xfrm>
            <a:off x="749808" y="5879592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66"/>
              </a:rPr>
              <a:t>Measurement scripts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every number on these slides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 err="1">
                <a:solidFill>
                  <a:srgbClr val="15803D"/>
                </a:solidFill>
                <a:latin typeface="Arial"/>
              </a:rPr>
              <a:t>scripts/research on GitHub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64BE857-D553-50D9-283B-3D844B177EEA}"/>
              </a:ext>
            </a:extLst>
          </p:cNvPr>
          <p:cNvSpPr/>
          <p:nvPr/>
        </p:nvSpPr>
        <p:spPr>
          <a:xfrm>
            <a:off x="3209544" y="4608576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6A34A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6" name="Rounded Rectangle 17475">
            <a:extLst>
              <a:ext uri="{FF2B5EF4-FFF2-40B4-BE49-F238E27FC236}">
                <a16:creationId xmlns:a16="http://schemas.microsoft.com/office/drawing/2014/main" id="{95C2E49B-CA30-B9DB-E378-E5370F352585}"/>
              </a:ext>
            </a:extLst>
          </p:cNvPr>
          <p:cNvSpPr/>
          <p:nvPr/>
        </p:nvSpPr>
        <p:spPr>
          <a:xfrm>
            <a:off x="3209544" y="4608576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E9F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8" name="Picture 17487" descr="sign_go.png">
            <a:extLst>
              <a:ext uri="{FF2B5EF4-FFF2-40B4-BE49-F238E27FC236}">
                <a16:creationId xmlns:a16="http://schemas.microsoft.com/office/drawing/2014/main" id="{4C822118-D8E6-A42E-BD41-A33451A132C7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291839" y="4663440"/>
            <a:ext cx="420624" cy="420624"/>
          </a:xfrm>
          <a:prstGeom prst="rect">
            <a:avLst/>
          </a:prstGeom>
        </p:spPr>
      </p:pic>
      <p:sp>
        <p:nvSpPr>
          <p:cNvPr id="17500" name="TextBox 17499">
            <a:extLst>
              <a:ext uri="{FF2B5EF4-FFF2-40B4-BE49-F238E27FC236}">
                <a16:creationId xmlns:a16="http://schemas.microsoft.com/office/drawing/2014/main" id="{8ECEDDB4-26D3-7E24-8C61-71A6DE273530}"/>
              </a:ext>
            </a:extLst>
          </p:cNvPr>
          <p:cNvSpPr txBox="1"/>
          <p:nvPr/>
        </p:nvSpPr>
        <p:spPr>
          <a:xfrm>
            <a:off x="3776472" y="4636008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Arial"/>
              </a:rPr>
              <a:t>TRY IT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run it today</a:t>
            </a:r>
          </a:p>
        </p:txBody>
      </p:sp>
      <p:pic>
        <p:nvPicPr>
          <p:cNvPr id="17555" name="Picture 17554" descr="image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3300984" y="5184648"/>
            <a:ext cx="329184" cy="329184"/>
          </a:xfrm>
          <a:prstGeom prst="rect">
            <a:avLst/>
          </a:prstGeom>
        </p:spPr>
      </p:pic>
      <p:sp>
        <p:nvSpPr>
          <p:cNvPr id="17428" name="TextBox 17427">
            <a:extLst>
              <a:ext uri="{FF2B5EF4-FFF2-40B4-BE49-F238E27FC236}">
                <a16:creationId xmlns:a16="http://schemas.microsoft.com/office/drawing/2014/main" id="{9BF36A5F-B2BA-73F9-0962-7513115E233B}"/>
              </a:ext>
            </a:extLst>
          </p:cNvPr>
          <p:cNvSpPr txBox="1"/>
          <p:nvPr/>
        </p:nvSpPr>
        <p:spPr>
          <a:xfrm>
            <a:off x="3685031" y="517550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69"/>
              </a:rPr>
              <a:t>Run locally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uvicorn API + Vite web app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6A34A"/>
                </a:solidFill>
                <a:latin typeface="Arial"/>
              </a:rPr>
              <a:t>README on GitHub</a:t>
            </a:r>
          </a:p>
        </p:txBody>
      </p:sp>
      <p:cxnSp>
        <p:nvCxnSpPr>
          <p:cNvPr id="17522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319272" y="5520232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TextBox 17428">
            <a:extLst>
              <a:ext uri="{FF2B5EF4-FFF2-40B4-BE49-F238E27FC236}">
                <a16:creationId xmlns:a16="http://schemas.microsoft.com/office/drawing/2014/main" id="{7B91DE3C-5206-2215-8661-2D2D3246C5DF}"/>
              </a:ext>
            </a:extLst>
          </p:cNvPr>
          <p:cNvSpPr txBox="1"/>
          <p:nvPr/>
        </p:nvSpPr>
        <p:spPr>
          <a:xfrm>
            <a:off x="3685031" y="5527548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</a:rPr>
              <a:t>Demo decks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7 real decks rebuilt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6A34A"/>
                </a:solidFill>
                <a:latin typeface="Arial"/>
              </a:rPr>
              <a:t>docs/review on GitHub</a:t>
            </a:r>
          </a:p>
        </p:txBody>
      </p:sp>
      <p:cxnSp>
        <p:nvCxnSpPr>
          <p:cNvPr id="17523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3319272" y="5872276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56" name="Picture 17555" descr="image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3300984" y="5888736"/>
            <a:ext cx="329184" cy="329184"/>
          </a:xfrm>
          <a:prstGeom prst="rect">
            <a:avLst/>
          </a:prstGeom>
        </p:spPr>
      </p:pic>
      <p:sp>
        <p:nvSpPr>
          <p:cNvPr id="17524" name="TextBox 17427">
            <a:extLst>
              <a:ext uri="{FF2B5EF4-FFF2-40B4-BE49-F238E27FC236}">
                <a16:creationId xmlns:a16="http://schemas.microsoft.com/office/drawing/2014/main" id="{9BF36A5F-B2BA-73F9-0962-7513115E233B}"/>
              </a:ext>
            </a:extLst>
          </p:cNvPr>
          <p:cNvSpPr txBox="1"/>
          <p:nvPr/>
        </p:nvSpPr>
        <p:spPr>
          <a:xfrm>
            <a:off x="3685031" y="5879592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  <a:hlinkClick r:id="rId71"/>
              </a:rPr>
              <a:t>API docs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every endpoint, try it live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6A34A"/>
                </a:solidFill>
                <a:latin typeface="Arial"/>
              </a:rPr>
              <a:t>localhost:8000/docs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24F0282-9FF3-44A1-1D7C-4A10B6AB060D}"/>
              </a:ext>
            </a:extLst>
          </p:cNvPr>
          <p:cNvSpPr/>
          <p:nvPr/>
        </p:nvSpPr>
        <p:spPr>
          <a:xfrm>
            <a:off x="6144768" y="4608576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A580C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7" name="Rounded Rectangle 17476">
            <a:extLst>
              <a:ext uri="{FF2B5EF4-FFF2-40B4-BE49-F238E27FC236}">
                <a16:creationId xmlns:a16="http://schemas.microsoft.com/office/drawing/2014/main" id="{4F752AFC-B6EA-9BA5-AD6D-7BF76B3ADE92}"/>
              </a:ext>
            </a:extLst>
          </p:cNvPr>
          <p:cNvSpPr/>
          <p:nvPr/>
        </p:nvSpPr>
        <p:spPr>
          <a:xfrm>
            <a:off x="6144768" y="4608576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89" name="Picture 17488" descr="sign_work.png">
            <a:extLst>
              <a:ext uri="{FF2B5EF4-FFF2-40B4-BE49-F238E27FC236}">
                <a16:creationId xmlns:a16="http://schemas.microsoft.com/office/drawing/2014/main" id="{698647F8-1EF2-54D9-6D55-A4FA63F9281D}"/>
              </a:ext>
            </a:extLst>
      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6227064" y="4663440"/>
            <a:ext cx="420624" cy="420624"/>
          </a:xfrm>
          <a:prstGeom prst="rect">
            <a:avLst/>
          </a:prstGeom>
        </p:spPr>
      </p:pic>
      <p:sp>
        <p:nvSpPr>
          <p:cNvPr id="17501" name="TextBox 17500">
            <a:extLst>
              <a:ext uri="{FF2B5EF4-FFF2-40B4-BE49-F238E27FC236}">
                <a16:creationId xmlns:a16="http://schemas.microsoft.com/office/drawing/2014/main" id="{AD59C8F9-9695-E217-96F6-7FB93658F112}"/>
              </a:ext>
            </a:extLst>
          </p:cNvPr>
          <p:cNvSpPr txBox="1"/>
          <p:nvPr/>
        </p:nvSpPr>
        <p:spPr>
          <a:xfrm>
            <a:off x="6711696" y="4636008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TOOLS COMPARED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what exists today</a:t>
            </a:r>
          </a:p>
        </p:txBody>
      </p:sp>
      <p:sp>
        <p:nvSpPr>
          <p:cNvPr id="17430" name="TextBox 17429">
            <a:extLst>
              <a:ext uri="{FF2B5EF4-FFF2-40B4-BE49-F238E27FC236}">
                <a16:creationId xmlns:a16="http://schemas.microsoft.com/office/drawing/2014/main" id="{6A64F8DB-F25C-F58D-D65A-259DFDFB0CAF}"/>
              </a:ext>
            </a:extLst>
          </p:cNvPr>
          <p:cNvSpPr txBox="1"/>
          <p:nvPr/>
        </p:nvSpPr>
        <p:spPr>
          <a:xfrm>
            <a:off x="6620256" y="5175504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</a:rPr>
              <a:t>Gamma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prompt → new deck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EA580C"/>
                </a:solidFill>
                <a:latin typeface="Arial"/>
              </a:rPr>
              <a:t>gamma.app</a:t>
            </a:r>
          </a:p>
        </p:txBody>
      </p:sp>
      <p:cxnSp>
        <p:nvCxnSpPr>
          <p:cNvPr id="17525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6254496" y="5520232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TextBox 17430">
            <a:extLst>
              <a:ext uri="{FF2B5EF4-FFF2-40B4-BE49-F238E27FC236}">
                <a16:creationId xmlns:a16="http://schemas.microsoft.com/office/drawing/2014/main" id="{01861E11-32CC-5946-9A48-81C675A200C9}"/>
              </a:ext>
            </a:extLst>
          </p:cNvPr>
          <p:cNvSpPr txBox="1"/>
          <p:nvPr/>
        </p:nvSpPr>
        <p:spPr>
          <a:xfrm>
            <a:off x="6620256" y="5527548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</a:rPr>
              <a:t>Microsoft Copilot / Gemini Slides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AI inside office suites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EA580C"/>
                </a:solidFill>
                <a:latin typeface="Arial"/>
              </a:rPr>
              <a:t>microsoft.com · workspace.google.com</a:t>
            </a:r>
          </a:p>
        </p:txBody>
      </p:sp>
      <p:cxnSp>
        <p:nvCxnSpPr>
          <p:cNvPr id="17526" name="Connector 17415">
            <a:extLst>
              <a:ext uri="{FF2B5EF4-FFF2-40B4-BE49-F238E27FC236}">
                <a16:creationId xmlns:a16="http://schemas.microsoft.com/office/drawing/2014/main" id="{15B932F6-621B-0BDE-6D21-D00948F2B680}"/>
              </a:ext>
            </a:extLst>
          </p:cNvPr>
          <p:cNvCxnSpPr/>
          <p:nvPr/>
        </p:nvCxnSpPr>
        <p:spPr>
          <a:xfrm>
            <a:off x="6254496" y="5872276"/>
            <a:ext cx="2606040" cy="0"/>
          </a:xfrm>
          <a:prstGeom prst="line">
            <a:avLst/>
          </a:prstGeom>
          <a:ln w="9525">
            <a:solidFill>
              <a:srgbClr val="D5D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TextBox 17450">
            <a:extLst>
              <a:ext uri="{FF2B5EF4-FFF2-40B4-BE49-F238E27FC236}">
                <a16:creationId xmlns:a16="http://schemas.microsoft.com/office/drawing/2014/main" id="{00B4AA6A-D260-AF31-0529-5238AA730EA5}"/>
              </a:ext>
            </a:extLst>
          </p:cNvPr>
          <p:cNvSpPr txBox="1"/>
          <p:nvPr/>
        </p:nvSpPr>
        <p:spPr>
          <a:xfrm>
            <a:off x="6620256" y="5879592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</a:rPr>
              <a:t>Canva Magic Design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template-first AI slides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4D7C0F"/>
                </a:solidFill>
                <a:latin typeface="Arial"/>
              </a:rPr>
              <a:t>canva.com</a:t>
            </a:r>
            <a:endParaRPr sz="740" b="1">
              <a:solidFill>
                <a:srgbClr val="4D7C0F"/>
              </a:solidFill>
              <a:latin typeface="Arial"/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4CF5D8C-B9AA-00A0-7F2D-E6D09344AB1B}"/>
              </a:ext>
            </a:extLst>
          </p:cNvPr>
          <p:cNvSpPr/>
          <p:nvPr/>
        </p:nvSpPr>
        <p:spPr>
          <a:xfrm>
            <a:off x="9089136" y="4608576"/>
            <a:ext cx="2825496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A16207"/>
            </a:solidFill>
          </a:ln>
          <a:effectLst>
            <a:outerShdw blurRad="63500" dist="25400" dir="5400000" algn="t" rotWithShape="0">
              <a:srgbClr val="0B2545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8" name="Rounded Rectangle 17477">
            <a:extLst>
              <a:ext uri="{FF2B5EF4-FFF2-40B4-BE49-F238E27FC236}">
                <a16:creationId xmlns:a16="http://schemas.microsoft.com/office/drawing/2014/main" id="{43EC313C-9BBE-3CA9-6DD3-D51B79241427}"/>
              </a:ext>
            </a:extLst>
          </p:cNvPr>
          <p:cNvSpPr/>
          <p:nvPr/>
        </p:nvSpPr>
        <p:spPr>
          <a:xfrm>
            <a:off x="9089136" y="4608576"/>
            <a:ext cx="2825496" cy="512064"/>
          </a:xfrm>
          <a:prstGeom prst="roundRect">
            <a:avLst>
              <a:gd name="adj" fmla="val 16000"/>
            </a:avLst>
          </a:prstGeom>
          <a:solidFill>
            <a:srgbClr val="FBF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90" name="Picture 17489" descr="sign_walk.png">
            <a:extLst>
              <a:ext uri="{FF2B5EF4-FFF2-40B4-BE49-F238E27FC236}">
                <a16:creationId xmlns:a16="http://schemas.microsoft.com/office/drawing/2014/main" id="{95B45D08-2623-EB4D-8681-A56EDA71B2EE}"/>
              </a:ext>
            </a:extLst>
          </p:cNvPr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9171432" y="4663440"/>
            <a:ext cx="420624" cy="420624"/>
          </a:xfrm>
          <a:prstGeom prst="rect">
            <a:avLst/>
          </a:prstGeom>
        </p:spPr>
      </p:pic>
      <p:sp>
        <p:nvSpPr>
          <p:cNvPr id="17502" name="TextBox 17501">
            <a:extLst>
              <a:ext uri="{FF2B5EF4-FFF2-40B4-BE49-F238E27FC236}">
                <a16:creationId xmlns:a16="http://schemas.microsoft.com/office/drawing/2014/main" id="{4AEA9504-998C-EBBB-1F48-425A396C32F7}"/>
              </a:ext>
            </a:extLst>
          </p:cNvPr>
          <p:cNvSpPr txBox="1"/>
          <p:nvPr/>
        </p:nvSpPr>
        <p:spPr>
          <a:xfrm>
            <a:off x="9656063" y="4636008"/>
            <a:ext cx="2112264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A16207"/>
                </a:solidFill>
                <a:latin typeface="Arial"/>
              </a:rPr>
              <a:t>AI MODELS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Arial"/>
              </a:rPr>
              <a:t>what powers the AI layer</a:t>
            </a:r>
          </a:p>
        </p:txBody>
      </p:sp>
      <p:sp>
        <p:nvSpPr>
          <p:cNvPr id="17452" name="TextBox 17451">
            <a:extLst>
              <a:ext uri="{FF2B5EF4-FFF2-40B4-BE49-F238E27FC236}">
                <a16:creationId xmlns:a16="http://schemas.microsoft.com/office/drawing/2014/main" id="{C8FEC86B-9715-AC87-9E91-ACB24BC562D4}"/>
              </a:ext>
            </a:extLst>
          </p:cNvPr>
          <p:cNvSpPr txBox="1"/>
          <p:nvPr/>
        </p:nvSpPr>
        <p:spPr>
          <a:xfrm>
            <a:off x="9564624" y="5559552"/>
            <a:ext cx="2286000" cy="3474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0B2545"/>
                </a:solidFill>
                <a:latin typeface="Arial"/>
              </a:rPr>
              <a:t>Google Gemini API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222222"/>
                </a:solidFill>
                <a:latin typeface="Arial"/>
              </a:rPr>
              <a:t>5-key pool, diagrams, titles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16207"/>
                </a:solidFill>
                <a:latin typeface="Arial"/>
              </a:rPr>
              <a:t>ai.google.dev</a:t>
            </a:r>
          </a:p>
        </p:txBody>
      </p:sp>
      <p:sp>
        <p:nvSpPr>
          <p:cNvPr id="17527" name="Oval 17526" descr="Your startup LOGO">
            <a:extLst>
              <a:ext uri="{FF2B5EF4-FFF2-40B4-BE49-F238E27FC236}">
                <a16:creationId xmlns:a16="http://schemas.microsoft.com/office/drawing/2014/main" id="{38328A29-D4DA-760C-8E19-D91C73C569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96924"/>
            <a:ext cx="1902611" cy="32263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dirty="0"/>
              <a:t>Learnova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53876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2132</Words>
  <Application>Microsoft Macintosh PowerPoint</Application>
  <PresentationFormat>Widescreen</PresentationFormat>
  <Paragraphs>310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 IDEA TITLE</vt:lpstr>
      <vt:lpstr>TECHNICAL APPROACH</vt:lpstr>
      <vt:lpstr>FEASIBILITY AND VIABILITY</vt:lpstr>
      <vt:lpstr>IMPACT AND BENEFITS Worked out on CAG audit figures and our own cost model, not on promises</vt:lpstr>
      <vt:lpstr>RESEARCH  AND REFERENCES 12 road signs  ·  34 sources  ·  scan any code to check us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Devendra Panchal</cp:lastModifiedBy>
  <cp:revision>7</cp:revision>
  <dcterms:created xsi:type="dcterms:W3CDTF">2013-12-12T18:46:50Z</dcterms:created>
  <dcterms:modified xsi:type="dcterms:W3CDTF">2026-10-28T09:00:59Z</dcterms:modified>
  <cp:category/>
</cp:coreProperties>
</file>