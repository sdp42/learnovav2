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99" r:id="rId3"/>
    <p:sldId id="300" r:id="rId4"/>
    <p:sldId id="304" r:id="rId13"/>
    <p:sldId id="301" r:id="rId5"/>
    <p:sldId id="302" r:id="rId6"/>
    <p:sldId id="305" r:id="rId14"/>
    <p:sldId id="303" r:id="rId7"/>
    <p:sldId id="306" r:id="rId15"/>
    <p:sldId id="307" r:id="rId16"/>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51"/>
    <p:restoredTop sz="94657"/>
  </p:normalViewPr>
  <p:slideViewPr>
    <p:cSldViewPr snapToGrid="0">
      <p:cViewPr varScale="1">
        <p:scale>
          <a:sx n="102" d="100"/>
          <a:sy n="102" d="100"/>
        </p:scale>
        <p:origin x="928"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8.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4.xml"/><Relationship Id="rId14" Type="http://schemas.openxmlformats.org/officeDocument/2006/relationships/slide" Target="slides/slide7.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10/28/26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Idea and the problem (Swayam, 1 min 30 s)</a:t>
            </a:r>
          </a:p>
          <a:p/>
          <a:p>
            <a:r>
              <a:t>Every one of us has studied from lecture slides the night before an exam. Teachers reuse the same decks for years, and most of</a:t>
            </a:r>
          </a:p>
          <a:p>
            <a:r>
              <a:t>them are walls of bullet points, pictures of equations and slides with no title at all. *(point at the red number at the top)*</a:t>
            </a:r>
          </a:p>
          <a:p>
            <a:r>
              <a:t>In five real decks from our own courses we counted 83 slides without a title, no diagrams and no quizzes.</a:t>
            </a:r>
          </a:p>
          <a:p/>
          <a:p>
            <a:r>
              <a:t>Tools like Gamma or Copilot make a new deck from a prompt. But a teacher does not want a new deck; they want their own deck, with</a:t>
            </a:r>
          </a:p>
          <a:p>
            <a:r>
              <a:t>their own content, made better. And those tools rewrite the text, so facts can change.</a:t>
            </a:r>
          </a:p>
          <a:p/>
          <a:p>
            <a:r>
              <a:t>So our idea is simple: redesign, do not regenerate. Learnova takes the deck the teacher already has, as PowerPoint, PDF or</a:t>
            </a:r>
          </a:p>
          <a:p>
            <a:r>
              <a:t>Word notes, and rebuilds it. Every point is kept. Each slide gets a title that states its point, a suitable visual, an</a:t>
            </a:r>
          </a:p>
          <a:p>
            <a:r>
              <a:t>illustration, and where it helps, a step-by-step solution, a lab or a quiz. *(point at the before-and-after picture)* This is</a:t>
            </a:r>
          </a:p>
          <a:p>
            <a:r>
              <a:t>the same slide before and after.</a:t>
            </a:r>
          </a:p>
          <a:p/>
          <a:p>
            <a:r>
              <a:t>What makes it different is on the right: it is faithful by design, every choice shows its reason, it has our own scoring metric,</a:t>
            </a:r>
          </a:p>
          <a:p>
            <a:r>
              <a:t>and it works even without internet or any paid AI.</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A0762-A7DF-323A-E966-83E211DEDB6A}"/>
            </a:ext>
          </a:extLst>
        </p:cNvPr>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3DD3CDC9-F405-0E2C-0AA4-B84DFE7D4242}"/>
              </a:ext>
            </a:extLst>
          </p:cNvPr>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a:extLst>
              <a:ext uri="{FF2B5EF4-FFF2-40B4-BE49-F238E27FC236}">
                <a16:creationId xmlns:a16="http://schemas.microsoft.com/office/drawing/2014/main" id="{4F3B404A-445C-F4D3-D4CF-94CA45A8CB6E}"/>
              </a:ext>
            </a:extLst>
          </p:cNvPr>
          <p:cNvSpPr>
            <a:spLocks noGrp="1"/>
          </p:cNvSpPr>
          <p:nvPr>
            <p:ph type="body" idx="1"/>
          </p:nvPr>
        </p:nvSpPr>
        <p:spPr bwMode="auto">
          <a:noFill/>
        </p:spPr>
        <p:txBody>
          <a:bodyPr wrap="square" numCol="1" anchor="t" anchorCtr="0" compatLnSpc="1">
            <a:prstTxWarp prst="textNoShape">
              <a:avLst/>
            </a:prstTxWarp>
          </a:bodyPr>
          <a:lstStyle/>
          <a:p>
            <a:r>
              <a:t>Technical approach and tech stack (Swayam, 1 min 40 s)</a:t>
            </a:r>
          </a:p>
          <a:p/>
          <a:p>
            <a:r>
              <a:t>This is the architecture, left to right. Inputs: PowerPoint, PDF, Word notes or a typed topic. Ingest: LibreOffice</a:t>
            </a:r>
          </a:p>
          <a:p>
            <a:r>
              <a:t>converts PowerPoint to PDF, and our slide reader, built on PyMuPDF, recovers titles, bullet levels, tables and figures. OCR with</a:t>
            </a:r>
          </a:p>
          <a:p>
            <a:r>
              <a:t>Tesseract runs only when a page is mostly a picture.</a:t>
            </a:r>
          </a:p>
          <a:p/>
          <a:p>
            <a:r>
              <a:t>The engines are our own work: the planner splits long sections, the decision engine picks one of 27 visual forms with a reason,</a:t>
            </a:r>
          </a:p>
          <a:p>
            <a:r>
              <a:t>the layout engine measures text so nothing overflows, and the solvers compute every number exactly with SymPy.</a:t>
            </a:r>
          </a:p>
          <a:p/>
          <a:p>
            <a:r>
              <a:t>The AI service uses five Gemini keys with Groq and NVIDIA as backups, and everything it writes is checked before use. If no</a:t>
            </a:r>
          </a:p>
          <a:p>
            <a:r>
              <a:t>key works, offline rules still finish the deck. Outputs are an editable PowerPoint, an interactive web deck, a study pack and</a:t>
            </a:r>
          </a:p>
          <a:p>
            <a:r>
              <a:t>a share link.</a:t>
            </a:r>
          </a:p>
          <a:p/>
          <a:p>
            <a:r>
              <a:t>On the right is the stack: React and Vite for the front end, FastAPI and Python for the back end, SQLite for data, and pytest with</a:t>
            </a:r>
          </a:p>
          <a:p>
            <a:r>
              <a:t>755 tests. The bottom row shows storage, the API, security and deployment.</a:t>
            </a:r>
          </a:p>
          <a:p/>
          <a:p>
            <a:r>
              <a:t>*Handover:* Kawaljeet will now explain the method step by step and why it is feasible.</a:t>
            </a:r>
          </a:p>
        </p:txBody>
      </p:sp>
      <p:sp>
        <p:nvSpPr>
          <p:cNvPr id="18435" name="Slide Number Placeholder 3">
            <a:extLst>
              <a:ext uri="{FF2B5EF4-FFF2-40B4-BE49-F238E27FC236}">
                <a16:creationId xmlns:a16="http://schemas.microsoft.com/office/drawing/2014/main" id="{8254C39A-36CC-1F58-64BB-17D84729E29C}"/>
              </a:ext>
            </a:extLst>
          </p:cNvPr>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4232953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Feasibility and viability (Kawaljeet, 1 min 30 s)</a:t>
            </a:r>
          </a:p>
          <a:p/>
          <a:p>
            <a:r>
              <a:t>Is it feasible? It already runs. Technically, it works end to end with 755 automated tests. Data: we need no dataset; the</a:t>
            </a:r>
          </a:p>
          <a:p>
            <a:r>
              <a:t>input is the college's own material, and we tested on seven real decks. Economically, it costs nothing offline, and one</a:t>
            </a:r>
          </a:p>
          <a:p>
            <a:r>
              <a:t>department computer replaces paid AI-slide plans. Operationally, teachers only upload and download, and everything stays</a:t>
            </a:r>
          </a:p>
          <a:p>
            <a:r>
              <a:t>editable.</a:t>
            </a:r>
          </a:p>
          <a:p/>
          <a:p>
            <a:r>
              <a:t>In the middle are the seven risks we found, each rated by likelihood and impact, and the safeguard already in the code. For</a:t>
            </a:r>
          </a:p>
          <a:p>
            <a:r>
              <a:t>example, the risk that AI invents facts is high impact, so AI text is accepted only if it uses the slide's own words, and numbers</a:t>
            </a:r>
          </a:p>
          <a:p>
            <a:r>
              <a:t>always come from SymPy. On the right are our seven strategies, and at the bottom the adoption path: our own courses first, then</a:t>
            </a:r>
          </a:p>
          <a:p>
            <a:r>
              <a:t>the department, then the college. You can scan these codes to check the code, tests and papers yourself.</a:t>
            </a:r>
          </a:p>
          <a:p/>
          <a:p>
            <a:r>
              <a:t>*Handover:* Jeevesh will show what this changes for students and teachers.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Impact and benefits (Jeevesh, 1 min 20 s)</a:t>
            </a:r>
          </a:p>
          <a:p/>
          <a:p>
            <a:r>
              <a:t>Thank you. Everything on this slide is measured, not promised. *(left to right)* Untitled slides went from 83 to zero. Slides</a:t>
            </a:r>
          </a:p>
          <a:p>
            <a:r>
              <a:t>with a picture went up on every deck. Visual slides, quizzes, labs and illustrations went from zero to hundreds. And the time</a:t>
            </a:r>
          </a:p>
          <a:p>
            <a:r>
              <a:t>grows in a straight line: a 216-page PDF becomes a full deck in about 35 seconds without any API key.</a:t>
            </a:r>
          </a:p>
          <a:p/>
          <a:p>
            <a:r>
              <a:t>The impact is educational, because each slide has one idea and a picture, and hard topics have labs, with a short quiz every four slides so students stay active; social, because it is</a:t>
            </a:r>
          </a:p>
          <a:p>
            <a:r>
              <a:t>free and works on a phone; institutional, because the department builds a shared library of decks and labs; and</a:t>
            </a:r>
          </a:p>
          <a:p>
            <a:r>
              <a:t>technological, because AI is used only where its output can be checked. The bottom row sums it up: 98 to 100 percent of</a:t>
            </a:r>
          </a:p>
          <a:p>
            <a:r>
              <a:t>facts kept, zero broken words, and all 26 test problems solved correctly.</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Research and references (Rishit, 40 s)</a:t>
            </a:r>
          </a:p>
          <a:p/>
          <a:p>
            <a:r>
              <a:t>Thank you. These are the sources behind each part of the project, grouped by topic: why old decks fail learners, what a good</a:t>
            </a:r>
          </a:p>
          <a:p>
            <a:r>
              <a:t>slide looks like, earlier slide generators, faithfulness, worked examples, labs, and layout rules. Every card has a QR code, so</a:t>
            </a:r>
          </a:p>
          <a:p>
            <a:r>
              <a:t>you can open the source directly. From this work we wrote two research papers, one in IEEE format and one in Springer LNCS format,</a:t>
            </a:r>
          </a:p>
          <a:p>
            <a:r>
              <a:t>on our own algorithms.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(Swayam, 20 s)</a:t>
            </a:r>
          </a:p>
          <a:p/>
          <a:p>
            <a:r>
              <a:t>Good morning. We are Group 1 from the Department of AI and Data Science, and our project is Learnova. I am Swayam, and with me</a:t>
            </a:r>
          </a:p>
          <a:p>
            <a:r>
              <a:t>are Kawaljeet, Jeevesh and Rishit. We worked under the guidance of our Head of Department, Dr. Pratik Kanani. In the next twelve</a:t>
            </a:r>
          </a:p>
          <a:p>
            <a:r>
              <a:t>minutes we will show you the problem we saw, how we solved it, and what we measured.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Methodology (Kawaljeet, 1 min 30 s)</a:t>
            </a:r>
          </a:p>
          <a:p/>
          <a:p>
            <a:r>
              <a:t>Thank you, Swayam. Our method has six stages. Read: every word is read with its position, size and weight, so we know what is</a:t>
            </a:r>
          </a:p>
          <a:p>
            <a:r>
              <a:t>a title and what is a bullet. Clean: anything repeated on many pages, like a college logo or a footer, is removed, and titles</a:t>
            </a:r>
          </a:p>
          <a:p>
            <a:r>
              <a:t>that lost their spaces are split back into words using dynamic programming.</a:t>
            </a:r>
          </a:p>
          <a:p/>
          <a:p>
            <a:r>
              <a:t>A procedure with decisions becomes a real flowchart with Yes and No branches, and program code appears like an editor, with a note for each line and its output. Algorithms and equations are kept whole: pseudocode goes into one numbered panel with its indentation, and equations are written as real PowerPoint equations, the way Word shows them, not as plain text. Plan: long sections are split with our algorithm CLASS, which picks the split points with the lowest cognitive load.</a:t>
            </a:r>
          </a:p>
          <a:p>
            <a:r>
              <a:t>Decide: 27 detectors score each slide, and the best one decides whether it becomes a process, a timeline, a comparison, and</a:t>
            </a:r>
          </a:p>
          <a:p>
            <a:r>
              <a:t>so on. Enrich: AI adds titles, diagrams and labs, but only after a check, and solved problems get exact steps. **Build and</a:t>
            </a:r>
          </a:p>
          <a:p>
            <a:r>
              <a:t>audit**: we produce the files and then score every slide.</a:t>
            </a:r>
          </a:p>
          <a:p/>
          <a:p>
            <a:r>
              <a:t>*(point at the formulas)* These four formulas are ours: when to use OCR, the Pedagogical Slide Fitness score, the CLASS cost, and</a:t>
            </a:r>
          </a:p>
          <a:p>
            <a:r>
              <a:t>the rule that keeps words from breaking. On the right is how we worked: research from September to December, building until</a:t>
            </a:r>
          </a:p>
          <a:p>
            <a:r>
              <a:t>July, and testing and writing since August.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Literature review (Jeevesh, 1 min 10 s)</a:t>
            </a:r>
          </a:p>
          <a:p/>
          <a:p>
            <a:r>
              <a:t>We studied earlier work before building. DOC2PPT and D2S generate new slides from documents, but they rewrite the text and can</a:t>
            </a:r>
          </a:p>
          <a:p>
            <a:r>
              <a:t>drop points. PPSGen keeps sentences but gives only bullets, with no visuals. Maynez and colleagues showed that model summaries</a:t>
            </a:r>
          </a:p>
          <a:p>
            <a:r>
              <a:t>often contain content that is not in the source, which is why we keep the teacher's text and check every AI output. Garner and</a:t>
            </a:r>
          </a:p>
          <a:p>
            <a:r>
              <a:t>Alley showed that sentence titles with visual evidence help students understand, and Mackinlay showed that visual choices can be</a:t>
            </a:r>
          </a:p>
          <a:p>
            <a:r>
              <a:t>made by rules.</a:t>
            </a:r>
          </a:p>
          <a:p/>
          <a:p>
            <a:r>
              <a:t>*(point at the research gap box)* The gap: no system takes an existing lecture deck, keeps every point, explains its design</a:t>
            </a:r>
          </a:p>
          <a:p>
            <a:r>
              <a:t>choices and checks what AI adds. That is the gap Learnova fills.</a:t>
            </a:r>
          </a:p>
          <a:p/>
          <a:p>
            <a:r>
              <a:t>*Handover:* Rishit will cover our research output and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Conclusions obtained (Rishit, 1 min 20 s)</a:t>
            </a:r>
          </a:p>
          <a:p/>
          <a:p>
            <a:r>
              <a:t>On the left are our objectives and what we achieved. We kept every point, removed every untitled slide, chose the right visual on</a:t>
            </a:r>
          </a:p>
          <a:p>
            <a:r>
              <a:t>97 percent of 101 labelled slides, illustrated every topic slide, solved all test problems correctly, and had no overflow at all.</a:t>
            </a:r>
          </a:p>
          <a:p>
            <a:r>
              <a:t>We are honest about one thing *(point at the orange row)*: our load score improved on long PDFs but is mixed on short decks,</a:t>
            </a:r>
          </a:p>
          <a:p>
            <a:r>
              <a:t>because adding explanations makes slides longer.</a:t>
            </a:r>
          </a:p>
          <a:p/>
          <a:p>
            <a:r>
              <a:t>Our key conclusions: redesigning beats regenerating; rules and checked AI work best together; exact maths matters, because our</a:t>
            </a:r>
          </a:p>
          <a:p>
            <a:r>
              <a:t>solvers were right even where our own hand answers were wrong; and measuring honestly helped us find and fix real bugs. Next, we</a:t>
            </a:r>
          </a:p>
          <a:p>
            <a:r>
              <a:t>plan a classroom study, Hindi and Marathi support, and export to Moodle and Google Classroom.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and live demo (Rishit, 40 s, then demo)</a:t>
            </a:r>
          </a:p>
          <a:p/>
          <a:p>
            <a:r>
              <a:t>To sum up: Learnova turns old decks into new learning. Every point is kept, every slide is illustrated and every AI output is</a:t>
            </a:r>
          </a:p>
          <a:p>
            <a:r>
              <a:t>checked. Thank you. We would be happy to show a live demo: we can upload any deck you give us right now. *(open</a:t>
            </a:r>
          </a:p>
          <a:p>
            <a:r>
              <a:t>http://localhost:5190, upload a small PPT, show the progress, then open the web deck and the PowerPoint)* We welcome your</a:t>
            </a:r>
          </a:p>
          <a:p>
            <a:r>
              <a:t>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10/28/26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10/28/26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10/28/26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10/28/26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10/28/26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10/28/26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10/28/26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10/28/26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10/28/26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10/28/26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10/28/26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10/28/26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83.png"/><Relationship Id="rId5"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east-coast-freight-desk.vercel.app/" TargetMode="External"/><Relationship Id="rId6" Type="http://schemas.openxmlformats.org/officeDocument/2006/relationships/image" Target="../media/image4.png"/><Relationship Id="rId7" Type="http://schemas.openxmlformats.org/officeDocument/2006/relationships/image" Target="../media/image84.png"/><Relationship Id="rId8" Type="http://schemas.openxmlformats.org/officeDocument/2006/relationships/image" Target="../media/image8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86.png"/><Relationship Id="rId10" Type="http://schemas.openxmlformats.org/officeDocument/2006/relationships/image" Target="../media/image87.png"/><Relationship Id="rId11" Type="http://schemas.openxmlformats.org/officeDocument/2006/relationships/image" Target="../media/image88.png"/><Relationship Id="rId12" Type="http://schemas.openxmlformats.org/officeDocument/2006/relationships/image" Target="../media/image89.png"/><Relationship Id="rId13" Type="http://schemas.openxmlformats.org/officeDocument/2006/relationships/image" Target="../media/image90.png"/><Relationship Id="rId14" Type="http://schemas.openxmlformats.org/officeDocument/2006/relationships/image" Target="../media/image91.png"/><Relationship Id="rId15" Type="http://schemas.openxmlformats.org/officeDocument/2006/relationships/image" Target="../media/image92.png"/><Relationship Id="rId16" Type="http://schemas.openxmlformats.org/officeDocument/2006/relationships/image" Target="../media/image93.png"/><Relationship Id="rId17" Type="http://schemas.openxmlformats.org/officeDocument/2006/relationships/image" Target="../media/image94.png"/><Relationship Id="rId18" Type="http://schemas.openxmlformats.org/officeDocument/2006/relationships/image" Target="../media/image95.png"/><Relationship Id="rId19" Type="http://schemas.openxmlformats.org/officeDocument/2006/relationships/image" Target="../media/image96.png"/><Relationship Id="rId20" Type="http://schemas.openxmlformats.org/officeDocument/2006/relationships/image" Target="../media/image97.png"/><Relationship Id="rId21" Type="http://schemas.openxmlformats.org/officeDocument/2006/relationships/image" Target="../media/image98.png"/><Relationship Id="rId22" Type="http://schemas.openxmlformats.org/officeDocument/2006/relationships/image" Target="../media/image99.png"/><Relationship Id="rId23" Type="http://schemas.openxmlformats.org/officeDocument/2006/relationships/image" Target="../media/image100.png"/><Relationship Id="rId24" Type="http://schemas.openxmlformats.org/officeDocument/2006/relationships/image" Target="../media/image101.png"/><Relationship Id="rId25" Type="http://schemas.openxmlformats.org/officeDocument/2006/relationships/image" Target="../media/image102.png"/><Relationship Id="rId26" Type="http://schemas.openxmlformats.org/officeDocument/2006/relationships/image" Target="../media/image103.png"/><Relationship Id="rId27" Type="http://schemas.openxmlformats.org/officeDocument/2006/relationships/image" Target="../media/image104.png"/><Relationship Id="rId28" Type="http://schemas.openxmlformats.org/officeDocument/2006/relationships/image" Target="../media/image105.png"/><Relationship Id="rId29" Type="http://schemas.openxmlformats.org/officeDocument/2006/relationships/image" Target="../media/image106.png"/><Relationship Id="rId30" Type="http://schemas.openxmlformats.org/officeDocument/2006/relationships/image" Target="../media/image107.png"/><Relationship Id="rId31" Type="http://schemas.openxmlformats.org/officeDocument/2006/relationships/image" Target="../media/image108.png"/><Relationship Id="rId32" Type="http://schemas.openxmlformats.org/officeDocument/2006/relationships/image" Target="../media/image109.png"/><Relationship Id="rId33" Type="http://schemas.openxmlformats.org/officeDocument/2006/relationships/image" Target="../media/image110.png"/><Relationship Id="rId34" Type="http://schemas.openxmlformats.org/officeDocument/2006/relationships/image" Target="../media/image111.png"/><Relationship Id="rId35" Type="http://schemas.openxmlformats.org/officeDocument/2006/relationships/image" Target="../media/image112.png"/><Relationship Id="rId36" Type="http://schemas.openxmlformats.org/officeDocument/2006/relationships/image" Target="../media/image113.png"/><Relationship Id="rId37" Type="http://schemas.openxmlformats.org/officeDocument/2006/relationships/image" Target="../media/image114.png"/><Relationship Id="rId38" Type="http://schemas.openxmlformats.org/officeDocument/2006/relationships/image" Target="../media/image115.png"/><Relationship Id="rId39" Type="http://schemas.openxmlformats.org/officeDocument/2006/relationships/image" Target="../media/image116.png"/><Relationship Id="rId40" Type="http://schemas.openxmlformats.org/officeDocument/2006/relationships/image" Target="../media/image117.jpg"/><Relationship Id="rId41" Type="http://schemas.openxmlformats.org/officeDocument/2006/relationships/image" Target="../media/image118.png"/><Relationship Id="rId42" Type="http://schemas.openxmlformats.org/officeDocument/2006/relationships/image" Target="../media/image11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7.png"/><Relationship Id="rId3" Type="http://schemas.openxmlformats.org/officeDocument/2006/relationships/image" Target="../media/image94.png"/><Relationship Id="rId4" Type="http://schemas.openxmlformats.org/officeDocument/2006/relationships/image" Target="../media/image96.png"/><Relationship Id="rId5" Type="http://schemas.openxmlformats.org/officeDocument/2006/relationships/image" Target="../media/image97.png"/><Relationship Id="rId6" Type="http://schemas.openxmlformats.org/officeDocument/2006/relationships/image" Target="../media/image113.png"/><Relationship Id="rId7" Type="http://schemas.openxmlformats.org/officeDocument/2006/relationships/image" Target="../media/image100.png"/><Relationship Id="rId8"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4.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hyperlink" Target="https://east-coast-freight-desk.vercel.app/" TargetMode="External"/><Relationship Id="rId16" Type="http://schemas.openxmlformats.org/officeDocument/2006/relationships/hyperlink" Target="https://github.com/SDP42/east-coast-freight-desk" TargetMode="External"/><Relationship Id="rId17" Type="http://schemas.openxmlformats.org/officeDocument/2006/relationships/hyperlink" Target="https://github.com/SDP42/east-coast-freight-desk/blob/main/MODELS.md" TargetMode="External"/><Relationship Id="rId18" Type="http://schemas.openxmlformats.org/officeDocument/2006/relationships/image" Target="../media/image20.png"/><Relationship Id="rId19" Type="http://schemas.openxmlformats.org/officeDocument/2006/relationships/image" Target="../media/image21.png"/><Relationship Id="rId20" Type="http://schemas.openxmlformats.org/officeDocument/2006/relationships/image" Target="../media/image22.png"/><Relationship Id="rId21" Type="http://schemas.openxmlformats.org/officeDocument/2006/relationships/image" Target="../media/image23.png"/><Relationship Id="rId22" Type="http://schemas.openxmlformats.org/officeDocument/2006/relationships/image" Target="../media/image24.png"/><Relationship Id="rId23" Type="http://schemas.openxmlformats.org/officeDocument/2006/relationships/image" Target="../media/image25.png"/><Relationship Id="rId24" Type="http://schemas.openxmlformats.org/officeDocument/2006/relationships/image" Target="../media/image26.png"/><Relationship Id="rId25" Type="http://schemas.openxmlformats.org/officeDocument/2006/relationships/hyperlink" Target="https://github.com/SDP42/east-coast-freight-desk/blob/main/LICENCES.md" TargetMode="External"/><Relationship Id="rId26" Type="http://schemas.openxmlformats.org/officeDocument/2006/relationships/image" Target="../media/image85.png"/><Relationship Id="rId27" Type="http://schemas.openxmlformats.org/officeDocument/2006/relationships/image" Target="../media/image120.png"/><Relationship Id="rId28" Type="http://schemas.openxmlformats.org/officeDocument/2006/relationships/image" Target="../media/image121.png"/><Relationship Id="rId29" Type="http://schemas.openxmlformats.org/officeDocument/2006/relationships/image" Target="../media/image122.png"/><Relationship Id="rId30" Type="http://schemas.openxmlformats.org/officeDocument/2006/relationships/image" Target="../media/image1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image" Target="../media/image12.png"/><Relationship Id="rId10" Type="http://schemas.openxmlformats.org/officeDocument/2006/relationships/image" Target="../media/image32.png"/><Relationship Id="rId11" Type="http://schemas.openxmlformats.org/officeDocument/2006/relationships/image" Target="../media/image10.png"/><Relationship Id="rId12" Type="http://schemas.openxmlformats.org/officeDocument/2006/relationships/image" Target="../media/image33.png"/><Relationship Id="rId13" Type="http://schemas.openxmlformats.org/officeDocument/2006/relationships/image" Target="../media/image34.png"/><Relationship Id="rId14" Type="http://schemas.openxmlformats.org/officeDocument/2006/relationships/image" Target="../media/image35.png"/><Relationship Id="rId15" Type="http://schemas.openxmlformats.org/officeDocument/2006/relationships/image" Target="../media/image36.png"/><Relationship Id="rId16" Type="http://schemas.openxmlformats.org/officeDocument/2006/relationships/image" Target="../media/image37.png"/><Relationship Id="rId17" Type="http://schemas.openxmlformats.org/officeDocument/2006/relationships/image" Target="../media/image38.png"/><Relationship Id="rId18" Type="http://schemas.openxmlformats.org/officeDocument/2006/relationships/image" Target="../media/image39.png"/><Relationship Id="rId19" Type="http://schemas.openxmlformats.org/officeDocument/2006/relationships/image" Target="../media/image40.png"/><Relationship Id="rId20" Type="http://schemas.openxmlformats.org/officeDocument/2006/relationships/image" Target="../media/image41.png"/><Relationship Id="rId21" Type="http://schemas.openxmlformats.org/officeDocument/2006/relationships/image" Target="../media/image124.png"/><Relationship Id="rId22" Type="http://schemas.openxmlformats.org/officeDocument/2006/relationships/image" Target="../media/image125.png"/><Relationship Id="rId23" Type="http://schemas.openxmlformats.org/officeDocument/2006/relationships/image" Target="../media/image126.png"/><Relationship Id="rId24" Type="http://schemas.openxmlformats.org/officeDocument/2006/relationships/image" Target="../media/image127.png"/><Relationship Id="rId25" Type="http://schemas.openxmlformats.org/officeDocument/2006/relationships/image" Target="../media/image1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hyperlink" Target="https://cag.gov.in/webroot/uploads/download_audit_report/2025/Report-No.-10-of-2025_Commercial_English-(02-06-2025)-0688c6e7a787f56.02536410.pdf" TargetMode="External"/><Relationship Id="rId7" Type="http://schemas.openxmlformats.org/officeDocument/2006/relationships/image" Target="../media/image44.png"/><Relationship Id="rId8" Type="http://schemas.openxmlformats.org/officeDocument/2006/relationships/hyperlink" Target="https://steel.gov.in/sites/default/files/2025-04/WEBSITE%20UPDATION_200824.pdf" TargetMode="External"/><Relationship Id="rId9" Type="http://schemas.openxmlformats.org/officeDocument/2006/relationships/image" Target="../media/image45.png"/><Relationship Id="rId10" Type="http://schemas.openxmlformats.org/officeDocument/2006/relationships/hyperlink" Target="https://unctad.org/system/files/official-document/rmt2025_en.pdf" TargetMode="External"/><Relationship Id="rId11" Type="http://schemas.openxmlformats.org/officeDocument/2006/relationships/image" Target="../media/image46.png"/><Relationship Id="rId12" Type="http://schemas.openxmlformats.org/officeDocument/2006/relationships/image" Target="../media/image47.png"/><Relationship Id="rId13" Type="http://schemas.openxmlformats.org/officeDocument/2006/relationships/hyperlink" Target="https://www.ncei.noaa.gov/products/international-best-track-archive" TargetMode="External"/><Relationship Id="rId14" Type="http://schemas.openxmlformats.org/officeDocument/2006/relationships/image" Target="../media/image48.png"/><Relationship Id="rId15" Type="http://schemas.openxmlformats.org/officeDocument/2006/relationships/hyperlink" Target="https://www.drybulkmagazine.com/ports-terminals/10092026/historic-maritime-milestone-at-paradip-port/" TargetMode="External"/><Relationship Id="rId16" Type="http://schemas.openxmlformats.org/officeDocument/2006/relationships/image" Target="../media/image49.png"/><Relationship Id="rId17" Type="http://schemas.openxmlformats.org/officeDocument/2006/relationships/hyperlink" Target="https://doi.org/10.1175/2009BAMS2755.1" TargetMode="External"/><Relationship Id="rId18" Type="http://schemas.openxmlformats.org/officeDocument/2006/relationships/image" Target="../media/image50.png"/><Relationship Id="rId19" Type="http://schemas.openxmlformats.org/officeDocument/2006/relationships/image" Target="../media/image51.png"/><Relationship Id="rId20" Type="http://schemas.openxmlformats.org/officeDocument/2006/relationships/hyperlink" Target="https://www.argusmedia.com/en/news-and-insights/latest-market-news/2778953-india-s-steel-expansion-to-drive-coking-coal-demand" TargetMode="External"/><Relationship Id="rId21" Type="http://schemas.openxmlformats.org/officeDocument/2006/relationships/image" Target="../media/image52.png"/><Relationship Id="rId22" Type="http://schemas.openxmlformats.org/officeDocument/2006/relationships/hyperlink" Target="https://gmk.center/en/news/india-increased-its-imports-of-coking-coal-by-10-y-y-in-2025/" TargetMode="External"/><Relationship Id="rId23" Type="http://schemas.openxmlformats.org/officeDocument/2006/relationships/image" Target="../media/image53.png"/><Relationship Id="rId24" Type="http://schemas.openxmlformats.org/officeDocument/2006/relationships/hyperlink" Target="https://doi.org/10.1057/s41278-025-00334-3" TargetMode="External"/><Relationship Id="rId25" Type="http://schemas.openxmlformats.org/officeDocument/2006/relationships/image" Target="../media/image54.png"/><Relationship Id="rId26" Type="http://schemas.openxmlformats.org/officeDocument/2006/relationships/image" Target="../media/image55.png"/><Relationship Id="rId27" Type="http://schemas.openxmlformats.org/officeDocument/2006/relationships/hyperlink" Target="https://www.tribuneindia.com/news/business/sail-exploring-new-markets-to-source-coking-coal-chairman-150901/amp" TargetMode="External"/><Relationship Id="rId28" Type="http://schemas.openxmlformats.org/officeDocument/2006/relationships/image" Target="../media/image56.png"/><Relationship Id="rId29" Type="http://schemas.openxmlformats.org/officeDocument/2006/relationships/hyperlink" Target="https://www.business-standard.com/article/news-ians/sail-rinl-allowed-direct-charter-of-ships-for-coal-imports-113051600999_1.html" TargetMode="External"/><Relationship Id="rId30" Type="http://schemas.openxmlformats.org/officeDocument/2006/relationships/image" Target="../media/image57.png"/><Relationship Id="rId31" Type="http://schemas.openxmlformats.org/officeDocument/2006/relationships/hyperlink" Target="https://wwwcdn.imo.org/localresources/en/KnowledgeCentre/IndexofIMOResolutions/MEPCDocuments/MEPC.354(78).pdf" TargetMode="External"/><Relationship Id="rId32" Type="http://schemas.openxmlformats.org/officeDocument/2006/relationships/image" Target="../media/image58.png"/><Relationship Id="rId33" Type="http://schemas.openxmlformats.org/officeDocument/2006/relationships/image" Target="../media/image59.png"/><Relationship Id="rId34" Type="http://schemas.openxmlformats.org/officeDocument/2006/relationships/hyperlink" Target="https://www.ams.usda.gov/sites/default/files/media/GTRFigure20.xlsx" TargetMode="External"/><Relationship Id="rId35" Type="http://schemas.openxmlformats.org/officeDocument/2006/relationships/image" Target="../media/image60.png"/><Relationship Id="rId36" Type="http://schemas.openxmlformats.org/officeDocument/2006/relationships/hyperlink" Target="https://fred.stlouisfed.org/series/WPU30130101" TargetMode="External"/><Relationship Id="rId37" Type="http://schemas.openxmlformats.org/officeDocument/2006/relationships/image" Target="../media/image61.png"/><Relationship Id="rId38" Type="http://schemas.openxmlformats.org/officeDocument/2006/relationships/hyperlink" Target="https://doi.org/10.1371/journal.pone.0325106" TargetMode="External"/><Relationship Id="rId39" Type="http://schemas.openxmlformats.org/officeDocument/2006/relationships/image" Target="../media/image62.png"/><Relationship Id="rId40" Type="http://schemas.openxmlformats.org/officeDocument/2006/relationships/image" Target="../media/image63.png"/><Relationship Id="rId41" Type="http://schemas.openxmlformats.org/officeDocument/2006/relationships/hyperlink" Target="https://fred.stlouisfed.org/series/DCOILBRENTEU" TargetMode="External"/><Relationship Id="rId42" Type="http://schemas.openxmlformats.org/officeDocument/2006/relationships/image" Target="../media/image64.png"/><Relationship Id="rId43" Type="http://schemas.openxmlformats.org/officeDocument/2006/relationships/hyperlink" Target="https://fred.stlouisfed.org/series/DEXINUS" TargetMode="External"/><Relationship Id="rId44" Type="http://schemas.openxmlformats.org/officeDocument/2006/relationships/image" Target="../media/image65.png"/><Relationship Id="rId45" Type="http://schemas.openxmlformats.org/officeDocument/2006/relationships/hyperlink" Target="https://doi.org/10.1080/14697688.2025.2568045" TargetMode="External"/><Relationship Id="rId46" Type="http://schemas.openxmlformats.org/officeDocument/2006/relationships/image" Target="../media/image66.png"/><Relationship Id="rId47" Type="http://schemas.openxmlformats.org/officeDocument/2006/relationships/image" Target="../media/image67.png"/><Relationship Id="rId48" Type="http://schemas.openxmlformats.org/officeDocument/2006/relationships/hyperlink" Target="https://www.naturalearthdata.com/downloads/" TargetMode="External"/><Relationship Id="rId49" Type="http://schemas.openxmlformats.org/officeDocument/2006/relationships/image" Target="../media/image68.png"/><Relationship Id="rId50" Type="http://schemas.openxmlformats.org/officeDocument/2006/relationships/hyperlink" Target="https://github.com/SDP42/east-coast-freight-desk/blob/main/LICENCES.md" TargetMode="External"/><Relationship Id="rId51" Type="http://schemas.openxmlformats.org/officeDocument/2006/relationships/image" Target="../media/image69.png"/><Relationship Id="rId52" Type="http://schemas.openxmlformats.org/officeDocument/2006/relationships/hyperlink" Target="https://doi.org/10.1038/s41592-019-0686-2" TargetMode="External"/><Relationship Id="rId53" Type="http://schemas.openxmlformats.org/officeDocument/2006/relationships/image" Target="../media/image70.png"/><Relationship Id="rId54" Type="http://schemas.openxmlformats.org/officeDocument/2006/relationships/image" Target="../media/image71.png"/><Relationship Id="rId55" Type="http://schemas.openxmlformats.org/officeDocument/2006/relationships/hyperlink" Target="https://doi.org/10.1177/03611981261441288" TargetMode="External"/><Relationship Id="rId56" Type="http://schemas.openxmlformats.org/officeDocument/2006/relationships/image" Target="../media/image72.png"/><Relationship Id="rId57" Type="http://schemas.openxmlformats.org/officeDocument/2006/relationships/hyperlink" Target="https://arxiv.org/abs/2107.07511" TargetMode="External"/><Relationship Id="rId58" Type="http://schemas.openxmlformats.org/officeDocument/2006/relationships/image" Target="../media/image73.png"/><Relationship Id="rId59" Type="http://schemas.openxmlformats.org/officeDocument/2006/relationships/hyperlink" Target="https://papers.nips.cc/paper/7062-a-unified-approach-to-interpreting-model-predictions" TargetMode="External"/><Relationship Id="rId60" Type="http://schemas.openxmlformats.org/officeDocument/2006/relationships/image" Target="../media/image74.png"/><Relationship Id="rId61" Type="http://schemas.openxmlformats.org/officeDocument/2006/relationships/image" Target="../media/image75.png"/><Relationship Id="rId62" Type="http://schemas.openxmlformats.org/officeDocument/2006/relationships/hyperlink" Target="https://github.com/SDP42/east-coast-freight-desk" TargetMode="External"/><Relationship Id="rId63" Type="http://schemas.openxmlformats.org/officeDocument/2006/relationships/image" Target="../media/image76.png"/><Relationship Id="rId64" Type="http://schemas.openxmlformats.org/officeDocument/2006/relationships/hyperlink" Target="https://github.com/SDP42/east-coast-freight-desk/blob/main/MODELS.md" TargetMode="External"/><Relationship Id="rId65" Type="http://schemas.openxmlformats.org/officeDocument/2006/relationships/image" Target="../media/image77.png"/><Relationship Id="rId66" Type="http://schemas.openxmlformats.org/officeDocument/2006/relationships/hyperlink" Target="https://arxiv.org/abs/1503.01889" TargetMode="External"/><Relationship Id="rId67" Type="http://schemas.openxmlformats.org/officeDocument/2006/relationships/image" Target="../media/image78.png"/><Relationship Id="rId68" Type="http://schemas.openxmlformats.org/officeDocument/2006/relationships/image" Target="../media/image79.png"/><Relationship Id="rId69" Type="http://schemas.openxmlformats.org/officeDocument/2006/relationships/hyperlink" Target="https://east-coast-freight-desk.vercel.app/" TargetMode="External"/><Relationship Id="rId70" Type="http://schemas.openxmlformats.org/officeDocument/2006/relationships/image" Target="../media/image80.png"/><Relationship Id="rId71" Type="http://schemas.openxmlformats.org/officeDocument/2006/relationships/hyperlink" Target="https://freight-desk-api.onrender.com/docs" TargetMode="External"/><Relationship Id="rId72" Type="http://schemas.openxmlformats.org/officeDocument/2006/relationships/image" Target="../media/image81.png"/><Relationship Id="rId73" Type="http://schemas.openxmlformats.org/officeDocument/2006/relationships/image" Target="../media/image82.png"/><Relationship Id="rId74" Type="http://schemas.openxmlformats.org/officeDocument/2006/relationships/image" Target="../media/image129.png"/><Relationship Id="rId75" Type="http://schemas.openxmlformats.org/officeDocument/2006/relationships/image" Target="../media/image130.png"/><Relationship Id="rId76" Type="http://schemas.openxmlformats.org/officeDocument/2006/relationships/image" Target="../media/image131.png"/><Relationship Id="rId77" Type="http://schemas.openxmlformats.org/officeDocument/2006/relationships/image" Target="../media/image132.png"/><Relationship Id="rId78" Type="http://schemas.openxmlformats.org/officeDocument/2006/relationships/image" Target="../media/image85.png"/><Relationship Id="rId79" Type="http://schemas.openxmlformats.org/officeDocument/2006/relationships/image" Target="../media/image133.png"/><Relationship Id="rId80" Type="http://schemas.openxmlformats.org/officeDocument/2006/relationships/image" Target="../media/image134.png"/><Relationship Id="rId81" Type="http://schemas.openxmlformats.org/officeDocument/2006/relationships/image" Target="../media/image135.png"/><Relationship Id="rId82" Type="http://schemas.openxmlformats.org/officeDocument/2006/relationships/image" Target="../media/image136.png"/><Relationship Id="rId83" Type="http://schemas.openxmlformats.org/officeDocument/2006/relationships/image" Target="../media/image137.png"/><Relationship Id="rId84" Type="http://schemas.openxmlformats.org/officeDocument/2006/relationships/image" Target="../media/image138.png"/><Relationship Id="rId85" Type="http://schemas.openxmlformats.org/officeDocument/2006/relationships/image" Target="../media/image139.png"/><Relationship Id="rId86" Type="http://schemas.openxmlformats.org/officeDocument/2006/relationships/image" Target="../media/image140.png"/><Relationship Id="rId87" Type="http://schemas.openxmlformats.org/officeDocument/2006/relationships/image" Target="../media/image141.png"/><Relationship Id="rId88" Type="http://schemas.openxmlformats.org/officeDocument/2006/relationships/image" Target="../media/image142.png"/><Relationship Id="rId89" Type="http://schemas.openxmlformats.org/officeDocument/2006/relationships/image" Target="../media/image143.png"/><Relationship Id="rId90" Type="http://schemas.openxmlformats.org/officeDocument/2006/relationships/image" Target="../media/image144.png"/><Relationship Id="rId91" Type="http://schemas.openxmlformats.org/officeDocument/2006/relationships/image" Target="../media/image145.png"/><Relationship Id="rId92" Type="http://schemas.openxmlformats.org/officeDocument/2006/relationships/image" Target="../media/image146.png"/><Relationship Id="rId93" Type="http://schemas.openxmlformats.org/officeDocument/2006/relationships/image" Target="../media/image147.png"/><Relationship Id="rId94" Type="http://schemas.openxmlformats.org/officeDocument/2006/relationships/image" Target="../media/image148.png"/><Relationship Id="rId95" Type="http://schemas.openxmlformats.org/officeDocument/2006/relationships/image" Target="../media/image149.png"/><Relationship Id="rId96" Type="http://schemas.openxmlformats.org/officeDocument/2006/relationships/image" Target="../media/image150.png"/><Relationship Id="rId97" Type="http://schemas.openxmlformats.org/officeDocument/2006/relationships/image" Target="../media/image15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2.png"/><Relationship Id="rId3" Type="http://schemas.openxmlformats.org/officeDocument/2006/relationships/image" Target="../media/image10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8.png"/><Relationship Id="rId3" Type="http://schemas.openxmlformats.org/officeDocument/2006/relationships/image" Target="../media/image153.jpg"/><Relationship Id="rId4" Type="http://schemas.openxmlformats.org/officeDocument/2006/relationships/image" Target="../media/image85.png"/><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8" name="Picture 37" descr="image.png"/>
          <p:cNvPicPr>
            <a:picLocks noChangeAspect="1"/>
          </p:cNvPicPr>
          <p:nvPr/>
        </p:nvPicPr>
        <p:blipFill>
          <a:blip r:embed="rId4"/>
          <a:stretch>
            <a:fillRect/>
          </a:stretch>
        </p:blipFill>
        <p:spPr>
          <a:xfrm>
            <a:off x="6854891" y="2954406"/>
            <a:ext cx="3203508" cy="949187"/>
          </a:xfrm>
          <a:prstGeom prst="rect">
            <a:avLst/>
          </a:prstGeom>
        </p:spPr>
      </p:pic>
      <p:sp>
        <p:nvSpPr>
          <p:cNvPr id="4" name="Subtitle 3"/>
          <p:cNvSpPr>
            <a:spLocks noGrp="1"/>
          </p:cNvSpPr>
          <p:nvPr>
            <p:ph type="subTitle" idx="1"/>
          </p:nvPr>
        </p:nvSpPr>
        <p:spPr>
          <a:xfrm>
            <a:off x="1245686" y="40021"/>
            <a:ext cx="8534400" cy="1752600"/>
          </a:xfrm>
        </p:spPr>
        <p:txBody>
          <a:bodyPr/>
          <a:lstStyle/>
          <a:p>
            <a:r>
              <a:rPr lang="en-US" b="1" dirty="0">
                <a:solidFill>
                  <a:schemeClr val="tx1"/>
                </a:solidFill>
                <a:latin typeface="Times New Roman" panose="02020603050405020304" pitchFamily="18" charset="0"/>
                <a:cs typeface="Times New Roman" panose="02020603050405020304" pitchFamily="18" charset="0"/>
              </a:rPr>
              <a:t/>
            </a:r>
            <a:endParaRPr lang="en-IN"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a:solidFill>
                  <a:schemeClr val="tx2"/>
                </a:solidFill>
                <a:latin typeface="Garamond" panose="02020404030301010803" pitchFamily="18" charset="0"/>
              </a:rPr>
              <a:t>IPD PROJECT REVIEW 2026</a:t>
            </a:r>
            <a:endParaRPr lang="en-IN" sz="4000" b="1">
              <a:solidFill>
                <a:schemeClr val="tx2"/>
              </a:solidFill>
              <a:latin typeface="Garamond" panose="02020404030301010803" pitchFamily="18" charset="0"/>
            </a:endParaRPr>
          </a:p>
        </p:txBody>
      </p:sp>
      <p:sp>
        <p:nvSpPr>
          <p:cNvPr id="10" name="TextBox 9"/>
          <p:cNvSpPr txBox="1"/>
          <p:nvPr/>
        </p:nvSpPr>
        <p:spPr>
          <a:xfrm>
            <a:off x="331286" y="943102"/>
            <a:ext cx="6150990" cy="5794663"/>
          </a:xfrm>
          <a:prstGeom prst="rect">
            <a:avLst/>
          </a:prstGeom>
          <a:noFill/>
        </p:spPr>
        <p:txBody>
          <a:bodyPr wrap="square" rtlCol="0">
            <a:spAutoFit/>
          </a:bodyPr>
          <a:lstStyle/>
          <a:p>
            <a:pPr marL="285750" indent="-285750" algn="just">
              <a:lnSpc>
                <a:spcPct val="1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Project – Learnova</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Theme – EdTech · Generative AI</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Category – Software</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Group No. – 1 (AI &amp; DS, DJSCE)</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 Swayam · Kawaljeet · Jeevesh · Rishit</a:t>
            </a:r>
            <a:endParaRPr lang="en-IN" sz="1600"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HoD – Dr. Pratik Kanani</a:t>
            </a:r>
            <a:endParaRPr lang="en-IN" sz="160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a:solidFill>
                <a:schemeClr val="accent2">
                  <a:lumMod val="75000"/>
                </a:schemeClr>
              </a:solidFill>
              <a:latin typeface="+mn-lt"/>
              <a:ea typeface="+mn-ea"/>
            </a:endParaRPr>
          </a:p>
        </p:txBody>
      </p:sp>
      <p:sp>
        <p:nvSpPr>
          <p:cNvPr id="15361" name="Title 1"/>
          <p:cNvSpPr>
            <a:spLocks noGrp="1"/>
          </p:cNvSpPr>
          <p:nvPr>
            <p:ph type="title"/>
          </p:nvPr>
        </p:nvSpPr>
        <p:spPr>
          <a:xfrm>
            <a:off x="155988" y="-434978"/>
            <a:ext cx="10972800" cy="1143000"/>
          </a:xfrm>
        </p:spPr>
        <p:txBody>
          <a:bodyPr/>
          <a:lstStyle/>
          <a:p>
            <a:pPr eaLnBrk="1" hangingPunct="1"/>
            <a:r>
              <a:rPr lang="en-US" sz="3600" b="1">
                <a:latin typeface="Times New Roman" panose="02020603050405020304" pitchFamily="18" charset="0"/>
                <a:ea typeface="ＭＳ Ｐゴシック" pitchFamily="1" charset="-128"/>
                <a:cs typeface="Times New Roman" panose="02020603050405020304" pitchFamily="18" charset="0"/>
              </a:rPr>
              <a:t>LEARNOVA — IDEA</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IPD Review · Learnova · AI&amp;DS DJSCE</a:t>
            </a:r>
          </a:p>
        </p:txBody>
      </p:sp>
      <p:sp>
        <p:nvSpPr>
          <p:cNvPr id="4" name="Rectangle 3">
            <a:extLst>
              <a:ext uri="{FF2B5EF4-FFF2-40B4-BE49-F238E27FC236}">
                <a16:creationId xmlns:a16="http://schemas.microsoft.com/office/drawing/2014/main" id="{0171EEB9-6D83-8C55-0E51-374C68A449AA}"/>
              </a:ext>
            </a:extLst>
          </p:cNvPr>
          <p:cNvSpPr/>
          <p:nvPr/>
        </p:nvSpPr>
        <p:spPr>
          <a:xfrm>
            <a:off x="2093843" y="735322"/>
            <a:ext cx="7553740" cy="3356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a:t>5 real lecture decks: 83 untitled slides · 0 diagrams · 0 quizzes</a:t>
            </a:r>
            <a:endParaRPr lang="en-US"/>
          </a:p>
        </p:txBody>
      </p:sp>
      <p:sp>
        <p:nvSpPr>
          <p:cNvPr id="36" name="TextBox 35">
            <a:extLst>
              <a:ext uri="{FF2B5EF4-FFF2-40B4-BE49-F238E27FC236}">
                <a16:creationId xmlns:a16="http://schemas.microsoft.com/office/drawing/2014/main" id="{F7B602B6-D98C-15B1-D01D-2E3D4B3BDDBD}"/>
              </a:ext>
            </a:extLst>
          </p:cNvPr>
          <p:cNvSpPr txBox="1"/>
          <p:nvPr/>
        </p:nvSpPr>
        <p:spPr>
          <a:xfrm>
            <a:off x="320040" y="1097280"/>
            <a:ext cx="11567160" cy="720197"/>
          </a:xfrm>
          <a:prstGeom prst="rect">
            <a:avLst/>
          </a:prstGeom>
          <a:noFill/>
        </p:spPr>
        <p:txBody>
          <a:bodyPr wrap="square" lIns="73152" tIns="36576" rIns="73152" bIns="36576" anchor="t">
            <a:spAutoFit/>
          </a:bodyPr>
          <a:lstStyle/>
          <a:p>
            <a:pPr algn="just">
              <a:lnSpc>
                <a:spcPct val="100000"/>
              </a:lnSpc>
              <a:spcAft>
                <a:spcPts val="0"/>
              </a:spcAft>
            </a:pPr>
            <a:r>
              <a:rPr sz="1400" b="1">
                <a:solidFill>
                  <a:srgbClr val="0B6DC0"/>
                </a:solidFill>
                <a:latin typeface="Arial"/>
              </a:rPr>
              <a:t>Proposed Solution:  </a:t>
            </a:r>
            <a:r>
              <a:rPr sz="1400" b="0">
                <a:solidFill>
                  <a:srgbClr val="222222"/>
                </a:solidFill>
                <a:latin typeface="Arial"/>
              </a:rPr>
              <a:t>Teachers reuse old decks for years and students revise from them before every exam, yet most are walls of bullets with pictures of equations. Learnova takes the deck a teacher already has (PPTX, PDF, Word notes or a topic) and rebuilds it as an editable PowerPoint, an interactive web deck and a study pack — every point kept, plus a visual, an illustration, quizzes, solved steps and labs.</a:t>
            </a:r>
          </a:p>
        </p:txBody>
      </p:sp>
      <p:sp>
        <p:nvSpPr>
          <p:cNvPr id="37" name="Rounded Rectangle 36">
            <a:extLst>
              <a:ext uri="{FF2B5EF4-FFF2-40B4-BE49-F238E27FC236}">
                <a16:creationId xmlns:a16="http://schemas.microsoft.com/office/drawing/2014/main" id="{AD012FC5-15A9-0546-C9FA-50497D272C92}"/>
              </a:ext>
            </a:extLst>
          </p:cNvPr>
          <p:cNvSpPr/>
          <p:nvPr/>
        </p:nvSpPr>
        <p:spPr>
          <a:xfrm>
            <a:off x="320040" y="1828800"/>
            <a:ext cx="3749039" cy="3364992"/>
          </a:xfrm>
          <a:prstGeom prst="roundRect">
            <a:avLst>
              <a:gd name="adj" fmla="val 2500"/>
            </a:avLst>
          </a:prstGeom>
          <a:solidFill>
            <a:srgbClr val="E8F3FC"/>
          </a:solidFill>
          <a:ln w="28575">
            <a:solidFill>
              <a:srgbClr val="0B6D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a:extLst>
              <a:ext uri="{FF2B5EF4-FFF2-40B4-BE49-F238E27FC236}">
                <a16:creationId xmlns:a16="http://schemas.microsoft.com/office/drawing/2014/main" id="{EBE69CBB-0ED2-9A9D-0190-49FE66606B31}"/>
              </a:ext>
            </a:extLst>
          </p:cNvPr>
          <p:cNvSpPr/>
          <p:nvPr/>
        </p:nvSpPr>
        <p:spPr>
          <a:xfrm>
            <a:off x="320040" y="1828800"/>
            <a:ext cx="3749039" cy="475488"/>
          </a:xfrm>
          <a:prstGeom prst="roundRect">
            <a:avLst>
              <a:gd name="adj" fmla="val 15000"/>
            </a:avLst>
          </a:prstGeom>
          <a:solidFill>
            <a:srgbClr val="0B6DC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0000"/>
              </a:lnSpc>
              <a:spcAft>
                <a:spcPts val="0"/>
              </a:spcAft>
            </a:pPr>
            <a:r>
              <a:rPr sz="1300" b="1">
                <a:solidFill>
                  <a:srgbClr val="FFFFFF"/>
                </a:solidFill>
                <a:latin typeface="Arial"/>
              </a:rPr>
              <a:t>Detailed explanation of the proposed solution</a:t>
            </a:r>
          </a:p>
        </p:txBody>
      </p:sp>
      <p:sp>
        <p:nvSpPr>
          <p:cNvPr id="40" name="TextBox 39">
            <a:extLst>
              <a:ext uri="{FF2B5EF4-FFF2-40B4-BE49-F238E27FC236}">
                <a16:creationId xmlns:a16="http://schemas.microsoft.com/office/drawing/2014/main" id="{0DA20DA3-8D46-4E9F-A47C-06DC7B414BFC}"/>
              </a:ext>
            </a:extLst>
          </p:cNvPr>
          <p:cNvSpPr txBox="1"/>
          <p:nvPr/>
        </p:nvSpPr>
        <p:spPr>
          <a:xfrm>
            <a:off x="365759" y="2350008"/>
            <a:ext cx="3657599" cy="2859244"/>
          </a:xfrm>
          <a:prstGeom prst="rect">
            <a:avLst/>
          </a:prstGeom>
          <a:noFill/>
        </p:spPr>
        <p:txBody>
          <a:bodyPr wrap="square" lIns="73152" tIns="36576" rIns="73152" bIns="36576" anchor="t">
            <a:spAutoFit/>
          </a:bodyPr>
          <a:lstStyle/>
          <a:p>
            <a:pPr marL="182880" indent="-182880" algn="just">
              <a:lnSpc>
                <a:spcPct val="100000"/>
              </a:lnSpc>
              <a:spcAft>
                <a:spcPts val="400"/>
              </a:spcAft>
              <a:buChar char="•"/>
            </a:pPr>
            <a:r>
              <a:rPr sz="1150" b="1">
                <a:solidFill>
                  <a:srgbClr val="0B2545"/>
                </a:solidFill>
                <a:latin typeface="Arial"/>
                <a:ea typeface="ＭＳ Ｐゴシック"/>
              </a:rPr>
              <a:t>Slide Reader: </a:t>
            </a:r>
            <a:r>
              <a:rPr sz="1150" b="0">
                <a:solidFill>
                  <a:srgbClr val="222222"/>
                </a:solidFill>
                <a:latin typeface="Arial"/>
                <a:ea typeface="ＭＳ Ｐゴシック"/>
              </a:rPr>
              <a:t>every page read with titles, bullet levels, tables, figures; OCR only for picture slides.</a:t>
            </a:r>
            <a:endParaRPr sz="1150" b="0">
              <a:solidFill>
                <a:srgbClr val="222222"/>
              </a:solidFill>
              <a:latin typeface="Arial"/>
            </a:endParaRPr>
          </a:p>
          <a:p>
            <a:pPr marL="182880" indent="-182880" algn="just">
              <a:lnSpc>
                <a:spcPct val="100000"/>
              </a:lnSpc>
              <a:spcAft>
                <a:spcPts val="400"/>
              </a:spcAft>
              <a:buChar char="•"/>
            </a:pPr>
            <a:r>
              <a:rPr sz="1150" b="1">
                <a:solidFill>
                  <a:srgbClr val="0B2545"/>
                </a:solidFill>
                <a:latin typeface="Arial"/>
                <a:ea typeface="ＭＳ Ｐゴシック"/>
              </a:rPr>
              <a:t>Decision Engine: </a:t>
            </a:r>
            <a:r>
              <a:rPr sz="1150" b="0">
                <a:solidFill>
                  <a:srgbClr val="222222"/>
                </a:solidFill>
                <a:latin typeface="Arial"/>
                <a:ea typeface="ＭＳ Ｐゴシック"/>
              </a:rPr>
              <a:t>27 detectors pick process, timeline, comparison, definition, chart or cards — with a reason.</a:t>
            </a:r>
            <a:endParaRPr sz="1150" b="0">
              <a:solidFill>
                <a:srgbClr val="222222"/>
              </a:solidFill>
              <a:latin typeface="Arial"/>
              <a:cs typeface="Arial"/>
            </a:endParaRPr>
          </a:p>
          <a:p>
            <a:pPr marL="182880" indent="-182880" algn="just">
              <a:lnSpc>
                <a:spcPct val="100000"/>
              </a:lnSpc>
              <a:spcAft>
                <a:spcPts val="400"/>
              </a:spcAft>
              <a:buChar char="•"/>
            </a:pPr>
            <a:r>
              <a:rPr sz="1150" b="1">
                <a:solidFill>
                  <a:srgbClr val="0B2545"/>
                </a:solidFill>
                <a:latin typeface="Arial"/>
                <a:ea typeface="ＭＳ Ｐゴシック"/>
              </a:rPr>
              <a:t>Assertion Titles: </a:t>
            </a:r>
            <a:r>
              <a:rPr sz="1150" b="0">
                <a:solidFill>
                  <a:srgbClr val="222222"/>
                </a:solidFill>
                <a:latin typeface="Arial"/>
                <a:ea typeface="ＭＳ Ｐゴシック"/>
              </a:rPr>
              <a:t>each title states the point of its slide; split parts are named, never “(2/5)”.</a:t>
            </a:r>
            <a:endParaRPr sz="1150" b="0">
              <a:solidFill>
                <a:srgbClr val="222222"/>
              </a:solidFill>
              <a:latin typeface="Arial"/>
              <a:cs typeface="Arial"/>
            </a:endParaRPr>
          </a:p>
          <a:p>
            <a:pPr marL="182880" indent="-182880" algn="just">
              <a:lnSpc>
                <a:spcPct val="100000"/>
              </a:lnSpc>
              <a:spcAft>
                <a:spcPts val="400"/>
              </a:spcAft>
              <a:buChar char="•"/>
            </a:pPr>
            <a:r>
              <a:rPr sz="1150" b="1">
                <a:solidFill>
                  <a:srgbClr val="0B2545"/>
                </a:solidFill>
                <a:latin typeface="Arial"/>
                <a:ea typeface="ＭＳ Ｐゴシック"/>
              </a:rPr>
              <a:t>Illustrations: </a:t>
            </a:r>
            <a:r>
              <a:rPr sz="1150" b="0">
                <a:solidFill>
                  <a:srgbClr val="222222"/>
                </a:solidFill>
                <a:latin typeface="Arial"/>
                <a:ea typeface="ＭＳ Ｐゴシック"/>
              </a:rPr>
              <a:t>AI-drawn diagram, teacher's figure or offline scene on every slide, linked as an HTML page.</a:t>
            </a:r>
            <a:endParaRPr sz="1150" b="0">
              <a:solidFill>
                <a:srgbClr val="222222"/>
              </a:solidFill>
              <a:latin typeface="Arial"/>
              <a:cs typeface="Arial"/>
            </a:endParaRPr>
          </a:p>
          <a:p>
            <a:pPr marL="182880" indent="-182880" algn="just">
              <a:lnSpc>
                <a:spcPct val="100000"/>
              </a:lnSpc>
              <a:spcAft>
                <a:spcPts val="400"/>
              </a:spcAft>
              <a:buChar char="•"/>
            </a:pPr>
            <a:r>
              <a:rPr sz="1150" b="1">
                <a:solidFill>
                  <a:srgbClr val="0B2545"/>
                </a:solidFill>
                <a:latin typeface="Arial"/>
                <a:ea typeface="ＭＳ Ｐゴシック"/>
              </a:rPr>
              <a:t>Explainers &amp; Labs: </a:t>
            </a:r>
            <a:r>
              <a:rPr sz="1150" b="0">
                <a:solidFill>
                  <a:srgbClr val="222222"/>
                </a:solidFill>
                <a:latin typeface="Arial"/>
                <a:ea typeface="ＭＳ Ｐゴシック"/>
              </a:rPr>
              <a:t>beginner step-by-step solutions and hands-on labs for hard topics.</a:t>
            </a:r>
            <a:endParaRPr sz="1150" b="0">
              <a:solidFill>
                <a:srgbClr val="222222"/>
              </a:solidFill>
              <a:latin typeface="Arial"/>
              <a:cs typeface="Arial"/>
            </a:endParaRPr>
          </a:p>
          <a:p>
            <a:pPr marL="182880" indent="-182880" algn="just">
              <a:lnSpc>
                <a:spcPct val="100000"/>
              </a:lnSpc>
              <a:spcAft>
                <a:spcPts val="400"/>
              </a:spcAft>
              <a:buChar char="•"/>
            </a:pPr>
            <a:r>
              <a:rPr sz="1150" b="1">
                <a:solidFill>
                  <a:srgbClr val="0B2545"/>
                </a:solidFill>
                <a:latin typeface="Arial"/>
                <a:ea typeface="ＭＳ Ｐゴシック"/>
              </a:rPr>
              <a:t>Outputs: </a:t>
            </a:r>
            <a:r>
              <a:rPr sz="1150" b="0">
                <a:solidFill>
                  <a:srgbClr val="222222"/>
                </a:solidFill>
                <a:latin typeface="Arial"/>
                <a:ea typeface="ＭＳ Ｐゴシック"/>
              </a:rPr>
              <a:t>editable PPTX, web deck, study pack, share link, tutor.</a:t>
            </a:r>
            <a:endParaRPr sz="1150" b="0">
              <a:solidFill>
                <a:srgbClr val="222222"/>
              </a:solidFill>
              <a:latin typeface="Arial"/>
              <a:cs typeface="Arial"/>
            </a:endParaRPr>
          </a:p>
        </p:txBody>
      </p:sp>
      <p:sp>
        <p:nvSpPr>
          <p:cNvPr id="41" name="Rounded Rectangle 40">
            <a:extLst>
              <a:ext uri="{FF2B5EF4-FFF2-40B4-BE49-F238E27FC236}">
                <a16:creationId xmlns:a16="http://schemas.microsoft.com/office/drawing/2014/main" id="{43CAB6CC-98C9-A97C-1B06-05A6B7B0C645}"/>
              </a:ext>
            </a:extLst>
          </p:cNvPr>
          <p:cNvSpPr/>
          <p:nvPr/>
        </p:nvSpPr>
        <p:spPr>
          <a:xfrm>
            <a:off x="4206240" y="1828800"/>
            <a:ext cx="3794760" cy="3364992"/>
          </a:xfrm>
          <a:prstGeom prst="roundRect">
            <a:avLst>
              <a:gd name="adj" fmla="val 2500"/>
            </a:avLst>
          </a:prstGeom>
          <a:solidFill>
            <a:srgbClr val="E6F6E8"/>
          </a:solidFill>
          <a:ln w="28575">
            <a:solidFill>
              <a:srgbClr val="2E9E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a:extLst>
              <a:ext uri="{FF2B5EF4-FFF2-40B4-BE49-F238E27FC236}">
                <a16:creationId xmlns:a16="http://schemas.microsoft.com/office/drawing/2014/main" id="{9F4C6065-DF91-FAA4-601B-43E2AC7F5A9B}"/>
              </a:ext>
            </a:extLst>
          </p:cNvPr>
          <p:cNvSpPr/>
          <p:nvPr/>
        </p:nvSpPr>
        <p:spPr>
          <a:xfrm>
            <a:off x="4206240" y="1828800"/>
            <a:ext cx="3794760" cy="475488"/>
          </a:xfrm>
          <a:prstGeom prst="roundRect">
            <a:avLst>
              <a:gd name="adj" fmla="val 15000"/>
            </a:avLst>
          </a:prstGeom>
          <a:solidFill>
            <a:srgbClr val="2E9E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0000"/>
              </a:lnSpc>
              <a:spcAft>
                <a:spcPts val="0"/>
              </a:spcAft>
            </a:pPr>
            <a:r>
              <a:rPr sz="1300" b="1">
                <a:solidFill>
                  <a:srgbClr val="FFFFFF"/>
                </a:solidFill>
                <a:latin typeface="Arial"/>
              </a:rPr>
              <a:t>How it addresses the problem</a:t>
            </a:r>
          </a:p>
        </p:txBody>
      </p:sp>
      <p:pic>
        <p:nvPicPr>
          <p:cNvPr id="15362" name="Picture 15361" descr="image.png"/>
          <p:cNvPicPr>
            <a:picLocks noChangeAspect="1"/>
          </p:cNvPicPr>
          <p:nvPr/>
        </p:nvPicPr>
        <p:blipFill>
          <a:blip r:embed="rId7"/>
          <a:stretch>
            <a:fillRect/>
          </a:stretch>
        </p:blipFill>
        <p:spPr>
          <a:xfrm>
            <a:off x="5014088" y="2359152"/>
            <a:ext cx="2179064" cy="2743200"/>
          </a:xfrm>
          <a:prstGeom prst="rect">
            <a:avLst/>
          </a:prstGeom>
        </p:spPr>
      </p:pic>
      <p:sp>
        <p:nvSpPr>
          <p:cNvPr id="44" name="Rounded Rectangle 43">
            <a:extLst>
              <a:ext uri="{FF2B5EF4-FFF2-40B4-BE49-F238E27FC236}">
                <a16:creationId xmlns:a16="http://schemas.microsoft.com/office/drawing/2014/main" id="{BCAA32EE-671F-6D71-32FE-6365E20C40A3}"/>
              </a:ext>
            </a:extLst>
          </p:cNvPr>
          <p:cNvSpPr/>
          <p:nvPr/>
        </p:nvSpPr>
        <p:spPr>
          <a:xfrm>
            <a:off x="8138160" y="1828800"/>
            <a:ext cx="3749039" cy="3364992"/>
          </a:xfrm>
          <a:prstGeom prst="roundRect">
            <a:avLst>
              <a:gd name="adj" fmla="val 2500"/>
            </a:avLst>
          </a:prstGeom>
          <a:solidFill>
            <a:srgbClr val="FFF1DE"/>
          </a:solidFill>
          <a:ln w="28575">
            <a:solidFill>
              <a:srgbClr val="E08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3EADDFF8-572C-7790-64D1-FFB080701534}"/>
              </a:ext>
            </a:extLst>
          </p:cNvPr>
          <p:cNvSpPr txBox="1"/>
          <p:nvPr/>
        </p:nvSpPr>
        <p:spPr>
          <a:xfrm>
            <a:off x="8183880" y="2350008"/>
            <a:ext cx="3657599" cy="2859244"/>
          </a:xfrm>
          <a:prstGeom prst="rect">
            <a:avLst/>
          </a:prstGeom>
          <a:noFill/>
        </p:spPr>
        <p:txBody>
          <a:bodyPr wrap="square" lIns="73152" tIns="36576" rIns="73152" bIns="36576" anchor="t">
            <a:spAutoFit/>
          </a:bodyPr>
          <a:lstStyle/>
          <a:p>
            <a:pPr marL="182880" indent="-182880" algn="just">
              <a:lnSpc>
                <a:spcPct val="100000"/>
              </a:lnSpc>
              <a:spcAft>
                <a:spcPts val="400"/>
              </a:spcAft>
              <a:buChar char="•"/>
            </a:pPr>
            <a:r>
              <a:rPr sz="1150" b="1">
                <a:solidFill>
                  <a:srgbClr val="0B2545"/>
                </a:solidFill>
                <a:latin typeface="Arial"/>
                <a:ea typeface="ＭＳ Ｐゴシック"/>
              </a:rPr>
              <a:t>Redesign, not generate: </a:t>
            </a:r>
            <a:r>
              <a:rPr sz="1150" b="0">
                <a:solidFill>
                  <a:srgbClr val="222222"/>
                </a:solidFill>
                <a:latin typeface="Arial"/>
                <a:ea typeface="ＭＳ Ｐゴシック"/>
              </a:rPr>
              <a:t>starts from the teacher's own deck; other tools start from a prompt.</a:t>
            </a:r>
            <a:endParaRPr sz="1150" b="0">
              <a:solidFill>
                <a:srgbClr val="222222"/>
              </a:solidFill>
              <a:latin typeface="Arial"/>
            </a:endParaRPr>
          </a:p>
          <a:p>
            <a:pPr marL="182880" indent="-182880" algn="just">
              <a:lnSpc>
                <a:spcPct val="100000"/>
              </a:lnSpc>
              <a:spcAft>
                <a:spcPts val="400"/>
              </a:spcAft>
              <a:buChar char="•"/>
            </a:pPr>
            <a:r>
              <a:rPr sz="1150" b="1">
                <a:solidFill>
                  <a:srgbClr val="0B2545"/>
                </a:solidFill>
                <a:latin typeface="Arial"/>
                <a:ea typeface="ＭＳ Ｐゴシック"/>
              </a:rPr>
              <a:t>Faithful by design: </a:t>
            </a:r>
            <a:r>
              <a:rPr sz="1150" b="0">
                <a:solidFill>
                  <a:srgbClr val="222222"/>
                </a:solidFill>
                <a:latin typeface="Arial"/>
                <a:ea typeface="ＭＳ Ｐゴシック"/>
              </a:rPr>
              <a:t>source text kept verbatim; 98–100% of facts retained on real decks.</a:t>
            </a:r>
            <a:endParaRPr sz="1150" b="0">
              <a:solidFill>
                <a:srgbClr val="222222"/>
              </a:solidFill>
              <a:latin typeface="Arial"/>
              <a:cs typeface="Arial"/>
            </a:endParaRPr>
          </a:p>
          <a:p>
            <a:pPr marL="182880" indent="-182880" algn="just">
              <a:lnSpc>
                <a:spcPct val="100000"/>
              </a:lnSpc>
              <a:spcAft>
                <a:spcPts val="400"/>
              </a:spcAft>
              <a:buChar char="•"/>
            </a:pPr>
            <a:r>
              <a:rPr sz="1150" b="1">
                <a:solidFill>
                  <a:srgbClr val="0B2545"/>
                </a:solidFill>
                <a:latin typeface="Arial"/>
                <a:ea typeface="ＭＳ Ｐゴシック"/>
              </a:rPr>
              <a:t>Explainable choices: </a:t>
            </a:r>
            <a:r>
              <a:rPr sz="1150" b="0">
                <a:solidFill>
                  <a:srgbClr val="222222"/>
                </a:solidFill>
                <a:latin typeface="Arial"/>
                <a:ea typeface="ＭＳ Ｐゴシック"/>
              </a:rPr>
              <a:t>every visual decision shows its rule and confidence.</a:t>
            </a:r>
            <a:endParaRPr sz="1150" b="0">
              <a:solidFill>
                <a:srgbClr val="222222"/>
              </a:solidFill>
              <a:latin typeface="Arial"/>
              <a:cs typeface="Arial"/>
            </a:endParaRPr>
          </a:p>
          <a:p>
            <a:pPr marL="182880" indent="-182880" algn="just">
              <a:lnSpc>
                <a:spcPct val="100000"/>
              </a:lnSpc>
              <a:spcAft>
                <a:spcPts val="400"/>
              </a:spcAft>
              <a:buChar char="•"/>
            </a:pPr>
            <a:r>
              <a:rPr sz="1150" b="1">
                <a:solidFill>
                  <a:srgbClr val="0B2545"/>
                </a:solidFill>
                <a:latin typeface="Arial"/>
                <a:ea typeface="ＭＳ Ｐゴシック"/>
              </a:rPr>
              <a:t>PSF metric + CLASS: </a:t>
            </a:r>
            <a:r>
              <a:rPr sz="1150" b="0">
                <a:solidFill>
                  <a:srgbClr val="222222"/>
                </a:solidFill>
                <a:latin typeface="Arial"/>
                <a:ea typeface="ＭＳ Ｐゴシック"/>
              </a:rPr>
              <a:t>our own slide-fitness score and load-optimal slide splitting.</a:t>
            </a:r>
            <a:endParaRPr sz="1150" b="0">
              <a:solidFill>
                <a:srgbClr val="222222"/>
              </a:solidFill>
              <a:latin typeface="Arial"/>
              <a:cs typeface="Arial"/>
            </a:endParaRPr>
          </a:p>
          <a:p>
            <a:pPr marL="182880" indent="-182880" algn="just">
              <a:lnSpc>
                <a:spcPct val="100000"/>
              </a:lnSpc>
              <a:spcAft>
                <a:spcPts val="400"/>
              </a:spcAft>
              <a:buChar char="•"/>
            </a:pPr>
            <a:r>
              <a:rPr sz="1150" b="1">
                <a:solidFill>
                  <a:srgbClr val="0B2545"/>
                </a:solidFill>
                <a:latin typeface="Arial"/>
                <a:ea typeface="ＭＳ Ｐゴシック"/>
              </a:rPr>
              <a:t>Two safety nets: </a:t>
            </a:r>
            <a:r>
              <a:rPr sz="1150" b="0">
                <a:solidFill>
                  <a:srgbClr val="222222"/>
                </a:solidFill>
                <a:latin typeface="Arial"/>
                <a:ea typeface="ＭＳ Ｐゴシック"/>
              </a:rPr>
              <a:t>5 Gemini keys rotate; if all fail, offline rules finish the deck.</a:t>
            </a:r>
            <a:endParaRPr sz="1150" b="0">
              <a:solidFill>
                <a:srgbClr val="222222"/>
              </a:solidFill>
              <a:latin typeface="Arial"/>
              <a:cs typeface="Arial"/>
            </a:endParaRPr>
          </a:p>
          <a:p>
            <a:pPr marL="182880" indent="-182880" algn="just">
              <a:lnSpc>
                <a:spcPct val="100000"/>
              </a:lnSpc>
              <a:spcAft>
                <a:spcPts val="400"/>
              </a:spcAft>
              <a:buChar char="•"/>
            </a:pPr>
            <a:r>
              <a:rPr sz="1150" b="1">
                <a:solidFill>
                  <a:srgbClr val="0B2545"/>
                </a:solidFill>
                <a:latin typeface="Arial"/>
                <a:ea typeface="ＭＳ Ｐゴシック"/>
              </a:rPr>
              <a:t>Verified AI output: </a:t>
            </a:r>
            <a:r>
              <a:rPr sz="1150" b="0">
                <a:solidFill>
                  <a:srgbClr val="222222"/>
                </a:solidFill>
                <a:latin typeface="Arial"/>
                <a:ea typeface="ＭＳ Ｐゴシック"/>
              </a:rPr>
              <a:t>diagrams sanitised, labs code-checked, titles grounded in the slide.</a:t>
            </a:r>
            <a:endParaRPr sz="1150" b="0">
              <a:solidFill>
                <a:srgbClr val="222222"/>
              </a:solidFill>
              <a:latin typeface="Arial"/>
              <a:cs typeface="Arial"/>
            </a:endParaRPr>
          </a:p>
          <a:p>
            <a:pPr marL="182880" indent="-182880" algn="just">
              <a:lnSpc>
                <a:spcPct val="100000"/>
              </a:lnSpc>
              <a:spcAft>
                <a:spcPts val="400"/>
              </a:spcAft>
              <a:buChar char="•"/>
            </a:pPr>
            <a:r>
              <a:rPr sz="1150" b="1">
                <a:solidFill>
                  <a:srgbClr val="0B2545"/>
                </a:solidFill>
                <a:latin typeface="Arial"/>
                <a:ea typeface="ＭＳ Ｐゴシック"/>
              </a:rPr>
              <a:t>Works offline: </a:t>
            </a:r>
            <a:r>
              <a:rPr sz="1150" b="0">
                <a:solidFill>
                  <a:srgbClr val="222222"/>
                </a:solidFill>
                <a:latin typeface="Arial"/>
                <a:ea typeface="ＭＳ Ｐゴシック"/>
              </a:rPr>
              <a:t>no paid licence, runs on a college laptop.</a:t>
            </a:r>
            <a:endParaRPr sz="1150" b="0">
              <a:solidFill>
                <a:srgbClr val="222222"/>
              </a:solidFill>
              <a:latin typeface="Arial"/>
              <a:cs typeface="Arial"/>
            </a:endParaRPr>
          </a:p>
        </p:txBody>
      </p:sp>
      <p:sp>
        <p:nvSpPr>
          <p:cNvPr id="46" name="Rounded Rectangle 45">
            <a:extLst>
              <a:ext uri="{FF2B5EF4-FFF2-40B4-BE49-F238E27FC236}">
                <a16:creationId xmlns:a16="http://schemas.microsoft.com/office/drawing/2014/main" id="{5DA9AECF-B3DB-DE77-9515-406F95DDEBFB}"/>
              </a:ext>
            </a:extLst>
          </p:cNvPr>
          <p:cNvSpPr/>
          <p:nvPr/>
        </p:nvSpPr>
        <p:spPr>
          <a:xfrm>
            <a:off x="8138160" y="1828800"/>
            <a:ext cx="3749039" cy="475488"/>
          </a:xfrm>
          <a:prstGeom prst="roundRect">
            <a:avLst>
              <a:gd name="adj" fmla="val 15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0000"/>
              </a:lnSpc>
              <a:spcAft>
                <a:spcPts val="0"/>
              </a:spcAft>
            </a:pPr>
            <a:r>
              <a:rPr sz="1300" b="1">
                <a:solidFill>
                  <a:srgbClr val="FFFFFF"/>
                </a:solidFill>
                <a:latin typeface="Arial"/>
              </a:rPr>
              <a:t>Innovation and uniqueness of the solution</a:t>
            </a:r>
          </a:p>
        </p:txBody>
      </p:sp>
      <p:sp>
        <p:nvSpPr>
          <p:cNvPr id="47" name="Pentagon 46">
            <a:extLst>
              <a:ext uri="{FF2B5EF4-FFF2-40B4-BE49-F238E27FC236}">
                <a16:creationId xmlns:a16="http://schemas.microsoft.com/office/drawing/2014/main" id="{67543618-DAF7-994A-69CD-840EFBC1E5C5}"/>
              </a:ext>
            </a:extLst>
          </p:cNvPr>
          <p:cNvSpPr/>
          <p:nvPr/>
        </p:nvSpPr>
        <p:spPr>
          <a:xfrm>
            <a:off x="320040" y="5266944"/>
            <a:ext cx="2724912" cy="274320"/>
          </a:xfrm>
          <a:prstGeom prst="homePlate">
            <a:avLst>
              <a:gd name="adj" fmla="val 32000"/>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wrap="square" tIns="0" rIns="137160" bIns="0" rtlCol="0" anchor="ctr"/>
          <a:lstStyle/>
          <a:p>
            <a:pPr algn="l">
              <a:lnSpc>
                <a:spcPct val="100000"/>
              </a:lnSpc>
              <a:spcAft>
                <a:spcPts val="0"/>
              </a:spcAft>
            </a:pPr>
            <a:r>
              <a:rPr sz="1200" b="1">
                <a:solidFill>
                  <a:srgbClr val="FFFFFF"/>
                </a:solidFill>
                <a:latin typeface="Arial"/>
              </a:rPr>
              <a:t>PHASE 1 · Sep–Dec 2025</a:t>
            </a:r>
          </a:p>
        </p:txBody>
      </p:sp>
      <p:sp>
        <p:nvSpPr>
          <p:cNvPr id="48" name="TextBox 47">
            <a:extLst>
              <a:ext uri="{FF2B5EF4-FFF2-40B4-BE49-F238E27FC236}">
                <a16:creationId xmlns:a16="http://schemas.microsoft.com/office/drawing/2014/main" id="{3C629DB7-B70F-B719-6874-37DDBBFEE0F8}"/>
              </a:ext>
            </a:extLst>
          </p:cNvPr>
          <p:cNvSpPr txBox="1"/>
          <p:nvPr/>
        </p:nvSpPr>
        <p:spPr>
          <a:xfrm>
            <a:off x="320040" y="5550407"/>
            <a:ext cx="2679192" cy="201168"/>
          </a:xfrm>
          <a:prstGeom prst="rect">
            <a:avLst/>
          </a:prstGeom>
          <a:noFill/>
        </p:spPr>
        <p:txBody>
          <a:bodyPr wrap="square" lIns="73152" tIns="9144" rIns="18288" bIns="0" anchor="t">
            <a:spAutoFit/>
          </a:bodyPr>
          <a:lstStyle/>
          <a:p>
            <a:pPr algn="l">
              <a:lnSpc>
                <a:spcPct val="100000"/>
              </a:lnSpc>
              <a:spcAft>
                <a:spcPts val="0"/>
              </a:spcAft>
            </a:pPr>
            <a:r>
              <a:rPr sz="1100" b="1">
                <a:solidFill>
                  <a:srgbClr val="13A89E"/>
                </a:solidFill>
                <a:latin typeface="Arial"/>
              </a:rPr>
              <a:t>Research and design</a:t>
            </a:r>
          </a:p>
        </p:txBody>
      </p:sp>
      <p:sp>
        <p:nvSpPr>
          <p:cNvPr id="49" name="TextBox 48">
            <a:extLst>
              <a:ext uri="{FF2B5EF4-FFF2-40B4-BE49-F238E27FC236}">
                <a16:creationId xmlns:a16="http://schemas.microsoft.com/office/drawing/2014/main" id="{22C7B066-3549-585F-FC35-8773E505B690}"/>
              </a:ext>
            </a:extLst>
          </p:cNvPr>
          <p:cNvSpPr txBox="1"/>
          <p:nvPr/>
        </p:nvSpPr>
        <p:spPr>
          <a:xfrm>
            <a:off x="320040" y="5742431"/>
            <a:ext cx="2679192" cy="548640"/>
          </a:xfrm>
          <a:prstGeom prst="rect">
            <a:avLst/>
          </a:prstGeom>
          <a:noFill/>
        </p:spPr>
        <p:txBody>
          <a:bodyPr wrap="square" lIns="54864" tIns="0" rIns="18288" bIns="0" anchor="t">
            <a:spAutoFit/>
          </a:bodyPr>
          <a:lstStyle/>
          <a:p>
            <a:pPr marL="182880" indent="-182880" algn="l">
              <a:lnSpc>
                <a:spcPct val="100000"/>
              </a:lnSpc>
              <a:spcAft>
                <a:spcPts val="0"/>
              </a:spcAft>
              <a:buChar char="•"/>
            </a:pPr>
            <a:r>
              <a:rPr sz="1050" b="0">
                <a:solidFill>
                  <a:srgbClr val="222222"/>
                </a:solidFill>
                <a:latin typeface="Arial"/>
              </a:rPr>
              <a:t>Literature + competitor study</a:t>
            </a:r>
          </a:p>
          <a:p>
            <a:pPr marL="182880" indent="-182880" algn="l">
              <a:lnSpc>
                <a:spcPct val="100000"/>
              </a:lnSpc>
              <a:spcAft>
                <a:spcPts val="0"/>
              </a:spcAft>
              <a:buChar char="•"/>
            </a:pPr>
            <a:r>
              <a:rPr sz="1050" b="0">
                <a:solidFill>
                  <a:srgbClr val="222222"/>
                </a:solidFill>
                <a:latin typeface="Arial"/>
              </a:rPr>
              <a:t>Problem, architecture, UI plan</a:t>
            </a:r>
          </a:p>
        </p:txBody>
      </p:sp>
      <p:sp>
        <p:nvSpPr>
          <p:cNvPr id="50" name="Pentagon 49">
            <a:extLst>
              <a:ext uri="{FF2B5EF4-FFF2-40B4-BE49-F238E27FC236}">
                <a16:creationId xmlns:a16="http://schemas.microsoft.com/office/drawing/2014/main" id="{1757FBB5-BDBF-AC61-799B-57271D599C04}"/>
              </a:ext>
            </a:extLst>
          </p:cNvPr>
          <p:cNvSpPr/>
          <p:nvPr/>
        </p:nvSpPr>
        <p:spPr>
          <a:xfrm>
            <a:off x="3072384" y="5266944"/>
            <a:ext cx="2724912" cy="274320"/>
          </a:xfrm>
          <a:prstGeom prst="homePlate">
            <a:avLst>
              <a:gd name="adj" fmla="val 32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wrap="square" tIns="0" rIns="137160" bIns="0" rtlCol="0" anchor="ctr"/>
          <a:lstStyle/>
          <a:p>
            <a:pPr algn="l">
              <a:lnSpc>
                <a:spcPct val="100000"/>
              </a:lnSpc>
              <a:spcAft>
                <a:spcPts val="0"/>
              </a:spcAft>
            </a:pPr>
            <a:r>
              <a:rPr sz="1200" b="1">
                <a:solidFill>
                  <a:srgbClr val="FFFFFF"/>
                </a:solidFill>
                <a:latin typeface="Arial"/>
              </a:rPr>
              <a:t>PHASE 2 · Jan–Jul 2026</a:t>
            </a:r>
          </a:p>
        </p:txBody>
      </p:sp>
      <p:sp>
        <p:nvSpPr>
          <p:cNvPr id="51" name="TextBox 50">
            <a:extLst>
              <a:ext uri="{FF2B5EF4-FFF2-40B4-BE49-F238E27FC236}">
                <a16:creationId xmlns:a16="http://schemas.microsoft.com/office/drawing/2014/main" id="{943871FB-14A9-F43F-9501-C279A9217132}"/>
              </a:ext>
            </a:extLst>
          </p:cNvPr>
          <p:cNvSpPr txBox="1"/>
          <p:nvPr/>
        </p:nvSpPr>
        <p:spPr>
          <a:xfrm>
            <a:off x="3072384" y="5550407"/>
            <a:ext cx="2679192" cy="201168"/>
          </a:xfrm>
          <a:prstGeom prst="rect">
            <a:avLst/>
          </a:prstGeom>
          <a:noFill/>
        </p:spPr>
        <p:txBody>
          <a:bodyPr wrap="square" lIns="73152" tIns="9144" rIns="18288" bIns="0" anchor="t">
            <a:spAutoFit/>
          </a:bodyPr>
          <a:lstStyle/>
          <a:p>
            <a:pPr algn="l">
              <a:lnSpc>
                <a:spcPct val="100000"/>
              </a:lnSpc>
              <a:spcAft>
                <a:spcPts val="0"/>
              </a:spcAft>
            </a:pPr>
            <a:r>
              <a:rPr sz="1100" b="1">
                <a:solidFill>
                  <a:srgbClr val="E08A00"/>
                </a:solidFill>
                <a:latin typeface="Arial"/>
              </a:rPr>
              <a:t>Build the platform</a:t>
            </a:r>
          </a:p>
        </p:txBody>
      </p:sp>
      <p:sp>
        <p:nvSpPr>
          <p:cNvPr id="52" name="TextBox 51">
            <a:extLst>
              <a:ext uri="{FF2B5EF4-FFF2-40B4-BE49-F238E27FC236}">
                <a16:creationId xmlns:a16="http://schemas.microsoft.com/office/drawing/2014/main" id="{EBB5456D-7817-404A-5BBF-4016CD10A39F}"/>
              </a:ext>
            </a:extLst>
          </p:cNvPr>
          <p:cNvSpPr txBox="1"/>
          <p:nvPr/>
        </p:nvSpPr>
        <p:spPr>
          <a:xfrm>
            <a:off x="3072384" y="5742431"/>
            <a:ext cx="2679192" cy="548640"/>
          </a:xfrm>
          <a:prstGeom prst="rect">
            <a:avLst/>
          </a:prstGeom>
          <a:noFill/>
        </p:spPr>
        <p:txBody>
          <a:bodyPr wrap="square" lIns="54864" tIns="0" rIns="18288" bIns="0" anchor="t">
            <a:spAutoFit/>
          </a:bodyPr>
          <a:lstStyle/>
          <a:p>
            <a:pPr marL="182880" indent="-182880" algn="l">
              <a:lnSpc>
                <a:spcPct val="100000"/>
              </a:lnSpc>
              <a:spcAft>
                <a:spcPts val="0"/>
              </a:spcAft>
              <a:buChar char="•"/>
            </a:pPr>
            <a:r>
              <a:rPr sz="1050" b="0">
                <a:solidFill>
                  <a:srgbClr val="222222"/>
                </a:solidFill>
                <a:latin typeface="Arial"/>
              </a:rPr>
              <a:t>Prototype V1 → Learnova V2</a:t>
            </a:r>
          </a:p>
          <a:p>
            <a:pPr marL="182880" indent="-182880" algn="l">
              <a:lnSpc>
                <a:spcPct val="100000"/>
              </a:lnSpc>
              <a:spcAft>
                <a:spcPts val="0"/>
              </a:spcAft>
              <a:buChar char="•"/>
            </a:pPr>
            <a:r>
              <a:rPr sz="1050" b="0">
                <a:solidFill>
                  <a:srgbClr val="222222"/>
                </a:solidFill>
                <a:latin typeface="Arial"/>
              </a:rPr>
              <a:t>Engine, builders, accounts</a:t>
            </a:r>
          </a:p>
        </p:txBody>
      </p:sp>
      <p:sp>
        <p:nvSpPr>
          <p:cNvPr id="53" name="Pentagon 52">
            <a:extLst>
              <a:ext uri="{FF2B5EF4-FFF2-40B4-BE49-F238E27FC236}">
                <a16:creationId xmlns:a16="http://schemas.microsoft.com/office/drawing/2014/main" id="{08040038-5E8F-5355-D4F2-110E8F970E5A}"/>
              </a:ext>
            </a:extLst>
          </p:cNvPr>
          <p:cNvSpPr/>
          <p:nvPr/>
        </p:nvSpPr>
        <p:spPr>
          <a:xfrm>
            <a:off x="5824727" y="5266944"/>
            <a:ext cx="2724912" cy="274320"/>
          </a:xfrm>
          <a:prstGeom prst="homePlate">
            <a:avLst>
              <a:gd name="adj" fmla="val 32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tIns="0" rIns="137160" bIns="0" rtlCol="0" anchor="ctr"/>
          <a:lstStyle/>
          <a:p>
            <a:pPr algn="l">
              <a:lnSpc>
                <a:spcPct val="100000"/>
              </a:lnSpc>
              <a:spcAft>
                <a:spcPts val="0"/>
              </a:spcAft>
            </a:pPr>
            <a:r>
              <a:rPr sz="1200" b="1">
                <a:solidFill>
                  <a:srgbClr val="FFFFFF"/>
                </a:solidFill>
                <a:latin typeface="Arial"/>
              </a:rPr>
              <a:t>PHASE 3 · Aug–Oct 2026</a:t>
            </a:r>
          </a:p>
        </p:txBody>
      </p:sp>
      <p:sp>
        <p:nvSpPr>
          <p:cNvPr id="54" name="TextBox 53">
            <a:extLst>
              <a:ext uri="{FF2B5EF4-FFF2-40B4-BE49-F238E27FC236}">
                <a16:creationId xmlns:a16="http://schemas.microsoft.com/office/drawing/2014/main" id="{D5680FEE-4F3E-5C08-26DC-6620700BF32B}"/>
              </a:ext>
            </a:extLst>
          </p:cNvPr>
          <p:cNvSpPr txBox="1"/>
          <p:nvPr/>
        </p:nvSpPr>
        <p:spPr>
          <a:xfrm>
            <a:off x="5824727" y="5550407"/>
            <a:ext cx="2679192" cy="201168"/>
          </a:xfrm>
          <a:prstGeom prst="rect">
            <a:avLst/>
          </a:prstGeom>
          <a:noFill/>
        </p:spPr>
        <p:txBody>
          <a:bodyPr wrap="square" lIns="73152" tIns="9144" rIns="18288" bIns="0" anchor="t">
            <a:spAutoFit/>
          </a:bodyPr>
          <a:lstStyle/>
          <a:p>
            <a:pPr algn="l">
              <a:lnSpc>
                <a:spcPct val="100000"/>
              </a:lnSpc>
              <a:spcAft>
                <a:spcPts val="0"/>
              </a:spcAft>
            </a:pPr>
            <a:r>
              <a:rPr sz="1100" b="1">
                <a:solidFill>
                  <a:srgbClr val="0B2545"/>
                </a:solidFill>
                <a:latin typeface="Arial"/>
              </a:rPr>
              <a:t>Real decks, AI, research</a:t>
            </a:r>
          </a:p>
        </p:txBody>
      </p:sp>
      <p:sp>
        <p:nvSpPr>
          <p:cNvPr id="55" name="TextBox 54">
            <a:extLst>
              <a:ext uri="{FF2B5EF4-FFF2-40B4-BE49-F238E27FC236}">
                <a16:creationId xmlns:a16="http://schemas.microsoft.com/office/drawing/2014/main" id="{A6FE902F-C67A-6C39-DA3E-54BD1FA6BE3E}"/>
              </a:ext>
            </a:extLst>
          </p:cNvPr>
          <p:cNvSpPr txBox="1"/>
          <p:nvPr/>
        </p:nvSpPr>
        <p:spPr>
          <a:xfrm>
            <a:off x="5824727" y="5742431"/>
            <a:ext cx="2679192" cy="548640"/>
          </a:xfrm>
          <a:prstGeom prst="rect">
            <a:avLst/>
          </a:prstGeom>
          <a:noFill/>
        </p:spPr>
        <p:txBody>
          <a:bodyPr wrap="square" lIns="54864" tIns="0" rIns="18288" bIns="0" anchor="t">
            <a:spAutoFit/>
          </a:bodyPr>
          <a:lstStyle/>
          <a:p>
            <a:pPr marL="182880" indent="-182880" algn="l">
              <a:lnSpc>
                <a:spcPct val="100000"/>
              </a:lnSpc>
              <a:spcAft>
                <a:spcPts val="0"/>
              </a:spcAft>
              <a:buChar char="•"/>
            </a:pPr>
            <a:r>
              <a:rPr sz="1050" b="0">
                <a:solidFill>
                  <a:srgbClr val="222222"/>
                </a:solidFill>
                <a:latin typeface="Arial"/>
              </a:rPr>
              <a:t>Reader + OCR, illustrations, labs</a:t>
            </a:r>
          </a:p>
          <a:p>
            <a:pPr marL="182880" indent="-182880" algn="l">
              <a:lnSpc>
                <a:spcPct val="100000"/>
              </a:lnSpc>
              <a:spcAft>
                <a:spcPts val="0"/>
              </a:spcAft>
              <a:buChar char="•"/>
            </a:pPr>
            <a:r>
              <a:rPr sz="1050" b="0">
                <a:solidFill>
                  <a:srgbClr val="222222"/>
                </a:solidFill>
                <a:latin typeface="Arial"/>
              </a:rPr>
              <a:t>AI key pool, papers, review</a:t>
            </a:r>
          </a:p>
        </p:txBody>
      </p:sp>
      <p:sp>
        <p:nvSpPr>
          <p:cNvPr id="57" name="Rounded Rectangle 56">
            <a:extLst>
              <a:ext uri="{FF2B5EF4-FFF2-40B4-BE49-F238E27FC236}">
                <a16:creationId xmlns:a16="http://schemas.microsoft.com/office/drawing/2014/main" id="{668666A2-C9D4-6E69-DCB9-4DB35685D293}"/>
              </a:ext>
            </a:extLst>
          </p:cNvPr>
          <p:cNvSpPr/>
          <p:nvPr/>
        </p:nvSpPr>
        <p:spPr>
          <a:xfrm>
            <a:off x="9646920" y="5266944"/>
            <a:ext cx="2240280" cy="1005840"/>
          </a:xfrm>
          <a:prstGeom prst="roundRect">
            <a:avLst>
              <a:gd name="adj" fmla="val 8000"/>
            </a:avLst>
          </a:prstGeom>
          <a:solidFill>
            <a:srgbClr val="FFFFFF"/>
          </a:solidFill>
          <a:ln w="28575">
            <a:solidFill>
              <a:srgbClr val="13A8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a:extLst>
              <a:ext uri="{FF2B5EF4-FFF2-40B4-BE49-F238E27FC236}">
                <a16:creationId xmlns:a16="http://schemas.microsoft.com/office/drawing/2014/main" id="{1C753A60-1074-F144-4A3D-5F1E4B3F92F3}"/>
              </a:ext>
            </a:extLst>
          </p:cNvPr>
          <p:cNvSpPr txBox="1"/>
          <p:nvPr/>
        </p:nvSpPr>
        <p:spPr>
          <a:xfrm>
            <a:off x="9692640" y="5285231"/>
            <a:ext cx="2148840" cy="237744"/>
          </a:xfrm>
          <a:prstGeom prst="rect">
            <a:avLst/>
          </a:prstGeom>
          <a:noFill/>
        </p:spPr>
        <p:txBody>
          <a:bodyPr wrap="square" lIns="45720" tIns="18288" rIns="18288" bIns="0" anchor="t">
            <a:spAutoFit/>
          </a:bodyPr>
          <a:lstStyle/>
          <a:p>
            <a:pPr algn="l">
              <a:lnSpc>
                <a:spcPct val="100000"/>
              </a:lnSpc>
              <a:spcAft>
                <a:spcPts val="0"/>
              </a:spcAft>
            </a:pPr>
            <a:r>
              <a:rPr sz="1100" b="1">
                <a:solidFill>
                  <a:srgbClr val="13A89E"/>
                </a:solidFill>
                <a:latin typeface="Arial"/>
              </a:rPr>
              <a:t>LIVE CODE</a:t>
            </a:r>
          </a:p>
        </p:txBody>
      </p:sp>
      <p:sp>
        <p:nvSpPr>
          <p:cNvPr id="59" name="TextBox 58">
            <a:extLst>
              <a:ext uri="{FF2B5EF4-FFF2-40B4-BE49-F238E27FC236}">
                <a16:creationId xmlns:a16="http://schemas.microsoft.com/office/drawing/2014/main" id="{10B1CD18-DFCA-19AB-9C02-299A07B5DC5C}"/>
              </a:ext>
            </a:extLst>
          </p:cNvPr>
          <p:cNvSpPr txBox="1"/>
          <p:nvPr/>
        </p:nvSpPr>
        <p:spPr>
          <a:xfrm>
            <a:off x="10378440" y="5522976"/>
            <a:ext cx="1463040" cy="640080"/>
          </a:xfrm>
          <a:prstGeom prst="rect">
            <a:avLst/>
          </a:prstGeom>
          <a:noFill/>
        </p:spPr>
        <p:txBody>
          <a:bodyPr wrap="square" lIns="18288" tIns="18288" rIns="18288" bIns="18288" anchor="t">
            <a:spAutoFit/>
          </a:bodyPr>
          <a:lstStyle/>
          <a:p>
            <a:pPr algn="l">
              <a:lnSpc>
                <a:spcPct val="100000"/>
              </a:lnSpc>
              <a:spcAft>
                <a:spcPts val="200"/>
              </a:spcAft>
            </a:pPr>
            <a:r>
              <a:rPr sz="1000" b="1">
                <a:solidFill>
                  <a:srgbClr val="0B6DC0"/>
                </a:solidFill>
                <a:latin typeface="Arial"/>
                <a:hlinkClick r:id="rId5"/>
              </a:rPr>
              <a:t>github.com/SDP42/LearnovaV2</a:t>
            </a:r>
          </a:p>
          <a:p>
            <a:pPr algn="l">
              <a:lnSpc>
                <a:spcPct val="100000"/>
              </a:lnSpc>
              <a:spcAft>
                <a:spcPts val="200"/>
              </a:spcAft>
            </a:pPr>
            <a:r>
              <a:rPr sz="950" b="0">
                <a:solidFill>
                  <a:srgbClr val="222222"/>
                </a:solidFill>
                <a:latin typeface="Arial"/>
              </a:rPr>
              <a:t>Open source · 774 tests · demo decks</a:t>
            </a:r>
          </a:p>
        </p:txBody>
      </p:sp>
      <p:pic>
        <p:nvPicPr>
          <p:cNvPr id="15363" name="Picture 15362" descr="image.png"/>
          <p:cNvPicPr>
            <a:picLocks noChangeAspect="1"/>
          </p:cNvPicPr>
          <p:nvPr/>
        </p:nvPicPr>
        <p:blipFill>
          <a:blip r:embed="rId8"/>
          <a:stretch>
            <a:fillRect/>
          </a:stretch>
        </p:blipFill>
        <p:spPr>
          <a:xfrm>
            <a:off x="9720072" y="5522976"/>
            <a:ext cx="621792" cy="621792"/>
          </a:xfrm>
          <a:prstGeom prst="rect">
            <a:avLst/>
          </a:prstGeom>
        </p:spPr>
      </p:pic>
      <p:sp>
        <p:nvSpPr>
          <p:cNvPr id="2" name="Oval 1" descr="Your startup LOGO">
            <a:extLst>
              <a:ext uri="{FF2B5EF4-FFF2-40B4-BE49-F238E27FC236}">
                <a16:creationId xmlns:a16="http://schemas.microsoft.com/office/drawing/2014/main" id="{E0A67830-4443-0A20-2A44-8CF48C2C8CFD}"/>
              </a:ext>
              <a:ext uri="{C183D7F6-B498-43B3-948B-1728B52AA6E4}">
                <adec:decorative xmlns:adec="http://schemas.microsoft.com/office/drawing/2017/decorative" val="0"/>
              </a:ext>
            </a:extLst>
          </p:cNvPr>
          <p:cNvSpPr/>
          <p:nvPr/>
        </p:nvSpPr>
        <p:spPr>
          <a:xfrm>
            <a:off x="274320" y="196924"/>
            <a:ext cx="1902611" cy="322631"/>
          </a:xfrm>
          <a:prstGeom prst="ellipse">
            <a:avLst/>
          </a:prstGeom>
        </p:spPr>
        <p:style>
          <a:lnRef idx="2">
            <a:schemeClr val="accent4"/>
          </a:lnRef>
          <a:fillRef idx="1">
            <a:schemeClr val="lt1"/>
          </a:fillRef>
          <a:effectRef idx="0">
            <a:schemeClr val="accent4"/>
          </a:effectRef>
          <a:fontRef idx="minor">
            <a:schemeClr val="dk1"/>
          </a:fontRef>
        </p:style>
        <p:txBody>
          <a:bodyPr lIns="91440" tIns="45720" rIns="91440" bIns="45720" rtlCol="0" anchor="ctr"/>
          <a:lstStyle/>
          <a:p>
            <a:pPr algn="ctr"/>
            <a:r>
              <a:rPr dirty="0"/>
              <a:t>Learnova</a:t>
            </a:r>
            <a:endParaRPr lang="en-US" dirty="0">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32B89-2369-2FCC-6745-DEE87F238A4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738C0BA-5070-93C5-414C-1B9E7624DEA6}"/>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a:solidFill>
                <a:schemeClr val="accent2">
                  <a:lumMod val="75000"/>
                </a:schemeClr>
              </a:solidFill>
              <a:latin typeface="+mn-lt"/>
              <a:ea typeface="+mn-ea"/>
            </a:endParaRPr>
          </a:p>
        </p:txBody>
      </p:sp>
      <p:sp>
        <p:nvSpPr>
          <p:cNvPr id="17409" name="Title 1">
            <a:extLst>
              <a:ext uri="{FF2B5EF4-FFF2-40B4-BE49-F238E27FC236}">
                <a16:creationId xmlns:a16="http://schemas.microsoft.com/office/drawing/2014/main" id="{279AAA37-CB74-B25D-64AE-53B3F8C63496}"/>
              </a:ext>
            </a:extLst>
          </p:cNvPr>
          <p:cNvSpPr>
            <a:spLocks noGrp="1"/>
          </p:cNvSpPr>
          <p:nvPr>
            <p:ph type="title"/>
          </p:nvPr>
        </p:nvSpPr>
        <p:spPr>
          <a:xfrm>
            <a:off x="609600" y="-182662"/>
            <a:ext cx="10972800" cy="843988"/>
          </a:xfrm>
        </p:spPr>
        <p:txBody>
          <a:bodyPr/>
          <a:lstStyle/>
          <a:p>
            <a:pPr eaLnBrk="1" hangingPunct="1"/>
            <a:r>
              <a:rPr lang="en-US" sz="3600" b="1">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a:extLst>
              <a:ext uri="{FF2B5EF4-FFF2-40B4-BE49-F238E27FC236}">
                <a16:creationId xmlns:a16="http://schemas.microsoft.com/office/drawing/2014/main" id="{43DA03A7-2539-4A2D-F71A-F5F37F5DABF5}"/>
              </a:ext>
            </a:extLst>
          </p:cNvPr>
          <p:cNvSpPr>
            <a:spLocks noGrp="1"/>
          </p:cNvSpPr>
          <p:nvPr>
            <p:ph type="sldNum" sz="quarter" idx="12"/>
          </p:nvPr>
        </p:nvSpPr>
        <p:spPr/>
        <p:txBody>
          <a:bodyPr/>
          <a:lstStyle/>
          <a:p>
            <a:fld id="{677C3CE7-23F7-4828-823C-E0205DF2CF97}" type="slidenum">
              <a:rPr lang="en-US" b="1">
                <a:solidFill>
                  <a:schemeClr val="bg1"/>
                </a:solidFill>
              </a:rPr>
              <a:pPr/>
              <a:t>3</a:t>
            </a:fld>
            <a:endParaRPr lang="en-US" b="1">
              <a:solidFill>
                <a:schemeClr val="bg1"/>
              </a:solidFill>
            </a:endParaRPr>
          </a:p>
        </p:txBody>
      </p:sp>
      <p:sp>
        <p:nvSpPr>
          <p:cNvPr id="7" name="Footer Placeholder 6">
            <a:extLst>
              <a:ext uri="{FF2B5EF4-FFF2-40B4-BE49-F238E27FC236}">
                <a16:creationId xmlns:a16="http://schemas.microsoft.com/office/drawing/2014/main" id="{292AC042-6453-70B0-5DB4-7181492D3A65}"/>
              </a:ext>
            </a:extLst>
          </p:cNvPr>
          <p:cNvSpPr>
            <a:spLocks noGrp="1"/>
          </p:cNvSpPr>
          <p:nvPr>
            <p:ph type="ftr" sz="quarter" idx="11"/>
          </p:nvPr>
        </p:nvSpPr>
        <p:spPr>
          <a:xfrm>
            <a:off x="4648200" y="6356353"/>
            <a:ext cx="3204000" cy="365125"/>
          </a:xfrm>
        </p:spPr>
        <p:txBody>
          <a:bodyPr/>
          <a:lstStyle/>
          <a:p>
            <a:pPr>
              <a:defRPr/>
            </a:pPr>
            <a:r>
              <a:rPr lang="en-US">
                <a:solidFill>
                  <a:schemeClr val="bg1"/>
                </a:solidFill>
              </a:rPr>
              <a:t>IPD Review · Learnova · AI&amp;DS DJSCE</a:t>
            </a:r>
          </a:p>
        </p:txBody>
      </p:sp>
      <p:sp>
        <p:nvSpPr>
          <p:cNvPr id="11" name="Oval 10" descr="Your startup LOGO">
            <a:extLst>
              <a:ext uri="{FF2B5EF4-FFF2-40B4-BE49-F238E27FC236}">
                <a16:creationId xmlns:a16="http://schemas.microsoft.com/office/drawing/2014/main" id="{50E2A979-97FD-F669-DD46-B7D2FBB1E868}"/>
              </a:ext>
              <a:ext uri="{C183D7F6-B498-43B3-948B-1728B52AA6E4}">
                <adec:decorative xmlns:adec="http://schemas.microsoft.com/office/drawing/2017/decorative" val="0"/>
              </a:ext>
            </a:extLst>
          </p:cNvPr>
          <p:cNvSpPr/>
          <p:nvPr/>
        </p:nvSpPr>
        <p:spPr>
          <a:xfrm>
            <a:off x="274320" y="196924"/>
            <a:ext cx="1902611" cy="322631"/>
          </a:xfrm>
          <a:prstGeom prst="ellipse">
            <a:avLst/>
          </a:prstGeom>
        </p:spPr>
        <p:style>
          <a:lnRef idx="2">
            <a:schemeClr val="accent4"/>
          </a:lnRef>
          <a:fillRef idx="1">
            <a:schemeClr val="lt1"/>
          </a:fillRef>
          <a:effectRef idx="0">
            <a:schemeClr val="accent4"/>
          </a:effectRef>
          <a:fontRef idx="minor">
            <a:schemeClr val="dk1"/>
          </a:fontRef>
        </p:style>
        <p:txBody>
          <a:bodyPr lIns="91440" tIns="45720" rIns="91440" bIns="45720" rtlCol="0" anchor="ctr"/>
          <a:lstStyle/>
          <a:p>
            <a:pPr algn="ctr"/>
            <a:r>
              <a:rPr dirty="0"/>
              <a:t>Learnova</a:t>
            </a:r>
            <a:endParaRPr lang="en-US" dirty="0">
              <a:ea typeface="Calibri"/>
              <a:cs typeface="Calibri"/>
            </a:endParaRPr>
          </a:p>
        </p:txBody>
      </p:sp>
      <p:sp>
        <p:nvSpPr>
          <p:cNvPr id="2" name="Rounded Rectangle 1">
            <a:extLst>
              <a:ext uri="{FF2B5EF4-FFF2-40B4-BE49-F238E27FC236}">
                <a16:creationId xmlns:a16="http://schemas.microsoft.com/office/drawing/2014/main" id="{B556EEB2-E1A5-DC6A-FB57-902562A74225}"/>
              </a:ext>
            </a:extLst>
          </p:cNvPr>
          <p:cNvSpPr/>
          <p:nvPr/>
        </p:nvSpPr>
        <p:spPr>
          <a:xfrm>
            <a:off x="158573" y="663230"/>
            <a:ext cx="8092440" cy="329184"/>
          </a:xfrm>
          <a:prstGeom prst="roundRect">
            <a:avLst>
              <a:gd name="adj" fmla="val 25000"/>
            </a:avLst>
          </a:prstGeom>
          <a:solidFill>
            <a:srgbClr val="2E9E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lnSpc>
                <a:spcPct val="100000"/>
              </a:lnSpc>
              <a:spcAft>
                <a:spcPts val="0"/>
              </a:spcAft>
            </a:pPr>
            <a:r>
              <a:rPr sz="1300" b="1">
                <a:solidFill>
                  <a:srgbClr val="FFFFFF"/>
                </a:solidFill>
                <a:latin typeface="Arial"/>
              </a:rPr>
              <a:t>System architecture and technology stack</a:t>
            </a:r>
          </a:p>
        </p:txBody>
      </p:sp>
      <p:sp>
        <p:nvSpPr>
          <p:cNvPr id="5" name="Rounded Rectangle 4">
            <a:extLst>
              <a:ext uri="{FF2B5EF4-FFF2-40B4-BE49-F238E27FC236}">
                <a16:creationId xmlns:a16="http://schemas.microsoft.com/office/drawing/2014/main" id="{93CD4A75-4478-41D2-BAD9-E7A0F7E4BC8A}"/>
              </a:ext>
            </a:extLst>
          </p:cNvPr>
          <p:cNvSpPr/>
          <p:nvPr/>
        </p:nvSpPr>
        <p:spPr>
          <a:xfrm>
            <a:off x="8503920" y="1097280"/>
            <a:ext cx="3410712" cy="329184"/>
          </a:xfrm>
          <a:prstGeom prst="roundRect">
            <a:avLst>
              <a:gd name="adj" fmla="val 25000"/>
            </a:avLst>
          </a:prstGeom>
          <a:solidFill>
            <a:srgbClr val="0B6DC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lnSpc>
                <a:spcPct val="100000"/>
              </a:lnSpc>
              <a:spcAft>
                <a:spcPts val="0"/>
              </a:spcAft>
            </a:pPr>
            <a:r>
              <a:rPr sz="1300" b="1">
                <a:solidFill>
                  <a:srgbClr val="FFFFFF"/>
                </a:solidFill>
                <a:latin typeface="Arial"/>
              </a:rPr>
              <a:t>Technologies to be used</a:t>
            </a:r>
          </a:p>
        </p:txBody>
      </p:sp>
      <p:sp>
        <p:nvSpPr>
          <p:cNvPr id="9" name="TextBox 8">
            <a:extLst>
              <a:ext uri="{FF2B5EF4-FFF2-40B4-BE49-F238E27FC236}">
                <a16:creationId xmlns:a16="http://schemas.microsoft.com/office/drawing/2014/main" id="{7AE6D803-F27A-DFF5-1175-4CE35C2B7AE2}"/>
              </a:ext>
            </a:extLst>
          </p:cNvPr>
          <p:cNvSpPr txBox="1"/>
          <p:nvPr/>
        </p:nvSpPr>
        <p:spPr>
          <a:xfrm>
            <a:off x="8503920" y="2615184"/>
            <a:ext cx="3410712" cy="2432304"/>
          </a:xfrm>
          <a:prstGeom prst="rect">
            <a:avLst/>
          </a:prstGeom>
          <a:noFill/>
        </p:spPr>
        <p:txBody>
          <a:bodyPr wrap="square" lIns="54864" tIns="27432" rIns="54864" bIns="27432" anchor="t">
            <a:spAutoFit/>
          </a:bodyPr>
          <a:lstStyle/>
          <a:p>
            <a:pPr algn="just">
              <a:lnSpc>
                <a:spcPct val="100000"/>
              </a:lnSpc>
              <a:spcAft>
                <a:spcPts val="500"/>
              </a:spcAft>
            </a:pPr>
            <a:r>
              <a:rPr sz="1050" b="1" dirty="0">
                <a:solidFill>
                  <a:srgbClr val="0B2545"/>
                </a:solidFill>
                <a:latin typeface="Arial"/>
              </a:rPr>
              <a:t>Frontend: </a:t>
            </a:r>
            <a:r>
              <a:rPr sz="1050" b="0" dirty="0">
                <a:solidFill>
                  <a:srgbClr val="222222"/>
                </a:solidFill>
                <a:latin typeface="Arial"/>
              </a:rPr>
              <a:t>React 18 · Vite · Tailwind CSS · Reveal.js web deck · PWA</a:t>
            </a:r>
            <a:endParaRPr sz="1050" b="0" dirty="0">
              <a:solidFill>
                <a:srgbClr val="222222"/>
              </a:solidFill>
              <a:latin typeface="Arial"/>
            </a:endParaRPr>
          </a:p>
          <a:p>
            <a:pPr algn="just">
              <a:lnSpc>
                <a:spcPct val="100000"/>
              </a:lnSpc>
              <a:spcAft>
                <a:spcPts val="500"/>
              </a:spcAft>
            </a:pPr>
            <a:r>
              <a:rPr sz="1050" b="1" dirty="0">
                <a:solidFill>
                  <a:srgbClr val="0B2545"/>
                </a:solidFill>
                <a:latin typeface="Arial"/>
              </a:rPr>
              <a:t>Backend: </a:t>
            </a:r>
            <a:r>
              <a:rPr sz="1050" b="0" dirty="0">
                <a:solidFill>
                  <a:srgbClr val="222222"/>
                </a:solidFill>
                <a:latin typeface="Arial"/>
              </a:rPr>
              <a:t>Python 3.12 · FastAPI · Pydantic · job queue · SQLite · OTP auth</a:t>
            </a:r>
            <a:endParaRPr sz="1050" b="0" dirty="0">
              <a:solidFill>
                <a:srgbClr val="222222"/>
              </a:solidFill>
              <a:latin typeface="Arial"/>
            </a:endParaRPr>
          </a:p>
          <a:p>
            <a:pPr algn="just">
              <a:lnSpc>
                <a:spcPct val="100000"/>
              </a:lnSpc>
              <a:spcAft>
                <a:spcPts val="500"/>
              </a:spcAft>
            </a:pPr>
            <a:r>
              <a:rPr sz="1050" b="1" dirty="0">
                <a:solidFill>
                  <a:srgbClr val="0B2545"/>
                </a:solidFill>
                <a:latin typeface="Arial"/>
              </a:rPr>
              <a:t>Documents: </a:t>
            </a:r>
            <a:r>
              <a:rPr sz="1050" b="0" dirty="0">
                <a:solidFill>
                  <a:srgbClr val="222222"/>
                </a:solidFill>
                <a:latin typeface="Arial"/>
              </a:rPr>
              <a:t>python-pptx · PyMuPDF · LibreOffice · python-docx · Tesseract OCR</a:t>
            </a:r>
          </a:p>
          <a:p>
            <a:pPr algn="just">
              <a:lnSpc>
                <a:spcPct val="100000"/>
              </a:lnSpc>
              <a:spcAft>
                <a:spcPts val="500"/>
              </a:spcAft>
            </a:pPr>
            <a:r>
              <a:rPr sz="1050" b="1" dirty="0">
                <a:solidFill>
                  <a:srgbClr val="0B2545"/>
                </a:solidFill>
                <a:latin typeface="Arial"/>
              </a:rPr>
              <a:t>AI / NLP: </a:t>
            </a:r>
            <a:r>
              <a:rPr sz="1050" b="1" dirty="0" err="1">
                <a:solidFill>
                  <a:srgbClr val="0B2545"/>
                </a:solidFill>
                <a:latin typeface="Arial"/>
              </a:rPr>
              <a:t>Gemini (5-key pool) · Groq · NVIDIA NIM via failover router</a:t>
            </a:r>
            <a:endParaRPr sz="1050" b="0" dirty="0">
              <a:solidFill>
                <a:srgbClr val="222222"/>
              </a:solidFill>
              <a:latin typeface="Arial"/>
            </a:endParaRPr>
          </a:p>
          <a:p>
            <a:pPr algn="just">
              <a:lnSpc>
                <a:spcPct val="100000"/>
              </a:lnSpc>
              <a:spcAft>
                <a:spcPts val="500"/>
              </a:spcAft>
            </a:pPr>
            <a:r>
              <a:rPr sz="1050" b="1" dirty="0">
                <a:solidFill>
                  <a:srgbClr val="0B2545"/>
                </a:solidFill>
                <a:latin typeface="Arial"/>
              </a:rPr>
              <a:t>Maths &amp; labs: </a:t>
            </a:r>
            <a:r>
              <a:rPr sz="1050" b="0" dirty="0">
                <a:solidFill>
                  <a:srgbClr val="222222"/>
                </a:solidFill>
                <a:latin typeface="Arial"/>
              </a:rPr>
              <a:t>SymPy exact solvers · JavaScript lab engine · SVG</a:t>
            </a:r>
            <a:endParaRPr sz="1050" b="0" dirty="0">
              <a:solidFill>
                <a:srgbClr val="222222"/>
              </a:solidFill>
              <a:latin typeface="Arial"/>
            </a:endParaRPr>
          </a:p>
          <a:p>
            <a:pPr algn="just">
              <a:lnSpc>
                <a:spcPct val="100000"/>
              </a:lnSpc>
              <a:spcAft>
                <a:spcPts val="500"/>
              </a:spcAft>
            </a:pPr>
            <a:r>
              <a:rPr sz="1050" b="1" dirty="0">
                <a:solidFill>
                  <a:srgbClr val="0B2545"/>
                </a:solidFill>
                <a:latin typeface="Arial"/>
              </a:rPr>
              <a:t>Quality &amp; DevOps: </a:t>
            </a:r>
            <a:r>
              <a:rPr sz="1050" b="0" dirty="0">
                <a:solidFill>
                  <a:srgbClr val="222222"/>
                </a:solidFill>
                <a:latin typeface="Arial"/>
              </a:rPr>
              <a:t>pytest (774 tests) · layout audit · GitHub · Docker</a:t>
            </a:r>
            <a:endParaRPr sz="1050" b="0" dirty="0">
              <a:solidFill>
                <a:srgbClr val="222222"/>
              </a:solidFill>
              <a:latin typeface="Arial"/>
            </a:endParaRPr>
          </a:p>
        </p:txBody>
      </p:sp>
      <p:sp>
        <p:nvSpPr>
          <p:cNvPr id="13" name="Pentagon 12">
            <a:extLst>
              <a:ext uri="{FF2B5EF4-FFF2-40B4-BE49-F238E27FC236}">
                <a16:creationId xmlns:a16="http://schemas.microsoft.com/office/drawing/2014/main" id="{1BF317FF-0F0F-DD1D-CB2F-1F1BC16CD803}"/>
              </a:ext>
            </a:extLst>
          </p:cNvPr>
          <p:cNvSpPr/>
          <p:nvPr/>
        </p:nvSpPr>
        <p:spPr>
          <a:xfrm>
            <a:off x="274320" y="5175504"/>
            <a:ext cx="1975104" cy="274320"/>
          </a:xfrm>
          <a:prstGeom prst="homePlate">
            <a:avLst>
              <a:gd name="adj" fmla="val 30000"/>
            </a:avLst>
          </a:prstGeom>
          <a:solidFill>
            <a:srgbClr val="13A89E"/>
          </a:solidFill>
          <a:ln>
            <a:noFill/>
          </a:ln>
          <a:effectLst/>
        </p:spPr>
        <p:style>
          <a:lnRef idx="1">
            <a:schemeClr val="accent1"/>
          </a:lnRef>
          <a:fillRef idx="3">
            <a:schemeClr val="accent1"/>
          </a:fillRef>
          <a:effectRef idx="2">
            <a:schemeClr val="accent1"/>
          </a:effectRef>
          <a:fontRef idx="minor">
            <a:schemeClr val="lt1"/>
          </a:fontRef>
        </p:style>
        <p:txBody>
          <a:bodyPr wrap="square" tIns="0" rIns="137160" bIns="0" rtlCol="0" anchor="ctr"/>
          <a:lstStyle/>
          <a:p>
            <a:pPr algn="l">
              <a:lnSpc>
                <a:spcPct val="100000"/>
              </a:lnSpc>
              <a:spcAft>
                <a:spcPts val="0"/>
              </a:spcAft>
            </a:pPr>
            <a:r>
              <a:rPr sz="1150" b="1">
                <a:solidFill>
                  <a:srgbClr val="FFFFFF"/>
                </a:solidFill>
                <a:latin typeface="Arial"/>
              </a:rPr>
              <a:t>Data and storage</a:t>
            </a:r>
          </a:p>
        </p:txBody>
      </p:sp>
      <p:sp>
        <p:nvSpPr>
          <p:cNvPr id="15" name="TextBox 14">
            <a:extLst>
              <a:ext uri="{FF2B5EF4-FFF2-40B4-BE49-F238E27FC236}">
                <a16:creationId xmlns:a16="http://schemas.microsoft.com/office/drawing/2014/main" id="{916DF4BF-E730-9C9A-8B37-B4C88ADA09C6}"/>
              </a:ext>
            </a:extLst>
          </p:cNvPr>
          <p:cNvSpPr txBox="1"/>
          <p:nvPr/>
        </p:nvSpPr>
        <p:spPr>
          <a:xfrm>
            <a:off x="274320" y="5468112"/>
            <a:ext cx="1929384" cy="777240"/>
          </a:xfrm>
          <a:prstGeom prst="rect">
            <a:avLst/>
          </a:prstGeom>
          <a:noFill/>
        </p:spPr>
        <p:txBody>
          <a:bodyPr wrap="square" lIns="54864" tIns="18288" rIns="36576" bIns="0" anchor="t">
            <a:spAutoFit/>
          </a:bodyPr>
          <a:lstStyle/>
          <a:p>
            <a:pPr algn="l">
              <a:lnSpc>
                <a:spcPct val="100000"/>
              </a:lnSpc>
              <a:spcAft>
                <a:spcPts val="0"/>
              </a:spcAft>
            </a:pPr>
            <a:r>
              <a:rPr sz="1050" b="0">
                <a:solidFill>
                  <a:srgbClr val="222222"/>
                </a:solidFill>
                <a:latin typeface="Arial"/>
              </a:rPr>
              <a:t>SQLite for users, decks and jobs; content-hash caches for PDFs, diagrams and labs</a:t>
            </a:r>
          </a:p>
        </p:txBody>
      </p:sp>
      <p:sp>
        <p:nvSpPr>
          <p:cNvPr id="16" name="Pentagon 15">
            <a:extLst>
              <a:ext uri="{FF2B5EF4-FFF2-40B4-BE49-F238E27FC236}">
                <a16:creationId xmlns:a16="http://schemas.microsoft.com/office/drawing/2014/main" id="{0DA3D604-1B35-DEFE-F8F0-E0002648A670}"/>
              </a:ext>
            </a:extLst>
          </p:cNvPr>
          <p:cNvSpPr/>
          <p:nvPr/>
        </p:nvSpPr>
        <p:spPr>
          <a:xfrm>
            <a:off x="2276856" y="5175504"/>
            <a:ext cx="1975104" cy="274320"/>
          </a:xfrm>
          <a:prstGeom prst="homePlate">
            <a:avLst>
              <a:gd name="adj" fmla="val 30000"/>
            </a:avLst>
          </a:prstGeom>
          <a:solidFill>
            <a:srgbClr val="0B6DC0"/>
          </a:solidFill>
          <a:ln>
            <a:noFill/>
          </a:ln>
          <a:effectLst/>
        </p:spPr>
        <p:style>
          <a:lnRef idx="1">
            <a:schemeClr val="accent1"/>
          </a:lnRef>
          <a:fillRef idx="3">
            <a:schemeClr val="accent1"/>
          </a:fillRef>
          <a:effectRef idx="2">
            <a:schemeClr val="accent1"/>
          </a:effectRef>
          <a:fontRef idx="minor">
            <a:schemeClr val="lt1"/>
          </a:fontRef>
        </p:style>
        <p:txBody>
          <a:bodyPr wrap="square" tIns="0" rIns="137160" bIns="0" rtlCol="0" anchor="ctr"/>
          <a:lstStyle/>
          <a:p>
            <a:pPr algn="l">
              <a:lnSpc>
                <a:spcPct val="100000"/>
              </a:lnSpc>
              <a:spcAft>
                <a:spcPts val="0"/>
              </a:spcAft>
            </a:pPr>
            <a:r>
              <a:rPr sz="1150" b="1">
                <a:solidFill>
                  <a:srgbClr val="FFFFFF"/>
                </a:solidFill>
                <a:latin typeface="Arial"/>
              </a:rPr>
              <a:t>API and jobs</a:t>
            </a:r>
          </a:p>
        </p:txBody>
      </p:sp>
      <p:sp>
        <p:nvSpPr>
          <p:cNvPr id="17" name="TextBox 16">
            <a:extLst>
              <a:ext uri="{FF2B5EF4-FFF2-40B4-BE49-F238E27FC236}">
                <a16:creationId xmlns:a16="http://schemas.microsoft.com/office/drawing/2014/main" id="{035E210F-93BC-1EA3-642D-BE5B36D80F3F}"/>
              </a:ext>
            </a:extLst>
          </p:cNvPr>
          <p:cNvSpPr txBox="1"/>
          <p:nvPr/>
        </p:nvSpPr>
        <p:spPr>
          <a:xfrm>
            <a:off x="2276856" y="5468112"/>
            <a:ext cx="1929384" cy="777240"/>
          </a:xfrm>
          <a:prstGeom prst="rect">
            <a:avLst/>
          </a:prstGeom>
          <a:noFill/>
        </p:spPr>
        <p:txBody>
          <a:bodyPr wrap="square" lIns="54864" tIns="18288" rIns="36576" bIns="0" anchor="t">
            <a:spAutoFit/>
          </a:bodyPr>
          <a:lstStyle/>
          <a:p>
            <a:pPr algn="l">
              <a:lnSpc>
                <a:spcPct val="100000"/>
              </a:lnSpc>
              <a:spcAft>
                <a:spcPts val="0"/>
              </a:spcAft>
            </a:pPr>
            <a:r>
              <a:rPr sz="1050" b="0">
                <a:solidFill>
                  <a:srgbClr val="222222"/>
                </a:solidFill>
                <a:latin typeface="Arial"/>
              </a:rPr>
              <a:t>FastAPI with about 70 REST routes, background job queue, live progress, OpenAPI docs</a:t>
            </a:r>
          </a:p>
        </p:txBody>
      </p:sp>
      <p:sp>
        <p:nvSpPr>
          <p:cNvPr id="18" name="Pentagon 17">
            <a:extLst>
              <a:ext uri="{FF2B5EF4-FFF2-40B4-BE49-F238E27FC236}">
                <a16:creationId xmlns:a16="http://schemas.microsoft.com/office/drawing/2014/main" id="{330C2298-1E5B-5D2C-4F71-0D0E2FAB7948}"/>
              </a:ext>
            </a:extLst>
          </p:cNvPr>
          <p:cNvSpPr/>
          <p:nvPr/>
        </p:nvSpPr>
        <p:spPr>
          <a:xfrm>
            <a:off x="4279392" y="5175504"/>
            <a:ext cx="1975104" cy="274320"/>
          </a:xfrm>
          <a:prstGeom prst="homePlate">
            <a:avLst>
              <a:gd name="adj" fmla="val 30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wrap="square" tIns="0" rIns="137160" bIns="0" rtlCol="0" anchor="ctr"/>
          <a:lstStyle/>
          <a:p>
            <a:pPr algn="l">
              <a:lnSpc>
                <a:spcPct val="100000"/>
              </a:lnSpc>
              <a:spcAft>
                <a:spcPts val="0"/>
              </a:spcAft>
            </a:pPr>
            <a:r>
              <a:rPr sz="1150" b="1">
                <a:solidFill>
                  <a:srgbClr val="FFFFFF"/>
                </a:solidFill>
                <a:latin typeface="Arial"/>
              </a:rPr>
              <a:t>Security</a:t>
            </a:r>
          </a:p>
        </p:txBody>
      </p:sp>
      <p:sp>
        <p:nvSpPr>
          <p:cNvPr id="19" name="TextBox 18">
            <a:extLst>
              <a:ext uri="{FF2B5EF4-FFF2-40B4-BE49-F238E27FC236}">
                <a16:creationId xmlns:a16="http://schemas.microsoft.com/office/drawing/2014/main" id="{16B285B8-1445-A2F0-3BC3-35AD2646A35C}"/>
              </a:ext>
            </a:extLst>
          </p:cNvPr>
          <p:cNvSpPr txBox="1"/>
          <p:nvPr/>
        </p:nvSpPr>
        <p:spPr>
          <a:xfrm>
            <a:off x="4279392" y="5468112"/>
            <a:ext cx="1929384" cy="777240"/>
          </a:xfrm>
          <a:prstGeom prst="rect">
            <a:avLst/>
          </a:prstGeom>
          <a:noFill/>
        </p:spPr>
        <p:txBody>
          <a:bodyPr wrap="square" lIns="54864" tIns="18288" rIns="36576" bIns="0" anchor="t">
            <a:spAutoFit/>
          </a:bodyPr>
          <a:lstStyle/>
          <a:p>
            <a:pPr algn="l">
              <a:lnSpc>
                <a:spcPct val="100000"/>
              </a:lnSpc>
              <a:spcAft>
                <a:spcPts val="0"/>
              </a:spcAft>
            </a:pPr>
            <a:r>
              <a:rPr sz="1050" b="0">
                <a:solidFill>
                  <a:srgbClr val="222222"/>
                </a:solidFill>
                <a:latin typeface="Arial"/>
              </a:rPr>
              <a:t>OTP e-mail sign-in, hashed codes, rate limits, SVG sanitiser, lab-code gate</a:t>
            </a:r>
          </a:p>
        </p:txBody>
      </p:sp>
      <p:sp>
        <p:nvSpPr>
          <p:cNvPr id="20" name="Pentagon 19">
            <a:extLst>
              <a:ext uri="{FF2B5EF4-FFF2-40B4-BE49-F238E27FC236}">
                <a16:creationId xmlns:a16="http://schemas.microsoft.com/office/drawing/2014/main" id="{FCE9A398-EF94-6BCD-0C61-6BCED401CAF7}"/>
              </a:ext>
            </a:extLst>
          </p:cNvPr>
          <p:cNvSpPr/>
          <p:nvPr/>
        </p:nvSpPr>
        <p:spPr>
          <a:xfrm>
            <a:off x="6281928" y="5175504"/>
            <a:ext cx="1975104" cy="274320"/>
          </a:xfrm>
          <a:prstGeom prst="homePlate">
            <a:avLst>
              <a:gd name="adj" fmla="val 30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tIns="0" rIns="137160" bIns="0" rtlCol="0" anchor="ctr"/>
          <a:lstStyle/>
          <a:p>
            <a:pPr algn="l">
              <a:lnSpc>
                <a:spcPct val="100000"/>
              </a:lnSpc>
              <a:spcAft>
                <a:spcPts val="0"/>
              </a:spcAft>
            </a:pPr>
            <a:r>
              <a:rPr sz="1150" b="1">
                <a:solidFill>
                  <a:srgbClr val="FFFFFF"/>
                </a:solidFill>
                <a:latin typeface="Arial"/>
              </a:rPr>
              <a:t>Deploy and test</a:t>
            </a:r>
          </a:p>
        </p:txBody>
      </p:sp>
      <p:sp>
        <p:nvSpPr>
          <p:cNvPr id="21" name="TextBox 20">
            <a:extLst>
              <a:ext uri="{FF2B5EF4-FFF2-40B4-BE49-F238E27FC236}">
                <a16:creationId xmlns:a16="http://schemas.microsoft.com/office/drawing/2014/main" id="{6CA1DCA8-5F5D-4CF1-CFB3-49B8D90CC53A}"/>
              </a:ext>
            </a:extLst>
          </p:cNvPr>
          <p:cNvSpPr txBox="1"/>
          <p:nvPr/>
        </p:nvSpPr>
        <p:spPr>
          <a:xfrm>
            <a:off x="6281928" y="5468112"/>
            <a:ext cx="1929384" cy="777240"/>
          </a:xfrm>
          <a:prstGeom prst="rect">
            <a:avLst/>
          </a:prstGeom>
          <a:noFill/>
        </p:spPr>
        <p:txBody>
          <a:bodyPr wrap="square" lIns="54864" tIns="18288" rIns="36576" bIns="0" anchor="t">
            <a:spAutoFit/>
          </a:bodyPr>
          <a:lstStyle/>
          <a:p>
            <a:pPr algn="l">
              <a:lnSpc>
                <a:spcPct val="100000"/>
              </a:lnSpc>
              <a:spcAft>
                <a:spcPts val="0"/>
              </a:spcAft>
            </a:pPr>
            <a:r>
              <a:rPr sz="1050" b="0">
                <a:solidFill>
                  <a:srgbClr val="222222"/>
                </a:solidFill>
                <a:latin typeface="Arial"/>
              </a:rPr>
              <a:t>One laptop or server; Vercel-ready front end; 774 pytest tests on GitHub</a:t>
            </a:r>
          </a:p>
        </p:txBody>
      </p:sp>
      <p:sp>
        <p:nvSpPr>
          <p:cNvPr id="22" name="TextBox 21">
            <a:extLst>
              <a:ext uri="{FF2B5EF4-FFF2-40B4-BE49-F238E27FC236}">
                <a16:creationId xmlns:a16="http://schemas.microsoft.com/office/drawing/2014/main" id="{F6AAF57D-EEEB-463F-8C77-4CFA04477160}"/>
              </a:ext>
            </a:extLst>
          </p:cNvPr>
          <p:cNvSpPr txBox="1"/>
          <p:nvPr/>
        </p:nvSpPr>
        <p:spPr>
          <a:xfrm>
            <a:off x="8503920" y="5120640"/>
            <a:ext cx="3410712" cy="219456"/>
          </a:xfrm>
          <a:prstGeom prst="rect">
            <a:avLst/>
          </a:prstGeom>
          <a:noFill/>
        </p:spPr>
        <p:txBody>
          <a:bodyPr wrap="square" lIns="18288" tIns="0" rIns="18288" bIns="0" anchor="t">
            <a:spAutoFit/>
          </a:bodyPr>
          <a:lstStyle/>
          <a:p>
            <a:pPr algn="l">
              <a:lnSpc>
                <a:spcPct val="100000"/>
              </a:lnSpc>
              <a:spcAft>
                <a:spcPts val="0"/>
              </a:spcAft>
            </a:pPr>
            <a:r>
              <a:rPr sz="1000" b="1">
                <a:solidFill>
                  <a:srgbClr val="13A89E"/>
                </a:solidFill>
                <a:latin typeface="Arial"/>
              </a:rPr>
              <a:t>WORKING PROTOTYPE · real screens from Learnova</a:t>
            </a:r>
          </a:p>
        </p:txBody>
      </p:sp>
      <p:pic>
        <p:nvPicPr>
          <p:cNvPr id="17602" name="Picture 17601" descr="image.jpg"/>
          <p:cNvPicPr>
            <a:picLocks noChangeAspect="1"/>
          </p:cNvPicPr>
          <p:nvPr/>
        </p:nvPicPr>
        <p:blipFill>
          <a:blip r:embed="rId40"/>
          <a:stretch>
            <a:fillRect/>
          </a:stretch>
        </p:blipFill>
        <p:spPr>
          <a:xfrm>
            <a:off x="8600227" y="5358384"/>
            <a:ext cx="895522" cy="671642"/>
          </a:xfrm>
          <a:prstGeom prst="rect">
            <a:avLst/>
          </a:prstGeom>
        </p:spPr>
      </p:pic>
      <p:pic>
        <p:nvPicPr>
          <p:cNvPr id="17603" name="Picture 17602" descr="image.png"/>
          <p:cNvPicPr>
            <a:picLocks noChangeAspect="1"/>
          </p:cNvPicPr>
          <p:nvPr/>
        </p:nvPicPr>
        <p:blipFill>
          <a:blip r:embed="rId41"/>
          <a:stretch>
            <a:fillRect/>
          </a:stretch>
        </p:blipFill>
        <p:spPr>
          <a:xfrm>
            <a:off x="9665208" y="5388167"/>
            <a:ext cx="1088136" cy="612076"/>
          </a:xfrm>
          <a:prstGeom prst="rect">
            <a:avLst/>
          </a:prstGeom>
        </p:spPr>
      </p:pic>
      <p:pic>
        <p:nvPicPr>
          <p:cNvPr id="17604" name="Picture 17603" descr="image.jpg"/>
          <p:cNvPicPr>
            <a:picLocks noChangeAspect="1"/>
          </p:cNvPicPr>
          <p:nvPr/>
        </p:nvPicPr>
        <p:blipFill>
          <a:blip r:embed="rId42"/>
          <a:stretch>
            <a:fillRect/>
          </a:stretch>
        </p:blipFill>
        <p:spPr>
          <a:xfrm>
            <a:off x="10922803" y="5358384"/>
            <a:ext cx="895522" cy="671642"/>
          </a:xfrm>
          <a:prstGeom prst="rect">
            <a:avLst/>
          </a:prstGeom>
        </p:spPr>
      </p:pic>
      <p:sp>
        <p:nvSpPr>
          <p:cNvPr id="17410" name="Rounded Rectangle 17409"/>
          <p:cNvSpPr/>
          <p:nvPr/>
        </p:nvSpPr>
        <p:spPr>
          <a:xfrm>
            <a:off x="204293" y="1008696"/>
            <a:ext cx="1554480" cy="4114800"/>
          </a:xfrm>
          <a:prstGeom prst="roundRect">
            <a:avLst>
              <a:gd name="adj" fmla="val 4000"/>
            </a:avLst>
          </a:prstGeom>
          <a:solidFill>
            <a:srgbClr val="F7F8FB"/>
          </a:solidFill>
          <a:ln w="9525">
            <a:solidFill>
              <a:srgbClr val="1F5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1" name="Rounded Rectangle 17410"/>
          <p:cNvSpPr/>
          <p:nvPr/>
        </p:nvSpPr>
        <p:spPr>
          <a:xfrm>
            <a:off x="387173" y="953831"/>
            <a:ext cx="1188719" cy="219456"/>
          </a:xfrm>
          <a:prstGeom prst="roundRect">
            <a:avLst>
              <a:gd name="adj" fmla="val 50000"/>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TextBox 17411"/>
          <p:cNvSpPr txBox="1"/>
          <p:nvPr/>
        </p:nvSpPr>
        <p:spPr>
          <a:xfrm>
            <a:off x="387173" y="953831"/>
            <a:ext cx="1188719" cy="219456"/>
          </a:xfrm>
          <a:prstGeom prst="rect">
            <a:avLst/>
          </a:prstGeom>
          <a:noFill/>
        </p:spPr>
        <p:txBody>
          <a:bodyPr wrap="square" anchor="ctr" lIns="27432" rIns="27432" tIns="9144" bIns="9144">
            <a:spAutoFit/>
          </a:bodyPr>
          <a:lstStyle/>
          <a:p>
            <a:pPr algn="ctr"/>
            <a:r>
              <a:rPr sz="850" b="1">
                <a:solidFill>
                  <a:srgbClr val="FFFFFF"/>
                </a:solidFill>
                <a:latin typeface="Calibri"/>
              </a:rPr>
              <a:t>INPUTS</a:t>
            </a:r>
          </a:p>
        </p:txBody>
      </p:sp>
      <p:sp>
        <p:nvSpPr>
          <p:cNvPr id="17413" name="Rounded Rectangle 17412"/>
          <p:cNvSpPr/>
          <p:nvPr/>
        </p:nvSpPr>
        <p:spPr>
          <a:xfrm>
            <a:off x="259157" y="1228152"/>
            <a:ext cx="1444752" cy="713232"/>
          </a:xfrm>
          <a:prstGeom prst="roundRect">
            <a:avLst>
              <a:gd name="adj" fmla="val 12000"/>
            </a:avLst>
          </a:prstGeom>
          <a:solidFill>
            <a:srgbClr val="FFFFFF"/>
          </a:solidFill>
          <a:ln w="9525">
            <a:solidFill>
              <a:srgbClr val="1F5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Oval 17413"/>
          <p:cNvSpPr/>
          <p:nvPr/>
        </p:nvSpPr>
        <p:spPr>
          <a:xfrm>
            <a:off x="295733" y="1292160"/>
            <a:ext cx="274320" cy="274320"/>
          </a:xfrm>
          <a:prstGeom prst="ellipse">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15" name="Picture 17414" descr="image.png"/>
          <p:cNvPicPr>
            <a:picLocks noChangeAspect="1"/>
          </p:cNvPicPr>
          <p:nvPr/>
        </p:nvPicPr>
        <p:blipFill>
          <a:blip r:embed="rId9"/>
          <a:stretch>
            <a:fillRect/>
          </a:stretch>
        </p:blipFill>
        <p:spPr>
          <a:xfrm>
            <a:off x="350597" y="1347024"/>
            <a:ext cx="164592" cy="164592"/>
          </a:xfrm>
          <a:prstGeom prst="rect">
            <a:avLst/>
          </a:prstGeom>
        </p:spPr>
      </p:pic>
      <p:sp>
        <p:nvSpPr>
          <p:cNvPr id="17416" name="TextBox 17415"/>
          <p:cNvSpPr txBox="1"/>
          <p:nvPr/>
        </p:nvSpPr>
        <p:spPr>
          <a:xfrm>
            <a:off x="597485" y="1264728"/>
            <a:ext cx="1078992" cy="292608"/>
          </a:xfrm>
          <a:prstGeom prst="rect">
            <a:avLst/>
          </a:prstGeom>
          <a:noFill/>
        </p:spPr>
        <p:txBody>
          <a:bodyPr wrap="square" anchor="ctr" lIns="27432" rIns="27432" tIns="9144" bIns="9144">
            <a:spAutoFit/>
          </a:bodyPr>
          <a:lstStyle/>
          <a:p>
            <a:r>
              <a:rPr sz="900" b="1">
                <a:solidFill>
                  <a:srgbClr val="172131"/>
                </a:solidFill>
                <a:latin typeface="Calibri"/>
              </a:rPr>
              <a:t>PowerPoint .pptx</a:t>
            </a:r>
          </a:p>
        </p:txBody>
      </p:sp>
      <p:sp>
        <p:nvSpPr>
          <p:cNvPr id="17417" name="TextBox 17416"/>
          <p:cNvSpPr txBox="1"/>
          <p:nvPr/>
        </p:nvSpPr>
        <p:spPr>
          <a:xfrm>
            <a:off x="295733" y="1566479"/>
            <a:ext cx="1371600" cy="365760"/>
          </a:xfrm>
          <a:prstGeom prst="rect">
            <a:avLst/>
          </a:prstGeom>
          <a:noFill/>
        </p:spPr>
        <p:txBody>
          <a:bodyPr wrap="square" anchor="t" lIns="27432" rIns="27432" tIns="9144" bIns="9144">
            <a:spAutoFit/>
          </a:bodyPr>
          <a:lstStyle/>
          <a:p>
            <a:r>
              <a:rPr sz="780" b="1">
                <a:solidFill>
                  <a:srgbClr val="1F5FBF"/>
                </a:solidFill>
                <a:latin typeface="Calibri"/>
              </a:rPr>
              <a:t>python-pptx · LibreOffice</a:t>
            </a:r>
          </a:p>
          <a:p>
            <a:r>
              <a:rPr sz="740" b="0">
                <a:solidFill>
                  <a:srgbClr val="555F6D"/>
                </a:solidFill>
                <a:latin typeface="Calibri"/>
              </a:rPr>
              <a:t>teacher's old deck, any template</a:t>
            </a:r>
          </a:p>
        </p:txBody>
      </p:sp>
      <p:sp>
        <p:nvSpPr>
          <p:cNvPr id="17418" name="Rounded Rectangle 17417"/>
          <p:cNvSpPr/>
          <p:nvPr/>
        </p:nvSpPr>
        <p:spPr>
          <a:xfrm>
            <a:off x="259157" y="2005391"/>
            <a:ext cx="1444752" cy="713232"/>
          </a:xfrm>
          <a:prstGeom prst="roundRect">
            <a:avLst>
              <a:gd name="adj" fmla="val 12000"/>
            </a:avLst>
          </a:prstGeom>
          <a:solidFill>
            <a:srgbClr val="FFFFFF"/>
          </a:solidFill>
          <a:ln w="9525">
            <a:solidFill>
              <a:srgbClr val="1F5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Oval 17418"/>
          <p:cNvSpPr/>
          <p:nvPr/>
        </p:nvSpPr>
        <p:spPr>
          <a:xfrm>
            <a:off x="295733" y="2069399"/>
            <a:ext cx="274320" cy="274320"/>
          </a:xfrm>
          <a:prstGeom prst="ellipse">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20" name="Picture 17419" descr="image.png"/>
          <p:cNvPicPr>
            <a:picLocks noChangeAspect="1"/>
          </p:cNvPicPr>
          <p:nvPr/>
        </p:nvPicPr>
        <p:blipFill>
          <a:blip r:embed="rId10"/>
          <a:stretch>
            <a:fillRect/>
          </a:stretch>
        </p:blipFill>
        <p:spPr>
          <a:xfrm>
            <a:off x="350597" y="2124263"/>
            <a:ext cx="164592" cy="164592"/>
          </a:xfrm>
          <a:prstGeom prst="rect">
            <a:avLst/>
          </a:prstGeom>
        </p:spPr>
      </p:pic>
      <p:sp>
        <p:nvSpPr>
          <p:cNvPr id="17421" name="TextBox 17420"/>
          <p:cNvSpPr txBox="1"/>
          <p:nvPr/>
        </p:nvSpPr>
        <p:spPr>
          <a:xfrm>
            <a:off x="597485" y="2041968"/>
            <a:ext cx="1078992" cy="292608"/>
          </a:xfrm>
          <a:prstGeom prst="rect">
            <a:avLst/>
          </a:prstGeom>
          <a:noFill/>
        </p:spPr>
        <p:txBody>
          <a:bodyPr wrap="square" anchor="ctr" lIns="27432" rIns="27432" tIns="9144" bIns="9144">
            <a:spAutoFit/>
          </a:bodyPr>
          <a:lstStyle/>
          <a:p>
            <a:r>
              <a:rPr sz="900" b="1">
                <a:solidFill>
                  <a:srgbClr val="172131"/>
                </a:solidFill>
                <a:latin typeface="Calibri"/>
              </a:rPr>
              <a:t>Slide PDF</a:t>
            </a:r>
          </a:p>
        </p:txBody>
      </p:sp>
      <p:sp>
        <p:nvSpPr>
          <p:cNvPr id="17422" name="TextBox 17421"/>
          <p:cNvSpPr txBox="1"/>
          <p:nvPr/>
        </p:nvSpPr>
        <p:spPr>
          <a:xfrm>
            <a:off x="295733" y="2343720"/>
            <a:ext cx="1371600" cy="365760"/>
          </a:xfrm>
          <a:prstGeom prst="rect">
            <a:avLst/>
          </a:prstGeom>
          <a:noFill/>
        </p:spPr>
        <p:txBody>
          <a:bodyPr wrap="square" anchor="t" lIns="27432" rIns="27432" tIns="9144" bIns="9144">
            <a:spAutoFit/>
          </a:bodyPr>
          <a:lstStyle/>
          <a:p>
            <a:r>
              <a:rPr sz="780" b="1">
                <a:solidFill>
                  <a:srgbClr val="1F5FBF"/>
                </a:solidFill>
                <a:latin typeface="Calibri"/>
              </a:rPr>
              <a:t>PyMuPDF</a:t>
            </a:r>
          </a:p>
          <a:p>
            <a:r>
              <a:rPr sz="740" b="0">
                <a:solidFill>
                  <a:srgbClr val="555F6D"/>
                </a:solidFill>
                <a:latin typeface="Calibri"/>
              </a:rPr>
              <a:t>exported or scanned slides</a:t>
            </a:r>
          </a:p>
        </p:txBody>
      </p:sp>
      <p:sp>
        <p:nvSpPr>
          <p:cNvPr id="17423" name="Rounded Rectangle 17422"/>
          <p:cNvSpPr/>
          <p:nvPr/>
        </p:nvSpPr>
        <p:spPr>
          <a:xfrm>
            <a:off x="259157" y="2782632"/>
            <a:ext cx="1444752" cy="713232"/>
          </a:xfrm>
          <a:prstGeom prst="roundRect">
            <a:avLst>
              <a:gd name="adj" fmla="val 12000"/>
            </a:avLst>
          </a:prstGeom>
          <a:solidFill>
            <a:srgbClr val="FFFFFF"/>
          </a:solidFill>
          <a:ln w="9525">
            <a:solidFill>
              <a:srgbClr val="1F5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Oval 17423"/>
          <p:cNvSpPr/>
          <p:nvPr/>
        </p:nvSpPr>
        <p:spPr>
          <a:xfrm>
            <a:off x="295733" y="2846640"/>
            <a:ext cx="274320" cy="274320"/>
          </a:xfrm>
          <a:prstGeom prst="ellipse">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25" name="Picture 17424" descr="image.png"/>
          <p:cNvPicPr>
            <a:picLocks noChangeAspect="1"/>
          </p:cNvPicPr>
          <p:nvPr/>
        </p:nvPicPr>
        <p:blipFill>
          <a:blip r:embed="rId11"/>
          <a:stretch>
            <a:fillRect/>
          </a:stretch>
        </p:blipFill>
        <p:spPr>
          <a:xfrm>
            <a:off x="350597" y="2901504"/>
            <a:ext cx="164592" cy="164592"/>
          </a:xfrm>
          <a:prstGeom prst="rect">
            <a:avLst/>
          </a:prstGeom>
        </p:spPr>
      </p:pic>
      <p:sp>
        <p:nvSpPr>
          <p:cNvPr id="17426" name="TextBox 17425"/>
          <p:cNvSpPr txBox="1"/>
          <p:nvPr/>
        </p:nvSpPr>
        <p:spPr>
          <a:xfrm>
            <a:off x="597485" y="2819208"/>
            <a:ext cx="1078992" cy="292608"/>
          </a:xfrm>
          <a:prstGeom prst="rect">
            <a:avLst/>
          </a:prstGeom>
          <a:noFill/>
        </p:spPr>
        <p:txBody>
          <a:bodyPr wrap="square" anchor="ctr" lIns="27432" rIns="27432" tIns="9144" bIns="9144">
            <a:spAutoFit/>
          </a:bodyPr>
          <a:lstStyle/>
          <a:p>
            <a:r>
              <a:rPr sz="900" b="1">
                <a:solidFill>
                  <a:srgbClr val="172131"/>
                </a:solidFill>
                <a:latin typeface="Calibri"/>
              </a:rPr>
              <a:t>Word / notes</a:t>
            </a:r>
          </a:p>
        </p:txBody>
      </p:sp>
      <p:sp>
        <p:nvSpPr>
          <p:cNvPr id="17427" name="TextBox 17426"/>
          <p:cNvSpPr txBox="1"/>
          <p:nvPr/>
        </p:nvSpPr>
        <p:spPr>
          <a:xfrm>
            <a:off x="295733" y="3120960"/>
            <a:ext cx="1371600" cy="365760"/>
          </a:xfrm>
          <a:prstGeom prst="rect">
            <a:avLst/>
          </a:prstGeom>
          <a:noFill/>
        </p:spPr>
        <p:txBody>
          <a:bodyPr wrap="square" anchor="t" lIns="27432" rIns="27432" tIns="9144" bIns="9144">
            <a:spAutoFit/>
          </a:bodyPr>
          <a:lstStyle/>
          <a:p>
            <a:r>
              <a:rPr sz="780" b="1">
                <a:solidFill>
                  <a:srgbClr val="1F5FBF"/>
                </a:solidFill>
                <a:latin typeface="Calibri"/>
              </a:rPr>
              <a:t>python-docx · Markdown</a:t>
            </a:r>
          </a:p>
          <a:p>
            <a:r>
              <a:rPr sz="740" b="0">
                <a:solidFill>
                  <a:srgbClr val="555F6D"/>
                </a:solidFill>
                <a:latin typeface="Calibri"/>
              </a:rPr>
              <a:t>.docx, markdown, plain text</a:t>
            </a:r>
          </a:p>
        </p:txBody>
      </p:sp>
      <p:sp>
        <p:nvSpPr>
          <p:cNvPr id="17428" name="Rounded Rectangle 17427"/>
          <p:cNvSpPr/>
          <p:nvPr/>
        </p:nvSpPr>
        <p:spPr>
          <a:xfrm>
            <a:off x="259157" y="3559871"/>
            <a:ext cx="1444752" cy="713232"/>
          </a:xfrm>
          <a:prstGeom prst="roundRect">
            <a:avLst>
              <a:gd name="adj" fmla="val 12000"/>
            </a:avLst>
          </a:prstGeom>
          <a:solidFill>
            <a:srgbClr val="FFFFFF"/>
          </a:solidFill>
          <a:ln w="9525">
            <a:solidFill>
              <a:srgbClr val="1F5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9" name="Oval 17428"/>
          <p:cNvSpPr/>
          <p:nvPr/>
        </p:nvSpPr>
        <p:spPr>
          <a:xfrm>
            <a:off x="295733" y="3623879"/>
            <a:ext cx="274320" cy="274320"/>
          </a:xfrm>
          <a:prstGeom prst="ellipse">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30" name="Picture 17429" descr="image.png"/>
          <p:cNvPicPr>
            <a:picLocks noChangeAspect="1"/>
          </p:cNvPicPr>
          <p:nvPr/>
        </p:nvPicPr>
        <p:blipFill>
          <a:blip r:embed="rId12"/>
          <a:stretch>
            <a:fillRect/>
          </a:stretch>
        </p:blipFill>
        <p:spPr>
          <a:xfrm>
            <a:off x="350597" y="3678743"/>
            <a:ext cx="164592" cy="164592"/>
          </a:xfrm>
          <a:prstGeom prst="rect">
            <a:avLst/>
          </a:prstGeom>
        </p:spPr>
      </p:pic>
      <p:sp>
        <p:nvSpPr>
          <p:cNvPr id="17431" name="TextBox 17430"/>
          <p:cNvSpPr txBox="1"/>
          <p:nvPr/>
        </p:nvSpPr>
        <p:spPr>
          <a:xfrm>
            <a:off x="597485" y="3596447"/>
            <a:ext cx="1078992" cy="292608"/>
          </a:xfrm>
          <a:prstGeom prst="rect">
            <a:avLst/>
          </a:prstGeom>
          <a:noFill/>
        </p:spPr>
        <p:txBody>
          <a:bodyPr wrap="square" anchor="ctr" lIns="27432" rIns="27432" tIns="9144" bIns="9144">
            <a:spAutoFit/>
          </a:bodyPr>
          <a:lstStyle/>
          <a:p>
            <a:r>
              <a:rPr sz="900" b="1">
                <a:solidFill>
                  <a:srgbClr val="172131"/>
                </a:solidFill>
                <a:latin typeface="Calibri"/>
              </a:rPr>
              <a:t>Typed topic</a:t>
            </a:r>
          </a:p>
        </p:txBody>
      </p:sp>
      <p:sp>
        <p:nvSpPr>
          <p:cNvPr id="17432" name="TextBox 17431"/>
          <p:cNvSpPr txBox="1"/>
          <p:nvPr/>
        </p:nvSpPr>
        <p:spPr>
          <a:xfrm>
            <a:off x="295733" y="3898199"/>
            <a:ext cx="1371600" cy="365760"/>
          </a:xfrm>
          <a:prstGeom prst="rect">
            <a:avLst/>
          </a:prstGeom>
          <a:noFill/>
        </p:spPr>
        <p:txBody>
          <a:bodyPr wrap="square" anchor="t" lIns="27432" rIns="27432" tIns="9144" bIns="9144">
            <a:spAutoFit/>
          </a:bodyPr>
          <a:lstStyle/>
          <a:p>
            <a:r>
              <a:rPr sz="780" b="1">
                <a:solidFill>
                  <a:srgbClr val="1F5FBF"/>
                </a:solidFill>
                <a:latin typeface="Calibri"/>
              </a:rPr>
              <a:t>React form → REST</a:t>
            </a:r>
          </a:p>
          <a:p>
            <a:r>
              <a:rPr sz="740" b="0">
                <a:solidFill>
                  <a:srgbClr val="555F6D"/>
                </a:solidFill>
                <a:latin typeface="Calibri"/>
              </a:rPr>
              <a:t>a syllabus line or prompt</a:t>
            </a:r>
          </a:p>
        </p:txBody>
      </p:sp>
      <p:sp>
        <p:nvSpPr>
          <p:cNvPr id="17433" name="Rounded Rectangle 17432"/>
          <p:cNvSpPr/>
          <p:nvPr/>
        </p:nvSpPr>
        <p:spPr>
          <a:xfrm>
            <a:off x="259157" y="4337112"/>
            <a:ext cx="1444752" cy="713232"/>
          </a:xfrm>
          <a:prstGeom prst="roundRect">
            <a:avLst>
              <a:gd name="adj" fmla="val 12000"/>
            </a:avLst>
          </a:prstGeom>
          <a:solidFill>
            <a:srgbClr val="FFFFFF"/>
          </a:solidFill>
          <a:ln w="9525">
            <a:solidFill>
              <a:srgbClr val="1F5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4" name="Oval 17433"/>
          <p:cNvSpPr/>
          <p:nvPr/>
        </p:nvSpPr>
        <p:spPr>
          <a:xfrm>
            <a:off x="295733" y="4401120"/>
            <a:ext cx="274320" cy="274320"/>
          </a:xfrm>
          <a:prstGeom prst="ellipse">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35" name="Picture 17434" descr="image.png"/>
          <p:cNvPicPr>
            <a:picLocks noChangeAspect="1"/>
          </p:cNvPicPr>
          <p:nvPr/>
        </p:nvPicPr>
        <p:blipFill>
          <a:blip r:embed="rId13"/>
          <a:stretch>
            <a:fillRect/>
          </a:stretch>
        </p:blipFill>
        <p:spPr>
          <a:xfrm>
            <a:off x="350597" y="4455984"/>
            <a:ext cx="164592" cy="164592"/>
          </a:xfrm>
          <a:prstGeom prst="rect">
            <a:avLst/>
          </a:prstGeom>
        </p:spPr>
      </p:pic>
      <p:sp>
        <p:nvSpPr>
          <p:cNvPr id="17436" name="TextBox 17435"/>
          <p:cNvSpPr txBox="1"/>
          <p:nvPr/>
        </p:nvSpPr>
        <p:spPr>
          <a:xfrm>
            <a:off x="597485" y="4373688"/>
            <a:ext cx="1078992" cy="292608"/>
          </a:xfrm>
          <a:prstGeom prst="rect">
            <a:avLst/>
          </a:prstGeom>
          <a:noFill/>
        </p:spPr>
        <p:txBody>
          <a:bodyPr wrap="square" anchor="ctr" lIns="27432" rIns="27432" tIns="9144" bIns="9144">
            <a:spAutoFit/>
          </a:bodyPr>
          <a:lstStyle/>
          <a:p>
            <a:r>
              <a:rPr sz="900" b="1">
                <a:solidFill>
                  <a:srgbClr val="172131"/>
                </a:solidFill>
                <a:latin typeface="Calibri"/>
              </a:rPr>
              <a:t>Teacher labs</a:t>
            </a:r>
          </a:p>
        </p:txBody>
      </p:sp>
      <p:sp>
        <p:nvSpPr>
          <p:cNvPr id="17437" name="TextBox 17436"/>
          <p:cNvSpPr txBox="1"/>
          <p:nvPr/>
        </p:nvSpPr>
        <p:spPr>
          <a:xfrm>
            <a:off x="295733" y="4675440"/>
            <a:ext cx="1371600" cy="365760"/>
          </a:xfrm>
          <a:prstGeom prst="rect">
            <a:avLst/>
          </a:prstGeom>
          <a:noFill/>
        </p:spPr>
        <p:txBody>
          <a:bodyPr wrap="square" anchor="t" lIns="27432" rIns="27432" tIns="9144" bIns="9144">
            <a:spAutoFit/>
          </a:bodyPr>
          <a:lstStyle/>
          <a:p>
            <a:r>
              <a:rPr sz="780" b="1">
                <a:solidFill>
                  <a:srgbClr val="1F5FBF"/>
                </a:solidFill>
                <a:latin typeface="Calibri"/>
              </a:rPr>
              <a:t>HTML · JavaScript</a:t>
            </a:r>
          </a:p>
          <a:p>
            <a:r>
              <a:rPr sz="740" b="0">
                <a:solidFill>
                  <a:srgbClr val="555F6D"/>
                </a:solidFill>
                <a:latin typeface="Calibri"/>
              </a:rPr>
              <a:t>own labs added via the API</a:t>
            </a:r>
          </a:p>
        </p:txBody>
      </p:sp>
      <p:cxnSp>
        <p:nvCxnSpPr>
          <p:cNvPr id="17438" name="Connector 17437"/>
          <p:cNvCxnSpPr/>
          <p:nvPr/>
        </p:nvCxnSpPr>
        <p:spPr>
          <a:xfrm>
            <a:off x="1767917" y="3093528"/>
            <a:ext cx="91440" cy="0"/>
          </a:xfrm>
          <a:prstGeom prst="line">
            <a:avLst/>
          </a:prstGeom>
          <a:ln w="25400">
            <a:solidFill>
              <a:srgbClr val="172131"/>
            </a:solidFill>
            <a:tailEnd type="triangle"/>
          </a:ln>
        </p:spPr>
        <p:style>
          <a:lnRef idx="2">
            <a:schemeClr val="accent1"/>
          </a:lnRef>
          <a:fillRef idx="0">
            <a:schemeClr val="accent1"/>
          </a:fillRef>
          <a:effectRef idx="1">
            <a:schemeClr val="accent1"/>
          </a:effectRef>
          <a:fontRef idx="minor">
            <a:schemeClr val="tx1"/>
          </a:fontRef>
        </p:style>
      </p:cxnSp>
      <p:sp>
        <p:nvSpPr>
          <p:cNvPr id="17439" name="Rounded Rectangle 17438"/>
          <p:cNvSpPr/>
          <p:nvPr/>
        </p:nvSpPr>
        <p:spPr>
          <a:xfrm>
            <a:off x="1868500" y="1008696"/>
            <a:ext cx="1554480" cy="4114800"/>
          </a:xfrm>
          <a:prstGeom prst="roundRect">
            <a:avLst>
              <a:gd name="adj" fmla="val 4000"/>
            </a:avLst>
          </a:prstGeom>
          <a:solidFill>
            <a:srgbClr val="F7F8FB"/>
          </a:solidFill>
          <a:ln w="952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0" name="Rounded Rectangle 17439"/>
          <p:cNvSpPr/>
          <p:nvPr/>
        </p:nvSpPr>
        <p:spPr>
          <a:xfrm>
            <a:off x="2051381" y="953831"/>
            <a:ext cx="1188719" cy="219456"/>
          </a:xfrm>
          <a:prstGeom prst="roundRect">
            <a:avLst>
              <a:gd name="adj" fmla="val 5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1" name="TextBox 17440"/>
          <p:cNvSpPr txBox="1"/>
          <p:nvPr/>
        </p:nvSpPr>
        <p:spPr>
          <a:xfrm>
            <a:off x="2051381" y="953831"/>
            <a:ext cx="1188719" cy="219456"/>
          </a:xfrm>
          <a:prstGeom prst="rect">
            <a:avLst/>
          </a:prstGeom>
          <a:noFill/>
        </p:spPr>
        <p:txBody>
          <a:bodyPr wrap="square" anchor="ctr" lIns="27432" rIns="27432" tIns="9144" bIns="9144">
            <a:spAutoFit/>
          </a:bodyPr>
          <a:lstStyle/>
          <a:p>
            <a:pPr algn="ctr"/>
            <a:r>
              <a:rPr sz="850" b="1">
                <a:solidFill>
                  <a:srgbClr val="FFFFFF"/>
                </a:solidFill>
                <a:latin typeface="Calibri"/>
              </a:rPr>
              <a:t>INGEST</a:t>
            </a:r>
          </a:p>
        </p:txBody>
      </p:sp>
      <p:sp>
        <p:nvSpPr>
          <p:cNvPr id="17442" name="Rounded Rectangle 17441"/>
          <p:cNvSpPr/>
          <p:nvPr/>
        </p:nvSpPr>
        <p:spPr>
          <a:xfrm>
            <a:off x="1923364" y="1228152"/>
            <a:ext cx="1444752" cy="713232"/>
          </a:xfrm>
          <a:prstGeom prst="roundRect">
            <a:avLst>
              <a:gd name="adj" fmla="val 12000"/>
            </a:avLst>
          </a:prstGeom>
          <a:solidFill>
            <a:srgbClr val="FFFFFF"/>
          </a:solidFill>
          <a:ln w="952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3" name="Oval 17442"/>
          <p:cNvSpPr/>
          <p:nvPr/>
        </p:nvSpPr>
        <p:spPr>
          <a:xfrm>
            <a:off x="1959940" y="1292160"/>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44" name="Picture 17443" descr="image.png"/>
          <p:cNvPicPr>
            <a:picLocks noChangeAspect="1"/>
          </p:cNvPicPr>
          <p:nvPr/>
        </p:nvPicPr>
        <p:blipFill>
          <a:blip r:embed="rId14"/>
          <a:stretch>
            <a:fillRect/>
          </a:stretch>
        </p:blipFill>
        <p:spPr>
          <a:xfrm>
            <a:off x="2014804" y="1347024"/>
            <a:ext cx="164592" cy="164592"/>
          </a:xfrm>
          <a:prstGeom prst="rect">
            <a:avLst/>
          </a:prstGeom>
        </p:spPr>
      </p:pic>
      <p:sp>
        <p:nvSpPr>
          <p:cNvPr id="17445" name="TextBox 17444"/>
          <p:cNvSpPr txBox="1"/>
          <p:nvPr/>
        </p:nvSpPr>
        <p:spPr>
          <a:xfrm>
            <a:off x="2261693" y="1264728"/>
            <a:ext cx="1078992" cy="292608"/>
          </a:xfrm>
          <a:prstGeom prst="rect">
            <a:avLst/>
          </a:prstGeom>
          <a:noFill/>
        </p:spPr>
        <p:txBody>
          <a:bodyPr wrap="square" anchor="ctr" lIns="27432" rIns="27432" tIns="9144" bIns="9144">
            <a:spAutoFit/>
          </a:bodyPr>
          <a:lstStyle/>
          <a:p>
            <a:r>
              <a:rPr sz="900" b="1">
                <a:solidFill>
                  <a:srgbClr val="172131"/>
                </a:solidFill>
                <a:latin typeface="Calibri"/>
              </a:rPr>
              <a:t>Convert</a:t>
            </a:r>
          </a:p>
        </p:txBody>
      </p:sp>
      <p:sp>
        <p:nvSpPr>
          <p:cNvPr id="17446" name="TextBox 17445"/>
          <p:cNvSpPr txBox="1"/>
          <p:nvPr/>
        </p:nvSpPr>
        <p:spPr>
          <a:xfrm>
            <a:off x="1959940" y="1566479"/>
            <a:ext cx="1371600" cy="365760"/>
          </a:xfrm>
          <a:prstGeom prst="rect">
            <a:avLst/>
          </a:prstGeom>
          <a:noFill/>
        </p:spPr>
        <p:txBody>
          <a:bodyPr wrap="square" anchor="t" lIns="27432" rIns="27432" tIns="9144" bIns="9144">
            <a:spAutoFit/>
          </a:bodyPr>
          <a:lstStyle/>
          <a:p>
            <a:r>
              <a:rPr sz="780" b="1">
                <a:solidFill>
                  <a:srgbClr val="0E7C86"/>
                </a:solidFill>
                <a:latin typeface="Calibri"/>
              </a:rPr>
              <a:t>LibreOffice headless</a:t>
            </a:r>
          </a:p>
          <a:p>
            <a:r>
              <a:rPr sz="740" b="0">
                <a:solidFill>
                  <a:srgbClr val="555F6D"/>
                </a:solidFill>
                <a:latin typeface="Calibri"/>
              </a:rPr>
              <a:t>PPTX → PDF, cached by hash</a:t>
            </a:r>
          </a:p>
        </p:txBody>
      </p:sp>
      <p:sp>
        <p:nvSpPr>
          <p:cNvPr id="17447" name="Rounded Rectangle 17446"/>
          <p:cNvSpPr/>
          <p:nvPr/>
        </p:nvSpPr>
        <p:spPr>
          <a:xfrm>
            <a:off x="1923364" y="2005391"/>
            <a:ext cx="1444752" cy="713232"/>
          </a:xfrm>
          <a:prstGeom prst="roundRect">
            <a:avLst>
              <a:gd name="adj" fmla="val 12000"/>
            </a:avLst>
          </a:prstGeom>
          <a:solidFill>
            <a:srgbClr val="FFFFFF"/>
          </a:solidFill>
          <a:ln w="952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8" name="Oval 17447"/>
          <p:cNvSpPr/>
          <p:nvPr/>
        </p:nvSpPr>
        <p:spPr>
          <a:xfrm>
            <a:off x="1959940" y="2069399"/>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49" name="Picture 17448" descr="image.png"/>
          <p:cNvPicPr>
            <a:picLocks noChangeAspect="1"/>
          </p:cNvPicPr>
          <p:nvPr/>
        </p:nvPicPr>
        <p:blipFill>
          <a:blip r:embed="rId15"/>
          <a:stretch>
            <a:fillRect/>
          </a:stretch>
        </p:blipFill>
        <p:spPr>
          <a:xfrm>
            <a:off x="2014804" y="2124263"/>
            <a:ext cx="164592" cy="164592"/>
          </a:xfrm>
          <a:prstGeom prst="rect">
            <a:avLst/>
          </a:prstGeom>
        </p:spPr>
      </p:pic>
      <p:sp>
        <p:nvSpPr>
          <p:cNvPr id="17450" name="TextBox 17449"/>
          <p:cNvSpPr txBox="1"/>
          <p:nvPr/>
        </p:nvSpPr>
        <p:spPr>
          <a:xfrm>
            <a:off x="2261693" y="2041968"/>
            <a:ext cx="1078992" cy="292608"/>
          </a:xfrm>
          <a:prstGeom prst="rect">
            <a:avLst/>
          </a:prstGeom>
          <a:noFill/>
        </p:spPr>
        <p:txBody>
          <a:bodyPr wrap="square" anchor="ctr" lIns="27432" rIns="27432" tIns="9144" bIns="9144">
            <a:spAutoFit/>
          </a:bodyPr>
          <a:lstStyle/>
          <a:p>
            <a:r>
              <a:rPr sz="900" b="1">
                <a:solidFill>
                  <a:srgbClr val="172131"/>
                </a:solidFill>
                <a:latin typeface="Calibri"/>
              </a:rPr>
              <a:t>Slide reader</a:t>
            </a:r>
          </a:p>
        </p:txBody>
      </p:sp>
      <p:sp>
        <p:nvSpPr>
          <p:cNvPr id="17451" name="TextBox 17450"/>
          <p:cNvSpPr txBox="1"/>
          <p:nvPr/>
        </p:nvSpPr>
        <p:spPr>
          <a:xfrm>
            <a:off x="1959940" y="2343720"/>
            <a:ext cx="1371600" cy="365760"/>
          </a:xfrm>
          <a:prstGeom prst="rect">
            <a:avLst/>
          </a:prstGeom>
          <a:noFill/>
        </p:spPr>
        <p:txBody>
          <a:bodyPr wrap="square" anchor="t" lIns="27432" rIns="27432" tIns="9144" bIns="9144">
            <a:spAutoFit/>
          </a:bodyPr>
          <a:lstStyle/>
          <a:p>
            <a:r>
              <a:rPr sz="780" b="1">
                <a:solidFill>
                  <a:srgbClr val="0E7C86"/>
                </a:solidFill>
                <a:latin typeface="Calibri"/>
              </a:rPr>
              <a:t>PyMuPDF geometry rules</a:t>
            </a:r>
          </a:p>
          <a:p>
            <a:r>
              <a:rPr sz="740" b="0">
                <a:solidFill>
                  <a:srgbClr val="555F6D"/>
                </a:solidFill>
                <a:latin typeface="Calibri"/>
              </a:rPr>
              <a:t>titles, levels, tables, figures</a:t>
            </a:r>
          </a:p>
        </p:txBody>
      </p:sp>
      <p:sp>
        <p:nvSpPr>
          <p:cNvPr id="17452" name="Rounded Rectangle 17451"/>
          <p:cNvSpPr/>
          <p:nvPr/>
        </p:nvSpPr>
        <p:spPr>
          <a:xfrm>
            <a:off x="1923364" y="2782632"/>
            <a:ext cx="1444752" cy="713232"/>
          </a:xfrm>
          <a:prstGeom prst="roundRect">
            <a:avLst>
              <a:gd name="adj" fmla="val 12000"/>
            </a:avLst>
          </a:prstGeom>
          <a:solidFill>
            <a:srgbClr val="FFFFFF"/>
          </a:solidFill>
          <a:ln w="952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3" name="Oval 17452"/>
          <p:cNvSpPr/>
          <p:nvPr/>
        </p:nvSpPr>
        <p:spPr>
          <a:xfrm>
            <a:off x="1959940" y="2846640"/>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54" name="Picture 17453" descr="image.png"/>
          <p:cNvPicPr>
            <a:picLocks noChangeAspect="1"/>
          </p:cNvPicPr>
          <p:nvPr/>
        </p:nvPicPr>
        <p:blipFill>
          <a:blip r:embed="rId16"/>
          <a:stretch>
            <a:fillRect/>
          </a:stretch>
        </p:blipFill>
        <p:spPr>
          <a:xfrm>
            <a:off x="2014804" y="2901504"/>
            <a:ext cx="164592" cy="164592"/>
          </a:xfrm>
          <a:prstGeom prst="rect">
            <a:avLst/>
          </a:prstGeom>
        </p:spPr>
      </p:pic>
      <p:sp>
        <p:nvSpPr>
          <p:cNvPr id="17455" name="TextBox 17454"/>
          <p:cNvSpPr txBox="1"/>
          <p:nvPr/>
        </p:nvSpPr>
        <p:spPr>
          <a:xfrm>
            <a:off x="2261693" y="2819208"/>
            <a:ext cx="1078992" cy="292608"/>
          </a:xfrm>
          <a:prstGeom prst="rect">
            <a:avLst/>
          </a:prstGeom>
          <a:noFill/>
        </p:spPr>
        <p:txBody>
          <a:bodyPr wrap="square" anchor="ctr" lIns="27432" rIns="27432" tIns="9144" bIns="9144">
            <a:spAutoFit/>
          </a:bodyPr>
          <a:lstStyle/>
          <a:p>
            <a:r>
              <a:rPr sz="900" b="1">
                <a:solidFill>
                  <a:srgbClr val="172131"/>
                </a:solidFill>
                <a:latin typeface="Calibri"/>
              </a:rPr>
              <a:t>OCR decision</a:t>
            </a:r>
          </a:p>
        </p:txBody>
      </p:sp>
      <p:sp>
        <p:nvSpPr>
          <p:cNvPr id="17456" name="TextBox 17455"/>
          <p:cNvSpPr txBox="1"/>
          <p:nvPr/>
        </p:nvSpPr>
        <p:spPr>
          <a:xfrm>
            <a:off x="1959940" y="3120960"/>
            <a:ext cx="1371600" cy="365760"/>
          </a:xfrm>
          <a:prstGeom prst="rect">
            <a:avLst/>
          </a:prstGeom>
          <a:noFill/>
        </p:spPr>
        <p:txBody>
          <a:bodyPr wrap="square" anchor="t" lIns="27432" rIns="27432" tIns="9144" bIns="9144">
            <a:spAutoFit/>
          </a:bodyPr>
          <a:lstStyle/>
          <a:p>
            <a:r>
              <a:rPr sz="780" b="1">
                <a:solidFill>
                  <a:srgbClr val="0E7C86"/>
                </a:solidFill>
                <a:latin typeface="Calibri"/>
              </a:rPr>
              <a:t>Tesseract OCR</a:t>
            </a:r>
          </a:p>
          <a:p>
            <a:r>
              <a:rPr sz="740" b="0">
                <a:solidFill>
                  <a:srgbClr val="555F6D"/>
                </a:solidFill>
                <a:latin typeface="Calibri"/>
              </a:rPr>
              <a:t>only when γ ≤ 0.42, conf ≥ 62</a:t>
            </a:r>
          </a:p>
        </p:txBody>
      </p:sp>
      <p:sp>
        <p:nvSpPr>
          <p:cNvPr id="17457" name="Rounded Rectangle 17456"/>
          <p:cNvSpPr/>
          <p:nvPr/>
        </p:nvSpPr>
        <p:spPr>
          <a:xfrm>
            <a:off x="1923364" y="3559871"/>
            <a:ext cx="1444752" cy="713232"/>
          </a:xfrm>
          <a:prstGeom prst="roundRect">
            <a:avLst>
              <a:gd name="adj" fmla="val 12000"/>
            </a:avLst>
          </a:prstGeom>
          <a:solidFill>
            <a:srgbClr val="FFFFFF"/>
          </a:solidFill>
          <a:ln w="952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8" name="Oval 17457"/>
          <p:cNvSpPr/>
          <p:nvPr/>
        </p:nvSpPr>
        <p:spPr>
          <a:xfrm>
            <a:off x="1959940" y="3623879"/>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59" name="Picture 17458" descr="image.png"/>
          <p:cNvPicPr>
            <a:picLocks noChangeAspect="1"/>
          </p:cNvPicPr>
          <p:nvPr/>
        </p:nvPicPr>
        <p:blipFill>
          <a:blip r:embed="rId17"/>
          <a:stretch>
            <a:fillRect/>
          </a:stretch>
        </p:blipFill>
        <p:spPr>
          <a:xfrm>
            <a:off x="2014804" y="3678743"/>
            <a:ext cx="164592" cy="164592"/>
          </a:xfrm>
          <a:prstGeom prst="rect">
            <a:avLst/>
          </a:prstGeom>
        </p:spPr>
      </p:pic>
      <p:sp>
        <p:nvSpPr>
          <p:cNvPr id="17460" name="TextBox 17459"/>
          <p:cNvSpPr txBox="1"/>
          <p:nvPr/>
        </p:nvSpPr>
        <p:spPr>
          <a:xfrm>
            <a:off x="2261693" y="3596447"/>
            <a:ext cx="1078992" cy="292608"/>
          </a:xfrm>
          <a:prstGeom prst="rect">
            <a:avLst/>
          </a:prstGeom>
          <a:noFill/>
        </p:spPr>
        <p:txBody>
          <a:bodyPr wrap="square" anchor="ctr" lIns="27432" rIns="27432" tIns="9144" bIns="9144">
            <a:spAutoFit/>
          </a:bodyPr>
          <a:lstStyle/>
          <a:p>
            <a:r>
              <a:rPr sz="900" b="1">
                <a:solidFill>
                  <a:srgbClr val="172131"/>
                </a:solidFill>
                <a:latin typeface="Calibri"/>
              </a:rPr>
              <a:t>Repair rules</a:t>
            </a:r>
          </a:p>
        </p:txBody>
      </p:sp>
      <p:sp>
        <p:nvSpPr>
          <p:cNvPr id="17461" name="TextBox 17460"/>
          <p:cNvSpPr txBox="1"/>
          <p:nvPr/>
        </p:nvSpPr>
        <p:spPr>
          <a:xfrm>
            <a:off x="1959940" y="3898199"/>
            <a:ext cx="1371600" cy="365760"/>
          </a:xfrm>
          <a:prstGeom prst="rect">
            <a:avLst/>
          </a:prstGeom>
          <a:noFill/>
        </p:spPr>
        <p:txBody>
          <a:bodyPr wrap="square" anchor="t" lIns="27432" rIns="27432" tIns="9144" bIns="9144">
            <a:spAutoFit/>
          </a:bodyPr>
          <a:lstStyle/>
          <a:p>
            <a:r>
              <a:rPr sz="780" b="1">
                <a:solidFill>
                  <a:srgbClr val="0E7C86"/>
                </a:solidFill>
                <a:latin typeface="Calibri"/>
              </a:rPr>
              <a:t>Python · regex · DP</a:t>
            </a:r>
          </a:p>
          <a:p>
            <a:r>
              <a:rPr sz="740" b="0">
                <a:solidFill>
                  <a:srgbClr val="555F6D"/>
                </a:solidFill>
                <a:latin typeface="Calibri"/>
              </a:rPr>
              <a:t>logos, page numbers, glued titles</a:t>
            </a:r>
          </a:p>
        </p:txBody>
      </p:sp>
      <p:sp>
        <p:nvSpPr>
          <p:cNvPr id="17462" name="Rounded Rectangle 17461"/>
          <p:cNvSpPr/>
          <p:nvPr/>
        </p:nvSpPr>
        <p:spPr>
          <a:xfrm>
            <a:off x="1923364" y="4337112"/>
            <a:ext cx="1444752" cy="713232"/>
          </a:xfrm>
          <a:prstGeom prst="roundRect">
            <a:avLst>
              <a:gd name="adj" fmla="val 12000"/>
            </a:avLst>
          </a:prstGeom>
          <a:solidFill>
            <a:srgbClr val="FFFFFF"/>
          </a:solidFill>
          <a:ln w="952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3" name="Oval 17462"/>
          <p:cNvSpPr/>
          <p:nvPr/>
        </p:nvSpPr>
        <p:spPr>
          <a:xfrm>
            <a:off x="1959940" y="4401120"/>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64" name="Picture 17463" descr="image.png"/>
          <p:cNvPicPr>
            <a:picLocks noChangeAspect="1"/>
          </p:cNvPicPr>
          <p:nvPr/>
        </p:nvPicPr>
        <p:blipFill>
          <a:blip r:embed="rId18"/>
          <a:stretch>
            <a:fillRect/>
          </a:stretch>
        </p:blipFill>
        <p:spPr>
          <a:xfrm>
            <a:off x="2014804" y="4455984"/>
            <a:ext cx="164592" cy="164592"/>
          </a:xfrm>
          <a:prstGeom prst="rect">
            <a:avLst/>
          </a:prstGeom>
        </p:spPr>
      </p:pic>
      <p:sp>
        <p:nvSpPr>
          <p:cNvPr id="17465" name="TextBox 17464"/>
          <p:cNvSpPr txBox="1"/>
          <p:nvPr/>
        </p:nvSpPr>
        <p:spPr>
          <a:xfrm>
            <a:off x="2261693" y="4373688"/>
            <a:ext cx="1078992" cy="292608"/>
          </a:xfrm>
          <a:prstGeom prst="rect">
            <a:avLst/>
          </a:prstGeom>
          <a:noFill/>
        </p:spPr>
        <p:txBody>
          <a:bodyPr wrap="square" anchor="ctr" lIns="27432" rIns="27432" tIns="9144" bIns="9144">
            <a:spAutoFit/>
          </a:bodyPr>
          <a:lstStyle/>
          <a:p>
            <a:r>
              <a:rPr sz="900" b="1">
                <a:solidFill>
                  <a:srgbClr val="172131"/>
                </a:solidFill>
                <a:latin typeface="Calibri"/>
              </a:rPr>
              <a:t>Colour DNA</a:t>
            </a:r>
          </a:p>
        </p:txBody>
      </p:sp>
      <p:sp>
        <p:nvSpPr>
          <p:cNvPr id="17466" name="TextBox 17465"/>
          <p:cNvSpPr txBox="1"/>
          <p:nvPr/>
        </p:nvSpPr>
        <p:spPr>
          <a:xfrm>
            <a:off x="1959940" y="4675440"/>
            <a:ext cx="1371600" cy="365760"/>
          </a:xfrm>
          <a:prstGeom prst="rect">
            <a:avLst/>
          </a:prstGeom>
          <a:noFill/>
        </p:spPr>
        <p:txBody>
          <a:bodyPr wrap="square" anchor="t" lIns="27432" rIns="27432" tIns="9144" bIns="9144">
            <a:spAutoFit/>
          </a:bodyPr>
          <a:lstStyle/>
          <a:p>
            <a:r>
              <a:rPr sz="780" b="1">
                <a:solidFill>
                  <a:srgbClr val="0E7C86"/>
                </a:solidFill>
                <a:latin typeface="Calibri"/>
              </a:rPr>
              <a:t>Pillow colour clustering</a:t>
            </a:r>
          </a:p>
          <a:p>
            <a:r>
              <a:rPr sz="740" b="0">
                <a:solidFill>
                  <a:srgbClr val="555F6D"/>
                </a:solidFill>
                <a:latin typeface="Calibri"/>
              </a:rPr>
              <a:t>source palette → deck theme</a:t>
            </a:r>
          </a:p>
        </p:txBody>
      </p:sp>
      <p:cxnSp>
        <p:nvCxnSpPr>
          <p:cNvPr id="17467" name="Connector 17466"/>
          <p:cNvCxnSpPr/>
          <p:nvPr/>
        </p:nvCxnSpPr>
        <p:spPr>
          <a:xfrm>
            <a:off x="3432124" y="3093528"/>
            <a:ext cx="91441" cy="0"/>
          </a:xfrm>
          <a:prstGeom prst="line">
            <a:avLst/>
          </a:prstGeom>
          <a:ln w="25400">
            <a:solidFill>
              <a:srgbClr val="172131"/>
            </a:solidFill>
            <a:tailEnd type="triangle"/>
          </a:ln>
        </p:spPr>
        <p:style>
          <a:lnRef idx="2">
            <a:schemeClr val="accent1"/>
          </a:lnRef>
          <a:fillRef idx="0">
            <a:schemeClr val="accent1"/>
          </a:fillRef>
          <a:effectRef idx="1">
            <a:schemeClr val="accent1"/>
          </a:effectRef>
          <a:fontRef idx="minor">
            <a:schemeClr val="tx1"/>
          </a:fontRef>
        </p:style>
      </p:cxnSp>
      <p:sp>
        <p:nvSpPr>
          <p:cNvPr id="17468" name="Rounded Rectangle 17467"/>
          <p:cNvSpPr/>
          <p:nvPr/>
        </p:nvSpPr>
        <p:spPr>
          <a:xfrm>
            <a:off x="3532708" y="1008696"/>
            <a:ext cx="1554480" cy="4114800"/>
          </a:xfrm>
          <a:prstGeom prst="roundRect">
            <a:avLst>
              <a:gd name="adj" fmla="val 4000"/>
            </a:avLst>
          </a:prstGeom>
          <a:solidFill>
            <a:srgbClr val="F7F8FB"/>
          </a:solidFill>
          <a:ln w="9525">
            <a:solidFill>
              <a:srgbClr val="F2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9" name="Rounded Rectangle 17468"/>
          <p:cNvSpPr/>
          <p:nvPr/>
        </p:nvSpPr>
        <p:spPr>
          <a:xfrm>
            <a:off x="3715588" y="953831"/>
            <a:ext cx="1188719" cy="219456"/>
          </a:xfrm>
          <a:prstGeom prst="roundRect">
            <a:avLst>
              <a:gd name="adj" fmla="val 50000"/>
            </a:avLst>
          </a:prstGeom>
          <a:solidFill>
            <a:srgbClr val="F2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0" name="TextBox 17469"/>
          <p:cNvSpPr txBox="1"/>
          <p:nvPr/>
        </p:nvSpPr>
        <p:spPr>
          <a:xfrm>
            <a:off x="3715588" y="953831"/>
            <a:ext cx="1188719" cy="219456"/>
          </a:xfrm>
          <a:prstGeom prst="rect">
            <a:avLst/>
          </a:prstGeom>
          <a:noFill/>
        </p:spPr>
        <p:txBody>
          <a:bodyPr wrap="square" anchor="ctr" lIns="27432" rIns="27432" tIns="9144" bIns="9144">
            <a:spAutoFit/>
          </a:bodyPr>
          <a:lstStyle/>
          <a:p>
            <a:pPr algn="ctr"/>
            <a:r>
              <a:rPr sz="850" b="1">
                <a:solidFill>
                  <a:srgbClr val="FFFFFF"/>
                </a:solidFill>
                <a:latin typeface="Calibri"/>
              </a:rPr>
              <a:t>ENGINES</a:t>
            </a:r>
          </a:p>
        </p:txBody>
      </p:sp>
      <p:sp>
        <p:nvSpPr>
          <p:cNvPr id="17471" name="Rounded Rectangle 17470"/>
          <p:cNvSpPr/>
          <p:nvPr/>
        </p:nvSpPr>
        <p:spPr>
          <a:xfrm>
            <a:off x="3587572" y="1228152"/>
            <a:ext cx="1444752" cy="713232"/>
          </a:xfrm>
          <a:prstGeom prst="roundRect">
            <a:avLst>
              <a:gd name="adj" fmla="val 12000"/>
            </a:avLst>
          </a:prstGeom>
          <a:solidFill>
            <a:srgbClr val="FFFFFF"/>
          </a:solidFill>
          <a:ln w="9525">
            <a:solidFill>
              <a:srgbClr val="F2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2" name="Oval 17471"/>
          <p:cNvSpPr/>
          <p:nvPr/>
        </p:nvSpPr>
        <p:spPr>
          <a:xfrm>
            <a:off x="3624148" y="1292160"/>
            <a:ext cx="274320" cy="274320"/>
          </a:xfrm>
          <a:prstGeom prst="ellipse">
            <a:avLst/>
          </a:prstGeom>
          <a:solidFill>
            <a:srgbClr val="F2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73" name="Picture 17472" descr="image.png"/>
          <p:cNvPicPr>
            <a:picLocks noChangeAspect="1"/>
          </p:cNvPicPr>
          <p:nvPr/>
        </p:nvPicPr>
        <p:blipFill>
          <a:blip r:embed="rId19"/>
          <a:stretch>
            <a:fillRect/>
          </a:stretch>
        </p:blipFill>
        <p:spPr>
          <a:xfrm>
            <a:off x="3679012" y="1347024"/>
            <a:ext cx="164592" cy="164592"/>
          </a:xfrm>
          <a:prstGeom prst="rect">
            <a:avLst/>
          </a:prstGeom>
        </p:spPr>
      </p:pic>
      <p:sp>
        <p:nvSpPr>
          <p:cNvPr id="17474" name="TextBox 17473"/>
          <p:cNvSpPr txBox="1"/>
          <p:nvPr/>
        </p:nvSpPr>
        <p:spPr>
          <a:xfrm>
            <a:off x="3925900" y="1264728"/>
            <a:ext cx="1078992" cy="292608"/>
          </a:xfrm>
          <a:prstGeom prst="rect">
            <a:avLst/>
          </a:prstGeom>
          <a:noFill/>
        </p:spPr>
        <p:txBody>
          <a:bodyPr wrap="square" anchor="ctr" lIns="27432" rIns="27432" tIns="9144" bIns="9144">
            <a:spAutoFit/>
          </a:bodyPr>
          <a:lstStyle/>
          <a:p>
            <a:r>
              <a:rPr sz="900" b="1">
                <a:solidFill>
                  <a:srgbClr val="172131"/>
                </a:solidFill>
                <a:latin typeface="Calibri"/>
              </a:rPr>
              <a:t>Planner + CLASS</a:t>
            </a:r>
          </a:p>
        </p:txBody>
      </p:sp>
      <p:sp>
        <p:nvSpPr>
          <p:cNvPr id="17475" name="TextBox 17474"/>
          <p:cNvSpPr txBox="1"/>
          <p:nvPr/>
        </p:nvSpPr>
        <p:spPr>
          <a:xfrm>
            <a:off x="3624148" y="1566479"/>
            <a:ext cx="1371600" cy="365760"/>
          </a:xfrm>
          <a:prstGeom prst="rect">
            <a:avLst/>
          </a:prstGeom>
          <a:noFill/>
        </p:spPr>
        <p:txBody>
          <a:bodyPr wrap="square" anchor="t" lIns="27432" rIns="27432" tIns="9144" bIns="9144">
            <a:spAutoFit/>
          </a:bodyPr>
          <a:lstStyle/>
          <a:p>
            <a:r>
              <a:rPr sz="780" b="1">
                <a:solidFill>
                  <a:srgbClr val="F27A2E"/>
                </a:solidFill>
                <a:latin typeface="Calibri"/>
              </a:rPr>
              <a:t>Python dynamic programming</a:t>
            </a:r>
          </a:p>
          <a:p>
            <a:r>
              <a:rPr sz="740" b="0">
                <a:solidFill>
                  <a:srgbClr val="555F6D"/>
                </a:solidFill>
                <a:latin typeface="Calibri"/>
              </a:rPr>
              <a:t>load-optimal split, agenda</a:t>
            </a:r>
          </a:p>
        </p:txBody>
      </p:sp>
      <p:sp>
        <p:nvSpPr>
          <p:cNvPr id="17476" name="Rounded Rectangle 17475"/>
          <p:cNvSpPr/>
          <p:nvPr/>
        </p:nvSpPr>
        <p:spPr>
          <a:xfrm>
            <a:off x="3587572" y="2005391"/>
            <a:ext cx="1444752" cy="713232"/>
          </a:xfrm>
          <a:prstGeom prst="roundRect">
            <a:avLst>
              <a:gd name="adj" fmla="val 12000"/>
            </a:avLst>
          </a:prstGeom>
          <a:solidFill>
            <a:srgbClr val="FFFFFF"/>
          </a:solidFill>
          <a:ln w="9525">
            <a:solidFill>
              <a:srgbClr val="F2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7" name="Oval 17476"/>
          <p:cNvSpPr/>
          <p:nvPr/>
        </p:nvSpPr>
        <p:spPr>
          <a:xfrm>
            <a:off x="3624148" y="2069399"/>
            <a:ext cx="274320" cy="274320"/>
          </a:xfrm>
          <a:prstGeom prst="ellipse">
            <a:avLst/>
          </a:prstGeom>
          <a:solidFill>
            <a:srgbClr val="F2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78" name="Picture 17477" descr="image.png"/>
          <p:cNvPicPr>
            <a:picLocks noChangeAspect="1"/>
          </p:cNvPicPr>
          <p:nvPr/>
        </p:nvPicPr>
        <p:blipFill>
          <a:blip r:embed="rId20"/>
          <a:stretch>
            <a:fillRect/>
          </a:stretch>
        </p:blipFill>
        <p:spPr>
          <a:xfrm>
            <a:off x="3679012" y="2124263"/>
            <a:ext cx="164592" cy="164592"/>
          </a:xfrm>
          <a:prstGeom prst="rect">
            <a:avLst/>
          </a:prstGeom>
        </p:spPr>
      </p:pic>
      <p:sp>
        <p:nvSpPr>
          <p:cNvPr id="17479" name="TextBox 17478"/>
          <p:cNvSpPr txBox="1"/>
          <p:nvPr/>
        </p:nvSpPr>
        <p:spPr>
          <a:xfrm>
            <a:off x="3925900" y="2041968"/>
            <a:ext cx="1078992" cy="292608"/>
          </a:xfrm>
          <a:prstGeom prst="rect">
            <a:avLst/>
          </a:prstGeom>
          <a:noFill/>
        </p:spPr>
        <p:txBody>
          <a:bodyPr wrap="square" anchor="ctr" lIns="27432" rIns="27432" tIns="9144" bIns="9144">
            <a:spAutoFit/>
          </a:bodyPr>
          <a:lstStyle/>
          <a:p>
            <a:r>
              <a:rPr sz="900" b="1">
                <a:solidFill>
                  <a:srgbClr val="172131"/>
                </a:solidFill>
                <a:latin typeface="Calibri"/>
              </a:rPr>
              <a:t>Decision engine</a:t>
            </a:r>
          </a:p>
        </p:txBody>
      </p:sp>
      <p:sp>
        <p:nvSpPr>
          <p:cNvPr id="17480" name="TextBox 17479"/>
          <p:cNvSpPr txBox="1"/>
          <p:nvPr/>
        </p:nvSpPr>
        <p:spPr>
          <a:xfrm>
            <a:off x="3624148" y="2343720"/>
            <a:ext cx="1371600" cy="365760"/>
          </a:xfrm>
          <a:prstGeom prst="rect">
            <a:avLst/>
          </a:prstGeom>
          <a:noFill/>
        </p:spPr>
        <p:txBody>
          <a:bodyPr wrap="square" anchor="t" lIns="27432" rIns="27432" tIns="9144" bIns="9144">
            <a:spAutoFit/>
          </a:bodyPr>
          <a:lstStyle/>
          <a:p>
            <a:r>
              <a:rPr sz="780" b="1">
                <a:solidFill>
                  <a:srgbClr val="F27A2E"/>
                </a:solidFill>
                <a:latin typeface="Calibri"/>
              </a:rPr>
              <a:t>27 rule detectors</a:t>
            </a:r>
          </a:p>
          <a:p>
            <a:r>
              <a:rPr sz="740" b="0">
                <a:solidFill>
                  <a:srgbClr val="555F6D"/>
                </a:solidFill>
                <a:latin typeface="Calibri"/>
              </a:rPr>
              <a:t>visual family + reason</a:t>
            </a:r>
          </a:p>
        </p:txBody>
      </p:sp>
      <p:sp>
        <p:nvSpPr>
          <p:cNvPr id="17481" name="Rounded Rectangle 17480"/>
          <p:cNvSpPr/>
          <p:nvPr/>
        </p:nvSpPr>
        <p:spPr>
          <a:xfrm>
            <a:off x="3587572" y="2782632"/>
            <a:ext cx="1444752" cy="713232"/>
          </a:xfrm>
          <a:prstGeom prst="roundRect">
            <a:avLst>
              <a:gd name="adj" fmla="val 12000"/>
            </a:avLst>
          </a:prstGeom>
          <a:solidFill>
            <a:srgbClr val="FFFFFF"/>
          </a:solidFill>
          <a:ln w="9525">
            <a:solidFill>
              <a:srgbClr val="F2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2" name="Oval 17481"/>
          <p:cNvSpPr/>
          <p:nvPr/>
        </p:nvSpPr>
        <p:spPr>
          <a:xfrm>
            <a:off x="3624148" y="2846640"/>
            <a:ext cx="274320" cy="274320"/>
          </a:xfrm>
          <a:prstGeom prst="ellipse">
            <a:avLst/>
          </a:prstGeom>
          <a:solidFill>
            <a:srgbClr val="F2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83" name="Picture 17482" descr="image.png"/>
          <p:cNvPicPr>
            <a:picLocks noChangeAspect="1"/>
          </p:cNvPicPr>
          <p:nvPr/>
        </p:nvPicPr>
        <p:blipFill>
          <a:blip r:embed="rId21"/>
          <a:stretch>
            <a:fillRect/>
          </a:stretch>
        </p:blipFill>
        <p:spPr>
          <a:xfrm>
            <a:off x="3679012" y="2901504"/>
            <a:ext cx="164592" cy="164592"/>
          </a:xfrm>
          <a:prstGeom prst="rect">
            <a:avLst/>
          </a:prstGeom>
        </p:spPr>
      </p:pic>
      <p:sp>
        <p:nvSpPr>
          <p:cNvPr id="17484" name="TextBox 17483"/>
          <p:cNvSpPr txBox="1"/>
          <p:nvPr/>
        </p:nvSpPr>
        <p:spPr>
          <a:xfrm>
            <a:off x="3925900" y="2819208"/>
            <a:ext cx="1078992" cy="292608"/>
          </a:xfrm>
          <a:prstGeom prst="rect">
            <a:avLst/>
          </a:prstGeom>
          <a:noFill/>
        </p:spPr>
        <p:txBody>
          <a:bodyPr wrap="square" anchor="ctr" lIns="27432" rIns="27432" tIns="9144" bIns="9144">
            <a:spAutoFit/>
          </a:bodyPr>
          <a:lstStyle/>
          <a:p>
            <a:r>
              <a:rPr sz="900" b="1">
                <a:solidFill>
                  <a:srgbClr val="172131"/>
                </a:solidFill>
                <a:latin typeface="Calibri"/>
              </a:rPr>
              <a:t>Layout engine</a:t>
            </a:r>
          </a:p>
        </p:txBody>
      </p:sp>
      <p:sp>
        <p:nvSpPr>
          <p:cNvPr id="17485" name="TextBox 17484"/>
          <p:cNvSpPr txBox="1"/>
          <p:nvPr/>
        </p:nvSpPr>
        <p:spPr>
          <a:xfrm>
            <a:off x="3624148" y="3120960"/>
            <a:ext cx="1371600" cy="365760"/>
          </a:xfrm>
          <a:prstGeom prst="rect">
            <a:avLst/>
          </a:prstGeom>
          <a:noFill/>
        </p:spPr>
        <p:txBody>
          <a:bodyPr wrap="square" anchor="t" lIns="27432" rIns="27432" tIns="9144" bIns="9144">
            <a:spAutoFit/>
          </a:bodyPr>
          <a:lstStyle/>
          <a:p>
            <a:r>
              <a:rPr sz="780" b="1">
                <a:solidFill>
                  <a:srgbClr val="F27A2E"/>
                </a:solidFill>
                <a:latin typeface="Calibri"/>
              </a:rPr>
              <a:t>glyph metrics · python-pptx</a:t>
            </a:r>
          </a:p>
          <a:p>
            <a:r>
              <a:rPr sz="740" b="0">
                <a:solidFill>
                  <a:srgbClr val="555F6D"/>
                </a:solidFill>
                <a:latin typeface="Calibri"/>
              </a:rPr>
              <a:t>11 pt floor, no broken words</a:t>
            </a:r>
          </a:p>
        </p:txBody>
      </p:sp>
      <p:sp>
        <p:nvSpPr>
          <p:cNvPr id="17486" name="Rounded Rectangle 17485"/>
          <p:cNvSpPr/>
          <p:nvPr/>
        </p:nvSpPr>
        <p:spPr>
          <a:xfrm>
            <a:off x="3587572" y="3559871"/>
            <a:ext cx="1444752" cy="713232"/>
          </a:xfrm>
          <a:prstGeom prst="roundRect">
            <a:avLst>
              <a:gd name="adj" fmla="val 12000"/>
            </a:avLst>
          </a:prstGeom>
          <a:solidFill>
            <a:srgbClr val="FFFFFF"/>
          </a:solidFill>
          <a:ln w="9525">
            <a:solidFill>
              <a:srgbClr val="F2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7" name="Oval 17486"/>
          <p:cNvSpPr/>
          <p:nvPr/>
        </p:nvSpPr>
        <p:spPr>
          <a:xfrm>
            <a:off x="3624148" y="3623879"/>
            <a:ext cx="274320" cy="274320"/>
          </a:xfrm>
          <a:prstGeom prst="ellipse">
            <a:avLst/>
          </a:prstGeom>
          <a:solidFill>
            <a:srgbClr val="F2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88" name="Picture 17487" descr="image.png"/>
          <p:cNvPicPr>
            <a:picLocks noChangeAspect="1"/>
          </p:cNvPicPr>
          <p:nvPr/>
        </p:nvPicPr>
        <p:blipFill>
          <a:blip r:embed="rId22"/>
          <a:stretch>
            <a:fillRect/>
          </a:stretch>
        </p:blipFill>
        <p:spPr>
          <a:xfrm>
            <a:off x="3679012" y="3678743"/>
            <a:ext cx="164592" cy="164592"/>
          </a:xfrm>
          <a:prstGeom prst="rect">
            <a:avLst/>
          </a:prstGeom>
        </p:spPr>
      </p:pic>
      <p:sp>
        <p:nvSpPr>
          <p:cNvPr id="17489" name="TextBox 17488"/>
          <p:cNvSpPr txBox="1"/>
          <p:nvPr/>
        </p:nvSpPr>
        <p:spPr>
          <a:xfrm>
            <a:off x="3925900" y="3596447"/>
            <a:ext cx="1078992" cy="292608"/>
          </a:xfrm>
          <a:prstGeom prst="rect">
            <a:avLst/>
          </a:prstGeom>
          <a:noFill/>
        </p:spPr>
        <p:txBody>
          <a:bodyPr wrap="square" anchor="ctr" lIns="27432" rIns="27432" tIns="9144" bIns="9144">
            <a:spAutoFit/>
          </a:bodyPr>
          <a:lstStyle/>
          <a:p>
            <a:r>
              <a:rPr sz="900" b="1">
                <a:solidFill>
                  <a:srgbClr val="172131"/>
                </a:solidFill>
                <a:latin typeface="Calibri"/>
              </a:rPr>
              <a:t>Explainer solvers</a:t>
            </a:r>
          </a:p>
        </p:txBody>
      </p:sp>
      <p:sp>
        <p:nvSpPr>
          <p:cNvPr id="17490" name="TextBox 17489"/>
          <p:cNvSpPr txBox="1"/>
          <p:nvPr/>
        </p:nvSpPr>
        <p:spPr>
          <a:xfrm>
            <a:off x="3624148" y="3898199"/>
            <a:ext cx="1371600" cy="365760"/>
          </a:xfrm>
          <a:prstGeom prst="rect">
            <a:avLst/>
          </a:prstGeom>
          <a:noFill/>
        </p:spPr>
        <p:txBody>
          <a:bodyPr wrap="square" anchor="t" lIns="27432" rIns="27432" tIns="9144" bIns="9144">
            <a:spAutoFit/>
          </a:bodyPr>
          <a:lstStyle/>
          <a:p>
            <a:r>
              <a:rPr sz="780" b="1">
                <a:solidFill>
                  <a:srgbClr val="F27A2E"/>
                </a:solidFill>
                <a:latin typeface="Calibri"/>
              </a:rPr>
              <a:t>SymPy · exact fractions</a:t>
            </a:r>
          </a:p>
          <a:p>
            <a:r>
              <a:rPr sz="740" b="0">
                <a:solidFill>
                  <a:srgbClr val="555F6D"/>
                </a:solidFill>
                <a:latin typeface="Calibri"/>
              </a:rPr>
              <a:t>steps with reasons</a:t>
            </a:r>
          </a:p>
        </p:txBody>
      </p:sp>
      <p:sp>
        <p:nvSpPr>
          <p:cNvPr id="17491" name="Rounded Rectangle 17490"/>
          <p:cNvSpPr/>
          <p:nvPr/>
        </p:nvSpPr>
        <p:spPr>
          <a:xfrm>
            <a:off x="3587572" y="4337112"/>
            <a:ext cx="1444752" cy="713232"/>
          </a:xfrm>
          <a:prstGeom prst="roundRect">
            <a:avLst>
              <a:gd name="adj" fmla="val 12000"/>
            </a:avLst>
          </a:prstGeom>
          <a:solidFill>
            <a:srgbClr val="FFFFFF"/>
          </a:solidFill>
          <a:ln w="9525">
            <a:solidFill>
              <a:srgbClr val="F2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2" name="Oval 17491"/>
          <p:cNvSpPr/>
          <p:nvPr/>
        </p:nvSpPr>
        <p:spPr>
          <a:xfrm>
            <a:off x="3624148" y="4401120"/>
            <a:ext cx="274320" cy="274320"/>
          </a:xfrm>
          <a:prstGeom prst="ellipse">
            <a:avLst/>
          </a:prstGeom>
          <a:solidFill>
            <a:srgbClr val="F2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93" name="Picture 17492" descr="image.png"/>
          <p:cNvPicPr>
            <a:picLocks noChangeAspect="1"/>
          </p:cNvPicPr>
          <p:nvPr/>
        </p:nvPicPr>
        <p:blipFill>
          <a:blip r:embed="rId23"/>
          <a:stretch>
            <a:fillRect/>
          </a:stretch>
        </p:blipFill>
        <p:spPr>
          <a:xfrm>
            <a:off x="3679012" y="4455984"/>
            <a:ext cx="164592" cy="164592"/>
          </a:xfrm>
          <a:prstGeom prst="rect">
            <a:avLst/>
          </a:prstGeom>
        </p:spPr>
      </p:pic>
      <p:sp>
        <p:nvSpPr>
          <p:cNvPr id="17494" name="TextBox 17493"/>
          <p:cNvSpPr txBox="1"/>
          <p:nvPr/>
        </p:nvSpPr>
        <p:spPr>
          <a:xfrm>
            <a:off x="3925900" y="4373688"/>
            <a:ext cx="1078992" cy="292608"/>
          </a:xfrm>
          <a:prstGeom prst="rect">
            <a:avLst/>
          </a:prstGeom>
          <a:noFill/>
        </p:spPr>
        <p:txBody>
          <a:bodyPr wrap="square" anchor="ctr" lIns="27432" rIns="27432" tIns="9144" bIns="9144">
            <a:spAutoFit/>
          </a:bodyPr>
          <a:lstStyle/>
          <a:p>
            <a:r>
              <a:rPr sz="900" b="1">
                <a:solidFill>
                  <a:srgbClr val="172131"/>
                </a:solidFill>
                <a:latin typeface="Calibri"/>
              </a:rPr>
              <a:t>PSF scorer + audit</a:t>
            </a:r>
          </a:p>
        </p:txBody>
      </p:sp>
      <p:sp>
        <p:nvSpPr>
          <p:cNvPr id="17495" name="TextBox 17494"/>
          <p:cNvSpPr txBox="1"/>
          <p:nvPr/>
        </p:nvSpPr>
        <p:spPr>
          <a:xfrm>
            <a:off x="3624148" y="4675440"/>
            <a:ext cx="1371600" cy="365760"/>
          </a:xfrm>
          <a:prstGeom prst="rect">
            <a:avLst/>
          </a:prstGeom>
          <a:noFill/>
        </p:spPr>
        <p:txBody>
          <a:bodyPr wrap="square" anchor="t" lIns="27432" rIns="27432" tIns="9144" bIns="9144">
            <a:spAutoFit/>
          </a:bodyPr>
          <a:lstStyle/>
          <a:p>
            <a:r>
              <a:rPr sz="780" b="1">
                <a:solidFill>
                  <a:srgbClr val="F27A2E"/>
                </a:solidFill>
                <a:latin typeface="Calibri"/>
              </a:rPr>
              <a:t>NumPy · pytest</a:t>
            </a:r>
          </a:p>
          <a:p>
            <a:r>
              <a:rPr sz="740" b="0">
                <a:solidFill>
                  <a:srgbClr val="555F6D"/>
                </a:solidFill>
                <a:latin typeface="Calibri"/>
              </a:rPr>
              <a:t>fitness, overflow, facts kept</a:t>
            </a:r>
          </a:p>
        </p:txBody>
      </p:sp>
      <p:cxnSp>
        <p:nvCxnSpPr>
          <p:cNvPr id="17496" name="Connector 17495"/>
          <p:cNvCxnSpPr/>
          <p:nvPr/>
        </p:nvCxnSpPr>
        <p:spPr>
          <a:xfrm>
            <a:off x="5096333" y="3093528"/>
            <a:ext cx="91440" cy="0"/>
          </a:xfrm>
          <a:prstGeom prst="line">
            <a:avLst/>
          </a:prstGeom>
          <a:ln w="25400">
            <a:solidFill>
              <a:srgbClr val="172131"/>
            </a:solidFill>
            <a:tailEnd type="triangle"/>
          </a:ln>
        </p:spPr>
        <p:style>
          <a:lnRef idx="2">
            <a:schemeClr val="accent1"/>
          </a:lnRef>
          <a:fillRef idx="0">
            <a:schemeClr val="accent1"/>
          </a:fillRef>
          <a:effectRef idx="1">
            <a:schemeClr val="accent1"/>
          </a:effectRef>
          <a:fontRef idx="minor">
            <a:schemeClr val="tx1"/>
          </a:fontRef>
        </p:style>
      </p:cxnSp>
      <p:sp>
        <p:nvSpPr>
          <p:cNvPr id="17497" name="Rounded Rectangle 17496"/>
          <p:cNvSpPr/>
          <p:nvPr/>
        </p:nvSpPr>
        <p:spPr>
          <a:xfrm>
            <a:off x="5196916" y="1008696"/>
            <a:ext cx="1554480" cy="4114800"/>
          </a:xfrm>
          <a:prstGeom prst="roundRect">
            <a:avLst>
              <a:gd name="adj" fmla="val 4000"/>
            </a:avLst>
          </a:prstGeom>
          <a:solidFill>
            <a:srgbClr val="F7F8FB"/>
          </a:solidFill>
          <a:ln w="9525">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8" name="Rounded Rectangle 17497"/>
          <p:cNvSpPr/>
          <p:nvPr/>
        </p:nvSpPr>
        <p:spPr>
          <a:xfrm>
            <a:off x="5379796" y="953831"/>
            <a:ext cx="1188719" cy="219456"/>
          </a:xfrm>
          <a:prstGeom prst="roundRect">
            <a:avLst>
              <a:gd name="adj" fmla="val 50000"/>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9" name="TextBox 17498"/>
          <p:cNvSpPr txBox="1"/>
          <p:nvPr/>
        </p:nvSpPr>
        <p:spPr>
          <a:xfrm>
            <a:off x="5379796" y="953831"/>
            <a:ext cx="1188719" cy="219456"/>
          </a:xfrm>
          <a:prstGeom prst="rect">
            <a:avLst/>
          </a:prstGeom>
          <a:noFill/>
        </p:spPr>
        <p:txBody>
          <a:bodyPr wrap="square" anchor="ctr" lIns="27432" rIns="27432" tIns="9144" bIns="9144">
            <a:spAutoFit/>
          </a:bodyPr>
          <a:lstStyle/>
          <a:p>
            <a:pPr algn="ctr"/>
            <a:r>
              <a:rPr sz="850" b="1">
                <a:solidFill>
                  <a:srgbClr val="FFFFFF"/>
                </a:solidFill>
                <a:latin typeface="Calibri"/>
              </a:rPr>
              <a:t>AI SERVICE</a:t>
            </a:r>
          </a:p>
        </p:txBody>
      </p:sp>
      <p:sp>
        <p:nvSpPr>
          <p:cNvPr id="17500" name="Rounded Rectangle 17499"/>
          <p:cNvSpPr/>
          <p:nvPr/>
        </p:nvSpPr>
        <p:spPr>
          <a:xfrm>
            <a:off x="5251780" y="1228152"/>
            <a:ext cx="1444752" cy="713232"/>
          </a:xfrm>
          <a:prstGeom prst="roundRect">
            <a:avLst>
              <a:gd name="adj" fmla="val 12000"/>
            </a:avLst>
          </a:prstGeom>
          <a:solidFill>
            <a:srgbClr val="FFFFFF"/>
          </a:solidFill>
          <a:ln w="9525">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1" name="Oval 17500"/>
          <p:cNvSpPr/>
          <p:nvPr/>
        </p:nvSpPr>
        <p:spPr>
          <a:xfrm>
            <a:off x="5288356" y="1292160"/>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02" name="Picture 17501" descr="image.png"/>
          <p:cNvPicPr>
            <a:picLocks noChangeAspect="1"/>
          </p:cNvPicPr>
          <p:nvPr/>
        </p:nvPicPr>
        <p:blipFill>
          <a:blip r:embed="rId24"/>
          <a:stretch>
            <a:fillRect/>
          </a:stretch>
        </p:blipFill>
        <p:spPr>
          <a:xfrm>
            <a:off x="5343220" y="1347024"/>
            <a:ext cx="164592" cy="164592"/>
          </a:xfrm>
          <a:prstGeom prst="rect">
            <a:avLst/>
          </a:prstGeom>
        </p:spPr>
      </p:pic>
      <p:sp>
        <p:nvSpPr>
          <p:cNvPr id="17503" name="TextBox 17502"/>
          <p:cNvSpPr txBox="1"/>
          <p:nvPr/>
        </p:nvSpPr>
        <p:spPr>
          <a:xfrm>
            <a:off x="5590108" y="1264728"/>
            <a:ext cx="1078992" cy="292608"/>
          </a:xfrm>
          <a:prstGeom prst="rect">
            <a:avLst/>
          </a:prstGeom>
          <a:noFill/>
        </p:spPr>
        <p:txBody>
          <a:bodyPr wrap="square" anchor="ctr" lIns="27432" rIns="27432" tIns="9144" bIns="9144">
            <a:spAutoFit/>
          </a:bodyPr>
          <a:lstStyle/>
          <a:p>
            <a:r>
              <a:rPr sz="900" b="1">
                <a:solidFill>
                  <a:srgbClr val="172131"/>
                </a:solidFill>
                <a:latin typeface="Calibri"/>
              </a:rPr>
              <a:t>LLM router</a:t>
            </a:r>
          </a:p>
        </p:txBody>
      </p:sp>
      <p:sp>
        <p:nvSpPr>
          <p:cNvPr id="17504" name="TextBox 17503"/>
          <p:cNvSpPr txBox="1"/>
          <p:nvPr/>
        </p:nvSpPr>
        <p:spPr>
          <a:xfrm>
            <a:off x="5288356" y="1566479"/>
            <a:ext cx="1371600" cy="365760"/>
          </a:xfrm>
          <a:prstGeom prst="rect">
            <a:avLst/>
          </a:prstGeom>
          <a:noFill/>
        </p:spPr>
        <p:txBody>
          <a:bodyPr wrap="square" anchor="t" lIns="27432" rIns="27432" tIns="9144" bIns="9144">
            <a:spAutoFit/>
          </a:bodyPr>
          <a:lstStyle/>
          <a:p>
            <a:r>
              <a:rPr sz="780" b="1">
                <a:solidFill>
                  <a:srgbClr val="6B3FA0"/>
                </a:solidFill>
                <a:latin typeface="Calibri"/>
              </a:rPr>
              <a:t>Gemini ×5 · Groq · NVIDIA</a:t>
            </a:r>
          </a:p>
          <a:p>
            <a:r>
              <a:rPr sz="740" b="0">
                <a:solidFill>
                  <a:srgbClr val="555F6D"/>
                </a:solidFill>
                <a:latin typeface="Calibri"/>
              </a:rPr>
              <a:t>failover, per-key pacing</a:t>
            </a:r>
          </a:p>
        </p:txBody>
      </p:sp>
      <p:sp>
        <p:nvSpPr>
          <p:cNvPr id="17505" name="Rounded Rectangle 17504"/>
          <p:cNvSpPr/>
          <p:nvPr/>
        </p:nvSpPr>
        <p:spPr>
          <a:xfrm>
            <a:off x="5251780" y="2005391"/>
            <a:ext cx="1444752" cy="713232"/>
          </a:xfrm>
          <a:prstGeom prst="roundRect">
            <a:avLst>
              <a:gd name="adj" fmla="val 12000"/>
            </a:avLst>
          </a:prstGeom>
          <a:solidFill>
            <a:srgbClr val="FFFFFF"/>
          </a:solidFill>
          <a:ln w="9525">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6" name="Oval 17505"/>
          <p:cNvSpPr/>
          <p:nvPr/>
        </p:nvSpPr>
        <p:spPr>
          <a:xfrm>
            <a:off x="5288356" y="2069399"/>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07" name="Picture 17506" descr="image.png"/>
          <p:cNvPicPr>
            <a:picLocks noChangeAspect="1"/>
          </p:cNvPicPr>
          <p:nvPr/>
        </p:nvPicPr>
        <p:blipFill>
          <a:blip r:embed="rId12"/>
          <a:stretch>
            <a:fillRect/>
          </a:stretch>
        </p:blipFill>
        <p:spPr>
          <a:xfrm>
            <a:off x="5343220" y="2124263"/>
            <a:ext cx="164592" cy="164592"/>
          </a:xfrm>
          <a:prstGeom prst="rect">
            <a:avLst/>
          </a:prstGeom>
        </p:spPr>
      </p:pic>
      <p:sp>
        <p:nvSpPr>
          <p:cNvPr id="17508" name="TextBox 17507"/>
          <p:cNvSpPr txBox="1"/>
          <p:nvPr/>
        </p:nvSpPr>
        <p:spPr>
          <a:xfrm>
            <a:off x="5590108" y="2041968"/>
            <a:ext cx="1078992" cy="292608"/>
          </a:xfrm>
          <a:prstGeom prst="rect">
            <a:avLst/>
          </a:prstGeom>
          <a:noFill/>
        </p:spPr>
        <p:txBody>
          <a:bodyPr wrap="square" anchor="ctr" lIns="27432" rIns="27432" tIns="9144" bIns="9144">
            <a:spAutoFit/>
          </a:bodyPr>
          <a:lstStyle/>
          <a:p>
            <a:r>
              <a:rPr sz="900" b="1">
                <a:solidFill>
                  <a:srgbClr val="172131"/>
                </a:solidFill>
                <a:latin typeface="Calibri"/>
              </a:rPr>
              <a:t>AI polish</a:t>
            </a:r>
          </a:p>
        </p:txBody>
      </p:sp>
      <p:sp>
        <p:nvSpPr>
          <p:cNvPr id="17509" name="TextBox 17508"/>
          <p:cNvSpPr txBox="1"/>
          <p:nvPr/>
        </p:nvSpPr>
        <p:spPr>
          <a:xfrm>
            <a:off x="5288356" y="2343720"/>
            <a:ext cx="1371600" cy="365760"/>
          </a:xfrm>
          <a:prstGeom prst="rect">
            <a:avLst/>
          </a:prstGeom>
          <a:noFill/>
        </p:spPr>
        <p:txBody>
          <a:bodyPr wrap="square" anchor="t" lIns="27432" rIns="27432" tIns="9144" bIns="9144">
            <a:spAutoFit/>
          </a:bodyPr>
          <a:lstStyle/>
          <a:p>
            <a:r>
              <a:rPr sz="780" b="1">
                <a:solidFill>
                  <a:srgbClr val="6B3FA0"/>
                </a:solidFill>
                <a:latin typeface="Calibri"/>
              </a:rPr>
              <a:t>Gemini 3.5 Flash-Lite</a:t>
            </a:r>
          </a:p>
          <a:p>
            <a:r>
              <a:rPr sz="740" b="0">
                <a:solidFill>
                  <a:srgbClr val="555F6D"/>
                </a:solidFill>
                <a:latin typeface="Calibri"/>
              </a:rPr>
              <a:t>assertion titles, explanations</a:t>
            </a:r>
          </a:p>
        </p:txBody>
      </p:sp>
      <p:sp>
        <p:nvSpPr>
          <p:cNvPr id="17510" name="Rounded Rectangle 17509"/>
          <p:cNvSpPr/>
          <p:nvPr/>
        </p:nvSpPr>
        <p:spPr>
          <a:xfrm>
            <a:off x="5251780" y="2782632"/>
            <a:ext cx="1444752" cy="713232"/>
          </a:xfrm>
          <a:prstGeom prst="roundRect">
            <a:avLst>
              <a:gd name="adj" fmla="val 12000"/>
            </a:avLst>
          </a:prstGeom>
          <a:solidFill>
            <a:srgbClr val="FFFFFF"/>
          </a:solidFill>
          <a:ln w="9525">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1" name="Oval 17510"/>
          <p:cNvSpPr/>
          <p:nvPr/>
        </p:nvSpPr>
        <p:spPr>
          <a:xfrm>
            <a:off x="5288356" y="2846640"/>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12" name="Picture 17511" descr="image.png"/>
          <p:cNvPicPr>
            <a:picLocks noChangeAspect="1"/>
          </p:cNvPicPr>
          <p:nvPr/>
        </p:nvPicPr>
        <p:blipFill>
          <a:blip r:embed="rId18"/>
          <a:stretch>
            <a:fillRect/>
          </a:stretch>
        </p:blipFill>
        <p:spPr>
          <a:xfrm>
            <a:off x="5343220" y="2901504"/>
            <a:ext cx="164592" cy="164592"/>
          </a:xfrm>
          <a:prstGeom prst="rect">
            <a:avLst/>
          </a:prstGeom>
        </p:spPr>
      </p:pic>
      <p:sp>
        <p:nvSpPr>
          <p:cNvPr id="17513" name="TextBox 17512"/>
          <p:cNvSpPr txBox="1"/>
          <p:nvPr/>
        </p:nvSpPr>
        <p:spPr>
          <a:xfrm>
            <a:off x="5590108" y="2819208"/>
            <a:ext cx="1078992" cy="292608"/>
          </a:xfrm>
          <a:prstGeom prst="rect">
            <a:avLst/>
          </a:prstGeom>
          <a:noFill/>
        </p:spPr>
        <p:txBody>
          <a:bodyPr wrap="square" anchor="ctr" lIns="27432" rIns="27432" tIns="9144" bIns="9144">
            <a:spAutoFit/>
          </a:bodyPr>
          <a:lstStyle/>
          <a:p>
            <a:r>
              <a:rPr sz="900" b="1">
                <a:solidFill>
                  <a:srgbClr val="172131"/>
                </a:solidFill>
                <a:latin typeface="Calibri"/>
              </a:rPr>
              <a:t>Topic diagrams</a:t>
            </a:r>
          </a:p>
        </p:txBody>
      </p:sp>
      <p:sp>
        <p:nvSpPr>
          <p:cNvPr id="17514" name="TextBox 17513"/>
          <p:cNvSpPr txBox="1"/>
          <p:nvPr/>
        </p:nvSpPr>
        <p:spPr>
          <a:xfrm>
            <a:off x="5288356" y="3120960"/>
            <a:ext cx="1371600" cy="365760"/>
          </a:xfrm>
          <a:prstGeom prst="rect">
            <a:avLst/>
          </a:prstGeom>
          <a:noFill/>
        </p:spPr>
        <p:txBody>
          <a:bodyPr wrap="square" anchor="t" lIns="27432" rIns="27432" tIns="9144" bIns="9144">
            <a:spAutoFit/>
          </a:bodyPr>
          <a:lstStyle/>
          <a:p>
            <a:r>
              <a:rPr sz="780" b="1">
                <a:solidFill>
                  <a:srgbClr val="6B3FA0"/>
                </a:solidFill>
                <a:latin typeface="Calibri"/>
              </a:rPr>
              <a:t>SVG → CairoSVG → PNG</a:t>
            </a:r>
          </a:p>
          <a:p>
            <a:r>
              <a:rPr sz="740" b="0">
                <a:solidFill>
                  <a:srgbClr val="555F6D"/>
                </a:solidFill>
                <a:latin typeface="Calibri"/>
              </a:rPr>
              <a:t>sanitised, linked HTML page</a:t>
            </a:r>
          </a:p>
        </p:txBody>
      </p:sp>
      <p:sp>
        <p:nvSpPr>
          <p:cNvPr id="17515" name="Rounded Rectangle 17514"/>
          <p:cNvSpPr/>
          <p:nvPr/>
        </p:nvSpPr>
        <p:spPr>
          <a:xfrm>
            <a:off x="5251780" y="3559871"/>
            <a:ext cx="1444752" cy="713232"/>
          </a:xfrm>
          <a:prstGeom prst="roundRect">
            <a:avLst>
              <a:gd name="adj" fmla="val 12000"/>
            </a:avLst>
          </a:prstGeom>
          <a:solidFill>
            <a:srgbClr val="FFFFFF"/>
          </a:solidFill>
          <a:ln w="9525">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6" name="Oval 17515"/>
          <p:cNvSpPr/>
          <p:nvPr/>
        </p:nvSpPr>
        <p:spPr>
          <a:xfrm>
            <a:off x="5288356" y="3623879"/>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17" name="Picture 17516" descr="image.png"/>
          <p:cNvPicPr>
            <a:picLocks noChangeAspect="1"/>
          </p:cNvPicPr>
          <p:nvPr/>
        </p:nvPicPr>
        <p:blipFill>
          <a:blip r:embed="rId25"/>
          <a:stretch>
            <a:fillRect/>
          </a:stretch>
        </p:blipFill>
        <p:spPr>
          <a:xfrm>
            <a:off x="5343220" y="3678743"/>
            <a:ext cx="164592" cy="164592"/>
          </a:xfrm>
          <a:prstGeom prst="rect">
            <a:avLst/>
          </a:prstGeom>
        </p:spPr>
      </p:pic>
      <p:sp>
        <p:nvSpPr>
          <p:cNvPr id="17518" name="TextBox 17517"/>
          <p:cNvSpPr txBox="1"/>
          <p:nvPr/>
        </p:nvSpPr>
        <p:spPr>
          <a:xfrm>
            <a:off x="5590108" y="3596447"/>
            <a:ext cx="1078992" cy="292608"/>
          </a:xfrm>
          <a:prstGeom prst="rect">
            <a:avLst/>
          </a:prstGeom>
          <a:noFill/>
        </p:spPr>
        <p:txBody>
          <a:bodyPr wrap="square" anchor="ctr" lIns="27432" rIns="27432" tIns="9144" bIns="9144">
            <a:spAutoFit/>
          </a:bodyPr>
          <a:lstStyle/>
          <a:p>
            <a:r>
              <a:rPr sz="900" b="1">
                <a:solidFill>
                  <a:srgbClr val="172131"/>
                </a:solidFill>
                <a:latin typeface="Calibri"/>
              </a:rPr>
              <a:t>AI labs</a:t>
            </a:r>
          </a:p>
        </p:txBody>
      </p:sp>
      <p:sp>
        <p:nvSpPr>
          <p:cNvPr id="17519" name="TextBox 17518"/>
          <p:cNvSpPr txBox="1"/>
          <p:nvPr/>
        </p:nvSpPr>
        <p:spPr>
          <a:xfrm>
            <a:off x="5288356" y="3898199"/>
            <a:ext cx="1371600" cy="365760"/>
          </a:xfrm>
          <a:prstGeom prst="rect">
            <a:avLst/>
          </a:prstGeom>
          <a:noFill/>
        </p:spPr>
        <p:txBody>
          <a:bodyPr wrap="square" anchor="t" lIns="27432" rIns="27432" tIns="9144" bIns="9144">
            <a:spAutoFit/>
          </a:bodyPr>
          <a:lstStyle/>
          <a:p>
            <a:r>
              <a:rPr sz="780" b="1">
                <a:solidFill>
                  <a:srgbClr val="6B3FA0"/>
                </a:solidFill>
                <a:latin typeface="Calibri"/>
              </a:rPr>
              <a:t>JavaScript · Node check</a:t>
            </a:r>
          </a:p>
          <a:p>
            <a:r>
              <a:rPr sz="740" b="0">
                <a:solidFill>
                  <a:srgbClr val="555F6D"/>
                </a:solidFill>
                <a:latin typeface="Calibri"/>
              </a:rPr>
              <a:t>no network, no storage</a:t>
            </a:r>
          </a:p>
        </p:txBody>
      </p:sp>
      <p:sp>
        <p:nvSpPr>
          <p:cNvPr id="17520" name="Rounded Rectangle 17519"/>
          <p:cNvSpPr/>
          <p:nvPr/>
        </p:nvSpPr>
        <p:spPr>
          <a:xfrm>
            <a:off x="5251780" y="4337112"/>
            <a:ext cx="1444752" cy="713232"/>
          </a:xfrm>
          <a:prstGeom prst="roundRect">
            <a:avLst>
              <a:gd name="adj" fmla="val 12000"/>
            </a:avLst>
          </a:prstGeom>
          <a:solidFill>
            <a:srgbClr val="FFFFFF"/>
          </a:solidFill>
          <a:ln w="9525">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1" name="Oval 17520"/>
          <p:cNvSpPr/>
          <p:nvPr/>
        </p:nvSpPr>
        <p:spPr>
          <a:xfrm>
            <a:off x="5288356" y="4401120"/>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22" name="Picture 17521" descr="image.png"/>
          <p:cNvPicPr>
            <a:picLocks noChangeAspect="1"/>
          </p:cNvPicPr>
          <p:nvPr/>
        </p:nvPicPr>
        <p:blipFill>
          <a:blip r:embed="rId26"/>
          <a:stretch>
            <a:fillRect/>
          </a:stretch>
        </p:blipFill>
        <p:spPr>
          <a:xfrm>
            <a:off x="5343220" y="4455984"/>
            <a:ext cx="164592" cy="164592"/>
          </a:xfrm>
          <a:prstGeom prst="rect">
            <a:avLst/>
          </a:prstGeom>
        </p:spPr>
      </p:pic>
      <p:sp>
        <p:nvSpPr>
          <p:cNvPr id="17523" name="TextBox 17522"/>
          <p:cNvSpPr txBox="1"/>
          <p:nvPr/>
        </p:nvSpPr>
        <p:spPr>
          <a:xfrm>
            <a:off x="5590108" y="4373688"/>
            <a:ext cx="1078992" cy="292608"/>
          </a:xfrm>
          <a:prstGeom prst="rect">
            <a:avLst/>
          </a:prstGeom>
          <a:noFill/>
        </p:spPr>
        <p:txBody>
          <a:bodyPr wrap="square" anchor="ctr" lIns="27432" rIns="27432" tIns="9144" bIns="9144">
            <a:spAutoFit/>
          </a:bodyPr>
          <a:lstStyle/>
          <a:p>
            <a:r>
              <a:rPr sz="900" b="1">
                <a:solidFill>
                  <a:srgbClr val="172131"/>
                </a:solidFill>
                <a:latin typeface="Calibri"/>
              </a:rPr>
              <a:t>Offline fallback</a:t>
            </a:r>
          </a:p>
        </p:txBody>
      </p:sp>
      <p:sp>
        <p:nvSpPr>
          <p:cNvPr id="17524" name="TextBox 17523"/>
          <p:cNvSpPr txBox="1"/>
          <p:nvPr/>
        </p:nvSpPr>
        <p:spPr>
          <a:xfrm>
            <a:off x="5288356" y="4675440"/>
            <a:ext cx="1371600" cy="365760"/>
          </a:xfrm>
          <a:prstGeom prst="rect">
            <a:avLst/>
          </a:prstGeom>
          <a:noFill/>
        </p:spPr>
        <p:txBody>
          <a:bodyPr wrap="square" anchor="t" lIns="27432" rIns="27432" tIns="9144" bIns="9144">
            <a:spAutoFit/>
          </a:bodyPr>
          <a:lstStyle/>
          <a:p>
            <a:r>
              <a:rPr sz="780" b="1">
                <a:solidFill>
                  <a:srgbClr val="6B3FA0"/>
                </a:solidFill>
                <a:latin typeface="Calibri"/>
              </a:rPr>
              <a:t>rules · scenes · labs</a:t>
            </a:r>
          </a:p>
          <a:p>
            <a:r>
              <a:rPr sz="740" b="0">
                <a:solidFill>
                  <a:srgbClr val="555F6D"/>
                </a:solidFill>
                <a:latin typeface="Calibri"/>
              </a:rPr>
              <a:t>works with no key at all</a:t>
            </a:r>
          </a:p>
        </p:txBody>
      </p:sp>
      <p:cxnSp>
        <p:nvCxnSpPr>
          <p:cNvPr id="17525" name="Connector 17524"/>
          <p:cNvCxnSpPr/>
          <p:nvPr/>
        </p:nvCxnSpPr>
        <p:spPr>
          <a:xfrm>
            <a:off x="6760540" y="3093528"/>
            <a:ext cx="91440" cy="0"/>
          </a:xfrm>
          <a:prstGeom prst="line">
            <a:avLst/>
          </a:prstGeom>
          <a:ln w="25400">
            <a:solidFill>
              <a:srgbClr val="172131"/>
            </a:solidFill>
            <a:tailEnd type="triangle"/>
          </a:ln>
        </p:spPr>
        <p:style>
          <a:lnRef idx="2">
            <a:schemeClr val="accent1"/>
          </a:lnRef>
          <a:fillRef idx="0">
            <a:schemeClr val="accent1"/>
          </a:fillRef>
          <a:effectRef idx="1">
            <a:schemeClr val="accent1"/>
          </a:effectRef>
          <a:fontRef idx="minor">
            <a:schemeClr val="tx1"/>
          </a:fontRef>
        </p:style>
      </p:cxnSp>
      <p:sp>
        <p:nvSpPr>
          <p:cNvPr id="17526" name="Rounded Rectangle 17525"/>
          <p:cNvSpPr/>
          <p:nvPr/>
        </p:nvSpPr>
        <p:spPr>
          <a:xfrm>
            <a:off x="6861124" y="1008696"/>
            <a:ext cx="1554480" cy="4114800"/>
          </a:xfrm>
          <a:prstGeom prst="roundRect">
            <a:avLst>
              <a:gd name="adj" fmla="val 4000"/>
            </a:avLst>
          </a:prstGeom>
          <a:solidFill>
            <a:srgbClr val="F7F8FB"/>
          </a:solidFill>
          <a:ln w="9525">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7" name="Rounded Rectangle 17526"/>
          <p:cNvSpPr/>
          <p:nvPr/>
        </p:nvSpPr>
        <p:spPr>
          <a:xfrm>
            <a:off x="7044004" y="953831"/>
            <a:ext cx="1188719" cy="219456"/>
          </a:xfrm>
          <a:prstGeom prst="roundRect">
            <a:avLst>
              <a:gd name="adj" fmla="val 50000"/>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8" name="TextBox 17527"/>
          <p:cNvSpPr txBox="1"/>
          <p:nvPr/>
        </p:nvSpPr>
        <p:spPr>
          <a:xfrm>
            <a:off x="7044004" y="953831"/>
            <a:ext cx="1188719" cy="219456"/>
          </a:xfrm>
          <a:prstGeom prst="rect">
            <a:avLst/>
          </a:prstGeom>
          <a:noFill/>
        </p:spPr>
        <p:txBody>
          <a:bodyPr wrap="square" anchor="ctr" lIns="27432" rIns="27432" tIns="9144" bIns="9144">
            <a:spAutoFit/>
          </a:bodyPr>
          <a:lstStyle/>
          <a:p>
            <a:pPr algn="ctr"/>
            <a:r>
              <a:rPr sz="850" b="1">
                <a:solidFill>
                  <a:srgbClr val="FFFFFF"/>
                </a:solidFill>
                <a:latin typeface="Calibri"/>
              </a:rPr>
              <a:t>OUTPUTS</a:t>
            </a:r>
          </a:p>
        </p:txBody>
      </p:sp>
      <p:sp>
        <p:nvSpPr>
          <p:cNvPr id="17529" name="Rounded Rectangle 17528"/>
          <p:cNvSpPr/>
          <p:nvPr/>
        </p:nvSpPr>
        <p:spPr>
          <a:xfrm>
            <a:off x="6915988" y="1228152"/>
            <a:ext cx="1444752" cy="713232"/>
          </a:xfrm>
          <a:prstGeom prst="roundRect">
            <a:avLst>
              <a:gd name="adj" fmla="val 12000"/>
            </a:avLst>
          </a:prstGeom>
          <a:solidFill>
            <a:srgbClr val="FFFFFF"/>
          </a:solidFill>
          <a:ln w="9525">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0" name="Oval 17529"/>
          <p:cNvSpPr/>
          <p:nvPr/>
        </p:nvSpPr>
        <p:spPr>
          <a:xfrm>
            <a:off x="6952564" y="1292160"/>
            <a:ext cx="274320" cy="274320"/>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31" name="Picture 17530" descr="image.png"/>
          <p:cNvPicPr>
            <a:picLocks noChangeAspect="1"/>
          </p:cNvPicPr>
          <p:nvPr/>
        </p:nvPicPr>
        <p:blipFill>
          <a:blip r:embed="rId27"/>
          <a:stretch>
            <a:fillRect/>
          </a:stretch>
        </p:blipFill>
        <p:spPr>
          <a:xfrm>
            <a:off x="7007428" y="1347024"/>
            <a:ext cx="164592" cy="164592"/>
          </a:xfrm>
          <a:prstGeom prst="rect">
            <a:avLst/>
          </a:prstGeom>
        </p:spPr>
      </p:pic>
      <p:sp>
        <p:nvSpPr>
          <p:cNvPr id="17532" name="TextBox 17531"/>
          <p:cNvSpPr txBox="1"/>
          <p:nvPr/>
        </p:nvSpPr>
        <p:spPr>
          <a:xfrm>
            <a:off x="7254316" y="1264728"/>
            <a:ext cx="1078992" cy="292608"/>
          </a:xfrm>
          <a:prstGeom prst="rect">
            <a:avLst/>
          </a:prstGeom>
          <a:noFill/>
        </p:spPr>
        <p:txBody>
          <a:bodyPr wrap="square" anchor="ctr" lIns="27432" rIns="27432" tIns="9144" bIns="9144">
            <a:spAutoFit/>
          </a:bodyPr>
          <a:lstStyle/>
          <a:p>
            <a:r>
              <a:rPr sz="900" b="1">
                <a:solidFill>
                  <a:srgbClr val="172131"/>
                </a:solidFill>
                <a:latin typeface="Calibri"/>
              </a:rPr>
              <a:t>Editable PPTX</a:t>
            </a:r>
          </a:p>
        </p:txBody>
      </p:sp>
      <p:sp>
        <p:nvSpPr>
          <p:cNvPr id="17533" name="TextBox 17532"/>
          <p:cNvSpPr txBox="1"/>
          <p:nvPr/>
        </p:nvSpPr>
        <p:spPr>
          <a:xfrm>
            <a:off x="6952564" y="1566479"/>
            <a:ext cx="1371600" cy="365760"/>
          </a:xfrm>
          <a:prstGeom prst="rect">
            <a:avLst/>
          </a:prstGeom>
          <a:noFill/>
        </p:spPr>
        <p:txBody>
          <a:bodyPr wrap="square" anchor="t" lIns="27432" rIns="27432" tIns="9144" bIns="9144">
            <a:spAutoFit/>
          </a:bodyPr>
          <a:lstStyle/>
          <a:p>
            <a:r>
              <a:rPr sz="780" b="1">
                <a:solidFill>
                  <a:srgbClr val="16845B"/>
                </a:solidFill>
                <a:latin typeface="Calibri"/>
              </a:rPr>
              <a:t>python-pptx native shapes</a:t>
            </a:r>
          </a:p>
          <a:p>
            <a:r>
              <a:rPr sz="740" b="0">
                <a:solidFill>
                  <a:srgbClr val="555F6D"/>
                </a:solidFill>
                <a:latin typeface="Calibri"/>
              </a:rPr>
              <a:t>linked pictures, notes</a:t>
            </a:r>
          </a:p>
        </p:txBody>
      </p:sp>
      <p:sp>
        <p:nvSpPr>
          <p:cNvPr id="17534" name="Rounded Rectangle 17533"/>
          <p:cNvSpPr/>
          <p:nvPr/>
        </p:nvSpPr>
        <p:spPr>
          <a:xfrm>
            <a:off x="6915988" y="2005391"/>
            <a:ext cx="1444752" cy="713232"/>
          </a:xfrm>
          <a:prstGeom prst="roundRect">
            <a:avLst>
              <a:gd name="adj" fmla="val 12000"/>
            </a:avLst>
          </a:prstGeom>
          <a:solidFill>
            <a:srgbClr val="FFFFFF"/>
          </a:solidFill>
          <a:ln w="9525">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5" name="Oval 17534"/>
          <p:cNvSpPr/>
          <p:nvPr/>
        </p:nvSpPr>
        <p:spPr>
          <a:xfrm>
            <a:off x="6952564" y="2069399"/>
            <a:ext cx="274320" cy="274320"/>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36" name="Picture 17535" descr="image.png"/>
          <p:cNvPicPr>
            <a:picLocks noChangeAspect="1"/>
          </p:cNvPicPr>
          <p:nvPr/>
        </p:nvPicPr>
        <p:blipFill>
          <a:blip r:embed="rId28"/>
          <a:stretch>
            <a:fillRect/>
          </a:stretch>
        </p:blipFill>
        <p:spPr>
          <a:xfrm>
            <a:off x="7007428" y="2124263"/>
            <a:ext cx="164592" cy="164592"/>
          </a:xfrm>
          <a:prstGeom prst="rect">
            <a:avLst/>
          </a:prstGeom>
        </p:spPr>
      </p:pic>
      <p:sp>
        <p:nvSpPr>
          <p:cNvPr id="17537" name="TextBox 17536"/>
          <p:cNvSpPr txBox="1"/>
          <p:nvPr/>
        </p:nvSpPr>
        <p:spPr>
          <a:xfrm>
            <a:off x="7254316" y="2041968"/>
            <a:ext cx="1078992" cy="292608"/>
          </a:xfrm>
          <a:prstGeom prst="rect">
            <a:avLst/>
          </a:prstGeom>
          <a:noFill/>
        </p:spPr>
        <p:txBody>
          <a:bodyPr wrap="square" anchor="ctr" lIns="27432" rIns="27432" tIns="9144" bIns="9144">
            <a:spAutoFit/>
          </a:bodyPr>
          <a:lstStyle/>
          <a:p>
            <a:r>
              <a:rPr sz="900" b="1">
                <a:solidFill>
                  <a:srgbClr val="172131"/>
                </a:solidFill>
                <a:latin typeface="Calibri"/>
              </a:rPr>
              <a:t>Web deck</a:t>
            </a:r>
          </a:p>
        </p:txBody>
      </p:sp>
      <p:sp>
        <p:nvSpPr>
          <p:cNvPr id="17538" name="TextBox 17537"/>
          <p:cNvSpPr txBox="1"/>
          <p:nvPr/>
        </p:nvSpPr>
        <p:spPr>
          <a:xfrm>
            <a:off x="6952564" y="2343720"/>
            <a:ext cx="1371600" cy="365760"/>
          </a:xfrm>
          <a:prstGeom prst="rect">
            <a:avLst/>
          </a:prstGeom>
          <a:noFill/>
        </p:spPr>
        <p:txBody>
          <a:bodyPr wrap="square" anchor="t" lIns="27432" rIns="27432" tIns="9144" bIns="9144">
            <a:spAutoFit/>
          </a:bodyPr>
          <a:lstStyle/>
          <a:p>
            <a:r>
              <a:rPr sz="780" b="1">
                <a:solidFill>
                  <a:srgbClr val="16845B"/>
                </a:solidFill>
                <a:latin typeface="Calibri"/>
              </a:rPr>
              <a:t>Reveal.js · HTML5</a:t>
            </a:r>
          </a:p>
          <a:p>
            <a:r>
              <a:rPr sz="740" b="0">
                <a:solidFill>
                  <a:srgbClr val="555F6D"/>
                </a:solidFill>
                <a:latin typeface="Calibri"/>
              </a:rPr>
              <a:t>reveals, labs, flip cards</a:t>
            </a:r>
          </a:p>
        </p:txBody>
      </p:sp>
      <p:sp>
        <p:nvSpPr>
          <p:cNvPr id="17539" name="Rounded Rectangle 17538"/>
          <p:cNvSpPr/>
          <p:nvPr/>
        </p:nvSpPr>
        <p:spPr>
          <a:xfrm>
            <a:off x="6915988" y="2782632"/>
            <a:ext cx="1444752" cy="713232"/>
          </a:xfrm>
          <a:prstGeom prst="roundRect">
            <a:avLst>
              <a:gd name="adj" fmla="val 12000"/>
            </a:avLst>
          </a:prstGeom>
          <a:solidFill>
            <a:srgbClr val="FFFFFF"/>
          </a:solidFill>
          <a:ln w="9525">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0" name="Oval 17539"/>
          <p:cNvSpPr/>
          <p:nvPr/>
        </p:nvSpPr>
        <p:spPr>
          <a:xfrm>
            <a:off x="6952564" y="2846640"/>
            <a:ext cx="274320" cy="274320"/>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41" name="Picture 17540" descr="image.png"/>
          <p:cNvPicPr>
            <a:picLocks noChangeAspect="1"/>
          </p:cNvPicPr>
          <p:nvPr/>
        </p:nvPicPr>
        <p:blipFill>
          <a:blip r:embed="rId29"/>
          <a:stretch>
            <a:fillRect/>
          </a:stretch>
        </p:blipFill>
        <p:spPr>
          <a:xfrm>
            <a:off x="7007428" y="2901504"/>
            <a:ext cx="164592" cy="164592"/>
          </a:xfrm>
          <a:prstGeom prst="rect">
            <a:avLst/>
          </a:prstGeom>
        </p:spPr>
      </p:pic>
      <p:sp>
        <p:nvSpPr>
          <p:cNvPr id="17542" name="TextBox 17541"/>
          <p:cNvSpPr txBox="1"/>
          <p:nvPr/>
        </p:nvSpPr>
        <p:spPr>
          <a:xfrm>
            <a:off x="7254316" y="2819208"/>
            <a:ext cx="1078992" cy="292608"/>
          </a:xfrm>
          <a:prstGeom prst="rect">
            <a:avLst/>
          </a:prstGeom>
          <a:noFill/>
        </p:spPr>
        <p:txBody>
          <a:bodyPr wrap="square" anchor="ctr" lIns="27432" rIns="27432" tIns="9144" bIns="9144">
            <a:spAutoFit/>
          </a:bodyPr>
          <a:lstStyle/>
          <a:p>
            <a:r>
              <a:rPr sz="900" b="1">
                <a:solidFill>
                  <a:srgbClr val="172131"/>
                </a:solidFill>
                <a:latin typeface="Calibri"/>
              </a:rPr>
              <a:t>Study pack</a:t>
            </a:r>
          </a:p>
        </p:txBody>
      </p:sp>
      <p:sp>
        <p:nvSpPr>
          <p:cNvPr id="17543" name="TextBox 17542"/>
          <p:cNvSpPr txBox="1"/>
          <p:nvPr/>
        </p:nvSpPr>
        <p:spPr>
          <a:xfrm>
            <a:off x="6952564" y="3120960"/>
            <a:ext cx="1371600" cy="365760"/>
          </a:xfrm>
          <a:prstGeom prst="rect">
            <a:avLst/>
          </a:prstGeom>
          <a:noFill/>
        </p:spPr>
        <p:txBody>
          <a:bodyPr wrap="square" anchor="t" lIns="27432" rIns="27432" tIns="9144" bIns="9144">
            <a:spAutoFit/>
          </a:bodyPr>
          <a:lstStyle/>
          <a:p>
            <a:r>
              <a:rPr sz="780" b="1">
                <a:solidFill>
                  <a:srgbClr val="16845B"/>
                </a:solidFill>
                <a:latin typeface="Calibri"/>
              </a:rPr>
              <a:t>HTML · CSV (Anki)</a:t>
            </a:r>
          </a:p>
          <a:p>
            <a:r>
              <a:rPr sz="740" b="0">
                <a:solidFill>
                  <a:srgbClr val="555F6D"/>
                </a:solidFill>
                <a:latin typeface="Calibri"/>
              </a:rPr>
              <a:t>flashcards, quiz bank</a:t>
            </a:r>
          </a:p>
        </p:txBody>
      </p:sp>
      <p:sp>
        <p:nvSpPr>
          <p:cNvPr id="17544" name="Rounded Rectangle 17543"/>
          <p:cNvSpPr/>
          <p:nvPr/>
        </p:nvSpPr>
        <p:spPr>
          <a:xfrm>
            <a:off x="6915988" y="3559871"/>
            <a:ext cx="1444752" cy="713232"/>
          </a:xfrm>
          <a:prstGeom prst="roundRect">
            <a:avLst>
              <a:gd name="adj" fmla="val 12000"/>
            </a:avLst>
          </a:prstGeom>
          <a:solidFill>
            <a:srgbClr val="FFFFFF"/>
          </a:solidFill>
          <a:ln w="9525">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5" name="Oval 17544"/>
          <p:cNvSpPr/>
          <p:nvPr/>
        </p:nvSpPr>
        <p:spPr>
          <a:xfrm>
            <a:off x="6952564" y="3623879"/>
            <a:ext cx="274320" cy="274320"/>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46" name="Picture 17545" descr="image.png"/>
          <p:cNvPicPr>
            <a:picLocks noChangeAspect="1"/>
          </p:cNvPicPr>
          <p:nvPr/>
        </p:nvPicPr>
        <p:blipFill>
          <a:blip r:embed="rId30"/>
          <a:stretch>
            <a:fillRect/>
          </a:stretch>
        </p:blipFill>
        <p:spPr>
          <a:xfrm>
            <a:off x="7007428" y="3678743"/>
            <a:ext cx="164592" cy="164592"/>
          </a:xfrm>
          <a:prstGeom prst="rect">
            <a:avLst/>
          </a:prstGeom>
        </p:spPr>
      </p:pic>
      <p:sp>
        <p:nvSpPr>
          <p:cNvPr id="17547" name="TextBox 17546"/>
          <p:cNvSpPr txBox="1"/>
          <p:nvPr/>
        </p:nvSpPr>
        <p:spPr>
          <a:xfrm>
            <a:off x="7254316" y="3596447"/>
            <a:ext cx="1078992" cy="292608"/>
          </a:xfrm>
          <a:prstGeom prst="rect">
            <a:avLst/>
          </a:prstGeom>
          <a:noFill/>
        </p:spPr>
        <p:txBody>
          <a:bodyPr wrap="square" anchor="ctr" lIns="27432" rIns="27432" tIns="9144" bIns="9144">
            <a:spAutoFit/>
          </a:bodyPr>
          <a:lstStyle/>
          <a:p>
            <a:r>
              <a:rPr sz="900" b="1">
                <a:solidFill>
                  <a:srgbClr val="172131"/>
                </a:solidFill>
                <a:latin typeface="Calibri"/>
              </a:rPr>
              <a:t>Share + present</a:t>
            </a:r>
          </a:p>
        </p:txBody>
      </p:sp>
      <p:sp>
        <p:nvSpPr>
          <p:cNvPr id="17548" name="TextBox 17547"/>
          <p:cNvSpPr txBox="1"/>
          <p:nvPr/>
        </p:nvSpPr>
        <p:spPr>
          <a:xfrm>
            <a:off x="6952564" y="3898199"/>
            <a:ext cx="1371600" cy="365760"/>
          </a:xfrm>
          <a:prstGeom prst="rect">
            <a:avLst/>
          </a:prstGeom>
          <a:noFill/>
        </p:spPr>
        <p:txBody>
          <a:bodyPr wrap="square" anchor="t" lIns="27432" rIns="27432" tIns="9144" bIns="9144">
            <a:spAutoFit/>
          </a:bodyPr>
          <a:lstStyle/>
          <a:p>
            <a:r>
              <a:rPr sz="780" b="1">
                <a:solidFill>
                  <a:srgbClr val="16845B"/>
                </a:solidFill>
                <a:latin typeface="Calibri"/>
              </a:rPr>
              <a:t>React 18 · FastAPI</a:t>
            </a:r>
          </a:p>
          <a:p>
            <a:r>
              <a:rPr sz="740" b="0">
                <a:solidFill>
                  <a:srgbClr val="555F6D"/>
                </a:solidFill>
                <a:latin typeface="Calibri"/>
              </a:rPr>
              <a:t>view-only link, presenter</a:t>
            </a:r>
          </a:p>
        </p:txBody>
      </p:sp>
      <p:sp>
        <p:nvSpPr>
          <p:cNvPr id="17549" name="Rounded Rectangle 17548"/>
          <p:cNvSpPr/>
          <p:nvPr/>
        </p:nvSpPr>
        <p:spPr>
          <a:xfrm>
            <a:off x="6915988" y="4337112"/>
            <a:ext cx="1444752" cy="713232"/>
          </a:xfrm>
          <a:prstGeom prst="roundRect">
            <a:avLst>
              <a:gd name="adj" fmla="val 12000"/>
            </a:avLst>
          </a:prstGeom>
          <a:solidFill>
            <a:srgbClr val="FFFFFF"/>
          </a:solidFill>
          <a:ln w="9525">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0" name="Oval 17549"/>
          <p:cNvSpPr/>
          <p:nvPr/>
        </p:nvSpPr>
        <p:spPr>
          <a:xfrm>
            <a:off x="6952564" y="4401120"/>
            <a:ext cx="274320" cy="274320"/>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51" name="Picture 17550" descr="image.png"/>
          <p:cNvPicPr>
            <a:picLocks noChangeAspect="1"/>
          </p:cNvPicPr>
          <p:nvPr/>
        </p:nvPicPr>
        <p:blipFill>
          <a:blip r:embed="rId31"/>
          <a:stretch>
            <a:fillRect/>
          </a:stretch>
        </p:blipFill>
        <p:spPr>
          <a:xfrm>
            <a:off x="7007428" y="4455984"/>
            <a:ext cx="164592" cy="164592"/>
          </a:xfrm>
          <a:prstGeom prst="rect">
            <a:avLst/>
          </a:prstGeom>
        </p:spPr>
      </p:pic>
      <p:sp>
        <p:nvSpPr>
          <p:cNvPr id="17552" name="TextBox 17551"/>
          <p:cNvSpPr txBox="1"/>
          <p:nvPr/>
        </p:nvSpPr>
        <p:spPr>
          <a:xfrm>
            <a:off x="7254316" y="4373688"/>
            <a:ext cx="1078992" cy="292608"/>
          </a:xfrm>
          <a:prstGeom prst="rect">
            <a:avLst/>
          </a:prstGeom>
          <a:noFill/>
        </p:spPr>
        <p:txBody>
          <a:bodyPr wrap="square" anchor="ctr" lIns="27432" rIns="27432" tIns="9144" bIns="9144">
            <a:spAutoFit/>
          </a:bodyPr>
          <a:lstStyle/>
          <a:p>
            <a:r>
              <a:rPr sz="900" b="1">
                <a:solidFill>
                  <a:srgbClr val="172131"/>
                </a:solidFill>
                <a:latin typeface="Calibri"/>
              </a:rPr>
              <a:t>Deck tutor</a:t>
            </a:r>
          </a:p>
        </p:txBody>
      </p:sp>
      <p:sp>
        <p:nvSpPr>
          <p:cNvPr id="17553" name="TextBox 17552"/>
          <p:cNvSpPr txBox="1"/>
          <p:nvPr/>
        </p:nvSpPr>
        <p:spPr>
          <a:xfrm>
            <a:off x="6952564" y="4675440"/>
            <a:ext cx="1371600" cy="365760"/>
          </a:xfrm>
          <a:prstGeom prst="rect">
            <a:avLst/>
          </a:prstGeom>
          <a:noFill/>
        </p:spPr>
        <p:txBody>
          <a:bodyPr wrap="square" anchor="t" lIns="27432" rIns="27432" tIns="9144" bIns="9144">
            <a:spAutoFit/>
          </a:bodyPr>
          <a:lstStyle/>
          <a:p>
            <a:r>
              <a:rPr sz="780" b="1">
                <a:solidFill>
                  <a:srgbClr val="16845B"/>
                </a:solidFill>
                <a:latin typeface="Calibri"/>
              </a:rPr>
              <a:t>router + deck context</a:t>
            </a:r>
          </a:p>
          <a:p>
            <a:r>
              <a:rPr sz="740" b="0">
                <a:solidFill>
                  <a:srgbClr val="555F6D"/>
                </a:solidFill>
                <a:latin typeface="Calibri"/>
              </a:rPr>
              <a:t>answers only from the deck</a:t>
            </a:r>
          </a:p>
        </p:txBody>
      </p:sp>
      <p:sp>
        <p:nvSpPr>
          <p:cNvPr id="17554" name="Oval 17553"/>
          <p:cNvSpPr/>
          <p:nvPr/>
        </p:nvSpPr>
        <p:spPr>
          <a:xfrm>
            <a:off x="8549640" y="1463040"/>
            <a:ext cx="365760" cy="365760"/>
          </a:xfrm>
          <a:prstGeom prst="ellipse">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55" name="Picture 17554" descr="image.png"/>
          <p:cNvPicPr>
            <a:picLocks noChangeAspect="1"/>
          </p:cNvPicPr>
          <p:nvPr/>
        </p:nvPicPr>
        <p:blipFill>
          <a:blip r:embed="rId32"/>
          <a:stretch>
            <a:fillRect/>
          </a:stretch>
        </p:blipFill>
        <p:spPr>
          <a:xfrm>
            <a:off x="8622792" y="1536192"/>
            <a:ext cx="219456" cy="219456"/>
          </a:xfrm>
          <a:prstGeom prst="rect">
            <a:avLst/>
          </a:prstGeom>
        </p:spPr>
      </p:pic>
      <p:sp>
        <p:nvSpPr>
          <p:cNvPr id="17556" name="TextBox 17555"/>
          <p:cNvSpPr txBox="1"/>
          <p:nvPr/>
        </p:nvSpPr>
        <p:spPr>
          <a:xfrm>
            <a:off x="8494776" y="1828800"/>
            <a:ext cx="475488" cy="155448"/>
          </a:xfrm>
          <a:prstGeom prst="rect">
            <a:avLst/>
          </a:prstGeom>
          <a:noFill/>
        </p:spPr>
        <p:txBody>
          <a:bodyPr wrap="square" anchor="t" lIns="27432" rIns="27432" tIns="9144" bIns="9144">
            <a:spAutoFit/>
          </a:bodyPr>
          <a:lstStyle/>
          <a:p>
            <a:pPr algn="ctr"/>
            <a:r>
              <a:rPr sz="630" b="1">
                <a:solidFill>
                  <a:srgbClr val="172131"/>
                </a:solidFill>
                <a:latin typeface="Calibri"/>
              </a:rPr>
              <a:t>React</a:t>
            </a:r>
          </a:p>
        </p:txBody>
      </p:sp>
      <p:sp>
        <p:nvSpPr>
          <p:cNvPr id="17557" name="Oval 17556"/>
          <p:cNvSpPr/>
          <p:nvPr/>
        </p:nvSpPr>
        <p:spPr>
          <a:xfrm>
            <a:off x="8965692" y="1463040"/>
            <a:ext cx="365760" cy="36576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58" name="Picture 17557" descr="image.png"/>
          <p:cNvPicPr>
            <a:picLocks noChangeAspect="1"/>
          </p:cNvPicPr>
          <p:nvPr/>
        </p:nvPicPr>
        <p:blipFill>
          <a:blip r:embed="rId33"/>
          <a:stretch>
            <a:fillRect/>
          </a:stretch>
        </p:blipFill>
        <p:spPr>
          <a:xfrm>
            <a:off x="9038844" y="1536192"/>
            <a:ext cx="219456" cy="219456"/>
          </a:xfrm>
          <a:prstGeom prst="rect">
            <a:avLst/>
          </a:prstGeom>
        </p:spPr>
      </p:pic>
      <p:sp>
        <p:nvSpPr>
          <p:cNvPr id="17559" name="TextBox 17558"/>
          <p:cNvSpPr txBox="1"/>
          <p:nvPr/>
        </p:nvSpPr>
        <p:spPr>
          <a:xfrm>
            <a:off x="8910828" y="1828800"/>
            <a:ext cx="475488" cy="155448"/>
          </a:xfrm>
          <a:prstGeom prst="rect">
            <a:avLst/>
          </a:prstGeom>
          <a:noFill/>
        </p:spPr>
        <p:txBody>
          <a:bodyPr wrap="square" anchor="t" lIns="27432" rIns="27432" tIns="9144" bIns="9144">
            <a:spAutoFit/>
          </a:bodyPr>
          <a:lstStyle/>
          <a:p>
            <a:pPr algn="ctr"/>
            <a:r>
              <a:rPr sz="630" b="1">
                <a:solidFill>
                  <a:srgbClr val="172131"/>
                </a:solidFill>
                <a:latin typeface="Calibri"/>
              </a:rPr>
              <a:t>Vite</a:t>
            </a:r>
          </a:p>
        </p:txBody>
      </p:sp>
      <p:sp>
        <p:nvSpPr>
          <p:cNvPr id="17560" name="Oval 17559"/>
          <p:cNvSpPr/>
          <p:nvPr/>
        </p:nvSpPr>
        <p:spPr>
          <a:xfrm>
            <a:off x="9381744" y="1463040"/>
            <a:ext cx="365760" cy="36576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61" name="Picture 17560" descr="image.png"/>
          <p:cNvPicPr>
            <a:picLocks noChangeAspect="1"/>
          </p:cNvPicPr>
          <p:nvPr/>
        </p:nvPicPr>
        <p:blipFill>
          <a:blip r:embed="rId34"/>
          <a:stretch>
            <a:fillRect/>
          </a:stretch>
        </p:blipFill>
        <p:spPr>
          <a:xfrm>
            <a:off x="9454896" y="1536192"/>
            <a:ext cx="219456" cy="219456"/>
          </a:xfrm>
          <a:prstGeom prst="rect">
            <a:avLst/>
          </a:prstGeom>
        </p:spPr>
      </p:pic>
      <p:sp>
        <p:nvSpPr>
          <p:cNvPr id="17562" name="TextBox 17561"/>
          <p:cNvSpPr txBox="1"/>
          <p:nvPr/>
        </p:nvSpPr>
        <p:spPr>
          <a:xfrm>
            <a:off x="9326880" y="1828800"/>
            <a:ext cx="475488" cy="155448"/>
          </a:xfrm>
          <a:prstGeom prst="rect">
            <a:avLst/>
          </a:prstGeom>
          <a:noFill/>
        </p:spPr>
        <p:txBody>
          <a:bodyPr wrap="square" anchor="t" lIns="27432" rIns="27432" tIns="9144" bIns="9144">
            <a:spAutoFit/>
          </a:bodyPr>
          <a:lstStyle/>
          <a:p>
            <a:pPr algn="ctr"/>
            <a:r>
              <a:rPr sz="630" b="1">
                <a:solidFill>
                  <a:srgbClr val="172131"/>
                </a:solidFill>
                <a:latin typeface="Calibri"/>
              </a:rPr>
              <a:t>Tailwind</a:t>
            </a:r>
          </a:p>
        </p:txBody>
      </p:sp>
      <p:sp>
        <p:nvSpPr>
          <p:cNvPr id="17563" name="Oval 17562"/>
          <p:cNvSpPr/>
          <p:nvPr/>
        </p:nvSpPr>
        <p:spPr>
          <a:xfrm>
            <a:off x="9797796" y="1463040"/>
            <a:ext cx="365760" cy="365760"/>
          </a:xfrm>
          <a:prstGeom prst="ellipse">
            <a:avLst/>
          </a:prstGeom>
          <a:solidFill>
            <a:srgbClr val="E09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64" name="Picture 17563" descr="image.png"/>
          <p:cNvPicPr>
            <a:picLocks noChangeAspect="1"/>
          </p:cNvPicPr>
          <p:nvPr/>
        </p:nvPicPr>
        <p:blipFill>
          <a:blip r:embed="rId27"/>
          <a:stretch>
            <a:fillRect/>
          </a:stretch>
        </p:blipFill>
        <p:spPr>
          <a:xfrm>
            <a:off x="9870948" y="1536192"/>
            <a:ext cx="219456" cy="219456"/>
          </a:xfrm>
          <a:prstGeom prst="rect">
            <a:avLst/>
          </a:prstGeom>
        </p:spPr>
      </p:pic>
      <p:sp>
        <p:nvSpPr>
          <p:cNvPr id="17565" name="TextBox 17564"/>
          <p:cNvSpPr txBox="1"/>
          <p:nvPr/>
        </p:nvSpPr>
        <p:spPr>
          <a:xfrm>
            <a:off x="9742932" y="1828800"/>
            <a:ext cx="475488" cy="155448"/>
          </a:xfrm>
          <a:prstGeom prst="rect">
            <a:avLst/>
          </a:prstGeom>
          <a:noFill/>
        </p:spPr>
        <p:txBody>
          <a:bodyPr wrap="square" anchor="t" lIns="27432" rIns="27432" tIns="9144" bIns="9144">
            <a:spAutoFit/>
          </a:bodyPr>
          <a:lstStyle/>
          <a:p>
            <a:pPr algn="ctr"/>
            <a:r>
              <a:rPr sz="630" b="1">
                <a:solidFill>
                  <a:srgbClr val="172131"/>
                </a:solidFill>
                <a:latin typeface="Calibri"/>
              </a:rPr>
              <a:t>Reveal.js</a:t>
            </a:r>
          </a:p>
        </p:txBody>
      </p:sp>
      <p:sp>
        <p:nvSpPr>
          <p:cNvPr id="17566" name="Oval 17565"/>
          <p:cNvSpPr/>
          <p:nvPr/>
        </p:nvSpPr>
        <p:spPr>
          <a:xfrm>
            <a:off x="10213848" y="1463040"/>
            <a:ext cx="365760" cy="365760"/>
          </a:xfrm>
          <a:prstGeom prst="ellipse">
            <a:avLst/>
          </a:prstGeom>
          <a:solidFill>
            <a:srgbClr val="30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67" name="Picture 17566" descr="image.png"/>
          <p:cNvPicPr>
            <a:picLocks noChangeAspect="1"/>
          </p:cNvPicPr>
          <p:nvPr/>
        </p:nvPicPr>
        <p:blipFill>
          <a:blip r:embed="rId25"/>
          <a:stretch>
            <a:fillRect/>
          </a:stretch>
        </p:blipFill>
        <p:spPr>
          <a:xfrm>
            <a:off x="10287000" y="1536192"/>
            <a:ext cx="219456" cy="219456"/>
          </a:xfrm>
          <a:prstGeom prst="rect">
            <a:avLst/>
          </a:prstGeom>
        </p:spPr>
      </p:pic>
      <p:sp>
        <p:nvSpPr>
          <p:cNvPr id="17568" name="TextBox 17567"/>
          <p:cNvSpPr txBox="1"/>
          <p:nvPr/>
        </p:nvSpPr>
        <p:spPr>
          <a:xfrm>
            <a:off x="10158984" y="1828800"/>
            <a:ext cx="475488" cy="155448"/>
          </a:xfrm>
          <a:prstGeom prst="rect">
            <a:avLst/>
          </a:prstGeom>
          <a:noFill/>
        </p:spPr>
        <p:txBody>
          <a:bodyPr wrap="square" anchor="t" lIns="27432" rIns="27432" tIns="9144" bIns="9144">
            <a:spAutoFit/>
          </a:bodyPr>
          <a:lstStyle/>
          <a:p>
            <a:pPr algn="ctr"/>
            <a:r>
              <a:rPr sz="630" b="1">
                <a:solidFill>
                  <a:srgbClr val="172131"/>
                </a:solidFill>
                <a:latin typeface="Calibri"/>
              </a:rPr>
              <a:t>Python</a:t>
            </a:r>
          </a:p>
        </p:txBody>
      </p:sp>
      <p:sp>
        <p:nvSpPr>
          <p:cNvPr id="17569" name="Oval 17568"/>
          <p:cNvSpPr/>
          <p:nvPr/>
        </p:nvSpPr>
        <p:spPr>
          <a:xfrm>
            <a:off x="10629900" y="1463040"/>
            <a:ext cx="365760" cy="365760"/>
          </a:xfrm>
          <a:prstGeom prst="ellipse">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70" name="Picture 17569" descr="image.png"/>
          <p:cNvPicPr>
            <a:picLocks noChangeAspect="1"/>
          </p:cNvPicPr>
          <p:nvPr/>
        </p:nvPicPr>
        <p:blipFill>
          <a:blip r:embed="rId33"/>
          <a:stretch>
            <a:fillRect/>
          </a:stretch>
        </p:blipFill>
        <p:spPr>
          <a:xfrm>
            <a:off x="10703052" y="1536192"/>
            <a:ext cx="219456" cy="219456"/>
          </a:xfrm>
          <a:prstGeom prst="rect">
            <a:avLst/>
          </a:prstGeom>
        </p:spPr>
      </p:pic>
      <p:sp>
        <p:nvSpPr>
          <p:cNvPr id="17571" name="TextBox 17570"/>
          <p:cNvSpPr txBox="1"/>
          <p:nvPr/>
        </p:nvSpPr>
        <p:spPr>
          <a:xfrm>
            <a:off x="10575036" y="1828800"/>
            <a:ext cx="475488" cy="155448"/>
          </a:xfrm>
          <a:prstGeom prst="rect">
            <a:avLst/>
          </a:prstGeom>
          <a:noFill/>
        </p:spPr>
        <p:txBody>
          <a:bodyPr wrap="square" anchor="t" lIns="27432" rIns="27432" tIns="9144" bIns="9144">
            <a:spAutoFit/>
          </a:bodyPr>
          <a:lstStyle/>
          <a:p>
            <a:pPr algn="ctr"/>
            <a:r>
              <a:rPr sz="630" b="1">
                <a:solidFill>
                  <a:srgbClr val="172131"/>
                </a:solidFill>
                <a:latin typeface="Calibri"/>
              </a:rPr>
              <a:t>FastAPI</a:t>
            </a:r>
          </a:p>
        </p:txBody>
      </p:sp>
      <p:sp>
        <p:nvSpPr>
          <p:cNvPr id="17572" name="Oval 17571"/>
          <p:cNvSpPr/>
          <p:nvPr/>
        </p:nvSpPr>
        <p:spPr>
          <a:xfrm>
            <a:off x="11045952" y="1463040"/>
            <a:ext cx="365760" cy="365760"/>
          </a:xfrm>
          <a:prstGeom prst="ellipse">
            <a:avLst/>
          </a:prstGeom>
          <a:solidFill>
            <a:srgbClr val="0F5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73" name="Picture 17572" descr="image.png"/>
          <p:cNvPicPr>
            <a:picLocks noChangeAspect="1"/>
          </p:cNvPicPr>
          <p:nvPr/>
        </p:nvPicPr>
        <p:blipFill>
          <a:blip r:embed="rId35"/>
          <a:stretch>
            <a:fillRect/>
          </a:stretch>
        </p:blipFill>
        <p:spPr>
          <a:xfrm>
            <a:off x="11119104" y="1536192"/>
            <a:ext cx="219456" cy="219456"/>
          </a:xfrm>
          <a:prstGeom prst="rect">
            <a:avLst/>
          </a:prstGeom>
        </p:spPr>
      </p:pic>
      <p:sp>
        <p:nvSpPr>
          <p:cNvPr id="17574" name="TextBox 17573"/>
          <p:cNvSpPr txBox="1"/>
          <p:nvPr/>
        </p:nvSpPr>
        <p:spPr>
          <a:xfrm>
            <a:off x="10991088" y="1828800"/>
            <a:ext cx="475488" cy="155448"/>
          </a:xfrm>
          <a:prstGeom prst="rect">
            <a:avLst/>
          </a:prstGeom>
          <a:noFill/>
        </p:spPr>
        <p:txBody>
          <a:bodyPr wrap="square" anchor="t" lIns="27432" rIns="27432" tIns="9144" bIns="9144">
            <a:spAutoFit/>
          </a:bodyPr>
          <a:lstStyle/>
          <a:p>
            <a:pPr algn="ctr"/>
            <a:r>
              <a:rPr sz="630" b="1">
                <a:solidFill>
                  <a:srgbClr val="172131"/>
                </a:solidFill>
                <a:latin typeface="Calibri"/>
              </a:rPr>
              <a:t>SQLite</a:t>
            </a:r>
          </a:p>
        </p:txBody>
      </p:sp>
      <p:sp>
        <p:nvSpPr>
          <p:cNvPr id="17575" name="Oval 17574"/>
          <p:cNvSpPr/>
          <p:nvPr/>
        </p:nvSpPr>
        <p:spPr>
          <a:xfrm>
            <a:off x="11462004" y="1463040"/>
            <a:ext cx="365760" cy="365760"/>
          </a:xfrm>
          <a:prstGeom prst="ellipse">
            <a:avLst/>
          </a:prstGeom>
          <a:solidFill>
            <a:srgbClr val="C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76" name="Picture 17575" descr="image.png"/>
          <p:cNvPicPr>
            <a:picLocks noChangeAspect="1"/>
          </p:cNvPicPr>
          <p:nvPr/>
        </p:nvPicPr>
        <p:blipFill>
          <a:blip r:embed="rId10"/>
          <a:stretch>
            <a:fillRect/>
          </a:stretch>
        </p:blipFill>
        <p:spPr>
          <a:xfrm>
            <a:off x="11535156" y="1536192"/>
            <a:ext cx="219456" cy="219456"/>
          </a:xfrm>
          <a:prstGeom prst="rect">
            <a:avLst/>
          </a:prstGeom>
        </p:spPr>
      </p:pic>
      <p:sp>
        <p:nvSpPr>
          <p:cNvPr id="17577" name="TextBox 17576"/>
          <p:cNvSpPr txBox="1"/>
          <p:nvPr/>
        </p:nvSpPr>
        <p:spPr>
          <a:xfrm>
            <a:off x="11407140" y="1828800"/>
            <a:ext cx="475488" cy="155448"/>
          </a:xfrm>
          <a:prstGeom prst="rect">
            <a:avLst/>
          </a:prstGeom>
          <a:noFill/>
        </p:spPr>
        <p:txBody>
          <a:bodyPr wrap="square" anchor="t" lIns="27432" rIns="27432" tIns="9144" bIns="9144">
            <a:spAutoFit/>
          </a:bodyPr>
          <a:lstStyle/>
          <a:p>
            <a:pPr algn="ctr"/>
            <a:r>
              <a:rPr sz="630" b="1">
                <a:solidFill>
                  <a:srgbClr val="172131"/>
                </a:solidFill>
                <a:latin typeface="Calibri"/>
              </a:rPr>
              <a:t>PyMuPDF</a:t>
            </a:r>
          </a:p>
        </p:txBody>
      </p:sp>
      <p:sp>
        <p:nvSpPr>
          <p:cNvPr id="17578" name="Oval 17577"/>
          <p:cNvSpPr/>
          <p:nvPr/>
        </p:nvSpPr>
        <p:spPr>
          <a:xfrm>
            <a:off x="8549640" y="2029968"/>
            <a:ext cx="365760" cy="365760"/>
          </a:xfrm>
          <a:prstGeom prst="ellipse">
            <a:avLst/>
          </a:prstGeom>
          <a:solidFill>
            <a:srgbClr val="18A3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79" name="Picture 17578" descr="image.png"/>
          <p:cNvPicPr>
            <a:picLocks noChangeAspect="1"/>
          </p:cNvPicPr>
          <p:nvPr/>
        </p:nvPicPr>
        <p:blipFill>
          <a:blip r:embed="rId14"/>
          <a:stretch>
            <a:fillRect/>
          </a:stretch>
        </p:blipFill>
        <p:spPr>
          <a:xfrm>
            <a:off x="8622792" y="2103120"/>
            <a:ext cx="219456" cy="219456"/>
          </a:xfrm>
          <a:prstGeom prst="rect">
            <a:avLst/>
          </a:prstGeom>
        </p:spPr>
      </p:pic>
      <p:sp>
        <p:nvSpPr>
          <p:cNvPr id="17580" name="TextBox 17579"/>
          <p:cNvSpPr txBox="1"/>
          <p:nvPr/>
        </p:nvSpPr>
        <p:spPr>
          <a:xfrm>
            <a:off x="8494776" y="2395728"/>
            <a:ext cx="475488" cy="155448"/>
          </a:xfrm>
          <a:prstGeom prst="rect">
            <a:avLst/>
          </a:prstGeom>
          <a:noFill/>
        </p:spPr>
        <p:txBody>
          <a:bodyPr wrap="square" anchor="t" lIns="27432" rIns="27432" tIns="9144" bIns="9144">
            <a:spAutoFit/>
          </a:bodyPr>
          <a:lstStyle/>
          <a:p>
            <a:pPr algn="ctr"/>
            <a:r>
              <a:rPr sz="630" b="1">
                <a:solidFill>
                  <a:srgbClr val="172131"/>
                </a:solidFill>
                <a:latin typeface="Calibri"/>
              </a:rPr>
              <a:t>LibreOffice</a:t>
            </a:r>
          </a:p>
        </p:txBody>
      </p:sp>
      <p:sp>
        <p:nvSpPr>
          <p:cNvPr id="17581" name="Oval 17580"/>
          <p:cNvSpPr/>
          <p:nvPr/>
        </p:nvSpPr>
        <p:spPr>
          <a:xfrm>
            <a:off x="8965692" y="2029968"/>
            <a:ext cx="365760" cy="365760"/>
          </a:xfrm>
          <a:prstGeom prst="ellipse">
            <a:avLst/>
          </a:prstGeom>
          <a:solidFill>
            <a:srgbClr val="555F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82" name="Picture 17581" descr="image.png"/>
          <p:cNvPicPr>
            <a:picLocks noChangeAspect="1"/>
          </p:cNvPicPr>
          <p:nvPr/>
        </p:nvPicPr>
        <p:blipFill>
          <a:blip r:embed="rId16"/>
          <a:stretch>
            <a:fillRect/>
          </a:stretch>
        </p:blipFill>
        <p:spPr>
          <a:xfrm>
            <a:off x="9038844" y="2103120"/>
            <a:ext cx="219456" cy="219456"/>
          </a:xfrm>
          <a:prstGeom prst="rect">
            <a:avLst/>
          </a:prstGeom>
        </p:spPr>
      </p:pic>
      <p:sp>
        <p:nvSpPr>
          <p:cNvPr id="17583" name="TextBox 17582"/>
          <p:cNvSpPr txBox="1"/>
          <p:nvPr/>
        </p:nvSpPr>
        <p:spPr>
          <a:xfrm>
            <a:off x="8910828" y="2395728"/>
            <a:ext cx="475488" cy="155448"/>
          </a:xfrm>
          <a:prstGeom prst="rect">
            <a:avLst/>
          </a:prstGeom>
          <a:noFill/>
        </p:spPr>
        <p:txBody>
          <a:bodyPr wrap="square" anchor="t" lIns="27432" rIns="27432" tIns="9144" bIns="9144">
            <a:spAutoFit/>
          </a:bodyPr>
          <a:lstStyle/>
          <a:p>
            <a:pPr algn="ctr"/>
            <a:r>
              <a:rPr sz="630" b="1">
                <a:solidFill>
                  <a:srgbClr val="172131"/>
                </a:solidFill>
                <a:latin typeface="Calibri"/>
              </a:rPr>
              <a:t>Tesseract</a:t>
            </a:r>
          </a:p>
        </p:txBody>
      </p:sp>
      <p:sp>
        <p:nvSpPr>
          <p:cNvPr id="17584" name="Oval 17583"/>
          <p:cNvSpPr/>
          <p:nvPr/>
        </p:nvSpPr>
        <p:spPr>
          <a:xfrm>
            <a:off x="9381744" y="2029968"/>
            <a:ext cx="365760" cy="365760"/>
          </a:xfrm>
          <a:prstGeom prst="ellipse">
            <a:avLst/>
          </a:prstGeom>
          <a:solidFill>
            <a:srgbClr val="428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85" name="Picture 17584" descr="image.png"/>
          <p:cNvPicPr>
            <a:picLocks noChangeAspect="1"/>
          </p:cNvPicPr>
          <p:nvPr/>
        </p:nvPicPr>
        <p:blipFill>
          <a:blip r:embed="rId36"/>
          <a:stretch>
            <a:fillRect/>
          </a:stretch>
        </p:blipFill>
        <p:spPr>
          <a:xfrm>
            <a:off x="9454896" y="2103120"/>
            <a:ext cx="219456" cy="219456"/>
          </a:xfrm>
          <a:prstGeom prst="rect">
            <a:avLst/>
          </a:prstGeom>
        </p:spPr>
      </p:pic>
      <p:sp>
        <p:nvSpPr>
          <p:cNvPr id="17586" name="TextBox 17585"/>
          <p:cNvSpPr txBox="1"/>
          <p:nvPr/>
        </p:nvSpPr>
        <p:spPr>
          <a:xfrm>
            <a:off x="9326880" y="2395728"/>
            <a:ext cx="475488" cy="155448"/>
          </a:xfrm>
          <a:prstGeom prst="rect">
            <a:avLst/>
          </a:prstGeom>
          <a:noFill/>
        </p:spPr>
        <p:txBody>
          <a:bodyPr wrap="square" anchor="t" lIns="27432" rIns="27432" tIns="9144" bIns="9144">
            <a:spAutoFit/>
          </a:bodyPr>
          <a:lstStyle/>
          <a:p>
            <a:pPr algn="ctr"/>
            <a:r>
              <a:rPr sz="630" b="1">
                <a:solidFill>
                  <a:srgbClr val="172131"/>
                </a:solidFill>
                <a:latin typeface="Calibri"/>
              </a:rPr>
              <a:t>Gemini</a:t>
            </a:r>
          </a:p>
        </p:txBody>
      </p:sp>
      <p:sp>
        <p:nvSpPr>
          <p:cNvPr id="17587" name="Oval 17586"/>
          <p:cNvSpPr/>
          <p:nvPr/>
        </p:nvSpPr>
        <p:spPr>
          <a:xfrm>
            <a:off x="9797796" y="2029968"/>
            <a:ext cx="365760" cy="365760"/>
          </a:xfrm>
          <a:prstGeom prst="ellipse">
            <a:avLst/>
          </a:prstGeom>
          <a:solidFill>
            <a:srgbClr val="F55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88" name="Picture 17587" descr="image.png"/>
          <p:cNvPicPr>
            <a:picLocks noChangeAspect="1"/>
          </p:cNvPicPr>
          <p:nvPr/>
        </p:nvPicPr>
        <p:blipFill>
          <a:blip r:embed="rId26"/>
          <a:stretch>
            <a:fillRect/>
          </a:stretch>
        </p:blipFill>
        <p:spPr>
          <a:xfrm>
            <a:off x="9870948" y="2103120"/>
            <a:ext cx="219456" cy="219456"/>
          </a:xfrm>
          <a:prstGeom prst="rect">
            <a:avLst/>
          </a:prstGeom>
        </p:spPr>
      </p:pic>
      <p:sp>
        <p:nvSpPr>
          <p:cNvPr id="17589" name="TextBox 17588"/>
          <p:cNvSpPr txBox="1"/>
          <p:nvPr/>
        </p:nvSpPr>
        <p:spPr>
          <a:xfrm>
            <a:off x="9742932" y="2395728"/>
            <a:ext cx="475488" cy="155448"/>
          </a:xfrm>
          <a:prstGeom prst="rect">
            <a:avLst/>
          </a:prstGeom>
          <a:noFill/>
        </p:spPr>
        <p:txBody>
          <a:bodyPr wrap="square" anchor="t" lIns="27432" rIns="27432" tIns="9144" bIns="9144">
            <a:spAutoFit/>
          </a:bodyPr>
          <a:lstStyle/>
          <a:p>
            <a:pPr algn="ctr"/>
            <a:r>
              <a:rPr sz="630" b="1">
                <a:solidFill>
                  <a:srgbClr val="172131"/>
                </a:solidFill>
                <a:latin typeface="Calibri"/>
              </a:rPr>
              <a:t>Groq</a:t>
            </a:r>
          </a:p>
        </p:txBody>
      </p:sp>
      <p:sp>
        <p:nvSpPr>
          <p:cNvPr id="17590" name="Oval 17589"/>
          <p:cNvSpPr/>
          <p:nvPr/>
        </p:nvSpPr>
        <p:spPr>
          <a:xfrm>
            <a:off x="10213848" y="2029968"/>
            <a:ext cx="365760" cy="365760"/>
          </a:xfrm>
          <a:prstGeom prst="ellipse">
            <a:avLst/>
          </a:prstGeom>
          <a:solidFill>
            <a:srgbClr val="3B7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91" name="Picture 17590" descr="image.png"/>
          <p:cNvPicPr>
            <a:picLocks noChangeAspect="1"/>
          </p:cNvPicPr>
          <p:nvPr/>
        </p:nvPicPr>
        <p:blipFill>
          <a:blip r:embed="rId22"/>
          <a:stretch>
            <a:fillRect/>
          </a:stretch>
        </p:blipFill>
        <p:spPr>
          <a:xfrm>
            <a:off x="10287000" y="2103120"/>
            <a:ext cx="219456" cy="219456"/>
          </a:xfrm>
          <a:prstGeom prst="rect">
            <a:avLst/>
          </a:prstGeom>
        </p:spPr>
      </p:pic>
      <p:sp>
        <p:nvSpPr>
          <p:cNvPr id="17592" name="TextBox 17591"/>
          <p:cNvSpPr txBox="1"/>
          <p:nvPr/>
        </p:nvSpPr>
        <p:spPr>
          <a:xfrm>
            <a:off x="10158984" y="2395728"/>
            <a:ext cx="475488" cy="155448"/>
          </a:xfrm>
          <a:prstGeom prst="rect">
            <a:avLst/>
          </a:prstGeom>
          <a:noFill/>
        </p:spPr>
        <p:txBody>
          <a:bodyPr wrap="square" anchor="t" lIns="27432" rIns="27432" tIns="9144" bIns="9144">
            <a:spAutoFit/>
          </a:bodyPr>
          <a:lstStyle/>
          <a:p>
            <a:pPr algn="ctr"/>
            <a:r>
              <a:rPr sz="630" b="1">
                <a:solidFill>
                  <a:srgbClr val="172131"/>
                </a:solidFill>
                <a:latin typeface="Calibri"/>
              </a:rPr>
              <a:t>SymPy</a:t>
            </a:r>
          </a:p>
        </p:txBody>
      </p:sp>
      <p:sp>
        <p:nvSpPr>
          <p:cNvPr id="17593" name="Oval 17592"/>
          <p:cNvSpPr/>
          <p:nvPr/>
        </p:nvSpPr>
        <p:spPr>
          <a:xfrm>
            <a:off x="10629900" y="2029968"/>
            <a:ext cx="365760" cy="365760"/>
          </a:xfrm>
          <a:prstGeom prst="ellipse">
            <a:avLst/>
          </a:prstGeom>
          <a:solidFill>
            <a:srgbClr val="C89B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94" name="Picture 17593" descr="image.png"/>
          <p:cNvPicPr>
            <a:picLocks noChangeAspect="1"/>
          </p:cNvPicPr>
          <p:nvPr/>
        </p:nvPicPr>
        <p:blipFill>
          <a:blip r:embed="rId37"/>
          <a:stretch>
            <a:fillRect/>
          </a:stretch>
        </p:blipFill>
        <p:spPr>
          <a:xfrm>
            <a:off x="10703052" y="2103120"/>
            <a:ext cx="219456" cy="219456"/>
          </a:xfrm>
          <a:prstGeom prst="rect">
            <a:avLst/>
          </a:prstGeom>
        </p:spPr>
      </p:pic>
      <p:sp>
        <p:nvSpPr>
          <p:cNvPr id="17595" name="TextBox 17594"/>
          <p:cNvSpPr txBox="1"/>
          <p:nvPr/>
        </p:nvSpPr>
        <p:spPr>
          <a:xfrm>
            <a:off x="10575036" y="2395728"/>
            <a:ext cx="475488" cy="155448"/>
          </a:xfrm>
          <a:prstGeom prst="rect">
            <a:avLst/>
          </a:prstGeom>
          <a:noFill/>
        </p:spPr>
        <p:txBody>
          <a:bodyPr wrap="square" anchor="t" lIns="27432" rIns="27432" tIns="9144" bIns="9144">
            <a:spAutoFit/>
          </a:bodyPr>
          <a:lstStyle/>
          <a:p>
            <a:pPr algn="ctr"/>
            <a:r>
              <a:rPr sz="630" b="1">
                <a:solidFill>
                  <a:srgbClr val="172131"/>
                </a:solidFill>
                <a:latin typeface="Calibri"/>
              </a:rPr>
              <a:t>pytest</a:t>
            </a:r>
          </a:p>
        </p:txBody>
      </p:sp>
      <p:sp>
        <p:nvSpPr>
          <p:cNvPr id="17596" name="Oval 17595"/>
          <p:cNvSpPr/>
          <p:nvPr/>
        </p:nvSpPr>
        <p:spPr>
          <a:xfrm>
            <a:off x="11045952" y="2029968"/>
            <a:ext cx="365760" cy="365760"/>
          </a:xfrm>
          <a:prstGeom prst="ellipse">
            <a:avLst/>
          </a:prstGeom>
          <a:solidFill>
            <a:srgbClr val="172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597" name="Picture 17596" descr="image.png"/>
          <p:cNvPicPr>
            <a:picLocks noChangeAspect="1"/>
          </p:cNvPicPr>
          <p:nvPr/>
        </p:nvPicPr>
        <p:blipFill>
          <a:blip r:embed="rId38"/>
          <a:stretch>
            <a:fillRect/>
          </a:stretch>
        </p:blipFill>
        <p:spPr>
          <a:xfrm>
            <a:off x="11119104" y="2103120"/>
            <a:ext cx="219456" cy="219456"/>
          </a:xfrm>
          <a:prstGeom prst="rect">
            <a:avLst/>
          </a:prstGeom>
        </p:spPr>
      </p:pic>
      <p:sp>
        <p:nvSpPr>
          <p:cNvPr id="17598" name="TextBox 17597"/>
          <p:cNvSpPr txBox="1"/>
          <p:nvPr/>
        </p:nvSpPr>
        <p:spPr>
          <a:xfrm>
            <a:off x="10991088" y="2395728"/>
            <a:ext cx="475488" cy="155448"/>
          </a:xfrm>
          <a:prstGeom prst="rect">
            <a:avLst/>
          </a:prstGeom>
          <a:noFill/>
        </p:spPr>
        <p:txBody>
          <a:bodyPr wrap="square" anchor="t" lIns="27432" rIns="27432" tIns="9144" bIns="9144">
            <a:spAutoFit/>
          </a:bodyPr>
          <a:lstStyle/>
          <a:p>
            <a:pPr algn="ctr"/>
            <a:r>
              <a:rPr sz="630" b="1">
                <a:solidFill>
                  <a:srgbClr val="172131"/>
                </a:solidFill>
                <a:latin typeface="Calibri"/>
              </a:rPr>
              <a:t>GitHub</a:t>
            </a:r>
          </a:p>
        </p:txBody>
      </p:sp>
      <p:sp>
        <p:nvSpPr>
          <p:cNvPr id="17599" name="Oval 17598"/>
          <p:cNvSpPr/>
          <p:nvPr/>
        </p:nvSpPr>
        <p:spPr>
          <a:xfrm>
            <a:off x="11462004" y="2029968"/>
            <a:ext cx="365760" cy="365760"/>
          </a:xfrm>
          <a:prstGeom prst="ellipse">
            <a:avLst/>
          </a:prstGeom>
          <a:solidFill>
            <a:srgbClr val="1D6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600" name="Picture 17599" descr="image.png"/>
          <p:cNvPicPr>
            <a:picLocks noChangeAspect="1"/>
          </p:cNvPicPr>
          <p:nvPr/>
        </p:nvPicPr>
        <p:blipFill>
          <a:blip r:embed="rId39"/>
          <a:stretch>
            <a:fillRect/>
          </a:stretch>
        </p:blipFill>
        <p:spPr>
          <a:xfrm>
            <a:off x="11535156" y="2103120"/>
            <a:ext cx="219456" cy="219456"/>
          </a:xfrm>
          <a:prstGeom prst="rect">
            <a:avLst/>
          </a:prstGeom>
        </p:spPr>
      </p:pic>
      <p:sp>
        <p:nvSpPr>
          <p:cNvPr id="17601" name="TextBox 17600"/>
          <p:cNvSpPr txBox="1"/>
          <p:nvPr/>
        </p:nvSpPr>
        <p:spPr>
          <a:xfrm>
            <a:off x="11407140" y="2395728"/>
            <a:ext cx="475488" cy="155448"/>
          </a:xfrm>
          <a:prstGeom prst="rect">
            <a:avLst/>
          </a:prstGeom>
          <a:noFill/>
        </p:spPr>
        <p:txBody>
          <a:bodyPr wrap="square" anchor="t" lIns="27432" rIns="27432" tIns="9144" bIns="9144">
            <a:spAutoFit/>
          </a:bodyPr>
          <a:lstStyle/>
          <a:p>
            <a:pPr algn="ctr"/>
            <a:r>
              <a:rPr sz="630" b="1">
                <a:solidFill>
                  <a:srgbClr val="172131"/>
                </a:solidFill>
                <a:latin typeface="Calibri"/>
              </a:rPr>
              <a:t>Docker</a:t>
            </a:r>
          </a:p>
        </p:txBody>
      </p:sp>
    </p:spTree>
    <p:extLst>
      <p:ext uri="{BB962C8B-B14F-4D97-AF65-F5344CB8AC3E}">
        <p14:creationId xmlns:p14="http://schemas.microsoft.com/office/powerpoint/2010/main" val="1541755922"/>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2738C0BA-5070-93C5-414C-1B9E7624DEA6}"/>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a:solidFill>
                <a:schemeClr val="accent2">
                  <a:lumMod val="75000"/>
                </a:schemeClr>
              </a:solidFill>
              <a:latin typeface="+mn-lt"/>
              <a:ea typeface="+mn-ea"/>
            </a:endParaRPr>
          </a:p>
        </p:txBody>
      </p:sp>
      <p:sp>
        <p:nvSpPr>
          <p:cNvPr id="17409" name="Title 1">
            <a:extLst>
              <a:ext uri="{FF2B5EF4-FFF2-40B4-BE49-F238E27FC236}">
                <a16:creationId xmlns:a16="http://schemas.microsoft.com/office/drawing/2014/main" id="{279AAA37-CB74-B25D-64AE-53B3F8C63496}"/>
              </a:ext>
            </a:extLst>
          </p:cNvPr>
          <p:cNvSpPr>
            <a:spLocks noGrp="1"/>
          </p:cNvSpPr>
          <p:nvPr>
            <p:ph type="title"/>
          </p:nvPr>
        </p:nvSpPr>
        <p:spPr>
          <a:xfrm>
            <a:off x="609600" y="-182662"/>
            <a:ext cx="10972800" cy="843988"/>
          </a:xfrm>
        </p:spPr>
        <p:txBody>
          <a:bodyPr/>
          <a:lstStyle/>
          <a:p>
            <a:pPr eaLnBrk="1" hangingPunct="1"/>
            <a:r>
              <a:rPr lang="en-US" sz="3600" b="1">
                <a:latin typeface="Times New Roman" panose="02020603050405020304" pitchFamily="18" charset="0"/>
                <a:ea typeface="ＭＳ Ｐゴシック" pitchFamily="1" charset="-128"/>
                <a:cs typeface="Times New Roman" panose="02020603050405020304" pitchFamily="18" charset="0"/>
              </a:rPr>
              <a:t>METHODOLOGY</a:t>
            </a:r>
          </a:p>
        </p:txBody>
      </p:sp>
      <p:sp>
        <p:nvSpPr>
          <p:cNvPr id="6" name="Slide Number Placeholder 5">
            <a:extLst>
              <a:ext uri="{FF2B5EF4-FFF2-40B4-BE49-F238E27FC236}">
                <a16:creationId xmlns:a16="http://schemas.microsoft.com/office/drawing/2014/main" id="{43DA03A7-2539-4A2D-F71A-F5F37F5DABF5}"/>
              </a:ext>
            </a:extLst>
          </p:cNvPr>
          <p:cNvSpPr>
            <a:spLocks noGrp="1"/>
          </p:cNvSpPr>
          <p:nvPr>
            <p:ph type="sldNum" sz="quarter" idx="12"/>
          </p:nvPr>
        </p:nvSpPr>
        <p:spPr/>
        <p:txBody>
          <a:bodyPr/>
          <a:lstStyle/>
          <a:p>
            <a:fld id="{677C3CE7-23F7-4828-823C-E0205DF2CF97}" type="slidenum">
              <a:rPr lang="en-US" b="1">
                <a:solidFill>
                  <a:schemeClr val="bg1"/>
                </a:solidFill>
              </a:rPr>
              <a:pPr/>
              <a:t>4</a:t>
            </a:fld>
            <a:endParaRPr lang="en-US" b="1">
              <a:solidFill>
                <a:schemeClr val="bg1"/>
              </a:solidFill>
            </a:endParaRPr>
          </a:p>
        </p:txBody>
      </p:sp>
      <p:sp>
        <p:nvSpPr>
          <p:cNvPr id="7" name="Footer Placeholder 6">
            <a:extLst>
              <a:ext uri="{FF2B5EF4-FFF2-40B4-BE49-F238E27FC236}">
                <a16:creationId xmlns:a16="http://schemas.microsoft.com/office/drawing/2014/main" id="{292AC042-6453-70B0-5DB4-7181492D3A65}"/>
              </a:ext>
            </a:extLst>
          </p:cNvPr>
          <p:cNvSpPr>
            <a:spLocks noGrp="1"/>
          </p:cNvSpPr>
          <p:nvPr>
            <p:ph type="ftr" sz="quarter" idx="11"/>
          </p:nvPr>
        </p:nvSpPr>
        <p:spPr>
          <a:xfrm>
            <a:off x="4648200" y="6356353"/>
            <a:ext cx="3204000" cy="365125"/>
          </a:xfrm>
        </p:spPr>
        <p:txBody>
          <a:bodyPr/>
          <a:lstStyle/>
          <a:p>
            <a:pPr>
              <a:defRPr/>
            </a:pPr>
            <a:r>
              <a:rPr lang="en-US">
                <a:solidFill>
                  <a:schemeClr val="bg1"/>
                </a:solidFill>
              </a:rPr>
              <a:t>IPD Review · Learnova · AI&amp;DS DJSCE</a:t>
            </a:r>
          </a:p>
        </p:txBody>
      </p:sp>
      <p:sp>
        <p:nvSpPr>
          <p:cNvPr id="11" name="Oval 10" descr="Your startup LOGO">
            <a:extLst>
              <a:ext uri="{FF2B5EF4-FFF2-40B4-BE49-F238E27FC236}">
                <a16:creationId xmlns:a16="http://schemas.microsoft.com/office/drawing/2014/main" id="{50E2A979-97FD-F669-DD46-B7D2FBB1E868}"/>
              </a:ext>
              <a:ext uri="{C183D7F6-B498-43B3-948B-1728B52AA6E4}">
                <adec:decorative xmlns:adec="http://schemas.microsoft.com/office/drawing/2017/decorative" val="0"/>
              </a:ext>
            </a:extLst>
          </p:cNvPr>
          <p:cNvSpPr/>
          <p:nvPr/>
        </p:nvSpPr>
        <p:spPr>
          <a:xfrm>
            <a:off x="274320" y="196924"/>
            <a:ext cx="1902611" cy="322631"/>
          </a:xfrm>
          <a:prstGeom prst="ellipse">
            <a:avLst/>
          </a:prstGeom>
        </p:spPr>
        <p:style>
          <a:lnRef idx="2">
            <a:schemeClr val="accent4"/>
          </a:lnRef>
          <a:fillRef idx="1">
            <a:schemeClr val="lt1"/>
          </a:fillRef>
          <a:effectRef idx="0">
            <a:schemeClr val="accent4"/>
          </a:effectRef>
          <a:fontRef idx="minor">
            <a:schemeClr val="dk1"/>
          </a:fontRef>
        </p:style>
        <p:txBody>
          <a:bodyPr lIns="91440" tIns="45720" rIns="91440" bIns="45720" rtlCol="0" anchor="ctr"/>
          <a:lstStyle/>
          <a:p>
            <a:pPr algn="ctr"/>
            <a:r>
              <a:rPr dirty="0"/>
              <a:t>Learnova</a:t>
            </a:r>
            <a:endParaRPr lang="en-US" dirty="0">
              <a:ea typeface="Calibri"/>
              <a:cs typeface="Calibri"/>
            </a:endParaRPr>
          </a:p>
        </p:txBody>
      </p:sp>
      <p:sp>
        <p:nvSpPr>
          <p:cNvPr id="17410" name="TextBox 17409"/>
          <p:cNvSpPr txBox="1"/>
          <p:nvPr/>
        </p:nvSpPr>
        <p:spPr>
          <a:xfrm>
            <a:off x="2743200" y="621792"/>
            <a:ext cx="6702552" cy="310896"/>
          </a:xfrm>
          <a:prstGeom prst="rect">
            <a:avLst/>
          </a:prstGeom>
          <a:noFill/>
        </p:spPr>
        <p:txBody>
          <a:bodyPr wrap="square" anchor="ctr" lIns="27432" rIns="27432" tIns="9144" bIns="9144">
            <a:spAutoFit/>
          </a:bodyPr>
          <a:lstStyle/>
          <a:p>
            <a:pPr algn="ctr"/>
            <a:r>
              <a:rPr sz="1500" b="0" i="1">
                <a:solidFill>
                  <a:srgbClr val="1F5FBF"/>
                </a:solidFill>
                <a:latin typeface="Calibri"/>
              </a:rPr>
              <a:t>Six stages from the teacher's old deck to a checked, interactive one</a:t>
            </a:r>
          </a:p>
        </p:txBody>
      </p:sp>
      <p:sp>
        <p:nvSpPr>
          <p:cNvPr id="17411" name="Rounded Rectangle 17410"/>
          <p:cNvSpPr/>
          <p:nvPr/>
        </p:nvSpPr>
        <p:spPr>
          <a:xfrm>
            <a:off x="274320" y="1005840"/>
            <a:ext cx="11640312" cy="329184"/>
          </a:xfrm>
          <a:prstGeom prst="roundRect">
            <a:avLst>
              <a:gd name="adj" fmla="val 25000"/>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TextBox 17411"/>
          <p:cNvSpPr txBox="1"/>
          <p:nvPr/>
        </p:nvSpPr>
        <p:spPr>
          <a:xfrm>
            <a:off x="274320" y="1005840"/>
            <a:ext cx="11640312" cy="329184"/>
          </a:xfrm>
          <a:prstGeom prst="rect">
            <a:avLst/>
          </a:prstGeom>
          <a:noFill/>
        </p:spPr>
        <p:txBody>
          <a:bodyPr wrap="square" anchor="ctr" lIns="27432" rIns="27432" tIns="9144" bIns="9144">
            <a:spAutoFit/>
          </a:bodyPr>
          <a:lstStyle/>
          <a:p>
            <a:pPr algn="ctr"/>
            <a:r>
              <a:rPr sz="1400" b="1">
                <a:solidFill>
                  <a:srgbClr val="FFFFFF"/>
                </a:solidFill>
                <a:latin typeface="Calibri"/>
              </a:rPr>
              <a:t>Methodology and process for implementation</a:t>
            </a:r>
          </a:p>
        </p:txBody>
      </p:sp>
      <p:sp>
        <p:nvSpPr>
          <p:cNvPr id="17413" name="Pentagon 17412"/>
          <p:cNvSpPr/>
          <p:nvPr/>
        </p:nvSpPr>
        <p:spPr>
          <a:xfrm>
            <a:off x="274320" y="1426464"/>
            <a:ext cx="1985771" cy="384048"/>
          </a:xfrm>
          <a:prstGeom prst="homePlate">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TextBox 17413"/>
          <p:cNvSpPr txBox="1"/>
          <p:nvPr/>
        </p:nvSpPr>
        <p:spPr>
          <a:xfrm>
            <a:off x="457200" y="1426464"/>
            <a:ext cx="1665732" cy="384048"/>
          </a:xfrm>
          <a:prstGeom prst="rect">
            <a:avLst/>
          </a:prstGeom>
          <a:noFill/>
        </p:spPr>
        <p:txBody>
          <a:bodyPr wrap="square" anchor="ctr" lIns="27432" rIns="27432" tIns="9144" bIns="9144">
            <a:spAutoFit/>
          </a:bodyPr>
          <a:lstStyle/>
          <a:p>
            <a:pPr algn="ctr"/>
            <a:r>
              <a:rPr sz="1200" b="1">
                <a:solidFill>
                  <a:srgbClr val="FFFFFF"/>
                </a:solidFill>
                <a:latin typeface="Calibri"/>
              </a:rPr>
              <a:t>1 · READ</a:t>
            </a:r>
          </a:p>
        </p:txBody>
      </p:sp>
      <p:sp>
        <p:nvSpPr>
          <p:cNvPr id="17415" name="Rounded Rectangle 17414"/>
          <p:cNvSpPr/>
          <p:nvPr/>
        </p:nvSpPr>
        <p:spPr>
          <a:xfrm>
            <a:off x="310896" y="1883664"/>
            <a:ext cx="1866899" cy="2395728"/>
          </a:xfrm>
          <a:prstGeom prst="roundRect">
            <a:avLst>
              <a:gd name="adj" fmla="val 5000"/>
            </a:avLst>
          </a:prstGeom>
          <a:solidFill>
            <a:srgbClr val="F7F8FB"/>
          </a:solidFill>
          <a:ln w="9525">
            <a:solidFill>
              <a:srgbClr val="1F5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Oval 17415"/>
          <p:cNvSpPr/>
          <p:nvPr/>
        </p:nvSpPr>
        <p:spPr>
          <a:xfrm>
            <a:off x="1043178" y="1938528"/>
            <a:ext cx="402336" cy="402336"/>
          </a:xfrm>
          <a:prstGeom prst="ellipse">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17" name="Picture 17416" descr="image.png"/>
          <p:cNvPicPr>
            <a:picLocks noChangeAspect="1"/>
          </p:cNvPicPr>
          <p:nvPr/>
        </p:nvPicPr>
        <p:blipFill>
          <a:blip r:embed="rId2"/>
          <a:stretch>
            <a:fillRect/>
          </a:stretch>
        </p:blipFill>
        <p:spPr>
          <a:xfrm>
            <a:off x="1123645" y="2018995"/>
            <a:ext cx="241401" cy="241401"/>
          </a:xfrm>
          <a:prstGeom prst="rect">
            <a:avLst/>
          </a:prstGeom>
        </p:spPr>
      </p:pic>
      <p:sp>
        <p:nvSpPr>
          <p:cNvPr id="17418" name="TextBox 17417"/>
          <p:cNvSpPr txBox="1"/>
          <p:nvPr/>
        </p:nvSpPr>
        <p:spPr>
          <a:xfrm>
            <a:off x="347472" y="2377440"/>
            <a:ext cx="1793748" cy="1874519"/>
          </a:xfrm>
          <a:prstGeom prst="rect">
            <a:avLst/>
          </a:prstGeom>
          <a:noFill/>
        </p:spPr>
        <p:txBody>
          <a:bodyPr wrap="square" lIns="36576" rIns="36576" tIns="18288" bIns="18288">
            <a:spAutoFit/>
          </a:bodyPr>
          <a:lstStyle/>
          <a:p>
            <a:pPr>
              <a:spcAft>
                <a:spcPts val="200"/>
              </a:spcAft>
            </a:pPr>
            <a:r>
              <a:rPr sz="1060" b="1">
                <a:solidFill>
                  <a:srgbClr val="1F5FBF"/>
                </a:solidFill>
                <a:latin typeface="Calibri"/>
              </a:rPr>
              <a:t>▸ </a:t>
            </a:r>
            <a:r>
              <a:rPr sz="1060" b="0">
                <a:solidFill>
                  <a:srgbClr val="172131"/>
                </a:solidFill>
                <a:latin typeface="Calibri"/>
              </a:rPr>
              <a:t>PPTX → PDF with LibreOffice, cached by file hash</a:t>
            </a:r>
          </a:p>
          <a:p>
            <a:pPr>
              <a:spcAft>
                <a:spcPts val="200"/>
              </a:spcAft>
            </a:pPr>
            <a:r>
              <a:rPr sz="1060" b="1">
                <a:solidFill>
                  <a:srgbClr val="1F5FBF"/>
                </a:solidFill>
                <a:latin typeface="Calibri"/>
              </a:rPr>
              <a:t>▸ </a:t>
            </a:r>
            <a:r>
              <a:rPr sz="1060" b="0">
                <a:solidFill>
                  <a:srgbClr val="172131"/>
                </a:solidFill>
                <a:latin typeface="Calibri"/>
              </a:rPr>
              <a:t>Words read with position, size, weight (PyMuPDF)</a:t>
            </a:r>
          </a:p>
          <a:p>
            <a:pPr>
              <a:spcAft>
                <a:spcPts val="200"/>
              </a:spcAft>
            </a:pPr>
            <a:r>
              <a:rPr sz="1060" b="1">
                <a:solidFill>
                  <a:srgbClr val="1F5FBF"/>
                </a:solidFill>
                <a:latin typeface="Calibri"/>
              </a:rPr>
              <a:t>▸ </a:t>
            </a:r>
            <a:r>
              <a:rPr sz="1060" b="0">
                <a:solidFill>
                  <a:srgbClr val="172131"/>
                </a:solidFill>
                <a:latin typeface="Calibri"/>
              </a:rPr>
              <a:t>Title rule: size ≥ 1.18 × body size</a:t>
            </a:r>
          </a:p>
          <a:p>
            <a:pPr>
              <a:spcAft>
                <a:spcPts val="200"/>
              </a:spcAft>
            </a:pPr>
            <a:r>
              <a:rPr sz="1060" b="1">
                <a:solidFill>
                  <a:srgbClr val="1F5FBF"/>
                </a:solidFill>
                <a:latin typeface="Calibri"/>
              </a:rPr>
              <a:t>▸ </a:t>
            </a:r>
            <a:r>
              <a:rPr sz="1060" b="0">
                <a:solidFill>
                  <a:srgbClr val="172131"/>
                </a:solidFill>
                <a:latin typeface="Calibri"/>
              </a:rPr>
              <a:t>OCR only if γ ≤ 0.42, confidence ≥ 62</a:t>
            </a:r>
          </a:p>
          <a:p>
            <a:pPr>
              <a:spcAft>
                <a:spcPts val="200"/>
              </a:spcAft>
            </a:pPr>
            <a:r>
              <a:rPr sz="1060" b="1">
                <a:solidFill>
                  <a:srgbClr val="1F5FBF"/>
                </a:solidFill>
                <a:latin typeface="Calibri"/>
              </a:rPr>
              <a:t>▸ </a:t>
            </a:r>
            <a:r>
              <a:rPr sz="1060" b="0">
                <a:solidFill>
                  <a:srgbClr val="172131"/>
                </a:solidFill>
                <a:latin typeface="Calibri"/>
              </a:rPr>
              <a:t>Tables and figures kept in place</a:t>
            </a:r>
          </a:p>
        </p:txBody>
      </p:sp>
      <p:sp>
        <p:nvSpPr>
          <p:cNvPr id="17419" name="Chevron 17418"/>
          <p:cNvSpPr/>
          <p:nvPr/>
        </p:nvSpPr>
        <p:spPr>
          <a:xfrm>
            <a:off x="2214372" y="1426464"/>
            <a:ext cx="1985771" cy="384048"/>
          </a:xfrm>
          <a:prstGeom prst="chevron">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2397252" y="1426464"/>
            <a:ext cx="1665732" cy="384048"/>
          </a:xfrm>
          <a:prstGeom prst="rect">
            <a:avLst/>
          </a:prstGeom>
          <a:noFill/>
        </p:spPr>
        <p:txBody>
          <a:bodyPr wrap="square" anchor="ctr" lIns="27432" rIns="27432" tIns="9144" bIns="9144">
            <a:spAutoFit/>
          </a:bodyPr>
          <a:lstStyle/>
          <a:p>
            <a:pPr algn="ctr"/>
            <a:r>
              <a:rPr sz="1200" b="1">
                <a:solidFill>
                  <a:srgbClr val="FFFFFF"/>
                </a:solidFill>
                <a:latin typeface="Calibri"/>
              </a:rPr>
              <a:t>2 · CLEAN</a:t>
            </a:r>
          </a:p>
        </p:txBody>
      </p:sp>
      <p:sp>
        <p:nvSpPr>
          <p:cNvPr id="17421" name="Rounded Rectangle 17420"/>
          <p:cNvSpPr/>
          <p:nvPr/>
        </p:nvSpPr>
        <p:spPr>
          <a:xfrm>
            <a:off x="2250948" y="1883664"/>
            <a:ext cx="1866899" cy="2395728"/>
          </a:xfrm>
          <a:prstGeom prst="roundRect">
            <a:avLst>
              <a:gd name="adj" fmla="val 5000"/>
            </a:avLst>
          </a:prstGeom>
          <a:solidFill>
            <a:srgbClr val="F7F8FB"/>
          </a:solidFill>
          <a:ln w="952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Oval 17421"/>
          <p:cNvSpPr/>
          <p:nvPr/>
        </p:nvSpPr>
        <p:spPr>
          <a:xfrm>
            <a:off x="2983229" y="1938528"/>
            <a:ext cx="402336" cy="40233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23" name="Picture 17422" descr="image.png"/>
          <p:cNvPicPr>
            <a:picLocks noChangeAspect="1"/>
          </p:cNvPicPr>
          <p:nvPr/>
        </p:nvPicPr>
        <p:blipFill>
          <a:blip r:embed="rId3"/>
          <a:stretch>
            <a:fillRect/>
          </a:stretch>
        </p:blipFill>
        <p:spPr>
          <a:xfrm>
            <a:off x="3063697" y="2018995"/>
            <a:ext cx="241401" cy="241401"/>
          </a:xfrm>
          <a:prstGeom prst="rect">
            <a:avLst/>
          </a:prstGeom>
        </p:spPr>
      </p:pic>
      <p:sp>
        <p:nvSpPr>
          <p:cNvPr id="17424" name="TextBox 17423"/>
          <p:cNvSpPr txBox="1"/>
          <p:nvPr/>
        </p:nvSpPr>
        <p:spPr>
          <a:xfrm>
            <a:off x="2287524" y="2377440"/>
            <a:ext cx="1793748" cy="1874519"/>
          </a:xfrm>
          <a:prstGeom prst="rect">
            <a:avLst/>
          </a:prstGeom>
          <a:noFill/>
        </p:spPr>
        <p:txBody>
          <a:bodyPr wrap="square" lIns="36576" rIns="36576" tIns="18288" bIns="18288">
            <a:spAutoFit/>
          </a:bodyPr>
          <a:lstStyle/>
          <a:p>
            <a:pPr>
              <a:spcAft>
                <a:spcPts val="200"/>
              </a:spcAft>
            </a:pPr>
            <a:r>
              <a:rPr sz="1060" b="1">
                <a:solidFill>
                  <a:srgbClr val="0E7C86"/>
                </a:solidFill>
                <a:latin typeface="Calibri"/>
              </a:rPr>
              <a:t>▸ </a:t>
            </a:r>
            <a:r>
              <a:rPr sz="1060" b="0">
                <a:solidFill>
                  <a:srgbClr val="172131"/>
                </a:solidFill>
                <a:latin typeface="Calibri"/>
              </a:rPr>
              <a:t>Text on ≥ max(3, 0.3n) pages removed: logos, footers</a:t>
            </a:r>
          </a:p>
          <a:p>
            <a:pPr>
              <a:spcAft>
                <a:spcPts val="200"/>
              </a:spcAft>
            </a:pPr>
            <a:r>
              <a:rPr sz="1060" b="1">
                <a:solidFill>
                  <a:srgbClr val="0E7C86"/>
                </a:solidFill>
                <a:latin typeface="Calibri"/>
              </a:rPr>
              <a:t>▸ </a:t>
            </a:r>
            <a:r>
              <a:rPr sz="1060" b="0">
                <a:solidFill>
                  <a:srgbClr val="172131"/>
                </a:solidFill>
                <a:latin typeface="Calibri"/>
              </a:rPr>
              <a:t>Glued titles split by dynamic programming</a:t>
            </a:r>
          </a:p>
          <a:p>
            <a:pPr>
              <a:spcAft>
                <a:spcPts val="200"/>
              </a:spcAft>
            </a:pPr>
            <a:r>
              <a:rPr sz="1060" b="1">
                <a:solidFill>
                  <a:srgbClr val="0E7C86"/>
                </a:solidFill>
                <a:latin typeface="Calibri"/>
              </a:rPr>
              <a:t>▸ </a:t>
            </a:r>
            <a:r>
              <a:rPr sz="1060" b="0">
                <a:solidFill>
                  <a:srgbClr val="172131"/>
                </a:solidFill>
                <a:latin typeface="Calibri"/>
              </a:rPr>
              <a:t>Split words and wrapped lines joined</a:t>
            </a:r>
          </a:p>
          <a:p>
            <a:pPr>
              <a:spcAft>
                <a:spcPts val="200"/>
              </a:spcAft>
            </a:pPr>
            <a:r>
              <a:rPr sz="1060" b="1">
                <a:solidFill>
                  <a:srgbClr val="0E7C86"/>
                </a:solidFill>
                <a:latin typeface="Calibri"/>
              </a:rPr>
              <a:t>▸ </a:t>
            </a:r>
            <a:r>
              <a:rPr sz="1060" b="0">
                <a:solidFill>
                  <a:srgbClr val="172131"/>
                </a:solidFill>
                <a:latin typeface="Calibri"/>
              </a:rPr>
              <a:t>Chart debris and page counters dropped</a:t>
            </a:r>
          </a:p>
          <a:p>
            <a:pPr>
              <a:spcAft>
                <a:spcPts val="200"/>
              </a:spcAft>
            </a:pPr>
            <a:r>
              <a:rPr sz="1060" b="1">
                <a:solidFill>
                  <a:srgbClr val="0E7C86"/>
                </a:solidFill>
                <a:latin typeface="Calibri"/>
              </a:rPr>
              <a:t>▸ </a:t>
            </a:r>
            <a:r>
              <a:rPr sz="1060" b="0">
                <a:solidFill>
                  <a:srgbClr val="172131"/>
                </a:solidFill>
                <a:latin typeface="Calibri"/>
              </a:rPr>
              <a:t>Repeated pictures marked as decoration</a:t>
            </a:r>
          </a:p>
        </p:txBody>
      </p:sp>
      <p:sp>
        <p:nvSpPr>
          <p:cNvPr id="17425" name="Chevron 17424"/>
          <p:cNvSpPr/>
          <p:nvPr/>
        </p:nvSpPr>
        <p:spPr>
          <a:xfrm>
            <a:off x="4154423" y="1426464"/>
            <a:ext cx="1985771" cy="384048"/>
          </a:xfrm>
          <a:prstGeom prst="chevron">
            <a:avLst/>
          </a:prstGeom>
          <a:solidFill>
            <a:srgbClr val="F2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6" name="TextBox 17425"/>
          <p:cNvSpPr txBox="1"/>
          <p:nvPr/>
        </p:nvSpPr>
        <p:spPr>
          <a:xfrm>
            <a:off x="4337304" y="1426464"/>
            <a:ext cx="1665732" cy="384048"/>
          </a:xfrm>
          <a:prstGeom prst="rect">
            <a:avLst/>
          </a:prstGeom>
          <a:noFill/>
        </p:spPr>
        <p:txBody>
          <a:bodyPr wrap="square" anchor="ctr" lIns="27432" rIns="27432" tIns="9144" bIns="9144">
            <a:spAutoFit/>
          </a:bodyPr>
          <a:lstStyle/>
          <a:p>
            <a:pPr algn="ctr"/>
            <a:r>
              <a:rPr sz="1200" b="1">
                <a:solidFill>
                  <a:srgbClr val="FFFFFF"/>
                </a:solidFill>
                <a:latin typeface="Calibri"/>
              </a:rPr>
              <a:t>3 · PLAN</a:t>
            </a:r>
          </a:p>
        </p:txBody>
      </p:sp>
      <p:sp>
        <p:nvSpPr>
          <p:cNvPr id="17427" name="Rounded Rectangle 17426"/>
          <p:cNvSpPr/>
          <p:nvPr/>
        </p:nvSpPr>
        <p:spPr>
          <a:xfrm>
            <a:off x="4190999" y="1883664"/>
            <a:ext cx="1866899" cy="2395728"/>
          </a:xfrm>
          <a:prstGeom prst="roundRect">
            <a:avLst>
              <a:gd name="adj" fmla="val 5000"/>
            </a:avLst>
          </a:prstGeom>
          <a:solidFill>
            <a:srgbClr val="F7F8FB"/>
          </a:solidFill>
          <a:ln w="9525">
            <a:solidFill>
              <a:srgbClr val="F2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8" name="Oval 17427"/>
          <p:cNvSpPr/>
          <p:nvPr/>
        </p:nvSpPr>
        <p:spPr>
          <a:xfrm>
            <a:off x="4923282" y="1938528"/>
            <a:ext cx="402336" cy="402336"/>
          </a:xfrm>
          <a:prstGeom prst="ellipse">
            <a:avLst/>
          </a:prstGeom>
          <a:solidFill>
            <a:srgbClr val="F2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29" name="Picture 17428" descr="image.png"/>
          <p:cNvPicPr>
            <a:picLocks noChangeAspect="1"/>
          </p:cNvPicPr>
          <p:nvPr/>
        </p:nvPicPr>
        <p:blipFill>
          <a:blip r:embed="rId4"/>
          <a:stretch>
            <a:fillRect/>
          </a:stretch>
        </p:blipFill>
        <p:spPr>
          <a:xfrm>
            <a:off x="5003749" y="2018995"/>
            <a:ext cx="241401" cy="241401"/>
          </a:xfrm>
          <a:prstGeom prst="rect">
            <a:avLst/>
          </a:prstGeom>
        </p:spPr>
      </p:pic>
      <p:sp>
        <p:nvSpPr>
          <p:cNvPr id="17430" name="TextBox 17429"/>
          <p:cNvSpPr txBox="1"/>
          <p:nvPr/>
        </p:nvSpPr>
        <p:spPr>
          <a:xfrm>
            <a:off x="4227576" y="2377440"/>
            <a:ext cx="1793748" cy="1874519"/>
          </a:xfrm>
          <a:prstGeom prst="rect">
            <a:avLst/>
          </a:prstGeom>
          <a:noFill/>
        </p:spPr>
        <p:txBody>
          <a:bodyPr wrap="square" lIns="36576" rIns="36576" tIns="18288" bIns="18288">
            <a:spAutoFit/>
          </a:bodyPr>
          <a:lstStyle/>
          <a:p>
            <a:pPr>
              <a:spcAft>
                <a:spcPts val="200"/>
              </a:spcAft>
            </a:pPr>
            <a:r>
              <a:rPr sz="1060" b="1">
                <a:solidFill>
                  <a:srgbClr val="F27A2E"/>
                </a:solidFill>
                <a:latin typeface="Calibri"/>
              </a:rPr>
              <a:t>▸ </a:t>
            </a:r>
            <a:r>
              <a:rPr sz="1060" b="0">
                <a:solidFill>
                  <a:srgbClr val="172131"/>
                </a:solidFill>
                <a:latin typeface="Calibri"/>
              </a:rPr>
              <a:t>Pages grouped into topics and sections</a:t>
            </a:r>
          </a:p>
          <a:p>
            <a:pPr>
              <a:spcAft>
                <a:spcPts val="200"/>
              </a:spcAft>
            </a:pPr>
            <a:r>
              <a:rPr sz="1060" b="1">
                <a:solidFill>
                  <a:srgbClr val="F27A2E"/>
                </a:solidFill>
                <a:latin typeface="Calibri"/>
              </a:rPr>
              <a:t>▸ </a:t>
            </a:r>
            <a:r>
              <a:rPr sz="1060" b="0">
                <a:solidFill>
                  <a:srgbClr val="172131"/>
                </a:solidFill>
                <a:latin typeface="Calibri"/>
              </a:rPr>
              <a:t>CLASS splits long sections at least load cost</a:t>
            </a:r>
          </a:p>
          <a:p>
            <a:pPr>
              <a:spcAft>
                <a:spcPts val="200"/>
              </a:spcAft>
            </a:pPr>
            <a:r>
              <a:rPr sz="1060" b="1">
                <a:solidFill>
                  <a:srgbClr val="F27A2E"/>
                </a:solidFill>
                <a:latin typeface="Calibri"/>
              </a:rPr>
              <a:t>▸ </a:t>
            </a:r>
            <a:r>
              <a:rPr sz="1060" b="0">
                <a:solidFill>
                  <a:srgbClr val="172131"/>
                </a:solidFill>
                <a:latin typeface="Calibri"/>
              </a:rPr>
              <a:t>Agenda, glossary and summary slides added</a:t>
            </a:r>
          </a:p>
          <a:p>
            <a:pPr>
              <a:spcAft>
                <a:spcPts val="200"/>
              </a:spcAft>
            </a:pPr>
            <a:r>
              <a:rPr sz="1060" b="1">
                <a:solidFill>
                  <a:srgbClr val="F27A2E"/>
                </a:solidFill>
                <a:latin typeface="Calibri"/>
              </a:rPr>
              <a:t>▸ </a:t>
            </a:r>
            <a:r>
              <a:rPr sz="1060" b="0">
                <a:solidFill>
                  <a:srgbClr val="172131"/>
                </a:solidFill>
                <a:latin typeface="Calibri"/>
              </a:rPr>
              <a:t>Parts get names, never “(2/5)”</a:t>
            </a:r>
          </a:p>
          <a:p>
            <a:pPr>
              <a:spcAft>
                <a:spcPts val="200"/>
              </a:spcAft>
            </a:pPr>
            <a:r>
              <a:rPr sz="1060" b="1">
                <a:solidFill>
                  <a:srgbClr val="F27A2E"/>
                </a:solidFill>
                <a:latin typeface="Calibri"/>
              </a:rPr>
              <a:t>▸ </a:t>
            </a:r>
            <a:r>
              <a:rPr sz="1060" b="0">
                <a:solidFill>
                  <a:srgbClr val="172131"/>
                </a:solidFill>
                <a:latin typeface="Calibri"/>
              </a:rPr>
              <a:t>Each part stays under the load limit</a:t>
            </a:r>
          </a:p>
        </p:txBody>
      </p:sp>
      <p:sp>
        <p:nvSpPr>
          <p:cNvPr id="17431" name="Chevron 17430"/>
          <p:cNvSpPr/>
          <p:nvPr/>
        </p:nvSpPr>
        <p:spPr>
          <a:xfrm>
            <a:off x="6094476" y="1426464"/>
            <a:ext cx="1985771" cy="384048"/>
          </a:xfrm>
          <a:prstGeom prst="chevron">
            <a:avLst/>
          </a:prstGeom>
          <a:solidFill>
            <a:srgbClr val="C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2" name="TextBox 17431"/>
          <p:cNvSpPr txBox="1"/>
          <p:nvPr/>
        </p:nvSpPr>
        <p:spPr>
          <a:xfrm>
            <a:off x="6277356" y="1426464"/>
            <a:ext cx="1665732" cy="384048"/>
          </a:xfrm>
          <a:prstGeom prst="rect">
            <a:avLst/>
          </a:prstGeom>
          <a:noFill/>
        </p:spPr>
        <p:txBody>
          <a:bodyPr wrap="square" anchor="ctr" lIns="27432" rIns="27432" tIns="9144" bIns="9144">
            <a:spAutoFit/>
          </a:bodyPr>
          <a:lstStyle/>
          <a:p>
            <a:pPr algn="ctr"/>
            <a:r>
              <a:rPr sz="1200" b="1">
                <a:solidFill>
                  <a:srgbClr val="FFFFFF"/>
                </a:solidFill>
                <a:latin typeface="Calibri"/>
              </a:rPr>
              <a:t>4 · DECIDE</a:t>
            </a:r>
          </a:p>
        </p:txBody>
      </p:sp>
      <p:sp>
        <p:nvSpPr>
          <p:cNvPr id="17433" name="Rounded Rectangle 17432"/>
          <p:cNvSpPr/>
          <p:nvPr/>
        </p:nvSpPr>
        <p:spPr>
          <a:xfrm>
            <a:off x="6131052" y="1883664"/>
            <a:ext cx="1866899" cy="2395728"/>
          </a:xfrm>
          <a:prstGeom prst="roundRect">
            <a:avLst>
              <a:gd name="adj" fmla="val 5000"/>
            </a:avLst>
          </a:prstGeom>
          <a:solidFill>
            <a:srgbClr val="F7F8FB"/>
          </a:solidFill>
          <a:ln w="9525">
            <a:solidFill>
              <a:srgbClr val="C03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4" name="Oval 17433"/>
          <p:cNvSpPr/>
          <p:nvPr/>
        </p:nvSpPr>
        <p:spPr>
          <a:xfrm>
            <a:off x="6863334" y="1938528"/>
            <a:ext cx="402336" cy="402336"/>
          </a:xfrm>
          <a:prstGeom prst="ellipse">
            <a:avLst/>
          </a:prstGeom>
          <a:solidFill>
            <a:srgbClr val="C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35" name="Picture 17434" descr="image.png"/>
          <p:cNvPicPr>
            <a:picLocks noChangeAspect="1"/>
          </p:cNvPicPr>
          <p:nvPr/>
        </p:nvPicPr>
        <p:blipFill>
          <a:blip r:embed="rId5"/>
          <a:stretch>
            <a:fillRect/>
          </a:stretch>
        </p:blipFill>
        <p:spPr>
          <a:xfrm>
            <a:off x="6943801" y="2018995"/>
            <a:ext cx="241401" cy="241401"/>
          </a:xfrm>
          <a:prstGeom prst="rect">
            <a:avLst/>
          </a:prstGeom>
        </p:spPr>
      </p:pic>
      <p:sp>
        <p:nvSpPr>
          <p:cNvPr id="17436" name="TextBox 17435"/>
          <p:cNvSpPr txBox="1"/>
          <p:nvPr/>
        </p:nvSpPr>
        <p:spPr>
          <a:xfrm>
            <a:off x="6167628" y="2377440"/>
            <a:ext cx="1793748" cy="1874519"/>
          </a:xfrm>
          <a:prstGeom prst="rect">
            <a:avLst/>
          </a:prstGeom>
          <a:noFill/>
        </p:spPr>
        <p:txBody>
          <a:bodyPr wrap="square" lIns="36576" rIns="36576" tIns="18288" bIns="18288">
            <a:spAutoFit/>
          </a:bodyPr>
          <a:lstStyle/>
          <a:p>
            <a:pPr>
              <a:spcAft>
                <a:spcPts val="200"/>
              </a:spcAft>
            </a:pPr>
            <a:r>
              <a:rPr sz="1060" b="1">
                <a:solidFill>
                  <a:srgbClr val="C03030"/>
                </a:solidFill>
                <a:latin typeface="Calibri"/>
              </a:rPr>
              <a:t>▸ </a:t>
            </a:r>
            <a:r>
              <a:rPr sz="1060" b="0">
                <a:solidFill>
                  <a:srgbClr val="172131"/>
                </a:solidFill>
                <a:latin typeface="Calibri"/>
              </a:rPr>
              <a:t>27 detectors score every slide</a:t>
            </a:r>
          </a:p>
          <a:p>
            <a:pPr>
              <a:spcAft>
                <a:spcPts val="200"/>
              </a:spcAft>
            </a:pPr>
            <a:r>
              <a:rPr sz="1060" b="1">
                <a:solidFill>
                  <a:srgbClr val="C03030"/>
                </a:solidFill>
                <a:latin typeface="Calibri"/>
              </a:rPr>
              <a:t>▸ </a:t>
            </a:r>
            <a:r>
              <a:rPr sz="1060" b="0">
                <a:solidFill>
                  <a:srgbClr val="172131"/>
                </a:solidFill>
                <a:latin typeface="Calibri"/>
              </a:rPr>
              <a:t>Visual family d* = highest confidence</a:t>
            </a:r>
          </a:p>
          <a:p>
            <a:pPr>
              <a:spcAft>
                <a:spcPts val="200"/>
              </a:spcAft>
            </a:pPr>
            <a:r>
              <a:rPr sz="1060" b="1">
                <a:solidFill>
                  <a:srgbClr val="C03030"/>
                </a:solidFill>
                <a:latin typeface="Calibri"/>
              </a:rPr>
              <a:t>▸ </a:t>
            </a:r>
            <a:r>
              <a:rPr sz="1060" b="0">
                <a:solidFill>
                  <a:srgbClr val="172131"/>
                </a:solidFill>
                <a:latin typeface="Calibri"/>
              </a:rPr>
              <a:t>Exclusion rules stop clashing choices</a:t>
            </a:r>
          </a:p>
          <a:p>
            <a:pPr>
              <a:spcAft>
                <a:spcPts val="200"/>
              </a:spcAft>
            </a:pPr>
            <a:r>
              <a:rPr sz="1060" b="1">
                <a:solidFill>
                  <a:srgbClr val="C03030"/>
                </a:solidFill>
                <a:latin typeface="Calibri"/>
              </a:rPr>
              <a:t>▸ </a:t>
            </a:r>
            <a:r>
              <a:rPr sz="1060" b="0">
                <a:solidFill>
                  <a:srgbClr val="172131"/>
                </a:solidFill>
                <a:latin typeface="Calibri"/>
              </a:rPr>
              <a:t>Reason and confidence stored per slide</a:t>
            </a:r>
          </a:p>
          <a:p>
            <a:pPr>
              <a:spcAft>
                <a:spcPts val="200"/>
              </a:spcAft>
            </a:pPr>
            <a:r>
              <a:rPr sz="1060" b="1">
                <a:solidFill>
                  <a:srgbClr val="C03030"/>
                </a:solidFill>
                <a:latin typeface="Calibri"/>
              </a:rPr>
              <a:t>▸ </a:t>
            </a:r>
            <a:r>
              <a:rPr sz="1060" b="0">
                <a:solidFill>
                  <a:srgbClr val="172131"/>
                </a:solidFill>
                <a:latin typeface="Calibri"/>
              </a:rPr>
              <a:t>Flowchart, algorithm, code, equations, charts…</a:t>
            </a:r>
          </a:p>
        </p:txBody>
      </p:sp>
      <p:sp>
        <p:nvSpPr>
          <p:cNvPr id="17437" name="Chevron 17436"/>
          <p:cNvSpPr/>
          <p:nvPr/>
        </p:nvSpPr>
        <p:spPr>
          <a:xfrm>
            <a:off x="8034528" y="1426464"/>
            <a:ext cx="1985771" cy="384048"/>
          </a:xfrm>
          <a:prstGeom prst="chevron">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8" name="TextBox 17437"/>
          <p:cNvSpPr txBox="1"/>
          <p:nvPr/>
        </p:nvSpPr>
        <p:spPr>
          <a:xfrm>
            <a:off x="8217408" y="1426464"/>
            <a:ext cx="1665732" cy="384048"/>
          </a:xfrm>
          <a:prstGeom prst="rect">
            <a:avLst/>
          </a:prstGeom>
          <a:noFill/>
        </p:spPr>
        <p:txBody>
          <a:bodyPr wrap="square" anchor="ctr" lIns="27432" rIns="27432" tIns="9144" bIns="9144">
            <a:spAutoFit/>
          </a:bodyPr>
          <a:lstStyle/>
          <a:p>
            <a:pPr algn="ctr"/>
            <a:r>
              <a:rPr sz="1200" b="1">
                <a:solidFill>
                  <a:srgbClr val="FFFFFF"/>
                </a:solidFill>
                <a:latin typeface="Calibri"/>
              </a:rPr>
              <a:t>5 · ENRICH</a:t>
            </a:r>
          </a:p>
        </p:txBody>
      </p:sp>
      <p:sp>
        <p:nvSpPr>
          <p:cNvPr id="17439" name="Rounded Rectangle 17438"/>
          <p:cNvSpPr/>
          <p:nvPr/>
        </p:nvSpPr>
        <p:spPr>
          <a:xfrm>
            <a:off x="8071104" y="1883664"/>
            <a:ext cx="1866899" cy="2395728"/>
          </a:xfrm>
          <a:prstGeom prst="roundRect">
            <a:avLst>
              <a:gd name="adj" fmla="val 5000"/>
            </a:avLst>
          </a:prstGeom>
          <a:solidFill>
            <a:srgbClr val="F7F8FB"/>
          </a:solidFill>
          <a:ln w="9525">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0" name="Oval 17439"/>
          <p:cNvSpPr/>
          <p:nvPr/>
        </p:nvSpPr>
        <p:spPr>
          <a:xfrm>
            <a:off x="8803386" y="1938528"/>
            <a:ext cx="402336" cy="40233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41" name="Picture 17440" descr="image.png"/>
          <p:cNvPicPr>
            <a:picLocks noChangeAspect="1"/>
          </p:cNvPicPr>
          <p:nvPr/>
        </p:nvPicPr>
        <p:blipFill>
          <a:blip r:embed="rId6"/>
          <a:stretch>
            <a:fillRect/>
          </a:stretch>
        </p:blipFill>
        <p:spPr>
          <a:xfrm>
            <a:off x="8883853" y="2018995"/>
            <a:ext cx="241401" cy="241401"/>
          </a:xfrm>
          <a:prstGeom prst="rect">
            <a:avLst/>
          </a:prstGeom>
        </p:spPr>
      </p:pic>
      <p:sp>
        <p:nvSpPr>
          <p:cNvPr id="17442" name="TextBox 17441"/>
          <p:cNvSpPr txBox="1"/>
          <p:nvPr/>
        </p:nvSpPr>
        <p:spPr>
          <a:xfrm>
            <a:off x="8107680" y="2377440"/>
            <a:ext cx="1793748" cy="1874519"/>
          </a:xfrm>
          <a:prstGeom prst="rect">
            <a:avLst/>
          </a:prstGeom>
          <a:noFill/>
        </p:spPr>
        <p:txBody>
          <a:bodyPr wrap="square" lIns="36576" rIns="36576" tIns="18288" bIns="18288">
            <a:spAutoFit/>
          </a:bodyPr>
          <a:lstStyle/>
          <a:p>
            <a:pPr>
              <a:spcAft>
                <a:spcPts val="200"/>
              </a:spcAft>
            </a:pPr>
            <a:r>
              <a:rPr sz="1060" b="1">
                <a:solidFill>
                  <a:srgbClr val="6B3FA0"/>
                </a:solidFill>
                <a:latin typeface="Calibri"/>
              </a:rPr>
              <a:t>▸ </a:t>
            </a:r>
            <a:r>
              <a:rPr sz="1060" b="0">
                <a:solidFill>
                  <a:srgbClr val="172131"/>
                </a:solidFill>
                <a:latin typeface="Calibri"/>
              </a:rPr>
              <a:t>AI titles kept only if grounded in the slide</a:t>
            </a:r>
          </a:p>
          <a:p>
            <a:pPr>
              <a:spcAft>
                <a:spcPts val="200"/>
              </a:spcAft>
            </a:pPr>
            <a:r>
              <a:rPr sz="1060" b="1">
                <a:solidFill>
                  <a:srgbClr val="6B3FA0"/>
                </a:solidFill>
                <a:latin typeface="Calibri"/>
              </a:rPr>
              <a:t>▸ </a:t>
            </a:r>
            <a:r>
              <a:rPr sz="1060" b="0">
                <a:solidFill>
                  <a:srgbClr val="172131"/>
                </a:solidFill>
                <a:latin typeface="Calibri"/>
              </a:rPr>
              <a:t>Topic diagrams from the 5-key Gemini pool</a:t>
            </a:r>
          </a:p>
          <a:p>
            <a:pPr>
              <a:spcAft>
                <a:spcPts val="200"/>
              </a:spcAft>
            </a:pPr>
            <a:r>
              <a:rPr sz="1060" b="1">
                <a:solidFill>
                  <a:srgbClr val="6B3FA0"/>
                </a:solidFill>
                <a:latin typeface="Calibri"/>
              </a:rPr>
              <a:t>▸ </a:t>
            </a:r>
            <a:r>
              <a:rPr sz="1060" b="0">
                <a:solidFill>
                  <a:srgbClr val="172131"/>
                </a:solidFill>
                <a:latin typeface="Calibri"/>
              </a:rPr>
              <a:t>Exact step-by-step explainers (SymPy)</a:t>
            </a:r>
          </a:p>
          <a:p>
            <a:pPr>
              <a:spcAft>
                <a:spcPts val="200"/>
              </a:spcAft>
            </a:pPr>
            <a:r>
              <a:rPr sz="1060" b="1">
                <a:solidFill>
                  <a:srgbClr val="6B3FA0"/>
                </a:solidFill>
                <a:latin typeface="Calibri"/>
              </a:rPr>
              <a:t>▸ </a:t>
            </a:r>
            <a:r>
              <a:rPr sz="1060" b="0">
                <a:solidFill>
                  <a:srgbClr val="172131"/>
                </a:solidFill>
                <a:latin typeface="Calibri"/>
              </a:rPr>
              <a:t>Labs: built-in, AI-written + checked, or offline</a:t>
            </a:r>
          </a:p>
          <a:p>
            <a:pPr>
              <a:spcAft>
                <a:spcPts val="200"/>
              </a:spcAft>
            </a:pPr>
            <a:r>
              <a:rPr sz="1060" b="1">
                <a:solidFill>
                  <a:srgbClr val="6B3FA0"/>
                </a:solidFill>
                <a:latin typeface="Calibri"/>
              </a:rPr>
              <a:t>▸ </a:t>
            </a:r>
            <a:r>
              <a:rPr sz="1060" b="0">
                <a:solidFill>
                  <a:srgbClr val="172131"/>
                </a:solidFill>
                <a:latin typeface="Calibri"/>
              </a:rPr>
              <a:t>Quizzes and flashcards from slide facts</a:t>
            </a:r>
          </a:p>
        </p:txBody>
      </p:sp>
      <p:sp>
        <p:nvSpPr>
          <p:cNvPr id="17443" name="Chevron 17442"/>
          <p:cNvSpPr/>
          <p:nvPr/>
        </p:nvSpPr>
        <p:spPr>
          <a:xfrm>
            <a:off x="9974580" y="1426464"/>
            <a:ext cx="1985771" cy="384048"/>
          </a:xfrm>
          <a:prstGeom prst="chevron">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4" name="TextBox 17443"/>
          <p:cNvSpPr txBox="1"/>
          <p:nvPr/>
        </p:nvSpPr>
        <p:spPr>
          <a:xfrm>
            <a:off x="10157460" y="1426464"/>
            <a:ext cx="1665732" cy="384048"/>
          </a:xfrm>
          <a:prstGeom prst="rect">
            <a:avLst/>
          </a:prstGeom>
          <a:noFill/>
        </p:spPr>
        <p:txBody>
          <a:bodyPr wrap="square" anchor="ctr" lIns="27432" rIns="27432" tIns="9144" bIns="9144">
            <a:spAutoFit/>
          </a:bodyPr>
          <a:lstStyle/>
          <a:p>
            <a:pPr algn="ctr"/>
            <a:r>
              <a:rPr sz="1200" b="1">
                <a:solidFill>
                  <a:srgbClr val="FFFFFF"/>
                </a:solidFill>
                <a:latin typeface="Calibri"/>
              </a:rPr>
              <a:t>6 · BUILD + AUDIT</a:t>
            </a:r>
          </a:p>
        </p:txBody>
      </p:sp>
      <p:sp>
        <p:nvSpPr>
          <p:cNvPr id="17445" name="Rounded Rectangle 17444"/>
          <p:cNvSpPr/>
          <p:nvPr/>
        </p:nvSpPr>
        <p:spPr>
          <a:xfrm>
            <a:off x="10011156" y="1883664"/>
            <a:ext cx="1866899" cy="2395728"/>
          </a:xfrm>
          <a:prstGeom prst="roundRect">
            <a:avLst>
              <a:gd name="adj" fmla="val 5000"/>
            </a:avLst>
          </a:prstGeom>
          <a:solidFill>
            <a:srgbClr val="F7F8FB"/>
          </a:solidFill>
          <a:ln w="9525">
            <a:solidFill>
              <a:srgbClr val="1684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6" name="Oval 17445"/>
          <p:cNvSpPr/>
          <p:nvPr/>
        </p:nvSpPr>
        <p:spPr>
          <a:xfrm>
            <a:off x="10743438" y="1938528"/>
            <a:ext cx="402336" cy="402336"/>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47" name="Picture 17446" descr="image.png"/>
          <p:cNvPicPr>
            <a:picLocks noChangeAspect="1"/>
          </p:cNvPicPr>
          <p:nvPr/>
        </p:nvPicPr>
        <p:blipFill>
          <a:blip r:embed="rId7"/>
          <a:stretch>
            <a:fillRect/>
          </a:stretch>
        </p:blipFill>
        <p:spPr>
          <a:xfrm>
            <a:off x="10823905" y="2018995"/>
            <a:ext cx="241401" cy="241401"/>
          </a:xfrm>
          <a:prstGeom prst="rect">
            <a:avLst/>
          </a:prstGeom>
        </p:spPr>
      </p:pic>
      <p:sp>
        <p:nvSpPr>
          <p:cNvPr id="17448" name="TextBox 17447"/>
          <p:cNvSpPr txBox="1"/>
          <p:nvPr/>
        </p:nvSpPr>
        <p:spPr>
          <a:xfrm>
            <a:off x="10047732" y="2377440"/>
            <a:ext cx="1793748" cy="1874519"/>
          </a:xfrm>
          <a:prstGeom prst="rect">
            <a:avLst/>
          </a:prstGeom>
          <a:noFill/>
        </p:spPr>
        <p:txBody>
          <a:bodyPr wrap="square" lIns="36576" rIns="36576" tIns="18288" bIns="18288">
            <a:spAutoFit/>
          </a:bodyPr>
          <a:lstStyle/>
          <a:p>
            <a:pPr>
              <a:spcAft>
                <a:spcPts val="200"/>
              </a:spcAft>
            </a:pPr>
            <a:r>
              <a:rPr sz="1060" b="1">
                <a:solidFill>
                  <a:srgbClr val="16845B"/>
                </a:solidFill>
                <a:latin typeface="Calibri"/>
              </a:rPr>
              <a:t>▸ </a:t>
            </a:r>
            <a:r>
              <a:rPr sz="1060" b="0">
                <a:solidFill>
                  <a:srgbClr val="172131"/>
                </a:solidFill>
                <a:latin typeface="Calibri"/>
              </a:rPr>
              <a:t>Glyph-measured fitting, 11 pt floor</a:t>
            </a:r>
          </a:p>
          <a:p>
            <a:pPr>
              <a:spcAft>
                <a:spcPts val="200"/>
              </a:spcAft>
            </a:pPr>
            <a:r>
              <a:rPr sz="1060" b="1">
                <a:solidFill>
                  <a:srgbClr val="16845B"/>
                </a:solidFill>
                <a:latin typeface="Calibri"/>
              </a:rPr>
              <a:t>▸ </a:t>
            </a:r>
            <a:r>
              <a:rPr sz="1060" b="0">
                <a:solidFill>
                  <a:srgbClr val="172131"/>
                </a:solidFill>
                <a:latin typeface="Calibri"/>
              </a:rPr>
              <a:t>Editable PPTX, web deck and study pack</a:t>
            </a:r>
          </a:p>
          <a:p>
            <a:pPr>
              <a:spcAft>
                <a:spcPts val="200"/>
              </a:spcAft>
            </a:pPr>
            <a:r>
              <a:rPr sz="1060" b="1">
                <a:solidFill>
                  <a:srgbClr val="16845B"/>
                </a:solidFill>
                <a:latin typeface="Calibri"/>
              </a:rPr>
              <a:t>▸ </a:t>
            </a:r>
            <a:r>
              <a:rPr sz="1060" b="0">
                <a:solidFill>
                  <a:srgbClr val="172131"/>
                </a:solidFill>
                <a:latin typeface="Calibri"/>
              </a:rPr>
              <a:t>PSF score, overflow and fact audit</a:t>
            </a:r>
          </a:p>
          <a:p>
            <a:pPr>
              <a:spcAft>
                <a:spcPts val="200"/>
              </a:spcAft>
            </a:pPr>
            <a:r>
              <a:rPr sz="1060" b="1">
                <a:solidFill>
                  <a:srgbClr val="16845B"/>
                </a:solidFill>
                <a:latin typeface="Calibri"/>
              </a:rPr>
              <a:t>▸ </a:t>
            </a:r>
            <a:r>
              <a:rPr sz="1060" b="0">
                <a:solidFill>
                  <a:srgbClr val="172131"/>
                </a:solidFill>
                <a:latin typeface="Calibri"/>
              </a:rPr>
              <a:t>Caches make every re-run instant</a:t>
            </a:r>
          </a:p>
          <a:p>
            <a:pPr>
              <a:spcAft>
                <a:spcPts val="200"/>
              </a:spcAft>
            </a:pPr>
            <a:r>
              <a:rPr sz="1060" b="1">
                <a:solidFill>
                  <a:srgbClr val="16845B"/>
                </a:solidFill>
                <a:latin typeface="Calibri"/>
              </a:rPr>
              <a:t>▸ </a:t>
            </a:r>
            <a:r>
              <a:rPr sz="1060" b="0">
                <a:solidFill>
                  <a:srgbClr val="172131"/>
                </a:solidFill>
                <a:latin typeface="Calibri"/>
              </a:rPr>
              <a:t>Notes and alt text on every slide</a:t>
            </a:r>
          </a:p>
        </p:txBody>
      </p:sp>
      <p:sp>
        <p:nvSpPr>
          <p:cNvPr id="17449" name="Rounded Rectangle 17448"/>
          <p:cNvSpPr/>
          <p:nvPr/>
        </p:nvSpPr>
        <p:spPr>
          <a:xfrm>
            <a:off x="274320" y="4370832"/>
            <a:ext cx="6949440" cy="1901952"/>
          </a:xfrm>
          <a:prstGeom prst="roundRect">
            <a:avLst>
              <a:gd name="adj" fmla="val 4000"/>
            </a:avLst>
          </a:prstGeom>
          <a:solidFill>
            <a:srgbClr val="FFFFFF"/>
          </a:solidFill>
          <a:ln w="9525">
            <a:solidFill>
              <a:srgbClr val="1F5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0" name="Rounded Rectangle 17449"/>
          <p:cNvSpPr/>
          <p:nvPr/>
        </p:nvSpPr>
        <p:spPr>
          <a:xfrm>
            <a:off x="274320" y="4370832"/>
            <a:ext cx="6949440" cy="292608"/>
          </a:xfrm>
          <a:prstGeom prst="roundRect">
            <a:avLst>
              <a:gd name="adj" fmla="val 25000"/>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1" name="TextBox 17450"/>
          <p:cNvSpPr txBox="1"/>
          <p:nvPr/>
        </p:nvSpPr>
        <p:spPr>
          <a:xfrm>
            <a:off x="274320" y="4370832"/>
            <a:ext cx="6949440" cy="292608"/>
          </a:xfrm>
          <a:prstGeom prst="rect">
            <a:avLst/>
          </a:prstGeom>
          <a:noFill/>
        </p:spPr>
        <p:txBody>
          <a:bodyPr wrap="square" anchor="ctr" lIns="27432" rIns="27432" tIns="9144" bIns="9144">
            <a:spAutoFit/>
          </a:bodyPr>
          <a:lstStyle/>
          <a:p>
            <a:pPr algn="ctr"/>
            <a:r>
              <a:rPr sz="1200" b="1">
                <a:solidFill>
                  <a:srgbClr val="FFFFFF"/>
                </a:solidFill>
                <a:latin typeface="Calibri"/>
              </a:rPr>
              <a:t>Our own formulas behind each decision</a:t>
            </a:r>
          </a:p>
        </p:txBody>
      </p:sp>
      <p:sp>
        <p:nvSpPr>
          <p:cNvPr id="17452" name="Rounded Rectangle 17451"/>
          <p:cNvSpPr/>
          <p:nvPr/>
        </p:nvSpPr>
        <p:spPr>
          <a:xfrm>
            <a:off x="365760" y="4736592"/>
            <a:ext cx="3291840" cy="713232"/>
          </a:xfrm>
          <a:prstGeom prst="roundRect">
            <a:avLst>
              <a:gd name="adj" fmla="val 8000"/>
            </a:avLst>
          </a:prstGeom>
          <a:solidFill>
            <a:srgbClr val="F7F8FB"/>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3" name="TextBox 17452"/>
          <p:cNvSpPr txBox="1"/>
          <p:nvPr/>
        </p:nvSpPr>
        <p:spPr>
          <a:xfrm>
            <a:off x="438912" y="4764024"/>
            <a:ext cx="3154680" cy="676656"/>
          </a:xfrm>
          <a:prstGeom prst="rect">
            <a:avLst/>
          </a:prstGeom>
          <a:noFill/>
        </p:spPr>
        <p:txBody>
          <a:bodyPr wrap="square" anchor="t" lIns="27432" rIns="27432" tIns="9144" bIns="9144">
            <a:spAutoFit/>
          </a:bodyPr>
          <a:lstStyle/>
          <a:p>
            <a:r>
              <a:rPr sz="1000" b="1">
                <a:solidFill>
                  <a:srgbClr val="1F5FBF"/>
                </a:solidFill>
                <a:latin typeface="Calibri"/>
              </a:rPr>
              <a:t>OCR decision</a:t>
            </a:r>
          </a:p>
          <a:p>
            <a:r>
              <a:rPr sz="1100" b="1">
                <a:solidFill>
                  <a:srgbClr val="172131"/>
                </a:solidFill>
                <a:latin typeface="Calibri"/>
              </a:rPr>
              <a:t>γ = |I ∖ M| / |I|   use OCR only if γ ≤ 0.42</a:t>
            </a:r>
          </a:p>
          <a:p>
            <a:r>
              <a:rPr sz="880" b="0">
                <a:solidFill>
                  <a:srgbClr val="555F6D"/>
                </a:solidFill>
                <a:latin typeface="Calibri"/>
              </a:rPr>
              <a:t>share of the page that is picture, not text</a:t>
            </a:r>
          </a:p>
        </p:txBody>
      </p:sp>
      <p:sp>
        <p:nvSpPr>
          <p:cNvPr id="17454" name="Rounded Rectangle 17453"/>
          <p:cNvSpPr/>
          <p:nvPr/>
        </p:nvSpPr>
        <p:spPr>
          <a:xfrm>
            <a:off x="3794760" y="4736592"/>
            <a:ext cx="3291840" cy="713232"/>
          </a:xfrm>
          <a:prstGeom prst="roundRect">
            <a:avLst>
              <a:gd name="adj" fmla="val 8000"/>
            </a:avLst>
          </a:prstGeom>
          <a:solidFill>
            <a:srgbClr val="F7F8FB"/>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5" name="TextBox 17454"/>
          <p:cNvSpPr txBox="1"/>
          <p:nvPr/>
        </p:nvSpPr>
        <p:spPr>
          <a:xfrm>
            <a:off x="3867912" y="4764024"/>
            <a:ext cx="3154680" cy="676656"/>
          </a:xfrm>
          <a:prstGeom prst="rect">
            <a:avLst/>
          </a:prstGeom>
          <a:noFill/>
        </p:spPr>
        <p:txBody>
          <a:bodyPr wrap="square" anchor="t" lIns="27432" rIns="27432" tIns="9144" bIns="9144">
            <a:spAutoFit/>
          </a:bodyPr>
          <a:lstStyle/>
          <a:p>
            <a:r>
              <a:rPr sz="1000" b="1">
                <a:solidFill>
                  <a:srgbClr val="1F5FBF"/>
                </a:solidFill>
                <a:latin typeface="Calibri"/>
              </a:rPr>
              <a:t>Slide fitness (PSF)</a:t>
            </a:r>
          </a:p>
          <a:p>
            <a:r>
              <a:rPr sz="1100" b="1">
                <a:solidFill>
                  <a:srgbClr val="172131"/>
                </a:solidFill>
                <a:latin typeface="Calibri"/>
              </a:rPr>
              <a:t>PSF = E^0.40 · (1 − L)^0.42 · C^0.18</a:t>
            </a:r>
          </a:p>
          <a:p>
            <a:r>
              <a:rPr sz="880" b="0">
                <a:solidFill>
                  <a:srgbClr val="555F6D"/>
                </a:solidFill>
                <a:latin typeface="Calibri"/>
              </a:rPr>
              <a:t>efficiency, cognitive load L, coherence</a:t>
            </a:r>
          </a:p>
        </p:txBody>
      </p:sp>
      <p:sp>
        <p:nvSpPr>
          <p:cNvPr id="17456" name="Rounded Rectangle 17455"/>
          <p:cNvSpPr/>
          <p:nvPr/>
        </p:nvSpPr>
        <p:spPr>
          <a:xfrm>
            <a:off x="365760" y="5504688"/>
            <a:ext cx="3291840" cy="713232"/>
          </a:xfrm>
          <a:prstGeom prst="roundRect">
            <a:avLst>
              <a:gd name="adj" fmla="val 8000"/>
            </a:avLst>
          </a:prstGeom>
          <a:solidFill>
            <a:srgbClr val="F7F8FB"/>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7" name="TextBox 17456"/>
          <p:cNvSpPr txBox="1"/>
          <p:nvPr/>
        </p:nvSpPr>
        <p:spPr>
          <a:xfrm>
            <a:off x="438912" y="5532120"/>
            <a:ext cx="3154680" cy="676656"/>
          </a:xfrm>
          <a:prstGeom prst="rect">
            <a:avLst/>
          </a:prstGeom>
          <a:noFill/>
        </p:spPr>
        <p:txBody>
          <a:bodyPr wrap="square" anchor="t" lIns="27432" rIns="27432" tIns="9144" bIns="9144">
            <a:spAutoFit/>
          </a:bodyPr>
          <a:lstStyle/>
          <a:p>
            <a:r>
              <a:rPr sz="1000" b="1">
                <a:solidFill>
                  <a:srgbClr val="1F5FBF"/>
                </a:solidFill>
                <a:latin typeface="Calibri"/>
              </a:rPr>
              <a:t>CLASS splitting</a:t>
            </a:r>
          </a:p>
          <a:p>
            <a:r>
              <a:rPr sz="1100" b="1">
                <a:solidFill>
                  <a:srgbClr val="172131"/>
                </a:solidFill>
                <a:latin typeface="Calibri"/>
              </a:rPr>
              <a:t>F(i) = min_p [ F(p) + cost(p, i) ]</a:t>
            </a:r>
          </a:p>
          <a:p>
            <a:r>
              <a:rPr sz="880" b="0">
                <a:solidFill>
                  <a:srgbClr val="555F6D"/>
                </a:solidFill>
                <a:latin typeface="Calibri"/>
              </a:rPr>
              <a:t>cost = L + 0.9(1 − E) + 0.25·overflow² + 0.35</a:t>
            </a:r>
          </a:p>
        </p:txBody>
      </p:sp>
      <p:sp>
        <p:nvSpPr>
          <p:cNvPr id="17458" name="Rounded Rectangle 17457"/>
          <p:cNvSpPr/>
          <p:nvPr/>
        </p:nvSpPr>
        <p:spPr>
          <a:xfrm>
            <a:off x="3794760" y="5504688"/>
            <a:ext cx="3291840" cy="713232"/>
          </a:xfrm>
          <a:prstGeom prst="roundRect">
            <a:avLst>
              <a:gd name="adj" fmla="val 8000"/>
            </a:avLst>
          </a:prstGeom>
          <a:solidFill>
            <a:srgbClr val="F7F8FB"/>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9" name="TextBox 17458"/>
          <p:cNvSpPr txBox="1"/>
          <p:nvPr/>
        </p:nvSpPr>
        <p:spPr>
          <a:xfrm>
            <a:off x="3867912" y="5532120"/>
            <a:ext cx="3154680" cy="676656"/>
          </a:xfrm>
          <a:prstGeom prst="rect">
            <a:avLst/>
          </a:prstGeom>
          <a:noFill/>
        </p:spPr>
        <p:txBody>
          <a:bodyPr wrap="square" anchor="t" lIns="27432" rIns="27432" tIns="9144" bIns="9144">
            <a:spAutoFit/>
          </a:bodyPr>
          <a:lstStyle/>
          <a:p>
            <a:r>
              <a:rPr sz="1000" b="1">
                <a:solidFill>
                  <a:srgbClr val="1F5FBF"/>
                </a:solidFill>
                <a:latin typeface="Calibri"/>
              </a:rPr>
              <a:t>Word-safe layout</a:t>
            </a:r>
          </a:p>
          <a:p>
            <a:r>
              <a:rPr sz="1100" b="1">
                <a:solidFill>
                  <a:srgbClr val="172131"/>
                </a:solidFill>
                <a:latin typeface="Calibri"/>
              </a:rPr>
              <a:t>σ = max(0.62, min(1, W / w)),  s* ≥ 11 pt</a:t>
            </a:r>
          </a:p>
          <a:p>
            <a:r>
              <a:rPr sz="880" b="0">
                <a:solidFill>
                  <a:srgbClr val="555F6D"/>
                </a:solidFill>
                <a:latin typeface="Calibri"/>
              </a:rPr>
              <a:t>largest font on a 0.5 pt grid that fits</a:t>
            </a:r>
          </a:p>
        </p:txBody>
      </p:sp>
      <p:sp>
        <p:nvSpPr>
          <p:cNvPr id="17460" name="Rounded Rectangle 17459"/>
          <p:cNvSpPr/>
          <p:nvPr/>
        </p:nvSpPr>
        <p:spPr>
          <a:xfrm>
            <a:off x="7315200" y="4370832"/>
            <a:ext cx="4599432" cy="1901952"/>
          </a:xfrm>
          <a:prstGeom prst="roundRect">
            <a:avLst>
              <a:gd name="adj" fmla="val 4000"/>
            </a:avLst>
          </a:prstGeom>
          <a:solidFill>
            <a:srgbClr val="FFFFFF"/>
          </a:solidFill>
          <a:ln w="9525">
            <a:solidFill>
              <a:srgbClr val="F2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1" name="Rounded Rectangle 17460"/>
          <p:cNvSpPr/>
          <p:nvPr/>
        </p:nvSpPr>
        <p:spPr>
          <a:xfrm>
            <a:off x="7315200" y="4370832"/>
            <a:ext cx="4599432" cy="292608"/>
          </a:xfrm>
          <a:prstGeom prst="roundRect">
            <a:avLst>
              <a:gd name="adj" fmla="val 25000"/>
            </a:avLst>
          </a:prstGeom>
          <a:solidFill>
            <a:srgbClr val="F2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2" name="TextBox 17461"/>
          <p:cNvSpPr txBox="1"/>
          <p:nvPr/>
        </p:nvSpPr>
        <p:spPr>
          <a:xfrm>
            <a:off x="7315200" y="4370832"/>
            <a:ext cx="4599432" cy="292608"/>
          </a:xfrm>
          <a:prstGeom prst="rect">
            <a:avLst/>
          </a:prstGeom>
          <a:noFill/>
        </p:spPr>
        <p:txBody>
          <a:bodyPr wrap="square" anchor="ctr" lIns="27432" rIns="27432" tIns="9144" bIns="9144">
            <a:spAutoFit/>
          </a:bodyPr>
          <a:lstStyle/>
          <a:p>
            <a:pPr algn="ctr"/>
            <a:r>
              <a:rPr sz="1200" b="1">
                <a:solidFill>
                  <a:srgbClr val="FFFFFF"/>
                </a:solidFill>
                <a:latin typeface="Calibri"/>
              </a:rPr>
              <a:t>How we built it</a:t>
            </a:r>
          </a:p>
        </p:txBody>
      </p:sp>
      <p:sp>
        <p:nvSpPr>
          <p:cNvPr id="17463" name="Pentagon 17462"/>
          <p:cNvSpPr/>
          <p:nvPr/>
        </p:nvSpPr>
        <p:spPr>
          <a:xfrm>
            <a:off x="7406640" y="4736592"/>
            <a:ext cx="1508760" cy="457200"/>
          </a:xfrm>
          <a:prstGeom prst="homePlate">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4" name="TextBox 17463"/>
          <p:cNvSpPr txBox="1"/>
          <p:nvPr/>
        </p:nvSpPr>
        <p:spPr>
          <a:xfrm>
            <a:off x="7543800" y="4736592"/>
            <a:ext cx="1280160" cy="457200"/>
          </a:xfrm>
          <a:prstGeom prst="rect">
            <a:avLst/>
          </a:prstGeom>
          <a:noFill/>
        </p:spPr>
        <p:txBody>
          <a:bodyPr wrap="square" anchor="ctr" lIns="27432" rIns="27432" tIns="9144" bIns="9144">
            <a:spAutoFit/>
          </a:bodyPr>
          <a:lstStyle/>
          <a:p>
            <a:pPr algn="ctr"/>
            <a:r>
              <a:rPr sz="880" b="1">
                <a:solidFill>
                  <a:srgbClr val="FFFFFF"/>
                </a:solidFill>
                <a:latin typeface="Calibri"/>
              </a:rPr>
              <a:t>Research + design</a:t>
            </a:r>
          </a:p>
          <a:p>
            <a:pPr algn="ctr"/>
            <a:r>
              <a:rPr sz="780" b="0">
                <a:solidFill>
                  <a:srgbClr val="FFFFFF"/>
                </a:solidFill>
                <a:latin typeface="Calibri"/>
              </a:rPr>
              <a:t>Sep–Dec 2025</a:t>
            </a:r>
          </a:p>
        </p:txBody>
      </p:sp>
      <p:sp>
        <p:nvSpPr>
          <p:cNvPr id="17465" name="Chevron 17464"/>
          <p:cNvSpPr/>
          <p:nvPr/>
        </p:nvSpPr>
        <p:spPr>
          <a:xfrm>
            <a:off x="8887967" y="4736592"/>
            <a:ext cx="1508760" cy="457200"/>
          </a:xfrm>
          <a:prstGeom prst="chevron">
            <a:avLst/>
          </a:prstGeom>
          <a:solidFill>
            <a:srgbClr val="F2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6" name="TextBox 17465"/>
          <p:cNvSpPr txBox="1"/>
          <p:nvPr/>
        </p:nvSpPr>
        <p:spPr>
          <a:xfrm>
            <a:off x="9025128" y="4736592"/>
            <a:ext cx="1280160" cy="457200"/>
          </a:xfrm>
          <a:prstGeom prst="rect">
            <a:avLst/>
          </a:prstGeom>
          <a:noFill/>
        </p:spPr>
        <p:txBody>
          <a:bodyPr wrap="square" anchor="ctr" lIns="27432" rIns="27432" tIns="9144" bIns="9144">
            <a:spAutoFit/>
          </a:bodyPr>
          <a:lstStyle/>
          <a:p>
            <a:pPr algn="ctr"/>
            <a:r>
              <a:rPr sz="880" b="1">
                <a:solidFill>
                  <a:srgbClr val="FFFFFF"/>
                </a:solidFill>
                <a:latin typeface="Calibri"/>
              </a:rPr>
              <a:t>Build platform</a:t>
            </a:r>
          </a:p>
          <a:p>
            <a:pPr algn="ctr"/>
            <a:r>
              <a:rPr sz="780" b="0">
                <a:solidFill>
                  <a:srgbClr val="FFFFFF"/>
                </a:solidFill>
                <a:latin typeface="Calibri"/>
              </a:rPr>
              <a:t>Jan–Jul 2026</a:t>
            </a:r>
          </a:p>
        </p:txBody>
      </p:sp>
      <p:sp>
        <p:nvSpPr>
          <p:cNvPr id="17467" name="Chevron 17466"/>
          <p:cNvSpPr/>
          <p:nvPr/>
        </p:nvSpPr>
        <p:spPr>
          <a:xfrm>
            <a:off x="10369296" y="4736592"/>
            <a:ext cx="1508760" cy="457200"/>
          </a:xfrm>
          <a:prstGeom prst="chevron">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8" name="TextBox 17467"/>
          <p:cNvSpPr txBox="1"/>
          <p:nvPr/>
        </p:nvSpPr>
        <p:spPr>
          <a:xfrm>
            <a:off x="10506456" y="4736592"/>
            <a:ext cx="1280160" cy="457200"/>
          </a:xfrm>
          <a:prstGeom prst="rect">
            <a:avLst/>
          </a:prstGeom>
          <a:noFill/>
        </p:spPr>
        <p:txBody>
          <a:bodyPr wrap="square" anchor="ctr" lIns="27432" rIns="27432" tIns="9144" bIns="9144">
            <a:spAutoFit/>
          </a:bodyPr>
          <a:lstStyle/>
          <a:p>
            <a:pPr algn="ctr"/>
            <a:r>
              <a:rPr sz="880" b="1">
                <a:solidFill>
                  <a:srgbClr val="FFFFFF"/>
                </a:solidFill>
                <a:latin typeface="Calibri"/>
              </a:rPr>
              <a:t>Test + publish</a:t>
            </a:r>
          </a:p>
          <a:p>
            <a:pPr algn="ctr"/>
            <a:r>
              <a:rPr sz="780" b="0">
                <a:solidFill>
                  <a:srgbClr val="FFFFFF"/>
                </a:solidFill>
                <a:latin typeface="Calibri"/>
              </a:rPr>
              <a:t>Aug–Oct 2026</a:t>
            </a:r>
          </a:p>
        </p:txBody>
      </p:sp>
      <p:sp>
        <p:nvSpPr>
          <p:cNvPr id="17469" name="TextBox 17468"/>
          <p:cNvSpPr txBox="1"/>
          <p:nvPr/>
        </p:nvSpPr>
        <p:spPr>
          <a:xfrm>
            <a:off x="7388352" y="5266944"/>
            <a:ext cx="4480560" cy="987552"/>
          </a:xfrm>
          <a:prstGeom prst="rect">
            <a:avLst/>
          </a:prstGeom>
          <a:noFill/>
        </p:spPr>
        <p:txBody>
          <a:bodyPr wrap="square" lIns="36576" rIns="36576" tIns="18288" bIns="18288">
            <a:spAutoFit/>
          </a:bodyPr>
          <a:lstStyle/>
          <a:p>
            <a:pPr>
              <a:spcAft>
                <a:spcPts val="200"/>
              </a:spcAft>
            </a:pPr>
            <a:r>
              <a:rPr sz="1050" b="1">
                <a:solidFill>
                  <a:srgbClr val="16845B"/>
                </a:solidFill>
                <a:latin typeface="Calibri"/>
              </a:rPr>
              <a:t>✓ </a:t>
            </a:r>
            <a:r>
              <a:rPr sz="1050" b="1">
                <a:solidFill>
                  <a:srgbClr val="172131"/>
                </a:solidFill>
                <a:latin typeface="Calibri"/>
              </a:rPr>
              <a:t>Agile: </a:t>
            </a:r>
            <a:r>
              <a:rPr sz="1050" b="0">
                <a:solidFill>
                  <a:srgbClr val="172131"/>
                </a:solidFill>
                <a:latin typeface="Calibri"/>
              </a:rPr>
              <a:t>weekly sprints, reviewed with our guide every week</a:t>
            </a:r>
          </a:p>
          <a:p>
            <a:pPr>
              <a:spcAft>
                <a:spcPts val="200"/>
              </a:spcAft>
            </a:pPr>
            <a:r>
              <a:rPr sz="1050" b="1">
                <a:solidFill>
                  <a:srgbClr val="16845B"/>
                </a:solidFill>
                <a:latin typeface="Calibri"/>
              </a:rPr>
              <a:t>✓ </a:t>
            </a:r>
            <a:r>
              <a:rPr sz="1050" b="1">
                <a:solidFill>
                  <a:srgbClr val="172131"/>
                </a:solidFill>
                <a:latin typeface="Calibri"/>
              </a:rPr>
              <a:t>Test-first: </a:t>
            </a:r>
            <a:r>
              <a:rPr sz="1050" b="0">
                <a:solidFill>
                  <a:srgbClr val="172131"/>
                </a:solidFill>
                <a:latin typeface="Calibri"/>
              </a:rPr>
              <a:t>774 automated tests, gold sets of 101 slides</a:t>
            </a:r>
          </a:p>
          <a:p>
            <a:pPr>
              <a:spcAft>
                <a:spcPts val="200"/>
              </a:spcAft>
            </a:pPr>
            <a:r>
              <a:rPr sz="1050" b="1">
                <a:solidFill>
                  <a:srgbClr val="16845B"/>
                </a:solidFill>
                <a:latin typeface="Calibri"/>
              </a:rPr>
              <a:t>✓ </a:t>
            </a:r>
            <a:r>
              <a:rPr sz="1050" b="1">
                <a:solidFill>
                  <a:srgbClr val="172131"/>
                </a:solidFill>
                <a:latin typeface="Calibri"/>
              </a:rPr>
              <a:t>Measured: </a:t>
            </a:r>
            <a:r>
              <a:rPr sz="1050" b="0">
                <a:solidFill>
                  <a:srgbClr val="172131"/>
                </a:solidFill>
                <a:latin typeface="Calibri"/>
              </a:rPr>
              <a:t>every claim on these slides comes from a script</a:t>
            </a:r>
          </a:p>
          <a:p>
            <a:pPr>
              <a:spcAft>
                <a:spcPts val="200"/>
              </a:spcAft>
            </a:pPr>
            <a:r>
              <a:rPr sz="1050" b="1">
                <a:solidFill>
                  <a:srgbClr val="16845B"/>
                </a:solidFill>
                <a:latin typeface="Calibri"/>
              </a:rPr>
              <a:t>✓ </a:t>
            </a:r>
            <a:r>
              <a:rPr sz="1050" b="1">
                <a:solidFill>
                  <a:srgbClr val="172131"/>
                </a:solidFill>
                <a:latin typeface="Calibri"/>
              </a:rPr>
              <a:t>Documented: </a:t>
            </a:r>
            <a:r>
              <a:rPr sz="1050" b="0">
                <a:solidFill>
                  <a:srgbClr val="172131"/>
                </a:solidFill>
                <a:latin typeface="Calibri"/>
              </a:rPr>
              <a:t>IPD diary, report and two research papers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a:xfrm>
            <a:off x="667589" y="-167046"/>
            <a:ext cx="10972800" cy="1143000"/>
          </a:xfrm>
        </p:spPr>
        <p:txBody>
          <a:bodyPr/>
          <a:lstStyle/>
          <a:p>
            <a:pPr eaLnBrk="1" hangingPunct="1"/>
            <a:r>
              <a:rPr lang="en-US" sz="3600" b="1">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IPD Review · Learnova · AI&amp;DS DJSCE</a:t>
            </a:r>
          </a:p>
        </p:txBody>
      </p:sp>
      <p:sp>
        <p:nvSpPr>
          <p:cNvPr id="17488" name="TextBox 17487">
            <a:extLst>
              <a:ext uri="{FF2B5EF4-FFF2-40B4-BE49-F238E27FC236}">
                <a16:creationId xmlns:a16="http://schemas.microsoft.com/office/drawing/2014/main" id="{846A38AE-601E-3549-1CA4-3E44392DD2CA}"/>
              </a:ext>
            </a:extLst>
          </p:cNvPr>
          <p:cNvSpPr txBox="1"/>
          <p:nvPr/>
        </p:nvSpPr>
        <p:spPr>
          <a:xfrm>
            <a:off x="3104131" y="625790"/>
            <a:ext cx="6099716" cy="323165"/>
          </a:xfrm>
          <a:prstGeom prst="rect">
            <a:avLst/>
          </a:prstGeom>
          <a:noFill/>
        </p:spPr>
        <p:txBody>
          <a:bodyPr wrap="square">
            <a:spAutoFit/>
          </a:bodyPr>
          <a:lstStyle/>
          <a:p>
            <a:r>
              <a:rPr lang="en-IN" sz="1500" i="1">
                <a:solidFill>
                  <a:srgbClr val="0B6DC0"/>
                </a:solidFill>
                <a:latin typeface="Arial"/>
              </a:rPr>
              <a:t>Running today  ·  pilot-ready  ·  every risk has a safeguard</a:t>
            </a:r>
            <a:endParaRPr lang="en-US"/>
          </a:p>
        </p:txBody>
      </p:sp>
      <p:sp>
        <p:nvSpPr>
          <p:cNvPr id="17489" name="Rounded Rectangle 17488">
            <a:extLst>
              <a:ext uri="{FF2B5EF4-FFF2-40B4-BE49-F238E27FC236}">
                <a16:creationId xmlns:a16="http://schemas.microsoft.com/office/drawing/2014/main" id="{0CECA936-FEEA-621C-445B-C6CC19AF94B8}"/>
              </a:ext>
            </a:extLst>
          </p:cNvPr>
          <p:cNvSpPr/>
          <p:nvPr/>
        </p:nvSpPr>
        <p:spPr>
          <a:xfrm>
            <a:off x="274320" y="1097280"/>
            <a:ext cx="3749039" cy="310896"/>
          </a:xfrm>
          <a:prstGeom prst="roundRect">
            <a:avLst>
              <a:gd name="adj" fmla="val 20000"/>
            </a:avLst>
          </a:prstGeom>
          <a:gradFill rotWithShape="1">
            <a:gsLst>
              <a:gs pos="0">
                <a:srgbClr val="0B6DC0"/>
              </a:gs>
              <a:gs pos="100000">
                <a:srgbClr val="2C8BE0"/>
              </a:gs>
            </a:gsLst>
            <a:lin ang="0" scaled="0"/>
          </a:gradFill>
          <a:ln>
            <a:no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00000"/>
              </a:lnSpc>
              <a:spcAft>
                <a:spcPts val="0"/>
              </a:spcAft>
            </a:pPr>
            <a:r>
              <a:rPr sz="1200" b="1">
                <a:solidFill>
                  <a:srgbClr val="FFFFFF"/>
                </a:solidFill>
                <a:latin typeface="Arial"/>
              </a:rPr>
              <a:t>Analysis of the feasibility of the idea</a:t>
            </a:r>
          </a:p>
        </p:txBody>
      </p:sp>
      <p:sp>
        <p:nvSpPr>
          <p:cNvPr id="17490" name="Rounded Rectangle 17489">
            <a:extLst>
              <a:ext uri="{FF2B5EF4-FFF2-40B4-BE49-F238E27FC236}">
                <a16:creationId xmlns:a16="http://schemas.microsoft.com/office/drawing/2014/main" id="{C7C642EA-5C45-6E3C-C0A1-79CD4587ADF0}"/>
              </a:ext>
            </a:extLst>
          </p:cNvPr>
          <p:cNvSpPr/>
          <p:nvPr/>
        </p:nvSpPr>
        <p:spPr>
          <a:xfrm>
            <a:off x="274320" y="1444752"/>
            <a:ext cx="3749039" cy="3840480"/>
          </a:xfrm>
          <a:prstGeom prst="roundRect">
            <a:avLst>
              <a:gd name="adj" fmla="val 2000"/>
            </a:avLst>
          </a:prstGeom>
          <a:solidFill>
            <a:srgbClr val="D9E9F9"/>
          </a:solidFill>
          <a:ln w="25400">
            <a:solidFill>
              <a:srgbClr val="0B6D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91" name="Rounded Rectangle 17490">
            <a:extLst>
              <a:ext uri="{FF2B5EF4-FFF2-40B4-BE49-F238E27FC236}">
                <a16:creationId xmlns:a16="http://schemas.microsoft.com/office/drawing/2014/main" id="{3FA82823-3CC1-ABD1-0AC0-8A169AF6CF97}"/>
              </a:ext>
            </a:extLst>
          </p:cNvPr>
          <p:cNvSpPr/>
          <p:nvPr/>
        </p:nvSpPr>
        <p:spPr>
          <a:xfrm>
            <a:off x="338328" y="1490472"/>
            <a:ext cx="3621023" cy="598170"/>
          </a:xfrm>
          <a:prstGeom prst="roundRect">
            <a:avLst>
              <a:gd name="adj" fmla="val 10000"/>
            </a:avLst>
          </a:prstGeom>
          <a:solidFill>
            <a:srgbClr val="FFFFFF"/>
          </a:solidFill>
          <a:ln>
            <a:no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92" name="Rounded Rectangle 17491">
            <a:extLst>
              <a:ext uri="{FF2B5EF4-FFF2-40B4-BE49-F238E27FC236}">
                <a16:creationId xmlns:a16="http://schemas.microsoft.com/office/drawing/2014/main" id="{6905A36A-CA4F-8056-DA9F-D33CA4D41EA8}"/>
              </a:ext>
            </a:extLst>
          </p:cNvPr>
          <p:cNvSpPr/>
          <p:nvPr/>
        </p:nvSpPr>
        <p:spPr>
          <a:xfrm>
            <a:off x="338328" y="2120646"/>
            <a:ext cx="3621023" cy="598170"/>
          </a:xfrm>
          <a:prstGeom prst="roundRect">
            <a:avLst>
              <a:gd name="adj" fmla="val 10000"/>
            </a:avLst>
          </a:prstGeom>
          <a:solidFill>
            <a:srgbClr val="FFFFFF"/>
          </a:solidFill>
          <a:ln>
            <a:no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93" name="Rounded Rectangle 17492">
            <a:extLst>
              <a:ext uri="{FF2B5EF4-FFF2-40B4-BE49-F238E27FC236}">
                <a16:creationId xmlns:a16="http://schemas.microsoft.com/office/drawing/2014/main" id="{33358528-3D47-4714-4A3D-60A986709D73}"/>
              </a:ext>
            </a:extLst>
          </p:cNvPr>
          <p:cNvSpPr/>
          <p:nvPr/>
        </p:nvSpPr>
        <p:spPr>
          <a:xfrm>
            <a:off x="338328" y="2750820"/>
            <a:ext cx="3621023" cy="598170"/>
          </a:xfrm>
          <a:prstGeom prst="roundRect">
            <a:avLst>
              <a:gd name="adj" fmla="val 10000"/>
            </a:avLst>
          </a:prstGeom>
          <a:solidFill>
            <a:srgbClr val="FFFFFF"/>
          </a:solidFill>
          <a:ln>
            <a:no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94" name="Rounded Rectangle 17493">
            <a:extLst>
              <a:ext uri="{FF2B5EF4-FFF2-40B4-BE49-F238E27FC236}">
                <a16:creationId xmlns:a16="http://schemas.microsoft.com/office/drawing/2014/main" id="{88308A12-7E89-D69E-1A1D-347569AF8C80}"/>
              </a:ext>
            </a:extLst>
          </p:cNvPr>
          <p:cNvSpPr/>
          <p:nvPr/>
        </p:nvSpPr>
        <p:spPr>
          <a:xfrm>
            <a:off x="338328" y="3380994"/>
            <a:ext cx="3621023" cy="598170"/>
          </a:xfrm>
          <a:prstGeom prst="roundRect">
            <a:avLst>
              <a:gd name="adj" fmla="val 10000"/>
            </a:avLst>
          </a:prstGeom>
          <a:solidFill>
            <a:srgbClr val="FFFFFF"/>
          </a:solidFill>
          <a:ln>
            <a:no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95" name="Rounded Rectangle 17494">
            <a:extLst>
              <a:ext uri="{FF2B5EF4-FFF2-40B4-BE49-F238E27FC236}">
                <a16:creationId xmlns:a16="http://schemas.microsoft.com/office/drawing/2014/main" id="{DC8C58BC-4076-FEFA-447A-AF277A045648}"/>
              </a:ext>
            </a:extLst>
          </p:cNvPr>
          <p:cNvSpPr/>
          <p:nvPr/>
        </p:nvSpPr>
        <p:spPr>
          <a:xfrm>
            <a:off x="338328" y="4011168"/>
            <a:ext cx="3621023" cy="598170"/>
          </a:xfrm>
          <a:prstGeom prst="roundRect">
            <a:avLst>
              <a:gd name="adj" fmla="val 10000"/>
            </a:avLst>
          </a:prstGeom>
          <a:solidFill>
            <a:srgbClr val="FFFFFF"/>
          </a:solidFill>
          <a:ln>
            <a:no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96" name="Rounded Rectangle 17495">
            <a:extLst>
              <a:ext uri="{FF2B5EF4-FFF2-40B4-BE49-F238E27FC236}">
                <a16:creationId xmlns:a16="http://schemas.microsoft.com/office/drawing/2014/main" id="{E3C1830C-222C-666E-D840-196B65AC7199}"/>
              </a:ext>
            </a:extLst>
          </p:cNvPr>
          <p:cNvSpPr/>
          <p:nvPr/>
        </p:nvSpPr>
        <p:spPr>
          <a:xfrm>
            <a:off x="338328" y="4641342"/>
            <a:ext cx="3621023" cy="598170"/>
          </a:xfrm>
          <a:prstGeom prst="roundRect">
            <a:avLst>
              <a:gd name="adj" fmla="val 10000"/>
            </a:avLst>
          </a:prstGeom>
          <a:solidFill>
            <a:srgbClr val="FFFFFF"/>
          </a:solidFill>
          <a:ln>
            <a:no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97" name="Rounded Rectangle 17496">
            <a:extLst>
              <a:ext uri="{FF2B5EF4-FFF2-40B4-BE49-F238E27FC236}">
                <a16:creationId xmlns:a16="http://schemas.microsoft.com/office/drawing/2014/main" id="{0E219B4D-BD50-364D-CCCC-1171DCDEAB8F}"/>
              </a:ext>
            </a:extLst>
          </p:cNvPr>
          <p:cNvSpPr/>
          <p:nvPr/>
        </p:nvSpPr>
        <p:spPr>
          <a:xfrm>
            <a:off x="402336" y="1588389"/>
            <a:ext cx="402336" cy="402336"/>
          </a:xfrm>
          <a:prstGeom prst="roundRect">
            <a:avLst>
              <a:gd name="adj" fmla="val 22000"/>
            </a:avLst>
          </a:prstGeom>
          <a:solidFill>
            <a:srgbClr val="E1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98" name="Rounded Rectangle 17497">
            <a:extLst>
              <a:ext uri="{FF2B5EF4-FFF2-40B4-BE49-F238E27FC236}">
                <a16:creationId xmlns:a16="http://schemas.microsoft.com/office/drawing/2014/main" id="{55DFBCBD-EA64-951C-1C7A-D90EF50DD8BC}"/>
              </a:ext>
            </a:extLst>
          </p:cNvPr>
          <p:cNvSpPr/>
          <p:nvPr/>
        </p:nvSpPr>
        <p:spPr>
          <a:xfrm>
            <a:off x="402336" y="2218563"/>
            <a:ext cx="402336" cy="402336"/>
          </a:xfrm>
          <a:prstGeom prst="roundRect">
            <a:avLst>
              <a:gd name="adj" fmla="val 22000"/>
            </a:avLst>
          </a:prstGeom>
          <a:solidFill>
            <a:srgbClr val="E1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99" name="Rounded Rectangle 17498">
            <a:extLst>
              <a:ext uri="{FF2B5EF4-FFF2-40B4-BE49-F238E27FC236}">
                <a16:creationId xmlns:a16="http://schemas.microsoft.com/office/drawing/2014/main" id="{62974744-90F2-FB81-4C3B-85FDBD8E212B}"/>
              </a:ext>
            </a:extLst>
          </p:cNvPr>
          <p:cNvSpPr/>
          <p:nvPr/>
        </p:nvSpPr>
        <p:spPr>
          <a:xfrm>
            <a:off x="402336" y="2848737"/>
            <a:ext cx="402336" cy="402336"/>
          </a:xfrm>
          <a:prstGeom prst="roundRect">
            <a:avLst>
              <a:gd name="adj" fmla="val 22000"/>
            </a:avLst>
          </a:prstGeom>
          <a:solidFill>
            <a:srgbClr val="E1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00" name="Rounded Rectangle 17499">
            <a:extLst>
              <a:ext uri="{FF2B5EF4-FFF2-40B4-BE49-F238E27FC236}">
                <a16:creationId xmlns:a16="http://schemas.microsoft.com/office/drawing/2014/main" id="{64E10F3C-0CBF-3D79-ED13-A8535135530F}"/>
              </a:ext>
            </a:extLst>
          </p:cNvPr>
          <p:cNvSpPr/>
          <p:nvPr/>
        </p:nvSpPr>
        <p:spPr>
          <a:xfrm>
            <a:off x="402336" y="3478911"/>
            <a:ext cx="402336" cy="402336"/>
          </a:xfrm>
          <a:prstGeom prst="roundRect">
            <a:avLst>
              <a:gd name="adj" fmla="val 22000"/>
            </a:avLst>
          </a:prstGeom>
          <a:solidFill>
            <a:srgbClr val="E1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01" name="Rounded Rectangle 17500">
            <a:extLst>
              <a:ext uri="{FF2B5EF4-FFF2-40B4-BE49-F238E27FC236}">
                <a16:creationId xmlns:a16="http://schemas.microsoft.com/office/drawing/2014/main" id="{1E48B8CC-B1FA-B3A6-6CB3-86BB517C056F}"/>
              </a:ext>
            </a:extLst>
          </p:cNvPr>
          <p:cNvSpPr/>
          <p:nvPr/>
        </p:nvSpPr>
        <p:spPr>
          <a:xfrm>
            <a:off x="402336" y="4109085"/>
            <a:ext cx="402336" cy="402336"/>
          </a:xfrm>
          <a:prstGeom prst="roundRect">
            <a:avLst>
              <a:gd name="adj" fmla="val 22000"/>
            </a:avLst>
          </a:prstGeom>
          <a:solidFill>
            <a:srgbClr val="E1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02" name="Rounded Rectangle 17501">
            <a:extLst>
              <a:ext uri="{FF2B5EF4-FFF2-40B4-BE49-F238E27FC236}">
                <a16:creationId xmlns:a16="http://schemas.microsoft.com/office/drawing/2014/main" id="{F57D97D4-DFCD-9714-071A-B38601FAC6EB}"/>
              </a:ext>
            </a:extLst>
          </p:cNvPr>
          <p:cNvSpPr/>
          <p:nvPr/>
        </p:nvSpPr>
        <p:spPr>
          <a:xfrm>
            <a:off x="402336" y="4739259"/>
            <a:ext cx="402336" cy="402336"/>
          </a:xfrm>
          <a:prstGeom prst="roundRect">
            <a:avLst>
              <a:gd name="adj" fmla="val 22000"/>
            </a:avLst>
          </a:prstGeom>
          <a:solidFill>
            <a:srgbClr val="E1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503" name="Picture 17502" descr="if_cpu.png">
            <a:extLst>
              <a:ext uri="{FF2B5EF4-FFF2-40B4-BE49-F238E27FC236}">
                <a16:creationId xmlns:a16="http://schemas.microsoft.com/office/drawing/2014/main" id="{3A279E84-20AE-E03B-6F52-708DDFEF305B}"/>
              </a:ext>
            </a:extLst>
          </p:cNvPr>
          <p:cNvPicPr>
            <a:picLocks noChangeAspect="1"/>
          </p:cNvPicPr>
          <p:nvPr/>
        </p:nvPicPr>
        <p:blipFill>
          <a:blip r:embed="rId4"/>
          <a:stretch>
            <a:fillRect/>
          </a:stretch>
        </p:blipFill>
        <p:spPr>
          <a:xfrm>
            <a:off x="448056" y="1634109"/>
            <a:ext cx="310896" cy="310896"/>
          </a:xfrm>
          <a:prstGeom prst="rect">
            <a:avLst/>
          </a:prstGeom>
        </p:spPr>
      </p:pic>
      <p:pic>
        <p:nvPicPr>
          <p:cNvPr id="17504" name="Picture 17503" descr="if_database.png">
            <a:extLst>
              <a:ext uri="{FF2B5EF4-FFF2-40B4-BE49-F238E27FC236}">
                <a16:creationId xmlns:a16="http://schemas.microsoft.com/office/drawing/2014/main" id="{AA3473C4-5E5E-C17B-0A4B-5E295AF4714E}"/>
              </a:ext>
            </a:extLst>
          </p:cNvPr>
          <p:cNvPicPr>
            <a:picLocks noChangeAspect="1"/>
          </p:cNvPicPr>
          <p:nvPr/>
        </p:nvPicPr>
        <p:blipFill>
          <a:blip r:embed="rId5"/>
          <a:stretch>
            <a:fillRect/>
          </a:stretch>
        </p:blipFill>
        <p:spPr>
          <a:xfrm>
            <a:off x="448056" y="2264283"/>
            <a:ext cx="310896" cy="310896"/>
          </a:xfrm>
          <a:prstGeom prst="rect">
            <a:avLst/>
          </a:prstGeom>
        </p:spPr>
      </p:pic>
      <p:pic>
        <p:nvPicPr>
          <p:cNvPr id="17505" name="Picture 17504" descr="if_rupee.png">
            <a:extLst>
              <a:ext uri="{FF2B5EF4-FFF2-40B4-BE49-F238E27FC236}">
                <a16:creationId xmlns:a16="http://schemas.microsoft.com/office/drawing/2014/main" id="{DCF45F98-704F-FC9C-97D6-6ABF5E62836C}"/>
              </a:ext>
            </a:extLst>
          </p:cNvPr>
          <p:cNvPicPr>
            <a:picLocks noChangeAspect="1"/>
          </p:cNvPicPr>
          <p:nvPr/>
        </p:nvPicPr>
        <p:blipFill>
          <a:blip r:embed="rId6"/>
          <a:stretch>
            <a:fillRect/>
          </a:stretch>
        </p:blipFill>
        <p:spPr>
          <a:xfrm>
            <a:off x="448056" y="2894457"/>
            <a:ext cx="310896" cy="310896"/>
          </a:xfrm>
          <a:prstGeom prst="rect">
            <a:avLst/>
          </a:prstGeom>
        </p:spPr>
      </p:pic>
      <p:pic>
        <p:nvPicPr>
          <p:cNvPr id="17506" name="Picture 17505" descr="if_users.png">
            <a:extLst>
              <a:ext uri="{FF2B5EF4-FFF2-40B4-BE49-F238E27FC236}">
                <a16:creationId xmlns:a16="http://schemas.microsoft.com/office/drawing/2014/main" id="{A11BCD40-7267-389F-27DB-91CAB0C7D241}"/>
              </a:ext>
            </a:extLst>
          </p:cNvPr>
          <p:cNvPicPr>
            <a:picLocks noChangeAspect="1"/>
          </p:cNvPicPr>
          <p:nvPr/>
        </p:nvPicPr>
        <p:blipFill>
          <a:blip r:embed="rId7"/>
          <a:stretch>
            <a:fillRect/>
          </a:stretch>
        </p:blipFill>
        <p:spPr>
          <a:xfrm>
            <a:off x="448056" y="3524631"/>
            <a:ext cx="310896" cy="310896"/>
          </a:xfrm>
          <a:prstGeom prst="rect">
            <a:avLst/>
          </a:prstGeom>
        </p:spPr>
      </p:pic>
      <p:pic>
        <p:nvPicPr>
          <p:cNvPr id="17507" name="Picture 17506" descr="if_shield.png">
            <a:extLst>
              <a:ext uri="{FF2B5EF4-FFF2-40B4-BE49-F238E27FC236}">
                <a16:creationId xmlns:a16="http://schemas.microsoft.com/office/drawing/2014/main" id="{2EB3BC60-9851-B5EB-489D-582D6D99E00C}"/>
              </a:ext>
            </a:extLst>
          </p:cNvPr>
          <p:cNvPicPr>
            <a:picLocks noChangeAspect="1"/>
          </p:cNvPicPr>
          <p:nvPr/>
        </p:nvPicPr>
        <p:blipFill>
          <a:blip r:embed="rId8"/>
          <a:stretch>
            <a:fillRect/>
          </a:stretch>
        </p:blipFill>
        <p:spPr>
          <a:xfrm>
            <a:off x="448056" y="4154805"/>
            <a:ext cx="310896" cy="310896"/>
          </a:xfrm>
          <a:prstGeom prst="rect">
            <a:avLst/>
          </a:prstGeom>
        </p:spPr>
      </p:pic>
      <p:pic>
        <p:nvPicPr>
          <p:cNvPr id="17508" name="Picture 17507" descr="if_trend.png">
            <a:extLst>
              <a:ext uri="{FF2B5EF4-FFF2-40B4-BE49-F238E27FC236}">
                <a16:creationId xmlns:a16="http://schemas.microsoft.com/office/drawing/2014/main" id="{B913EA68-13FA-D74F-E924-DBA6BD364716}"/>
              </a:ext>
            </a:extLst>
          </p:cNvPr>
          <p:cNvPicPr>
            <a:picLocks noChangeAspect="1"/>
          </p:cNvPicPr>
          <p:nvPr/>
        </p:nvPicPr>
        <p:blipFill>
          <a:blip r:embed="rId9"/>
          <a:stretch>
            <a:fillRect/>
          </a:stretch>
        </p:blipFill>
        <p:spPr>
          <a:xfrm>
            <a:off x="448056" y="4784979"/>
            <a:ext cx="310896" cy="310896"/>
          </a:xfrm>
          <a:prstGeom prst="rect">
            <a:avLst/>
          </a:prstGeom>
        </p:spPr>
      </p:pic>
      <p:sp>
        <p:nvSpPr>
          <p:cNvPr id="17509" name="TextBox 17508">
            <a:extLst>
              <a:ext uri="{FF2B5EF4-FFF2-40B4-BE49-F238E27FC236}">
                <a16:creationId xmlns:a16="http://schemas.microsoft.com/office/drawing/2014/main" id="{9E52964B-EA83-89FA-B89E-5C1AD7156D8D}"/>
              </a:ext>
            </a:extLst>
          </p:cNvPr>
          <p:cNvSpPr txBox="1"/>
          <p:nvPr/>
        </p:nvSpPr>
        <p:spPr>
          <a:xfrm>
            <a:off x="850392" y="1513332"/>
            <a:ext cx="3072383" cy="570738"/>
          </a:xfrm>
          <a:prstGeom prst="rect">
            <a:avLst/>
          </a:prstGeom>
          <a:noFill/>
        </p:spPr>
        <p:txBody>
          <a:bodyPr wrap="square" lIns="36576" tIns="18288" rIns="36576" bIns="18288" anchor="t">
            <a:spAutoFit/>
          </a:bodyPr>
          <a:lstStyle/>
          <a:p>
            <a:pPr algn="l">
              <a:lnSpc>
                <a:spcPct val="100000"/>
              </a:lnSpc>
              <a:spcAft>
                <a:spcPts val="0"/>
              </a:spcAft>
            </a:pPr>
            <a:r>
              <a:rPr sz="1000" b="1">
                <a:solidFill>
                  <a:srgbClr val="0B6DC0"/>
                </a:solidFill>
                <a:latin typeface="Arial"/>
              </a:rPr>
              <a:t>TECHNICAL</a:t>
            </a:r>
          </a:p>
          <a:p>
            <a:pPr algn="l">
              <a:lnSpc>
                <a:spcPct val="100000"/>
              </a:lnSpc>
              <a:spcAft>
                <a:spcPts val="0"/>
              </a:spcAft>
            </a:pPr>
            <a:r>
              <a:rPr sz="830" b="0">
                <a:solidFill>
                  <a:srgbClr val="222222"/>
                </a:solidFill>
                <a:latin typeface="Arial"/>
              </a:rPr>
              <a:t>Built and running end to end: FastAPI back end, React front end, 16 pipeline stages as separate modules, 774 automated tests and a layout audit.</a:t>
            </a:r>
          </a:p>
        </p:txBody>
      </p:sp>
      <p:sp>
        <p:nvSpPr>
          <p:cNvPr id="17510" name="TextBox 17509">
            <a:extLst>
              <a:ext uri="{FF2B5EF4-FFF2-40B4-BE49-F238E27FC236}">
                <a16:creationId xmlns:a16="http://schemas.microsoft.com/office/drawing/2014/main" id="{E07E40B9-6210-BFC0-3EA2-B2346163EBA3}"/>
              </a:ext>
            </a:extLst>
          </p:cNvPr>
          <p:cNvSpPr txBox="1"/>
          <p:nvPr/>
        </p:nvSpPr>
        <p:spPr>
          <a:xfrm>
            <a:off x="850392" y="2143506"/>
            <a:ext cx="3072383" cy="570738"/>
          </a:xfrm>
          <a:prstGeom prst="rect">
            <a:avLst/>
          </a:prstGeom>
          <a:noFill/>
        </p:spPr>
        <p:txBody>
          <a:bodyPr wrap="square" lIns="36576" tIns="18288" rIns="36576" bIns="18288" anchor="t">
            <a:spAutoFit/>
          </a:bodyPr>
          <a:lstStyle/>
          <a:p>
            <a:pPr algn="l">
              <a:lnSpc>
                <a:spcPct val="100000"/>
              </a:lnSpc>
              <a:spcAft>
                <a:spcPts val="0"/>
              </a:spcAft>
            </a:pPr>
            <a:r>
              <a:rPr sz="1000" b="1">
                <a:solidFill>
                  <a:srgbClr val="0B6DC0"/>
                </a:solidFill>
                <a:latin typeface="Arial"/>
              </a:rPr>
              <a:t>DATA</a:t>
            </a:r>
          </a:p>
          <a:p>
            <a:pPr algn="l">
              <a:lnSpc>
                <a:spcPct val="100000"/>
              </a:lnSpc>
              <a:spcAft>
                <a:spcPts val="0"/>
              </a:spcAft>
            </a:pPr>
            <a:r>
              <a:rPr sz="830" b="0">
                <a:solidFill>
                  <a:srgbClr val="222222"/>
                </a:solidFill>
                <a:latin typeface="Arial"/>
              </a:rPr>
              <a:t>No dataset to collect: input is the college's own PPTX, PDF and DOCX material. Verified on 7 real decks (15–216 pages) and 101 gold-labelled slides.</a:t>
            </a:r>
          </a:p>
        </p:txBody>
      </p:sp>
      <p:sp>
        <p:nvSpPr>
          <p:cNvPr id="17511" name="TextBox 17510">
            <a:extLst>
              <a:ext uri="{FF2B5EF4-FFF2-40B4-BE49-F238E27FC236}">
                <a16:creationId xmlns:a16="http://schemas.microsoft.com/office/drawing/2014/main" id="{22DB99AF-7373-B014-F1E1-063C7F0378FB}"/>
              </a:ext>
            </a:extLst>
          </p:cNvPr>
          <p:cNvSpPr txBox="1"/>
          <p:nvPr/>
        </p:nvSpPr>
        <p:spPr>
          <a:xfrm>
            <a:off x="850392" y="2773680"/>
            <a:ext cx="3072383" cy="570738"/>
          </a:xfrm>
          <a:prstGeom prst="rect">
            <a:avLst/>
          </a:prstGeom>
          <a:noFill/>
        </p:spPr>
        <p:txBody>
          <a:bodyPr wrap="square" lIns="36576" tIns="18288" rIns="36576" bIns="18288" anchor="t">
            <a:spAutoFit/>
          </a:bodyPr>
          <a:lstStyle/>
          <a:p>
            <a:pPr algn="l">
              <a:lnSpc>
                <a:spcPct val="100000"/>
              </a:lnSpc>
              <a:spcAft>
                <a:spcPts val="0"/>
              </a:spcAft>
            </a:pPr>
            <a:r>
              <a:rPr sz="1000" b="1">
                <a:solidFill>
                  <a:srgbClr val="0B6DC0"/>
                </a:solidFill>
                <a:latin typeface="Arial"/>
              </a:rPr>
              <a:t>ECONOMIC</a:t>
            </a:r>
          </a:p>
          <a:p>
            <a:pPr algn="l">
              <a:lnSpc>
                <a:spcPct val="100000"/>
              </a:lnSpc>
              <a:spcAft>
                <a:spcPts val="0"/>
              </a:spcAft>
            </a:pPr>
            <a:r>
              <a:rPr sz="830" b="0">
                <a:solidFill>
                  <a:srgbClr val="222222"/>
                </a:solidFill>
                <a:latin typeface="Arial"/>
              </a:rPr>
              <a:t>₹0 to run offline; free-tier Gemini keys (pool of 5) are optional. One department PC replaces paid AI-slide plans ($10–20 per teacher per month).</a:t>
            </a:r>
          </a:p>
        </p:txBody>
      </p:sp>
      <p:sp>
        <p:nvSpPr>
          <p:cNvPr id="17512" name="TextBox 17511">
            <a:extLst>
              <a:ext uri="{FF2B5EF4-FFF2-40B4-BE49-F238E27FC236}">
                <a16:creationId xmlns:a16="http://schemas.microsoft.com/office/drawing/2014/main" id="{4762D134-A08A-0BC5-201A-466850032C8C}"/>
              </a:ext>
            </a:extLst>
          </p:cNvPr>
          <p:cNvSpPr txBox="1"/>
          <p:nvPr/>
        </p:nvSpPr>
        <p:spPr>
          <a:xfrm>
            <a:off x="850392" y="3403854"/>
            <a:ext cx="3072383" cy="570738"/>
          </a:xfrm>
          <a:prstGeom prst="rect">
            <a:avLst/>
          </a:prstGeom>
          <a:noFill/>
        </p:spPr>
        <p:txBody>
          <a:bodyPr wrap="square" lIns="36576" tIns="18288" rIns="36576" bIns="18288" anchor="t">
            <a:spAutoFit/>
          </a:bodyPr>
          <a:lstStyle/>
          <a:p>
            <a:pPr algn="l">
              <a:lnSpc>
                <a:spcPct val="100000"/>
              </a:lnSpc>
              <a:spcAft>
                <a:spcPts val="0"/>
              </a:spcAft>
            </a:pPr>
            <a:r>
              <a:rPr sz="1000" b="1">
                <a:solidFill>
                  <a:srgbClr val="0B6DC0"/>
                </a:solidFill>
                <a:latin typeface="Arial"/>
              </a:rPr>
              <a:t>OPERATIONAL</a:t>
            </a:r>
          </a:p>
          <a:p>
            <a:pPr algn="l">
              <a:lnSpc>
                <a:spcPct val="100000"/>
              </a:lnSpc>
              <a:spcAft>
                <a:spcPts val="0"/>
              </a:spcAft>
            </a:pPr>
            <a:r>
              <a:rPr sz="830" b="0">
                <a:solidFill>
                  <a:srgbClr val="222222"/>
                </a:solidFill>
                <a:latin typeface="Arial"/>
              </a:rPr>
              <a:t>No retraining for staff: upload, review, download. Every slide stays editable, every choice shows its reason; students need only a browser or phone.</a:t>
            </a:r>
          </a:p>
        </p:txBody>
      </p:sp>
      <p:sp>
        <p:nvSpPr>
          <p:cNvPr id="17513" name="TextBox 17512">
            <a:extLst>
              <a:ext uri="{FF2B5EF4-FFF2-40B4-BE49-F238E27FC236}">
                <a16:creationId xmlns:a16="http://schemas.microsoft.com/office/drawing/2014/main" id="{C6880CB2-AB3B-A5B3-02EB-CD45D4748216}"/>
              </a:ext>
            </a:extLst>
          </p:cNvPr>
          <p:cNvSpPr txBox="1"/>
          <p:nvPr/>
        </p:nvSpPr>
        <p:spPr>
          <a:xfrm>
            <a:off x="850392" y="4034028"/>
            <a:ext cx="3072383" cy="570738"/>
          </a:xfrm>
          <a:prstGeom prst="rect">
            <a:avLst/>
          </a:prstGeom>
          <a:noFill/>
        </p:spPr>
        <p:txBody>
          <a:bodyPr wrap="square" lIns="36576" tIns="18288" rIns="36576" bIns="18288" anchor="t">
            <a:spAutoFit/>
          </a:bodyPr>
          <a:lstStyle/>
          <a:p>
            <a:pPr algn="l">
              <a:lnSpc>
                <a:spcPct val="100000"/>
              </a:lnSpc>
              <a:spcAft>
                <a:spcPts val="0"/>
              </a:spcAft>
            </a:pPr>
            <a:r>
              <a:rPr sz="1000" b="1">
                <a:solidFill>
                  <a:srgbClr val="0B6DC0"/>
                </a:solidFill>
                <a:latin typeface="Arial"/>
              </a:rPr>
              <a:t>SECURITY</a:t>
            </a:r>
          </a:p>
          <a:p>
            <a:pPr algn="l">
              <a:lnSpc>
                <a:spcPct val="100000"/>
              </a:lnSpc>
              <a:spcAft>
                <a:spcPts val="0"/>
              </a:spcAft>
            </a:pPr>
            <a:r>
              <a:rPr sz="830" b="0">
                <a:solidFill>
                  <a:srgbClr val="222222"/>
                </a:solidFill>
                <a:latin typeface="Arial"/>
              </a:rPr>
              <a:t>OTP sign-in with hashed codes and rate limits; AI diagrams sanitised, AI lab code checked before use; share links view-only; data stays on campus.</a:t>
            </a:r>
          </a:p>
        </p:txBody>
      </p:sp>
      <p:sp>
        <p:nvSpPr>
          <p:cNvPr id="17514" name="TextBox 17513">
            <a:extLst>
              <a:ext uri="{FF2B5EF4-FFF2-40B4-BE49-F238E27FC236}">
                <a16:creationId xmlns:a16="http://schemas.microsoft.com/office/drawing/2014/main" id="{4ED29CDE-2C0B-9CE3-15B8-D6820A076E21}"/>
              </a:ext>
            </a:extLst>
          </p:cNvPr>
          <p:cNvSpPr txBox="1"/>
          <p:nvPr/>
        </p:nvSpPr>
        <p:spPr>
          <a:xfrm>
            <a:off x="850392" y="4664202"/>
            <a:ext cx="3072383" cy="570738"/>
          </a:xfrm>
          <a:prstGeom prst="rect">
            <a:avLst/>
          </a:prstGeom>
          <a:noFill/>
        </p:spPr>
        <p:txBody>
          <a:bodyPr wrap="square" lIns="36576" tIns="18288" rIns="36576" bIns="18288" anchor="t">
            <a:spAutoFit/>
          </a:bodyPr>
          <a:lstStyle/>
          <a:p>
            <a:pPr algn="l">
              <a:lnSpc>
                <a:spcPct val="100000"/>
              </a:lnSpc>
              <a:spcAft>
                <a:spcPts val="0"/>
              </a:spcAft>
            </a:pPr>
            <a:r>
              <a:rPr sz="1000" b="1">
                <a:solidFill>
                  <a:srgbClr val="0B6DC0"/>
                </a:solidFill>
                <a:latin typeface="Arial"/>
              </a:rPr>
              <a:t>SCALE</a:t>
            </a:r>
          </a:p>
          <a:p>
            <a:pPr algn="l">
              <a:lnSpc>
                <a:spcPct val="100000"/>
              </a:lnSpc>
              <a:spcAft>
                <a:spcPts val="0"/>
              </a:spcAft>
            </a:pPr>
            <a:r>
              <a:rPr sz="830" b="0">
                <a:solidFill>
                  <a:srgbClr val="222222"/>
                </a:solidFill>
                <a:latin typeface="Arial"/>
              </a:rPr>
              <a:t>Time grows linearly: a 216-page PDF becomes a full deck in ~35 s offline. Parallel workers, job queue and content-hash caches make re-runs instant.</a:t>
            </a:r>
          </a:p>
        </p:txBody>
      </p:sp>
      <p:sp>
        <p:nvSpPr>
          <p:cNvPr id="17515" name="Rounded Rectangle 17514">
            <a:extLst>
              <a:ext uri="{FF2B5EF4-FFF2-40B4-BE49-F238E27FC236}">
                <a16:creationId xmlns:a16="http://schemas.microsoft.com/office/drawing/2014/main" id="{AEDC64F7-8197-9F94-C8B6-44223E5FA3C1}"/>
              </a:ext>
            </a:extLst>
          </p:cNvPr>
          <p:cNvSpPr/>
          <p:nvPr/>
        </p:nvSpPr>
        <p:spPr>
          <a:xfrm>
            <a:off x="2816351" y="1531620"/>
            <a:ext cx="1069848" cy="173736"/>
          </a:xfrm>
          <a:prstGeom prst="roundRect">
            <a:avLst>
              <a:gd name="adj" fmla="val 50000"/>
            </a:avLst>
          </a:prstGeom>
          <a:solidFill>
            <a:srgbClr val="0B6DC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Aft>
                <a:spcPts val="0"/>
              </a:spcAft>
            </a:pPr>
            <a:r>
              <a:rPr sz="760" b="1">
                <a:solidFill>
                  <a:srgbClr val="FFFFFF"/>
                </a:solidFill>
                <a:latin typeface="Arial"/>
              </a:rPr>
              <a:t>774 tests</a:t>
            </a:r>
          </a:p>
        </p:txBody>
      </p:sp>
      <p:sp>
        <p:nvSpPr>
          <p:cNvPr id="17516" name="Rounded Rectangle 17515">
            <a:extLst>
              <a:ext uri="{FF2B5EF4-FFF2-40B4-BE49-F238E27FC236}">
                <a16:creationId xmlns:a16="http://schemas.microsoft.com/office/drawing/2014/main" id="{234E927E-B379-053A-C371-B1F0BAD4A4D8}"/>
              </a:ext>
            </a:extLst>
          </p:cNvPr>
          <p:cNvSpPr/>
          <p:nvPr/>
        </p:nvSpPr>
        <p:spPr>
          <a:xfrm>
            <a:off x="2816351" y="2161794"/>
            <a:ext cx="1069848" cy="173736"/>
          </a:xfrm>
          <a:prstGeom prst="roundRect">
            <a:avLst>
              <a:gd name="adj" fmla="val 50000"/>
            </a:avLst>
          </a:prstGeom>
          <a:solidFill>
            <a:srgbClr val="0B6DC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Aft>
                <a:spcPts val="0"/>
              </a:spcAft>
            </a:pPr>
            <a:r>
              <a:rPr sz="760" b="1">
                <a:solidFill>
                  <a:srgbClr val="FFFFFF"/>
                </a:solidFill>
                <a:latin typeface="Arial"/>
              </a:rPr>
              <a:t>7 real decks</a:t>
            </a:r>
          </a:p>
        </p:txBody>
      </p:sp>
      <p:sp>
        <p:nvSpPr>
          <p:cNvPr id="17517" name="Rounded Rectangle 17516">
            <a:extLst>
              <a:ext uri="{FF2B5EF4-FFF2-40B4-BE49-F238E27FC236}">
                <a16:creationId xmlns:a16="http://schemas.microsoft.com/office/drawing/2014/main" id="{2525F3AD-98CD-6127-276A-39576A64081D}"/>
              </a:ext>
            </a:extLst>
          </p:cNvPr>
          <p:cNvSpPr/>
          <p:nvPr/>
        </p:nvSpPr>
        <p:spPr>
          <a:xfrm>
            <a:off x="2816351" y="2791968"/>
            <a:ext cx="1069848" cy="173736"/>
          </a:xfrm>
          <a:prstGeom prst="roundRect">
            <a:avLst>
              <a:gd name="adj" fmla="val 50000"/>
            </a:avLst>
          </a:prstGeom>
          <a:solidFill>
            <a:srgbClr val="0B6DC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Aft>
                <a:spcPts val="0"/>
              </a:spcAft>
            </a:pPr>
            <a:r>
              <a:rPr sz="760" b="1">
                <a:solidFill>
                  <a:srgbClr val="FFFFFF"/>
                </a:solidFill>
                <a:latin typeface="Arial"/>
              </a:rPr>
              <a:t>₹0 offline</a:t>
            </a:r>
          </a:p>
        </p:txBody>
      </p:sp>
      <p:sp>
        <p:nvSpPr>
          <p:cNvPr id="17518" name="Rounded Rectangle 17517">
            <a:extLst>
              <a:ext uri="{FF2B5EF4-FFF2-40B4-BE49-F238E27FC236}">
                <a16:creationId xmlns:a16="http://schemas.microsoft.com/office/drawing/2014/main" id="{BC21F808-D117-5B9E-9F7F-A8DD2E6B8FF6}"/>
              </a:ext>
            </a:extLst>
          </p:cNvPr>
          <p:cNvSpPr/>
          <p:nvPr/>
        </p:nvSpPr>
        <p:spPr>
          <a:xfrm>
            <a:off x="2816351" y="3422142"/>
            <a:ext cx="1069848" cy="173736"/>
          </a:xfrm>
          <a:prstGeom prst="roundRect">
            <a:avLst>
              <a:gd name="adj" fmla="val 50000"/>
            </a:avLst>
          </a:prstGeom>
          <a:solidFill>
            <a:srgbClr val="0B6DC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Aft>
                <a:spcPts val="0"/>
              </a:spcAft>
            </a:pPr>
            <a:r>
              <a:rPr sz="760" b="1">
                <a:solidFill>
                  <a:srgbClr val="FFFFFF"/>
                </a:solidFill>
                <a:latin typeface="Arial"/>
              </a:rPr>
              <a:t>editable</a:t>
            </a:r>
          </a:p>
        </p:txBody>
      </p:sp>
      <p:sp>
        <p:nvSpPr>
          <p:cNvPr id="17519" name="Rounded Rectangle 17518">
            <a:extLst>
              <a:ext uri="{FF2B5EF4-FFF2-40B4-BE49-F238E27FC236}">
                <a16:creationId xmlns:a16="http://schemas.microsoft.com/office/drawing/2014/main" id="{C64EA6FA-F404-B026-335C-310953E87614}"/>
              </a:ext>
            </a:extLst>
          </p:cNvPr>
          <p:cNvSpPr/>
          <p:nvPr/>
        </p:nvSpPr>
        <p:spPr>
          <a:xfrm>
            <a:off x="2816351" y="4052316"/>
            <a:ext cx="1069848" cy="173736"/>
          </a:xfrm>
          <a:prstGeom prst="roundRect">
            <a:avLst>
              <a:gd name="adj" fmla="val 50000"/>
            </a:avLst>
          </a:prstGeom>
          <a:solidFill>
            <a:srgbClr val="0B6DC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Aft>
                <a:spcPts val="0"/>
              </a:spcAft>
            </a:pPr>
            <a:r>
              <a:rPr sz="760" b="1">
                <a:solidFill>
                  <a:srgbClr val="FFFFFF"/>
                </a:solidFill>
                <a:latin typeface="Arial"/>
              </a:rPr>
              <a:t>sanitised</a:t>
            </a:r>
          </a:p>
        </p:txBody>
      </p:sp>
      <p:sp>
        <p:nvSpPr>
          <p:cNvPr id="17520" name="Rounded Rectangle 17519">
            <a:extLst>
              <a:ext uri="{FF2B5EF4-FFF2-40B4-BE49-F238E27FC236}">
                <a16:creationId xmlns:a16="http://schemas.microsoft.com/office/drawing/2014/main" id="{B340A7AB-BB00-613F-B3C8-E40E86743351}"/>
              </a:ext>
            </a:extLst>
          </p:cNvPr>
          <p:cNvSpPr/>
          <p:nvPr/>
        </p:nvSpPr>
        <p:spPr>
          <a:xfrm>
            <a:off x="2816351" y="4682490"/>
            <a:ext cx="1069848" cy="173736"/>
          </a:xfrm>
          <a:prstGeom prst="roundRect">
            <a:avLst>
              <a:gd name="adj" fmla="val 50000"/>
            </a:avLst>
          </a:prstGeom>
          <a:solidFill>
            <a:srgbClr val="0B6DC0"/>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Aft>
                <a:spcPts val="0"/>
              </a:spcAft>
            </a:pPr>
            <a:r>
              <a:rPr sz="760" b="1">
                <a:solidFill>
                  <a:srgbClr val="FFFFFF"/>
                </a:solidFill>
                <a:latin typeface="Arial"/>
              </a:rPr>
              <a:t>~35 s / 216 pp</a:t>
            </a:r>
          </a:p>
        </p:txBody>
      </p:sp>
      <p:sp>
        <p:nvSpPr>
          <p:cNvPr id="17521" name="Rounded Rectangle 17520">
            <a:extLst>
              <a:ext uri="{FF2B5EF4-FFF2-40B4-BE49-F238E27FC236}">
                <a16:creationId xmlns:a16="http://schemas.microsoft.com/office/drawing/2014/main" id="{599A47B9-4E5C-8847-988C-A2E925FC52E9}"/>
              </a:ext>
            </a:extLst>
          </p:cNvPr>
          <p:cNvSpPr/>
          <p:nvPr/>
        </p:nvSpPr>
        <p:spPr>
          <a:xfrm>
            <a:off x="4114800" y="1097280"/>
            <a:ext cx="4114800" cy="310896"/>
          </a:xfrm>
          <a:prstGeom prst="roundRect">
            <a:avLst>
              <a:gd name="adj" fmla="val 20000"/>
            </a:avLst>
          </a:prstGeom>
          <a:gradFill rotWithShape="1">
            <a:gsLst>
              <a:gs pos="0">
                <a:srgbClr val="E08A00"/>
              </a:gs>
              <a:gs pos="100000">
                <a:srgbClr val="F2A93B"/>
              </a:gs>
            </a:gsLst>
            <a:lin ang="0" scaled="0"/>
          </a:gradFill>
          <a:ln>
            <a:no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00000"/>
              </a:lnSpc>
              <a:spcAft>
                <a:spcPts val="0"/>
              </a:spcAft>
            </a:pPr>
            <a:r>
              <a:rPr sz="1200" b="1">
                <a:solidFill>
                  <a:srgbClr val="FFFFFF"/>
                </a:solidFill>
                <a:latin typeface="Arial"/>
              </a:rPr>
              <a:t>Potential challenges and risks</a:t>
            </a:r>
          </a:p>
        </p:txBody>
      </p:sp>
      <p:pic>
        <p:nvPicPr>
          <p:cNvPr id="17588" name="Picture 17587" descr="image.png"/>
          <p:cNvPicPr>
            <a:picLocks noChangeAspect="1"/>
          </p:cNvPicPr>
          <p:nvPr/>
        </p:nvPicPr>
        <p:blipFill>
          <a:blip r:embed="rId30"/>
          <a:stretch>
            <a:fillRect/>
          </a:stretch>
        </p:blipFill>
        <p:spPr>
          <a:xfrm>
            <a:off x="4160520" y="1463040"/>
            <a:ext cx="1417320" cy="1417320"/>
          </a:xfrm>
          <a:prstGeom prst="rect">
            <a:avLst/>
          </a:prstGeom>
        </p:spPr>
      </p:pic>
      <p:sp>
        <p:nvSpPr>
          <p:cNvPr id="17523" name="Rounded Rectangle 17522">
            <a:extLst>
              <a:ext uri="{FF2B5EF4-FFF2-40B4-BE49-F238E27FC236}">
                <a16:creationId xmlns:a16="http://schemas.microsoft.com/office/drawing/2014/main" id="{4ED7E28E-DA17-032E-EB66-80BF876E6D23}"/>
              </a:ext>
            </a:extLst>
          </p:cNvPr>
          <p:cNvSpPr/>
          <p:nvPr/>
        </p:nvSpPr>
        <p:spPr>
          <a:xfrm>
            <a:off x="274320" y="5358384"/>
            <a:ext cx="4343400" cy="905255"/>
          </a:xfrm>
          <a:prstGeom prst="roundRect">
            <a:avLst>
              <a:gd name="adj" fmla="val 8000"/>
            </a:avLst>
          </a:prstGeom>
          <a:solidFill>
            <a:srgbClr val="FFFFFF"/>
          </a:solidFill>
          <a:ln w="15875">
            <a:solidFill>
              <a:srgbClr val="94A3B8"/>
            </a:solid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24" name="Rounded Rectangle 17523">
            <a:extLst>
              <a:ext uri="{FF2B5EF4-FFF2-40B4-BE49-F238E27FC236}">
                <a16:creationId xmlns:a16="http://schemas.microsoft.com/office/drawing/2014/main" id="{21924696-6E1E-53CB-38F0-488E1E62E88F}"/>
              </a:ext>
            </a:extLst>
          </p:cNvPr>
          <p:cNvSpPr/>
          <p:nvPr/>
        </p:nvSpPr>
        <p:spPr>
          <a:xfrm>
            <a:off x="274320" y="5358384"/>
            <a:ext cx="731520" cy="905255"/>
          </a:xfrm>
          <a:prstGeom prst="roundRect">
            <a:avLst>
              <a:gd name="adj" fmla="val 10000"/>
            </a:avLst>
          </a:prstGeom>
          <a:gradFill rotWithShape="1">
            <a:gsLst>
              <a:gs pos="0">
                <a:srgbClr val="0B2545"/>
              </a:gs>
              <a:gs pos="100000">
                <a:srgbClr val="1B4A8C"/>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00000"/>
              </a:lnSpc>
              <a:spcAft>
                <a:spcPts val="0"/>
              </a:spcAft>
            </a:pPr>
            <a:r>
              <a:rPr sz="900" b="1">
                <a:solidFill>
                  <a:srgbClr val="FFFFFF"/>
                </a:solidFill>
                <a:latin typeface="Arial"/>
              </a:rPr>
              <a:t>VERIFY IT</a:t>
            </a:r>
          </a:p>
          <a:p>
            <a:pPr algn="ctr">
              <a:lnSpc>
                <a:spcPct val="100000"/>
              </a:lnSpc>
              <a:spcAft>
                <a:spcPts val="0"/>
              </a:spcAft>
            </a:pPr>
            <a:r>
              <a:rPr sz="900" b="1">
                <a:solidFill>
                  <a:srgbClr val="FFFFFF"/>
                </a:solidFill>
                <a:latin typeface="Arial"/>
              </a:rPr>
              <a:t>YOURSELF</a:t>
            </a:r>
          </a:p>
          <a:p>
            <a:pPr algn="ctr">
              <a:lnSpc>
                <a:spcPct val="100000"/>
              </a:lnSpc>
              <a:spcAft>
                <a:spcPts val="0"/>
              </a:spcAft>
            </a:pPr>
            <a:r>
              <a:rPr sz="750" b="0">
                <a:solidFill>
                  <a:srgbClr val="BFD3F2"/>
                </a:solidFill>
                <a:latin typeface="Arial"/>
              </a:rPr>
              <a:t>scan / click</a:t>
            </a:r>
          </a:p>
        </p:txBody>
      </p:sp>
      <p:pic>
        <p:nvPicPr>
          <p:cNvPr id="17584" name="Picture 17583" descr="image.png"/>
          <p:cNvPicPr>
            <a:picLocks noChangeAspect="1"/>
          </p:cNvPicPr>
          <p:nvPr/>
        </p:nvPicPr>
        <p:blipFill>
          <a:blip r:embed="rId26"/>
          <a:stretch>
            <a:fillRect/>
          </a:stretch>
        </p:blipFill>
        <p:spPr>
          <a:xfrm>
            <a:off x="1155573" y="5413248"/>
            <a:ext cx="603504" cy="603504"/>
          </a:xfrm>
          <a:prstGeom prst="rect">
            <a:avLst/>
          </a:prstGeom>
        </p:spPr>
      </p:pic>
      <p:pic>
        <p:nvPicPr>
          <p:cNvPr id="17585" name="Picture 17584" descr="image.png"/>
          <p:cNvPicPr>
            <a:picLocks noChangeAspect="1"/>
          </p:cNvPicPr>
          <p:nvPr/>
        </p:nvPicPr>
        <p:blipFill>
          <a:blip r:embed="rId27"/>
          <a:stretch>
            <a:fillRect/>
          </a:stretch>
        </p:blipFill>
        <p:spPr>
          <a:xfrm>
            <a:off x="2058543" y="5413248"/>
            <a:ext cx="603504" cy="603504"/>
          </a:xfrm>
          <a:prstGeom prst="rect">
            <a:avLst/>
          </a:prstGeom>
        </p:spPr>
      </p:pic>
      <p:pic>
        <p:nvPicPr>
          <p:cNvPr id="17586" name="Picture 17585" descr="image.png"/>
          <p:cNvPicPr>
            <a:picLocks noChangeAspect="1"/>
          </p:cNvPicPr>
          <p:nvPr/>
        </p:nvPicPr>
        <p:blipFill>
          <a:blip r:embed="rId28"/>
          <a:stretch>
            <a:fillRect/>
          </a:stretch>
        </p:blipFill>
        <p:spPr>
          <a:xfrm>
            <a:off x="2961513" y="5413248"/>
            <a:ext cx="603504" cy="603504"/>
          </a:xfrm>
          <a:prstGeom prst="rect">
            <a:avLst/>
          </a:prstGeom>
        </p:spPr>
      </p:pic>
      <p:pic>
        <p:nvPicPr>
          <p:cNvPr id="17587" name="Picture 17586" descr="image.png"/>
          <p:cNvPicPr>
            <a:picLocks noChangeAspect="1"/>
          </p:cNvPicPr>
          <p:nvPr/>
        </p:nvPicPr>
        <p:blipFill>
          <a:blip r:embed="rId29"/>
          <a:stretch>
            <a:fillRect/>
          </a:stretch>
        </p:blipFill>
        <p:spPr>
          <a:xfrm>
            <a:off x="3864483" y="5413248"/>
            <a:ext cx="603504" cy="603504"/>
          </a:xfrm>
          <a:prstGeom prst="rect">
            <a:avLst/>
          </a:prstGeom>
        </p:spPr>
      </p:pic>
      <p:sp>
        <p:nvSpPr>
          <p:cNvPr id="17529" name="TextBox 17528">
            <a:extLst>
              <a:ext uri="{FF2B5EF4-FFF2-40B4-BE49-F238E27FC236}">
                <a16:creationId xmlns:a16="http://schemas.microsoft.com/office/drawing/2014/main" id="{3D681329-B663-0DE2-FECD-927B7B4C9890}"/>
              </a:ext>
            </a:extLst>
          </p:cNvPr>
          <p:cNvSpPr txBox="1"/>
          <p:nvPr/>
        </p:nvSpPr>
        <p:spPr>
          <a:xfrm>
            <a:off x="1005840" y="6025896"/>
            <a:ext cx="902970" cy="219456"/>
          </a:xfrm>
          <a:prstGeom prst="rect">
            <a:avLst/>
          </a:prstGeom>
          <a:noFill/>
        </p:spPr>
        <p:txBody>
          <a:bodyPr wrap="square" lIns="0" tIns="0" rIns="0" bIns="0" anchor="t">
            <a:spAutoFit/>
          </a:bodyPr>
          <a:lstStyle/>
          <a:p>
            <a:pPr algn="ctr">
              <a:lnSpc>
                <a:spcPct val="100000"/>
              </a:lnSpc>
              <a:spcAft>
                <a:spcPts val="0"/>
              </a:spcAft>
            </a:pPr>
            <a:r>
              <a:rPr sz="880" b="1">
                <a:solidFill>
                  <a:srgbClr val="0B6DC0"/>
                </a:solidFill>
                <a:latin typeface="Arial"/>
                <a:hlinkClick r:id="rId15"/>
              </a:rPr>
              <a:t>Code</a:t>
            </a:r>
          </a:p>
        </p:txBody>
      </p:sp>
      <p:sp>
        <p:nvSpPr>
          <p:cNvPr id="17530" name="TextBox 17529">
            <a:extLst>
              <a:ext uri="{FF2B5EF4-FFF2-40B4-BE49-F238E27FC236}">
                <a16:creationId xmlns:a16="http://schemas.microsoft.com/office/drawing/2014/main" id="{75E31AE8-9149-8A70-17D0-F72C69B8AB01}"/>
              </a:ext>
            </a:extLst>
          </p:cNvPr>
          <p:cNvSpPr txBox="1"/>
          <p:nvPr/>
        </p:nvSpPr>
        <p:spPr>
          <a:xfrm>
            <a:off x="1908810" y="6025896"/>
            <a:ext cx="902970" cy="219456"/>
          </a:xfrm>
          <a:prstGeom prst="rect">
            <a:avLst/>
          </a:prstGeom>
          <a:noFill/>
        </p:spPr>
        <p:txBody>
          <a:bodyPr wrap="square" lIns="0" tIns="0" rIns="0" bIns="0" anchor="t">
            <a:spAutoFit/>
          </a:bodyPr>
          <a:lstStyle/>
          <a:p>
            <a:pPr algn="ctr">
              <a:lnSpc>
                <a:spcPct val="100000"/>
              </a:lnSpc>
              <a:spcAft>
                <a:spcPts val="0"/>
              </a:spcAft>
            </a:pPr>
            <a:r>
              <a:rPr sz="880" b="1">
                <a:solidFill>
                  <a:srgbClr val="0B6DC0"/>
                </a:solidFill>
                <a:latin typeface="Arial"/>
                <a:hlinkClick r:id="rId16"/>
              </a:rPr>
              <a:t>Tests</a:t>
            </a:r>
          </a:p>
        </p:txBody>
      </p:sp>
      <p:sp>
        <p:nvSpPr>
          <p:cNvPr id="17531" name="TextBox 17530">
            <a:extLst>
              <a:ext uri="{FF2B5EF4-FFF2-40B4-BE49-F238E27FC236}">
                <a16:creationId xmlns:a16="http://schemas.microsoft.com/office/drawing/2014/main" id="{8892CF5A-78B7-04BA-1720-B5EB44EBC804}"/>
              </a:ext>
            </a:extLst>
          </p:cNvPr>
          <p:cNvSpPr txBox="1"/>
          <p:nvPr/>
        </p:nvSpPr>
        <p:spPr>
          <a:xfrm>
            <a:off x="2811780" y="6025896"/>
            <a:ext cx="902970" cy="219456"/>
          </a:xfrm>
          <a:prstGeom prst="rect">
            <a:avLst/>
          </a:prstGeom>
          <a:noFill/>
        </p:spPr>
        <p:txBody>
          <a:bodyPr wrap="square" lIns="0" tIns="0" rIns="0" bIns="0" anchor="t">
            <a:spAutoFit/>
          </a:bodyPr>
          <a:lstStyle/>
          <a:p>
            <a:pPr algn="ctr">
              <a:lnSpc>
                <a:spcPct val="100000"/>
              </a:lnSpc>
              <a:spcAft>
                <a:spcPts val="0"/>
              </a:spcAft>
            </a:pPr>
            <a:r>
              <a:rPr sz="880" b="1">
                <a:solidFill>
                  <a:srgbClr val="0B6DC0"/>
                </a:solidFill>
                <a:latin typeface="Arial"/>
                <a:hlinkClick r:id="rId17"/>
              </a:rPr>
              <a:t>Gold sets</a:t>
            </a:r>
          </a:p>
        </p:txBody>
      </p:sp>
      <p:sp>
        <p:nvSpPr>
          <p:cNvPr id="17532" name="Rounded Rectangle 17531">
            <a:extLst>
              <a:ext uri="{FF2B5EF4-FFF2-40B4-BE49-F238E27FC236}">
                <a16:creationId xmlns:a16="http://schemas.microsoft.com/office/drawing/2014/main" id="{94E92A08-6BD9-B843-192E-211F12DCDB5D}"/>
              </a:ext>
            </a:extLst>
          </p:cNvPr>
          <p:cNvSpPr/>
          <p:nvPr/>
        </p:nvSpPr>
        <p:spPr>
          <a:xfrm>
            <a:off x="4709160" y="5358384"/>
            <a:ext cx="3520439" cy="905255"/>
          </a:xfrm>
          <a:prstGeom prst="roundRect">
            <a:avLst>
              <a:gd name="adj" fmla="val 8000"/>
            </a:avLst>
          </a:prstGeom>
          <a:solidFill>
            <a:srgbClr val="FFFFFF"/>
          </a:solidFill>
          <a:ln w="15875">
            <a:solidFill>
              <a:srgbClr val="94A3B8"/>
            </a:solid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33" name="TextBox 17532">
            <a:extLst>
              <a:ext uri="{FF2B5EF4-FFF2-40B4-BE49-F238E27FC236}">
                <a16:creationId xmlns:a16="http://schemas.microsoft.com/office/drawing/2014/main" id="{CBA03E63-98A3-5E47-C762-A241A76A2F54}"/>
              </a:ext>
            </a:extLst>
          </p:cNvPr>
          <p:cNvSpPr txBox="1"/>
          <p:nvPr/>
        </p:nvSpPr>
        <p:spPr>
          <a:xfrm>
            <a:off x="4754880" y="5376672"/>
            <a:ext cx="3428999" cy="182880"/>
          </a:xfrm>
          <a:prstGeom prst="rect">
            <a:avLst/>
          </a:prstGeom>
          <a:noFill/>
        </p:spPr>
        <p:txBody>
          <a:bodyPr wrap="square" lIns="45720" tIns="0" rIns="18288" bIns="0" anchor="t">
            <a:spAutoFit/>
          </a:bodyPr>
          <a:lstStyle/>
          <a:p>
            <a:pPr algn="l">
              <a:lnSpc>
                <a:spcPct val="100000"/>
              </a:lnSpc>
              <a:spcAft>
                <a:spcPts val="0"/>
              </a:spcAft>
            </a:pPr>
            <a:r>
              <a:rPr sz="950" b="1">
                <a:solidFill>
                  <a:srgbClr val="0B2545"/>
                </a:solidFill>
                <a:latin typeface="Arial"/>
              </a:rPr>
              <a:t>ADOPTION PATH  ·  low-risk, one step at a time</a:t>
            </a:r>
          </a:p>
        </p:txBody>
      </p:sp>
      <p:sp>
        <p:nvSpPr>
          <p:cNvPr id="17534" name="Pentagon 17533">
            <a:extLst>
              <a:ext uri="{FF2B5EF4-FFF2-40B4-BE49-F238E27FC236}">
                <a16:creationId xmlns:a16="http://schemas.microsoft.com/office/drawing/2014/main" id="{080C08B8-441E-C380-5030-4E360B8414DB}"/>
              </a:ext>
            </a:extLst>
          </p:cNvPr>
          <p:cNvSpPr/>
          <p:nvPr/>
        </p:nvSpPr>
        <p:spPr>
          <a:xfrm>
            <a:off x="4782312" y="5586984"/>
            <a:ext cx="1161287" cy="246888"/>
          </a:xfrm>
          <a:prstGeom prst="homePlate">
            <a:avLst>
              <a:gd name="adj" fmla="val 35000"/>
            </a:avLst>
          </a:prstGeom>
          <a:solidFill>
            <a:srgbClr val="0B6DC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rIns="45720" bIns="0" rtlCol="0" anchor="ctr"/>
          <a:lstStyle/>
          <a:p>
            <a:pPr algn="ctr">
              <a:lnSpc>
                <a:spcPct val="100000"/>
              </a:lnSpc>
              <a:spcAft>
                <a:spcPts val="0"/>
              </a:spcAft>
            </a:pPr>
            <a:r>
              <a:rPr sz="900" b="1">
                <a:solidFill>
                  <a:srgbClr val="FFFFFF"/>
                </a:solidFill>
                <a:latin typeface="Arial"/>
              </a:rPr>
              <a:t>1 · PILOT</a:t>
            </a:r>
          </a:p>
        </p:txBody>
      </p:sp>
      <p:sp>
        <p:nvSpPr>
          <p:cNvPr id="17535" name="Chevron 17534">
            <a:extLst>
              <a:ext uri="{FF2B5EF4-FFF2-40B4-BE49-F238E27FC236}">
                <a16:creationId xmlns:a16="http://schemas.microsoft.com/office/drawing/2014/main" id="{B906F7B8-3E6B-8BA3-9A91-D055BE95E733}"/>
              </a:ext>
            </a:extLst>
          </p:cNvPr>
          <p:cNvSpPr/>
          <p:nvPr/>
        </p:nvSpPr>
        <p:spPr>
          <a:xfrm>
            <a:off x="5907024" y="5586984"/>
            <a:ext cx="1161287" cy="246888"/>
          </a:xfrm>
          <a:prstGeom prst="chevron">
            <a:avLst>
              <a:gd name="adj" fmla="val 35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rIns="45720" bIns="0" rtlCol="0" anchor="ctr"/>
          <a:lstStyle/>
          <a:p>
            <a:pPr algn="ctr">
              <a:lnSpc>
                <a:spcPct val="100000"/>
              </a:lnSpc>
              <a:spcAft>
                <a:spcPts val="0"/>
              </a:spcAft>
            </a:pPr>
            <a:r>
              <a:rPr sz="900" b="1">
                <a:solidFill>
                  <a:srgbClr val="FFFFFF"/>
                </a:solidFill>
                <a:latin typeface="Arial"/>
              </a:rPr>
              <a:t>2 · DEPT</a:t>
            </a:r>
          </a:p>
        </p:txBody>
      </p:sp>
      <p:sp>
        <p:nvSpPr>
          <p:cNvPr id="17536" name="Chevron 17535">
            <a:extLst>
              <a:ext uri="{FF2B5EF4-FFF2-40B4-BE49-F238E27FC236}">
                <a16:creationId xmlns:a16="http://schemas.microsoft.com/office/drawing/2014/main" id="{6AAF5E08-0E6C-2C28-AA3E-61EDDC025787}"/>
              </a:ext>
            </a:extLst>
          </p:cNvPr>
          <p:cNvSpPr/>
          <p:nvPr/>
        </p:nvSpPr>
        <p:spPr>
          <a:xfrm>
            <a:off x="7031736" y="5586984"/>
            <a:ext cx="1161287" cy="246888"/>
          </a:xfrm>
          <a:prstGeom prst="chevron">
            <a:avLst>
              <a:gd name="adj" fmla="val 35000"/>
            </a:avLst>
          </a:prstGeom>
          <a:solidFill>
            <a:srgbClr val="2E9E4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0" rIns="45720" bIns="0" rtlCol="0" anchor="ctr"/>
          <a:lstStyle/>
          <a:p>
            <a:pPr algn="ctr">
              <a:lnSpc>
                <a:spcPct val="100000"/>
              </a:lnSpc>
              <a:spcAft>
                <a:spcPts val="0"/>
              </a:spcAft>
            </a:pPr>
            <a:r>
              <a:rPr sz="900" b="1">
                <a:solidFill>
                  <a:srgbClr val="FFFFFF"/>
                </a:solidFill>
                <a:latin typeface="Arial"/>
              </a:rPr>
              <a:t>3 · COLLEGE</a:t>
            </a:r>
          </a:p>
        </p:txBody>
      </p:sp>
      <p:sp>
        <p:nvSpPr>
          <p:cNvPr id="17537" name="TextBox 17536">
            <a:extLst>
              <a:ext uri="{FF2B5EF4-FFF2-40B4-BE49-F238E27FC236}">
                <a16:creationId xmlns:a16="http://schemas.microsoft.com/office/drawing/2014/main" id="{E2C0AE50-EC38-DCB7-E12F-BB2286A520DB}"/>
              </a:ext>
            </a:extLst>
          </p:cNvPr>
          <p:cNvSpPr txBox="1"/>
          <p:nvPr/>
        </p:nvSpPr>
        <p:spPr>
          <a:xfrm>
            <a:off x="4782312" y="5861304"/>
            <a:ext cx="1124711" cy="384048"/>
          </a:xfrm>
          <a:prstGeom prst="rect">
            <a:avLst/>
          </a:prstGeom>
          <a:noFill/>
        </p:spPr>
        <p:txBody>
          <a:bodyPr wrap="square" lIns="27432" tIns="0" rIns="27432" bIns="0" anchor="t">
            <a:spAutoFit/>
          </a:bodyPr>
          <a:lstStyle/>
          <a:p>
            <a:pPr algn="ctr">
              <a:lnSpc>
                <a:spcPct val="100000"/>
              </a:lnSpc>
              <a:spcAft>
                <a:spcPts val="0"/>
              </a:spcAft>
            </a:pPr>
            <a:r>
              <a:rPr sz="830" b="0">
                <a:solidFill>
                  <a:srgbClr val="222222"/>
                </a:solidFill>
                <a:latin typeface="Arial"/>
              </a:rPr>
              <a:t>Our AI &amp; DS courses; 3–4 faculty</a:t>
            </a:r>
          </a:p>
        </p:txBody>
      </p:sp>
      <p:sp>
        <p:nvSpPr>
          <p:cNvPr id="17538" name="TextBox 17537">
            <a:extLst>
              <a:ext uri="{FF2B5EF4-FFF2-40B4-BE49-F238E27FC236}">
                <a16:creationId xmlns:a16="http://schemas.microsoft.com/office/drawing/2014/main" id="{C51124EF-C149-9D05-B373-6712236E83FB}"/>
              </a:ext>
            </a:extLst>
          </p:cNvPr>
          <p:cNvSpPr txBox="1"/>
          <p:nvPr/>
        </p:nvSpPr>
        <p:spPr>
          <a:xfrm>
            <a:off x="5907024" y="5861304"/>
            <a:ext cx="1124711" cy="384048"/>
          </a:xfrm>
          <a:prstGeom prst="rect">
            <a:avLst/>
          </a:prstGeom>
          <a:noFill/>
        </p:spPr>
        <p:txBody>
          <a:bodyPr wrap="square" lIns="27432" tIns="0" rIns="27432" bIns="0" anchor="t">
            <a:spAutoFit/>
          </a:bodyPr>
          <a:lstStyle/>
          <a:p>
            <a:pPr algn="ctr">
              <a:lnSpc>
                <a:spcPct val="100000"/>
              </a:lnSpc>
              <a:spcAft>
                <a:spcPts val="0"/>
              </a:spcAft>
            </a:pPr>
            <a:r>
              <a:rPr sz="830" b="0">
                <a:solidFill>
                  <a:srgbClr val="222222"/>
                </a:solidFill>
                <a:latin typeface="Arial"/>
              </a:rPr>
              <a:t>Shared server, deck + lab library</a:t>
            </a:r>
          </a:p>
        </p:txBody>
      </p:sp>
      <p:sp>
        <p:nvSpPr>
          <p:cNvPr id="17539" name="TextBox 17538">
            <a:extLst>
              <a:ext uri="{FF2B5EF4-FFF2-40B4-BE49-F238E27FC236}">
                <a16:creationId xmlns:a16="http://schemas.microsoft.com/office/drawing/2014/main" id="{E852847A-444A-FCC7-CE35-777DD0A86FEE}"/>
              </a:ext>
            </a:extLst>
          </p:cNvPr>
          <p:cNvSpPr txBox="1"/>
          <p:nvPr/>
        </p:nvSpPr>
        <p:spPr>
          <a:xfrm>
            <a:off x="7031736" y="5861304"/>
            <a:ext cx="1124711" cy="384048"/>
          </a:xfrm>
          <a:prstGeom prst="rect">
            <a:avLst/>
          </a:prstGeom>
          <a:noFill/>
        </p:spPr>
        <p:txBody>
          <a:bodyPr wrap="square" lIns="27432" tIns="0" rIns="27432" bIns="0" anchor="t">
            <a:spAutoFit/>
          </a:bodyPr>
          <a:lstStyle/>
          <a:p>
            <a:pPr algn="ctr">
              <a:lnSpc>
                <a:spcPct val="100000"/>
              </a:lnSpc>
              <a:spcAft>
                <a:spcPts val="0"/>
              </a:spcAft>
            </a:pPr>
            <a:r>
              <a:rPr sz="830" b="0">
                <a:solidFill>
                  <a:srgbClr val="222222"/>
                </a:solidFill>
                <a:latin typeface="Arial"/>
              </a:rPr>
              <a:t>LMS export, regional languages</a:t>
            </a:r>
          </a:p>
        </p:txBody>
      </p:sp>
      <p:sp>
        <p:nvSpPr>
          <p:cNvPr id="17540" name="Rounded Rectangle 17539">
            <a:extLst>
              <a:ext uri="{FF2B5EF4-FFF2-40B4-BE49-F238E27FC236}">
                <a16:creationId xmlns:a16="http://schemas.microsoft.com/office/drawing/2014/main" id="{16DE842E-01D1-2447-7C8F-9AE900E42E07}"/>
              </a:ext>
            </a:extLst>
          </p:cNvPr>
          <p:cNvSpPr/>
          <p:nvPr/>
        </p:nvSpPr>
        <p:spPr>
          <a:xfrm>
            <a:off x="8321040" y="1097280"/>
            <a:ext cx="3593592" cy="310896"/>
          </a:xfrm>
          <a:prstGeom prst="roundRect">
            <a:avLst>
              <a:gd name="adj" fmla="val 20000"/>
            </a:avLst>
          </a:prstGeom>
          <a:gradFill rotWithShape="1">
            <a:gsLst>
              <a:gs pos="0">
                <a:srgbClr val="2E9E45"/>
              </a:gs>
              <a:gs pos="100000">
                <a:srgbClr val="4FBF63"/>
              </a:gs>
            </a:gsLst>
            <a:lin ang="0" scaled="0"/>
          </a:gradFill>
          <a:ln>
            <a:no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100000"/>
              </a:lnSpc>
              <a:spcAft>
                <a:spcPts val="0"/>
              </a:spcAft>
            </a:pPr>
            <a:r>
              <a:rPr sz="1200" b="1">
                <a:solidFill>
                  <a:srgbClr val="FFFFFF"/>
                </a:solidFill>
                <a:latin typeface="Arial"/>
              </a:rPr>
              <a:t>Strategies for overcoming these challenges</a:t>
            </a:r>
          </a:p>
        </p:txBody>
      </p:sp>
      <p:sp>
        <p:nvSpPr>
          <p:cNvPr id="17541" name="Rounded Rectangle 17540">
            <a:extLst>
              <a:ext uri="{FF2B5EF4-FFF2-40B4-BE49-F238E27FC236}">
                <a16:creationId xmlns:a16="http://schemas.microsoft.com/office/drawing/2014/main" id="{7269F730-66F1-6B2F-5379-2FAF0825EA02}"/>
              </a:ext>
            </a:extLst>
          </p:cNvPr>
          <p:cNvSpPr/>
          <p:nvPr/>
        </p:nvSpPr>
        <p:spPr>
          <a:xfrm>
            <a:off x="8321040" y="1444752"/>
            <a:ext cx="3593592" cy="657061"/>
          </a:xfrm>
          <a:prstGeom prst="roundRect">
            <a:avLst>
              <a:gd name="adj" fmla="val 10000"/>
            </a:avLst>
          </a:prstGeom>
          <a:solidFill>
            <a:srgbClr val="FFFFFF"/>
          </a:solidFill>
          <a:ln w="19050">
            <a:solidFill>
              <a:srgbClr val="2FB463"/>
            </a:solid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42" name="Rounded Rectangle 17541">
            <a:extLst>
              <a:ext uri="{FF2B5EF4-FFF2-40B4-BE49-F238E27FC236}">
                <a16:creationId xmlns:a16="http://schemas.microsoft.com/office/drawing/2014/main" id="{A0EDD5A8-EF82-D2C6-4739-199E5397CFD3}"/>
              </a:ext>
            </a:extLst>
          </p:cNvPr>
          <p:cNvSpPr/>
          <p:nvPr/>
        </p:nvSpPr>
        <p:spPr>
          <a:xfrm>
            <a:off x="8321040" y="2138389"/>
            <a:ext cx="3593592" cy="657061"/>
          </a:xfrm>
          <a:prstGeom prst="roundRect">
            <a:avLst>
              <a:gd name="adj" fmla="val 10000"/>
            </a:avLst>
          </a:prstGeom>
          <a:solidFill>
            <a:srgbClr val="FFFFFF"/>
          </a:solidFill>
          <a:ln w="19050">
            <a:solidFill>
              <a:srgbClr val="2FB463"/>
            </a:solid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43" name="Rounded Rectangle 17542">
            <a:extLst>
              <a:ext uri="{FF2B5EF4-FFF2-40B4-BE49-F238E27FC236}">
                <a16:creationId xmlns:a16="http://schemas.microsoft.com/office/drawing/2014/main" id="{A579F0F8-87F2-55CC-E30D-B9C98B46FF91}"/>
              </a:ext>
            </a:extLst>
          </p:cNvPr>
          <p:cNvSpPr/>
          <p:nvPr/>
        </p:nvSpPr>
        <p:spPr>
          <a:xfrm>
            <a:off x="8321040" y="2832027"/>
            <a:ext cx="3593592" cy="657061"/>
          </a:xfrm>
          <a:prstGeom prst="roundRect">
            <a:avLst>
              <a:gd name="adj" fmla="val 10000"/>
            </a:avLst>
          </a:prstGeom>
          <a:solidFill>
            <a:srgbClr val="FFFFFF"/>
          </a:solidFill>
          <a:ln w="19050">
            <a:solidFill>
              <a:srgbClr val="2FB463"/>
            </a:solid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44" name="Rounded Rectangle 17543">
            <a:extLst>
              <a:ext uri="{FF2B5EF4-FFF2-40B4-BE49-F238E27FC236}">
                <a16:creationId xmlns:a16="http://schemas.microsoft.com/office/drawing/2014/main" id="{42E7F884-38D5-65AD-B1FA-A74126B9922B}"/>
              </a:ext>
            </a:extLst>
          </p:cNvPr>
          <p:cNvSpPr/>
          <p:nvPr/>
        </p:nvSpPr>
        <p:spPr>
          <a:xfrm>
            <a:off x="8321040" y="3525665"/>
            <a:ext cx="3593592" cy="657061"/>
          </a:xfrm>
          <a:prstGeom prst="roundRect">
            <a:avLst>
              <a:gd name="adj" fmla="val 10000"/>
            </a:avLst>
          </a:prstGeom>
          <a:solidFill>
            <a:srgbClr val="FFFFFF"/>
          </a:solidFill>
          <a:ln w="19050">
            <a:solidFill>
              <a:srgbClr val="2FB463"/>
            </a:solid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45" name="Rounded Rectangle 17544">
            <a:extLst>
              <a:ext uri="{FF2B5EF4-FFF2-40B4-BE49-F238E27FC236}">
                <a16:creationId xmlns:a16="http://schemas.microsoft.com/office/drawing/2014/main" id="{460B1C59-75B4-141A-5BF2-F75D730EA467}"/>
              </a:ext>
            </a:extLst>
          </p:cNvPr>
          <p:cNvSpPr/>
          <p:nvPr/>
        </p:nvSpPr>
        <p:spPr>
          <a:xfrm>
            <a:off x="8321040" y="4219302"/>
            <a:ext cx="3593592" cy="657061"/>
          </a:xfrm>
          <a:prstGeom prst="roundRect">
            <a:avLst>
              <a:gd name="adj" fmla="val 10000"/>
            </a:avLst>
          </a:prstGeom>
          <a:solidFill>
            <a:srgbClr val="FFFFFF"/>
          </a:solidFill>
          <a:ln w="19050">
            <a:solidFill>
              <a:srgbClr val="2FB463"/>
            </a:solid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46" name="Rounded Rectangle 17545">
            <a:extLst>
              <a:ext uri="{FF2B5EF4-FFF2-40B4-BE49-F238E27FC236}">
                <a16:creationId xmlns:a16="http://schemas.microsoft.com/office/drawing/2014/main" id="{590CC0DF-B9F2-AA20-BCB9-6BEC6D9C1EAC}"/>
              </a:ext>
            </a:extLst>
          </p:cNvPr>
          <p:cNvSpPr/>
          <p:nvPr/>
        </p:nvSpPr>
        <p:spPr>
          <a:xfrm>
            <a:off x="8321040" y="4912940"/>
            <a:ext cx="3593592" cy="657061"/>
          </a:xfrm>
          <a:prstGeom prst="roundRect">
            <a:avLst>
              <a:gd name="adj" fmla="val 10000"/>
            </a:avLst>
          </a:prstGeom>
          <a:solidFill>
            <a:srgbClr val="FFFFFF"/>
          </a:solidFill>
          <a:ln w="19050">
            <a:solidFill>
              <a:srgbClr val="2FB463"/>
            </a:solid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47" name="Rounded Rectangle 17546">
            <a:extLst>
              <a:ext uri="{FF2B5EF4-FFF2-40B4-BE49-F238E27FC236}">
                <a16:creationId xmlns:a16="http://schemas.microsoft.com/office/drawing/2014/main" id="{10A6C839-D905-3B4E-7B6F-F9BCA8083CE4}"/>
              </a:ext>
            </a:extLst>
          </p:cNvPr>
          <p:cNvSpPr/>
          <p:nvPr/>
        </p:nvSpPr>
        <p:spPr>
          <a:xfrm>
            <a:off x="8321040" y="5606578"/>
            <a:ext cx="3593592" cy="657061"/>
          </a:xfrm>
          <a:prstGeom prst="roundRect">
            <a:avLst>
              <a:gd name="adj" fmla="val 10000"/>
            </a:avLst>
          </a:prstGeom>
          <a:solidFill>
            <a:srgbClr val="FFFFFF"/>
          </a:solidFill>
          <a:ln w="19050">
            <a:solidFill>
              <a:srgbClr val="2FB463"/>
            </a:solidFill>
          </a:ln>
          <a:effectLst>
            <a:outerShdw blurRad="63500" dist="25400" dir="5400000" algn="t" rotWithShape="0">
              <a:srgbClr val="0B2545">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48" name="Oval 17547">
            <a:extLst>
              <a:ext uri="{FF2B5EF4-FFF2-40B4-BE49-F238E27FC236}">
                <a16:creationId xmlns:a16="http://schemas.microsoft.com/office/drawing/2014/main" id="{F783636D-40FD-7495-A739-1703CE19F61A}"/>
              </a:ext>
            </a:extLst>
          </p:cNvPr>
          <p:cNvSpPr/>
          <p:nvPr/>
        </p:nvSpPr>
        <p:spPr>
          <a:xfrm>
            <a:off x="8385048" y="1508760"/>
            <a:ext cx="237744" cy="237744"/>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Aft>
                <a:spcPts val="0"/>
              </a:spcAft>
            </a:pPr>
            <a:r>
              <a:rPr sz="950" b="1">
                <a:solidFill>
                  <a:srgbClr val="FFFFFF"/>
                </a:solidFill>
                <a:latin typeface="Arial"/>
              </a:rPr>
              <a:t>1</a:t>
            </a:r>
          </a:p>
        </p:txBody>
      </p:sp>
      <p:sp>
        <p:nvSpPr>
          <p:cNvPr id="17549" name="Oval 17548">
            <a:extLst>
              <a:ext uri="{FF2B5EF4-FFF2-40B4-BE49-F238E27FC236}">
                <a16:creationId xmlns:a16="http://schemas.microsoft.com/office/drawing/2014/main" id="{654760E3-1F9A-3E20-4EB5-4C451F92596D}"/>
              </a:ext>
            </a:extLst>
          </p:cNvPr>
          <p:cNvSpPr/>
          <p:nvPr/>
        </p:nvSpPr>
        <p:spPr>
          <a:xfrm>
            <a:off x="8385048" y="2202397"/>
            <a:ext cx="237744" cy="237744"/>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Aft>
                <a:spcPts val="0"/>
              </a:spcAft>
            </a:pPr>
            <a:r>
              <a:rPr sz="950" b="1">
                <a:solidFill>
                  <a:srgbClr val="FFFFFF"/>
                </a:solidFill>
                <a:latin typeface="Arial"/>
              </a:rPr>
              <a:t>2</a:t>
            </a:r>
          </a:p>
        </p:txBody>
      </p:sp>
      <p:sp>
        <p:nvSpPr>
          <p:cNvPr id="17550" name="Oval 17549">
            <a:extLst>
              <a:ext uri="{FF2B5EF4-FFF2-40B4-BE49-F238E27FC236}">
                <a16:creationId xmlns:a16="http://schemas.microsoft.com/office/drawing/2014/main" id="{93FB9EDC-2B48-CA7A-B52B-51BB069C7996}"/>
              </a:ext>
            </a:extLst>
          </p:cNvPr>
          <p:cNvSpPr/>
          <p:nvPr/>
        </p:nvSpPr>
        <p:spPr>
          <a:xfrm>
            <a:off x="8385048" y="2896035"/>
            <a:ext cx="237744" cy="237744"/>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Aft>
                <a:spcPts val="0"/>
              </a:spcAft>
            </a:pPr>
            <a:r>
              <a:rPr sz="950" b="1">
                <a:solidFill>
                  <a:srgbClr val="FFFFFF"/>
                </a:solidFill>
                <a:latin typeface="Arial"/>
              </a:rPr>
              <a:t>3</a:t>
            </a:r>
          </a:p>
        </p:txBody>
      </p:sp>
      <p:sp>
        <p:nvSpPr>
          <p:cNvPr id="17551" name="Oval 17550">
            <a:extLst>
              <a:ext uri="{FF2B5EF4-FFF2-40B4-BE49-F238E27FC236}">
                <a16:creationId xmlns:a16="http://schemas.microsoft.com/office/drawing/2014/main" id="{B237CC86-8984-19E7-1885-1E0909BB08F0}"/>
              </a:ext>
            </a:extLst>
          </p:cNvPr>
          <p:cNvSpPr/>
          <p:nvPr/>
        </p:nvSpPr>
        <p:spPr>
          <a:xfrm>
            <a:off x="8385048" y="3589673"/>
            <a:ext cx="237744" cy="237744"/>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Aft>
                <a:spcPts val="0"/>
              </a:spcAft>
            </a:pPr>
            <a:r>
              <a:rPr sz="950" b="1">
                <a:solidFill>
                  <a:srgbClr val="FFFFFF"/>
                </a:solidFill>
                <a:latin typeface="Arial"/>
              </a:rPr>
              <a:t>4</a:t>
            </a:r>
          </a:p>
        </p:txBody>
      </p:sp>
      <p:sp>
        <p:nvSpPr>
          <p:cNvPr id="17552" name="Oval 17551">
            <a:extLst>
              <a:ext uri="{FF2B5EF4-FFF2-40B4-BE49-F238E27FC236}">
                <a16:creationId xmlns:a16="http://schemas.microsoft.com/office/drawing/2014/main" id="{40F05864-D535-6C2D-9E7C-F3EB27E311D7}"/>
              </a:ext>
            </a:extLst>
          </p:cNvPr>
          <p:cNvSpPr/>
          <p:nvPr/>
        </p:nvSpPr>
        <p:spPr>
          <a:xfrm>
            <a:off x="8385048" y="4283310"/>
            <a:ext cx="237744" cy="237744"/>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Aft>
                <a:spcPts val="0"/>
              </a:spcAft>
            </a:pPr>
            <a:r>
              <a:rPr sz="950" b="1">
                <a:solidFill>
                  <a:srgbClr val="FFFFFF"/>
                </a:solidFill>
                <a:latin typeface="Arial"/>
              </a:rPr>
              <a:t>5</a:t>
            </a:r>
          </a:p>
        </p:txBody>
      </p:sp>
      <p:sp>
        <p:nvSpPr>
          <p:cNvPr id="17553" name="Oval 17552">
            <a:extLst>
              <a:ext uri="{FF2B5EF4-FFF2-40B4-BE49-F238E27FC236}">
                <a16:creationId xmlns:a16="http://schemas.microsoft.com/office/drawing/2014/main" id="{51C6D2D1-4CA3-260D-3423-E7CA4AC589DD}"/>
              </a:ext>
            </a:extLst>
          </p:cNvPr>
          <p:cNvSpPr/>
          <p:nvPr/>
        </p:nvSpPr>
        <p:spPr>
          <a:xfrm>
            <a:off x="8385048" y="4976948"/>
            <a:ext cx="237744" cy="237744"/>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Aft>
                <a:spcPts val="0"/>
              </a:spcAft>
            </a:pPr>
            <a:r>
              <a:rPr sz="950" b="1">
                <a:solidFill>
                  <a:srgbClr val="FFFFFF"/>
                </a:solidFill>
                <a:latin typeface="Arial"/>
              </a:rPr>
              <a:t>6</a:t>
            </a:r>
          </a:p>
        </p:txBody>
      </p:sp>
      <p:sp>
        <p:nvSpPr>
          <p:cNvPr id="17554" name="Oval 17553">
            <a:extLst>
              <a:ext uri="{FF2B5EF4-FFF2-40B4-BE49-F238E27FC236}">
                <a16:creationId xmlns:a16="http://schemas.microsoft.com/office/drawing/2014/main" id="{34BD0207-35F6-E973-A551-5586DD72A9F3}"/>
              </a:ext>
            </a:extLst>
          </p:cNvPr>
          <p:cNvSpPr/>
          <p:nvPr/>
        </p:nvSpPr>
        <p:spPr>
          <a:xfrm>
            <a:off x="8385048" y="5670586"/>
            <a:ext cx="237744" cy="237744"/>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Aft>
                <a:spcPts val="0"/>
              </a:spcAft>
            </a:pPr>
            <a:r>
              <a:rPr sz="950" b="1">
                <a:solidFill>
                  <a:srgbClr val="FFFFFF"/>
                </a:solidFill>
                <a:latin typeface="Arial"/>
              </a:rPr>
              <a:t>7</a:t>
            </a:r>
          </a:p>
        </p:txBody>
      </p:sp>
      <p:pic>
        <p:nvPicPr>
          <p:cNvPr id="17555" name="Picture 17554" descr="is7_1.png">
            <a:extLst>
              <a:ext uri="{FF2B5EF4-FFF2-40B4-BE49-F238E27FC236}">
                <a16:creationId xmlns:a16="http://schemas.microsoft.com/office/drawing/2014/main" id="{F27240F6-79B8-36CC-DF82-4509EA85EB6B}"/>
              </a:ext>
            </a:extLst>
          </p:cNvPr>
          <p:cNvPicPr>
            <a:picLocks noChangeAspect="1"/>
          </p:cNvPicPr>
          <p:nvPr/>
        </p:nvPicPr>
        <p:blipFill>
          <a:blip r:embed="rId18"/>
          <a:stretch>
            <a:fillRect/>
          </a:stretch>
        </p:blipFill>
        <p:spPr>
          <a:xfrm>
            <a:off x="8375904" y="1810512"/>
            <a:ext cx="256032" cy="256032"/>
          </a:xfrm>
          <a:prstGeom prst="rect">
            <a:avLst/>
          </a:prstGeom>
        </p:spPr>
      </p:pic>
      <p:pic>
        <p:nvPicPr>
          <p:cNvPr id="17556" name="Picture 17555" descr="is7_2.png">
            <a:extLst>
              <a:ext uri="{FF2B5EF4-FFF2-40B4-BE49-F238E27FC236}">
                <a16:creationId xmlns:a16="http://schemas.microsoft.com/office/drawing/2014/main" id="{86D5F4DA-759E-22C4-9423-C01CF7AA91AF}"/>
              </a:ext>
            </a:extLst>
          </p:cNvPr>
          <p:cNvPicPr>
            <a:picLocks noChangeAspect="1"/>
          </p:cNvPicPr>
          <p:nvPr/>
        </p:nvPicPr>
        <p:blipFill>
          <a:blip r:embed="rId19"/>
          <a:stretch>
            <a:fillRect/>
          </a:stretch>
        </p:blipFill>
        <p:spPr>
          <a:xfrm>
            <a:off x="8375904" y="2504149"/>
            <a:ext cx="256032" cy="256032"/>
          </a:xfrm>
          <a:prstGeom prst="rect">
            <a:avLst/>
          </a:prstGeom>
        </p:spPr>
      </p:pic>
      <p:pic>
        <p:nvPicPr>
          <p:cNvPr id="17557" name="Picture 17556" descr="is7_3.png">
            <a:extLst>
              <a:ext uri="{FF2B5EF4-FFF2-40B4-BE49-F238E27FC236}">
                <a16:creationId xmlns:a16="http://schemas.microsoft.com/office/drawing/2014/main" id="{FF0D3F69-21AC-D8ED-DEBF-CCEBFC0B3ABF}"/>
              </a:ext>
            </a:extLst>
          </p:cNvPr>
          <p:cNvPicPr>
            <a:picLocks noChangeAspect="1"/>
          </p:cNvPicPr>
          <p:nvPr/>
        </p:nvPicPr>
        <p:blipFill>
          <a:blip r:embed="rId20"/>
          <a:stretch>
            <a:fillRect/>
          </a:stretch>
        </p:blipFill>
        <p:spPr>
          <a:xfrm>
            <a:off x="8375904" y="3197787"/>
            <a:ext cx="256032" cy="256032"/>
          </a:xfrm>
          <a:prstGeom prst="rect">
            <a:avLst/>
          </a:prstGeom>
        </p:spPr>
      </p:pic>
      <p:pic>
        <p:nvPicPr>
          <p:cNvPr id="17558" name="Picture 17557" descr="is7_4.png">
            <a:extLst>
              <a:ext uri="{FF2B5EF4-FFF2-40B4-BE49-F238E27FC236}">
                <a16:creationId xmlns:a16="http://schemas.microsoft.com/office/drawing/2014/main" id="{29C584BD-6C40-EACB-1064-F005CF58D6A0}"/>
              </a:ext>
            </a:extLst>
          </p:cNvPr>
          <p:cNvPicPr>
            <a:picLocks noChangeAspect="1"/>
          </p:cNvPicPr>
          <p:nvPr/>
        </p:nvPicPr>
        <p:blipFill>
          <a:blip r:embed="rId21"/>
          <a:stretch>
            <a:fillRect/>
          </a:stretch>
        </p:blipFill>
        <p:spPr>
          <a:xfrm>
            <a:off x="8375904" y="3891425"/>
            <a:ext cx="256032" cy="256032"/>
          </a:xfrm>
          <a:prstGeom prst="rect">
            <a:avLst/>
          </a:prstGeom>
        </p:spPr>
      </p:pic>
      <p:pic>
        <p:nvPicPr>
          <p:cNvPr id="17559" name="Picture 17558" descr="is7_5.png">
            <a:extLst>
              <a:ext uri="{FF2B5EF4-FFF2-40B4-BE49-F238E27FC236}">
                <a16:creationId xmlns:a16="http://schemas.microsoft.com/office/drawing/2014/main" id="{C7EA01A8-66EC-D7F1-4FBB-4D9E56F108A9}"/>
              </a:ext>
            </a:extLst>
          </p:cNvPr>
          <p:cNvPicPr>
            <a:picLocks noChangeAspect="1"/>
          </p:cNvPicPr>
          <p:nvPr/>
        </p:nvPicPr>
        <p:blipFill>
          <a:blip r:embed="rId22"/>
          <a:stretch>
            <a:fillRect/>
          </a:stretch>
        </p:blipFill>
        <p:spPr>
          <a:xfrm>
            <a:off x="8375904" y="4585062"/>
            <a:ext cx="256032" cy="256032"/>
          </a:xfrm>
          <a:prstGeom prst="rect">
            <a:avLst/>
          </a:prstGeom>
        </p:spPr>
      </p:pic>
      <p:pic>
        <p:nvPicPr>
          <p:cNvPr id="17560" name="Picture 17559" descr="is7_6.png">
            <a:extLst>
              <a:ext uri="{FF2B5EF4-FFF2-40B4-BE49-F238E27FC236}">
                <a16:creationId xmlns:a16="http://schemas.microsoft.com/office/drawing/2014/main" id="{C2CC5D7A-8C52-DBA5-AF3B-9899F5DC4AFC}"/>
              </a:ext>
            </a:extLst>
          </p:cNvPr>
          <p:cNvPicPr>
            <a:picLocks noChangeAspect="1"/>
          </p:cNvPicPr>
          <p:nvPr/>
        </p:nvPicPr>
        <p:blipFill>
          <a:blip r:embed="rId23"/>
          <a:stretch>
            <a:fillRect/>
          </a:stretch>
        </p:blipFill>
        <p:spPr>
          <a:xfrm>
            <a:off x="8375904" y="5278700"/>
            <a:ext cx="256032" cy="256032"/>
          </a:xfrm>
          <a:prstGeom prst="rect">
            <a:avLst/>
          </a:prstGeom>
        </p:spPr>
      </p:pic>
      <p:pic>
        <p:nvPicPr>
          <p:cNvPr id="17561" name="Picture 17560" descr="is7_7.png">
            <a:extLst>
              <a:ext uri="{FF2B5EF4-FFF2-40B4-BE49-F238E27FC236}">
                <a16:creationId xmlns:a16="http://schemas.microsoft.com/office/drawing/2014/main" id="{0503EDE6-B67C-0EB5-B6AE-EE28524D3F65}"/>
              </a:ext>
            </a:extLst>
          </p:cNvPr>
          <p:cNvPicPr>
            <a:picLocks noChangeAspect="1"/>
          </p:cNvPicPr>
          <p:nvPr/>
        </p:nvPicPr>
        <p:blipFill>
          <a:blip r:embed="rId24"/>
          <a:stretch>
            <a:fillRect/>
          </a:stretch>
        </p:blipFill>
        <p:spPr>
          <a:xfrm>
            <a:off x="8375904" y="5972338"/>
            <a:ext cx="256032" cy="256032"/>
          </a:xfrm>
          <a:prstGeom prst="rect">
            <a:avLst/>
          </a:prstGeom>
        </p:spPr>
      </p:pic>
      <p:sp>
        <p:nvSpPr>
          <p:cNvPr id="17562" name="TextBox 17561">
            <a:extLst>
              <a:ext uri="{FF2B5EF4-FFF2-40B4-BE49-F238E27FC236}">
                <a16:creationId xmlns:a16="http://schemas.microsoft.com/office/drawing/2014/main" id="{4DB69547-E5AE-F1B9-589D-D6A4C0822A67}"/>
              </a:ext>
            </a:extLst>
          </p:cNvPr>
          <p:cNvSpPr txBox="1"/>
          <p:nvPr/>
        </p:nvSpPr>
        <p:spPr>
          <a:xfrm>
            <a:off x="8705088" y="1463040"/>
            <a:ext cx="3172968" cy="219456"/>
          </a:xfrm>
          <a:prstGeom prst="rect">
            <a:avLst/>
          </a:prstGeom>
          <a:noFill/>
        </p:spPr>
        <p:txBody>
          <a:bodyPr wrap="square" lIns="27432" tIns="0" rIns="27432" bIns="0" anchor="t">
            <a:spAutoFit/>
          </a:bodyPr>
          <a:lstStyle/>
          <a:p>
            <a:pPr algn="l">
              <a:lnSpc>
                <a:spcPct val="100000"/>
              </a:lnSpc>
              <a:spcAft>
                <a:spcPts val="0"/>
              </a:spcAft>
            </a:pPr>
            <a:r>
              <a:rPr sz="1050" b="1">
                <a:solidFill>
                  <a:srgbClr val="0B2545"/>
                </a:solidFill>
                <a:latin typeface="Arial"/>
              </a:rPr>
              <a:t>Faithful Reader</a:t>
            </a:r>
          </a:p>
        </p:txBody>
      </p:sp>
      <p:sp>
        <p:nvSpPr>
          <p:cNvPr id="17563" name="TextBox 17562">
            <a:extLst>
              <a:ext uri="{FF2B5EF4-FFF2-40B4-BE49-F238E27FC236}">
                <a16:creationId xmlns:a16="http://schemas.microsoft.com/office/drawing/2014/main" id="{4746D308-7516-68FB-EE25-DC6C0CBFE682}"/>
              </a:ext>
            </a:extLst>
          </p:cNvPr>
          <p:cNvSpPr txBox="1"/>
          <p:nvPr/>
        </p:nvSpPr>
        <p:spPr>
          <a:xfrm>
            <a:off x="8705088" y="1673352"/>
            <a:ext cx="3172968" cy="273921"/>
          </a:xfrm>
          <a:prstGeom prst="rect">
            <a:avLst/>
          </a:prstGeom>
          <a:noFill/>
        </p:spPr>
        <p:txBody>
          <a:bodyPr wrap="square" lIns="27432" tIns="0" rIns="27432" bIns="0" anchor="t">
            <a:spAutoFit/>
          </a:bodyPr>
          <a:lstStyle/>
          <a:p>
            <a:pPr algn="just">
              <a:lnSpc>
                <a:spcPct val="100000"/>
              </a:lnSpc>
              <a:spcAft>
                <a:spcPts val="0"/>
              </a:spcAft>
            </a:pPr>
            <a:r>
              <a:rPr sz="850" b="0">
                <a:solidFill>
                  <a:srgbClr val="222222"/>
                </a:solidFill>
                <a:latin typeface="Arial"/>
              </a:rPr>
              <a:t>Geometry rules, a DP title splitter and the γ ≤ 0.42 OCR test keep messy PDFs, logos and picture slides correct; 98–100% of facts kept.</a:t>
            </a:r>
          </a:p>
        </p:txBody>
      </p:sp>
      <p:sp>
        <p:nvSpPr>
          <p:cNvPr id="17564" name="Rounded Rectangle 17563">
            <a:extLst>
              <a:ext uri="{FF2B5EF4-FFF2-40B4-BE49-F238E27FC236}">
                <a16:creationId xmlns:a16="http://schemas.microsoft.com/office/drawing/2014/main" id="{918B0078-57C3-77F2-5042-0AFAFE6A3AA9}"/>
              </a:ext>
            </a:extLst>
          </p:cNvPr>
          <p:cNvSpPr/>
          <p:nvPr/>
        </p:nvSpPr>
        <p:spPr>
          <a:xfrm>
            <a:off x="10747857" y="1490472"/>
            <a:ext cx="1102766" cy="173736"/>
          </a:xfrm>
          <a:prstGeom prst="roundRect">
            <a:avLst>
              <a:gd name="adj" fmla="val 50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Aft>
                <a:spcPts val="0"/>
              </a:spcAft>
            </a:pPr>
            <a:r>
              <a:rPr sz="750" b="1">
                <a:solidFill>
                  <a:srgbClr val="FFFFFF"/>
                </a:solidFill>
                <a:latin typeface="Arial"/>
              </a:rPr>
              <a:t>vs Messy PDFs</a:t>
            </a:r>
          </a:p>
        </p:txBody>
      </p:sp>
      <p:sp>
        <p:nvSpPr>
          <p:cNvPr id="17565" name="Rounded Rectangle 17564">
            <a:extLst>
              <a:ext uri="{FF2B5EF4-FFF2-40B4-BE49-F238E27FC236}">
                <a16:creationId xmlns:a16="http://schemas.microsoft.com/office/drawing/2014/main" id="{FD778CFC-669A-F070-C050-6F9DCE79E6B1}"/>
              </a:ext>
            </a:extLst>
          </p:cNvPr>
          <p:cNvSpPr/>
          <p:nvPr/>
        </p:nvSpPr>
        <p:spPr>
          <a:xfrm>
            <a:off x="11013033" y="2184109"/>
            <a:ext cx="837590" cy="173736"/>
          </a:xfrm>
          <a:prstGeom prst="roundRect">
            <a:avLst>
              <a:gd name="adj" fmla="val 50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Aft>
                <a:spcPts val="0"/>
              </a:spcAft>
            </a:pPr>
            <a:r>
              <a:rPr sz="750" b="1">
                <a:solidFill>
                  <a:srgbClr val="FFFFFF"/>
                </a:solidFill>
                <a:latin typeface="Arial"/>
              </a:rPr>
              <a:t>vs Hallucination</a:t>
            </a:r>
          </a:p>
        </p:txBody>
      </p:sp>
      <p:sp>
        <p:nvSpPr>
          <p:cNvPr id="17566" name="Rounded Rectangle 17565">
            <a:extLst>
              <a:ext uri="{FF2B5EF4-FFF2-40B4-BE49-F238E27FC236}">
                <a16:creationId xmlns:a16="http://schemas.microsoft.com/office/drawing/2014/main" id="{30F0840A-5782-5B2D-FF54-0FA04B8D5D22}"/>
              </a:ext>
            </a:extLst>
          </p:cNvPr>
          <p:cNvSpPr/>
          <p:nvPr/>
        </p:nvSpPr>
        <p:spPr>
          <a:xfrm>
            <a:off x="10747857" y="2877747"/>
            <a:ext cx="1102766" cy="173736"/>
          </a:xfrm>
          <a:prstGeom prst="roundRect">
            <a:avLst>
              <a:gd name="adj" fmla="val 50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Aft>
                <a:spcPts val="0"/>
              </a:spcAft>
            </a:pPr>
            <a:r>
              <a:rPr sz="750" b="1">
                <a:solidFill>
                  <a:srgbClr val="FFFFFF"/>
                </a:solidFill>
                <a:latin typeface="Arial"/>
              </a:rPr>
              <a:t>vs Quota / cost</a:t>
            </a:r>
          </a:p>
        </p:txBody>
      </p:sp>
      <p:sp>
        <p:nvSpPr>
          <p:cNvPr id="17567" name="Rounded Rectangle 17566">
            <a:extLst>
              <a:ext uri="{FF2B5EF4-FFF2-40B4-BE49-F238E27FC236}">
                <a16:creationId xmlns:a16="http://schemas.microsoft.com/office/drawing/2014/main" id="{231AAE79-4A05-00A1-189C-8A9EFFB05177}"/>
              </a:ext>
            </a:extLst>
          </p:cNvPr>
          <p:cNvSpPr/>
          <p:nvPr/>
        </p:nvSpPr>
        <p:spPr>
          <a:xfrm>
            <a:off x="10535716" y="3571385"/>
            <a:ext cx="1314907" cy="173736"/>
          </a:xfrm>
          <a:prstGeom prst="roundRect">
            <a:avLst>
              <a:gd name="adj" fmla="val 50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Aft>
                <a:spcPts val="0"/>
              </a:spcAft>
            </a:pPr>
            <a:r>
              <a:rPr sz="750" b="1">
                <a:solidFill>
                  <a:srgbClr val="FFFFFF"/>
                </a:solidFill>
                <a:latin typeface="Arial"/>
              </a:rPr>
              <a:t>vs Black-box</a:t>
            </a:r>
          </a:p>
        </p:txBody>
      </p:sp>
      <p:sp>
        <p:nvSpPr>
          <p:cNvPr id="17568" name="Rounded Rectangle 17567">
            <a:extLst>
              <a:ext uri="{FF2B5EF4-FFF2-40B4-BE49-F238E27FC236}">
                <a16:creationId xmlns:a16="http://schemas.microsoft.com/office/drawing/2014/main" id="{88ACB0CA-2CD2-0DBE-E033-83B8707303AA}"/>
              </a:ext>
            </a:extLst>
          </p:cNvPr>
          <p:cNvSpPr/>
          <p:nvPr/>
        </p:nvSpPr>
        <p:spPr>
          <a:xfrm>
            <a:off x="10800892" y="4265022"/>
            <a:ext cx="1049731" cy="173736"/>
          </a:xfrm>
          <a:prstGeom prst="roundRect">
            <a:avLst>
              <a:gd name="adj" fmla="val 50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Aft>
                <a:spcPts val="0"/>
              </a:spcAft>
            </a:pPr>
            <a:r>
              <a:rPr sz="750" b="1">
                <a:solidFill>
                  <a:srgbClr val="FFFFFF"/>
                </a:solidFill>
                <a:latin typeface="Arial"/>
              </a:rPr>
              <a:t>vs Broken layout</a:t>
            </a:r>
          </a:p>
        </p:txBody>
      </p:sp>
      <p:sp>
        <p:nvSpPr>
          <p:cNvPr id="17569" name="Rounded Rectangle 17568">
            <a:extLst>
              <a:ext uri="{FF2B5EF4-FFF2-40B4-BE49-F238E27FC236}">
                <a16:creationId xmlns:a16="http://schemas.microsoft.com/office/drawing/2014/main" id="{E0D66606-2179-B9B7-4501-6DAF2B59188A}"/>
              </a:ext>
            </a:extLst>
          </p:cNvPr>
          <p:cNvSpPr/>
          <p:nvPr/>
        </p:nvSpPr>
        <p:spPr>
          <a:xfrm>
            <a:off x="11013033" y="4958660"/>
            <a:ext cx="837590" cy="173736"/>
          </a:xfrm>
          <a:prstGeom prst="roundRect">
            <a:avLst>
              <a:gd name="adj" fmla="val 50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Aft>
                <a:spcPts val="0"/>
              </a:spcAft>
            </a:pPr>
            <a:r>
              <a:rPr sz="750" b="1">
                <a:solidFill>
                  <a:srgbClr val="FFFFFF"/>
                </a:solidFill>
                <a:latin typeface="Arial"/>
              </a:rPr>
              <a:t>vs Slow decks</a:t>
            </a:r>
          </a:p>
        </p:txBody>
      </p:sp>
      <p:sp>
        <p:nvSpPr>
          <p:cNvPr id="17570" name="Rounded Rectangle 17569">
            <a:extLst>
              <a:ext uri="{FF2B5EF4-FFF2-40B4-BE49-F238E27FC236}">
                <a16:creationId xmlns:a16="http://schemas.microsoft.com/office/drawing/2014/main" id="{00914F72-A95A-81A2-E2A7-64C6E55FA33B}"/>
              </a:ext>
            </a:extLst>
          </p:cNvPr>
          <p:cNvSpPr/>
          <p:nvPr/>
        </p:nvSpPr>
        <p:spPr>
          <a:xfrm>
            <a:off x="10800892" y="5652298"/>
            <a:ext cx="1049731" cy="173736"/>
          </a:xfrm>
          <a:prstGeom prst="roundRect">
            <a:avLst>
              <a:gd name="adj" fmla="val 50000"/>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100000"/>
              </a:lnSpc>
              <a:spcAft>
                <a:spcPts val="0"/>
              </a:spcAft>
            </a:pPr>
            <a:r>
              <a:rPr sz="750" b="1">
                <a:solidFill>
                  <a:srgbClr val="FFFFFF"/>
                </a:solidFill>
                <a:latin typeface="Arial"/>
              </a:rPr>
              <a:t>vs Unsafe code</a:t>
            </a:r>
          </a:p>
        </p:txBody>
      </p:sp>
      <p:sp>
        <p:nvSpPr>
          <p:cNvPr id="17571" name="TextBox 17570">
            <a:extLst>
              <a:ext uri="{FF2B5EF4-FFF2-40B4-BE49-F238E27FC236}">
                <a16:creationId xmlns:a16="http://schemas.microsoft.com/office/drawing/2014/main" id="{DA2F42C6-F3C8-9CBE-4F44-B16D808E1CC8}"/>
              </a:ext>
            </a:extLst>
          </p:cNvPr>
          <p:cNvSpPr txBox="1"/>
          <p:nvPr/>
        </p:nvSpPr>
        <p:spPr>
          <a:xfrm>
            <a:off x="8705088" y="2156677"/>
            <a:ext cx="3172968" cy="219456"/>
          </a:xfrm>
          <a:prstGeom prst="rect">
            <a:avLst/>
          </a:prstGeom>
          <a:noFill/>
        </p:spPr>
        <p:txBody>
          <a:bodyPr wrap="square" lIns="27432" tIns="0" rIns="27432" bIns="0" anchor="t">
            <a:spAutoFit/>
          </a:bodyPr>
          <a:lstStyle/>
          <a:p>
            <a:pPr algn="l">
              <a:lnSpc>
                <a:spcPct val="100000"/>
              </a:lnSpc>
              <a:spcAft>
                <a:spcPts val="0"/>
              </a:spcAft>
            </a:pPr>
            <a:r>
              <a:rPr sz="1050" b="1">
                <a:solidFill>
                  <a:srgbClr val="0B2545"/>
                </a:solidFill>
                <a:latin typeface="Arial"/>
              </a:rPr>
              <a:t>Grounded AI</a:t>
            </a:r>
          </a:p>
        </p:txBody>
      </p:sp>
      <p:sp>
        <p:nvSpPr>
          <p:cNvPr id="17572" name="TextBox 17571">
            <a:extLst>
              <a:ext uri="{FF2B5EF4-FFF2-40B4-BE49-F238E27FC236}">
                <a16:creationId xmlns:a16="http://schemas.microsoft.com/office/drawing/2014/main" id="{32779D4E-B0D2-8536-ACAA-C583E1D42586}"/>
              </a:ext>
            </a:extLst>
          </p:cNvPr>
          <p:cNvSpPr txBox="1"/>
          <p:nvPr/>
        </p:nvSpPr>
        <p:spPr>
          <a:xfrm>
            <a:off x="8705088" y="2850315"/>
            <a:ext cx="3172968" cy="219456"/>
          </a:xfrm>
          <a:prstGeom prst="rect">
            <a:avLst/>
          </a:prstGeom>
          <a:noFill/>
        </p:spPr>
        <p:txBody>
          <a:bodyPr wrap="square" lIns="27432" tIns="0" rIns="27432" bIns="0" anchor="t">
            <a:spAutoFit/>
          </a:bodyPr>
          <a:lstStyle/>
          <a:p>
            <a:pPr algn="l">
              <a:lnSpc>
                <a:spcPct val="100000"/>
              </a:lnSpc>
              <a:spcAft>
                <a:spcPts val="0"/>
              </a:spcAft>
            </a:pPr>
            <a:r>
              <a:rPr sz="1050" b="1">
                <a:solidFill>
                  <a:srgbClr val="0B2545"/>
                </a:solidFill>
                <a:latin typeface="Arial"/>
              </a:rPr>
              <a:t>Key Pool + Offline</a:t>
            </a:r>
          </a:p>
        </p:txBody>
      </p:sp>
      <p:sp>
        <p:nvSpPr>
          <p:cNvPr id="17573" name="TextBox 17572">
            <a:extLst>
              <a:ext uri="{FF2B5EF4-FFF2-40B4-BE49-F238E27FC236}">
                <a16:creationId xmlns:a16="http://schemas.microsoft.com/office/drawing/2014/main" id="{7D9FA808-A98C-535B-87EE-046D1AD56DA3}"/>
              </a:ext>
            </a:extLst>
          </p:cNvPr>
          <p:cNvSpPr txBox="1"/>
          <p:nvPr/>
        </p:nvSpPr>
        <p:spPr>
          <a:xfrm>
            <a:off x="8705088" y="3543953"/>
            <a:ext cx="3172968" cy="219456"/>
          </a:xfrm>
          <a:prstGeom prst="rect">
            <a:avLst/>
          </a:prstGeom>
          <a:noFill/>
        </p:spPr>
        <p:txBody>
          <a:bodyPr wrap="square" lIns="27432" tIns="0" rIns="27432" bIns="0" anchor="t">
            <a:spAutoFit/>
          </a:bodyPr>
          <a:lstStyle/>
          <a:p>
            <a:pPr algn="l">
              <a:lnSpc>
                <a:spcPct val="100000"/>
              </a:lnSpc>
              <a:spcAft>
                <a:spcPts val="0"/>
              </a:spcAft>
            </a:pPr>
            <a:r>
              <a:rPr sz="1050" b="1">
                <a:solidFill>
                  <a:srgbClr val="0B2545"/>
                </a:solidFill>
                <a:latin typeface="Arial"/>
              </a:rPr>
              <a:t>Glass-box Decisions</a:t>
            </a:r>
          </a:p>
        </p:txBody>
      </p:sp>
      <p:sp>
        <p:nvSpPr>
          <p:cNvPr id="17574" name="TextBox 17573">
            <a:extLst>
              <a:ext uri="{FF2B5EF4-FFF2-40B4-BE49-F238E27FC236}">
                <a16:creationId xmlns:a16="http://schemas.microsoft.com/office/drawing/2014/main" id="{640CC758-C3FA-1390-C5C3-97D5BAA3C8C0}"/>
              </a:ext>
            </a:extLst>
          </p:cNvPr>
          <p:cNvSpPr txBox="1"/>
          <p:nvPr/>
        </p:nvSpPr>
        <p:spPr>
          <a:xfrm>
            <a:off x="8705088" y="4237590"/>
            <a:ext cx="3172968" cy="219456"/>
          </a:xfrm>
          <a:prstGeom prst="rect">
            <a:avLst/>
          </a:prstGeom>
          <a:noFill/>
        </p:spPr>
        <p:txBody>
          <a:bodyPr wrap="square" lIns="27432" tIns="0" rIns="27432" bIns="0" anchor="t">
            <a:spAutoFit/>
          </a:bodyPr>
          <a:lstStyle/>
          <a:p>
            <a:pPr algn="l">
              <a:lnSpc>
                <a:spcPct val="100000"/>
              </a:lnSpc>
              <a:spcAft>
                <a:spcPts val="0"/>
              </a:spcAft>
            </a:pPr>
            <a:r>
              <a:rPr sz="1050" b="1">
                <a:solidFill>
                  <a:srgbClr val="0B2545"/>
                </a:solidFill>
                <a:latin typeface="Arial"/>
              </a:rPr>
              <a:t>Measured Layout</a:t>
            </a:r>
          </a:p>
        </p:txBody>
      </p:sp>
      <p:sp>
        <p:nvSpPr>
          <p:cNvPr id="17575" name="TextBox 17574">
            <a:extLst>
              <a:ext uri="{FF2B5EF4-FFF2-40B4-BE49-F238E27FC236}">
                <a16:creationId xmlns:a16="http://schemas.microsoft.com/office/drawing/2014/main" id="{9211EF1B-7110-46E1-934D-9B6D1A8F0402}"/>
              </a:ext>
            </a:extLst>
          </p:cNvPr>
          <p:cNvSpPr txBox="1"/>
          <p:nvPr/>
        </p:nvSpPr>
        <p:spPr>
          <a:xfrm>
            <a:off x="8705088" y="4931228"/>
            <a:ext cx="3172968" cy="219456"/>
          </a:xfrm>
          <a:prstGeom prst="rect">
            <a:avLst/>
          </a:prstGeom>
          <a:noFill/>
        </p:spPr>
        <p:txBody>
          <a:bodyPr wrap="square" lIns="27432" tIns="0" rIns="27432" bIns="0" anchor="t">
            <a:spAutoFit/>
          </a:bodyPr>
          <a:lstStyle/>
          <a:p>
            <a:pPr algn="l">
              <a:lnSpc>
                <a:spcPct val="100000"/>
              </a:lnSpc>
              <a:spcAft>
                <a:spcPts val="0"/>
              </a:spcAft>
            </a:pPr>
            <a:r>
              <a:rPr sz="1050" b="1">
                <a:solidFill>
                  <a:srgbClr val="0B2545"/>
                </a:solidFill>
                <a:latin typeface="Arial"/>
              </a:rPr>
              <a:t>Fast by Design</a:t>
            </a:r>
          </a:p>
        </p:txBody>
      </p:sp>
      <p:sp>
        <p:nvSpPr>
          <p:cNvPr id="17576" name="TextBox 17575">
            <a:extLst>
              <a:ext uri="{FF2B5EF4-FFF2-40B4-BE49-F238E27FC236}">
                <a16:creationId xmlns:a16="http://schemas.microsoft.com/office/drawing/2014/main" id="{E9D16BF9-0226-1AEE-5391-35980DC6DE89}"/>
              </a:ext>
            </a:extLst>
          </p:cNvPr>
          <p:cNvSpPr txBox="1"/>
          <p:nvPr/>
        </p:nvSpPr>
        <p:spPr>
          <a:xfrm>
            <a:off x="8705088" y="5624866"/>
            <a:ext cx="3172968" cy="219456"/>
          </a:xfrm>
          <a:prstGeom prst="rect">
            <a:avLst/>
          </a:prstGeom>
          <a:noFill/>
        </p:spPr>
        <p:txBody>
          <a:bodyPr wrap="square" lIns="27432" tIns="0" rIns="27432" bIns="0" anchor="t">
            <a:spAutoFit/>
          </a:bodyPr>
          <a:lstStyle/>
          <a:p>
            <a:pPr algn="l">
              <a:lnSpc>
                <a:spcPct val="100000"/>
              </a:lnSpc>
              <a:spcAft>
                <a:spcPts val="0"/>
              </a:spcAft>
            </a:pPr>
            <a:r>
              <a:rPr sz="1050" b="1">
                <a:solidFill>
                  <a:srgbClr val="0B2545"/>
                </a:solidFill>
                <a:latin typeface="Arial"/>
              </a:rPr>
              <a:t>Safe Generated Code</a:t>
            </a:r>
          </a:p>
        </p:txBody>
      </p:sp>
      <p:sp>
        <p:nvSpPr>
          <p:cNvPr id="17577" name="TextBox 17576">
            <a:extLst>
              <a:ext uri="{FF2B5EF4-FFF2-40B4-BE49-F238E27FC236}">
                <a16:creationId xmlns:a16="http://schemas.microsoft.com/office/drawing/2014/main" id="{F6247FFD-7646-8DDF-4432-E2F4660DEA5C}"/>
              </a:ext>
            </a:extLst>
          </p:cNvPr>
          <p:cNvSpPr txBox="1"/>
          <p:nvPr/>
        </p:nvSpPr>
        <p:spPr>
          <a:xfrm>
            <a:off x="8705088" y="2366989"/>
            <a:ext cx="3172968" cy="273921"/>
          </a:xfrm>
          <a:prstGeom prst="rect">
            <a:avLst/>
          </a:prstGeom>
          <a:noFill/>
        </p:spPr>
        <p:txBody>
          <a:bodyPr wrap="square" lIns="27432" tIns="0" rIns="27432" bIns="0" anchor="t">
            <a:spAutoFit/>
          </a:bodyPr>
          <a:lstStyle/>
          <a:p>
            <a:pPr algn="just">
              <a:lnSpc>
                <a:spcPct val="100000"/>
              </a:lnSpc>
              <a:spcAft>
                <a:spcPts val="0"/>
              </a:spcAft>
            </a:pPr>
            <a:r>
              <a:rPr sz="850" b="0">
                <a:solidFill>
                  <a:srgbClr val="222222"/>
                </a:solidFill>
                <a:latin typeface="Arial"/>
              </a:rPr>
              <a:t>An AI title or explanation is used only if it reuses the slide's own words and fits length rules; every number in a solution comes from SymPy.</a:t>
            </a:r>
          </a:p>
        </p:txBody>
      </p:sp>
      <p:sp>
        <p:nvSpPr>
          <p:cNvPr id="17578" name="TextBox 17577">
            <a:extLst>
              <a:ext uri="{FF2B5EF4-FFF2-40B4-BE49-F238E27FC236}">
                <a16:creationId xmlns:a16="http://schemas.microsoft.com/office/drawing/2014/main" id="{269536B4-CFD0-1120-7EF6-849A8EB33245}"/>
              </a:ext>
            </a:extLst>
          </p:cNvPr>
          <p:cNvSpPr txBox="1"/>
          <p:nvPr/>
        </p:nvSpPr>
        <p:spPr>
          <a:xfrm>
            <a:off x="8705088" y="3060627"/>
            <a:ext cx="3172968" cy="273921"/>
          </a:xfrm>
          <a:prstGeom prst="rect">
            <a:avLst/>
          </a:prstGeom>
          <a:noFill/>
        </p:spPr>
        <p:txBody>
          <a:bodyPr wrap="square" lIns="27432" tIns="0" rIns="27432" bIns="0" anchor="t">
            <a:spAutoFit/>
          </a:bodyPr>
          <a:lstStyle/>
          <a:p>
            <a:pPr algn="just">
              <a:lnSpc>
                <a:spcPct val="100000"/>
              </a:lnSpc>
              <a:spcAft>
                <a:spcPts val="0"/>
              </a:spcAft>
            </a:pPr>
            <a:r>
              <a:rPr sz="850" b="0">
                <a:solidFill>
                  <a:srgbClr val="222222"/>
                </a:solidFill>
                <a:latin typeface="Arial"/>
              </a:rPr>
              <a:t>Offline first: free Gemini and Groq key pools are used only when the rule result is weak; spent keys are skipped; offline rules always finish.</a:t>
            </a:r>
          </a:p>
        </p:txBody>
      </p:sp>
      <p:sp>
        <p:nvSpPr>
          <p:cNvPr id="17579" name="TextBox 17578">
            <a:extLst>
              <a:ext uri="{FF2B5EF4-FFF2-40B4-BE49-F238E27FC236}">
                <a16:creationId xmlns:a16="http://schemas.microsoft.com/office/drawing/2014/main" id="{63EBCED9-F1D4-F726-F223-B3BA75B77547}"/>
              </a:ext>
            </a:extLst>
          </p:cNvPr>
          <p:cNvSpPr txBox="1"/>
          <p:nvPr/>
        </p:nvSpPr>
        <p:spPr>
          <a:xfrm>
            <a:off x="8705088" y="3754265"/>
            <a:ext cx="3172968" cy="273921"/>
          </a:xfrm>
          <a:prstGeom prst="rect">
            <a:avLst/>
          </a:prstGeom>
          <a:noFill/>
        </p:spPr>
        <p:txBody>
          <a:bodyPr wrap="square" lIns="27432" tIns="0" rIns="27432" bIns="0" anchor="t">
            <a:spAutoFit/>
          </a:bodyPr>
          <a:lstStyle/>
          <a:p>
            <a:pPr algn="just">
              <a:lnSpc>
                <a:spcPct val="100000"/>
              </a:lnSpc>
              <a:spcAft>
                <a:spcPts val="0"/>
              </a:spcAft>
            </a:pPr>
            <a:r>
              <a:rPr sz="850" b="0">
                <a:solidFill>
                  <a:srgbClr val="222222"/>
                </a:solidFill>
                <a:latin typeface="Arial"/>
              </a:rPr>
              <a:t>Each visual records the detector that fired, its confidence and the runner-up; the teacher can switch it in the editor in one click.</a:t>
            </a:r>
          </a:p>
        </p:txBody>
      </p:sp>
      <p:sp>
        <p:nvSpPr>
          <p:cNvPr id="17580" name="TextBox 17579">
            <a:extLst>
              <a:ext uri="{FF2B5EF4-FFF2-40B4-BE49-F238E27FC236}">
                <a16:creationId xmlns:a16="http://schemas.microsoft.com/office/drawing/2014/main" id="{4E144BB4-1DCF-B93E-859C-1759A506563D}"/>
              </a:ext>
            </a:extLst>
          </p:cNvPr>
          <p:cNvSpPr txBox="1"/>
          <p:nvPr/>
        </p:nvSpPr>
        <p:spPr>
          <a:xfrm>
            <a:off x="8705088" y="4447902"/>
            <a:ext cx="3172968" cy="273921"/>
          </a:xfrm>
          <a:prstGeom prst="rect">
            <a:avLst/>
          </a:prstGeom>
          <a:noFill/>
        </p:spPr>
        <p:txBody>
          <a:bodyPr wrap="square" lIns="27432" tIns="0" rIns="27432" bIns="0" anchor="t">
            <a:spAutoFit/>
          </a:bodyPr>
          <a:lstStyle/>
          <a:p>
            <a:pPr algn="just">
              <a:lnSpc>
                <a:spcPct val="100000"/>
              </a:lnSpc>
              <a:spcAft>
                <a:spcPts val="0"/>
              </a:spcAft>
            </a:pPr>
            <a:r>
              <a:rPr sz="850" b="0">
                <a:solidFill>
                  <a:srgbClr val="222222"/>
                </a:solidFill>
                <a:latin typeface="Arial"/>
              </a:rPr>
              <a:t>Text is measured glyph by glyph with an 11 pt floor; long sections split by CLASS. Result on 7 decks: 0 overflow, 0 broken words.</a:t>
            </a:r>
          </a:p>
        </p:txBody>
      </p:sp>
      <p:sp>
        <p:nvSpPr>
          <p:cNvPr id="17581" name="TextBox 17580">
            <a:extLst>
              <a:ext uri="{FF2B5EF4-FFF2-40B4-BE49-F238E27FC236}">
                <a16:creationId xmlns:a16="http://schemas.microsoft.com/office/drawing/2014/main" id="{5E5373BC-5BFB-E31A-B48E-FD05D80DCF23}"/>
              </a:ext>
            </a:extLst>
          </p:cNvPr>
          <p:cNvSpPr txBox="1"/>
          <p:nvPr/>
        </p:nvSpPr>
        <p:spPr>
          <a:xfrm>
            <a:off x="8705088" y="5141540"/>
            <a:ext cx="3172968" cy="273921"/>
          </a:xfrm>
          <a:prstGeom prst="rect">
            <a:avLst/>
          </a:prstGeom>
          <a:noFill/>
        </p:spPr>
        <p:txBody>
          <a:bodyPr wrap="square" lIns="27432" tIns="0" rIns="27432" bIns="0" anchor="t">
            <a:spAutoFit/>
          </a:bodyPr>
          <a:lstStyle/>
          <a:p>
            <a:pPr algn="just">
              <a:lnSpc>
                <a:spcPct val="100000"/>
              </a:lnSpc>
              <a:spcAft>
                <a:spcPts val="0"/>
              </a:spcAft>
            </a:pPr>
            <a:r>
              <a:rPr sz="850" b="0">
                <a:solidFill>
                  <a:srgbClr val="222222"/>
                </a:solidFill>
                <a:latin typeface="Arial"/>
              </a:rPr>
              <a:t>Diagrams and labs run in parallel (2 requests per key) before the build; with 5 keys 40 diagrams take ≈ 42 s instead of 3 min.</a:t>
            </a:r>
          </a:p>
        </p:txBody>
      </p:sp>
      <p:sp>
        <p:nvSpPr>
          <p:cNvPr id="17582" name="TextBox 17581">
            <a:extLst>
              <a:ext uri="{FF2B5EF4-FFF2-40B4-BE49-F238E27FC236}">
                <a16:creationId xmlns:a16="http://schemas.microsoft.com/office/drawing/2014/main" id="{3CDC79EA-BA9A-F801-39C9-3B86AE873633}"/>
              </a:ext>
            </a:extLst>
          </p:cNvPr>
          <p:cNvSpPr txBox="1"/>
          <p:nvPr/>
        </p:nvSpPr>
        <p:spPr>
          <a:xfrm>
            <a:off x="8705088" y="5835178"/>
            <a:ext cx="3172968" cy="273921"/>
          </a:xfrm>
          <a:prstGeom prst="rect">
            <a:avLst/>
          </a:prstGeom>
          <a:noFill/>
        </p:spPr>
        <p:txBody>
          <a:bodyPr wrap="square" lIns="27432" tIns="0" rIns="27432" bIns="0" anchor="t">
            <a:spAutoFit/>
          </a:bodyPr>
          <a:lstStyle/>
          <a:p>
            <a:pPr algn="just">
              <a:lnSpc>
                <a:spcPct val="100000"/>
              </a:lnSpc>
              <a:spcAft>
                <a:spcPts val="0"/>
              </a:spcAft>
            </a:pPr>
            <a:r>
              <a:rPr sz="850" b="0">
                <a:solidFill>
                  <a:srgbClr val="222222"/>
                </a:solidFill>
                <a:latin typeface="Arial"/>
              </a:rPr>
              <a:t>SVG whitelist removes scripts and links; lab JavaScript must pass node --check and may not use network, eval, cookies or storage.</a:t>
            </a:r>
          </a:p>
        </p:txBody>
      </p:sp>
      <p:sp>
        <p:nvSpPr>
          <p:cNvPr id="17583" name="TextBox 17582">
            <a:extLst>
              <a:ext uri="{FF2B5EF4-FFF2-40B4-BE49-F238E27FC236}">
                <a16:creationId xmlns:a16="http://schemas.microsoft.com/office/drawing/2014/main" id="{775147DE-D731-F0F1-5526-55DBEA707654}"/>
              </a:ext>
            </a:extLst>
          </p:cNvPr>
          <p:cNvSpPr txBox="1"/>
          <p:nvPr/>
        </p:nvSpPr>
        <p:spPr>
          <a:xfrm>
            <a:off x="3714750" y="6025896"/>
            <a:ext cx="902970" cy="219456"/>
          </a:xfrm>
          <a:prstGeom prst="rect">
            <a:avLst/>
          </a:prstGeom>
          <a:noFill/>
        </p:spPr>
        <p:txBody>
          <a:bodyPr wrap="square" lIns="0" tIns="0" rIns="0" bIns="0" anchor="t">
            <a:spAutoFit/>
          </a:bodyPr>
          <a:lstStyle/>
          <a:p>
            <a:pPr algn="ctr">
              <a:lnSpc>
                <a:spcPct val="100000"/>
              </a:lnSpc>
              <a:spcAft>
                <a:spcPts val="0"/>
              </a:spcAft>
            </a:pPr>
            <a:r>
              <a:rPr sz="880" b="1">
                <a:solidFill>
                  <a:srgbClr val="0B6DC0"/>
                </a:solidFill>
                <a:latin typeface="Arial"/>
                <a:hlinkClick r:id="rId25"/>
              </a:rPr>
              <a:t>Papers</a:t>
            </a:r>
          </a:p>
        </p:txBody>
      </p:sp>
      <p:sp>
        <p:nvSpPr>
          <p:cNvPr id="2" name="Oval 1" descr="Your startup LOGO">
            <a:extLst>
              <a:ext uri="{FF2B5EF4-FFF2-40B4-BE49-F238E27FC236}">
                <a16:creationId xmlns:a16="http://schemas.microsoft.com/office/drawing/2014/main" id="{ADBD8EB9-729D-1502-5973-F96C2A6BC6E9}"/>
              </a:ext>
              <a:ext uri="{C183D7F6-B498-43B3-948B-1728B52AA6E4}">
                <adec:decorative xmlns:adec="http://schemas.microsoft.com/office/drawing/2017/decorative" val="0"/>
              </a:ext>
            </a:extLst>
          </p:cNvPr>
          <p:cNvSpPr/>
          <p:nvPr/>
        </p:nvSpPr>
        <p:spPr>
          <a:xfrm>
            <a:off x="274320" y="196924"/>
            <a:ext cx="1902611" cy="322631"/>
          </a:xfrm>
          <a:prstGeom prst="ellipse">
            <a:avLst/>
          </a:prstGeom>
        </p:spPr>
        <p:style>
          <a:lnRef idx="2">
            <a:schemeClr val="accent4"/>
          </a:lnRef>
          <a:fillRef idx="1">
            <a:schemeClr val="lt1"/>
          </a:fillRef>
          <a:effectRef idx="0">
            <a:schemeClr val="accent4"/>
          </a:effectRef>
          <a:fontRef idx="minor">
            <a:schemeClr val="dk1"/>
          </a:fontRef>
        </p:style>
        <p:txBody>
          <a:bodyPr lIns="91440" tIns="45720" rIns="91440" bIns="45720" rtlCol="0" anchor="ctr"/>
          <a:lstStyle/>
          <a:p>
            <a:pPr algn="ctr"/>
            <a:r>
              <a:rPr dirty="0"/>
              <a:t>Learnova</a:t>
            </a:r>
            <a:endParaRPr lang="en-US" dirty="0">
              <a:ea typeface="Calibri"/>
              <a:cs typeface="Calibri"/>
            </a:endParaRPr>
          </a:p>
        </p:txBody>
      </p:sp>
      <p:sp>
        <p:nvSpPr>
          <p:cNvPr id="17589" name="TextBox 17588"/>
          <p:cNvSpPr txBox="1"/>
          <p:nvPr/>
        </p:nvSpPr>
        <p:spPr>
          <a:xfrm>
            <a:off x="5623560" y="1481328"/>
            <a:ext cx="2606040" cy="1371600"/>
          </a:xfrm>
          <a:prstGeom prst="rect">
            <a:avLst/>
          </a:prstGeom>
          <a:noFill/>
        </p:spPr>
        <p:txBody>
          <a:bodyPr wrap="square" anchor="t" lIns="27432" rIns="27432" tIns="9144" bIns="9144">
            <a:spAutoFit/>
          </a:bodyPr>
          <a:lstStyle/>
          <a:p>
            <a:r>
              <a:rPr sz="1100" b="1">
                <a:solidFill>
                  <a:srgbClr val="172131"/>
                </a:solidFill>
                <a:latin typeface="Calibri"/>
              </a:rPr>
              <a:t>7 risks found · 7 safeguards built</a:t>
            </a:r>
          </a:p>
          <a:p>
            <a:r>
              <a:rPr sz="860" b="0">
                <a:solidFill>
                  <a:srgbClr val="555F6D"/>
                </a:solidFill>
                <a:latin typeface="Calibri"/>
              </a:rPr>
              <a:t>We listed what could stop Learnova in a real classroom and built one safeguard for each. Each risk is rated by how likely it is and how much harm it would do if it happened; the right-hand column shows the safeguard already in the code. Residual risk after safeguards: LOW.</a:t>
            </a:r>
          </a:p>
        </p:txBody>
      </p:sp>
      <p:sp>
        <p:nvSpPr>
          <p:cNvPr id="17590" name="Rectangle 17589"/>
          <p:cNvSpPr/>
          <p:nvPr/>
        </p:nvSpPr>
        <p:spPr>
          <a:xfrm>
            <a:off x="4160520" y="2926080"/>
            <a:ext cx="4023360" cy="292608"/>
          </a:xfrm>
          <a:prstGeom prst="rect">
            <a:avLst/>
          </a:prstGeom>
          <a:solidFill>
            <a:srgbClr val="172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1" name="TextBox 17590"/>
          <p:cNvSpPr txBox="1"/>
          <p:nvPr/>
        </p:nvSpPr>
        <p:spPr>
          <a:xfrm>
            <a:off x="4206240" y="2926080"/>
            <a:ext cx="1600200" cy="292608"/>
          </a:xfrm>
          <a:prstGeom prst="rect">
            <a:avLst/>
          </a:prstGeom>
          <a:noFill/>
        </p:spPr>
        <p:txBody>
          <a:bodyPr wrap="square" anchor="ctr" lIns="27432" rIns="27432" tIns="9144" bIns="9144">
            <a:spAutoFit/>
          </a:bodyPr>
          <a:lstStyle/>
          <a:p>
            <a:r>
              <a:rPr sz="850" b="1">
                <a:solidFill>
                  <a:srgbClr val="FFFFFF"/>
                </a:solidFill>
                <a:latin typeface="Calibri"/>
              </a:rPr>
              <a:t>Risk</a:t>
            </a:r>
          </a:p>
        </p:txBody>
      </p:sp>
      <p:sp>
        <p:nvSpPr>
          <p:cNvPr id="17592" name="TextBox 17591"/>
          <p:cNvSpPr txBox="1"/>
          <p:nvPr/>
        </p:nvSpPr>
        <p:spPr>
          <a:xfrm>
            <a:off x="5788152" y="2926080"/>
            <a:ext cx="502920" cy="292608"/>
          </a:xfrm>
          <a:prstGeom prst="rect">
            <a:avLst/>
          </a:prstGeom>
          <a:noFill/>
        </p:spPr>
        <p:txBody>
          <a:bodyPr wrap="square" anchor="ctr" lIns="27432" rIns="27432" tIns="9144" bIns="9144">
            <a:spAutoFit/>
          </a:bodyPr>
          <a:lstStyle/>
          <a:p>
            <a:r>
              <a:rPr sz="850" b="1">
                <a:solidFill>
                  <a:srgbClr val="FFFFFF"/>
                </a:solidFill>
                <a:latin typeface="Calibri"/>
              </a:rPr>
              <a:t>Likely</a:t>
            </a:r>
          </a:p>
        </p:txBody>
      </p:sp>
      <p:sp>
        <p:nvSpPr>
          <p:cNvPr id="17593" name="TextBox 17592"/>
          <p:cNvSpPr txBox="1"/>
          <p:nvPr/>
        </p:nvSpPr>
        <p:spPr>
          <a:xfrm>
            <a:off x="6291072" y="2926080"/>
            <a:ext cx="502920" cy="292608"/>
          </a:xfrm>
          <a:prstGeom prst="rect">
            <a:avLst/>
          </a:prstGeom>
          <a:noFill/>
        </p:spPr>
        <p:txBody>
          <a:bodyPr wrap="square" anchor="ctr" lIns="27432" rIns="27432" tIns="9144" bIns="9144">
            <a:spAutoFit/>
          </a:bodyPr>
          <a:lstStyle/>
          <a:p>
            <a:r>
              <a:rPr sz="850" b="1">
                <a:solidFill>
                  <a:srgbClr val="FFFFFF"/>
                </a:solidFill>
                <a:latin typeface="Calibri"/>
              </a:rPr>
              <a:t>Impact</a:t>
            </a:r>
          </a:p>
        </p:txBody>
      </p:sp>
      <p:sp>
        <p:nvSpPr>
          <p:cNvPr id="17594" name="TextBox 17593"/>
          <p:cNvSpPr txBox="1"/>
          <p:nvPr/>
        </p:nvSpPr>
        <p:spPr>
          <a:xfrm>
            <a:off x="6812280" y="2926080"/>
            <a:ext cx="1371600" cy="292608"/>
          </a:xfrm>
          <a:prstGeom prst="rect">
            <a:avLst/>
          </a:prstGeom>
          <a:noFill/>
        </p:spPr>
        <p:txBody>
          <a:bodyPr wrap="square" anchor="ctr" lIns="27432" rIns="27432" tIns="9144" bIns="9144">
            <a:spAutoFit/>
          </a:bodyPr>
          <a:lstStyle/>
          <a:p>
            <a:r>
              <a:rPr sz="850" b="1">
                <a:solidFill>
                  <a:srgbClr val="FFFFFF"/>
                </a:solidFill>
                <a:latin typeface="Calibri"/>
              </a:rPr>
              <a:t>Safeguard in code</a:t>
            </a:r>
          </a:p>
        </p:txBody>
      </p:sp>
      <p:sp>
        <p:nvSpPr>
          <p:cNvPr id="17595" name="Rectangle 17594"/>
          <p:cNvSpPr/>
          <p:nvPr/>
        </p:nvSpPr>
        <p:spPr>
          <a:xfrm>
            <a:off x="4160520" y="3218688"/>
            <a:ext cx="4023360" cy="292608"/>
          </a:xfrm>
          <a:prstGeom prst="rect">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6" name="Rectangle 17595"/>
          <p:cNvSpPr/>
          <p:nvPr/>
        </p:nvSpPr>
        <p:spPr>
          <a:xfrm>
            <a:off x="4187952" y="3273552"/>
            <a:ext cx="54864" cy="182880"/>
          </a:xfrm>
          <a:prstGeom prst="rect">
            <a:avLst/>
          </a:prstGeom>
          <a:solidFill>
            <a:srgbClr val="C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7" name="TextBox 17596"/>
          <p:cNvSpPr txBox="1"/>
          <p:nvPr/>
        </p:nvSpPr>
        <p:spPr>
          <a:xfrm>
            <a:off x="4279392" y="3218688"/>
            <a:ext cx="1508760" cy="292608"/>
          </a:xfrm>
          <a:prstGeom prst="rect">
            <a:avLst/>
          </a:prstGeom>
          <a:noFill/>
        </p:spPr>
        <p:txBody>
          <a:bodyPr wrap="square" anchor="ctr" lIns="27432" rIns="27432" tIns="9144" bIns="9144">
            <a:spAutoFit/>
          </a:bodyPr>
          <a:lstStyle/>
          <a:p>
            <a:r>
              <a:rPr sz="840" b="1">
                <a:solidFill>
                  <a:srgbClr val="172131"/>
                </a:solidFill>
                <a:latin typeface="Calibri"/>
              </a:rPr>
              <a:t>Messy or scanned PDFs</a:t>
            </a:r>
          </a:p>
        </p:txBody>
      </p:sp>
      <p:sp>
        <p:nvSpPr>
          <p:cNvPr id="17598" name="Rounded Rectangle 17597"/>
          <p:cNvSpPr/>
          <p:nvPr/>
        </p:nvSpPr>
        <p:spPr>
          <a:xfrm>
            <a:off x="5815584" y="3282696"/>
            <a:ext cx="438912" cy="164592"/>
          </a:xfrm>
          <a:prstGeom prst="roundRect">
            <a:avLst>
              <a:gd name="adj" fmla="val 50000"/>
            </a:avLst>
          </a:prstGeom>
          <a:solidFill>
            <a:srgbClr val="C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9" name="TextBox 17598"/>
          <p:cNvSpPr txBox="1"/>
          <p:nvPr/>
        </p:nvSpPr>
        <p:spPr>
          <a:xfrm>
            <a:off x="5815584" y="3282696"/>
            <a:ext cx="438912" cy="164592"/>
          </a:xfrm>
          <a:prstGeom prst="rect">
            <a:avLst/>
          </a:prstGeom>
          <a:noFill/>
        </p:spPr>
        <p:txBody>
          <a:bodyPr wrap="square" anchor="ctr" lIns="27432" rIns="27432" tIns="9144" bIns="9144">
            <a:spAutoFit/>
          </a:bodyPr>
          <a:lstStyle/>
          <a:p>
            <a:pPr algn="ctr"/>
            <a:r>
              <a:rPr sz="750" b="1">
                <a:solidFill>
                  <a:srgbClr val="FFFFFF"/>
                </a:solidFill>
                <a:latin typeface="Calibri"/>
              </a:rPr>
              <a:t>High</a:t>
            </a:r>
          </a:p>
        </p:txBody>
      </p:sp>
      <p:sp>
        <p:nvSpPr>
          <p:cNvPr id="17600" name="Rounded Rectangle 17599"/>
          <p:cNvSpPr/>
          <p:nvPr/>
        </p:nvSpPr>
        <p:spPr>
          <a:xfrm>
            <a:off x="6327648" y="3282696"/>
            <a:ext cx="438912" cy="164592"/>
          </a:xfrm>
          <a:prstGeom prst="roundRect">
            <a:avLst>
              <a:gd name="adj" fmla="val 50000"/>
            </a:avLst>
          </a:prstGeom>
          <a:solidFill>
            <a:srgbClr val="C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1" name="TextBox 17600"/>
          <p:cNvSpPr txBox="1"/>
          <p:nvPr/>
        </p:nvSpPr>
        <p:spPr>
          <a:xfrm>
            <a:off x="6327648" y="3282696"/>
            <a:ext cx="438912" cy="164592"/>
          </a:xfrm>
          <a:prstGeom prst="rect">
            <a:avLst/>
          </a:prstGeom>
          <a:noFill/>
        </p:spPr>
        <p:txBody>
          <a:bodyPr wrap="square" anchor="ctr" lIns="27432" rIns="27432" tIns="9144" bIns="9144">
            <a:spAutoFit/>
          </a:bodyPr>
          <a:lstStyle/>
          <a:p>
            <a:pPr algn="ctr"/>
            <a:r>
              <a:rPr sz="750" b="1">
                <a:solidFill>
                  <a:srgbClr val="FFFFFF"/>
                </a:solidFill>
                <a:latin typeface="Calibri"/>
              </a:rPr>
              <a:t>High</a:t>
            </a:r>
          </a:p>
        </p:txBody>
      </p:sp>
      <p:sp>
        <p:nvSpPr>
          <p:cNvPr id="17602" name="TextBox 17601"/>
          <p:cNvSpPr txBox="1"/>
          <p:nvPr/>
        </p:nvSpPr>
        <p:spPr>
          <a:xfrm>
            <a:off x="6830568" y="3218688"/>
            <a:ext cx="1344168" cy="292608"/>
          </a:xfrm>
          <a:prstGeom prst="rect">
            <a:avLst/>
          </a:prstGeom>
          <a:noFill/>
        </p:spPr>
        <p:txBody>
          <a:bodyPr wrap="square" anchor="ctr" lIns="27432" rIns="27432" tIns="9144" bIns="9144">
            <a:spAutoFit/>
          </a:bodyPr>
          <a:lstStyle/>
          <a:p>
            <a:r>
              <a:rPr sz="800" b="0">
                <a:solidFill>
                  <a:srgbClr val="172131"/>
                </a:solidFill>
                <a:latin typeface="Calibri"/>
              </a:rPr>
              <a:t>Geometry rules + OCR test</a:t>
            </a:r>
          </a:p>
        </p:txBody>
      </p:sp>
      <p:sp>
        <p:nvSpPr>
          <p:cNvPr id="17603" name="Rectangle 17602"/>
          <p:cNvSpPr/>
          <p:nvPr/>
        </p:nvSpPr>
        <p:spPr>
          <a:xfrm>
            <a:off x="4160520" y="3511296"/>
            <a:ext cx="4023360" cy="292608"/>
          </a:xfrm>
          <a:prstGeom prst="rect">
            <a:avLst/>
          </a:prstGeom>
          <a:solidFill>
            <a:srgbClr val="F7F8FB"/>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4" name="Rectangle 17603"/>
          <p:cNvSpPr/>
          <p:nvPr/>
        </p:nvSpPr>
        <p:spPr>
          <a:xfrm>
            <a:off x="4187952" y="3566160"/>
            <a:ext cx="54864" cy="18288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5" name="TextBox 17604"/>
          <p:cNvSpPr txBox="1"/>
          <p:nvPr/>
        </p:nvSpPr>
        <p:spPr>
          <a:xfrm>
            <a:off x="4279392" y="3511296"/>
            <a:ext cx="1508760" cy="292608"/>
          </a:xfrm>
          <a:prstGeom prst="rect">
            <a:avLst/>
          </a:prstGeom>
          <a:noFill/>
        </p:spPr>
        <p:txBody>
          <a:bodyPr wrap="square" anchor="ctr" lIns="27432" rIns="27432" tIns="9144" bIns="9144">
            <a:spAutoFit/>
          </a:bodyPr>
          <a:lstStyle/>
          <a:p>
            <a:r>
              <a:rPr sz="840" b="1">
                <a:solidFill>
                  <a:srgbClr val="172131"/>
                </a:solidFill>
                <a:latin typeface="Calibri"/>
              </a:rPr>
              <a:t>AI makes up facts</a:t>
            </a:r>
          </a:p>
        </p:txBody>
      </p:sp>
      <p:sp>
        <p:nvSpPr>
          <p:cNvPr id="17606" name="Rounded Rectangle 17605"/>
          <p:cNvSpPr/>
          <p:nvPr/>
        </p:nvSpPr>
        <p:spPr>
          <a:xfrm>
            <a:off x="5815584" y="3575304"/>
            <a:ext cx="438912" cy="164592"/>
          </a:xfrm>
          <a:prstGeom prst="roundRect">
            <a:avLst>
              <a:gd name="adj" fmla="val 50000"/>
            </a:avLst>
          </a:prstGeom>
          <a:solidFill>
            <a:srgbClr val="E09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7" name="TextBox 17606"/>
          <p:cNvSpPr txBox="1"/>
          <p:nvPr/>
        </p:nvSpPr>
        <p:spPr>
          <a:xfrm>
            <a:off x="5815584" y="3575304"/>
            <a:ext cx="438912" cy="164592"/>
          </a:xfrm>
          <a:prstGeom prst="rect">
            <a:avLst/>
          </a:prstGeom>
          <a:noFill/>
        </p:spPr>
        <p:txBody>
          <a:bodyPr wrap="square" anchor="ctr" lIns="27432" rIns="27432" tIns="9144" bIns="9144">
            <a:spAutoFit/>
          </a:bodyPr>
          <a:lstStyle/>
          <a:p>
            <a:pPr algn="ctr"/>
            <a:r>
              <a:rPr sz="750" b="1">
                <a:solidFill>
                  <a:srgbClr val="FFFFFF"/>
                </a:solidFill>
                <a:latin typeface="Calibri"/>
              </a:rPr>
              <a:t>Med</a:t>
            </a:r>
          </a:p>
        </p:txBody>
      </p:sp>
      <p:sp>
        <p:nvSpPr>
          <p:cNvPr id="17608" name="Rounded Rectangle 17607"/>
          <p:cNvSpPr/>
          <p:nvPr/>
        </p:nvSpPr>
        <p:spPr>
          <a:xfrm>
            <a:off x="6327648" y="3575304"/>
            <a:ext cx="438912" cy="164592"/>
          </a:xfrm>
          <a:prstGeom prst="roundRect">
            <a:avLst>
              <a:gd name="adj" fmla="val 50000"/>
            </a:avLst>
          </a:prstGeom>
          <a:solidFill>
            <a:srgbClr val="C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9" name="TextBox 17608"/>
          <p:cNvSpPr txBox="1"/>
          <p:nvPr/>
        </p:nvSpPr>
        <p:spPr>
          <a:xfrm>
            <a:off x="6327648" y="3575304"/>
            <a:ext cx="438912" cy="164592"/>
          </a:xfrm>
          <a:prstGeom prst="rect">
            <a:avLst/>
          </a:prstGeom>
          <a:noFill/>
        </p:spPr>
        <p:txBody>
          <a:bodyPr wrap="square" anchor="ctr" lIns="27432" rIns="27432" tIns="9144" bIns="9144">
            <a:spAutoFit/>
          </a:bodyPr>
          <a:lstStyle/>
          <a:p>
            <a:pPr algn="ctr"/>
            <a:r>
              <a:rPr sz="750" b="1">
                <a:solidFill>
                  <a:srgbClr val="FFFFFF"/>
                </a:solidFill>
                <a:latin typeface="Calibri"/>
              </a:rPr>
              <a:t>High</a:t>
            </a:r>
          </a:p>
        </p:txBody>
      </p:sp>
      <p:sp>
        <p:nvSpPr>
          <p:cNvPr id="17610" name="TextBox 17609"/>
          <p:cNvSpPr txBox="1"/>
          <p:nvPr/>
        </p:nvSpPr>
        <p:spPr>
          <a:xfrm>
            <a:off x="6830568" y="3511296"/>
            <a:ext cx="1344168" cy="292608"/>
          </a:xfrm>
          <a:prstGeom prst="rect">
            <a:avLst/>
          </a:prstGeom>
          <a:noFill/>
        </p:spPr>
        <p:txBody>
          <a:bodyPr wrap="square" anchor="ctr" lIns="27432" rIns="27432" tIns="9144" bIns="9144">
            <a:spAutoFit/>
          </a:bodyPr>
          <a:lstStyle/>
          <a:p>
            <a:r>
              <a:rPr sz="800" b="0">
                <a:solidFill>
                  <a:srgbClr val="172131"/>
                </a:solidFill>
                <a:latin typeface="Calibri"/>
              </a:rPr>
              <a:t>Grounding check, SymPy maths</a:t>
            </a:r>
          </a:p>
        </p:txBody>
      </p:sp>
      <p:sp>
        <p:nvSpPr>
          <p:cNvPr id="17611" name="Rectangle 17610"/>
          <p:cNvSpPr/>
          <p:nvPr/>
        </p:nvSpPr>
        <p:spPr>
          <a:xfrm>
            <a:off x="4160520" y="3803904"/>
            <a:ext cx="4023360" cy="292608"/>
          </a:xfrm>
          <a:prstGeom prst="rect">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2" name="Rectangle 17611"/>
          <p:cNvSpPr/>
          <p:nvPr/>
        </p:nvSpPr>
        <p:spPr>
          <a:xfrm>
            <a:off x="4187952" y="3858768"/>
            <a:ext cx="54864" cy="182880"/>
          </a:xfrm>
          <a:prstGeom prst="rect">
            <a:avLst/>
          </a:prstGeom>
          <a:solidFill>
            <a:srgbClr val="C89B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3" name="TextBox 17612"/>
          <p:cNvSpPr txBox="1"/>
          <p:nvPr/>
        </p:nvSpPr>
        <p:spPr>
          <a:xfrm>
            <a:off x="4279392" y="3803904"/>
            <a:ext cx="1508760" cy="292608"/>
          </a:xfrm>
          <a:prstGeom prst="rect">
            <a:avLst/>
          </a:prstGeom>
          <a:noFill/>
        </p:spPr>
        <p:txBody>
          <a:bodyPr wrap="square" anchor="ctr" lIns="27432" rIns="27432" tIns="9144" bIns="9144">
            <a:spAutoFit/>
          </a:bodyPr>
          <a:lstStyle/>
          <a:p>
            <a:r>
              <a:rPr sz="840" b="1">
                <a:solidFill>
                  <a:srgbClr val="172131"/>
                </a:solidFill>
                <a:latin typeface="Calibri"/>
              </a:rPr>
              <a:t>Keys or quota run out</a:t>
            </a:r>
          </a:p>
        </p:txBody>
      </p:sp>
      <p:sp>
        <p:nvSpPr>
          <p:cNvPr id="17614" name="Rounded Rectangle 17613"/>
          <p:cNvSpPr/>
          <p:nvPr/>
        </p:nvSpPr>
        <p:spPr>
          <a:xfrm>
            <a:off x="5815584" y="3867912"/>
            <a:ext cx="438912" cy="164592"/>
          </a:xfrm>
          <a:prstGeom prst="roundRect">
            <a:avLst>
              <a:gd name="adj" fmla="val 50000"/>
            </a:avLst>
          </a:prstGeom>
          <a:solidFill>
            <a:srgbClr val="C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5" name="TextBox 17614"/>
          <p:cNvSpPr txBox="1"/>
          <p:nvPr/>
        </p:nvSpPr>
        <p:spPr>
          <a:xfrm>
            <a:off x="5815584" y="3867912"/>
            <a:ext cx="438912" cy="164592"/>
          </a:xfrm>
          <a:prstGeom prst="rect">
            <a:avLst/>
          </a:prstGeom>
          <a:noFill/>
        </p:spPr>
        <p:txBody>
          <a:bodyPr wrap="square" anchor="ctr" lIns="27432" rIns="27432" tIns="9144" bIns="9144">
            <a:spAutoFit/>
          </a:bodyPr>
          <a:lstStyle/>
          <a:p>
            <a:pPr algn="ctr"/>
            <a:r>
              <a:rPr sz="750" b="1">
                <a:solidFill>
                  <a:srgbClr val="FFFFFF"/>
                </a:solidFill>
                <a:latin typeface="Calibri"/>
              </a:rPr>
              <a:t>High</a:t>
            </a:r>
          </a:p>
        </p:txBody>
      </p:sp>
      <p:sp>
        <p:nvSpPr>
          <p:cNvPr id="17616" name="Rounded Rectangle 17615"/>
          <p:cNvSpPr/>
          <p:nvPr/>
        </p:nvSpPr>
        <p:spPr>
          <a:xfrm>
            <a:off x="6327648" y="3867912"/>
            <a:ext cx="438912" cy="164592"/>
          </a:xfrm>
          <a:prstGeom prst="roundRect">
            <a:avLst>
              <a:gd name="adj" fmla="val 50000"/>
            </a:avLst>
          </a:prstGeom>
          <a:solidFill>
            <a:srgbClr val="E09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7" name="TextBox 17616"/>
          <p:cNvSpPr txBox="1"/>
          <p:nvPr/>
        </p:nvSpPr>
        <p:spPr>
          <a:xfrm>
            <a:off x="6327648" y="3867912"/>
            <a:ext cx="438912" cy="164592"/>
          </a:xfrm>
          <a:prstGeom prst="rect">
            <a:avLst/>
          </a:prstGeom>
          <a:noFill/>
        </p:spPr>
        <p:txBody>
          <a:bodyPr wrap="square" anchor="ctr" lIns="27432" rIns="27432" tIns="9144" bIns="9144">
            <a:spAutoFit/>
          </a:bodyPr>
          <a:lstStyle/>
          <a:p>
            <a:pPr algn="ctr"/>
            <a:r>
              <a:rPr sz="750" b="1">
                <a:solidFill>
                  <a:srgbClr val="FFFFFF"/>
                </a:solidFill>
                <a:latin typeface="Calibri"/>
              </a:rPr>
              <a:t>Med</a:t>
            </a:r>
          </a:p>
        </p:txBody>
      </p:sp>
      <p:sp>
        <p:nvSpPr>
          <p:cNvPr id="17618" name="TextBox 17617"/>
          <p:cNvSpPr txBox="1"/>
          <p:nvPr/>
        </p:nvSpPr>
        <p:spPr>
          <a:xfrm>
            <a:off x="6830568" y="3803904"/>
            <a:ext cx="1344168" cy="292608"/>
          </a:xfrm>
          <a:prstGeom prst="rect">
            <a:avLst/>
          </a:prstGeom>
          <a:noFill/>
        </p:spPr>
        <p:txBody>
          <a:bodyPr wrap="square" anchor="ctr" lIns="27432" rIns="27432" tIns="9144" bIns="9144">
            <a:spAutoFit/>
          </a:bodyPr>
          <a:lstStyle/>
          <a:p>
            <a:r>
              <a:rPr sz="800" b="0">
                <a:solidFill>
                  <a:srgbClr val="172131"/>
                </a:solidFill>
                <a:latin typeface="Calibri"/>
              </a:rPr>
              <a:t>5-key pool + offline rules</a:t>
            </a:r>
          </a:p>
        </p:txBody>
      </p:sp>
      <p:sp>
        <p:nvSpPr>
          <p:cNvPr id="17619" name="Rectangle 17618"/>
          <p:cNvSpPr/>
          <p:nvPr/>
        </p:nvSpPr>
        <p:spPr>
          <a:xfrm>
            <a:off x="4160520" y="4096512"/>
            <a:ext cx="4023360" cy="292608"/>
          </a:xfrm>
          <a:prstGeom prst="rect">
            <a:avLst/>
          </a:prstGeom>
          <a:solidFill>
            <a:srgbClr val="F7F8FB"/>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0" name="Rectangle 17619"/>
          <p:cNvSpPr/>
          <p:nvPr/>
        </p:nvSpPr>
        <p:spPr>
          <a:xfrm>
            <a:off x="4187952" y="4151376"/>
            <a:ext cx="54864" cy="182880"/>
          </a:xfrm>
          <a:prstGeom prst="rect">
            <a:avLst/>
          </a:prstGeom>
          <a:solidFill>
            <a:srgbClr val="168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1" name="TextBox 17620"/>
          <p:cNvSpPr txBox="1"/>
          <p:nvPr/>
        </p:nvSpPr>
        <p:spPr>
          <a:xfrm>
            <a:off x="4279392" y="4096512"/>
            <a:ext cx="1508760" cy="292608"/>
          </a:xfrm>
          <a:prstGeom prst="rect">
            <a:avLst/>
          </a:prstGeom>
          <a:noFill/>
        </p:spPr>
        <p:txBody>
          <a:bodyPr wrap="square" anchor="ctr" lIns="27432" rIns="27432" tIns="9144" bIns="9144">
            <a:spAutoFit/>
          </a:bodyPr>
          <a:lstStyle/>
          <a:p>
            <a:r>
              <a:rPr sz="840" b="1">
                <a:solidFill>
                  <a:srgbClr val="172131"/>
                </a:solidFill>
                <a:latin typeface="Calibri"/>
              </a:rPr>
              <a:t>Teachers distrust AI</a:t>
            </a:r>
          </a:p>
        </p:txBody>
      </p:sp>
      <p:sp>
        <p:nvSpPr>
          <p:cNvPr id="17622" name="Rounded Rectangle 17621"/>
          <p:cNvSpPr/>
          <p:nvPr/>
        </p:nvSpPr>
        <p:spPr>
          <a:xfrm>
            <a:off x="5815584" y="4160520"/>
            <a:ext cx="438912" cy="164592"/>
          </a:xfrm>
          <a:prstGeom prst="roundRect">
            <a:avLst>
              <a:gd name="adj" fmla="val 50000"/>
            </a:avLst>
          </a:prstGeom>
          <a:solidFill>
            <a:srgbClr val="E09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3" name="TextBox 17622"/>
          <p:cNvSpPr txBox="1"/>
          <p:nvPr/>
        </p:nvSpPr>
        <p:spPr>
          <a:xfrm>
            <a:off x="5815584" y="4160520"/>
            <a:ext cx="438912" cy="164592"/>
          </a:xfrm>
          <a:prstGeom prst="rect">
            <a:avLst/>
          </a:prstGeom>
          <a:noFill/>
        </p:spPr>
        <p:txBody>
          <a:bodyPr wrap="square" anchor="ctr" lIns="27432" rIns="27432" tIns="9144" bIns="9144">
            <a:spAutoFit/>
          </a:bodyPr>
          <a:lstStyle/>
          <a:p>
            <a:pPr algn="ctr"/>
            <a:r>
              <a:rPr sz="750" b="1">
                <a:solidFill>
                  <a:srgbClr val="FFFFFF"/>
                </a:solidFill>
                <a:latin typeface="Calibri"/>
              </a:rPr>
              <a:t>Med</a:t>
            </a:r>
          </a:p>
        </p:txBody>
      </p:sp>
      <p:sp>
        <p:nvSpPr>
          <p:cNvPr id="17624" name="Rounded Rectangle 17623"/>
          <p:cNvSpPr/>
          <p:nvPr/>
        </p:nvSpPr>
        <p:spPr>
          <a:xfrm>
            <a:off x="6327648" y="4160520"/>
            <a:ext cx="438912" cy="164592"/>
          </a:xfrm>
          <a:prstGeom prst="roundRect">
            <a:avLst>
              <a:gd name="adj" fmla="val 50000"/>
            </a:avLst>
          </a:prstGeom>
          <a:solidFill>
            <a:srgbClr val="C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5" name="TextBox 17624"/>
          <p:cNvSpPr txBox="1"/>
          <p:nvPr/>
        </p:nvSpPr>
        <p:spPr>
          <a:xfrm>
            <a:off x="6327648" y="4160520"/>
            <a:ext cx="438912" cy="164592"/>
          </a:xfrm>
          <a:prstGeom prst="rect">
            <a:avLst/>
          </a:prstGeom>
          <a:noFill/>
        </p:spPr>
        <p:txBody>
          <a:bodyPr wrap="square" anchor="ctr" lIns="27432" rIns="27432" tIns="9144" bIns="9144">
            <a:spAutoFit/>
          </a:bodyPr>
          <a:lstStyle/>
          <a:p>
            <a:pPr algn="ctr"/>
            <a:r>
              <a:rPr sz="750" b="1">
                <a:solidFill>
                  <a:srgbClr val="FFFFFF"/>
                </a:solidFill>
                <a:latin typeface="Calibri"/>
              </a:rPr>
              <a:t>High</a:t>
            </a:r>
          </a:p>
        </p:txBody>
      </p:sp>
      <p:sp>
        <p:nvSpPr>
          <p:cNvPr id="17626" name="TextBox 17625"/>
          <p:cNvSpPr txBox="1"/>
          <p:nvPr/>
        </p:nvSpPr>
        <p:spPr>
          <a:xfrm>
            <a:off x="6830568" y="4096512"/>
            <a:ext cx="1344168" cy="292608"/>
          </a:xfrm>
          <a:prstGeom prst="rect">
            <a:avLst/>
          </a:prstGeom>
          <a:noFill/>
        </p:spPr>
        <p:txBody>
          <a:bodyPr wrap="square" anchor="ctr" lIns="27432" rIns="27432" tIns="9144" bIns="9144">
            <a:spAutoFit/>
          </a:bodyPr>
          <a:lstStyle/>
          <a:p>
            <a:r>
              <a:rPr sz="800" b="0">
                <a:solidFill>
                  <a:srgbClr val="172131"/>
                </a:solidFill>
                <a:latin typeface="Calibri"/>
              </a:rPr>
              <a:t>Reason + confidence shown</a:t>
            </a:r>
          </a:p>
        </p:txBody>
      </p:sp>
      <p:sp>
        <p:nvSpPr>
          <p:cNvPr id="17627" name="Rectangle 17626"/>
          <p:cNvSpPr/>
          <p:nvPr/>
        </p:nvSpPr>
        <p:spPr>
          <a:xfrm>
            <a:off x="4160520" y="4389120"/>
            <a:ext cx="4023360" cy="292608"/>
          </a:xfrm>
          <a:prstGeom prst="rect">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8" name="Rectangle 17627"/>
          <p:cNvSpPr/>
          <p:nvPr/>
        </p:nvSpPr>
        <p:spPr>
          <a:xfrm>
            <a:off x="4187952" y="4443984"/>
            <a:ext cx="54864" cy="1828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9" name="TextBox 17628"/>
          <p:cNvSpPr txBox="1"/>
          <p:nvPr/>
        </p:nvSpPr>
        <p:spPr>
          <a:xfrm>
            <a:off x="4279392" y="4389120"/>
            <a:ext cx="1508760" cy="292608"/>
          </a:xfrm>
          <a:prstGeom prst="rect">
            <a:avLst/>
          </a:prstGeom>
          <a:noFill/>
        </p:spPr>
        <p:txBody>
          <a:bodyPr wrap="square" anchor="ctr" lIns="27432" rIns="27432" tIns="9144" bIns="9144">
            <a:spAutoFit/>
          </a:bodyPr>
          <a:lstStyle/>
          <a:p>
            <a:r>
              <a:rPr sz="840" b="1">
                <a:solidFill>
                  <a:srgbClr val="172131"/>
                </a:solidFill>
                <a:latin typeface="Calibri"/>
              </a:rPr>
              <a:t>Text overflows slides</a:t>
            </a:r>
          </a:p>
        </p:txBody>
      </p:sp>
      <p:sp>
        <p:nvSpPr>
          <p:cNvPr id="17630" name="Rounded Rectangle 17629"/>
          <p:cNvSpPr/>
          <p:nvPr/>
        </p:nvSpPr>
        <p:spPr>
          <a:xfrm>
            <a:off x="5815584" y="4453128"/>
            <a:ext cx="438912" cy="164592"/>
          </a:xfrm>
          <a:prstGeom prst="roundRect">
            <a:avLst>
              <a:gd name="adj" fmla="val 50000"/>
            </a:avLst>
          </a:prstGeom>
          <a:solidFill>
            <a:srgbClr val="E09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1" name="TextBox 17630"/>
          <p:cNvSpPr txBox="1"/>
          <p:nvPr/>
        </p:nvSpPr>
        <p:spPr>
          <a:xfrm>
            <a:off x="5815584" y="4453128"/>
            <a:ext cx="438912" cy="164592"/>
          </a:xfrm>
          <a:prstGeom prst="rect">
            <a:avLst/>
          </a:prstGeom>
          <a:noFill/>
        </p:spPr>
        <p:txBody>
          <a:bodyPr wrap="square" anchor="ctr" lIns="27432" rIns="27432" tIns="9144" bIns="9144">
            <a:spAutoFit/>
          </a:bodyPr>
          <a:lstStyle/>
          <a:p>
            <a:pPr algn="ctr"/>
            <a:r>
              <a:rPr sz="750" b="1">
                <a:solidFill>
                  <a:srgbClr val="FFFFFF"/>
                </a:solidFill>
                <a:latin typeface="Calibri"/>
              </a:rPr>
              <a:t>Med</a:t>
            </a:r>
          </a:p>
        </p:txBody>
      </p:sp>
      <p:sp>
        <p:nvSpPr>
          <p:cNvPr id="17632" name="Rounded Rectangle 17631"/>
          <p:cNvSpPr/>
          <p:nvPr/>
        </p:nvSpPr>
        <p:spPr>
          <a:xfrm>
            <a:off x="6327648" y="4453128"/>
            <a:ext cx="438912" cy="164592"/>
          </a:xfrm>
          <a:prstGeom prst="roundRect">
            <a:avLst>
              <a:gd name="adj" fmla="val 50000"/>
            </a:avLst>
          </a:prstGeom>
          <a:solidFill>
            <a:srgbClr val="E09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3" name="TextBox 17632"/>
          <p:cNvSpPr txBox="1"/>
          <p:nvPr/>
        </p:nvSpPr>
        <p:spPr>
          <a:xfrm>
            <a:off x="6327648" y="4453128"/>
            <a:ext cx="438912" cy="164592"/>
          </a:xfrm>
          <a:prstGeom prst="rect">
            <a:avLst/>
          </a:prstGeom>
          <a:noFill/>
        </p:spPr>
        <p:txBody>
          <a:bodyPr wrap="square" anchor="ctr" lIns="27432" rIns="27432" tIns="9144" bIns="9144">
            <a:spAutoFit/>
          </a:bodyPr>
          <a:lstStyle/>
          <a:p>
            <a:pPr algn="ctr"/>
            <a:r>
              <a:rPr sz="750" b="1">
                <a:solidFill>
                  <a:srgbClr val="FFFFFF"/>
                </a:solidFill>
                <a:latin typeface="Calibri"/>
              </a:rPr>
              <a:t>Med</a:t>
            </a:r>
          </a:p>
        </p:txBody>
      </p:sp>
      <p:sp>
        <p:nvSpPr>
          <p:cNvPr id="17634" name="TextBox 17633"/>
          <p:cNvSpPr txBox="1"/>
          <p:nvPr/>
        </p:nvSpPr>
        <p:spPr>
          <a:xfrm>
            <a:off x="6830568" y="4389120"/>
            <a:ext cx="1344168" cy="292608"/>
          </a:xfrm>
          <a:prstGeom prst="rect">
            <a:avLst/>
          </a:prstGeom>
          <a:noFill/>
        </p:spPr>
        <p:txBody>
          <a:bodyPr wrap="square" anchor="ctr" lIns="27432" rIns="27432" tIns="9144" bIns="9144">
            <a:spAutoFit/>
          </a:bodyPr>
          <a:lstStyle/>
          <a:p>
            <a:r>
              <a:rPr sz="800" b="0">
                <a:solidFill>
                  <a:srgbClr val="172131"/>
                </a:solidFill>
                <a:latin typeface="Calibri"/>
              </a:rPr>
              <a:t>Glyph fit, CLASS split</a:t>
            </a:r>
          </a:p>
        </p:txBody>
      </p:sp>
      <p:sp>
        <p:nvSpPr>
          <p:cNvPr id="17635" name="Rectangle 17634"/>
          <p:cNvSpPr/>
          <p:nvPr/>
        </p:nvSpPr>
        <p:spPr>
          <a:xfrm>
            <a:off x="4160520" y="4681728"/>
            <a:ext cx="4023360" cy="292608"/>
          </a:xfrm>
          <a:prstGeom prst="rect">
            <a:avLst/>
          </a:prstGeom>
          <a:solidFill>
            <a:srgbClr val="F7F8FB"/>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6" name="Rectangle 17635"/>
          <p:cNvSpPr/>
          <p:nvPr/>
        </p:nvSpPr>
        <p:spPr>
          <a:xfrm>
            <a:off x="4187952" y="4736592"/>
            <a:ext cx="54864" cy="182880"/>
          </a:xfrm>
          <a:prstGeom prst="rect">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7" name="TextBox 17636"/>
          <p:cNvSpPr txBox="1"/>
          <p:nvPr/>
        </p:nvSpPr>
        <p:spPr>
          <a:xfrm>
            <a:off x="4279392" y="4681728"/>
            <a:ext cx="1508760" cy="292608"/>
          </a:xfrm>
          <a:prstGeom prst="rect">
            <a:avLst/>
          </a:prstGeom>
          <a:noFill/>
        </p:spPr>
        <p:txBody>
          <a:bodyPr wrap="square" anchor="ctr" lIns="27432" rIns="27432" tIns="9144" bIns="9144">
            <a:spAutoFit/>
          </a:bodyPr>
          <a:lstStyle/>
          <a:p>
            <a:r>
              <a:rPr sz="840" b="1">
                <a:solidFill>
                  <a:srgbClr val="172131"/>
                </a:solidFill>
                <a:latin typeface="Calibri"/>
              </a:rPr>
              <a:t>Slow on long decks</a:t>
            </a:r>
          </a:p>
        </p:txBody>
      </p:sp>
      <p:sp>
        <p:nvSpPr>
          <p:cNvPr id="17638" name="Rounded Rectangle 17637"/>
          <p:cNvSpPr/>
          <p:nvPr/>
        </p:nvSpPr>
        <p:spPr>
          <a:xfrm>
            <a:off x="5815584" y="4745736"/>
            <a:ext cx="438912" cy="164592"/>
          </a:xfrm>
          <a:prstGeom prst="roundRect">
            <a:avLst>
              <a:gd name="adj" fmla="val 50000"/>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9" name="TextBox 17638"/>
          <p:cNvSpPr txBox="1"/>
          <p:nvPr/>
        </p:nvSpPr>
        <p:spPr>
          <a:xfrm>
            <a:off x="5815584" y="4745736"/>
            <a:ext cx="438912" cy="164592"/>
          </a:xfrm>
          <a:prstGeom prst="rect">
            <a:avLst/>
          </a:prstGeom>
          <a:noFill/>
        </p:spPr>
        <p:txBody>
          <a:bodyPr wrap="square" anchor="ctr" lIns="27432" rIns="27432" tIns="9144" bIns="9144">
            <a:spAutoFit/>
          </a:bodyPr>
          <a:lstStyle/>
          <a:p>
            <a:pPr algn="ctr"/>
            <a:r>
              <a:rPr sz="750" b="1">
                <a:solidFill>
                  <a:srgbClr val="FFFFFF"/>
                </a:solidFill>
                <a:latin typeface="Calibri"/>
              </a:rPr>
              <a:t>Low</a:t>
            </a:r>
          </a:p>
        </p:txBody>
      </p:sp>
      <p:sp>
        <p:nvSpPr>
          <p:cNvPr id="17640" name="Rounded Rectangle 17639"/>
          <p:cNvSpPr/>
          <p:nvPr/>
        </p:nvSpPr>
        <p:spPr>
          <a:xfrm>
            <a:off x="6327648" y="4745736"/>
            <a:ext cx="438912" cy="164592"/>
          </a:xfrm>
          <a:prstGeom prst="roundRect">
            <a:avLst>
              <a:gd name="adj" fmla="val 50000"/>
            </a:avLst>
          </a:prstGeom>
          <a:solidFill>
            <a:srgbClr val="E09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1" name="TextBox 17640"/>
          <p:cNvSpPr txBox="1"/>
          <p:nvPr/>
        </p:nvSpPr>
        <p:spPr>
          <a:xfrm>
            <a:off x="6327648" y="4745736"/>
            <a:ext cx="438912" cy="164592"/>
          </a:xfrm>
          <a:prstGeom prst="rect">
            <a:avLst/>
          </a:prstGeom>
          <a:noFill/>
        </p:spPr>
        <p:txBody>
          <a:bodyPr wrap="square" anchor="ctr" lIns="27432" rIns="27432" tIns="9144" bIns="9144">
            <a:spAutoFit/>
          </a:bodyPr>
          <a:lstStyle/>
          <a:p>
            <a:pPr algn="ctr"/>
            <a:r>
              <a:rPr sz="750" b="1">
                <a:solidFill>
                  <a:srgbClr val="FFFFFF"/>
                </a:solidFill>
                <a:latin typeface="Calibri"/>
              </a:rPr>
              <a:t>Med</a:t>
            </a:r>
          </a:p>
        </p:txBody>
      </p:sp>
      <p:sp>
        <p:nvSpPr>
          <p:cNvPr id="17642" name="TextBox 17641"/>
          <p:cNvSpPr txBox="1"/>
          <p:nvPr/>
        </p:nvSpPr>
        <p:spPr>
          <a:xfrm>
            <a:off x="6830568" y="4681728"/>
            <a:ext cx="1344168" cy="292608"/>
          </a:xfrm>
          <a:prstGeom prst="rect">
            <a:avLst/>
          </a:prstGeom>
          <a:noFill/>
        </p:spPr>
        <p:txBody>
          <a:bodyPr wrap="square" anchor="ctr" lIns="27432" rIns="27432" tIns="9144" bIns="9144">
            <a:spAutoFit/>
          </a:bodyPr>
          <a:lstStyle/>
          <a:p>
            <a:r>
              <a:rPr sz="800" b="0">
                <a:solidFill>
                  <a:srgbClr val="172131"/>
                </a:solidFill>
                <a:latin typeface="Calibri"/>
              </a:rPr>
              <a:t>Parallel + caches</a:t>
            </a:r>
          </a:p>
        </p:txBody>
      </p:sp>
      <p:sp>
        <p:nvSpPr>
          <p:cNvPr id="17643" name="Rectangle 17642"/>
          <p:cNvSpPr/>
          <p:nvPr/>
        </p:nvSpPr>
        <p:spPr>
          <a:xfrm>
            <a:off x="4160520" y="4974336"/>
            <a:ext cx="4023360" cy="292608"/>
          </a:xfrm>
          <a:prstGeom prst="rect">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4" name="Rectangle 17643"/>
          <p:cNvSpPr/>
          <p:nvPr/>
        </p:nvSpPr>
        <p:spPr>
          <a:xfrm>
            <a:off x="4187952" y="5029200"/>
            <a:ext cx="54864" cy="18288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5" name="TextBox 17644"/>
          <p:cNvSpPr txBox="1"/>
          <p:nvPr/>
        </p:nvSpPr>
        <p:spPr>
          <a:xfrm>
            <a:off x="4279392" y="4974336"/>
            <a:ext cx="1508760" cy="292608"/>
          </a:xfrm>
          <a:prstGeom prst="rect">
            <a:avLst/>
          </a:prstGeom>
          <a:noFill/>
        </p:spPr>
        <p:txBody>
          <a:bodyPr wrap="square" anchor="ctr" lIns="27432" rIns="27432" tIns="9144" bIns="9144">
            <a:spAutoFit/>
          </a:bodyPr>
          <a:lstStyle/>
          <a:p>
            <a:r>
              <a:rPr sz="840" b="1">
                <a:solidFill>
                  <a:srgbClr val="172131"/>
                </a:solidFill>
                <a:latin typeface="Calibri"/>
              </a:rPr>
              <a:t>Unsafe generated code</a:t>
            </a:r>
          </a:p>
        </p:txBody>
      </p:sp>
      <p:sp>
        <p:nvSpPr>
          <p:cNvPr id="17646" name="Rounded Rectangle 17645"/>
          <p:cNvSpPr/>
          <p:nvPr/>
        </p:nvSpPr>
        <p:spPr>
          <a:xfrm>
            <a:off x="5815584" y="5038344"/>
            <a:ext cx="438912" cy="164592"/>
          </a:xfrm>
          <a:prstGeom prst="roundRect">
            <a:avLst>
              <a:gd name="adj" fmla="val 50000"/>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7" name="TextBox 17646"/>
          <p:cNvSpPr txBox="1"/>
          <p:nvPr/>
        </p:nvSpPr>
        <p:spPr>
          <a:xfrm>
            <a:off x="5815584" y="5038344"/>
            <a:ext cx="438912" cy="164592"/>
          </a:xfrm>
          <a:prstGeom prst="rect">
            <a:avLst/>
          </a:prstGeom>
          <a:noFill/>
        </p:spPr>
        <p:txBody>
          <a:bodyPr wrap="square" anchor="ctr" lIns="27432" rIns="27432" tIns="9144" bIns="9144">
            <a:spAutoFit/>
          </a:bodyPr>
          <a:lstStyle/>
          <a:p>
            <a:pPr algn="ctr"/>
            <a:r>
              <a:rPr sz="750" b="1">
                <a:solidFill>
                  <a:srgbClr val="FFFFFF"/>
                </a:solidFill>
                <a:latin typeface="Calibri"/>
              </a:rPr>
              <a:t>Low</a:t>
            </a:r>
          </a:p>
        </p:txBody>
      </p:sp>
      <p:sp>
        <p:nvSpPr>
          <p:cNvPr id="17648" name="Rounded Rectangle 17647"/>
          <p:cNvSpPr/>
          <p:nvPr/>
        </p:nvSpPr>
        <p:spPr>
          <a:xfrm>
            <a:off x="6327648" y="5038344"/>
            <a:ext cx="438912" cy="164592"/>
          </a:xfrm>
          <a:prstGeom prst="roundRect">
            <a:avLst>
              <a:gd name="adj" fmla="val 50000"/>
            </a:avLst>
          </a:prstGeom>
          <a:solidFill>
            <a:srgbClr val="C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9" name="TextBox 17648"/>
          <p:cNvSpPr txBox="1"/>
          <p:nvPr/>
        </p:nvSpPr>
        <p:spPr>
          <a:xfrm>
            <a:off x="6327648" y="5038344"/>
            <a:ext cx="438912" cy="164592"/>
          </a:xfrm>
          <a:prstGeom prst="rect">
            <a:avLst/>
          </a:prstGeom>
          <a:noFill/>
        </p:spPr>
        <p:txBody>
          <a:bodyPr wrap="square" anchor="ctr" lIns="27432" rIns="27432" tIns="9144" bIns="9144">
            <a:spAutoFit/>
          </a:bodyPr>
          <a:lstStyle/>
          <a:p>
            <a:pPr algn="ctr"/>
            <a:r>
              <a:rPr sz="750" b="1">
                <a:solidFill>
                  <a:srgbClr val="FFFFFF"/>
                </a:solidFill>
                <a:latin typeface="Calibri"/>
              </a:rPr>
              <a:t>High</a:t>
            </a:r>
          </a:p>
        </p:txBody>
      </p:sp>
      <p:sp>
        <p:nvSpPr>
          <p:cNvPr id="17650" name="TextBox 17649"/>
          <p:cNvSpPr txBox="1"/>
          <p:nvPr/>
        </p:nvSpPr>
        <p:spPr>
          <a:xfrm>
            <a:off x="6830568" y="4974336"/>
            <a:ext cx="1344168" cy="292608"/>
          </a:xfrm>
          <a:prstGeom prst="rect">
            <a:avLst/>
          </a:prstGeom>
          <a:noFill/>
        </p:spPr>
        <p:txBody>
          <a:bodyPr wrap="square" anchor="ctr" lIns="27432" rIns="27432" tIns="9144" bIns="9144">
            <a:spAutoFit/>
          </a:bodyPr>
          <a:lstStyle/>
          <a:p>
            <a:r>
              <a:rPr sz="800" b="0">
                <a:solidFill>
                  <a:srgbClr val="172131"/>
                </a:solidFill>
                <a:latin typeface="Calibri"/>
              </a:rPr>
              <a:t>Sanitiser + node --check</a:t>
            </a:r>
          </a:p>
        </p:txBody>
      </p:sp>
    </p:spTree>
    <p:extLst>
      <p:ext uri="{BB962C8B-B14F-4D97-AF65-F5344CB8AC3E}">
        <p14:creationId xmlns:p14="http://schemas.microsoft.com/office/powerpoint/2010/main" val="3728494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504D">
                  <a:lumMod val="75000"/>
                </a:srgbClr>
              </a:solidFill>
              <a:effectLst/>
              <a:uLnTx/>
              <a:uFillTx/>
              <a:latin typeface="Calibri"/>
              <a:ea typeface="ＭＳ Ｐゴシック" pitchFamily="1" charset="-128"/>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IPD Review · Learnova · AI&amp;DS DJSCE</a:t>
            </a:r>
          </a:p>
        </p:txBody>
      </p:sp>
      <p:sp>
        <p:nvSpPr>
          <p:cNvPr id="4" name="Title 1">
            <a:extLst>
              <a:ext uri="{FF2B5EF4-FFF2-40B4-BE49-F238E27FC236}">
                <a16:creationId xmlns:a16="http://schemas.microsoft.com/office/drawing/2014/main" id="{E5F3F9E1-14A7-9E5C-8779-BC7887264B62}"/>
              </a:ext>
            </a:extLst>
          </p:cNvPr>
          <p:cNvSpPr>
            <a:spLocks noGrp="1"/>
          </p:cNvSpPr>
          <p:nvPr>
            <p:ph type="title"/>
          </p:nvPr>
        </p:nvSpPr>
        <p:spPr>
          <a:xfrm>
            <a:off x="609600" y="-47625"/>
            <a:ext cx="10972800" cy="1143000"/>
          </a:xfrm>
        </p:spPr>
        <p:txBody>
          <a:bodyPr/>
          <a:lstStyle/>
          <a:p>
            <a:pPr eaLnBrk="1" hangingPunct="1"/>
            <a:r>
              <a:rPr lang="en-US" sz="3600" b="1">
                <a:latin typeface="Times New Roman" panose="02020603050405020304" pitchFamily="18" charset="0"/>
                <a:ea typeface="ＭＳ Ｐゴシック" pitchFamily="1" charset="-128"/>
                <a:cs typeface="Times New Roman" panose="02020603050405020304" pitchFamily="18" charset="0"/>
              </a:rPr>
              <a:t>IMPACT AND BENEFITS</a:t>
            </a:r>
          </a:p>
          <a:p>
            <a:pPr algn="ctr"/>
            <a:r>
              <a:rPr sz="1500" i="1">
                <a:solidFill>
                  <a:srgbClr val="0B6DC0"/>
                </a:solidFill>
                <a:latin typeface="Arial"/>
              </a:rPr>
              <a:t>Measured on our own test decks — not on promises</a:t>
            </a:r>
          </a:p>
        </p:txBody>
      </p:sp>
      <p:sp>
        <p:nvSpPr>
          <p:cNvPr id="5" name="Rounded Rectangle 4">
            <a:extLst>
              <a:ext uri="{FF2B5EF4-FFF2-40B4-BE49-F238E27FC236}">
                <a16:creationId xmlns:a16="http://schemas.microsoft.com/office/drawing/2014/main" id="{187360A2-579A-DAE3-C68F-949CF846CEB7}"/>
              </a:ext>
            </a:extLst>
          </p:cNvPr>
          <p:cNvSpPr/>
          <p:nvPr/>
        </p:nvSpPr>
        <p:spPr>
          <a:xfrm>
            <a:off x="246888" y="1051560"/>
            <a:ext cx="2843784" cy="2212848"/>
          </a:xfrm>
          <a:prstGeom prst="roundRect">
            <a:avLst>
              <a:gd name="adj" fmla="val 4000"/>
            </a:avLst>
          </a:prstGeom>
          <a:solidFill>
            <a:srgbClr val="FFFFFF"/>
          </a:solidFill>
          <a:ln>
            <a:no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34" name="Picture 17433" descr="image.png"/>
          <p:cNvPicPr>
            <a:picLocks noChangeAspect="1"/>
          </p:cNvPicPr>
          <p:nvPr/>
        </p:nvPicPr>
        <p:blipFill>
          <a:blip r:embed="rId22"/>
          <a:stretch>
            <a:fillRect/>
          </a:stretch>
        </p:blipFill>
        <p:spPr>
          <a:xfrm>
            <a:off x="274320" y="1078992"/>
            <a:ext cx="2788920" cy="1463040"/>
          </a:xfrm>
          <a:prstGeom prst="rect">
            <a:avLst/>
          </a:prstGeom>
        </p:spPr>
      </p:pic>
      <p:sp>
        <p:nvSpPr>
          <p:cNvPr id="13" name="TextBox 12">
            <a:extLst>
              <a:ext uri="{FF2B5EF4-FFF2-40B4-BE49-F238E27FC236}">
                <a16:creationId xmlns:a16="http://schemas.microsoft.com/office/drawing/2014/main" id="{9CD9CCD1-29EF-3CE8-CBFA-08F204FC4D07}"/>
              </a:ext>
            </a:extLst>
          </p:cNvPr>
          <p:cNvSpPr txBox="1"/>
          <p:nvPr/>
        </p:nvSpPr>
        <p:spPr>
          <a:xfrm>
            <a:off x="347472" y="2578608"/>
            <a:ext cx="2697479" cy="658368"/>
          </a:xfrm>
          <a:prstGeom prst="rect">
            <a:avLst/>
          </a:prstGeom>
          <a:noFill/>
        </p:spPr>
        <p:txBody>
          <a:bodyPr wrap="square" lIns="27432" tIns="0" rIns="18288" bIns="0" anchor="ctr">
            <a:spAutoFit/>
          </a:bodyPr>
          <a:lstStyle/>
          <a:p>
            <a:pPr algn="just">
              <a:lnSpc>
                <a:spcPct val="100000"/>
              </a:lnSpc>
              <a:spcAft>
                <a:spcPts val="0"/>
              </a:spcAft>
            </a:pPr>
            <a:r>
              <a:rPr sz="1050" b="0">
                <a:solidFill>
                  <a:srgbClr val="222222"/>
                </a:solidFill>
                <a:latin typeface="Arial"/>
              </a:rPr>
              <a:t>Untitled slides across 5 real decks fell from 83 to 0. Every slide now states its point in a full-sentence title.</a:t>
            </a:r>
          </a:p>
        </p:txBody>
      </p:sp>
      <p:sp>
        <p:nvSpPr>
          <p:cNvPr id="14" name="Rectangle 13">
            <a:extLst>
              <a:ext uri="{FF2B5EF4-FFF2-40B4-BE49-F238E27FC236}">
                <a16:creationId xmlns:a16="http://schemas.microsoft.com/office/drawing/2014/main" id="{295FC0C9-B4B1-7FDC-951F-793B4F263459}"/>
              </a:ext>
            </a:extLst>
          </p:cNvPr>
          <p:cNvSpPr/>
          <p:nvPr/>
        </p:nvSpPr>
        <p:spPr>
          <a:xfrm>
            <a:off x="274320" y="2596896"/>
            <a:ext cx="45720" cy="603504"/>
          </a:xfrm>
          <a:prstGeom prst="rect">
            <a:avLst/>
          </a:prstGeom>
          <a:solidFill>
            <a:srgbClr val="0B6D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FF2B5EF4-FFF2-40B4-BE49-F238E27FC236}">
                <a16:creationId xmlns:a16="http://schemas.microsoft.com/office/drawing/2014/main" id="{826C7E64-B240-8999-D0AA-D5EBF42D5877}"/>
              </a:ext>
            </a:extLst>
          </p:cNvPr>
          <p:cNvSpPr/>
          <p:nvPr/>
        </p:nvSpPr>
        <p:spPr>
          <a:xfrm>
            <a:off x="3197352" y="1051560"/>
            <a:ext cx="2843784" cy="2212848"/>
          </a:xfrm>
          <a:prstGeom prst="roundRect">
            <a:avLst>
              <a:gd name="adj" fmla="val 4000"/>
            </a:avLst>
          </a:prstGeom>
          <a:solidFill>
            <a:srgbClr val="FFFFFF"/>
          </a:solidFill>
          <a:ln>
            <a:no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35" name="Picture 17434" descr="image.png"/>
          <p:cNvPicPr>
            <a:picLocks noChangeAspect="1"/>
          </p:cNvPicPr>
          <p:nvPr/>
        </p:nvPicPr>
        <p:blipFill>
          <a:blip r:embed="rId23"/>
          <a:stretch>
            <a:fillRect/>
          </a:stretch>
        </p:blipFill>
        <p:spPr>
          <a:xfrm>
            <a:off x="3224784" y="1078992"/>
            <a:ext cx="2788920" cy="1463040"/>
          </a:xfrm>
          <a:prstGeom prst="rect">
            <a:avLst/>
          </a:prstGeom>
        </p:spPr>
      </p:pic>
      <p:sp>
        <p:nvSpPr>
          <p:cNvPr id="17" name="TextBox 16">
            <a:extLst>
              <a:ext uri="{FF2B5EF4-FFF2-40B4-BE49-F238E27FC236}">
                <a16:creationId xmlns:a16="http://schemas.microsoft.com/office/drawing/2014/main" id="{4B8521EF-B548-1F07-8309-57D7E2AE2BF8}"/>
              </a:ext>
            </a:extLst>
          </p:cNvPr>
          <p:cNvSpPr txBox="1"/>
          <p:nvPr/>
        </p:nvSpPr>
        <p:spPr>
          <a:xfrm>
            <a:off x="3297936" y="2578608"/>
            <a:ext cx="2697479" cy="658368"/>
          </a:xfrm>
          <a:prstGeom prst="rect">
            <a:avLst/>
          </a:prstGeom>
          <a:noFill/>
        </p:spPr>
        <p:txBody>
          <a:bodyPr wrap="square" lIns="27432" tIns="0" rIns="18288" bIns="0" anchor="ctr">
            <a:spAutoFit/>
          </a:bodyPr>
          <a:lstStyle/>
          <a:p>
            <a:pPr algn="just">
              <a:lnSpc>
                <a:spcPct val="100000"/>
              </a:lnSpc>
              <a:spcAft>
                <a:spcPts val="0"/>
              </a:spcAft>
            </a:pPr>
            <a:r>
              <a:rPr sz="1050" b="0">
                <a:solidFill>
                  <a:srgbClr val="222222"/>
                </a:solidFill>
                <a:latin typeface="Arial"/>
              </a:rPr>
              <a:t>Slides with a picture rose on every deck: the teacher's own figures are kept and AI diagrams are added on topic slides.</a:t>
            </a:r>
          </a:p>
        </p:txBody>
      </p:sp>
      <p:sp>
        <p:nvSpPr>
          <p:cNvPr id="18" name="Rectangle 17">
            <a:extLst>
              <a:ext uri="{FF2B5EF4-FFF2-40B4-BE49-F238E27FC236}">
                <a16:creationId xmlns:a16="http://schemas.microsoft.com/office/drawing/2014/main" id="{0510909A-1F02-989B-2667-855AF475F5CF}"/>
              </a:ext>
            </a:extLst>
          </p:cNvPr>
          <p:cNvSpPr/>
          <p:nvPr/>
        </p:nvSpPr>
        <p:spPr>
          <a:xfrm>
            <a:off x="3224784" y="2596896"/>
            <a:ext cx="45720" cy="603504"/>
          </a:xfrm>
          <a:prstGeom prst="rect">
            <a:avLst/>
          </a:prstGeom>
          <a:solidFill>
            <a:srgbClr val="D628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a:extLst>
              <a:ext uri="{FF2B5EF4-FFF2-40B4-BE49-F238E27FC236}">
                <a16:creationId xmlns:a16="http://schemas.microsoft.com/office/drawing/2014/main" id="{265C39A1-3E7D-8DC6-2AAF-045C57F17E4E}"/>
              </a:ext>
            </a:extLst>
          </p:cNvPr>
          <p:cNvSpPr/>
          <p:nvPr/>
        </p:nvSpPr>
        <p:spPr>
          <a:xfrm>
            <a:off x="6147816" y="1051560"/>
            <a:ext cx="2843784" cy="2212848"/>
          </a:xfrm>
          <a:prstGeom prst="roundRect">
            <a:avLst>
              <a:gd name="adj" fmla="val 4000"/>
            </a:avLst>
          </a:prstGeom>
          <a:solidFill>
            <a:srgbClr val="FFFFFF"/>
          </a:solidFill>
          <a:ln>
            <a:no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36" name="Picture 17435" descr="image.png"/>
          <p:cNvPicPr>
            <a:picLocks noChangeAspect="1"/>
          </p:cNvPicPr>
          <p:nvPr/>
        </p:nvPicPr>
        <p:blipFill>
          <a:blip r:embed="rId24"/>
          <a:stretch>
            <a:fillRect/>
          </a:stretch>
        </p:blipFill>
        <p:spPr>
          <a:xfrm>
            <a:off x="6175248" y="1078992"/>
            <a:ext cx="2788920" cy="1463040"/>
          </a:xfrm>
          <a:prstGeom prst="rect">
            <a:avLst/>
          </a:prstGeom>
        </p:spPr>
      </p:pic>
      <p:sp>
        <p:nvSpPr>
          <p:cNvPr id="21" name="TextBox 20">
            <a:extLst>
              <a:ext uri="{FF2B5EF4-FFF2-40B4-BE49-F238E27FC236}">
                <a16:creationId xmlns:a16="http://schemas.microsoft.com/office/drawing/2014/main" id="{DF7AAF0B-F08C-AF86-C617-5BC334AAD1D5}"/>
              </a:ext>
            </a:extLst>
          </p:cNvPr>
          <p:cNvSpPr txBox="1"/>
          <p:nvPr/>
        </p:nvSpPr>
        <p:spPr>
          <a:xfrm>
            <a:off x="6248400" y="2578608"/>
            <a:ext cx="2697479" cy="658368"/>
          </a:xfrm>
          <a:prstGeom prst="rect">
            <a:avLst/>
          </a:prstGeom>
          <a:noFill/>
        </p:spPr>
        <p:txBody>
          <a:bodyPr wrap="square" lIns="27432" tIns="0" rIns="18288" bIns="0" anchor="ctr">
            <a:spAutoFit/>
          </a:bodyPr>
          <a:lstStyle/>
          <a:p>
            <a:pPr algn="just">
              <a:lnSpc>
                <a:spcPct val="100000"/>
              </a:lnSpc>
              <a:spcAft>
                <a:spcPts val="0"/>
              </a:spcAft>
            </a:pPr>
            <a:r>
              <a:rPr sz="1050" b="0">
                <a:solidFill>
                  <a:srgbClr val="222222"/>
                </a:solidFill>
                <a:latin typeface="Arial"/>
              </a:rPr>
              <a:t>Visual slides, quizzes, labs and linked illustrations went from zero to hundreds, all built from the deck's own content.</a:t>
            </a:r>
          </a:p>
        </p:txBody>
      </p:sp>
      <p:sp>
        <p:nvSpPr>
          <p:cNvPr id="22" name="Rectangle 21">
            <a:extLst>
              <a:ext uri="{FF2B5EF4-FFF2-40B4-BE49-F238E27FC236}">
                <a16:creationId xmlns:a16="http://schemas.microsoft.com/office/drawing/2014/main" id="{6D7E218C-6966-FB1C-F5D8-D8107BB6A1A8}"/>
              </a:ext>
            </a:extLst>
          </p:cNvPr>
          <p:cNvSpPr/>
          <p:nvPr/>
        </p:nvSpPr>
        <p:spPr>
          <a:xfrm>
            <a:off x="6175248" y="2596896"/>
            <a:ext cx="45720" cy="603504"/>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a:extLst>
              <a:ext uri="{FF2B5EF4-FFF2-40B4-BE49-F238E27FC236}">
                <a16:creationId xmlns:a16="http://schemas.microsoft.com/office/drawing/2014/main" id="{0F1F4E9F-ADD1-6D98-72C0-E761F073BBAE}"/>
              </a:ext>
            </a:extLst>
          </p:cNvPr>
          <p:cNvSpPr/>
          <p:nvPr/>
        </p:nvSpPr>
        <p:spPr>
          <a:xfrm>
            <a:off x="9098280" y="1051560"/>
            <a:ext cx="2843784" cy="2212848"/>
          </a:xfrm>
          <a:prstGeom prst="roundRect">
            <a:avLst>
              <a:gd name="adj" fmla="val 4000"/>
            </a:avLst>
          </a:prstGeom>
          <a:solidFill>
            <a:srgbClr val="FFFFFF"/>
          </a:solidFill>
          <a:ln>
            <a:no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37" name="Picture 17436" descr="image.png"/>
          <p:cNvPicPr>
            <a:picLocks noChangeAspect="1"/>
          </p:cNvPicPr>
          <p:nvPr/>
        </p:nvPicPr>
        <p:blipFill>
          <a:blip r:embed="rId25"/>
          <a:stretch>
            <a:fillRect/>
          </a:stretch>
        </p:blipFill>
        <p:spPr>
          <a:xfrm>
            <a:off x="9125712" y="1078992"/>
            <a:ext cx="2788920" cy="1463040"/>
          </a:xfrm>
          <a:prstGeom prst="rect">
            <a:avLst/>
          </a:prstGeom>
        </p:spPr>
      </p:pic>
      <p:sp>
        <p:nvSpPr>
          <p:cNvPr id="25" name="TextBox 24">
            <a:extLst>
              <a:ext uri="{FF2B5EF4-FFF2-40B4-BE49-F238E27FC236}">
                <a16:creationId xmlns:a16="http://schemas.microsoft.com/office/drawing/2014/main" id="{49B62EB9-90F1-0688-51E7-956122B92C22}"/>
              </a:ext>
            </a:extLst>
          </p:cNvPr>
          <p:cNvSpPr txBox="1"/>
          <p:nvPr/>
        </p:nvSpPr>
        <p:spPr>
          <a:xfrm>
            <a:off x="9198864" y="2578608"/>
            <a:ext cx="2697479" cy="658368"/>
          </a:xfrm>
          <a:prstGeom prst="rect">
            <a:avLst/>
          </a:prstGeom>
          <a:noFill/>
        </p:spPr>
        <p:txBody>
          <a:bodyPr wrap="square" lIns="27432" tIns="0" rIns="18288" bIns="0" anchor="ctr">
            <a:spAutoFit/>
          </a:bodyPr>
          <a:lstStyle/>
          <a:p>
            <a:pPr algn="just">
              <a:lnSpc>
                <a:spcPct val="100000"/>
              </a:lnSpc>
              <a:spcAft>
                <a:spcPts val="0"/>
              </a:spcAft>
            </a:pPr>
            <a:r>
              <a:rPr sz="1050" b="0">
                <a:solidFill>
                  <a:srgbClr val="222222"/>
                </a:solidFill>
                <a:latin typeface="Arial"/>
              </a:rPr>
              <a:t>Build time grows in a straight line with length: a 216-page PDF becomes a full deck in about 35 s with no API key.</a:t>
            </a:r>
          </a:p>
        </p:txBody>
      </p:sp>
      <p:sp>
        <p:nvSpPr>
          <p:cNvPr id="26" name="Rectangle 25">
            <a:extLst>
              <a:ext uri="{FF2B5EF4-FFF2-40B4-BE49-F238E27FC236}">
                <a16:creationId xmlns:a16="http://schemas.microsoft.com/office/drawing/2014/main" id="{8A2842B7-D6C9-5CBB-68A4-5183B0CA1C41}"/>
              </a:ext>
            </a:extLst>
          </p:cNvPr>
          <p:cNvSpPr/>
          <p:nvPr/>
        </p:nvSpPr>
        <p:spPr>
          <a:xfrm>
            <a:off x="9125712" y="2596896"/>
            <a:ext cx="45720" cy="603504"/>
          </a:xfrm>
          <a:prstGeom prst="rect">
            <a:avLst/>
          </a:prstGeom>
          <a:solidFill>
            <a:srgbClr val="2E9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a:extLst>
              <a:ext uri="{FF2B5EF4-FFF2-40B4-BE49-F238E27FC236}">
                <a16:creationId xmlns:a16="http://schemas.microsoft.com/office/drawing/2014/main" id="{5AF89CC3-F232-2713-A8FA-F1785653B34C}"/>
              </a:ext>
            </a:extLst>
          </p:cNvPr>
          <p:cNvSpPr/>
          <p:nvPr/>
        </p:nvSpPr>
        <p:spPr>
          <a:xfrm>
            <a:off x="274320" y="3337560"/>
            <a:ext cx="2788920" cy="1298448"/>
          </a:xfrm>
          <a:prstGeom prst="roundRect">
            <a:avLst>
              <a:gd name="adj" fmla="val 10000"/>
            </a:avLst>
          </a:prstGeom>
          <a:solidFill>
            <a:srgbClr val="FFFFFF"/>
          </a:solidFill>
          <a:ln>
            <a:no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a:extLst>
              <a:ext uri="{FF2B5EF4-FFF2-40B4-BE49-F238E27FC236}">
                <a16:creationId xmlns:a16="http://schemas.microsoft.com/office/drawing/2014/main" id="{341D55F8-0BF5-2E49-BA46-32A6180CCC3B}"/>
              </a:ext>
            </a:extLst>
          </p:cNvPr>
          <p:cNvSpPr/>
          <p:nvPr/>
        </p:nvSpPr>
        <p:spPr>
          <a:xfrm>
            <a:off x="274320" y="3392424"/>
            <a:ext cx="54864" cy="1188720"/>
          </a:xfrm>
          <a:prstGeom prst="rect">
            <a:avLst/>
          </a:prstGeom>
          <a:solidFill>
            <a:srgbClr val="0B6D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D386F9C1-EC15-855A-AA46-39E1AB10D0BC}"/>
              </a:ext>
            </a:extLst>
          </p:cNvPr>
          <p:cNvSpPr txBox="1"/>
          <p:nvPr/>
        </p:nvSpPr>
        <p:spPr>
          <a:xfrm>
            <a:off x="658368" y="3364992"/>
            <a:ext cx="2368296" cy="256032"/>
          </a:xfrm>
          <a:prstGeom prst="rect">
            <a:avLst/>
          </a:prstGeom>
          <a:noFill/>
        </p:spPr>
        <p:txBody>
          <a:bodyPr wrap="square" lIns="36576" tIns="18288" rIns="36576" bIns="18288" anchor="ctr">
            <a:spAutoFit/>
          </a:bodyPr>
          <a:lstStyle/>
          <a:p>
            <a:pPr algn="l">
              <a:lnSpc>
                <a:spcPct val="100000"/>
              </a:lnSpc>
              <a:spcAft>
                <a:spcPts val="0"/>
              </a:spcAft>
            </a:pPr>
            <a:r>
              <a:rPr sz="1250" b="1">
                <a:solidFill>
                  <a:srgbClr val="0B6DC0"/>
                </a:solidFill>
                <a:latin typeface="Arial"/>
              </a:rPr>
              <a:t>EDUCATIONAL</a:t>
            </a:r>
          </a:p>
        </p:txBody>
      </p:sp>
      <p:sp>
        <p:nvSpPr>
          <p:cNvPr id="30" name="TextBox 29">
            <a:extLst>
              <a:ext uri="{FF2B5EF4-FFF2-40B4-BE49-F238E27FC236}">
                <a16:creationId xmlns:a16="http://schemas.microsoft.com/office/drawing/2014/main" id="{A4F77ADC-71E2-BE13-02B5-8BF6AC64CD11}"/>
              </a:ext>
            </a:extLst>
          </p:cNvPr>
          <p:cNvSpPr txBox="1"/>
          <p:nvPr/>
        </p:nvSpPr>
        <p:spPr>
          <a:xfrm>
            <a:off x="365760" y="3639312"/>
            <a:ext cx="2660903" cy="960120"/>
          </a:xfrm>
          <a:prstGeom prst="rect">
            <a:avLst/>
          </a:prstGeom>
          <a:noFill/>
        </p:spPr>
        <p:txBody>
          <a:bodyPr wrap="square" lIns="18288" tIns="0" rIns="18288" bIns="0" anchor="t">
            <a:spAutoFit/>
          </a:bodyPr>
          <a:lstStyle/>
          <a:p>
            <a:pPr algn="just">
              <a:lnSpc>
                <a:spcPct val="100000"/>
              </a:lnSpc>
              <a:spcAft>
                <a:spcPts val="0"/>
              </a:spcAft>
            </a:pPr>
            <a:r>
              <a:rPr sz="1050" b="0">
                <a:solidFill>
                  <a:srgbClr val="222222"/>
                </a:solidFill>
                <a:latin typeface="Arial"/>
              </a:rPr>
              <a:t>One idea per slide with a picture, so the eye has one thing to read. Solved problems become step-by-step explainers with a reason for each step, and hard topics get labs and quizzes to practise on.</a:t>
            </a:r>
          </a:p>
        </p:txBody>
      </p:sp>
      <p:sp>
        <p:nvSpPr>
          <p:cNvPr id="32" name="Rounded Rectangle 31">
            <a:extLst>
              <a:ext uri="{FF2B5EF4-FFF2-40B4-BE49-F238E27FC236}">
                <a16:creationId xmlns:a16="http://schemas.microsoft.com/office/drawing/2014/main" id="{45D58C2B-9446-A21C-50B3-AF404C14F5C3}"/>
              </a:ext>
            </a:extLst>
          </p:cNvPr>
          <p:cNvSpPr/>
          <p:nvPr/>
        </p:nvSpPr>
        <p:spPr>
          <a:xfrm>
            <a:off x="3224784" y="3337560"/>
            <a:ext cx="2788920" cy="1298448"/>
          </a:xfrm>
          <a:prstGeom prst="roundRect">
            <a:avLst>
              <a:gd name="adj" fmla="val 10000"/>
            </a:avLst>
          </a:prstGeom>
          <a:solidFill>
            <a:srgbClr val="FFFFFF"/>
          </a:solidFill>
          <a:ln>
            <a:no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il_people.png">
            <a:extLst>
              <a:ext uri="{FF2B5EF4-FFF2-40B4-BE49-F238E27FC236}">
                <a16:creationId xmlns:a16="http://schemas.microsoft.com/office/drawing/2014/main" id="{F7DFC6B3-9019-880A-5132-C60A80C70F67}"/>
              </a:ext>
            </a:extLst>
          </p:cNvPr>
          <p:cNvPicPr>
            <a:picLocks noChangeAspect="1"/>
          </p:cNvPicPr>
          <p:nvPr/>
        </p:nvPicPr>
        <p:blipFill>
          <a:blip r:embed="rId8"/>
          <a:stretch>
            <a:fillRect/>
          </a:stretch>
        </p:blipFill>
        <p:spPr>
          <a:xfrm>
            <a:off x="3334512" y="3392424"/>
            <a:ext cx="237744" cy="237744"/>
          </a:xfrm>
          <a:prstGeom prst="rect">
            <a:avLst/>
          </a:prstGeom>
        </p:spPr>
      </p:pic>
      <p:sp>
        <p:nvSpPr>
          <p:cNvPr id="34" name="TextBox 33">
            <a:extLst>
              <a:ext uri="{FF2B5EF4-FFF2-40B4-BE49-F238E27FC236}">
                <a16:creationId xmlns:a16="http://schemas.microsoft.com/office/drawing/2014/main" id="{5E8A5B4C-2FFD-D912-D651-842B76F50EF8}"/>
              </a:ext>
            </a:extLst>
          </p:cNvPr>
          <p:cNvSpPr txBox="1"/>
          <p:nvPr/>
        </p:nvSpPr>
        <p:spPr>
          <a:xfrm>
            <a:off x="3608832" y="3364992"/>
            <a:ext cx="2368296" cy="256032"/>
          </a:xfrm>
          <a:prstGeom prst="rect">
            <a:avLst/>
          </a:prstGeom>
          <a:noFill/>
        </p:spPr>
        <p:txBody>
          <a:bodyPr wrap="square" lIns="36576" tIns="18288" rIns="36576" bIns="18288" anchor="ctr">
            <a:spAutoFit/>
          </a:bodyPr>
          <a:lstStyle/>
          <a:p>
            <a:pPr algn="l">
              <a:lnSpc>
                <a:spcPct val="100000"/>
              </a:lnSpc>
              <a:spcAft>
                <a:spcPts val="0"/>
              </a:spcAft>
            </a:pPr>
            <a:r>
              <a:rPr sz="1250" b="1">
                <a:solidFill>
                  <a:srgbClr val="2E9E45"/>
                </a:solidFill>
                <a:latin typeface="Arial"/>
              </a:rPr>
              <a:t>SOCIAL</a:t>
            </a:r>
          </a:p>
        </p:txBody>
      </p:sp>
      <p:sp>
        <p:nvSpPr>
          <p:cNvPr id="35" name="TextBox 34">
            <a:extLst>
              <a:ext uri="{FF2B5EF4-FFF2-40B4-BE49-F238E27FC236}">
                <a16:creationId xmlns:a16="http://schemas.microsoft.com/office/drawing/2014/main" id="{47994715-85ED-5D81-779C-15BA84D5A7E4}"/>
              </a:ext>
            </a:extLst>
          </p:cNvPr>
          <p:cNvSpPr txBox="1"/>
          <p:nvPr/>
        </p:nvSpPr>
        <p:spPr>
          <a:xfrm>
            <a:off x="3316224" y="3639312"/>
            <a:ext cx="2660903" cy="960120"/>
          </a:xfrm>
          <a:prstGeom prst="rect">
            <a:avLst/>
          </a:prstGeom>
          <a:noFill/>
        </p:spPr>
        <p:txBody>
          <a:bodyPr wrap="square" lIns="18288" tIns="0" rIns="18288" bIns="0" anchor="t">
            <a:spAutoFit/>
          </a:bodyPr>
          <a:lstStyle/>
          <a:p>
            <a:pPr algn="just">
              <a:lnSpc>
                <a:spcPct val="100000"/>
              </a:lnSpc>
              <a:spcAft>
                <a:spcPts val="0"/>
              </a:spcAft>
            </a:pPr>
            <a:r>
              <a:rPr sz="1050" b="0">
                <a:solidFill>
                  <a:srgbClr val="222222"/>
                </a:solidFill>
                <a:latin typeface="Arial"/>
              </a:rPr>
              <a:t>Runs offline and free on a college laptop, so students without paid tools, fast internet or a laptop of their own get the same material through a share link on any phone. Plain words and alt text help first-generation learners.</a:t>
            </a:r>
          </a:p>
        </p:txBody>
      </p:sp>
      <p:sp>
        <p:nvSpPr>
          <p:cNvPr id="36" name="Rectangle 35">
            <a:extLst>
              <a:ext uri="{FF2B5EF4-FFF2-40B4-BE49-F238E27FC236}">
                <a16:creationId xmlns:a16="http://schemas.microsoft.com/office/drawing/2014/main" id="{FDE2A374-569D-5426-65F7-30BB6918181A}"/>
              </a:ext>
            </a:extLst>
          </p:cNvPr>
          <p:cNvSpPr/>
          <p:nvPr/>
        </p:nvSpPr>
        <p:spPr>
          <a:xfrm>
            <a:off x="3224784" y="3392424"/>
            <a:ext cx="54864" cy="1188720"/>
          </a:xfrm>
          <a:prstGeom prst="rect">
            <a:avLst/>
          </a:prstGeom>
          <a:solidFill>
            <a:srgbClr val="2E9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21" name="Picture 17420" descr="image.png"/>
          <p:cNvPicPr>
            <a:picLocks noChangeAspect="1"/>
          </p:cNvPicPr>
          <p:nvPr/>
        </p:nvPicPr>
        <p:blipFill>
          <a:blip r:embed="rId21"/>
          <a:stretch>
            <a:fillRect/>
          </a:stretch>
        </p:blipFill>
        <p:spPr>
          <a:xfrm>
            <a:off x="384048" y="3392424"/>
            <a:ext cx="192024" cy="192024"/>
          </a:xfrm>
          <a:prstGeom prst="rect">
            <a:avLst/>
          </a:prstGeom>
        </p:spPr>
      </p:pic>
      <p:sp>
        <p:nvSpPr>
          <p:cNvPr id="38" name="Rounded Rectangle 37">
            <a:extLst>
              <a:ext uri="{FF2B5EF4-FFF2-40B4-BE49-F238E27FC236}">
                <a16:creationId xmlns:a16="http://schemas.microsoft.com/office/drawing/2014/main" id="{3172E326-A1B7-D103-EF26-CB3371D309FA}"/>
              </a:ext>
            </a:extLst>
          </p:cNvPr>
          <p:cNvSpPr/>
          <p:nvPr/>
        </p:nvSpPr>
        <p:spPr>
          <a:xfrm>
            <a:off x="6175248" y="3337560"/>
            <a:ext cx="2788920" cy="1298448"/>
          </a:xfrm>
          <a:prstGeom prst="roundRect">
            <a:avLst>
              <a:gd name="adj" fmla="val 10000"/>
            </a:avLst>
          </a:prstGeom>
          <a:solidFill>
            <a:srgbClr val="FFFFFF"/>
          </a:solidFill>
          <a:ln>
            <a:no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D5673313-C3A2-4890-5DD4-9D89F10FAED1}"/>
              </a:ext>
            </a:extLst>
          </p:cNvPr>
          <p:cNvSpPr txBox="1"/>
          <p:nvPr/>
        </p:nvSpPr>
        <p:spPr>
          <a:xfrm>
            <a:off x="6559296" y="3364992"/>
            <a:ext cx="2368296" cy="256032"/>
          </a:xfrm>
          <a:prstGeom prst="rect">
            <a:avLst/>
          </a:prstGeom>
          <a:noFill/>
        </p:spPr>
        <p:txBody>
          <a:bodyPr wrap="square" lIns="36576" tIns="18288" rIns="36576" bIns="18288" anchor="ctr">
            <a:spAutoFit/>
          </a:bodyPr>
          <a:lstStyle/>
          <a:p>
            <a:pPr algn="l">
              <a:lnSpc>
                <a:spcPct val="100000"/>
              </a:lnSpc>
              <a:spcAft>
                <a:spcPts val="0"/>
              </a:spcAft>
            </a:pPr>
            <a:r>
              <a:rPr sz="1250" b="1">
                <a:solidFill>
                  <a:srgbClr val="1E8E4B"/>
                </a:solidFill>
                <a:latin typeface="Arial"/>
              </a:rPr>
              <a:t>INSTITUTIONAL</a:t>
            </a:r>
          </a:p>
        </p:txBody>
      </p:sp>
      <p:pic>
        <p:nvPicPr>
          <p:cNvPr id="40" name="Picture 39" descr="il_leaf.png">
            <a:extLst>
              <a:ext uri="{FF2B5EF4-FFF2-40B4-BE49-F238E27FC236}">
                <a16:creationId xmlns:a16="http://schemas.microsoft.com/office/drawing/2014/main" id="{7EC3754A-D10E-0C4D-405A-730C2C4D4954}"/>
              </a:ext>
            </a:extLst>
          </p:cNvPr>
          <p:cNvPicPr>
            <a:picLocks noChangeAspect="1"/>
          </p:cNvPicPr>
          <p:nvPr/>
        </p:nvPicPr>
        <p:blipFill>
          <a:blip r:embed="rId10"/>
          <a:stretch>
            <a:fillRect/>
          </a:stretch>
        </p:blipFill>
        <p:spPr>
          <a:xfrm>
            <a:off x="6284976" y="3392424"/>
            <a:ext cx="237744" cy="237744"/>
          </a:xfrm>
          <a:prstGeom prst="rect">
            <a:avLst/>
          </a:prstGeom>
        </p:spPr>
      </p:pic>
      <p:sp>
        <p:nvSpPr>
          <p:cNvPr id="41" name="TextBox 40">
            <a:extLst>
              <a:ext uri="{FF2B5EF4-FFF2-40B4-BE49-F238E27FC236}">
                <a16:creationId xmlns:a16="http://schemas.microsoft.com/office/drawing/2014/main" id="{36EA61EB-6E1C-6C8A-288F-F8673FE1CD85}"/>
              </a:ext>
            </a:extLst>
          </p:cNvPr>
          <p:cNvSpPr txBox="1"/>
          <p:nvPr/>
        </p:nvSpPr>
        <p:spPr>
          <a:xfrm>
            <a:off x="6266688" y="3639312"/>
            <a:ext cx="2660903" cy="960120"/>
          </a:xfrm>
          <a:prstGeom prst="rect">
            <a:avLst/>
          </a:prstGeom>
          <a:noFill/>
        </p:spPr>
        <p:txBody>
          <a:bodyPr wrap="square" lIns="18288" tIns="0" rIns="18288" bIns="0" anchor="t">
            <a:spAutoFit/>
          </a:bodyPr>
          <a:lstStyle/>
          <a:p>
            <a:pPr algn="just">
              <a:lnSpc>
                <a:spcPct val="100000"/>
              </a:lnSpc>
              <a:spcAft>
                <a:spcPts val="0"/>
              </a:spcAft>
            </a:pPr>
            <a:r>
              <a:rPr sz="1050" b="0">
                <a:solidFill>
                  <a:srgbClr val="222222"/>
                </a:solidFill>
                <a:latin typeface="Arial"/>
              </a:rPr>
              <a:t>Course decks become consistent and accessible across the department. A shared library of decks and labs builds up every semester and supports flipped, remote and revision classes.</a:t>
            </a:r>
          </a:p>
        </p:txBody>
      </p:sp>
      <p:sp>
        <p:nvSpPr>
          <p:cNvPr id="42" name="Rectangle 41">
            <a:extLst>
              <a:ext uri="{FF2B5EF4-FFF2-40B4-BE49-F238E27FC236}">
                <a16:creationId xmlns:a16="http://schemas.microsoft.com/office/drawing/2014/main" id="{A027EA1C-0285-0DBF-8D8F-5F85634DFC43}"/>
              </a:ext>
            </a:extLst>
          </p:cNvPr>
          <p:cNvSpPr/>
          <p:nvPr/>
        </p:nvSpPr>
        <p:spPr>
          <a:xfrm>
            <a:off x="6175248" y="3392424"/>
            <a:ext cx="54864" cy="118872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a:extLst>
              <a:ext uri="{FF2B5EF4-FFF2-40B4-BE49-F238E27FC236}">
                <a16:creationId xmlns:a16="http://schemas.microsoft.com/office/drawing/2014/main" id="{49C8C696-AFAE-F2A1-2B5A-6655B4BA2B05}"/>
              </a:ext>
            </a:extLst>
          </p:cNvPr>
          <p:cNvSpPr/>
          <p:nvPr/>
        </p:nvSpPr>
        <p:spPr>
          <a:xfrm>
            <a:off x="9125712" y="3337560"/>
            <a:ext cx="2788920" cy="1298448"/>
          </a:xfrm>
          <a:prstGeom prst="roundRect">
            <a:avLst>
              <a:gd name="adj" fmla="val 10000"/>
            </a:avLst>
          </a:prstGeom>
          <a:solidFill>
            <a:srgbClr val="FFFFFF"/>
          </a:solidFill>
          <a:ln>
            <a:no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F7C8A3B6-E216-DAFA-39E0-EA6D3A75BAEE}"/>
              </a:ext>
            </a:extLst>
          </p:cNvPr>
          <p:cNvSpPr txBox="1"/>
          <p:nvPr/>
        </p:nvSpPr>
        <p:spPr>
          <a:xfrm>
            <a:off x="9509760" y="3364992"/>
            <a:ext cx="2368296" cy="256032"/>
          </a:xfrm>
          <a:prstGeom prst="rect">
            <a:avLst/>
          </a:prstGeom>
          <a:noFill/>
        </p:spPr>
        <p:txBody>
          <a:bodyPr wrap="square" lIns="36576" tIns="18288" rIns="36576" bIns="18288" anchor="ctr">
            <a:spAutoFit/>
          </a:bodyPr>
          <a:lstStyle/>
          <a:p>
            <a:pPr algn="l">
              <a:lnSpc>
                <a:spcPct val="100000"/>
              </a:lnSpc>
              <a:spcAft>
                <a:spcPts val="0"/>
              </a:spcAft>
            </a:pPr>
            <a:r>
              <a:rPr sz="1250" b="1">
                <a:solidFill>
                  <a:srgbClr val="0B2545"/>
                </a:solidFill>
                <a:latin typeface="Arial"/>
              </a:rPr>
              <a:t>TECHNOLOGICAL</a:t>
            </a:r>
          </a:p>
        </p:txBody>
      </p:sp>
      <p:sp>
        <p:nvSpPr>
          <p:cNvPr id="45" name="Rectangle 44">
            <a:extLst>
              <a:ext uri="{FF2B5EF4-FFF2-40B4-BE49-F238E27FC236}">
                <a16:creationId xmlns:a16="http://schemas.microsoft.com/office/drawing/2014/main" id="{E4CB32A2-1DB1-4724-39F0-F7168997AFA4}"/>
              </a:ext>
            </a:extLst>
          </p:cNvPr>
          <p:cNvSpPr/>
          <p:nvPr/>
        </p:nvSpPr>
        <p:spPr>
          <a:xfrm>
            <a:off x="9125712" y="3392424"/>
            <a:ext cx="54864" cy="1188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Picture 45" descr="il_cpu.png">
            <a:extLst>
              <a:ext uri="{FF2B5EF4-FFF2-40B4-BE49-F238E27FC236}">
                <a16:creationId xmlns:a16="http://schemas.microsoft.com/office/drawing/2014/main" id="{C03AEB76-74F4-7912-377E-0F16A6C9C878}"/>
              </a:ext>
            </a:extLst>
          </p:cNvPr>
          <p:cNvPicPr>
            <a:picLocks noChangeAspect="1"/>
          </p:cNvPicPr>
          <p:nvPr/>
        </p:nvPicPr>
        <p:blipFill>
          <a:blip r:embed="rId11"/>
          <a:stretch>
            <a:fillRect/>
          </a:stretch>
        </p:blipFill>
        <p:spPr>
          <a:xfrm>
            <a:off x="9235440" y="3392424"/>
            <a:ext cx="237744" cy="237744"/>
          </a:xfrm>
          <a:prstGeom prst="rect">
            <a:avLst/>
          </a:prstGeom>
        </p:spPr>
      </p:pic>
      <p:sp>
        <p:nvSpPr>
          <p:cNvPr id="47" name="TextBox 46">
            <a:extLst>
              <a:ext uri="{FF2B5EF4-FFF2-40B4-BE49-F238E27FC236}">
                <a16:creationId xmlns:a16="http://schemas.microsoft.com/office/drawing/2014/main" id="{6334712A-A78C-A85D-FFC4-3AE67130F19F}"/>
              </a:ext>
            </a:extLst>
          </p:cNvPr>
          <p:cNvSpPr txBox="1"/>
          <p:nvPr/>
        </p:nvSpPr>
        <p:spPr>
          <a:xfrm>
            <a:off x="9217152" y="3639312"/>
            <a:ext cx="2660903" cy="960120"/>
          </a:xfrm>
          <a:prstGeom prst="rect">
            <a:avLst/>
          </a:prstGeom>
          <a:noFill/>
        </p:spPr>
        <p:txBody>
          <a:bodyPr wrap="square" lIns="18288" tIns="0" rIns="18288" bIns="0" anchor="t">
            <a:spAutoFit/>
          </a:bodyPr>
          <a:lstStyle/>
          <a:p>
            <a:pPr algn="just">
              <a:lnSpc>
                <a:spcPct val="100000"/>
              </a:lnSpc>
              <a:spcAft>
                <a:spcPts val="0"/>
              </a:spcAft>
            </a:pPr>
            <a:r>
              <a:rPr sz="1050" b="0">
                <a:solidFill>
                  <a:srgbClr val="222222"/>
                </a:solidFill>
                <a:latin typeface="Arial"/>
              </a:rPr>
              <a:t>Explainable rules instead of a black box, our own PSF score and CLASS splitting, and AI used only where its output can be checked: sanitised diagrams, checked code, grounded titles.</a:t>
            </a:r>
          </a:p>
        </p:txBody>
      </p:sp>
      <p:sp>
        <p:nvSpPr>
          <p:cNvPr id="48" name="Rounded Rectangle 47">
            <a:extLst>
              <a:ext uri="{FF2B5EF4-FFF2-40B4-BE49-F238E27FC236}">
                <a16:creationId xmlns:a16="http://schemas.microsoft.com/office/drawing/2014/main" id="{08E386FD-CF41-FE42-5253-31BA55EC16D2}"/>
              </a:ext>
            </a:extLst>
          </p:cNvPr>
          <p:cNvSpPr/>
          <p:nvPr/>
        </p:nvSpPr>
        <p:spPr>
          <a:xfrm>
            <a:off x="274320" y="4700016"/>
            <a:ext cx="1894332" cy="676656"/>
          </a:xfrm>
          <a:prstGeom prst="roundRect">
            <a:avLst>
              <a:gd name="adj" fmla="val 14000"/>
            </a:avLst>
          </a:prstGeom>
          <a:solidFill>
            <a:srgbClr val="E4F4E8"/>
          </a:solidFill>
          <a:ln w="12700">
            <a:solidFill>
              <a:srgbClr val="2E9E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a:extLst>
              <a:ext uri="{FF2B5EF4-FFF2-40B4-BE49-F238E27FC236}">
                <a16:creationId xmlns:a16="http://schemas.microsoft.com/office/drawing/2014/main" id="{B195E69A-AC77-CF3F-DEF3-CB53E8BAC1CD}"/>
              </a:ext>
            </a:extLst>
          </p:cNvPr>
          <p:cNvSpPr/>
          <p:nvPr/>
        </p:nvSpPr>
        <p:spPr>
          <a:xfrm>
            <a:off x="2223516" y="4700016"/>
            <a:ext cx="1894332" cy="676656"/>
          </a:xfrm>
          <a:prstGeom prst="roundRect">
            <a:avLst>
              <a:gd name="adj" fmla="val 14000"/>
            </a:avLst>
          </a:prstGeom>
          <a:solidFill>
            <a:srgbClr val="E4F4E8"/>
          </a:solidFill>
          <a:ln w="12700">
            <a:solidFill>
              <a:srgbClr val="2E9E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a:extLst>
              <a:ext uri="{FF2B5EF4-FFF2-40B4-BE49-F238E27FC236}">
                <a16:creationId xmlns:a16="http://schemas.microsoft.com/office/drawing/2014/main" id="{10ECBC03-8D9F-7E84-9C4D-0DB1FCE8368A}"/>
              </a:ext>
            </a:extLst>
          </p:cNvPr>
          <p:cNvSpPr/>
          <p:nvPr/>
        </p:nvSpPr>
        <p:spPr>
          <a:xfrm>
            <a:off x="4172712" y="4700016"/>
            <a:ext cx="1894332" cy="676656"/>
          </a:xfrm>
          <a:prstGeom prst="roundRect">
            <a:avLst>
              <a:gd name="adj" fmla="val 14000"/>
            </a:avLst>
          </a:prstGeom>
          <a:solidFill>
            <a:srgbClr val="E4F4E8"/>
          </a:solidFill>
          <a:ln w="12700">
            <a:solidFill>
              <a:srgbClr val="2E9E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a:extLst>
              <a:ext uri="{FF2B5EF4-FFF2-40B4-BE49-F238E27FC236}">
                <a16:creationId xmlns:a16="http://schemas.microsoft.com/office/drawing/2014/main" id="{24AF9467-9CA8-1D81-46FB-2953FE6DB7A9}"/>
              </a:ext>
            </a:extLst>
          </p:cNvPr>
          <p:cNvSpPr/>
          <p:nvPr/>
        </p:nvSpPr>
        <p:spPr>
          <a:xfrm>
            <a:off x="6121908" y="4700016"/>
            <a:ext cx="1894332" cy="676656"/>
          </a:xfrm>
          <a:prstGeom prst="roundRect">
            <a:avLst>
              <a:gd name="adj" fmla="val 14000"/>
            </a:avLst>
          </a:prstGeom>
          <a:solidFill>
            <a:srgbClr val="E4F4E8"/>
          </a:solidFill>
          <a:ln w="12700">
            <a:solidFill>
              <a:srgbClr val="2E9E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a:extLst>
              <a:ext uri="{FF2B5EF4-FFF2-40B4-BE49-F238E27FC236}">
                <a16:creationId xmlns:a16="http://schemas.microsoft.com/office/drawing/2014/main" id="{0966103E-CF4C-33C9-0553-2E37CD0B8823}"/>
              </a:ext>
            </a:extLst>
          </p:cNvPr>
          <p:cNvSpPr/>
          <p:nvPr/>
        </p:nvSpPr>
        <p:spPr>
          <a:xfrm>
            <a:off x="8071104" y="4700016"/>
            <a:ext cx="1894332" cy="676656"/>
          </a:xfrm>
          <a:prstGeom prst="roundRect">
            <a:avLst>
              <a:gd name="adj" fmla="val 14000"/>
            </a:avLst>
          </a:prstGeom>
          <a:solidFill>
            <a:srgbClr val="E4F4E8"/>
          </a:solidFill>
          <a:ln w="12700">
            <a:solidFill>
              <a:srgbClr val="2E9E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a:extLst>
              <a:ext uri="{FF2B5EF4-FFF2-40B4-BE49-F238E27FC236}">
                <a16:creationId xmlns:a16="http://schemas.microsoft.com/office/drawing/2014/main" id="{0AC436FD-5DCF-C6E8-061B-151C2FD1D778}"/>
              </a:ext>
            </a:extLst>
          </p:cNvPr>
          <p:cNvSpPr/>
          <p:nvPr/>
        </p:nvSpPr>
        <p:spPr>
          <a:xfrm>
            <a:off x="10020300" y="4700016"/>
            <a:ext cx="1894332" cy="676656"/>
          </a:xfrm>
          <a:prstGeom prst="roundRect">
            <a:avLst>
              <a:gd name="adj" fmla="val 14000"/>
            </a:avLst>
          </a:prstGeom>
          <a:solidFill>
            <a:srgbClr val="E4F4E8"/>
          </a:solidFill>
          <a:ln w="12700">
            <a:solidFill>
              <a:srgbClr val="2E9E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4" name="Picture 53" descr="iw_1.png">
            <a:extLst>
              <a:ext uri="{FF2B5EF4-FFF2-40B4-BE49-F238E27FC236}">
                <a16:creationId xmlns:a16="http://schemas.microsoft.com/office/drawing/2014/main" id="{8A5FFE91-5358-7C7E-43BA-3E77AB72FADE}"/>
              </a:ext>
            </a:extLst>
          </p:cNvPr>
          <p:cNvPicPr>
            <a:picLocks noChangeAspect="1"/>
          </p:cNvPicPr>
          <p:nvPr/>
        </p:nvPicPr>
        <p:blipFill>
          <a:blip r:embed="rId12"/>
          <a:stretch>
            <a:fillRect/>
          </a:stretch>
        </p:blipFill>
        <p:spPr>
          <a:xfrm>
            <a:off x="338328" y="4910328"/>
            <a:ext cx="237744" cy="237744"/>
          </a:xfrm>
          <a:prstGeom prst="rect">
            <a:avLst/>
          </a:prstGeom>
        </p:spPr>
      </p:pic>
      <p:sp>
        <p:nvSpPr>
          <p:cNvPr id="55" name="TextBox 54">
            <a:extLst>
              <a:ext uri="{FF2B5EF4-FFF2-40B4-BE49-F238E27FC236}">
                <a16:creationId xmlns:a16="http://schemas.microsoft.com/office/drawing/2014/main" id="{AAAC070A-0FAD-13E5-92DB-0FDE2C176BC8}"/>
              </a:ext>
            </a:extLst>
          </p:cNvPr>
          <p:cNvSpPr txBox="1"/>
          <p:nvPr/>
        </p:nvSpPr>
        <p:spPr>
          <a:xfrm>
            <a:off x="603503" y="4700016"/>
            <a:ext cx="1528572" cy="676656"/>
          </a:xfrm>
          <a:prstGeom prst="rect">
            <a:avLst/>
          </a:prstGeom>
          <a:noFill/>
        </p:spPr>
        <p:txBody>
          <a:bodyPr wrap="square" lIns="18288" tIns="0" rIns="18288" bIns="0" anchor="ctr">
            <a:spAutoFit/>
          </a:bodyPr>
          <a:lstStyle/>
          <a:p>
            <a:pPr algn="l">
              <a:lnSpc>
                <a:spcPct val="100000"/>
              </a:lnSpc>
              <a:spcAft>
                <a:spcPts val="0"/>
              </a:spcAft>
            </a:pPr>
            <a:r>
              <a:rPr sz="1100" b="1">
                <a:solidFill>
                  <a:srgbClr val="0B2545"/>
                </a:solidFill>
                <a:latin typeface="Arial"/>
              </a:rPr>
              <a:t>Students</a:t>
            </a:r>
          </a:p>
          <a:p>
            <a:pPr algn="l">
              <a:lnSpc>
                <a:spcPct val="100000"/>
              </a:lnSpc>
              <a:spcAft>
                <a:spcPts val="0"/>
              </a:spcAft>
            </a:pPr>
            <a:r>
              <a:rPr sz="1100" b="0">
                <a:solidFill>
                  <a:srgbClr val="222222"/>
                </a:solidFill>
                <a:latin typeface="Arial"/>
              </a:rPr>
              <a:t>revise with visuals, quizzes and labs</a:t>
            </a:r>
          </a:p>
        </p:txBody>
      </p:sp>
      <p:pic>
        <p:nvPicPr>
          <p:cNvPr id="56" name="Picture 55" descr="iw_2.png">
            <a:extLst>
              <a:ext uri="{FF2B5EF4-FFF2-40B4-BE49-F238E27FC236}">
                <a16:creationId xmlns:a16="http://schemas.microsoft.com/office/drawing/2014/main" id="{DC6D39EA-87A1-1956-3113-92A685A648B4}"/>
              </a:ext>
            </a:extLst>
          </p:cNvPr>
          <p:cNvPicPr>
            <a:picLocks noChangeAspect="1"/>
          </p:cNvPicPr>
          <p:nvPr/>
        </p:nvPicPr>
        <p:blipFill>
          <a:blip r:embed="rId13"/>
          <a:stretch>
            <a:fillRect/>
          </a:stretch>
        </p:blipFill>
        <p:spPr>
          <a:xfrm>
            <a:off x="2287524" y="4910328"/>
            <a:ext cx="237744" cy="237744"/>
          </a:xfrm>
          <a:prstGeom prst="rect">
            <a:avLst/>
          </a:prstGeom>
        </p:spPr>
      </p:pic>
      <p:sp>
        <p:nvSpPr>
          <p:cNvPr id="57" name="TextBox 56">
            <a:extLst>
              <a:ext uri="{FF2B5EF4-FFF2-40B4-BE49-F238E27FC236}">
                <a16:creationId xmlns:a16="http://schemas.microsoft.com/office/drawing/2014/main" id="{AB229840-8D2C-0659-F39E-E25F2318BB3C}"/>
              </a:ext>
            </a:extLst>
          </p:cNvPr>
          <p:cNvSpPr txBox="1"/>
          <p:nvPr/>
        </p:nvSpPr>
        <p:spPr>
          <a:xfrm>
            <a:off x="2552700" y="4700016"/>
            <a:ext cx="1528572" cy="676656"/>
          </a:xfrm>
          <a:prstGeom prst="rect">
            <a:avLst/>
          </a:prstGeom>
          <a:noFill/>
        </p:spPr>
        <p:txBody>
          <a:bodyPr wrap="square" lIns="18288" tIns="0" rIns="18288" bIns="0" anchor="ctr">
            <a:spAutoFit/>
          </a:bodyPr>
          <a:lstStyle/>
          <a:p>
            <a:pPr algn="l">
              <a:lnSpc>
                <a:spcPct val="100000"/>
              </a:lnSpc>
              <a:spcAft>
                <a:spcPts val="0"/>
              </a:spcAft>
            </a:pPr>
            <a:r>
              <a:rPr sz="1100" b="1">
                <a:solidFill>
                  <a:srgbClr val="0B2545"/>
                </a:solidFill>
                <a:latin typeface="Arial"/>
              </a:rPr>
              <a:t>Faculty</a:t>
            </a:r>
          </a:p>
          <a:p>
            <a:pPr algn="l">
              <a:lnSpc>
                <a:spcPct val="100000"/>
              </a:lnSpc>
              <a:spcAft>
                <a:spcPts val="0"/>
              </a:spcAft>
            </a:pPr>
            <a:r>
              <a:rPr sz="1100" b="0">
                <a:solidFill>
                  <a:srgbClr val="222222"/>
                </a:solidFill>
                <a:latin typeface="Arial"/>
              </a:rPr>
              <a:t>old deck redesigned in about a minute</a:t>
            </a:r>
          </a:p>
        </p:txBody>
      </p:sp>
      <p:pic>
        <p:nvPicPr>
          <p:cNvPr id="58" name="Picture 57" descr="iw_3.png">
            <a:extLst>
              <a:ext uri="{FF2B5EF4-FFF2-40B4-BE49-F238E27FC236}">
                <a16:creationId xmlns:a16="http://schemas.microsoft.com/office/drawing/2014/main" id="{33B9F58C-33E1-EF61-51DF-28517809C1B2}"/>
              </a:ext>
            </a:extLst>
          </p:cNvPr>
          <p:cNvPicPr>
            <a:picLocks noChangeAspect="1"/>
          </p:cNvPicPr>
          <p:nvPr/>
        </p:nvPicPr>
        <p:blipFill>
          <a:blip r:embed="rId14"/>
          <a:stretch>
            <a:fillRect/>
          </a:stretch>
        </p:blipFill>
        <p:spPr>
          <a:xfrm>
            <a:off x="4236720" y="4910328"/>
            <a:ext cx="237744" cy="237744"/>
          </a:xfrm>
          <a:prstGeom prst="rect">
            <a:avLst/>
          </a:prstGeom>
        </p:spPr>
      </p:pic>
      <p:sp>
        <p:nvSpPr>
          <p:cNvPr id="59" name="TextBox 58">
            <a:extLst>
              <a:ext uri="{FF2B5EF4-FFF2-40B4-BE49-F238E27FC236}">
                <a16:creationId xmlns:a16="http://schemas.microsoft.com/office/drawing/2014/main" id="{74B9BA7D-45A4-556B-808C-D319DCEF0656}"/>
              </a:ext>
            </a:extLst>
          </p:cNvPr>
          <p:cNvSpPr txBox="1"/>
          <p:nvPr/>
        </p:nvSpPr>
        <p:spPr>
          <a:xfrm>
            <a:off x="4501896" y="4700016"/>
            <a:ext cx="1528572" cy="676656"/>
          </a:xfrm>
          <a:prstGeom prst="rect">
            <a:avLst/>
          </a:prstGeom>
          <a:noFill/>
        </p:spPr>
        <p:txBody>
          <a:bodyPr wrap="square" lIns="18288" tIns="0" rIns="18288" bIns="0" anchor="ctr">
            <a:spAutoFit/>
          </a:bodyPr>
          <a:lstStyle/>
          <a:p>
            <a:pPr algn="l">
              <a:lnSpc>
                <a:spcPct val="100000"/>
              </a:lnSpc>
              <a:spcAft>
                <a:spcPts val="0"/>
              </a:spcAft>
            </a:pPr>
            <a:r>
              <a:rPr sz="1100" b="1">
                <a:solidFill>
                  <a:srgbClr val="0B2545"/>
                </a:solidFill>
                <a:latin typeface="Arial"/>
              </a:rPr>
              <a:t>HoD / Department</a:t>
            </a:r>
          </a:p>
          <a:p>
            <a:pPr algn="l">
              <a:lnSpc>
                <a:spcPct val="100000"/>
              </a:lnSpc>
              <a:spcAft>
                <a:spcPts val="0"/>
              </a:spcAft>
            </a:pPr>
            <a:r>
              <a:rPr sz="1100" b="0">
                <a:solidFill>
                  <a:srgbClr val="222222"/>
                </a:solidFill>
                <a:latin typeface="Arial"/>
              </a:rPr>
              <a:t>consistent, reusable course material</a:t>
            </a:r>
          </a:p>
        </p:txBody>
      </p:sp>
      <p:pic>
        <p:nvPicPr>
          <p:cNvPr id="60" name="Picture 59" descr="iw_4.png">
            <a:extLst>
              <a:ext uri="{FF2B5EF4-FFF2-40B4-BE49-F238E27FC236}">
                <a16:creationId xmlns:a16="http://schemas.microsoft.com/office/drawing/2014/main" id="{7062322D-24F3-C0AE-92AE-A0EAA521085A}"/>
              </a:ext>
            </a:extLst>
          </p:cNvPr>
          <p:cNvPicPr>
            <a:picLocks noChangeAspect="1"/>
          </p:cNvPicPr>
          <p:nvPr/>
        </p:nvPicPr>
        <p:blipFill>
          <a:blip r:embed="rId15"/>
          <a:stretch>
            <a:fillRect/>
          </a:stretch>
        </p:blipFill>
        <p:spPr>
          <a:xfrm>
            <a:off x="6185916" y="4910328"/>
            <a:ext cx="237744" cy="237744"/>
          </a:xfrm>
          <a:prstGeom prst="rect">
            <a:avLst/>
          </a:prstGeom>
        </p:spPr>
      </p:pic>
      <p:sp>
        <p:nvSpPr>
          <p:cNvPr id="61" name="TextBox 60">
            <a:extLst>
              <a:ext uri="{FF2B5EF4-FFF2-40B4-BE49-F238E27FC236}">
                <a16:creationId xmlns:a16="http://schemas.microsoft.com/office/drawing/2014/main" id="{9EE30F70-79DA-19B0-6805-E82FAD1CFC62}"/>
              </a:ext>
            </a:extLst>
          </p:cNvPr>
          <p:cNvSpPr txBox="1"/>
          <p:nvPr/>
        </p:nvSpPr>
        <p:spPr>
          <a:xfrm>
            <a:off x="6451092" y="4700016"/>
            <a:ext cx="1528572" cy="676656"/>
          </a:xfrm>
          <a:prstGeom prst="rect">
            <a:avLst/>
          </a:prstGeom>
          <a:noFill/>
        </p:spPr>
        <p:txBody>
          <a:bodyPr wrap="square" lIns="18288" tIns="0" rIns="18288" bIns="0" anchor="ctr">
            <a:spAutoFit/>
          </a:bodyPr>
          <a:lstStyle/>
          <a:p>
            <a:pPr algn="l">
              <a:lnSpc>
                <a:spcPct val="100000"/>
              </a:lnSpc>
              <a:spcAft>
                <a:spcPts val="0"/>
              </a:spcAft>
            </a:pPr>
            <a:r>
              <a:rPr sz="1100" b="1">
                <a:solidFill>
                  <a:srgbClr val="0B2545"/>
                </a:solidFill>
                <a:latin typeface="Arial"/>
              </a:rPr>
              <a:t>Exam preparation</a:t>
            </a:r>
          </a:p>
          <a:p>
            <a:pPr algn="l">
              <a:lnSpc>
                <a:spcPct val="100000"/>
              </a:lnSpc>
              <a:spcAft>
                <a:spcPts val="0"/>
              </a:spcAft>
            </a:pPr>
            <a:r>
              <a:rPr sz="1100" b="0">
                <a:solidFill>
                  <a:srgbClr val="222222"/>
                </a:solidFill>
                <a:latin typeface="Arial"/>
              </a:rPr>
              <a:t>flashcards, quiz bank, cheat sheet</a:t>
            </a:r>
          </a:p>
        </p:txBody>
      </p:sp>
      <p:pic>
        <p:nvPicPr>
          <p:cNvPr id="62" name="Picture 61" descr="iw_5.png">
            <a:extLst>
              <a:ext uri="{FF2B5EF4-FFF2-40B4-BE49-F238E27FC236}">
                <a16:creationId xmlns:a16="http://schemas.microsoft.com/office/drawing/2014/main" id="{D70B195C-83FB-2D91-E5E1-4A612E1F0BA0}"/>
              </a:ext>
            </a:extLst>
          </p:cNvPr>
          <p:cNvPicPr>
            <a:picLocks noChangeAspect="1"/>
          </p:cNvPicPr>
          <p:nvPr/>
        </p:nvPicPr>
        <p:blipFill>
          <a:blip r:embed="rId16"/>
          <a:stretch>
            <a:fillRect/>
          </a:stretch>
        </p:blipFill>
        <p:spPr>
          <a:xfrm>
            <a:off x="8135112" y="4910328"/>
            <a:ext cx="237744" cy="237744"/>
          </a:xfrm>
          <a:prstGeom prst="rect">
            <a:avLst/>
          </a:prstGeom>
        </p:spPr>
      </p:pic>
      <p:sp>
        <p:nvSpPr>
          <p:cNvPr id="63" name="TextBox 62">
            <a:extLst>
              <a:ext uri="{FF2B5EF4-FFF2-40B4-BE49-F238E27FC236}">
                <a16:creationId xmlns:a16="http://schemas.microsoft.com/office/drawing/2014/main" id="{7D4CA631-C596-D9A5-3E08-EC8ED5A71425}"/>
              </a:ext>
            </a:extLst>
          </p:cNvPr>
          <p:cNvSpPr txBox="1"/>
          <p:nvPr/>
        </p:nvSpPr>
        <p:spPr>
          <a:xfrm>
            <a:off x="8400288" y="4700016"/>
            <a:ext cx="1528572" cy="676656"/>
          </a:xfrm>
          <a:prstGeom prst="rect">
            <a:avLst/>
          </a:prstGeom>
          <a:noFill/>
        </p:spPr>
        <p:txBody>
          <a:bodyPr wrap="square" lIns="18288" tIns="0" rIns="18288" bIns="0" anchor="ctr">
            <a:spAutoFit/>
          </a:bodyPr>
          <a:lstStyle/>
          <a:p>
            <a:pPr algn="l">
              <a:lnSpc>
                <a:spcPct val="100000"/>
              </a:lnSpc>
              <a:spcAft>
                <a:spcPts val="0"/>
              </a:spcAft>
            </a:pPr>
            <a:r>
              <a:rPr sz="1100" b="1">
                <a:solidFill>
                  <a:srgbClr val="0B2545"/>
                </a:solidFill>
                <a:latin typeface="Arial"/>
              </a:rPr>
              <a:t>Remote learners</a:t>
            </a:r>
          </a:p>
          <a:p>
            <a:pPr algn="l">
              <a:lnSpc>
                <a:spcPct val="100000"/>
              </a:lnSpc>
              <a:spcAft>
                <a:spcPts val="0"/>
              </a:spcAft>
            </a:pPr>
            <a:r>
              <a:rPr sz="1100" b="0">
                <a:solidFill>
                  <a:srgbClr val="222222"/>
                </a:solidFill>
                <a:latin typeface="Arial"/>
              </a:rPr>
              <a:t>share link on any phone, works offline</a:t>
            </a:r>
          </a:p>
        </p:txBody>
      </p:sp>
      <p:pic>
        <p:nvPicPr>
          <p:cNvPr id="17408" name="Picture 17407" descr="iw_6.png">
            <a:extLst>
              <a:ext uri="{FF2B5EF4-FFF2-40B4-BE49-F238E27FC236}">
                <a16:creationId xmlns:a16="http://schemas.microsoft.com/office/drawing/2014/main" id="{2B17B9AC-0D37-0346-9BFA-CB42C95B99BB}"/>
              </a:ext>
            </a:extLst>
          </p:cNvPr>
          <p:cNvPicPr>
            <a:picLocks noChangeAspect="1"/>
          </p:cNvPicPr>
          <p:nvPr/>
        </p:nvPicPr>
        <p:blipFill>
          <a:blip r:embed="rId17"/>
          <a:stretch>
            <a:fillRect/>
          </a:stretch>
        </p:blipFill>
        <p:spPr>
          <a:xfrm>
            <a:off x="10084308" y="4910328"/>
            <a:ext cx="237744" cy="237744"/>
          </a:xfrm>
          <a:prstGeom prst="rect">
            <a:avLst/>
          </a:prstGeom>
        </p:spPr>
      </p:pic>
      <p:sp>
        <p:nvSpPr>
          <p:cNvPr id="17411" name="TextBox 17410">
            <a:extLst>
              <a:ext uri="{FF2B5EF4-FFF2-40B4-BE49-F238E27FC236}">
                <a16:creationId xmlns:a16="http://schemas.microsoft.com/office/drawing/2014/main" id="{AC307792-D10D-31D9-86F4-BBC6C9B40861}"/>
              </a:ext>
            </a:extLst>
          </p:cNvPr>
          <p:cNvSpPr txBox="1"/>
          <p:nvPr/>
        </p:nvSpPr>
        <p:spPr>
          <a:xfrm>
            <a:off x="10349484" y="4700016"/>
            <a:ext cx="1528572" cy="676656"/>
          </a:xfrm>
          <a:prstGeom prst="rect">
            <a:avLst/>
          </a:prstGeom>
          <a:noFill/>
        </p:spPr>
        <p:txBody>
          <a:bodyPr wrap="square" lIns="18288" tIns="0" rIns="18288" bIns="0" anchor="ctr">
            <a:spAutoFit/>
          </a:bodyPr>
          <a:lstStyle/>
          <a:p>
            <a:pPr algn="l">
              <a:lnSpc>
                <a:spcPct val="100000"/>
              </a:lnSpc>
              <a:spcAft>
                <a:spcPts val="0"/>
              </a:spcAft>
            </a:pPr>
            <a:r>
              <a:rPr sz="1100" b="1">
                <a:solidFill>
                  <a:srgbClr val="0B2545"/>
                </a:solidFill>
                <a:latin typeface="Arial"/>
              </a:rPr>
              <a:t>Accessibility</a:t>
            </a:r>
          </a:p>
          <a:p>
            <a:pPr algn="l">
              <a:lnSpc>
                <a:spcPct val="100000"/>
              </a:lnSpc>
              <a:spcAft>
                <a:spcPts val="0"/>
              </a:spcAft>
            </a:pPr>
            <a:r>
              <a:rPr sz="1100" b="0">
                <a:solidFill>
                  <a:srgbClr val="222222"/>
                </a:solidFill>
                <a:latin typeface="Arial"/>
              </a:rPr>
              <a:t>readable text, alt text, plain words</a:t>
            </a:r>
          </a:p>
        </p:txBody>
      </p:sp>
      <p:sp>
        <p:nvSpPr>
          <p:cNvPr id="2" name="Oval 1" descr="Your startup LOGO">
            <a:extLst>
              <a:ext uri="{FF2B5EF4-FFF2-40B4-BE49-F238E27FC236}">
                <a16:creationId xmlns:a16="http://schemas.microsoft.com/office/drawing/2014/main" id="{66051C07-827E-3EC0-ED91-4F0D3C7142F3}"/>
              </a:ext>
              <a:ext uri="{C183D7F6-B498-43B3-948B-1728B52AA6E4}">
                <adec:decorative xmlns:adec="http://schemas.microsoft.com/office/drawing/2017/decorative" val="0"/>
              </a:ext>
            </a:extLst>
          </p:cNvPr>
          <p:cNvSpPr/>
          <p:nvPr/>
        </p:nvSpPr>
        <p:spPr>
          <a:xfrm>
            <a:off x="274320" y="196924"/>
            <a:ext cx="1902611" cy="322631"/>
          </a:xfrm>
          <a:prstGeom prst="ellipse">
            <a:avLst/>
          </a:prstGeom>
        </p:spPr>
        <p:style>
          <a:lnRef idx="2">
            <a:schemeClr val="accent4"/>
          </a:lnRef>
          <a:fillRef idx="1">
            <a:schemeClr val="lt1"/>
          </a:fillRef>
          <a:effectRef idx="0">
            <a:schemeClr val="accent4"/>
          </a:effectRef>
          <a:fontRef idx="minor">
            <a:schemeClr val="dk1"/>
          </a:fontRef>
        </p:style>
        <p:txBody>
          <a:bodyPr lIns="91440" tIns="45720" rIns="91440" bIns="45720" rtlCol="0" anchor="ctr"/>
          <a:lstStyle/>
          <a:p>
            <a:pPr algn="ctr"/>
            <a:r>
              <a:rPr dirty="0"/>
              <a:t>Learnova</a:t>
            </a:r>
            <a:endParaRPr lang="en-US" dirty="0">
              <a:ea typeface="Calibri"/>
              <a:cs typeface="Calibri"/>
            </a:endParaRPr>
          </a:p>
        </p:txBody>
      </p:sp>
      <p:sp>
        <p:nvSpPr>
          <p:cNvPr id="17422" name="Rounded Rectangle 17421"/>
          <p:cNvSpPr/>
          <p:nvPr/>
        </p:nvSpPr>
        <p:spPr>
          <a:xfrm>
            <a:off x="301751" y="5449824"/>
            <a:ext cx="1885187" cy="822960"/>
          </a:xfrm>
          <a:prstGeom prst="roundRect">
            <a:avLst>
              <a:gd name="adj" fmla="val 10000"/>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3" name="TextBox 17422"/>
          <p:cNvSpPr txBox="1"/>
          <p:nvPr/>
        </p:nvSpPr>
        <p:spPr>
          <a:xfrm>
            <a:off x="320040" y="5468112"/>
            <a:ext cx="1848611" cy="786384"/>
          </a:xfrm>
          <a:prstGeom prst="rect">
            <a:avLst/>
          </a:prstGeom>
          <a:noFill/>
        </p:spPr>
        <p:txBody>
          <a:bodyPr wrap="square" anchor="ctr" lIns="27432" rIns="27432" tIns="9144" bIns="9144">
            <a:spAutoFit/>
          </a:bodyPr>
          <a:lstStyle/>
          <a:p>
            <a:pPr algn="ctr"/>
            <a:r>
              <a:rPr sz="2000" b="1">
                <a:solidFill>
                  <a:srgbClr val="FFFFFF"/>
                </a:solidFill>
                <a:latin typeface="Calibri"/>
              </a:rPr>
              <a:t>83 → 0</a:t>
            </a:r>
          </a:p>
          <a:p>
            <a:pPr algn="ctr"/>
            <a:r>
              <a:rPr sz="1050" b="0">
                <a:solidFill>
                  <a:srgbClr val="FFFFFF"/>
                </a:solidFill>
                <a:latin typeface="Calibri"/>
              </a:rPr>
              <a:t>untitled slides</a:t>
            </a:r>
          </a:p>
        </p:txBody>
      </p:sp>
      <p:sp>
        <p:nvSpPr>
          <p:cNvPr id="17424" name="Rounded Rectangle 17423"/>
          <p:cNvSpPr/>
          <p:nvPr/>
        </p:nvSpPr>
        <p:spPr>
          <a:xfrm>
            <a:off x="2241803" y="5449824"/>
            <a:ext cx="1885187" cy="822960"/>
          </a:xfrm>
          <a:prstGeom prst="roundRect">
            <a:avLst>
              <a:gd name="adj" fmla="val 10000"/>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5" name="TextBox 17424"/>
          <p:cNvSpPr txBox="1"/>
          <p:nvPr/>
        </p:nvSpPr>
        <p:spPr>
          <a:xfrm>
            <a:off x="2260091" y="5468112"/>
            <a:ext cx="1848611" cy="786384"/>
          </a:xfrm>
          <a:prstGeom prst="rect">
            <a:avLst/>
          </a:prstGeom>
          <a:noFill/>
        </p:spPr>
        <p:txBody>
          <a:bodyPr wrap="square" anchor="ctr" lIns="27432" rIns="27432" tIns="9144" bIns="9144">
            <a:spAutoFit/>
          </a:bodyPr>
          <a:lstStyle/>
          <a:p>
            <a:pPr algn="ctr"/>
            <a:r>
              <a:rPr sz="2000" b="1">
                <a:solidFill>
                  <a:srgbClr val="FFFFFF"/>
                </a:solidFill>
                <a:latin typeface="Calibri"/>
              </a:rPr>
              <a:t>251</a:t>
            </a:r>
          </a:p>
          <a:p>
            <a:pPr algn="ctr"/>
            <a:r>
              <a:rPr sz="1050" b="0">
                <a:solidFill>
                  <a:srgbClr val="FFFFFF"/>
                </a:solidFill>
                <a:latin typeface="Calibri"/>
              </a:rPr>
              <a:t>visual slides added</a:t>
            </a:r>
          </a:p>
        </p:txBody>
      </p:sp>
      <p:sp>
        <p:nvSpPr>
          <p:cNvPr id="17426" name="Rounded Rectangle 17425"/>
          <p:cNvSpPr/>
          <p:nvPr/>
        </p:nvSpPr>
        <p:spPr>
          <a:xfrm>
            <a:off x="4181856" y="5449824"/>
            <a:ext cx="1885187" cy="822960"/>
          </a:xfrm>
          <a:prstGeom prst="roundRect">
            <a:avLst>
              <a:gd name="adj" fmla="val 10000"/>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TextBox 17426"/>
          <p:cNvSpPr txBox="1"/>
          <p:nvPr/>
        </p:nvSpPr>
        <p:spPr>
          <a:xfrm>
            <a:off x="4200144" y="5468112"/>
            <a:ext cx="1848611" cy="786384"/>
          </a:xfrm>
          <a:prstGeom prst="rect">
            <a:avLst/>
          </a:prstGeom>
          <a:noFill/>
        </p:spPr>
        <p:txBody>
          <a:bodyPr wrap="square" anchor="ctr" lIns="27432" rIns="27432" tIns="9144" bIns="9144">
            <a:spAutoFit/>
          </a:bodyPr>
          <a:lstStyle/>
          <a:p>
            <a:pPr algn="ctr"/>
            <a:r>
              <a:rPr sz="2000" b="1">
                <a:solidFill>
                  <a:srgbClr val="FFFFFF"/>
                </a:solidFill>
                <a:latin typeface="Calibri"/>
              </a:rPr>
              <a:t>190</a:t>
            </a:r>
          </a:p>
          <a:p>
            <a:pPr algn="ctr"/>
            <a:r>
              <a:rPr sz="1050" b="0">
                <a:solidFill>
                  <a:srgbClr val="FFFFFF"/>
                </a:solidFill>
                <a:latin typeface="Calibri"/>
              </a:rPr>
              <a:t>linked illustrations</a:t>
            </a:r>
          </a:p>
        </p:txBody>
      </p:sp>
      <p:sp>
        <p:nvSpPr>
          <p:cNvPr id="17428" name="Rounded Rectangle 17427"/>
          <p:cNvSpPr/>
          <p:nvPr/>
        </p:nvSpPr>
        <p:spPr>
          <a:xfrm>
            <a:off x="6121908" y="5449824"/>
            <a:ext cx="1885187" cy="822960"/>
          </a:xfrm>
          <a:prstGeom prst="roundRect">
            <a:avLst>
              <a:gd name="adj" fmla="val 10000"/>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9" name="TextBox 17428"/>
          <p:cNvSpPr txBox="1"/>
          <p:nvPr/>
        </p:nvSpPr>
        <p:spPr>
          <a:xfrm>
            <a:off x="6140196" y="5468112"/>
            <a:ext cx="1848611" cy="786384"/>
          </a:xfrm>
          <a:prstGeom prst="rect">
            <a:avLst/>
          </a:prstGeom>
          <a:noFill/>
        </p:spPr>
        <p:txBody>
          <a:bodyPr wrap="square" anchor="ctr" lIns="27432" rIns="27432" tIns="9144" bIns="9144">
            <a:spAutoFit/>
          </a:bodyPr>
          <a:lstStyle/>
          <a:p>
            <a:pPr algn="ctr"/>
            <a:r>
              <a:rPr sz="2000" b="1">
                <a:solidFill>
                  <a:srgbClr val="FFFFFF"/>
                </a:solidFill>
                <a:latin typeface="Calibri"/>
              </a:rPr>
              <a:t>98–100%</a:t>
            </a:r>
          </a:p>
          <a:p>
            <a:pPr algn="ctr"/>
            <a:r>
              <a:rPr sz="1050" b="0">
                <a:solidFill>
                  <a:srgbClr val="FFFFFF"/>
                </a:solidFill>
                <a:latin typeface="Calibri"/>
              </a:rPr>
              <a:t>facts kept</a:t>
            </a:r>
          </a:p>
        </p:txBody>
      </p:sp>
      <p:sp>
        <p:nvSpPr>
          <p:cNvPr id="17430" name="Rounded Rectangle 17429"/>
          <p:cNvSpPr/>
          <p:nvPr/>
        </p:nvSpPr>
        <p:spPr>
          <a:xfrm>
            <a:off x="8061960" y="5449824"/>
            <a:ext cx="1885187" cy="822960"/>
          </a:xfrm>
          <a:prstGeom prst="roundRect">
            <a:avLst>
              <a:gd name="adj" fmla="val 10000"/>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1" name="TextBox 17430"/>
          <p:cNvSpPr txBox="1"/>
          <p:nvPr/>
        </p:nvSpPr>
        <p:spPr>
          <a:xfrm>
            <a:off x="8080248" y="5468112"/>
            <a:ext cx="1848611" cy="786384"/>
          </a:xfrm>
          <a:prstGeom prst="rect">
            <a:avLst/>
          </a:prstGeom>
          <a:noFill/>
        </p:spPr>
        <p:txBody>
          <a:bodyPr wrap="square" anchor="ctr" lIns="27432" rIns="27432" tIns="9144" bIns="9144">
            <a:spAutoFit/>
          </a:bodyPr>
          <a:lstStyle/>
          <a:p>
            <a:pPr algn="ctr"/>
            <a:r>
              <a:rPr sz="2000" b="1">
                <a:solidFill>
                  <a:srgbClr val="FFFFFF"/>
                </a:solidFill>
                <a:latin typeface="Calibri"/>
              </a:rPr>
              <a:t>0</a:t>
            </a:r>
          </a:p>
          <a:p>
            <a:pPr algn="ctr"/>
            <a:r>
              <a:rPr sz="1050" b="0">
                <a:solidFill>
                  <a:srgbClr val="FFFFFF"/>
                </a:solidFill>
                <a:latin typeface="Calibri"/>
              </a:rPr>
              <a:t>overflow or broken words</a:t>
            </a:r>
          </a:p>
        </p:txBody>
      </p:sp>
      <p:sp>
        <p:nvSpPr>
          <p:cNvPr id="17432" name="Rounded Rectangle 17431"/>
          <p:cNvSpPr/>
          <p:nvPr/>
        </p:nvSpPr>
        <p:spPr>
          <a:xfrm>
            <a:off x="10002012" y="5449824"/>
            <a:ext cx="1885187" cy="822960"/>
          </a:xfrm>
          <a:prstGeom prst="roundRect">
            <a:avLst>
              <a:gd name="adj" fmla="val 10000"/>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3" name="TextBox 17432"/>
          <p:cNvSpPr txBox="1"/>
          <p:nvPr/>
        </p:nvSpPr>
        <p:spPr>
          <a:xfrm>
            <a:off x="10020300" y="5468112"/>
            <a:ext cx="1848611" cy="786384"/>
          </a:xfrm>
          <a:prstGeom prst="rect">
            <a:avLst/>
          </a:prstGeom>
          <a:noFill/>
        </p:spPr>
        <p:txBody>
          <a:bodyPr wrap="square" anchor="ctr" lIns="27432" rIns="27432" tIns="9144" bIns="9144">
            <a:spAutoFit/>
          </a:bodyPr>
          <a:lstStyle/>
          <a:p>
            <a:pPr algn="ctr"/>
            <a:r>
              <a:rPr sz="2000" b="1">
                <a:solidFill>
                  <a:srgbClr val="FFFFFF"/>
                </a:solidFill>
                <a:latin typeface="Calibri"/>
              </a:rPr>
              <a:t>26 / 26</a:t>
            </a:r>
          </a:p>
          <a:p>
            <a:pPr algn="ctr"/>
            <a:r>
              <a:rPr sz="1050" b="0">
                <a:solidFill>
                  <a:srgbClr val="FFFFFF"/>
                </a:solidFill>
                <a:latin typeface="Calibri"/>
              </a:rPr>
              <a:t>explainers correct</a:t>
            </a:r>
          </a:p>
        </p:txBody>
      </p:sp>
    </p:spTree>
    <p:extLst>
      <p:ext uri="{BB962C8B-B14F-4D97-AF65-F5344CB8AC3E}">
        <p14:creationId xmlns:p14="http://schemas.microsoft.com/office/powerpoint/2010/main" val="3548567970"/>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2738C0BA-5070-93C5-414C-1B9E7624DEA6}"/>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a:solidFill>
                <a:schemeClr val="accent2">
                  <a:lumMod val="75000"/>
                </a:schemeClr>
              </a:solidFill>
              <a:latin typeface="+mn-lt"/>
              <a:ea typeface="+mn-ea"/>
            </a:endParaRPr>
          </a:p>
        </p:txBody>
      </p:sp>
      <p:sp>
        <p:nvSpPr>
          <p:cNvPr id="17409" name="Title 1">
            <a:extLst>
              <a:ext uri="{FF2B5EF4-FFF2-40B4-BE49-F238E27FC236}">
                <a16:creationId xmlns:a16="http://schemas.microsoft.com/office/drawing/2014/main" id="{279AAA37-CB74-B25D-64AE-53B3F8C63496}"/>
              </a:ext>
            </a:extLst>
          </p:cNvPr>
          <p:cNvSpPr>
            <a:spLocks noGrp="1"/>
          </p:cNvSpPr>
          <p:nvPr>
            <p:ph type="title"/>
          </p:nvPr>
        </p:nvSpPr>
        <p:spPr>
          <a:xfrm>
            <a:off x="609600" y="-182662"/>
            <a:ext cx="10972800" cy="843988"/>
          </a:xfrm>
        </p:spPr>
        <p:txBody>
          <a:bodyPr/>
          <a:lstStyle/>
          <a:p>
            <a:pPr eaLnBrk="1" hangingPunct="1"/>
            <a:r>
              <a:rPr lang="en-US" sz="3600" b="1">
                <a:latin typeface="Times New Roman" panose="02020603050405020304" pitchFamily="18" charset="0"/>
                <a:ea typeface="ＭＳ Ｐゴシック" pitchFamily="1" charset="-128"/>
                <a:cs typeface="Times New Roman" panose="02020603050405020304" pitchFamily="18" charset="0"/>
              </a:rPr>
              <a:t>LITERATURE REVIEW</a:t>
            </a:r>
          </a:p>
        </p:txBody>
      </p:sp>
      <p:sp>
        <p:nvSpPr>
          <p:cNvPr id="6" name="Slide Number Placeholder 5">
            <a:extLst>
              <a:ext uri="{FF2B5EF4-FFF2-40B4-BE49-F238E27FC236}">
                <a16:creationId xmlns:a16="http://schemas.microsoft.com/office/drawing/2014/main" id="{43DA03A7-2539-4A2D-F71A-F5F37F5DABF5}"/>
              </a:ext>
            </a:extLst>
          </p:cNvPr>
          <p:cNvSpPr>
            <a:spLocks noGrp="1"/>
          </p:cNvSpPr>
          <p:nvPr>
            <p:ph type="sldNum" sz="quarter" idx="12"/>
          </p:nvPr>
        </p:nvSpPr>
        <p:spPr/>
        <p:txBody>
          <a:bodyPr/>
          <a:lstStyle/>
          <a:p>
            <a:fld id="{677C3CE7-23F7-4828-823C-E0205DF2CF97}" type="slidenum">
              <a:rPr lang="en-US" b="1">
                <a:solidFill>
                  <a:schemeClr val="bg1"/>
                </a:solidFill>
              </a:rPr>
              <a:pPr/>
              <a:t>7</a:t>
            </a:fld>
            <a:endParaRPr lang="en-US" b="1">
              <a:solidFill>
                <a:schemeClr val="bg1"/>
              </a:solidFill>
            </a:endParaRPr>
          </a:p>
        </p:txBody>
      </p:sp>
      <p:sp>
        <p:nvSpPr>
          <p:cNvPr id="7" name="Footer Placeholder 6">
            <a:extLst>
              <a:ext uri="{FF2B5EF4-FFF2-40B4-BE49-F238E27FC236}">
                <a16:creationId xmlns:a16="http://schemas.microsoft.com/office/drawing/2014/main" id="{292AC042-6453-70B0-5DB4-7181492D3A65}"/>
              </a:ext>
            </a:extLst>
          </p:cNvPr>
          <p:cNvSpPr>
            <a:spLocks noGrp="1"/>
          </p:cNvSpPr>
          <p:nvPr>
            <p:ph type="ftr" sz="quarter" idx="11"/>
          </p:nvPr>
        </p:nvSpPr>
        <p:spPr>
          <a:xfrm>
            <a:off x="4648200" y="6356353"/>
            <a:ext cx="3204000" cy="365125"/>
          </a:xfrm>
        </p:spPr>
        <p:txBody>
          <a:bodyPr/>
          <a:lstStyle/>
          <a:p>
            <a:pPr>
              <a:defRPr/>
            </a:pPr>
            <a:r>
              <a:rPr lang="en-US">
                <a:solidFill>
                  <a:schemeClr val="bg1"/>
                </a:solidFill>
              </a:rPr>
              <a:t>IPD Review · Learnova · AI&amp;DS DJSCE</a:t>
            </a:r>
          </a:p>
        </p:txBody>
      </p:sp>
      <p:sp>
        <p:nvSpPr>
          <p:cNvPr id="11" name="Oval 10" descr="Your startup LOGO">
            <a:extLst>
              <a:ext uri="{FF2B5EF4-FFF2-40B4-BE49-F238E27FC236}">
                <a16:creationId xmlns:a16="http://schemas.microsoft.com/office/drawing/2014/main" id="{50E2A979-97FD-F669-DD46-B7D2FBB1E868}"/>
              </a:ext>
              <a:ext uri="{C183D7F6-B498-43B3-948B-1728B52AA6E4}">
                <adec:decorative xmlns:adec="http://schemas.microsoft.com/office/drawing/2017/decorative" val="0"/>
              </a:ext>
            </a:extLst>
          </p:cNvPr>
          <p:cNvSpPr/>
          <p:nvPr/>
        </p:nvSpPr>
        <p:spPr>
          <a:xfrm>
            <a:off x="274320" y="196924"/>
            <a:ext cx="1902611" cy="322631"/>
          </a:xfrm>
          <a:prstGeom prst="ellipse">
            <a:avLst/>
          </a:prstGeom>
        </p:spPr>
        <p:style>
          <a:lnRef idx="2">
            <a:schemeClr val="accent4"/>
          </a:lnRef>
          <a:fillRef idx="1">
            <a:schemeClr val="lt1"/>
          </a:fillRef>
          <a:effectRef idx="0">
            <a:schemeClr val="accent4"/>
          </a:effectRef>
          <a:fontRef idx="minor">
            <a:schemeClr val="dk1"/>
          </a:fontRef>
        </p:style>
        <p:txBody>
          <a:bodyPr lIns="91440" tIns="45720" rIns="91440" bIns="45720" rtlCol="0" anchor="ctr"/>
          <a:lstStyle/>
          <a:p>
            <a:pPr algn="ctr"/>
            <a:r>
              <a:rPr dirty="0"/>
              <a:t>Learnova</a:t>
            </a:r>
            <a:endParaRPr lang="en-US" dirty="0">
              <a:ea typeface="Calibri"/>
              <a:cs typeface="Calibri"/>
            </a:endParaRPr>
          </a:p>
        </p:txBody>
      </p:sp>
      <p:sp>
        <p:nvSpPr>
          <p:cNvPr id="17410" name="TextBox 17409"/>
          <p:cNvSpPr txBox="1"/>
          <p:nvPr/>
        </p:nvSpPr>
        <p:spPr>
          <a:xfrm>
            <a:off x="2743200" y="621792"/>
            <a:ext cx="6702552" cy="310896"/>
          </a:xfrm>
          <a:prstGeom prst="rect">
            <a:avLst/>
          </a:prstGeom>
          <a:noFill/>
        </p:spPr>
        <p:txBody>
          <a:bodyPr wrap="square" anchor="ctr" lIns="27432" rIns="27432" tIns="9144" bIns="9144">
            <a:spAutoFit/>
          </a:bodyPr>
          <a:lstStyle/>
          <a:p>
            <a:pPr algn="ctr"/>
            <a:r>
              <a:rPr sz="1500" b="0" i="1">
                <a:solidFill>
                  <a:srgbClr val="1F5FBF"/>
                </a:solidFill>
                <a:latin typeface="Calibri"/>
              </a:rPr>
              <a:t>What earlier work found, what it left open, and how Learnova closes the gap</a:t>
            </a:r>
          </a:p>
        </p:txBody>
      </p:sp>
      <p:sp>
        <p:nvSpPr>
          <p:cNvPr id="17411" name="Rectangle 17410"/>
          <p:cNvSpPr/>
          <p:nvPr/>
        </p:nvSpPr>
        <p:spPr>
          <a:xfrm>
            <a:off x="274320" y="1024128"/>
            <a:ext cx="11640312" cy="347472"/>
          </a:xfrm>
          <a:prstGeom prst="rect">
            <a:avLst/>
          </a:prstGeom>
          <a:solidFill>
            <a:srgbClr val="172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TextBox 17411"/>
          <p:cNvSpPr txBox="1"/>
          <p:nvPr/>
        </p:nvSpPr>
        <p:spPr>
          <a:xfrm>
            <a:off x="329184" y="1024128"/>
            <a:ext cx="1783080" cy="347472"/>
          </a:xfrm>
          <a:prstGeom prst="rect">
            <a:avLst/>
          </a:prstGeom>
          <a:noFill/>
        </p:spPr>
        <p:txBody>
          <a:bodyPr wrap="square" anchor="ctr" lIns="27432" rIns="27432" tIns="9144" bIns="9144">
            <a:spAutoFit/>
          </a:bodyPr>
          <a:lstStyle/>
          <a:p>
            <a:r>
              <a:rPr sz="1150" b="1">
                <a:solidFill>
                  <a:srgbClr val="FFFFFF"/>
                </a:solidFill>
                <a:latin typeface="Calibri"/>
              </a:rPr>
              <a:t>Paper</a:t>
            </a:r>
          </a:p>
        </p:txBody>
      </p:sp>
      <p:sp>
        <p:nvSpPr>
          <p:cNvPr id="17413" name="TextBox 17412"/>
          <p:cNvSpPr txBox="1"/>
          <p:nvPr/>
        </p:nvSpPr>
        <p:spPr>
          <a:xfrm>
            <a:off x="2203704" y="1024128"/>
            <a:ext cx="2286000" cy="347472"/>
          </a:xfrm>
          <a:prstGeom prst="rect">
            <a:avLst/>
          </a:prstGeom>
          <a:noFill/>
        </p:spPr>
        <p:txBody>
          <a:bodyPr wrap="square" anchor="ctr" lIns="27432" rIns="27432" tIns="9144" bIns="9144">
            <a:spAutoFit/>
          </a:bodyPr>
          <a:lstStyle/>
          <a:p>
            <a:r>
              <a:rPr sz="1150" b="1">
                <a:solidFill>
                  <a:srgbClr val="FFFFFF"/>
                </a:solidFill>
                <a:latin typeface="Calibri"/>
              </a:rPr>
              <a:t>Method</a:t>
            </a:r>
          </a:p>
        </p:txBody>
      </p:sp>
      <p:sp>
        <p:nvSpPr>
          <p:cNvPr id="17414" name="TextBox 17413"/>
          <p:cNvSpPr txBox="1"/>
          <p:nvPr/>
        </p:nvSpPr>
        <p:spPr>
          <a:xfrm>
            <a:off x="4581144" y="1024128"/>
            <a:ext cx="2011679" cy="347472"/>
          </a:xfrm>
          <a:prstGeom prst="rect">
            <a:avLst/>
          </a:prstGeom>
          <a:noFill/>
        </p:spPr>
        <p:txBody>
          <a:bodyPr wrap="square" anchor="ctr" lIns="27432" rIns="27432" tIns="9144" bIns="9144">
            <a:spAutoFit/>
          </a:bodyPr>
          <a:lstStyle/>
          <a:p>
            <a:r>
              <a:rPr sz="1150" b="1">
                <a:solidFill>
                  <a:srgbClr val="FFFFFF"/>
                </a:solidFill>
                <a:latin typeface="Calibri"/>
              </a:rPr>
              <a:t>Finding</a:t>
            </a:r>
          </a:p>
        </p:txBody>
      </p:sp>
      <p:sp>
        <p:nvSpPr>
          <p:cNvPr id="17415" name="TextBox 17414"/>
          <p:cNvSpPr txBox="1"/>
          <p:nvPr/>
        </p:nvSpPr>
        <p:spPr>
          <a:xfrm>
            <a:off x="6684264" y="1024128"/>
            <a:ext cx="2377439" cy="347472"/>
          </a:xfrm>
          <a:prstGeom prst="rect">
            <a:avLst/>
          </a:prstGeom>
          <a:noFill/>
        </p:spPr>
        <p:txBody>
          <a:bodyPr wrap="square" anchor="ctr" lIns="27432" rIns="27432" tIns="9144" bIns="9144">
            <a:spAutoFit/>
          </a:bodyPr>
          <a:lstStyle/>
          <a:p>
            <a:r>
              <a:rPr sz="1150" b="1">
                <a:solidFill>
                  <a:srgbClr val="FFFFFF"/>
                </a:solidFill>
                <a:latin typeface="Calibri"/>
              </a:rPr>
              <a:t>Gap left open</a:t>
            </a:r>
          </a:p>
        </p:txBody>
      </p:sp>
      <p:sp>
        <p:nvSpPr>
          <p:cNvPr id="17416" name="TextBox 17415"/>
          <p:cNvSpPr txBox="1"/>
          <p:nvPr/>
        </p:nvSpPr>
        <p:spPr>
          <a:xfrm>
            <a:off x="9153144" y="1024128"/>
            <a:ext cx="2724912" cy="347472"/>
          </a:xfrm>
          <a:prstGeom prst="rect">
            <a:avLst/>
          </a:prstGeom>
          <a:noFill/>
        </p:spPr>
        <p:txBody>
          <a:bodyPr wrap="square" anchor="ctr" lIns="27432" rIns="27432" tIns="9144" bIns="9144">
            <a:spAutoFit/>
          </a:bodyPr>
          <a:lstStyle/>
          <a:p>
            <a:r>
              <a:rPr sz="1150" b="1">
                <a:solidFill>
                  <a:srgbClr val="FFFFFF"/>
                </a:solidFill>
                <a:latin typeface="Calibri"/>
              </a:rPr>
              <a:t>How Learnova addresses it</a:t>
            </a:r>
          </a:p>
        </p:txBody>
      </p:sp>
      <p:sp>
        <p:nvSpPr>
          <p:cNvPr id="17417" name="Rectangle 17416"/>
          <p:cNvSpPr/>
          <p:nvPr/>
        </p:nvSpPr>
        <p:spPr>
          <a:xfrm>
            <a:off x="274320" y="1371600"/>
            <a:ext cx="11640312" cy="603504"/>
          </a:xfrm>
          <a:prstGeom prst="rect">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ectangle 17417"/>
          <p:cNvSpPr/>
          <p:nvPr/>
        </p:nvSpPr>
        <p:spPr>
          <a:xfrm>
            <a:off x="274320" y="1371600"/>
            <a:ext cx="64008" cy="603504"/>
          </a:xfrm>
          <a:prstGeom prst="rect">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Rectangle 17418"/>
          <p:cNvSpPr/>
          <p:nvPr/>
        </p:nvSpPr>
        <p:spPr>
          <a:xfrm>
            <a:off x="9098280" y="1371600"/>
            <a:ext cx="2816352" cy="603504"/>
          </a:xfrm>
          <a:prstGeom prst="rect">
            <a:avLst/>
          </a:prstGeom>
          <a:solidFill>
            <a:srgbClr val="EAF6E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384048" y="1408176"/>
            <a:ext cx="1728216" cy="548640"/>
          </a:xfrm>
          <a:prstGeom prst="rect">
            <a:avLst/>
          </a:prstGeom>
          <a:noFill/>
        </p:spPr>
        <p:txBody>
          <a:bodyPr wrap="square" anchor="t" lIns="27432" rIns="27432" tIns="9144" bIns="9144">
            <a:spAutoFit/>
          </a:bodyPr>
          <a:lstStyle/>
          <a:p>
            <a:r>
              <a:rPr sz="1050" b="1">
                <a:solidFill>
                  <a:srgbClr val="172131"/>
                </a:solidFill>
                <a:latin typeface="Calibri"/>
              </a:rPr>
              <a:t>Fu et al., 2022</a:t>
            </a:r>
          </a:p>
          <a:p>
            <a:r>
              <a:rPr sz="919" b="0">
                <a:solidFill>
                  <a:srgbClr val="1F5FBF"/>
                </a:solidFill>
                <a:latin typeface="Calibri"/>
              </a:rPr>
              <a:t>DOC2PPT — AAAI</a:t>
            </a:r>
          </a:p>
        </p:txBody>
      </p:sp>
      <p:sp>
        <p:nvSpPr>
          <p:cNvPr id="17421" name="TextBox 17420"/>
          <p:cNvSpPr txBox="1"/>
          <p:nvPr/>
        </p:nvSpPr>
        <p:spPr>
          <a:xfrm>
            <a:off x="2203704" y="1408176"/>
            <a:ext cx="2267712" cy="548640"/>
          </a:xfrm>
          <a:prstGeom prst="rect">
            <a:avLst/>
          </a:prstGeom>
          <a:noFill/>
        </p:spPr>
        <p:txBody>
          <a:bodyPr wrap="square" anchor="ctr" lIns="27432" rIns="27432" tIns="9144" bIns="9144">
            <a:spAutoFit/>
          </a:bodyPr>
          <a:lstStyle/>
          <a:p>
            <a:r>
              <a:rPr sz="960" b="0">
                <a:solidFill>
                  <a:srgbClr val="172131"/>
                </a:solidFill>
                <a:latin typeface="Calibri"/>
              </a:rPr>
              <a:t>Neural model turns a research paper into new slides section by section</a:t>
            </a:r>
          </a:p>
        </p:txBody>
      </p:sp>
      <p:sp>
        <p:nvSpPr>
          <p:cNvPr id="17422" name="TextBox 17421"/>
          <p:cNvSpPr txBox="1"/>
          <p:nvPr/>
        </p:nvSpPr>
        <p:spPr>
          <a:xfrm>
            <a:off x="4581144" y="1408176"/>
            <a:ext cx="1993391" cy="548640"/>
          </a:xfrm>
          <a:prstGeom prst="rect">
            <a:avLst/>
          </a:prstGeom>
          <a:noFill/>
        </p:spPr>
        <p:txBody>
          <a:bodyPr wrap="square" anchor="ctr" lIns="27432" rIns="27432" tIns="9144" bIns="9144">
            <a:spAutoFit/>
          </a:bodyPr>
          <a:lstStyle/>
          <a:p>
            <a:r>
              <a:rPr sz="960" b="0">
                <a:solidFill>
                  <a:srgbClr val="172131"/>
                </a:solidFill>
                <a:latin typeface="Calibri"/>
              </a:rPr>
              <a:t>Readable slides from long documents</a:t>
            </a:r>
          </a:p>
        </p:txBody>
      </p:sp>
      <p:sp>
        <p:nvSpPr>
          <p:cNvPr id="17423" name="TextBox 17422"/>
          <p:cNvSpPr txBox="1"/>
          <p:nvPr/>
        </p:nvSpPr>
        <p:spPr>
          <a:xfrm>
            <a:off x="6684264" y="1408176"/>
            <a:ext cx="2359151" cy="548640"/>
          </a:xfrm>
          <a:prstGeom prst="rect">
            <a:avLst/>
          </a:prstGeom>
          <a:noFill/>
        </p:spPr>
        <p:txBody>
          <a:bodyPr wrap="square" anchor="ctr" lIns="27432" rIns="27432" tIns="9144" bIns="9144">
            <a:spAutoFit/>
          </a:bodyPr>
          <a:lstStyle/>
          <a:p>
            <a:r>
              <a:rPr sz="960" b="0">
                <a:solidFill>
                  <a:srgbClr val="172131"/>
                </a:solidFill>
                <a:latin typeface="Calibri"/>
              </a:rPr>
              <a:t>Writes new text; drops points; needs training data; not for existing decks</a:t>
            </a:r>
          </a:p>
        </p:txBody>
      </p:sp>
      <p:sp>
        <p:nvSpPr>
          <p:cNvPr id="17424" name="TextBox 17423"/>
          <p:cNvSpPr txBox="1"/>
          <p:nvPr/>
        </p:nvSpPr>
        <p:spPr>
          <a:xfrm>
            <a:off x="9153144" y="1408176"/>
            <a:ext cx="2706624" cy="548640"/>
          </a:xfrm>
          <a:prstGeom prst="rect">
            <a:avLst/>
          </a:prstGeom>
          <a:noFill/>
        </p:spPr>
        <p:txBody>
          <a:bodyPr wrap="square" anchor="ctr" lIns="27432" rIns="27432" tIns="9144" bIns="9144">
            <a:spAutoFit/>
          </a:bodyPr>
          <a:lstStyle/>
          <a:p>
            <a:r>
              <a:rPr sz="960" b="1">
                <a:solidFill>
                  <a:srgbClr val="16845B"/>
                </a:solidFill>
                <a:latin typeface="Calibri"/>
              </a:rPr>
              <a:t>Starts from the teacher's own deck and keeps every point verbatim</a:t>
            </a:r>
          </a:p>
        </p:txBody>
      </p:sp>
      <p:sp>
        <p:nvSpPr>
          <p:cNvPr id="17425" name="Rectangle 17424"/>
          <p:cNvSpPr/>
          <p:nvPr/>
        </p:nvSpPr>
        <p:spPr>
          <a:xfrm>
            <a:off x="274320" y="1975104"/>
            <a:ext cx="11640312" cy="603504"/>
          </a:xfrm>
          <a:prstGeom prst="rect">
            <a:avLst/>
          </a:prstGeom>
          <a:solidFill>
            <a:srgbClr val="F7F8FB"/>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6" name="Rectangle 17425"/>
          <p:cNvSpPr/>
          <p:nvPr/>
        </p:nvSpPr>
        <p:spPr>
          <a:xfrm>
            <a:off x="274320" y="1975104"/>
            <a:ext cx="64008" cy="6035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Rectangle 17426"/>
          <p:cNvSpPr/>
          <p:nvPr/>
        </p:nvSpPr>
        <p:spPr>
          <a:xfrm>
            <a:off x="9098280" y="1975104"/>
            <a:ext cx="2816352" cy="603504"/>
          </a:xfrm>
          <a:prstGeom prst="rect">
            <a:avLst/>
          </a:prstGeom>
          <a:solidFill>
            <a:srgbClr val="EAF6E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8" name="TextBox 17427"/>
          <p:cNvSpPr txBox="1"/>
          <p:nvPr/>
        </p:nvSpPr>
        <p:spPr>
          <a:xfrm>
            <a:off x="384048" y="2011680"/>
            <a:ext cx="1728216" cy="548640"/>
          </a:xfrm>
          <a:prstGeom prst="rect">
            <a:avLst/>
          </a:prstGeom>
          <a:noFill/>
        </p:spPr>
        <p:txBody>
          <a:bodyPr wrap="square" anchor="t" lIns="27432" rIns="27432" tIns="9144" bIns="9144">
            <a:spAutoFit/>
          </a:bodyPr>
          <a:lstStyle/>
          <a:p>
            <a:r>
              <a:rPr sz="1050" b="1">
                <a:solidFill>
                  <a:srgbClr val="172131"/>
                </a:solidFill>
                <a:latin typeface="Calibri"/>
              </a:rPr>
              <a:t>Sun et al., 2021</a:t>
            </a:r>
          </a:p>
          <a:p>
            <a:r>
              <a:rPr sz="919" b="0">
                <a:solidFill>
                  <a:srgbClr val="1F5FBF"/>
                </a:solidFill>
                <a:latin typeface="Calibri"/>
              </a:rPr>
              <a:t>D2S — NAACL</a:t>
            </a:r>
          </a:p>
        </p:txBody>
      </p:sp>
      <p:sp>
        <p:nvSpPr>
          <p:cNvPr id="17429" name="TextBox 17428"/>
          <p:cNvSpPr txBox="1"/>
          <p:nvPr/>
        </p:nvSpPr>
        <p:spPr>
          <a:xfrm>
            <a:off x="2203704" y="2011680"/>
            <a:ext cx="2267712" cy="548640"/>
          </a:xfrm>
          <a:prstGeom prst="rect">
            <a:avLst/>
          </a:prstGeom>
          <a:noFill/>
        </p:spPr>
        <p:txBody>
          <a:bodyPr wrap="square" anchor="ctr" lIns="27432" rIns="27432" tIns="9144" bIns="9144">
            <a:spAutoFit/>
          </a:bodyPr>
          <a:lstStyle/>
          <a:p>
            <a:r>
              <a:rPr sz="960" b="0">
                <a:solidFill>
                  <a:srgbClr val="172131"/>
                </a:solidFill>
                <a:latin typeface="Calibri"/>
              </a:rPr>
              <a:t>Query-based summarisation: a slide title is used to retrieve and write its bullets</a:t>
            </a:r>
          </a:p>
        </p:txBody>
      </p:sp>
      <p:sp>
        <p:nvSpPr>
          <p:cNvPr id="17430" name="TextBox 17429"/>
          <p:cNvSpPr txBox="1"/>
          <p:nvPr/>
        </p:nvSpPr>
        <p:spPr>
          <a:xfrm>
            <a:off x="4581144" y="2011680"/>
            <a:ext cx="1993391" cy="548640"/>
          </a:xfrm>
          <a:prstGeom prst="rect">
            <a:avLst/>
          </a:prstGeom>
          <a:noFill/>
        </p:spPr>
        <p:txBody>
          <a:bodyPr wrap="square" anchor="ctr" lIns="27432" rIns="27432" tIns="9144" bIns="9144">
            <a:spAutoFit/>
          </a:bodyPr>
          <a:lstStyle/>
          <a:p>
            <a:r>
              <a:rPr sz="960" b="0">
                <a:solidFill>
                  <a:srgbClr val="172131"/>
                </a:solidFill>
                <a:latin typeface="Calibri"/>
              </a:rPr>
              <a:t>Titles can steer content selection</a:t>
            </a:r>
          </a:p>
        </p:txBody>
      </p:sp>
      <p:sp>
        <p:nvSpPr>
          <p:cNvPr id="17431" name="TextBox 17430"/>
          <p:cNvSpPr txBox="1"/>
          <p:nvPr/>
        </p:nvSpPr>
        <p:spPr>
          <a:xfrm>
            <a:off x="6684264" y="2011680"/>
            <a:ext cx="2359151" cy="548640"/>
          </a:xfrm>
          <a:prstGeom prst="rect">
            <a:avLst/>
          </a:prstGeom>
          <a:noFill/>
        </p:spPr>
        <p:txBody>
          <a:bodyPr wrap="square" anchor="ctr" lIns="27432" rIns="27432" tIns="9144" bIns="9144">
            <a:spAutoFit/>
          </a:bodyPr>
          <a:lstStyle/>
          <a:p>
            <a:r>
              <a:rPr sz="960" b="0">
                <a:solidFill>
                  <a:srgbClr val="172131"/>
                </a:solidFill>
                <a:latin typeface="Calibri"/>
              </a:rPr>
              <a:t>Abstractive text can drift from the source; no visual or layout choice</a:t>
            </a:r>
          </a:p>
        </p:txBody>
      </p:sp>
      <p:sp>
        <p:nvSpPr>
          <p:cNvPr id="17432" name="TextBox 17431"/>
          <p:cNvSpPr txBox="1"/>
          <p:nvPr/>
        </p:nvSpPr>
        <p:spPr>
          <a:xfrm>
            <a:off x="9153144" y="2011680"/>
            <a:ext cx="2706624" cy="548640"/>
          </a:xfrm>
          <a:prstGeom prst="rect">
            <a:avLst/>
          </a:prstGeom>
          <a:noFill/>
        </p:spPr>
        <p:txBody>
          <a:bodyPr wrap="square" anchor="ctr" lIns="27432" rIns="27432" tIns="9144" bIns="9144">
            <a:spAutoFit/>
          </a:bodyPr>
          <a:lstStyle/>
          <a:p>
            <a:r>
              <a:rPr sz="960" b="1">
                <a:solidFill>
                  <a:srgbClr val="16845B"/>
                </a:solidFill>
                <a:latin typeface="Calibri"/>
              </a:rPr>
              <a:t>Titles are grounded in the slide's words; 27 detectors choose a visual</a:t>
            </a:r>
          </a:p>
        </p:txBody>
      </p:sp>
      <p:sp>
        <p:nvSpPr>
          <p:cNvPr id="17433" name="Rectangle 17432"/>
          <p:cNvSpPr/>
          <p:nvPr/>
        </p:nvSpPr>
        <p:spPr>
          <a:xfrm>
            <a:off x="274320" y="2578608"/>
            <a:ext cx="11640312" cy="603504"/>
          </a:xfrm>
          <a:prstGeom prst="rect">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4" name="Rectangle 17433"/>
          <p:cNvSpPr/>
          <p:nvPr/>
        </p:nvSpPr>
        <p:spPr>
          <a:xfrm>
            <a:off x="274320" y="2578608"/>
            <a:ext cx="64008" cy="603504"/>
          </a:xfrm>
          <a:prstGeom prst="rect">
            <a:avLst/>
          </a:prstGeom>
          <a:solidFill>
            <a:srgbClr val="F2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5" name="Rectangle 17434"/>
          <p:cNvSpPr/>
          <p:nvPr/>
        </p:nvSpPr>
        <p:spPr>
          <a:xfrm>
            <a:off x="9098280" y="2578608"/>
            <a:ext cx="2816352" cy="603504"/>
          </a:xfrm>
          <a:prstGeom prst="rect">
            <a:avLst/>
          </a:prstGeom>
          <a:solidFill>
            <a:srgbClr val="EAF6E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6" name="TextBox 17435"/>
          <p:cNvSpPr txBox="1"/>
          <p:nvPr/>
        </p:nvSpPr>
        <p:spPr>
          <a:xfrm>
            <a:off x="384048" y="2615184"/>
            <a:ext cx="1728216" cy="548640"/>
          </a:xfrm>
          <a:prstGeom prst="rect">
            <a:avLst/>
          </a:prstGeom>
          <a:noFill/>
        </p:spPr>
        <p:txBody>
          <a:bodyPr wrap="square" anchor="t" lIns="27432" rIns="27432" tIns="9144" bIns="9144">
            <a:spAutoFit/>
          </a:bodyPr>
          <a:lstStyle/>
          <a:p>
            <a:r>
              <a:rPr sz="1050" b="1">
                <a:solidFill>
                  <a:srgbClr val="172131"/>
                </a:solidFill>
                <a:latin typeface="Calibri"/>
              </a:rPr>
              <a:t>Hu &amp; Wan, 2015</a:t>
            </a:r>
          </a:p>
          <a:p>
            <a:r>
              <a:rPr sz="919" b="0">
                <a:solidFill>
                  <a:srgbClr val="1F5FBF"/>
                </a:solidFill>
                <a:latin typeface="Calibri"/>
              </a:rPr>
              <a:t>PPSGen — IEEE TKDE</a:t>
            </a:r>
          </a:p>
        </p:txBody>
      </p:sp>
      <p:sp>
        <p:nvSpPr>
          <p:cNvPr id="17437" name="TextBox 17436"/>
          <p:cNvSpPr txBox="1"/>
          <p:nvPr/>
        </p:nvSpPr>
        <p:spPr>
          <a:xfrm>
            <a:off x="2203704" y="2615184"/>
            <a:ext cx="2267712" cy="548640"/>
          </a:xfrm>
          <a:prstGeom prst="rect">
            <a:avLst/>
          </a:prstGeom>
          <a:noFill/>
        </p:spPr>
        <p:txBody>
          <a:bodyPr wrap="square" anchor="ctr" lIns="27432" rIns="27432" tIns="9144" bIns="9144">
            <a:spAutoFit/>
          </a:bodyPr>
          <a:lstStyle/>
          <a:p>
            <a:r>
              <a:rPr sz="960" b="0">
                <a:solidFill>
                  <a:srgbClr val="172131"/>
                </a:solidFill>
                <a:latin typeface="Calibri"/>
              </a:rPr>
              <a:t>Learns sentence importance and fills slides by integer programming</a:t>
            </a:r>
          </a:p>
        </p:txBody>
      </p:sp>
      <p:sp>
        <p:nvSpPr>
          <p:cNvPr id="17438" name="TextBox 17437"/>
          <p:cNvSpPr txBox="1"/>
          <p:nvPr/>
        </p:nvSpPr>
        <p:spPr>
          <a:xfrm>
            <a:off x="4581144" y="2615184"/>
            <a:ext cx="1993391" cy="548640"/>
          </a:xfrm>
          <a:prstGeom prst="rect">
            <a:avLst/>
          </a:prstGeom>
          <a:noFill/>
        </p:spPr>
        <p:txBody>
          <a:bodyPr wrap="square" anchor="ctr" lIns="27432" rIns="27432" tIns="9144" bIns="9144">
            <a:spAutoFit/>
          </a:bodyPr>
          <a:lstStyle/>
          <a:p>
            <a:r>
              <a:rPr sz="960" b="0">
                <a:solidFill>
                  <a:srgbClr val="172131"/>
                </a:solidFill>
                <a:latin typeface="Calibri"/>
              </a:rPr>
              <a:t>Extractive selection keeps facts</a:t>
            </a:r>
          </a:p>
        </p:txBody>
      </p:sp>
      <p:sp>
        <p:nvSpPr>
          <p:cNvPr id="17439" name="TextBox 17438"/>
          <p:cNvSpPr txBox="1"/>
          <p:nvPr/>
        </p:nvSpPr>
        <p:spPr>
          <a:xfrm>
            <a:off x="6684264" y="2615184"/>
            <a:ext cx="2359151" cy="548640"/>
          </a:xfrm>
          <a:prstGeom prst="rect">
            <a:avLst/>
          </a:prstGeom>
          <a:noFill/>
        </p:spPr>
        <p:txBody>
          <a:bodyPr wrap="square" anchor="ctr" lIns="27432" rIns="27432" tIns="9144" bIns="9144">
            <a:spAutoFit/>
          </a:bodyPr>
          <a:lstStyle/>
          <a:p>
            <a:r>
              <a:rPr sz="960" b="0">
                <a:solidFill>
                  <a:srgbClr val="172131"/>
                </a:solidFill>
                <a:latin typeface="Calibri"/>
              </a:rPr>
              <a:t>Bullet text only: no diagrams, no layout fitting, no interactivity</a:t>
            </a:r>
          </a:p>
        </p:txBody>
      </p:sp>
      <p:sp>
        <p:nvSpPr>
          <p:cNvPr id="17440" name="TextBox 17439"/>
          <p:cNvSpPr txBox="1"/>
          <p:nvPr/>
        </p:nvSpPr>
        <p:spPr>
          <a:xfrm>
            <a:off x="9153144" y="2615184"/>
            <a:ext cx="2706624" cy="548640"/>
          </a:xfrm>
          <a:prstGeom prst="rect">
            <a:avLst/>
          </a:prstGeom>
          <a:noFill/>
        </p:spPr>
        <p:txBody>
          <a:bodyPr wrap="square" anchor="ctr" lIns="27432" rIns="27432" tIns="9144" bIns="9144">
            <a:spAutoFit/>
          </a:bodyPr>
          <a:lstStyle/>
          <a:p>
            <a:r>
              <a:rPr sz="960" b="1">
                <a:solidFill>
                  <a:srgbClr val="16845B"/>
                </a:solidFill>
                <a:latin typeface="Calibri"/>
              </a:rPr>
              <a:t>Adds diagrams, labs and quizzes; fits every slide by glyph measurement</a:t>
            </a:r>
          </a:p>
        </p:txBody>
      </p:sp>
      <p:sp>
        <p:nvSpPr>
          <p:cNvPr id="17441" name="Rectangle 17440"/>
          <p:cNvSpPr/>
          <p:nvPr/>
        </p:nvSpPr>
        <p:spPr>
          <a:xfrm>
            <a:off x="274320" y="3182112"/>
            <a:ext cx="11640312" cy="603504"/>
          </a:xfrm>
          <a:prstGeom prst="rect">
            <a:avLst/>
          </a:prstGeom>
          <a:solidFill>
            <a:srgbClr val="F7F8FB"/>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2" name="Rectangle 17441"/>
          <p:cNvSpPr/>
          <p:nvPr/>
        </p:nvSpPr>
        <p:spPr>
          <a:xfrm>
            <a:off x="274320" y="3182112"/>
            <a:ext cx="64008" cy="603504"/>
          </a:xfrm>
          <a:prstGeom prst="rect">
            <a:avLst/>
          </a:prstGeom>
          <a:solidFill>
            <a:srgbClr val="C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3" name="Rectangle 17442"/>
          <p:cNvSpPr/>
          <p:nvPr/>
        </p:nvSpPr>
        <p:spPr>
          <a:xfrm>
            <a:off x="9098280" y="3182112"/>
            <a:ext cx="2816352" cy="603504"/>
          </a:xfrm>
          <a:prstGeom prst="rect">
            <a:avLst/>
          </a:prstGeom>
          <a:solidFill>
            <a:srgbClr val="EAF6E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4" name="TextBox 17443"/>
          <p:cNvSpPr txBox="1"/>
          <p:nvPr/>
        </p:nvSpPr>
        <p:spPr>
          <a:xfrm>
            <a:off x="384048" y="3218688"/>
            <a:ext cx="1728216" cy="548640"/>
          </a:xfrm>
          <a:prstGeom prst="rect">
            <a:avLst/>
          </a:prstGeom>
          <a:noFill/>
        </p:spPr>
        <p:txBody>
          <a:bodyPr wrap="square" anchor="t" lIns="27432" rIns="27432" tIns="9144" bIns="9144">
            <a:spAutoFit/>
          </a:bodyPr>
          <a:lstStyle/>
          <a:p>
            <a:r>
              <a:rPr sz="1050" b="1">
                <a:solidFill>
                  <a:srgbClr val="172131"/>
                </a:solidFill>
                <a:latin typeface="Calibri"/>
              </a:rPr>
              <a:t>Maynez et al., 2020</a:t>
            </a:r>
          </a:p>
          <a:p>
            <a:r>
              <a:rPr sz="919" b="0">
                <a:solidFill>
                  <a:srgbClr val="1F5FBF"/>
                </a:solidFill>
                <a:latin typeface="Calibri"/>
              </a:rPr>
              <a:t>Faithfulness — ACL</a:t>
            </a:r>
          </a:p>
        </p:txBody>
      </p:sp>
      <p:sp>
        <p:nvSpPr>
          <p:cNvPr id="17445" name="TextBox 17444"/>
          <p:cNvSpPr txBox="1"/>
          <p:nvPr/>
        </p:nvSpPr>
        <p:spPr>
          <a:xfrm>
            <a:off x="2203704" y="3218688"/>
            <a:ext cx="2267712" cy="548640"/>
          </a:xfrm>
          <a:prstGeom prst="rect">
            <a:avLst/>
          </a:prstGeom>
          <a:noFill/>
        </p:spPr>
        <p:txBody>
          <a:bodyPr wrap="square" anchor="ctr" lIns="27432" rIns="27432" tIns="9144" bIns="9144">
            <a:spAutoFit/>
          </a:bodyPr>
          <a:lstStyle/>
          <a:p>
            <a:r>
              <a:rPr sz="960" b="0">
                <a:solidFill>
                  <a:srgbClr val="172131"/>
                </a:solidFill>
                <a:latin typeface="Calibri"/>
              </a:rPr>
              <a:t>Human study of hallucination in neural abstractive summaries</a:t>
            </a:r>
          </a:p>
        </p:txBody>
      </p:sp>
      <p:sp>
        <p:nvSpPr>
          <p:cNvPr id="17446" name="TextBox 17445"/>
          <p:cNvSpPr txBox="1"/>
          <p:nvPr/>
        </p:nvSpPr>
        <p:spPr>
          <a:xfrm>
            <a:off x="4581144" y="3218688"/>
            <a:ext cx="1993391" cy="548640"/>
          </a:xfrm>
          <a:prstGeom prst="rect">
            <a:avLst/>
          </a:prstGeom>
          <a:noFill/>
        </p:spPr>
        <p:txBody>
          <a:bodyPr wrap="square" anchor="ctr" lIns="27432" rIns="27432" tIns="9144" bIns="9144">
            <a:spAutoFit/>
          </a:bodyPr>
          <a:lstStyle/>
          <a:p>
            <a:r>
              <a:rPr sz="960" b="0">
                <a:solidFill>
                  <a:srgbClr val="172131"/>
                </a:solidFill>
                <a:latin typeface="Calibri"/>
              </a:rPr>
              <a:t>Many model summaries contain unsupported content</a:t>
            </a:r>
          </a:p>
        </p:txBody>
      </p:sp>
      <p:sp>
        <p:nvSpPr>
          <p:cNvPr id="17447" name="TextBox 17446"/>
          <p:cNvSpPr txBox="1"/>
          <p:nvPr/>
        </p:nvSpPr>
        <p:spPr>
          <a:xfrm>
            <a:off x="6684264" y="3218688"/>
            <a:ext cx="2359151" cy="548640"/>
          </a:xfrm>
          <a:prstGeom prst="rect">
            <a:avLst/>
          </a:prstGeom>
          <a:noFill/>
        </p:spPr>
        <p:txBody>
          <a:bodyPr wrap="square" anchor="ctr" lIns="27432" rIns="27432" tIns="9144" bIns="9144">
            <a:spAutoFit/>
          </a:bodyPr>
          <a:lstStyle/>
          <a:p>
            <a:r>
              <a:rPr sz="960" b="0">
                <a:solidFill>
                  <a:srgbClr val="172131"/>
                </a:solidFill>
                <a:latin typeface="Calibri"/>
              </a:rPr>
              <a:t>Generation without checks is unsafe for study material</a:t>
            </a:r>
          </a:p>
        </p:txBody>
      </p:sp>
      <p:sp>
        <p:nvSpPr>
          <p:cNvPr id="17448" name="TextBox 17447"/>
          <p:cNvSpPr txBox="1"/>
          <p:nvPr/>
        </p:nvSpPr>
        <p:spPr>
          <a:xfrm>
            <a:off x="9153144" y="3218688"/>
            <a:ext cx="2706624" cy="548640"/>
          </a:xfrm>
          <a:prstGeom prst="rect">
            <a:avLst/>
          </a:prstGeom>
          <a:noFill/>
        </p:spPr>
        <p:txBody>
          <a:bodyPr wrap="square" anchor="ctr" lIns="27432" rIns="27432" tIns="9144" bIns="9144">
            <a:spAutoFit/>
          </a:bodyPr>
          <a:lstStyle/>
          <a:p>
            <a:r>
              <a:rPr sz="960" b="1">
                <a:solidFill>
                  <a:srgbClr val="16845B"/>
                </a:solidFill>
                <a:latin typeface="Calibri"/>
              </a:rPr>
              <a:t>AI output is accepted only after grounding, sanitising or code checks</a:t>
            </a:r>
          </a:p>
        </p:txBody>
      </p:sp>
      <p:sp>
        <p:nvSpPr>
          <p:cNvPr id="17449" name="Rectangle 17448"/>
          <p:cNvSpPr/>
          <p:nvPr/>
        </p:nvSpPr>
        <p:spPr>
          <a:xfrm>
            <a:off x="274320" y="3785616"/>
            <a:ext cx="11640312" cy="603504"/>
          </a:xfrm>
          <a:prstGeom prst="rect">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0" name="Rectangle 17449"/>
          <p:cNvSpPr/>
          <p:nvPr/>
        </p:nvSpPr>
        <p:spPr>
          <a:xfrm>
            <a:off x="274320" y="3785616"/>
            <a:ext cx="64008" cy="603504"/>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1" name="Rectangle 17450"/>
          <p:cNvSpPr/>
          <p:nvPr/>
        </p:nvSpPr>
        <p:spPr>
          <a:xfrm>
            <a:off x="9098280" y="3785616"/>
            <a:ext cx="2816352" cy="603504"/>
          </a:xfrm>
          <a:prstGeom prst="rect">
            <a:avLst/>
          </a:prstGeom>
          <a:solidFill>
            <a:srgbClr val="EAF6E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2" name="TextBox 17451"/>
          <p:cNvSpPr txBox="1"/>
          <p:nvPr/>
        </p:nvSpPr>
        <p:spPr>
          <a:xfrm>
            <a:off x="384048" y="3822192"/>
            <a:ext cx="1728216" cy="548640"/>
          </a:xfrm>
          <a:prstGeom prst="rect">
            <a:avLst/>
          </a:prstGeom>
          <a:noFill/>
        </p:spPr>
        <p:txBody>
          <a:bodyPr wrap="square" anchor="t" lIns="27432" rIns="27432" tIns="9144" bIns="9144">
            <a:spAutoFit/>
          </a:bodyPr>
          <a:lstStyle/>
          <a:p>
            <a:r>
              <a:rPr sz="1050" b="1">
                <a:solidFill>
                  <a:srgbClr val="172131"/>
                </a:solidFill>
                <a:latin typeface="Calibri"/>
              </a:rPr>
              <a:t>Garner &amp; Alley, 2013</a:t>
            </a:r>
          </a:p>
          <a:p>
            <a:r>
              <a:rPr sz="919" b="0">
                <a:solidFill>
                  <a:srgbClr val="1F5FBF"/>
                </a:solidFill>
                <a:latin typeface="Calibri"/>
              </a:rPr>
              <a:t>Assertion–evidence — IJEE</a:t>
            </a:r>
          </a:p>
        </p:txBody>
      </p:sp>
      <p:sp>
        <p:nvSpPr>
          <p:cNvPr id="17453" name="TextBox 17452"/>
          <p:cNvSpPr txBox="1"/>
          <p:nvPr/>
        </p:nvSpPr>
        <p:spPr>
          <a:xfrm>
            <a:off x="2203704" y="3822192"/>
            <a:ext cx="2267712" cy="548640"/>
          </a:xfrm>
          <a:prstGeom prst="rect">
            <a:avLst/>
          </a:prstGeom>
          <a:noFill/>
        </p:spPr>
        <p:txBody>
          <a:bodyPr wrap="square" anchor="ctr" lIns="27432" rIns="27432" tIns="9144" bIns="9144">
            <a:spAutoFit/>
          </a:bodyPr>
          <a:lstStyle/>
          <a:p>
            <a:r>
              <a:rPr sz="960" b="0">
                <a:solidFill>
                  <a:srgbClr val="172131"/>
                </a:solidFill>
                <a:latin typeface="Calibri"/>
              </a:rPr>
              <a:t>Classroom study comparing sentence-headline slides with topic-bullet slides</a:t>
            </a:r>
          </a:p>
        </p:txBody>
      </p:sp>
      <p:sp>
        <p:nvSpPr>
          <p:cNvPr id="17454" name="TextBox 17453"/>
          <p:cNvSpPr txBox="1"/>
          <p:nvPr/>
        </p:nvSpPr>
        <p:spPr>
          <a:xfrm>
            <a:off x="4581144" y="3822192"/>
            <a:ext cx="1993391" cy="548640"/>
          </a:xfrm>
          <a:prstGeom prst="rect">
            <a:avLst/>
          </a:prstGeom>
          <a:noFill/>
        </p:spPr>
        <p:txBody>
          <a:bodyPr wrap="square" anchor="ctr" lIns="27432" rIns="27432" tIns="9144" bIns="9144">
            <a:spAutoFit/>
          </a:bodyPr>
          <a:lstStyle/>
          <a:p>
            <a:r>
              <a:rPr sz="960" b="0">
                <a:solidFill>
                  <a:srgbClr val="172131"/>
                </a:solidFill>
                <a:latin typeface="Calibri"/>
              </a:rPr>
              <a:t>Assertion titles + visual evidence improve understanding</a:t>
            </a:r>
          </a:p>
        </p:txBody>
      </p:sp>
      <p:sp>
        <p:nvSpPr>
          <p:cNvPr id="17455" name="TextBox 17454"/>
          <p:cNvSpPr txBox="1"/>
          <p:nvPr/>
        </p:nvSpPr>
        <p:spPr>
          <a:xfrm>
            <a:off x="6684264" y="3822192"/>
            <a:ext cx="2359151" cy="548640"/>
          </a:xfrm>
          <a:prstGeom prst="rect">
            <a:avLst/>
          </a:prstGeom>
          <a:noFill/>
        </p:spPr>
        <p:txBody>
          <a:bodyPr wrap="square" anchor="ctr" lIns="27432" rIns="27432" tIns="9144" bIns="9144">
            <a:spAutoFit/>
          </a:bodyPr>
          <a:lstStyle/>
          <a:p>
            <a:r>
              <a:rPr sz="960" b="0">
                <a:solidFill>
                  <a:srgbClr val="172131"/>
                </a:solidFill>
                <a:latin typeface="Calibri"/>
              </a:rPr>
              <a:t>Redesigning decks by hand takes teachers many hours</a:t>
            </a:r>
          </a:p>
        </p:txBody>
      </p:sp>
      <p:sp>
        <p:nvSpPr>
          <p:cNvPr id="17456" name="TextBox 17455"/>
          <p:cNvSpPr txBox="1"/>
          <p:nvPr/>
        </p:nvSpPr>
        <p:spPr>
          <a:xfrm>
            <a:off x="9153144" y="3822192"/>
            <a:ext cx="2706624" cy="548640"/>
          </a:xfrm>
          <a:prstGeom prst="rect">
            <a:avLst/>
          </a:prstGeom>
          <a:noFill/>
        </p:spPr>
        <p:txBody>
          <a:bodyPr wrap="square" anchor="ctr" lIns="27432" rIns="27432" tIns="9144" bIns="9144">
            <a:spAutoFit/>
          </a:bodyPr>
          <a:lstStyle/>
          <a:p>
            <a:r>
              <a:rPr sz="960" b="1">
                <a:solidFill>
                  <a:srgbClr val="16845B"/>
                </a:solidFill>
                <a:latin typeface="Calibri"/>
              </a:rPr>
              <a:t>Writes assertion titles and visuals automatically, in about a minute</a:t>
            </a:r>
          </a:p>
        </p:txBody>
      </p:sp>
      <p:sp>
        <p:nvSpPr>
          <p:cNvPr id="17457" name="Rectangle 17456"/>
          <p:cNvSpPr/>
          <p:nvPr/>
        </p:nvSpPr>
        <p:spPr>
          <a:xfrm>
            <a:off x="274320" y="4389120"/>
            <a:ext cx="11640312" cy="603504"/>
          </a:xfrm>
          <a:prstGeom prst="rect">
            <a:avLst/>
          </a:prstGeom>
          <a:solidFill>
            <a:srgbClr val="F7F8FB"/>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8" name="Rectangle 17457"/>
          <p:cNvSpPr/>
          <p:nvPr/>
        </p:nvSpPr>
        <p:spPr>
          <a:xfrm>
            <a:off x="274320" y="4389120"/>
            <a:ext cx="64008" cy="603504"/>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9" name="Rectangle 17458"/>
          <p:cNvSpPr/>
          <p:nvPr/>
        </p:nvSpPr>
        <p:spPr>
          <a:xfrm>
            <a:off x="9098280" y="4389120"/>
            <a:ext cx="2816352" cy="603504"/>
          </a:xfrm>
          <a:prstGeom prst="rect">
            <a:avLst/>
          </a:prstGeom>
          <a:solidFill>
            <a:srgbClr val="EAF6E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0" name="TextBox 17459"/>
          <p:cNvSpPr txBox="1"/>
          <p:nvPr/>
        </p:nvSpPr>
        <p:spPr>
          <a:xfrm>
            <a:off x="384048" y="4425696"/>
            <a:ext cx="1728216" cy="548640"/>
          </a:xfrm>
          <a:prstGeom prst="rect">
            <a:avLst/>
          </a:prstGeom>
          <a:noFill/>
        </p:spPr>
        <p:txBody>
          <a:bodyPr wrap="square" anchor="t" lIns="27432" rIns="27432" tIns="9144" bIns="9144">
            <a:spAutoFit/>
          </a:bodyPr>
          <a:lstStyle/>
          <a:p>
            <a:r>
              <a:rPr sz="1050" b="1">
                <a:solidFill>
                  <a:srgbClr val="172131"/>
                </a:solidFill>
                <a:latin typeface="Calibri"/>
              </a:rPr>
              <a:t>Mackinlay, 1986</a:t>
            </a:r>
          </a:p>
          <a:p>
            <a:r>
              <a:rPr sz="919" b="0">
                <a:solidFill>
                  <a:srgbClr val="1F5FBF"/>
                </a:solidFill>
                <a:latin typeface="Calibri"/>
              </a:rPr>
              <a:t>APT — ACM TOG</a:t>
            </a:r>
          </a:p>
        </p:txBody>
      </p:sp>
      <p:sp>
        <p:nvSpPr>
          <p:cNvPr id="17461" name="TextBox 17460"/>
          <p:cNvSpPr txBox="1"/>
          <p:nvPr/>
        </p:nvSpPr>
        <p:spPr>
          <a:xfrm>
            <a:off x="2203704" y="4425696"/>
            <a:ext cx="2267712" cy="548640"/>
          </a:xfrm>
          <a:prstGeom prst="rect">
            <a:avLst/>
          </a:prstGeom>
          <a:noFill/>
        </p:spPr>
        <p:txBody>
          <a:bodyPr wrap="square" anchor="ctr" lIns="27432" rIns="27432" tIns="9144" bIns="9144">
            <a:spAutoFit/>
          </a:bodyPr>
          <a:lstStyle/>
          <a:p>
            <a:r>
              <a:rPr sz="960" b="0">
                <a:solidFill>
                  <a:srgbClr val="172131"/>
                </a:solidFill>
                <a:latin typeface="Calibri"/>
              </a:rPr>
              <a:t>Rules of expressiveness and effectiveness choose a chart for data</a:t>
            </a:r>
          </a:p>
        </p:txBody>
      </p:sp>
      <p:sp>
        <p:nvSpPr>
          <p:cNvPr id="17462" name="TextBox 17461"/>
          <p:cNvSpPr txBox="1"/>
          <p:nvPr/>
        </p:nvSpPr>
        <p:spPr>
          <a:xfrm>
            <a:off x="4581144" y="4425696"/>
            <a:ext cx="1993391" cy="548640"/>
          </a:xfrm>
          <a:prstGeom prst="rect">
            <a:avLst/>
          </a:prstGeom>
          <a:noFill/>
        </p:spPr>
        <p:txBody>
          <a:bodyPr wrap="square" anchor="ctr" lIns="27432" rIns="27432" tIns="9144" bIns="9144">
            <a:spAutoFit/>
          </a:bodyPr>
          <a:lstStyle/>
          <a:p>
            <a:r>
              <a:rPr sz="960" b="0">
                <a:solidFill>
                  <a:srgbClr val="172131"/>
                </a:solidFill>
                <a:latin typeface="Calibri"/>
              </a:rPr>
              <a:t>Visual choice can be automated with explicit rules</a:t>
            </a:r>
          </a:p>
        </p:txBody>
      </p:sp>
      <p:sp>
        <p:nvSpPr>
          <p:cNvPr id="17463" name="TextBox 17462"/>
          <p:cNvSpPr txBox="1"/>
          <p:nvPr/>
        </p:nvSpPr>
        <p:spPr>
          <a:xfrm>
            <a:off x="6684264" y="4425696"/>
            <a:ext cx="2359151" cy="548640"/>
          </a:xfrm>
          <a:prstGeom prst="rect">
            <a:avLst/>
          </a:prstGeom>
          <a:noFill/>
        </p:spPr>
        <p:txBody>
          <a:bodyPr wrap="square" anchor="ctr" lIns="27432" rIns="27432" tIns="9144" bIns="9144">
            <a:spAutoFit/>
          </a:bodyPr>
          <a:lstStyle/>
          <a:p>
            <a:r>
              <a:rPr sz="960" b="0">
                <a:solidFill>
                  <a:srgbClr val="172131"/>
                </a:solidFill>
                <a:latin typeface="Calibri"/>
              </a:rPr>
              <a:t>Covers data charts only, not lecture text</a:t>
            </a:r>
          </a:p>
        </p:txBody>
      </p:sp>
      <p:sp>
        <p:nvSpPr>
          <p:cNvPr id="17464" name="TextBox 17463"/>
          <p:cNvSpPr txBox="1"/>
          <p:nvPr/>
        </p:nvSpPr>
        <p:spPr>
          <a:xfrm>
            <a:off x="9153144" y="4425696"/>
            <a:ext cx="2706624" cy="548640"/>
          </a:xfrm>
          <a:prstGeom prst="rect">
            <a:avLst/>
          </a:prstGeom>
          <a:noFill/>
        </p:spPr>
        <p:txBody>
          <a:bodyPr wrap="square" anchor="ctr" lIns="27432" rIns="27432" tIns="9144" bIns="9144">
            <a:spAutoFit/>
          </a:bodyPr>
          <a:lstStyle/>
          <a:p>
            <a:r>
              <a:rPr sz="960" b="1">
                <a:solidFill>
                  <a:srgbClr val="16845B"/>
                </a:solidFill>
                <a:latin typeface="Calibri"/>
              </a:rPr>
              <a:t>Extends rule-based choice to 27 slide families with confidence and reason</a:t>
            </a:r>
          </a:p>
        </p:txBody>
      </p:sp>
      <p:sp>
        <p:nvSpPr>
          <p:cNvPr id="17465" name="Rounded Rectangle 17464"/>
          <p:cNvSpPr/>
          <p:nvPr/>
        </p:nvSpPr>
        <p:spPr>
          <a:xfrm>
            <a:off x="274320" y="5084064"/>
            <a:ext cx="7680960" cy="1197864"/>
          </a:xfrm>
          <a:prstGeom prst="roundRect">
            <a:avLst>
              <a:gd name="adj" fmla="val 6000"/>
            </a:avLst>
          </a:prstGeom>
          <a:solidFill>
            <a:srgbClr val="FFFFFF"/>
          </a:solidFill>
          <a:ln w="9525">
            <a:solidFill>
              <a:srgbClr val="F2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6" name="TextBox 17465"/>
          <p:cNvSpPr txBox="1"/>
          <p:nvPr/>
        </p:nvSpPr>
        <p:spPr>
          <a:xfrm>
            <a:off x="384048" y="5138927"/>
            <a:ext cx="7498079" cy="1133856"/>
          </a:xfrm>
          <a:prstGeom prst="rect">
            <a:avLst/>
          </a:prstGeom>
          <a:noFill/>
        </p:spPr>
        <p:txBody>
          <a:bodyPr wrap="square" anchor="t" lIns="27432" rIns="27432" tIns="9144" bIns="9144">
            <a:spAutoFit/>
          </a:bodyPr>
          <a:lstStyle/>
          <a:p>
            <a:r>
              <a:rPr sz="1250" b="1">
                <a:solidFill>
                  <a:srgbClr val="F27A2E"/>
                </a:solidFill>
                <a:latin typeface="Calibri"/>
              </a:rPr>
              <a:t>Research gap</a:t>
            </a:r>
          </a:p>
          <a:p>
            <a:r>
              <a:rPr sz="1120" b="0">
                <a:solidFill>
                  <a:srgbClr val="172131"/>
                </a:solidFill>
                <a:latin typeface="Calibri"/>
              </a:rPr>
              <a:t>Earlier systems either generate new slides from a document, which changes the teacher's wording and can invent content, or select sentences without any visual design. Design research tells us what a good slide looks like but leaves the redesign to the teacher. No published system takes an existing lecture deck, keeps every point, explains each design decision and checks the AI output it adds. Learnova is built for exactly this gap.</a:t>
            </a:r>
          </a:p>
        </p:txBody>
      </p:sp>
      <p:sp>
        <p:nvSpPr>
          <p:cNvPr id="17467" name="Rounded Rectangle 17466"/>
          <p:cNvSpPr/>
          <p:nvPr/>
        </p:nvSpPr>
        <p:spPr>
          <a:xfrm>
            <a:off x="8046720" y="5084064"/>
            <a:ext cx="3867912" cy="1197864"/>
          </a:xfrm>
          <a:prstGeom prst="roundRect">
            <a:avLst>
              <a:gd name="adj" fmla="val 6000"/>
            </a:avLst>
          </a:prstGeom>
          <a:solidFill>
            <a:srgbClr val="172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8" name="TextBox 17467"/>
          <p:cNvSpPr txBox="1"/>
          <p:nvPr/>
        </p:nvSpPr>
        <p:spPr>
          <a:xfrm>
            <a:off x="8183879" y="5138927"/>
            <a:ext cx="3657600" cy="1133856"/>
          </a:xfrm>
          <a:prstGeom prst="rect">
            <a:avLst/>
          </a:prstGeom>
          <a:noFill/>
        </p:spPr>
        <p:txBody>
          <a:bodyPr wrap="square" anchor="t" lIns="27432" rIns="27432" tIns="9144" bIns="9144">
            <a:spAutoFit/>
          </a:bodyPr>
          <a:lstStyle/>
          <a:p>
            <a:r>
              <a:rPr sz="1250" b="1">
                <a:solidFill>
                  <a:srgbClr val="FFFFFF"/>
                </a:solidFill>
                <a:latin typeface="Calibri"/>
              </a:rPr>
              <a:t>Also reviewed</a:t>
            </a:r>
          </a:p>
          <a:p>
            <a:r>
              <a:rPr sz="980" b="0">
                <a:solidFill>
                  <a:srgbClr val="D6DEEA"/>
                </a:solidFill>
                <a:latin typeface="Calibri"/>
              </a:rPr>
              <a:t>Tufte 2003 · Sweller 1988 · Cowan 2001 · Mayer 2009 · Knuth &amp; Plass 1981 · Moritz 2019 · Ji 2023 · Kasneci 2023 · Renkl 2014 · Hundhausen 2002 · Wieman 2008 · Chi &amp; Wylie 2014; tools: Gamma, Copilot, Gemini Slides, Canva. Full list with links on the next slide.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504D">
                  <a:lumMod val="75000"/>
                </a:srgbClr>
              </a:solidFill>
              <a:effectLst/>
              <a:uLnTx/>
              <a:uFillTx/>
              <a:latin typeface="Calibri"/>
              <a:ea typeface="ＭＳ Ｐゴシック" pitchFamily="1" charset="-128"/>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8</a:t>
            </a:fld>
            <a:endPar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IPD Review · Learnova · AI&amp;DS DJSCE</a:t>
            </a:r>
          </a:p>
        </p:txBody>
      </p:sp>
      <p:sp>
        <p:nvSpPr>
          <p:cNvPr id="5" name="Title 1">
            <a:extLst>
              <a:ext uri="{FF2B5EF4-FFF2-40B4-BE49-F238E27FC236}">
                <a16:creationId xmlns:a16="http://schemas.microsoft.com/office/drawing/2014/main" id="{6B283AD8-E6DF-DDDD-BC27-9AA50D70BDD4}"/>
              </a:ext>
            </a:extLst>
          </p:cNvPr>
          <p:cNvSpPr>
            <a:spLocks noGrp="1"/>
          </p:cNvSpPr>
          <p:nvPr>
            <p:ph type="title"/>
          </p:nvPr>
        </p:nvSpPr>
        <p:spPr>
          <a:xfrm>
            <a:off x="609600" y="150583"/>
            <a:ext cx="10972800" cy="1143000"/>
          </a:xfrm>
        </p:spPr>
        <p:txBody>
          <a:bodyPr/>
          <a:lstStyle/>
          <a:p>
            <a:pPr eaLnBrk="1" hangingPunct="1"/>
            <a:r>
              <a:rPr lang="en-US" sz="3600" b="1">
                <a:latin typeface="Times New Roman" panose="02020603050405020304" pitchFamily="18" charset="0"/>
                <a:ea typeface="ＭＳ Ｐゴシック" pitchFamily="1" charset="-128"/>
                <a:cs typeface="Times New Roman" panose="02020603050405020304" pitchFamily="18" charset="0"/>
              </a:rPr>
              <a:t>RESEARCH  AND REFERENCES</a:t>
            </a:r>
          </a:p>
          <a:p>
            <a:pPr algn="ctr"/>
            <a:r>
              <a:rPr sz="1500" i="1">
                <a:solidFill>
                  <a:srgbClr val="0B6DC0"/>
                </a:solidFill>
                <a:latin typeface="Arial"/>
              </a:rPr>
              <a:t>12 road signs  ·  36 sources  ·  scan any code to check</a:t>
            </a:r>
          </a:p>
        </p:txBody>
      </p:sp>
      <p:sp>
        <p:nvSpPr>
          <p:cNvPr id="8" name="Rounded Rectangle 7">
            <a:extLst>
              <a:ext uri="{FF2B5EF4-FFF2-40B4-BE49-F238E27FC236}">
                <a16:creationId xmlns:a16="http://schemas.microsoft.com/office/drawing/2014/main" id="{FB3A5570-00B3-A9C2-29AB-37A7FCFF7043}"/>
              </a:ext>
            </a:extLst>
          </p:cNvPr>
          <p:cNvSpPr/>
          <p:nvPr/>
        </p:nvSpPr>
        <p:spPr>
          <a:xfrm>
            <a:off x="274320" y="1115568"/>
            <a:ext cx="2825496" cy="1655064"/>
          </a:xfrm>
          <a:prstGeom prst="roundRect">
            <a:avLst>
              <a:gd name="adj" fmla="val 5000"/>
            </a:avLst>
          </a:prstGeom>
          <a:solidFill>
            <a:srgbClr val="FFFFFF"/>
          </a:solidFill>
          <a:ln w="25400">
            <a:solidFill>
              <a:srgbClr val="D62839"/>
            </a:solid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67" name="Rounded Rectangle 17466">
            <a:extLst>
              <a:ext uri="{FF2B5EF4-FFF2-40B4-BE49-F238E27FC236}">
                <a16:creationId xmlns:a16="http://schemas.microsoft.com/office/drawing/2014/main" id="{DD9D78EB-40DC-9B95-955D-D7F46D303813}"/>
              </a:ext>
            </a:extLst>
          </p:cNvPr>
          <p:cNvSpPr/>
          <p:nvPr/>
        </p:nvSpPr>
        <p:spPr>
          <a:xfrm>
            <a:off x="274320" y="1115568"/>
            <a:ext cx="2825496" cy="512064"/>
          </a:xfrm>
          <a:prstGeom prst="roundRect">
            <a:avLst>
              <a:gd name="adj" fmla="val 16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79" name="Picture 17478" descr="sign_stop.png">
            <a:extLst>
              <a:ext uri="{FF2B5EF4-FFF2-40B4-BE49-F238E27FC236}">
                <a16:creationId xmlns:a16="http://schemas.microsoft.com/office/drawing/2014/main" id="{C5B08350-C414-95EF-B783-0445B7658229}"/>
              </a:ext>
            </a:extLst>
          </p:cNvPr>
          <p:cNvPicPr>
            <a:picLocks noChangeAspect="1"/>
          </p:cNvPicPr>
          <p:nvPr/>
        </p:nvPicPr>
        <p:blipFill>
          <a:blip r:embed="rId4"/>
          <a:stretch>
            <a:fillRect/>
          </a:stretch>
        </p:blipFill>
        <p:spPr>
          <a:xfrm>
            <a:off x="356616" y="1170432"/>
            <a:ext cx="420624" cy="420624"/>
          </a:xfrm>
          <a:prstGeom prst="rect">
            <a:avLst/>
          </a:prstGeom>
        </p:spPr>
      </p:pic>
      <p:sp>
        <p:nvSpPr>
          <p:cNvPr id="17491" name="TextBox 17490">
            <a:extLst>
              <a:ext uri="{FF2B5EF4-FFF2-40B4-BE49-F238E27FC236}">
                <a16:creationId xmlns:a16="http://schemas.microsoft.com/office/drawing/2014/main" id="{EF311063-41E7-2E14-0CA2-3C9A06918AE2}"/>
              </a:ext>
            </a:extLst>
          </p:cNvPr>
          <p:cNvSpPr txBox="1"/>
          <p:nvPr/>
        </p:nvSpPr>
        <p:spPr>
          <a:xfrm>
            <a:off x="841247" y="1143000"/>
            <a:ext cx="2112264" cy="475488"/>
          </a:xfrm>
          <a:prstGeom prst="rect">
            <a:avLst/>
          </a:prstGeom>
          <a:noFill/>
        </p:spPr>
        <p:txBody>
          <a:bodyPr wrap="square" lIns="18288" tIns="0" rIns="18288" bIns="0" anchor="ctr">
            <a:spAutoFit/>
          </a:bodyPr>
          <a:lstStyle/>
          <a:p>
            <a:pPr algn="l">
              <a:lnSpc>
                <a:spcPct val="100000"/>
              </a:lnSpc>
              <a:spcAft>
                <a:spcPts val="0"/>
              </a:spcAft>
            </a:pPr>
            <a:r>
              <a:rPr sz="1100" b="1">
                <a:solidFill>
                  <a:srgbClr val="D62839"/>
                </a:solidFill>
                <a:latin typeface="Arial"/>
              </a:rPr>
              <a:t>THE PROBLEM</a:t>
            </a:r>
          </a:p>
          <a:p>
            <a:pPr algn="l">
              <a:lnSpc>
                <a:spcPct val="100000"/>
              </a:lnSpc>
              <a:spcAft>
                <a:spcPts val="0"/>
              </a:spcAft>
            </a:pPr>
            <a:r>
              <a:rPr sz="800" b="0">
                <a:solidFill>
                  <a:srgbClr val="475569"/>
                </a:solidFill>
                <a:latin typeface="Arial"/>
              </a:rPr>
              <a:t>why old decks fail learners</a:t>
            </a:r>
          </a:p>
        </p:txBody>
      </p:sp>
      <p:pic>
        <p:nvPicPr>
          <p:cNvPr id="17528" name="Picture 17527" descr="image.png"/>
          <p:cNvPicPr>
            <a:picLocks noChangeAspect="1"/>
          </p:cNvPicPr>
          <p:nvPr/>
        </p:nvPicPr>
        <p:blipFill>
          <a:blip r:embed="rId74"/>
          <a:stretch>
            <a:fillRect/>
          </a:stretch>
        </p:blipFill>
        <p:spPr>
          <a:xfrm>
            <a:off x="365760" y="1691639"/>
            <a:ext cx="329184" cy="329184"/>
          </a:xfrm>
          <a:prstGeom prst="rect">
            <a:avLst/>
          </a:prstGeom>
        </p:spPr>
      </p:pic>
      <p:sp>
        <p:nvSpPr>
          <p:cNvPr id="17414" name="TextBox 17413">
            <a:extLst>
              <a:ext uri="{FF2B5EF4-FFF2-40B4-BE49-F238E27FC236}">
                <a16:creationId xmlns:a16="http://schemas.microsoft.com/office/drawing/2014/main" id="{2ADFCC07-9FEA-9A92-FEA4-72B796412AE8}"/>
              </a:ext>
            </a:extLst>
          </p:cNvPr>
          <p:cNvSpPr txBox="1"/>
          <p:nvPr/>
        </p:nvSpPr>
        <p:spPr>
          <a:xfrm>
            <a:off x="749808" y="1682495"/>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6"/>
              </a:rPr>
              <a:t>Tufte 2003: Cognitive Style of PowerPoint</a:t>
            </a:r>
          </a:p>
          <a:p>
            <a:pPr algn="l">
              <a:lnSpc>
                <a:spcPct val="100000"/>
              </a:lnSpc>
              <a:spcAft>
                <a:spcPts val="0"/>
              </a:spcAft>
            </a:pPr>
            <a:r>
              <a:rPr sz="700" b="0">
                <a:solidFill>
                  <a:srgbClr val="222222"/>
                </a:solidFill>
                <a:latin typeface="Arial"/>
              </a:rPr>
              <a:t>bullets fragment the argument</a:t>
            </a:r>
          </a:p>
          <a:p>
            <a:pPr algn="l">
              <a:lnSpc>
                <a:spcPct val="100000"/>
              </a:lnSpc>
              <a:spcAft>
                <a:spcPts val="0"/>
              </a:spcAft>
            </a:pPr>
            <a:r>
              <a:rPr sz="660" b="1" err="1">
                <a:solidFill>
                  <a:srgbClr val="D62839"/>
                </a:solidFill>
                <a:latin typeface="Arial"/>
              </a:rPr>
              <a:t>edwardtufte.com</a:t>
            </a:r>
            <a:endParaRPr sz="740" b="1">
              <a:solidFill>
                <a:srgbClr val="D62839"/>
              </a:solidFill>
              <a:latin typeface="Arial"/>
            </a:endParaRPr>
          </a:p>
        </p:txBody>
      </p:sp>
      <p:cxnSp>
        <p:nvCxnSpPr>
          <p:cNvPr id="57" name="Connector 17415">
            <a:extLst>
              <a:ext uri="{FF2B5EF4-FFF2-40B4-BE49-F238E27FC236}">
                <a16:creationId xmlns:a16="http://schemas.microsoft.com/office/drawing/2014/main" id="{15B932F6-621B-0BDE-6D21-D00948F2B680}"/>
              </a:ext>
            </a:extLst>
          </p:cNvPr>
          <p:cNvCxnSpPr/>
          <p:nvPr/>
        </p:nvCxnSpPr>
        <p:spPr>
          <a:xfrm>
            <a:off x="384048" y="2027224"/>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29" name="Picture 17528" descr="image.png"/>
          <p:cNvPicPr>
            <a:picLocks noChangeAspect="1"/>
          </p:cNvPicPr>
          <p:nvPr/>
        </p:nvPicPr>
        <p:blipFill>
          <a:blip r:embed="rId75"/>
          <a:stretch>
            <a:fillRect/>
          </a:stretch>
        </p:blipFill>
        <p:spPr>
          <a:xfrm>
            <a:off x="365760" y="2043683"/>
            <a:ext cx="329184" cy="329184"/>
          </a:xfrm>
          <a:prstGeom prst="rect">
            <a:avLst/>
          </a:prstGeom>
        </p:spPr>
      </p:pic>
      <p:sp>
        <p:nvSpPr>
          <p:cNvPr id="17415" name="TextBox 17414">
            <a:extLst>
              <a:ext uri="{FF2B5EF4-FFF2-40B4-BE49-F238E27FC236}">
                <a16:creationId xmlns:a16="http://schemas.microsoft.com/office/drawing/2014/main" id="{AEE79EF0-6149-6E32-6B6B-203FF4DBD448}"/>
              </a:ext>
            </a:extLst>
          </p:cNvPr>
          <p:cNvSpPr txBox="1"/>
          <p:nvPr/>
        </p:nvSpPr>
        <p:spPr>
          <a:xfrm>
            <a:off x="749808" y="2034539"/>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8"/>
              </a:rPr>
              <a:t>Sweller 1988: Cognitive load</a:t>
            </a:r>
          </a:p>
          <a:p>
            <a:pPr algn="l">
              <a:lnSpc>
                <a:spcPct val="100000"/>
              </a:lnSpc>
              <a:spcAft>
                <a:spcPts val="0"/>
              </a:spcAft>
            </a:pPr>
            <a:r>
              <a:rPr sz="700" b="0">
                <a:solidFill>
                  <a:srgbClr val="222222"/>
                </a:solidFill>
                <a:latin typeface="Arial"/>
              </a:rPr>
              <a:t>working memory limits learning</a:t>
            </a:r>
          </a:p>
          <a:p>
            <a:pPr algn="l">
              <a:lnSpc>
                <a:spcPct val="100000"/>
              </a:lnSpc>
              <a:spcAft>
                <a:spcPts val="0"/>
              </a:spcAft>
            </a:pPr>
            <a:r>
              <a:rPr sz="660" b="1">
                <a:solidFill>
                  <a:srgbClr val="D62839"/>
                </a:solidFill>
                <a:latin typeface="Arial"/>
              </a:rPr>
              <a:t>doi.org/10.1207/s15516709cog1202_4</a:t>
            </a:r>
          </a:p>
        </p:txBody>
      </p:sp>
      <p:cxnSp>
        <p:nvCxnSpPr>
          <p:cNvPr id="2" name="Connector 17415">
            <a:extLst>
              <a:ext uri="{FF2B5EF4-FFF2-40B4-BE49-F238E27FC236}">
                <a16:creationId xmlns:a16="http://schemas.microsoft.com/office/drawing/2014/main" id="{15B932F6-621B-0BDE-6D21-D00948F2B680}"/>
              </a:ext>
            </a:extLst>
          </p:cNvPr>
          <p:cNvCxnSpPr/>
          <p:nvPr/>
        </p:nvCxnSpPr>
        <p:spPr>
          <a:xfrm>
            <a:off x="384048" y="2379268"/>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30" name="Picture 17529" descr="image.png"/>
          <p:cNvPicPr>
            <a:picLocks noChangeAspect="1"/>
          </p:cNvPicPr>
          <p:nvPr/>
        </p:nvPicPr>
        <p:blipFill>
          <a:blip r:embed="rId76"/>
          <a:stretch>
            <a:fillRect/>
          </a:stretch>
        </p:blipFill>
        <p:spPr>
          <a:xfrm>
            <a:off x="365760" y="2395727"/>
            <a:ext cx="329184" cy="329184"/>
          </a:xfrm>
          <a:prstGeom prst="rect">
            <a:avLst/>
          </a:prstGeom>
        </p:spPr>
      </p:pic>
      <p:sp>
        <p:nvSpPr>
          <p:cNvPr id="3" name="TextBox 17413">
            <a:extLst>
              <a:ext uri="{FF2B5EF4-FFF2-40B4-BE49-F238E27FC236}">
                <a16:creationId xmlns:a16="http://schemas.microsoft.com/office/drawing/2014/main" id="{2ADFCC07-9FEA-9A92-FEA4-72B796412AE8}"/>
              </a:ext>
            </a:extLst>
          </p:cNvPr>
          <p:cNvSpPr txBox="1"/>
          <p:nvPr/>
        </p:nvSpPr>
        <p:spPr>
          <a:xfrm>
            <a:off x="749808" y="2386584"/>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10"/>
              </a:rPr>
              <a:t>Cowan 2001: the magical number 4</a:t>
            </a:r>
          </a:p>
          <a:p>
            <a:pPr algn="l">
              <a:lnSpc>
                <a:spcPct val="100000"/>
              </a:lnSpc>
              <a:spcAft>
                <a:spcPts val="0"/>
              </a:spcAft>
            </a:pPr>
            <a:r>
              <a:rPr sz="700" b="0">
                <a:solidFill>
                  <a:srgbClr val="222222"/>
                </a:solidFill>
                <a:latin typeface="Arial"/>
              </a:rPr>
              <a:t>about four chunks at a time</a:t>
            </a:r>
          </a:p>
          <a:p>
            <a:pPr algn="l">
              <a:lnSpc>
                <a:spcPct val="100000"/>
              </a:lnSpc>
              <a:spcAft>
                <a:spcPts val="0"/>
              </a:spcAft>
            </a:pPr>
            <a:r>
              <a:rPr sz="660" b="1" err="1">
                <a:solidFill>
                  <a:srgbClr val="D62839"/>
                </a:solidFill>
                <a:latin typeface="Arial"/>
              </a:rPr>
              <a:t>doi.org/10.1017/S0140525X01003922</a:t>
            </a:r>
            <a:endParaRPr sz="740" b="1">
              <a:solidFill>
                <a:srgbClr val="D62839"/>
              </a:solidFill>
              <a:latin typeface="Arial"/>
            </a:endParaRPr>
          </a:p>
        </p:txBody>
      </p:sp>
      <p:sp>
        <p:nvSpPr>
          <p:cNvPr id="11" name="Rounded Rectangle 10">
            <a:extLst>
              <a:ext uri="{FF2B5EF4-FFF2-40B4-BE49-F238E27FC236}">
                <a16:creationId xmlns:a16="http://schemas.microsoft.com/office/drawing/2014/main" id="{A03F891A-7C74-6D3B-97F1-064F6641E67B}"/>
              </a:ext>
            </a:extLst>
          </p:cNvPr>
          <p:cNvSpPr/>
          <p:nvPr/>
        </p:nvSpPr>
        <p:spPr>
          <a:xfrm>
            <a:off x="3209544" y="1115568"/>
            <a:ext cx="2825496" cy="1655064"/>
          </a:xfrm>
          <a:prstGeom prst="roundRect">
            <a:avLst>
              <a:gd name="adj" fmla="val 5000"/>
            </a:avLst>
          </a:prstGeom>
          <a:solidFill>
            <a:srgbClr val="FFFFFF"/>
          </a:solidFill>
          <a:ln w="25400">
            <a:solidFill>
              <a:srgbClr val="D97706"/>
            </a:solid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68" name="Rounded Rectangle 17467">
            <a:extLst>
              <a:ext uri="{FF2B5EF4-FFF2-40B4-BE49-F238E27FC236}">
                <a16:creationId xmlns:a16="http://schemas.microsoft.com/office/drawing/2014/main" id="{03F0AEEA-AC82-E24A-DAF6-0CD2EA2269A6}"/>
              </a:ext>
            </a:extLst>
          </p:cNvPr>
          <p:cNvSpPr/>
          <p:nvPr/>
        </p:nvSpPr>
        <p:spPr>
          <a:xfrm>
            <a:off x="3209544" y="1115568"/>
            <a:ext cx="2825496" cy="512064"/>
          </a:xfrm>
          <a:prstGeom prst="roundRect">
            <a:avLst>
              <a:gd name="adj" fmla="val 16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80" name="Picture 17479" descr="sign_warning.png">
            <a:extLst>
              <a:ext uri="{FF2B5EF4-FFF2-40B4-BE49-F238E27FC236}">
                <a16:creationId xmlns:a16="http://schemas.microsoft.com/office/drawing/2014/main" id="{E986CE4C-68BC-9532-268D-2EC44577F1C1}"/>
              </a:ext>
            </a:extLst>
          </p:cNvPr>
          <p:cNvPicPr>
            <a:picLocks noChangeAspect="1"/>
          </p:cNvPicPr>
          <p:nvPr/>
        </p:nvPicPr>
        <p:blipFill>
          <a:blip r:embed="rId11"/>
          <a:stretch>
            <a:fillRect/>
          </a:stretch>
        </p:blipFill>
        <p:spPr>
          <a:xfrm>
            <a:off x="3291839" y="1170432"/>
            <a:ext cx="420624" cy="420624"/>
          </a:xfrm>
          <a:prstGeom prst="rect">
            <a:avLst/>
          </a:prstGeom>
        </p:spPr>
      </p:pic>
      <p:sp>
        <p:nvSpPr>
          <p:cNvPr id="17492" name="TextBox 17491">
            <a:extLst>
              <a:ext uri="{FF2B5EF4-FFF2-40B4-BE49-F238E27FC236}">
                <a16:creationId xmlns:a16="http://schemas.microsoft.com/office/drawing/2014/main" id="{81AB5AD2-2138-07B9-2668-558E1289A410}"/>
              </a:ext>
            </a:extLst>
          </p:cNvPr>
          <p:cNvSpPr txBox="1"/>
          <p:nvPr/>
        </p:nvSpPr>
        <p:spPr>
          <a:xfrm>
            <a:off x="3776472" y="1143000"/>
            <a:ext cx="2112264" cy="475488"/>
          </a:xfrm>
          <a:prstGeom prst="rect">
            <a:avLst/>
          </a:prstGeom>
          <a:noFill/>
        </p:spPr>
        <p:txBody>
          <a:bodyPr wrap="square" lIns="18288" tIns="0" rIns="18288" bIns="0" anchor="ctr">
            <a:spAutoFit/>
          </a:bodyPr>
          <a:lstStyle/>
          <a:p>
            <a:pPr algn="l">
              <a:lnSpc>
                <a:spcPct val="100000"/>
              </a:lnSpc>
              <a:spcAft>
                <a:spcPts val="0"/>
              </a:spcAft>
            </a:pPr>
            <a:r>
              <a:rPr sz="1100" b="1">
                <a:solidFill>
                  <a:srgbClr val="D97706"/>
                </a:solidFill>
                <a:latin typeface="Arial"/>
              </a:rPr>
              <a:t>SLIDE DESIGN</a:t>
            </a:r>
          </a:p>
          <a:p>
            <a:pPr algn="l">
              <a:lnSpc>
                <a:spcPct val="100000"/>
              </a:lnSpc>
              <a:spcAft>
                <a:spcPts val="0"/>
              </a:spcAft>
            </a:pPr>
            <a:r>
              <a:rPr sz="800" b="0">
                <a:solidFill>
                  <a:srgbClr val="475569"/>
                </a:solidFill>
                <a:latin typeface="Arial"/>
              </a:rPr>
              <a:t>what a good slide looks like</a:t>
            </a:r>
          </a:p>
        </p:txBody>
      </p:sp>
      <p:pic>
        <p:nvPicPr>
          <p:cNvPr id="17531" name="Picture 17530" descr="image.png"/>
          <p:cNvPicPr>
            <a:picLocks noChangeAspect="1"/>
          </p:cNvPicPr>
          <p:nvPr/>
        </p:nvPicPr>
        <p:blipFill>
          <a:blip r:embed="rId77"/>
          <a:stretch>
            <a:fillRect/>
          </a:stretch>
        </p:blipFill>
        <p:spPr>
          <a:xfrm>
            <a:off x="3300984" y="1691639"/>
            <a:ext cx="329184" cy="329184"/>
          </a:xfrm>
          <a:prstGeom prst="rect">
            <a:avLst/>
          </a:prstGeom>
        </p:spPr>
      </p:pic>
      <p:sp>
        <p:nvSpPr>
          <p:cNvPr id="17416" name="TextBox 17415">
            <a:extLst>
              <a:ext uri="{FF2B5EF4-FFF2-40B4-BE49-F238E27FC236}">
                <a16:creationId xmlns:a16="http://schemas.microsoft.com/office/drawing/2014/main" id="{037F708F-5ABC-FC30-3F2F-C139DD13074E}"/>
              </a:ext>
            </a:extLst>
          </p:cNvPr>
          <p:cNvSpPr txBox="1"/>
          <p:nvPr/>
        </p:nvSpPr>
        <p:spPr>
          <a:xfrm>
            <a:off x="3685031" y="1682495"/>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13"/>
              </a:rPr>
              <a:t>Garner &amp; Alley 2013, IJEE</a:t>
            </a:r>
          </a:p>
          <a:p>
            <a:pPr algn="l">
              <a:lnSpc>
                <a:spcPct val="100000"/>
              </a:lnSpc>
              <a:spcAft>
                <a:spcPts val="0"/>
              </a:spcAft>
            </a:pPr>
            <a:r>
              <a:rPr sz="700" b="0">
                <a:solidFill>
                  <a:srgbClr val="222222"/>
                </a:solidFill>
                <a:latin typeface="Arial"/>
              </a:rPr>
              <a:t>assertion-evidence beats bullets</a:t>
            </a:r>
          </a:p>
          <a:p>
            <a:pPr algn="l">
              <a:lnSpc>
                <a:spcPct val="100000"/>
              </a:lnSpc>
              <a:spcAft>
                <a:spcPts val="0"/>
              </a:spcAft>
            </a:pPr>
            <a:r>
              <a:rPr sz="660" b="1">
                <a:solidFill>
                  <a:srgbClr val="D97706"/>
                </a:solidFill>
                <a:latin typeface="Arial"/>
              </a:rPr>
              <a:t>ijee.ie</a:t>
            </a:r>
          </a:p>
        </p:txBody>
      </p:sp>
      <p:cxnSp>
        <p:nvCxnSpPr>
          <p:cNvPr id="4" name="Connector 17415">
            <a:extLst>
              <a:ext uri="{FF2B5EF4-FFF2-40B4-BE49-F238E27FC236}">
                <a16:creationId xmlns:a16="http://schemas.microsoft.com/office/drawing/2014/main" id="{15B932F6-621B-0BDE-6D21-D00948F2B680}"/>
              </a:ext>
            </a:extLst>
          </p:cNvPr>
          <p:cNvCxnSpPr/>
          <p:nvPr/>
        </p:nvCxnSpPr>
        <p:spPr>
          <a:xfrm>
            <a:off x="3319272" y="2027224"/>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32" name="Picture 17531" descr="image.png"/>
          <p:cNvPicPr>
            <a:picLocks noChangeAspect="1"/>
          </p:cNvPicPr>
          <p:nvPr/>
        </p:nvPicPr>
        <p:blipFill>
          <a:blip r:embed="rId78"/>
          <a:stretch>
            <a:fillRect/>
          </a:stretch>
        </p:blipFill>
        <p:spPr>
          <a:xfrm>
            <a:off x="3300984" y="2043683"/>
            <a:ext cx="329184" cy="329184"/>
          </a:xfrm>
          <a:prstGeom prst="rect">
            <a:avLst/>
          </a:prstGeom>
        </p:spPr>
      </p:pic>
      <p:sp>
        <p:nvSpPr>
          <p:cNvPr id="17417" name="TextBox 17416">
            <a:extLst>
              <a:ext uri="{FF2B5EF4-FFF2-40B4-BE49-F238E27FC236}">
                <a16:creationId xmlns:a16="http://schemas.microsoft.com/office/drawing/2014/main" id="{D176318B-777C-C85D-7396-56EE183AC633}"/>
              </a:ext>
            </a:extLst>
          </p:cNvPr>
          <p:cNvSpPr txBox="1"/>
          <p:nvPr/>
        </p:nvSpPr>
        <p:spPr>
          <a:xfrm>
            <a:off x="3685031" y="2034539"/>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15"/>
              </a:rPr>
              <a:t>Alley et al. 2006</a:t>
            </a:r>
          </a:p>
          <a:p>
            <a:pPr algn="l">
              <a:lnSpc>
                <a:spcPct val="100000"/>
              </a:lnSpc>
              <a:spcAft>
                <a:spcPts val="0"/>
              </a:spcAft>
            </a:pPr>
            <a:r>
              <a:rPr sz="700" b="0">
                <a:solidFill>
                  <a:srgbClr val="222222"/>
                </a:solidFill>
                <a:latin typeface="Arial"/>
              </a:rPr>
              <a:t>sentence headlines aid retention</a:t>
            </a:r>
          </a:p>
          <a:p>
            <a:pPr algn="l">
              <a:lnSpc>
                <a:spcPct val="100000"/>
              </a:lnSpc>
              <a:spcAft>
                <a:spcPts val="0"/>
              </a:spcAft>
            </a:pPr>
            <a:r>
              <a:rPr sz="660" b="1">
                <a:solidFill>
                  <a:srgbClr val="D97706"/>
                </a:solidFill>
                <a:latin typeface="Arial"/>
              </a:rPr>
              <a:t>Technical Communication 53(2)</a:t>
            </a:r>
          </a:p>
        </p:txBody>
      </p:sp>
      <p:cxnSp>
        <p:nvCxnSpPr>
          <p:cNvPr id="23" name="Connector 17415">
            <a:extLst>
              <a:ext uri="{FF2B5EF4-FFF2-40B4-BE49-F238E27FC236}">
                <a16:creationId xmlns:a16="http://schemas.microsoft.com/office/drawing/2014/main" id="{15B932F6-621B-0BDE-6D21-D00948F2B680}"/>
              </a:ext>
            </a:extLst>
          </p:cNvPr>
          <p:cNvCxnSpPr/>
          <p:nvPr/>
        </p:nvCxnSpPr>
        <p:spPr>
          <a:xfrm>
            <a:off x="3319272" y="2379268"/>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33" name="Picture 17532" descr="image.png"/>
          <p:cNvPicPr>
            <a:picLocks noChangeAspect="1"/>
          </p:cNvPicPr>
          <p:nvPr/>
        </p:nvPicPr>
        <p:blipFill>
          <a:blip r:embed="rId79"/>
          <a:stretch>
            <a:fillRect/>
          </a:stretch>
        </p:blipFill>
        <p:spPr>
          <a:xfrm>
            <a:off x="3300984" y="2395727"/>
            <a:ext cx="329184" cy="329184"/>
          </a:xfrm>
          <a:prstGeom prst="rect">
            <a:avLst/>
          </a:prstGeom>
        </p:spPr>
      </p:pic>
      <p:sp>
        <p:nvSpPr>
          <p:cNvPr id="24" name="TextBox 17415">
            <a:extLst>
              <a:ext uri="{FF2B5EF4-FFF2-40B4-BE49-F238E27FC236}">
                <a16:creationId xmlns:a16="http://schemas.microsoft.com/office/drawing/2014/main" id="{037F708F-5ABC-FC30-3F2F-C139DD13074E}"/>
              </a:ext>
            </a:extLst>
          </p:cNvPr>
          <p:cNvSpPr txBox="1"/>
          <p:nvPr/>
        </p:nvSpPr>
        <p:spPr>
          <a:xfrm>
            <a:off x="3685031" y="2386584"/>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17"/>
              </a:rPr>
              <a:t>Mayer 2009: Multimedia Learning</a:t>
            </a:r>
          </a:p>
          <a:p>
            <a:pPr algn="l">
              <a:lnSpc>
                <a:spcPct val="100000"/>
              </a:lnSpc>
              <a:spcAft>
                <a:spcPts val="0"/>
              </a:spcAft>
            </a:pPr>
            <a:r>
              <a:rPr sz="700" b="0">
                <a:solidFill>
                  <a:srgbClr val="222222"/>
                </a:solidFill>
                <a:latin typeface="Arial"/>
              </a:rPr>
              <a:t>coherence, signalling, contiguity</a:t>
            </a:r>
          </a:p>
          <a:p>
            <a:pPr algn="l">
              <a:lnSpc>
                <a:spcPct val="100000"/>
              </a:lnSpc>
              <a:spcAft>
                <a:spcPts val="0"/>
              </a:spcAft>
            </a:pPr>
            <a:r>
              <a:rPr sz="660" b="1">
                <a:solidFill>
                  <a:srgbClr val="D97706"/>
                </a:solidFill>
                <a:latin typeface="Arial"/>
              </a:rPr>
              <a:t>cambridge.org</a:t>
            </a:r>
          </a:p>
        </p:txBody>
      </p:sp>
      <p:sp>
        <p:nvSpPr>
          <p:cNvPr id="13" name="Rounded Rectangle 12">
            <a:extLst>
              <a:ext uri="{FF2B5EF4-FFF2-40B4-BE49-F238E27FC236}">
                <a16:creationId xmlns:a16="http://schemas.microsoft.com/office/drawing/2014/main" id="{FD0F7097-E652-2811-E2B0-D8CBC6E30B56}"/>
              </a:ext>
            </a:extLst>
          </p:cNvPr>
          <p:cNvSpPr/>
          <p:nvPr/>
        </p:nvSpPr>
        <p:spPr>
          <a:xfrm>
            <a:off x="6144768" y="1115568"/>
            <a:ext cx="2825496" cy="1655064"/>
          </a:xfrm>
          <a:prstGeom prst="roundRect">
            <a:avLst>
              <a:gd name="adj" fmla="val 5000"/>
            </a:avLst>
          </a:prstGeom>
          <a:solidFill>
            <a:srgbClr val="FFFFFF"/>
          </a:solidFill>
          <a:ln w="25400">
            <a:solidFill>
              <a:srgbClr val="B91C1C"/>
            </a:solid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69" name="Rounded Rectangle 17468">
            <a:extLst>
              <a:ext uri="{FF2B5EF4-FFF2-40B4-BE49-F238E27FC236}">
                <a16:creationId xmlns:a16="http://schemas.microsoft.com/office/drawing/2014/main" id="{3C950F4E-C049-8503-1EB4-5EF643F7F04B}"/>
              </a:ext>
            </a:extLst>
          </p:cNvPr>
          <p:cNvSpPr/>
          <p:nvPr/>
        </p:nvSpPr>
        <p:spPr>
          <a:xfrm>
            <a:off x="6144768" y="1115568"/>
            <a:ext cx="2825496" cy="512064"/>
          </a:xfrm>
          <a:prstGeom prst="roundRect">
            <a:avLst>
              <a:gd name="adj" fmla="val 16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81" name="Picture 17480" descr="sign_speed.png">
            <a:extLst>
              <a:ext uri="{FF2B5EF4-FFF2-40B4-BE49-F238E27FC236}">
                <a16:creationId xmlns:a16="http://schemas.microsoft.com/office/drawing/2014/main" id="{58522CA7-8BE8-4123-C6A9-FC09B4248CE2}"/>
              </a:ext>
            </a:extLst>
          </p:cNvPr>
          <p:cNvPicPr>
            <a:picLocks noChangeAspect="1"/>
          </p:cNvPicPr>
          <p:nvPr/>
        </p:nvPicPr>
        <p:blipFill>
          <a:blip r:embed="rId18"/>
          <a:stretch>
            <a:fillRect/>
          </a:stretch>
        </p:blipFill>
        <p:spPr>
          <a:xfrm>
            <a:off x="6227064" y="1170432"/>
            <a:ext cx="420624" cy="420624"/>
          </a:xfrm>
          <a:prstGeom prst="rect">
            <a:avLst/>
          </a:prstGeom>
        </p:spPr>
      </p:pic>
      <p:sp>
        <p:nvSpPr>
          <p:cNvPr id="17493" name="TextBox 17492">
            <a:extLst>
              <a:ext uri="{FF2B5EF4-FFF2-40B4-BE49-F238E27FC236}">
                <a16:creationId xmlns:a16="http://schemas.microsoft.com/office/drawing/2014/main" id="{59A66B88-65BE-96B5-1B20-B054E068F549}"/>
              </a:ext>
            </a:extLst>
          </p:cNvPr>
          <p:cNvSpPr txBox="1"/>
          <p:nvPr/>
        </p:nvSpPr>
        <p:spPr>
          <a:xfrm>
            <a:off x="6711696" y="1143000"/>
            <a:ext cx="2112264" cy="475488"/>
          </a:xfrm>
          <a:prstGeom prst="rect">
            <a:avLst/>
          </a:prstGeom>
          <a:noFill/>
        </p:spPr>
        <p:txBody>
          <a:bodyPr wrap="square" lIns="18288" tIns="0" rIns="18288" bIns="0" anchor="ctr">
            <a:spAutoFit/>
          </a:bodyPr>
          <a:lstStyle/>
          <a:p>
            <a:pPr algn="l">
              <a:lnSpc>
                <a:spcPct val="100000"/>
              </a:lnSpc>
              <a:spcAft>
                <a:spcPts val="0"/>
              </a:spcAft>
            </a:pPr>
            <a:r>
              <a:rPr sz="1100" b="1">
                <a:solidFill>
                  <a:srgbClr val="B91C1C"/>
                </a:solidFill>
                <a:latin typeface="Arial"/>
              </a:rPr>
              <a:t>SLIDE GENERATION</a:t>
            </a:r>
          </a:p>
          <a:p>
            <a:pPr algn="l">
              <a:lnSpc>
                <a:spcPct val="100000"/>
              </a:lnSpc>
              <a:spcAft>
                <a:spcPts val="0"/>
              </a:spcAft>
            </a:pPr>
            <a:r>
              <a:rPr sz="800" b="0">
                <a:solidFill>
                  <a:srgbClr val="475569"/>
                </a:solidFill>
                <a:latin typeface="Arial"/>
              </a:rPr>
              <a:t>prior systems we improve on</a:t>
            </a:r>
          </a:p>
        </p:txBody>
      </p:sp>
      <p:pic>
        <p:nvPicPr>
          <p:cNvPr id="17534" name="Picture 17533" descr="image.png"/>
          <p:cNvPicPr>
            <a:picLocks noChangeAspect="1"/>
          </p:cNvPicPr>
          <p:nvPr/>
        </p:nvPicPr>
        <p:blipFill>
          <a:blip r:embed="rId80"/>
          <a:stretch>
            <a:fillRect/>
          </a:stretch>
        </p:blipFill>
        <p:spPr>
          <a:xfrm>
            <a:off x="6236207" y="1691639"/>
            <a:ext cx="329184" cy="329184"/>
          </a:xfrm>
          <a:prstGeom prst="rect">
            <a:avLst/>
          </a:prstGeom>
        </p:spPr>
      </p:pic>
      <p:sp>
        <p:nvSpPr>
          <p:cNvPr id="17418" name="TextBox 17417">
            <a:extLst>
              <a:ext uri="{FF2B5EF4-FFF2-40B4-BE49-F238E27FC236}">
                <a16:creationId xmlns:a16="http://schemas.microsoft.com/office/drawing/2014/main" id="{A960CEC7-34FD-5D83-C09F-BB3E746BC80E}"/>
              </a:ext>
            </a:extLst>
          </p:cNvPr>
          <p:cNvSpPr txBox="1"/>
          <p:nvPr/>
        </p:nvSpPr>
        <p:spPr>
          <a:xfrm>
            <a:off x="6620256" y="1682495"/>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20"/>
              </a:rPr>
              <a:t>Fu et al. 2022: DOC2PPT</a:t>
            </a:r>
          </a:p>
          <a:p>
            <a:pPr algn="l">
              <a:lnSpc>
                <a:spcPct val="100000"/>
              </a:lnSpc>
              <a:spcAft>
                <a:spcPts val="0"/>
              </a:spcAft>
            </a:pPr>
            <a:r>
              <a:rPr sz="700" b="0">
                <a:solidFill>
                  <a:srgbClr val="222222"/>
                </a:solidFill>
                <a:latin typeface="Arial"/>
              </a:rPr>
              <a:t>paper → slides, neural</a:t>
            </a:r>
          </a:p>
          <a:p>
            <a:pPr algn="l">
              <a:lnSpc>
                <a:spcPct val="100000"/>
              </a:lnSpc>
              <a:spcAft>
                <a:spcPts val="0"/>
              </a:spcAft>
            </a:pPr>
            <a:r>
              <a:rPr sz="660" b="1">
                <a:solidFill>
                  <a:srgbClr val="B91C1C"/>
                </a:solidFill>
                <a:latin typeface="Arial"/>
              </a:rPr>
              <a:t>doi.org/10.1609/aaai.v36i1.19943</a:t>
            </a:r>
          </a:p>
        </p:txBody>
      </p:sp>
      <p:cxnSp>
        <p:nvCxnSpPr>
          <p:cNvPr id="25" name="Connector 17415">
            <a:extLst>
              <a:ext uri="{FF2B5EF4-FFF2-40B4-BE49-F238E27FC236}">
                <a16:creationId xmlns:a16="http://schemas.microsoft.com/office/drawing/2014/main" id="{15B932F6-621B-0BDE-6D21-D00948F2B680}"/>
              </a:ext>
            </a:extLst>
          </p:cNvPr>
          <p:cNvCxnSpPr/>
          <p:nvPr/>
        </p:nvCxnSpPr>
        <p:spPr>
          <a:xfrm>
            <a:off x="6254496" y="2027224"/>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35" name="Picture 17534" descr="image.png"/>
          <p:cNvPicPr>
            <a:picLocks noChangeAspect="1"/>
          </p:cNvPicPr>
          <p:nvPr/>
        </p:nvPicPr>
        <p:blipFill>
          <a:blip r:embed="rId81"/>
          <a:stretch>
            <a:fillRect/>
          </a:stretch>
        </p:blipFill>
        <p:spPr>
          <a:xfrm>
            <a:off x="6236207" y="2043683"/>
            <a:ext cx="329184" cy="329184"/>
          </a:xfrm>
          <a:prstGeom prst="rect">
            <a:avLst/>
          </a:prstGeom>
        </p:spPr>
      </p:pic>
      <p:sp>
        <p:nvSpPr>
          <p:cNvPr id="17419" name="TextBox 17418">
            <a:extLst>
              <a:ext uri="{FF2B5EF4-FFF2-40B4-BE49-F238E27FC236}">
                <a16:creationId xmlns:a16="http://schemas.microsoft.com/office/drawing/2014/main" id="{A18A0D3E-4D85-7430-4035-2DBE42584365}"/>
              </a:ext>
            </a:extLst>
          </p:cNvPr>
          <p:cNvSpPr txBox="1"/>
          <p:nvPr/>
        </p:nvSpPr>
        <p:spPr>
          <a:xfrm>
            <a:off x="6620256" y="2034539"/>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22"/>
              </a:rPr>
              <a:t>Sun et al. 2021: D2S</a:t>
            </a:r>
          </a:p>
          <a:p>
            <a:pPr algn="l">
              <a:lnSpc>
                <a:spcPct val="100000"/>
              </a:lnSpc>
              <a:spcAft>
                <a:spcPts val="0"/>
              </a:spcAft>
            </a:pPr>
            <a:r>
              <a:rPr sz="700" b="0">
                <a:solidFill>
                  <a:srgbClr val="222222"/>
                </a:solidFill>
                <a:latin typeface="Arial"/>
              </a:rPr>
              <a:t>query-based summarisation</a:t>
            </a:r>
          </a:p>
          <a:p>
            <a:pPr algn="l">
              <a:lnSpc>
                <a:spcPct val="100000"/>
              </a:lnSpc>
              <a:spcAft>
                <a:spcPts val="0"/>
              </a:spcAft>
            </a:pPr>
            <a:r>
              <a:rPr sz="660" b="1">
                <a:solidFill>
                  <a:srgbClr val="B91C1C"/>
                </a:solidFill>
                <a:latin typeface="Arial"/>
              </a:rPr>
              <a:t>aclanthology.org/2021.naacl-main.111</a:t>
            </a:r>
          </a:p>
        </p:txBody>
      </p:sp>
      <p:cxnSp>
        <p:nvCxnSpPr>
          <p:cNvPr id="26" name="Connector 17415">
            <a:extLst>
              <a:ext uri="{FF2B5EF4-FFF2-40B4-BE49-F238E27FC236}">
                <a16:creationId xmlns:a16="http://schemas.microsoft.com/office/drawing/2014/main" id="{15B932F6-621B-0BDE-6D21-D00948F2B680}"/>
              </a:ext>
            </a:extLst>
          </p:cNvPr>
          <p:cNvCxnSpPr/>
          <p:nvPr/>
        </p:nvCxnSpPr>
        <p:spPr>
          <a:xfrm>
            <a:off x="6254496" y="2379268"/>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36" name="Picture 17535" descr="image.png"/>
          <p:cNvPicPr>
            <a:picLocks noChangeAspect="1"/>
          </p:cNvPicPr>
          <p:nvPr/>
        </p:nvPicPr>
        <p:blipFill>
          <a:blip r:embed="rId82"/>
          <a:stretch>
            <a:fillRect/>
          </a:stretch>
        </p:blipFill>
        <p:spPr>
          <a:xfrm>
            <a:off x="6236207" y="2395727"/>
            <a:ext cx="329184" cy="329184"/>
          </a:xfrm>
          <a:prstGeom prst="rect">
            <a:avLst/>
          </a:prstGeom>
        </p:spPr>
      </p:pic>
      <p:sp>
        <p:nvSpPr>
          <p:cNvPr id="27" name="TextBox 17417">
            <a:extLst>
              <a:ext uri="{FF2B5EF4-FFF2-40B4-BE49-F238E27FC236}">
                <a16:creationId xmlns:a16="http://schemas.microsoft.com/office/drawing/2014/main" id="{A960CEC7-34FD-5D83-C09F-BB3E746BC80E}"/>
              </a:ext>
            </a:extLst>
          </p:cNvPr>
          <p:cNvSpPr txBox="1"/>
          <p:nvPr/>
        </p:nvSpPr>
        <p:spPr>
          <a:xfrm>
            <a:off x="6620256" y="2386584"/>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24"/>
              </a:rPr>
              <a:t>Hu &amp; Wan 2015: PPSGen</a:t>
            </a:r>
          </a:p>
          <a:p>
            <a:pPr algn="l">
              <a:lnSpc>
                <a:spcPct val="100000"/>
              </a:lnSpc>
              <a:spcAft>
                <a:spcPts val="0"/>
              </a:spcAft>
            </a:pPr>
            <a:r>
              <a:rPr sz="700" b="0">
                <a:solidFill>
                  <a:srgbClr val="222222"/>
                </a:solidFill>
                <a:latin typeface="Arial"/>
              </a:rPr>
              <a:t>learned sentence selection</a:t>
            </a:r>
          </a:p>
          <a:p>
            <a:pPr algn="l">
              <a:lnSpc>
                <a:spcPct val="100000"/>
              </a:lnSpc>
              <a:spcAft>
                <a:spcPts val="0"/>
              </a:spcAft>
            </a:pPr>
            <a:r>
              <a:rPr sz="660" b="1">
                <a:solidFill>
                  <a:srgbClr val="B91C1C"/>
                </a:solidFill>
                <a:latin typeface="Arial"/>
              </a:rPr>
              <a:t>doi.org/10.1109/TKDE.2014.2359652</a:t>
            </a:r>
          </a:p>
        </p:txBody>
      </p:sp>
      <p:sp>
        <p:nvSpPr>
          <p:cNvPr id="14" name="Rounded Rectangle 13">
            <a:extLst>
              <a:ext uri="{FF2B5EF4-FFF2-40B4-BE49-F238E27FC236}">
                <a16:creationId xmlns:a16="http://schemas.microsoft.com/office/drawing/2014/main" id="{984F2DF5-5B35-B3D0-F544-1E9CBC9E754C}"/>
              </a:ext>
            </a:extLst>
          </p:cNvPr>
          <p:cNvSpPr/>
          <p:nvPr/>
        </p:nvSpPr>
        <p:spPr>
          <a:xfrm>
            <a:off x="9089136" y="1115568"/>
            <a:ext cx="2825496" cy="1655064"/>
          </a:xfrm>
          <a:prstGeom prst="roundRect">
            <a:avLst>
              <a:gd name="adj" fmla="val 5000"/>
            </a:avLst>
          </a:prstGeom>
          <a:solidFill>
            <a:srgbClr val="FFFFFF"/>
          </a:solidFill>
          <a:ln w="25400">
            <a:solidFill>
              <a:srgbClr val="DC2626"/>
            </a:solid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70" name="Rounded Rectangle 17469">
            <a:extLst>
              <a:ext uri="{FF2B5EF4-FFF2-40B4-BE49-F238E27FC236}">
                <a16:creationId xmlns:a16="http://schemas.microsoft.com/office/drawing/2014/main" id="{DCC91A88-9134-AFA5-F11E-8116DAB5D4FD}"/>
              </a:ext>
            </a:extLst>
          </p:cNvPr>
          <p:cNvSpPr/>
          <p:nvPr/>
        </p:nvSpPr>
        <p:spPr>
          <a:xfrm>
            <a:off x="9089136" y="1115568"/>
            <a:ext cx="2825496" cy="512064"/>
          </a:xfrm>
          <a:prstGeom prst="roundRect">
            <a:avLst>
              <a:gd name="adj" fmla="val 16000"/>
            </a:avLst>
          </a:prstGeom>
          <a:solidFill>
            <a:srgbClr val="FD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82" name="Picture 17481" descr="sign_yield.png">
            <a:extLst>
              <a:ext uri="{FF2B5EF4-FFF2-40B4-BE49-F238E27FC236}">
                <a16:creationId xmlns:a16="http://schemas.microsoft.com/office/drawing/2014/main" id="{E91EAB86-F99C-D8EF-F77E-3DA77CF94DF4}"/>
              </a:ext>
            </a:extLst>
          </p:cNvPr>
          <p:cNvPicPr>
            <a:picLocks noChangeAspect="1"/>
          </p:cNvPicPr>
          <p:nvPr/>
        </p:nvPicPr>
        <p:blipFill>
          <a:blip r:embed="rId25"/>
          <a:stretch>
            <a:fillRect/>
          </a:stretch>
        </p:blipFill>
        <p:spPr>
          <a:xfrm>
            <a:off x="9171432" y="1170432"/>
            <a:ext cx="420624" cy="420624"/>
          </a:xfrm>
          <a:prstGeom prst="rect">
            <a:avLst/>
          </a:prstGeom>
        </p:spPr>
      </p:pic>
      <p:sp>
        <p:nvSpPr>
          <p:cNvPr id="17494" name="TextBox 17493">
            <a:extLst>
              <a:ext uri="{FF2B5EF4-FFF2-40B4-BE49-F238E27FC236}">
                <a16:creationId xmlns:a16="http://schemas.microsoft.com/office/drawing/2014/main" id="{3BEC9CE5-33AF-C51F-4843-5555B3C2EA3C}"/>
              </a:ext>
            </a:extLst>
          </p:cNvPr>
          <p:cNvSpPr txBox="1"/>
          <p:nvPr/>
        </p:nvSpPr>
        <p:spPr>
          <a:xfrm>
            <a:off x="9656063" y="1143000"/>
            <a:ext cx="2112264" cy="475488"/>
          </a:xfrm>
          <a:prstGeom prst="rect">
            <a:avLst/>
          </a:prstGeom>
          <a:noFill/>
        </p:spPr>
        <p:txBody>
          <a:bodyPr wrap="square" lIns="18288" tIns="0" rIns="18288" bIns="0" anchor="ctr">
            <a:spAutoFit/>
          </a:bodyPr>
          <a:lstStyle/>
          <a:p>
            <a:pPr algn="l">
              <a:lnSpc>
                <a:spcPct val="100000"/>
              </a:lnSpc>
              <a:spcAft>
                <a:spcPts val="0"/>
              </a:spcAft>
            </a:pPr>
            <a:r>
              <a:rPr sz="1100" b="1">
                <a:solidFill>
                  <a:srgbClr val="DC2626"/>
                </a:solidFill>
                <a:latin typeface="Arial"/>
              </a:rPr>
              <a:t>FAITHFULNESS</a:t>
            </a:r>
          </a:p>
          <a:p>
            <a:pPr algn="l">
              <a:lnSpc>
                <a:spcPct val="100000"/>
              </a:lnSpc>
              <a:spcAft>
                <a:spcPts val="0"/>
              </a:spcAft>
            </a:pPr>
            <a:r>
              <a:rPr sz="800" b="0">
                <a:solidFill>
                  <a:srgbClr val="475569"/>
                </a:solidFill>
                <a:latin typeface="Arial"/>
              </a:rPr>
              <a:t>why we keep text verbatim</a:t>
            </a:r>
          </a:p>
        </p:txBody>
      </p:sp>
      <p:pic>
        <p:nvPicPr>
          <p:cNvPr id="17537" name="Picture 17536" descr="image.png"/>
          <p:cNvPicPr>
            <a:picLocks noChangeAspect="1"/>
          </p:cNvPicPr>
          <p:nvPr/>
        </p:nvPicPr>
        <p:blipFill>
          <a:blip r:embed="rId83"/>
          <a:stretch>
            <a:fillRect/>
          </a:stretch>
        </p:blipFill>
        <p:spPr>
          <a:xfrm>
            <a:off x="9180576" y="1691639"/>
            <a:ext cx="329184" cy="329184"/>
          </a:xfrm>
          <a:prstGeom prst="rect">
            <a:avLst/>
          </a:prstGeom>
        </p:spPr>
      </p:pic>
      <p:sp>
        <p:nvSpPr>
          <p:cNvPr id="17466" name="TextBox 17465">
            <a:extLst>
              <a:ext uri="{FF2B5EF4-FFF2-40B4-BE49-F238E27FC236}">
                <a16:creationId xmlns:a16="http://schemas.microsoft.com/office/drawing/2014/main" id="{10037DBF-120C-8372-24E5-EEDF08B84DE4}"/>
              </a:ext>
            </a:extLst>
          </p:cNvPr>
          <p:cNvSpPr txBox="1"/>
          <p:nvPr/>
        </p:nvSpPr>
        <p:spPr>
          <a:xfrm>
            <a:off x="9564624" y="1682495"/>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27"/>
              </a:rPr>
              <a:t>Maynez et al. 2020, ACL</a:t>
            </a:r>
          </a:p>
          <a:p>
            <a:pPr algn="l">
              <a:lnSpc>
                <a:spcPct val="100000"/>
              </a:lnSpc>
              <a:spcAft>
                <a:spcPts val="0"/>
              </a:spcAft>
            </a:pPr>
            <a:r>
              <a:rPr sz="700" b="0">
                <a:solidFill>
                  <a:srgbClr val="222222"/>
                </a:solidFill>
                <a:latin typeface="Arial"/>
              </a:rPr>
              <a:t>summaries hallucinate and omit</a:t>
            </a:r>
          </a:p>
          <a:p>
            <a:pPr algn="l">
              <a:lnSpc>
                <a:spcPct val="100000"/>
              </a:lnSpc>
              <a:spcAft>
                <a:spcPts val="0"/>
              </a:spcAft>
            </a:pPr>
            <a:r>
              <a:rPr sz="660" b="1" err="1">
                <a:solidFill>
                  <a:srgbClr val="DC2626"/>
                </a:solidFill>
                <a:latin typeface="Arial"/>
              </a:rPr>
              <a:t>aclanthology.org/2020.acl-main.173</a:t>
            </a:r>
            <a:endParaRPr sz="740" b="1">
              <a:solidFill>
                <a:srgbClr val="DC2626"/>
              </a:solidFill>
              <a:latin typeface="Arial"/>
            </a:endParaRPr>
          </a:p>
        </p:txBody>
      </p:sp>
      <p:cxnSp>
        <p:nvCxnSpPr>
          <p:cNvPr id="28" name="Connector 17415">
            <a:extLst>
              <a:ext uri="{FF2B5EF4-FFF2-40B4-BE49-F238E27FC236}">
                <a16:creationId xmlns:a16="http://schemas.microsoft.com/office/drawing/2014/main" id="{15B932F6-621B-0BDE-6D21-D00948F2B680}"/>
              </a:ext>
            </a:extLst>
          </p:cNvPr>
          <p:cNvCxnSpPr/>
          <p:nvPr/>
        </p:nvCxnSpPr>
        <p:spPr>
          <a:xfrm>
            <a:off x="9198863" y="2027224"/>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38" name="Picture 17537" descr="image.png"/>
          <p:cNvPicPr>
            <a:picLocks noChangeAspect="1"/>
          </p:cNvPicPr>
          <p:nvPr/>
        </p:nvPicPr>
        <p:blipFill>
          <a:blip r:embed="rId84"/>
          <a:stretch>
            <a:fillRect/>
          </a:stretch>
        </p:blipFill>
        <p:spPr>
          <a:xfrm>
            <a:off x="9180576" y="2043683"/>
            <a:ext cx="329184" cy="329184"/>
          </a:xfrm>
          <a:prstGeom prst="rect">
            <a:avLst/>
          </a:prstGeom>
        </p:spPr>
      </p:pic>
      <p:sp>
        <p:nvSpPr>
          <p:cNvPr id="17450" name="TextBox 17449">
            <a:extLst>
              <a:ext uri="{FF2B5EF4-FFF2-40B4-BE49-F238E27FC236}">
                <a16:creationId xmlns:a16="http://schemas.microsoft.com/office/drawing/2014/main" id="{FD126597-4C74-7C69-E3CE-C0B45E11C4E0}"/>
              </a:ext>
            </a:extLst>
          </p:cNvPr>
          <p:cNvSpPr txBox="1"/>
          <p:nvPr/>
        </p:nvSpPr>
        <p:spPr>
          <a:xfrm>
            <a:off x="9564624" y="2034539"/>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29"/>
              </a:rPr>
              <a:t>Ji et al. 2023, ACM CSUR</a:t>
            </a:r>
          </a:p>
          <a:p>
            <a:pPr algn="l">
              <a:lnSpc>
                <a:spcPct val="100000"/>
              </a:lnSpc>
              <a:spcAft>
                <a:spcPts val="0"/>
              </a:spcAft>
            </a:pPr>
            <a:r>
              <a:rPr sz="700" b="0">
                <a:solidFill>
                  <a:srgbClr val="222222"/>
                </a:solidFill>
                <a:latin typeface="Arial"/>
              </a:rPr>
              <a:t>survey of hallucination</a:t>
            </a:r>
          </a:p>
          <a:p>
            <a:pPr algn="l">
              <a:lnSpc>
                <a:spcPct val="100000"/>
              </a:lnSpc>
              <a:spcAft>
                <a:spcPts val="0"/>
              </a:spcAft>
            </a:pPr>
            <a:r>
              <a:rPr sz="660" b="1">
                <a:solidFill>
                  <a:srgbClr val="DC2626"/>
                </a:solidFill>
                <a:latin typeface="Arial"/>
              </a:rPr>
              <a:t>doi.org/10.1145/3571730</a:t>
            </a:r>
            <a:endParaRPr sz="740" b="1">
              <a:solidFill>
                <a:srgbClr val="DC2626"/>
              </a:solidFill>
              <a:latin typeface="Arial"/>
            </a:endParaRPr>
          </a:p>
        </p:txBody>
      </p:sp>
      <p:cxnSp>
        <p:nvCxnSpPr>
          <p:cNvPr id="29" name="Connector 17415">
            <a:extLst>
              <a:ext uri="{FF2B5EF4-FFF2-40B4-BE49-F238E27FC236}">
                <a16:creationId xmlns:a16="http://schemas.microsoft.com/office/drawing/2014/main" id="{15B932F6-621B-0BDE-6D21-D00948F2B680}"/>
              </a:ext>
            </a:extLst>
          </p:cNvPr>
          <p:cNvCxnSpPr/>
          <p:nvPr/>
        </p:nvCxnSpPr>
        <p:spPr>
          <a:xfrm>
            <a:off x="9198863" y="2379268"/>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39" name="Picture 17538" descr="image.png"/>
          <p:cNvPicPr>
            <a:picLocks noChangeAspect="1"/>
          </p:cNvPicPr>
          <p:nvPr/>
        </p:nvPicPr>
        <p:blipFill>
          <a:blip r:embed="rId85"/>
          <a:stretch>
            <a:fillRect/>
          </a:stretch>
        </p:blipFill>
        <p:spPr>
          <a:xfrm>
            <a:off x="9180576" y="2395727"/>
            <a:ext cx="329184" cy="329184"/>
          </a:xfrm>
          <a:prstGeom prst="rect">
            <a:avLst/>
          </a:prstGeom>
        </p:spPr>
      </p:pic>
      <p:sp>
        <p:nvSpPr>
          <p:cNvPr id="30" name="TextBox 17465">
            <a:extLst>
              <a:ext uri="{FF2B5EF4-FFF2-40B4-BE49-F238E27FC236}">
                <a16:creationId xmlns:a16="http://schemas.microsoft.com/office/drawing/2014/main" id="{10037DBF-120C-8372-24E5-EEDF08B84DE4}"/>
              </a:ext>
            </a:extLst>
          </p:cNvPr>
          <p:cNvSpPr txBox="1"/>
          <p:nvPr/>
        </p:nvSpPr>
        <p:spPr>
          <a:xfrm>
            <a:off x="9564624" y="2386584"/>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31"/>
              </a:rPr>
              <a:t>Kasneci et al. 2023</a:t>
            </a:r>
          </a:p>
          <a:p>
            <a:pPr algn="l">
              <a:lnSpc>
                <a:spcPct val="100000"/>
              </a:lnSpc>
              <a:spcAft>
                <a:spcPts val="0"/>
              </a:spcAft>
            </a:pPr>
            <a:r>
              <a:rPr sz="700" b="0">
                <a:solidFill>
                  <a:srgbClr val="222222"/>
                </a:solidFill>
                <a:latin typeface="Arial"/>
              </a:rPr>
              <a:t>LLMs in education: risks</a:t>
            </a:r>
          </a:p>
          <a:p>
            <a:pPr algn="l">
              <a:lnSpc>
                <a:spcPct val="100000"/>
              </a:lnSpc>
              <a:spcAft>
                <a:spcPts val="0"/>
              </a:spcAft>
            </a:pPr>
            <a:r>
              <a:rPr sz="660" b="1" err="1">
                <a:solidFill>
                  <a:srgbClr val="DC2626"/>
                </a:solidFill>
                <a:latin typeface="Arial"/>
              </a:rPr>
              <a:t>doi.org/10.1016/j.lindif.2023.102274</a:t>
            </a:r>
            <a:endParaRPr sz="740" b="1">
              <a:solidFill>
                <a:srgbClr val="DC2626"/>
              </a:solidFill>
              <a:latin typeface="Arial"/>
            </a:endParaRPr>
          </a:p>
        </p:txBody>
      </p:sp>
      <p:sp>
        <p:nvSpPr>
          <p:cNvPr id="15" name="Rounded Rectangle 14">
            <a:extLst>
              <a:ext uri="{FF2B5EF4-FFF2-40B4-BE49-F238E27FC236}">
                <a16:creationId xmlns:a16="http://schemas.microsoft.com/office/drawing/2014/main" id="{98CF099D-9FB8-97CC-A47D-576CF630F928}"/>
              </a:ext>
            </a:extLst>
          </p:cNvPr>
          <p:cNvSpPr/>
          <p:nvPr/>
        </p:nvSpPr>
        <p:spPr>
          <a:xfrm>
            <a:off x="274320" y="2862072"/>
            <a:ext cx="2825496" cy="1655064"/>
          </a:xfrm>
          <a:prstGeom prst="roundRect">
            <a:avLst>
              <a:gd name="adj" fmla="val 5000"/>
            </a:avLst>
          </a:prstGeom>
          <a:solidFill>
            <a:srgbClr val="FFFFFF"/>
          </a:solidFill>
          <a:ln w="25400">
            <a:solidFill>
              <a:srgbClr val="1D4ED8"/>
            </a:solid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71" name="Rounded Rectangle 17470">
            <a:extLst>
              <a:ext uri="{FF2B5EF4-FFF2-40B4-BE49-F238E27FC236}">
                <a16:creationId xmlns:a16="http://schemas.microsoft.com/office/drawing/2014/main" id="{69140471-7231-67F6-ADBF-737CCBAE0FD4}"/>
              </a:ext>
            </a:extLst>
          </p:cNvPr>
          <p:cNvSpPr/>
          <p:nvPr/>
        </p:nvSpPr>
        <p:spPr>
          <a:xfrm>
            <a:off x="274320" y="2862072"/>
            <a:ext cx="2825496" cy="512064"/>
          </a:xfrm>
          <a:prstGeom prst="roundRect">
            <a:avLst>
              <a:gd name="adj" fmla="val 16000"/>
            </a:avLst>
          </a:prstGeom>
          <a:solidFill>
            <a:srgbClr val="E8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83" name="Picture 17482" descr="sign_oneway.png">
            <a:extLst>
              <a:ext uri="{FF2B5EF4-FFF2-40B4-BE49-F238E27FC236}">
                <a16:creationId xmlns:a16="http://schemas.microsoft.com/office/drawing/2014/main" id="{A6958DC2-4787-945E-C4C0-29E3D35AC6EF}"/>
              </a:ext>
            </a:extLst>
          </p:cNvPr>
          <p:cNvPicPr>
            <a:picLocks noChangeAspect="1"/>
          </p:cNvPicPr>
          <p:nvPr/>
        </p:nvPicPr>
        <p:blipFill>
          <a:blip r:embed="rId32"/>
          <a:stretch>
            <a:fillRect/>
          </a:stretch>
        </p:blipFill>
        <p:spPr>
          <a:xfrm>
            <a:off x="356616" y="2916936"/>
            <a:ext cx="420624" cy="420624"/>
          </a:xfrm>
          <a:prstGeom prst="rect">
            <a:avLst/>
          </a:prstGeom>
        </p:spPr>
      </p:pic>
      <p:sp>
        <p:nvSpPr>
          <p:cNvPr id="17495" name="TextBox 17494">
            <a:extLst>
              <a:ext uri="{FF2B5EF4-FFF2-40B4-BE49-F238E27FC236}">
                <a16:creationId xmlns:a16="http://schemas.microsoft.com/office/drawing/2014/main" id="{533F2826-2E25-D5F4-C79C-986627224C51}"/>
              </a:ext>
            </a:extLst>
          </p:cNvPr>
          <p:cNvSpPr txBox="1"/>
          <p:nvPr/>
        </p:nvSpPr>
        <p:spPr>
          <a:xfrm>
            <a:off x="841247" y="2889503"/>
            <a:ext cx="2112264" cy="475488"/>
          </a:xfrm>
          <a:prstGeom prst="rect">
            <a:avLst/>
          </a:prstGeom>
          <a:noFill/>
        </p:spPr>
        <p:txBody>
          <a:bodyPr wrap="square" lIns="18288" tIns="0" rIns="18288" bIns="0" anchor="ctr">
            <a:spAutoFit/>
          </a:bodyPr>
          <a:lstStyle/>
          <a:p>
            <a:pPr algn="l">
              <a:lnSpc>
                <a:spcPct val="100000"/>
              </a:lnSpc>
              <a:spcAft>
                <a:spcPts val="0"/>
              </a:spcAft>
            </a:pPr>
            <a:r>
              <a:rPr sz="1100" b="1">
                <a:solidFill>
                  <a:srgbClr val="1D4ED8"/>
                </a:solidFill>
                <a:latin typeface="Arial"/>
              </a:rPr>
              <a:t>WORKED EXAMPLES</a:t>
            </a:r>
          </a:p>
          <a:p>
            <a:pPr algn="l">
              <a:lnSpc>
                <a:spcPct val="100000"/>
              </a:lnSpc>
              <a:spcAft>
                <a:spcPts val="0"/>
              </a:spcAft>
            </a:pPr>
            <a:r>
              <a:rPr sz="800" b="0">
                <a:solidFill>
                  <a:srgbClr val="475569"/>
                </a:solidFill>
                <a:latin typeface="Arial"/>
              </a:rPr>
              <a:t>steps with reasons</a:t>
            </a:r>
          </a:p>
        </p:txBody>
      </p:sp>
      <p:pic>
        <p:nvPicPr>
          <p:cNvPr id="17540" name="Picture 17539" descr="image.png"/>
          <p:cNvPicPr>
            <a:picLocks noChangeAspect="1"/>
          </p:cNvPicPr>
          <p:nvPr/>
        </p:nvPicPr>
        <p:blipFill>
          <a:blip r:embed="rId86"/>
          <a:stretch>
            <a:fillRect/>
          </a:stretch>
        </p:blipFill>
        <p:spPr>
          <a:xfrm>
            <a:off x="365760" y="3438144"/>
            <a:ext cx="329184" cy="329184"/>
          </a:xfrm>
          <a:prstGeom prst="rect">
            <a:avLst/>
          </a:prstGeom>
        </p:spPr>
      </p:pic>
      <p:sp>
        <p:nvSpPr>
          <p:cNvPr id="17420" name="TextBox 17419">
            <a:extLst>
              <a:ext uri="{FF2B5EF4-FFF2-40B4-BE49-F238E27FC236}">
                <a16:creationId xmlns:a16="http://schemas.microsoft.com/office/drawing/2014/main" id="{EFF92B58-E0E2-1AA0-3267-1148CBAB73BA}"/>
              </a:ext>
            </a:extLst>
          </p:cNvPr>
          <p:cNvSpPr txBox="1"/>
          <p:nvPr/>
        </p:nvSpPr>
        <p:spPr>
          <a:xfrm>
            <a:off x="749808" y="3429000"/>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34"/>
              </a:rPr>
              <a:t>Sweller &amp; Cooper 1985</a:t>
            </a:r>
          </a:p>
          <a:p>
            <a:pPr algn="l">
              <a:lnSpc>
                <a:spcPct val="100000"/>
              </a:lnSpc>
              <a:spcAft>
                <a:spcPts val="0"/>
              </a:spcAft>
            </a:pPr>
            <a:r>
              <a:rPr sz="700" b="0">
                <a:solidFill>
                  <a:srgbClr val="222222"/>
                </a:solidFill>
                <a:latin typeface="Arial"/>
              </a:rPr>
              <a:t>worked examples teach novices</a:t>
            </a:r>
          </a:p>
          <a:p>
            <a:pPr algn="l">
              <a:lnSpc>
                <a:spcPct val="100000"/>
              </a:lnSpc>
              <a:spcAft>
                <a:spcPts val="0"/>
              </a:spcAft>
            </a:pPr>
            <a:r>
              <a:rPr sz="660" b="1">
                <a:solidFill>
                  <a:srgbClr val="1D4ED8"/>
                </a:solidFill>
                <a:latin typeface="Arial"/>
              </a:rPr>
              <a:t>doi.org/10.1207/s1532690xci0201_3</a:t>
            </a:r>
          </a:p>
        </p:txBody>
      </p:sp>
      <p:cxnSp>
        <p:nvCxnSpPr>
          <p:cNvPr id="31" name="Connector 17415">
            <a:extLst>
              <a:ext uri="{FF2B5EF4-FFF2-40B4-BE49-F238E27FC236}">
                <a16:creationId xmlns:a16="http://schemas.microsoft.com/office/drawing/2014/main" id="{15B932F6-621B-0BDE-6D21-D00948F2B680}"/>
              </a:ext>
            </a:extLst>
          </p:cNvPr>
          <p:cNvCxnSpPr/>
          <p:nvPr/>
        </p:nvCxnSpPr>
        <p:spPr>
          <a:xfrm>
            <a:off x="384048" y="3773728"/>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41" name="Picture 17540" descr="image.png"/>
          <p:cNvPicPr>
            <a:picLocks noChangeAspect="1"/>
          </p:cNvPicPr>
          <p:nvPr/>
        </p:nvPicPr>
        <p:blipFill>
          <a:blip r:embed="rId87"/>
          <a:stretch>
            <a:fillRect/>
          </a:stretch>
        </p:blipFill>
        <p:spPr>
          <a:xfrm>
            <a:off x="365760" y="3790187"/>
            <a:ext cx="329184" cy="329184"/>
          </a:xfrm>
          <a:prstGeom prst="rect">
            <a:avLst/>
          </a:prstGeom>
        </p:spPr>
      </p:pic>
      <p:sp>
        <p:nvSpPr>
          <p:cNvPr id="17421" name="TextBox 17420">
            <a:extLst>
              <a:ext uri="{FF2B5EF4-FFF2-40B4-BE49-F238E27FC236}">
                <a16:creationId xmlns:a16="http://schemas.microsoft.com/office/drawing/2014/main" id="{E78EE967-C8F3-0111-60A0-900D676ABA39}"/>
              </a:ext>
            </a:extLst>
          </p:cNvPr>
          <p:cNvSpPr txBox="1"/>
          <p:nvPr/>
        </p:nvSpPr>
        <p:spPr>
          <a:xfrm>
            <a:off x="749808" y="3781044"/>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36"/>
              </a:rPr>
              <a:t>Atkinson et al. 2000</a:t>
            </a:r>
          </a:p>
          <a:p>
            <a:pPr algn="l">
              <a:lnSpc>
                <a:spcPct val="100000"/>
              </a:lnSpc>
              <a:spcAft>
                <a:spcPts val="0"/>
              </a:spcAft>
            </a:pPr>
            <a:r>
              <a:rPr sz="700" b="0">
                <a:solidFill>
                  <a:srgbClr val="222222"/>
                </a:solidFill>
                <a:latin typeface="Arial"/>
              </a:rPr>
              <a:t>principles of example study</a:t>
            </a:r>
          </a:p>
          <a:p>
            <a:pPr algn="l">
              <a:lnSpc>
                <a:spcPct val="100000"/>
              </a:lnSpc>
              <a:spcAft>
                <a:spcPts val="0"/>
              </a:spcAft>
            </a:pPr>
            <a:r>
              <a:rPr sz="660" b="1">
                <a:solidFill>
                  <a:srgbClr val="1D4ED8"/>
                </a:solidFill>
                <a:latin typeface="Arial"/>
              </a:rPr>
              <a:t>doi.org/10.3102/00346543070002181</a:t>
            </a:r>
          </a:p>
        </p:txBody>
      </p:sp>
      <p:cxnSp>
        <p:nvCxnSpPr>
          <p:cNvPr id="32" name="Connector 17415">
            <a:extLst>
              <a:ext uri="{FF2B5EF4-FFF2-40B4-BE49-F238E27FC236}">
                <a16:creationId xmlns:a16="http://schemas.microsoft.com/office/drawing/2014/main" id="{15B932F6-621B-0BDE-6D21-D00948F2B680}"/>
              </a:ext>
            </a:extLst>
          </p:cNvPr>
          <p:cNvCxnSpPr/>
          <p:nvPr/>
        </p:nvCxnSpPr>
        <p:spPr>
          <a:xfrm>
            <a:off x="384048" y="4125772"/>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42" name="Picture 17541" descr="image.png"/>
          <p:cNvPicPr>
            <a:picLocks noChangeAspect="1"/>
          </p:cNvPicPr>
          <p:nvPr/>
        </p:nvPicPr>
        <p:blipFill>
          <a:blip r:embed="rId88"/>
          <a:stretch>
            <a:fillRect/>
          </a:stretch>
        </p:blipFill>
        <p:spPr>
          <a:xfrm>
            <a:off x="365760" y="4142231"/>
            <a:ext cx="329184" cy="329184"/>
          </a:xfrm>
          <a:prstGeom prst="rect">
            <a:avLst/>
          </a:prstGeom>
        </p:spPr>
      </p:pic>
      <p:sp>
        <p:nvSpPr>
          <p:cNvPr id="33" name="TextBox 17419">
            <a:extLst>
              <a:ext uri="{FF2B5EF4-FFF2-40B4-BE49-F238E27FC236}">
                <a16:creationId xmlns:a16="http://schemas.microsoft.com/office/drawing/2014/main" id="{EFF92B58-E0E2-1AA0-3267-1148CBAB73BA}"/>
              </a:ext>
            </a:extLst>
          </p:cNvPr>
          <p:cNvSpPr txBox="1"/>
          <p:nvPr/>
        </p:nvSpPr>
        <p:spPr>
          <a:xfrm>
            <a:off x="749808" y="4133087"/>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38"/>
              </a:rPr>
              <a:t>Renkl 2014, Cognitive Science</a:t>
            </a:r>
          </a:p>
          <a:p>
            <a:pPr algn="l">
              <a:lnSpc>
                <a:spcPct val="100000"/>
              </a:lnSpc>
              <a:spcAft>
                <a:spcPts val="0"/>
              </a:spcAft>
            </a:pPr>
            <a:r>
              <a:rPr sz="700" b="0">
                <a:solidFill>
                  <a:srgbClr val="222222"/>
                </a:solidFill>
                <a:latin typeface="Arial"/>
              </a:rPr>
              <a:t>example-based learning theory</a:t>
            </a:r>
          </a:p>
          <a:p>
            <a:pPr algn="l">
              <a:lnSpc>
                <a:spcPct val="100000"/>
              </a:lnSpc>
              <a:spcAft>
                <a:spcPts val="0"/>
              </a:spcAft>
            </a:pPr>
            <a:r>
              <a:rPr sz="660" b="1">
                <a:solidFill>
                  <a:srgbClr val="1D4ED8"/>
                </a:solidFill>
                <a:latin typeface="Arial"/>
              </a:rPr>
              <a:t>doi.org/10.1111/cogs.12086</a:t>
            </a:r>
          </a:p>
        </p:txBody>
      </p:sp>
      <p:sp>
        <p:nvSpPr>
          <p:cNvPr id="16" name="Rounded Rectangle 15">
            <a:extLst>
              <a:ext uri="{FF2B5EF4-FFF2-40B4-BE49-F238E27FC236}">
                <a16:creationId xmlns:a16="http://schemas.microsoft.com/office/drawing/2014/main" id="{29D7F37F-E771-71F9-8336-5856A1FC6E88}"/>
              </a:ext>
            </a:extLst>
          </p:cNvPr>
          <p:cNvSpPr/>
          <p:nvPr/>
        </p:nvSpPr>
        <p:spPr>
          <a:xfrm>
            <a:off x="3209544" y="2862072"/>
            <a:ext cx="2825496" cy="1655064"/>
          </a:xfrm>
          <a:prstGeom prst="roundRect">
            <a:avLst>
              <a:gd name="adj" fmla="val 5000"/>
            </a:avLst>
          </a:prstGeom>
          <a:solidFill>
            <a:srgbClr val="FFFFFF"/>
          </a:solidFill>
          <a:ln w="25400">
            <a:solidFill>
              <a:srgbClr val="2563EB"/>
            </a:solid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72" name="Rounded Rectangle 17471">
            <a:extLst>
              <a:ext uri="{FF2B5EF4-FFF2-40B4-BE49-F238E27FC236}">
                <a16:creationId xmlns:a16="http://schemas.microsoft.com/office/drawing/2014/main" id="{28D2A9BE-D718-FD97-294D-26DD05455B24}"/>
              </a:ext>
            </a:extLst>
          </p:cNvPr>
          <p:cNvSpPr/>
          <p:nvPr/>
        </p:nvSpPr>
        <p:spPr>
          <a:xfrm>
            <a:off x="3209544" y="2862072"/>
            <a:ext cx="2825496" cy="512064"/>
          </a:xfrm>
          <a:prstGeom prst="roundRect">
            <a:avLst>
              <a:gd name="adj" fmla="val 16000"/>
            </a:avLst>
          </a:prstGeom>
          <a:solidFill>
            <a:srgbClr val="E8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84" name="Picture 17483" descr="sign_round.png">
            <a:extLst>
              <a:ext uri="{FF2B5EF4-FFF2-40B4-BE49-F238E27FC236}">
                <a16:creationId xmlns:a16="http://schemas.microsoft.com/office/drawing/2014/main" id="{1687784D-B05B-C7D8-D879-68FDAF0E1BEB}"/>
              </a:ext>
            </a:extLst>
          </p:cNvPr>
          <p:cNvPicPr>
            <a:picLocks noChangeAspect="1"/>
          </p:cNvPicPr>
          <p:nvPr/>
        </p:nvPicPr>
        <p:blipFill>
          <a:blip r:embed="rId39"/>
          <a:stretch>
            <a:fillRect/>
          </a:stretch>
        </p:blipFill>
        <p:spPr>
          <a:xfrm>
            <a:off x="3291839" y="2916936"/>
            <a:ext cx="420624" cy="420624"/>
          </a:xfrm>
          <a:prstGeom prst="rect">
            <a:avLst/>
          </a:prstGeom>
        </p:spPr>
      </p:pic>
      <p:sp>
        <p:nvSpPr>
          <p:cNvPr id="17496" name="TextBox 17495">
            <a:extLst>
              <a:ext uri="{FF2B5EF4-FFF2-40B4-BE49-F238E27FC236}">
                <a16:creationId xmlns:a16="http://schemas.microsoft.com/office/drawing/2014/main" id="{7B284F23-3B31-1462-E3E5-861580DE8452}"/>
              </a:ext>
            </a:extLst>
          </p:cNvPr>
          <p:cNvSpPr txBox="1"/>
          <p:nvPr/>
        </p:nvSpPr>
        <p:spPr>
          <a:xfrm>
            <a:off x="3776472" y="2889503"/>
            <a:ext cx="2112264" cy="475488"/>
          </a:xfrm>
          <a:prstGeom prst="rect">
            <a:avLst/>
          </a:prstGeom>
          <a:noFill/>
        </p:spPr>
        <p:txBody>
          <a:bodyPr wrap="square" lIns="18288" tIns="0" rIns="18288" bIns="0" anchor="ctr">
            <a:spAutoFit/>
          </a:bodyPr>
          <a:lstStyle/>
          <a:p>
            <a:pPr algn="l">
              <a:lnSpc>
                <a:spcPct val="100000"/>
              </a:lnSpc>
              <a:spcAft>
                <a:spcPts val="0"/>
              </a:spcAft>
            </a:pPr>
            <a:r>
              <a:rPr sz="1100" b="1">
                <a:solidFill>
                  <a:srgbClr val="2563EB"/>
                </a:solidFill>
                <a:latin typeface="Arial"/>
              </a:rPr>
              <a:t>INTERACTIVE LABS</a:t>
            </a:r>
          </a:p>
          <a:p>
            <a:pPr algn="l">
              <a:lnSpc>
                <a:spcPct val="100000"/>
              </a:lnSpc>
              <a:spcAft>
                <a:spcPts val="0"/>
              </a:spcAft>
            </a:pPr>
            <a:r>
              <a:rPr sz="800" b="0">
                <a:solidFill>
                  <a:srgbClr val="475569"/>
                </a:solidFill>
                <a:latin typeface="Arial"/>
              </a:rPr>
              <a:t>learning by doing</a:t>
            </a:r>
          </a:p>
        </p:txBody>
      </p:sp>
      <p:pic>
        <p:nvPicPr>
          <p:cNvPr id="17543" name="Picture 17542" descr="image.png"/>
          <p:cNvPicPr>
            <a:picLocks noChangeAspect="1"/>
          </p:cNvPicPr>
          <p:nvPr/>
        </p:nvPicPr>
        <p:blipFill>
          <a:blip r:embed="rId89"/>
          <a:stretch>
            <a:fillRect/>
          </a:stretch>
        </p:blipFill>
        <p:spPr>
          <a:xfrm>
            <a:off x="3300984" y="3438144"/>
            <a:ext cx="329184" cy="329184"/>
          </a:xfrm>
          <a:prstGeom prst="rect">
            <a:avLst/>
          </a:prstGeom>
        </p:spPr>
      </p:pic>
      <p:sp>
        <p:nvSpPr>
          <p:cNvPr id="17422" name="TextBox 17421">
            <a:extLst>
              <a:ext uri="{FF2B5EF4-FFF2-40B4-BE49-F238E27FC236}">
                <a16:creationId xmlns:a16="http://schemas.microsoft.com/office/drawing/2014/main" id="{73D75A7B-3178-2CB9-A5A4-E6F4E30C3588}"/>
              </a:ext>
            </a:extLst>
          </p:cNvPr>
          <p:cNvSpPr txBox="1"/>
          <p:nvPr/>
        </p:nvSpPr>
        <p:spPr>
          <a:xfrm>
            <a:off x="3685031" y="3429000"/>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41"/>
              </a:rPr>
              <a:t>Hundhausen et al. 2002</a:t>
            </a:r>
          </a:p>
          <a:p>
            <a:pPr algn="l">
              <a:lnSpc>
                <a:spcPct val="100000"/>
              </a:lnSpc>
              <a:spcAft>
                <a:spcPts val="0"/>
              </a:spcAft>
            </a:pPr>
            <a:r>
              <a:rPr sz="700" b="0">
                <a:solidFill>
                  <a:srgbClr val="222222"/>
                </a:solidFill>
                <a:latin typeface="Arial"/>
              </a:rPr>
              <a:t>engagement drives visualisation gains</a:t>
            </a:r>
          </a:p>
          <a:p>
            <a:pPr algn="l">
              <a:lnSpc>
                <a:spcPct val="100000"/>
              </a:lnSpc>
              <a:spcAft>
                <a:spcPts val="0"/>
              </a:spcAft>
            </a:pPr>
            <a:r>
              <a:rPr sz="660" b="1">
                <a:solidFill>
                  <a:srgbClr val="2563EB"/>
                </a:solidFill>
                <a:latin typeface="Arial"/>
              </a:rPr>
              <a:t>doi.org/10.1006/jvlc.2002.0237</a:t>
            </a:r>
          </a:p>
        </p:txBody>
      </p:sp>
      <p:cxnSp>
        <p:nvCxnSpPr>
          <p:cNvPr id="34" name="Connector 17415">
            <a:extLst>
              <a:ext uri="{FF2B5EF4-FFF2-40B4-BE49-F238E27FC236}">
                <a16:creationId xmlns:a16="http://schemas.microsoft.com/office/drawing/2014/main" id="{15B932F6-621B-0BDE-6D21-D00948F2B680}"/>
              </a:ext>
            </a:extLst>
          </p:cNvPr>
          <p:cNvCxnSpPr/>
          <p:nvPr/>
        </p:nvCxnSpPr>
        <p:spPr>
          <a:xfrm>
            <a:off x="3319272" y="3773728"/>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44" name="Picture 17543" descr="image.png"/>
          <p:cNvPicPr>
            <a:picLocks noChangeAspect="1"/>
          </p:cNvPicPr>
          <p:nvPr/>
        </p:nvPicPr>
        <p:blipFill>
          <a:blip r:embed="rId90"/>
          <a:stretch>
            <a:fillRect/>
          </a:stretch>
        </p:blipFill>
        <p:spPr>
          <a:xfrm>
            <a:off x="3300984" y="3790187"/>
            <a:ext cx="329184" cy="329184"/>
          </a:xfrm>
          <a:prstGeom prst="rect">
            <a:avLst/>
          </a:prstGeom>
        </p:spPr>
      </p:pic>
      <p:sp>
        <p:nvSpPr>
          <p:cNvPr id="17423" name="TextBox 17422">
            <a:extLst>
              <a:ext uri="{FF2B5EF4-FFF2-40B4-BE49-F238E27FC236}">
                <a16:creationId xmlns:a16="http://schemas.microsoft.com/office/drawing/2014/main" id="{F55D97A1-1885-46B0-B857-1863ED579C00}"/>
              </a:ext>
            </a:extLst>
          </p:cNvPr>
          <p:cNvSpPr txBox="1"/>
          <p:nvPr/>
        </p:nvSpPr>
        <p:spPr>
          <a:xfrm>
            <a:off x="3685031" y="3781044"/>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43"/>
              </a:rPr>
              <a:t>Wieman et al. 2008: PhET</a:t>
            </a:r>
          </a:p>
          <a:p>
            <a:pPr algn="l">
              <a:lnSpc>
                <a:spcPct val="100000"/>
              </a:lnSpc>
              <a:spcAft>
                <a:spcPts val="0"/>
              </a:spcAft>
            </a:pPr>
            <a:r>
              <a:rPr sz="700" b="0">
                <a:solidFill>
                  <a:srgbClr val="222222"/>
                </a:solidFill>
                <a:latin typeface="Arial"/>
              </a:rPr>
              <a:t>simulations that teach</a:t>
            </a:r>
          </a:p>
          <a:p>
            <a:pPr algn="l">
              <a:lnSpc>
                <a:spcPct val="100000"/>
              </a:lnSpc>
              <a:spcAft>
                <a:spcPts val="0"/>
              </a:spcAft>
            </a:pPr>
            <a:r>
              <a:rPr sz="660" b="1">
                <a:solidFill>
                  <a:srgbClr val="2563EB"/>
                </a:solidFill>
                <a:latin typeface="Arial"/>
              </a:rPr>
              <a:t>doi.org/10.1126/science.1161948</a:t>
            </a:r>
          </a:p>
        </p:txBody>
      </p:sp>
      <p:cxnSp>
        <p:nvCxnSpPr>
          <p:cNvPr id="58" name="Connector 17415">
            <a:extLst>
              <a:ext uri="{FF2B5EF4-FFF2-40B4-BE49-F238E27FC236}">
                <a16:creationId xmlns:a16="http://schemas.microsoft.com/office/drawing/2014/main" id="{15B932F6-621B-0BDE-6D21-D00948F2B680}"/>
              </a:ext>
            </a:extLst>
          </p:cNvPr>
          <p:cNvCxnSpPr/>
          <p:nvPr/>
        </p:nvCxnSpPr>
        <p:spPr>
          <a:xfrm>
            <a:off x="3319272" y="4125772"/>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45" name="Picture 17544" descr="image.png"/>
          <p:cNvPicPr>
            <a:picLocks noChangeAspect="1"/>
          </p:cNvPicPr>
          <p:nvPr/>
        </p:nvPicPr>
        <p:blipFill>
          <a:blip r:embed="rId91"/>
          <a:stretch>
            <a:fillRect/>
          </a:stretch>
        </p:blipFill>
        <p:spPr>
          <a:xfrm>
            <a:off x="3300984" y="4142231"/>
            <a:ext cx="329184" cy="329184"/>
          </a:xfrm>
          <a:prstGeom prst="rect">
            <a:avLst/>
          </a:prstGeom>
        </p:spPr>
      </p:pic>
      <p:sp>
        <p:nvSpPr>
          <p:cNvPr id="59" name="TextBox 17421">
            <a:extLst>
              <a:ext uri="{FF2B5EF4-FFF2-40B4-BE49-F238E27FC236}">
                <a16:creationId xmlns:a16="http://schemas.microsoft.com/office/drawing/2014/main" id="{73D75A7B-3178-2CB9-A5A4-E6F4E30C3588}"/>
              </a:ext>
            </a:extLst>
          </p:cNvPr>
          <p:cNvSpPr txBox="1"/>
          <p:nvPr/>
        </p:nvSpPr>
        <p:spPr>
          <a:xfrm>
            <a:off x="3685031" y="4133087"/>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45"/>
              </a:rPr>
              <a:t>Chi &amp; Wylie 2014: ICAP</a:t>
            </a:r>
          </a:p>
          <a:p>
            <a:pPr algn="l">
              <a:lnSpc>
                <a:spcPct val="100000"/>
              </a:lnSpc>
              <a:spcAft>
                <a:spcPts val="0"/>
              </a:spcAft>
            </a:pPr>
            <a:r>
              <a:rPr sz="700" b="0">
                <a:solidFill>
                  <a:srgbClr val="222222"/>
                </a:solidFill>
                <a:latin typeface="Arial"/>
              </a:rPr>
              <a:t>interactive &gt; active &gt; passive</a:t>
            </a:r>
          </a:p>
          <a:p>
            <a:pPr algn="l">
              <a:lnSpc>
                <a:spcPct val="100000"/>
              </a:lnSpc>
              <a:spcAft>
                <a:spcPts val="0"/>
              </a:spcAft>
            </a:pPr>
            <a:r>
              <a:rPr sz="660" b="1">
                <a:solidFill>
                  <a:srgbClr val="2563EB"/>
                </a:solidFill>
                <a:latin typeface="Arial"/>
              </a:rPr>
              <a:t>doi.org/10.1080/00461520.2014.965823</a:t>
            </a:r>
          </a:p>
        </p:txBody>
      </p:sp>
      <p:sp>
        <p:nvSpPr>
          <p:cNvPr id="17" name="Rounded Rectangle 16">
            <a:extLst>
              <a:ext uri="{FF2B5EF4-FFF2-40B4-BE49-F238E27FC236}">
                <a16:creationId xmlns:a16="http://schemas.microsoft.com/office/drawing/2014/main" id="{9AD1DB24-58AC-34B0-A0D4-2279264592EB}"/>
              </a:ext>
            </a:extLst>
          </p:cNvPr>
          <p:cNvSpPr/>
          <p:nvPr/>
        </p:nvSpPr>
        <p:spPr>
          <a:xfrm>
            <a:off x="6144768" y="2862072"/>
            <a:ext cx="2825496" cy="1655064"/>
          </a:xfrm>
          <a:prstGeom prst="roundRect">
            <a:avLst>
              <a:gd name="adj" fmla="val 5000"/>
            </a:avLst>
          </a:prstGeom>
          <a:solidFill>
            <a:srgbClr val="FFFFFF"/>
          </a:solidFill>
          <a:ln w="25400">
            <a:solidFill>
              <a:srgbClr val="0B6DC0"/>
            </a:solid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73" name="Rounded Rectangle 17472">
            <a:extLst>
              <a:ext uri="{FF2B5EF4-FFF2-40B4-BE49-F238E27FC236}">
                <a16:creationId xmlns:a16="http://schemas.microsoft.com/office/drawing/2014/main" id="{F827C0B7-8832-1049-602F-59AF48D882D0}"/>
              </a:ext>
            </a:extLst>
          </p:cNvPr>
          <p:cNvSpPr/>
          <p:nvPr/>
        </p:nvSpPr>
        <p:spPr>
          <a:xfrm>
            <a:off x="6144768" y="2862072"/>
            <a:ext cx="2825496" cy="512064"/>
          </a:xfrm>
          <a:prstGeom prst="roundRect">
            <a:avLst>
              <a:gd name="adj" fmla="val 16000"/>
            </a:avLst>
          </a:prstGeom>
          <a:solidFill>
            <a:srgbClr val="E6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85" name="Picture 17484" descr="sign_info.png">
            <a:extLst>
              <a:ext uri="{FF2B5EF4-FFF2-40B4-BE49-F238E27FC236}">
                <a16:creationId xmlns:a16="http://schemas.microsoft.com/office/drawing/2014/main" id="{EADCFC41-51A2-C3B5-80A6-A9EDF4BD1736}"/>
              </a:ext>
            </a:extLst>
          </p:cNvPr>
          <p:cNvPicPr>
            <a:picLocks noChangeAspect="1"/>
          </p:cNvPicPr>
          <p:nvPr/>
        </p:nvPicPr>
        <p:blipFill>
          <a:blip r:embed="rId46"/>
          <a:stretch>
            <a:fillRect/>
          </a:stretch>
        </p:blipFill>
        <p:spPr>
          <a:xfrm>
            <a:off x="6227064" y="2916936"/>
            <a:ext cx="420624" cy="420624"/>
          </a:xfrm>
          <a:prstGeom prst="rect">
            <a:avLst/>
          </a:prstGeom>
        </p:spPr>
      </p:pic>
      <p:sp>
        <p:nvSpPr>
          <p:cNvPr id="17497" name="TextBox 17496">
            <a:extLst>
              <a:ext uri="{FF2B5EF4-FFF2-40B4-BE49-F238E27FC236}">
                <a16:creationId xmlns:a16="http://schemas.microsoft.com/office/drawing/2014/main" id="{CC20DC44-F7A4-AB21-7732-7AE920B9D57F}"/>
              </a:ext>
            </a:extLst>
          </p:cNvPr>
          <p:cNvSpPr txBox="1"/>
          <p:nvPr/>
        </p:nvSpPr>
        <p:spPr>
          <a:xfrm>
            <a:off x="6711696" y="2889503"/>
            <a:ext cx="2112264" cy="475488"/>
          </a:xfrm>
          <a:prstGeom prst="rect">
            <a:avLst/>
          </a:prstGeom>
          <a:noFill/>
        </p:spPr>
        <p:txBody>
          <a:bodyPr wrap="square" lIns="18288" tIns="0" rIns="18288" bIns="0" anchor="ctr">
            <a:spAutoFit/>
          </a:bodyPr>
          <a:lstStyle/>
          <a:p>
            <a:pPr algn="l">
              <a:lnSpc>
                <a:spcPct val="100000"/>
              </a:lnSpc>
              <a:spcAft>
                <a:spcPts val="0"/>
              </a:spcAft>
            </a:pPr>
            <a:r>
              <a:rPr sz="1100" b="1">
                <a:solidFill>
                  <a:srgbClr val="0B6DC0"/>
                </a:solidFill>
                <a:latin typeface="Arial"/>
              </a:rPr>
              <a:t>LAYOUT &amp; DESIGN RULES</a:t>
            </a:r>
          </a:p>
          <a:p>
            <a:pPr algn="l">
              <a:lnSpc>
                <a:spcPct val="100000"/>
              </a:lnSpc>
              <a:spcAft>
                <a:spcPts val="0"/>
              </a:spcAft>
            </a:pPr>
            <a:r>
              <a:rPr sz="800" b="0">
                <a:solidFill>
                  <a:srgbClr val="475569"/>
                </a:solidFill>
                <a:latin typeface="Arial"/>
              </a:rPr>
              <a:t>algorithms we adapted</a:t>
            </a:r>
          </a:p>
        </p:txBody>
      </p:sp>
      <p:pic>
        <p:nvPicPr>
          <p:cNvPr id="17546" name="Picture 17545" descr="image.png"/>
          <p:cNvPicPr>
            <a:picLocks noChangeAspect="1"/>
          </p:cNvPicPr>
          <p:nvPr/>
        </p:nvPicPr>
        <p:blipFill>
          <a:blip r:embed="rId92"/>
          <a:stretch>
            <a:fillRect/>
          </a:stretch>
        </p:blipFill>
        <p:spPr>
          <a:xfrm>
            <a:off x="6236207" y="3438144"/>
            <a:ext cx="329184" cy="329184"/>
          </a:xfrm>
          <a:prstGeom prst="rect">
            <a:avLst/>
          </a:prstGeom>
        </p:spPr>
      </p:pic>
      <p:sp>
        <p:nvSpPr>
          <p:cNvPr id="17424" name="TextBox 17423">
            <a:extLst>
              <a:ext uri="{FF2B5EF4-FFF2-40B4-BE49-F238E27FC236}">
                <a16:creationId xmlns:a16="http://schemas.microsoft.com/office/drawing/2014/main" id="{381F579B-B4A9-DDD2-AC22-6E6889C073FC}"/>
              </a:ext>
            </a:extLst>
          </p:cNvPr>
          <p:cNvSpPr txBox="1"/>
          <p:nvPr/>
        </p:nvSpPr>
        <p:spPr>
          <a:xfrm>
            <a:off x="6620256" y="3429000"/>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48"/>
              </a:rPr>
              <a:t>Knuth &amp; Plass 1981</a:t>
            </a:r>
          </a:p>
          <a:p>
            <a:pPr algn="l">
              <a:lnSpc>
                <a:spcPct val="100000"/>
              </a:lnSpc>
              <a:spcAft>
                <a:spcPts val="0"/>
              </a:spcAft>
            </a:pPr>
            <a:r>
              <a:rPr sz="700" b="0">
                <a:solidFill>
                  <a:srgbClr val="222222"/>
                </a:solidFill>
                <a:latin typeface="Arial"/>
              </a:rPr>
              <a:t>optimal line breaking → CLASS</a:t>
            </a:r>
          </a:p>
          <a:p>
            <a:pPr algn="l">
              <a:lnSpc>
                <a:spcPct val="100000"/>
              </a:lnSpc>
              <a:spcAft>
                <a:spcPts val="0"/>
              </a:spcAft>
            </a:pPr>
            <a:r>
              <a:rPr sz="660" b="1">
                <a:solidFill>
                  <a:srgbClr val="0B6DC0"/>
                </a:solidFill>
                <a:latin typeface="Arial"/>
              </a:rPr>
              <a:t>doi.org/10.1002/spe.4380111102</a:t>
            </a:r>
          </a:p>
        </p:txBody>
      </p:sp>
      <p:cxnSp>
        <p:nvCxnSpPr>
          <p:cNvPr id="60" name="Connector 17415">
            <a:extLst>
              <a:ext uri="{FF2B5EF4-FFF2-40B4-BE49-F238E27FC236}">
                <a16:creationId xmlns:a16="http://schemas.microsoft.com/office/drawing/2014/main" id="{15B932F6-621B-0BDE-6D21-D00948F2B680}"/>
              </a:ext>
            </a:extLst>
          </p:cNvPr>
          <p:cNvCxnSpPr/>
          <p:nvPr/>
        </p:nvCxnSpPr>
        <p:spPr>
          <a:xfrm>
            <a:off x="6254496" y="3773728"/>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47" name="Picture 17546" descr="image.png"/>
          <p:cNvPicPr>
            <a:picLocks noChangeAspect="1"/>
          </p:cNvPicPr>
          <p:nvPr/>
        </p:nvPicPr>
        <p:blipFill>
          <a:blip r:embed="rId93"/>
          <a:stretch>
            <a:fillRect/>
          </a:stretch>
        </p:blipFill>
        <p:spPr>
          <a:xfrm>
            <a:off x="6236207" y="3790187"/>
            <a:ext cx="329184" cy="329184"/>
          </a:xfrm>
          <a:prstGeom prst="rect">
            <a:avLst/>
          </a:prstGeom>
        </p:spPr>
      </p:pic>
      <p:sp>
        <p:nvSpPr>
          <p:cNvPr id="17425" name="TextBox 17424">
            <a:extLst>
              <a:ext uri="{FF2B5EF4-FFF2-40B4-BE49-F238E27FC236}">
                <a16:creationId xmlns:a16="http://schemas.microsoft.com/office/drawing/2014/main" id="{F875D566-3217-B523-FF28-0732D5C4F13E}"/>
              </a:ext>
            </a:extLst>
          </p:cNvPr>
          <p:cNvSpPr txBox="1"/>
          <p:nvPr/>
        </p:nvSpPr>
        <p:spPr>
          <a:xfrm>
            <a:off x="6620256" y="3781044"/>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50"/>
              </a:rPr>
              <a:t>Mackinlay 1986: APT</a:t>
            </a:r>
          </a:p>
          <a:p>
            <a:pPr algn="l">
              <a:lnSpc>
                <a:spcPct val="100000"/>
              </a:lnSpc>
              <a:spcAft>
                <a:spcPts val="0"/>
              </a:spcAft>
            </a:pPr>
            <a:r>
              <a:rPr sz="700" b="0">
                <a:solidFill>
                  <a:srgbClr val="222222"/>
                </a:solidFill>
                <a:latin typeface="Arial"/>
              </a:rPr>
              <a:t>automatic visual design rules</a:t>
            </a:r>
          </a:p>
          <a:p>
            <a:pPr algn="l">
              <a:lnSpc>
                <a:spcPct val="100000"/>
              </a:lnSpc>
              <a:spcAft>
                <a:spcPts val="0"/>
              </a:spcAft>
            </a:pPr>
            <a:r>
              <a:rPr sz="660" b="1">
                <a:solidFill>
                  <a:srgbClr val="0B6DC0"/>
                </a:solidFill>
                <a:latin typeface="Arial"/>
              </a:rPr>
              <a:t>doi.org/10.1145/22949.22950</a:t>
            </a:r>
          </a:p>
        </p:txBody>
      </p:sp>
      <p:cxnSp>
        <p:nvCxnSpPr>
          <p:cNvPr id="61" name="Connector 17415">
            <a:extLst>
              <a:ext uri="{FF2B5EF4-FFF2-40B4-BE49-F238E27FC236}">
                <a16:creationId xmlns:a16="http://schemas.microsoft.com/office/drawing/2014/main" id="{15B932F6-621B-0BDE-6D21-D00948F2B680}"/>
              </a:ext>
            </a:extLst>
          </p:cNvPr>
          <p:cNvCxnSpPr/>
          <p:nvPr/>
        </p:nvCxnSpPr>
        <p:spPr>
          <a:xfrm>
            <a:off x="6254496" y="4125772"/>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48" name="Picture 17547" descr="image.png"/>
          <p:cNvPicPr>
            <a:picLocks noChangeAspect="1"/>
          </p:cNvPicPr>
          <p:nvPr/>
        </p:nvPicPr>
        <p:blipFill>
          <a:blip r:embed="rId94"/>
          <a:stretch>
            <a:fillRect/>
          </a:stretch>
        </p:blipFill>
        <p:spPr>
          <a:xfrm>
            <a:off x="6236207" y="4142231"/>
            <a:ext cx="329184" cy="329184"/>
          </a:xfrm>
          <a:prstGeom prst="rect">
            <a:avLst/>
          </a:prstGeom>
        </p:spPr>
      </p:pic>
      <p:sp>
        <p:nvSpPr>
          <p:cNvPr id="62" name="TextBox 17423">
            <a:extLst>
              <a:ext uri="{FF2B5EF4-FFF2-40B4-BE49-F238E27FC236}">
                <a16:creationId xmlns:a16="http://schemas.microsoft.com/office/drawing/2014/main" id="{381F579B-B4A9-DDD2-AC22-6E6889C073FC}"/>
              </a:ext>
            </a:extLst>
          </p:cNvPr>
          <p:cNvSpPr txBox="1"/>
          <p:nvPr/>
        </p:nvSpPr>
        <p:spPr>
          <a:xfrm>
            <a:off x="6620256" y="4133087"/>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52"/>
              </a:rPr>
              <a:t>Moritz et al. 2019: Draco</a:t>
            </a:r>
          </a:p>
          <a:p>
            <a:pPr algn="l">
              <a:lnSpc>
                <a:spcPct val="100000"/>
              </a:lnSpc>
              <a:spcAft>
                <a:spcPts val="0"/>
              </a:spcAft>
            </a:pPr>
            <a:r>
              <a:rPr sz="700" b="0">
                <a:solidFill>
                  <a:srgbClr val="222222"/>
                </a:solidFill>
                <a:latin typeface="Arial"/>
              </a:rPr>
              <a:t>design knowledge as constraints</a:t>
            </a:r>
          </a:p>
          <a:p>
            <a:pPr algn="l">
              <a:lnSpc>
                <a:spcPct val="100000"/>
              </a:lnSpc>
              <a:spcAft>
                <a:spcPts val="0"/>
              </a:spcAft>
            </a:pPr>
            <a:r>
              <a:rPr sz="660" b="1">
                <a:solidFill>
                  <a:srgbClr val="0B6DC0"/>
                </a:solidFill>
                <a:latin typeface="Arial"/>
              </a:rPr>
              <a:t>doi.org/10.1109/TVCG.2018.2865240</a:t>
            </a:r>
          </a:p>
        </p:txBody>
      </p:sp>
      <p:sp>
        <p:nvSpPr>
          <p:cNvPr id="18" name="Rounded Rectangle 17">
            <a:extLst>
              <a:ext uri="{FF2B5EF4-FFF2-40B4-BE49-F238E27FC236}">
                <a16:creationId xmlns:a16="http://schemas.microsoft.com/office/drawing/2014/main" id="{0C576A30-A72D-DD44-5BD2-00D715778365}"/>
              </a:ext>
            </a:extLst>
          </p:cNvPr>
          <p:cNvSpPr/>
          <p:nvPr/>
        </p:nvSpPr>
        <p:spPr>
          <a:xfrm>
            <a:off x="9089136" y="2862072"/>
            <a:ext cx="2825496" cy="1655064"/>
          </a:xfrm>
          <a:prstGeom prst="roundRect">
            <a:avLst>
              <a:gd name="adj" fmla="val 5000"/>
            </a:avLst>
          </a:prstGeom>
          <a:solidFill>
            <a:srgbClr val="FFFFFF"/>
          </a:solidFill>
          <a:ln w="25400">
            <a:solidFill>
              <a:srgbClr val="4D7C0F"/>
            </a:solid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74" name="Rounded Rectangle 17473">
            <a:extLst>
              <a:ext uri="{FF2B5EF4-FFF2-40B4-BE49-F238E27FC236}">
                <a16:creationId xmlns:a16="http://schemas.microsoft.com/office/drawing/2014/main" id="{F9649F95-8389-EC2D-6A93-A6DFB99575C3}"/>
              </a:ext>
            </a:extLst>
          </p:cNvPr>
          <p:cNvSpPr/>
          <p:nvPr/>
        </p:nvSpPr>
        <p:spPr>
          <a:xfrm>
            <a:off x="9089136" y="2862072"/>
            <a:ext cx="2825496" cy="512064"/>
          </a:xfrm>
          <a:prstGeom prst="roundRect">
            <a:avLst>
              <a:gd name="adj" fmla="val 16000"/>
            </a:avLst>
          </a:prstGeom>
          <a:solidFill>
            <a:srgbClr val="F1F9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86" name="Picture 17485" descr="sign_school.png">
            <a:extLst>
              <a:ext uri="{FF2B5EF4-FFF2-40B4-BE49-F238E27FC236}">
                <a16:creationId xmlns:a16="http://schemas.microsoft.com/office/drawing/2014/main" id="{3E0826B5-68C9-7672-0C27-33C2BB498673}"/>
              </a:ext>
            </a:extLst>
          </p:cNvPr>
          <p:cNvPicPr>
            <a:picLocks noChangeAspect="1"/>
          </p:cNvPicPr>
          <p:nvPr/>
        </p:nvPicPr>
        <p:blipFill>
          <a:blip r:embed="rId53"/>
          <a:stretch>
            <a:fillRect/>
          </a:stretch>
        </p:blipFill>
        <p:spPr>
          <a:xfrm>
            <a:off x="9171432" y="2916936"/>
            <a:ext cx="420624" cy="420624"/>
          </a:xfrm>
          <a:prstGeom prst="rect">
            <a:avLst/>
          </a:prstGeom>
        </p:spPr>
      </p:pic>
      <p:sp>
        <p:nvSpPr>
          <p:cNvPr id="17498" name="TextBox 17497">
            <a:extLst>
              <a:ext uri="{FF2B5EF4-FFF2-40B4-BE49-F238E27FC236}">
                <a16:creationId xmlns:a16="http://schemas.microsoft.com/office/drawing/2014/main" id="{FAEA1EA5-2319-D22E-0FAA-53262EFC64C0}"/>
              </a:ext>
            </a:extLst>
          </p:cNvPr>
          <p:cNvSpPr txBox="1"/>
          <p:nvPr/>
        </p:nvSpPr>
        <p:spPr>
          <a:xfrm>
            <a:off x="9656063" y="2889503"/>
            <a:ext cx="2112264" cy="475488"/>
          </a:xfrm>
          <a:prstGeom prst="rect">
            <a:avLst/>
          </a:prstGeom>
          <a:noFill/>
        </p:spPr>
        <p:txBody>
          <a:bodyPr wrap="square" lIns="18288" tIns="0" rIns="18288" bIns="0" anchor="ctr">
            <a:spAutoFit/>
          </a:bodyPr>
          <a:lstStyle/>
          <a:p>
            <a:pPr algn="l">
              <a:lnSpc>
                <a:spcPct val="100000"/>
              </a:lnSpc>
              <a:spcAft>
                <a:spcPts val="0"/>
              </a:spcAft>
            </a:pPr>
            <a:r>
              <a:rPr sz="1100" b="1">
                <a:solidFill>
                  <a:srgbClr val="4D7C0F"/>
                </a:solidFill>
                <a:latin typeface="Arial"/>
              </a:rPr>
              <a:t>DOCUMENTS &amp; OCR</a:t>
            </a:r>
          </a:p>
          <a:p>
            <a:pPr algn="l">
              <a:lnSpc>
                <a:spcPct val="100000"/>
              </a:lnSpc>
              <a:spcAft>
                <a:spcPts val="0"/>
              </a:spcAft>
            </a:pPr>
            <a:r>
              <a:rPr sz="800" b="0">
                <a:solidFill>
                  <a:srgbClr val="475569"/>
                </a:solidFill>
                <a:latin typeface="Arial"/>
              </a:rPr>
              <a:t>reading real decks</a:t>
            </a:r>
          </a:p>
        </p:txBody>
      </p:sp>
      <p:pic>
        <p:nvPicPr>
          <p:cNvPr id="17549" name="Picture 17548" descr="image.png"/>
          <p:cNvPicPr>
            <a:picLocks noChangeAspect="1"/>
          </p:cNvPicPr>
          <p:nvPr/>
        </p:nvPicPr>
        <p:blipFill>
          <a:blip r:embed="rId95"/>
          <a:stretch>
            <a:fillRect/>
          </a:stretch>
        </p:blipFill>
        <p:spPr>
          <a:xfrm>
            <a:off x="9180576" y="3438144"/>
            <a:ext cx="329184" cy="329184"/>
          </a:xfrm>
          <a:prstGeom prst="rect">
            <a:avLst/>
          </a:prstGeom>
        </p:spPr>
      </p:pic>
      <p:sp>
        <p:nvSpPr>
          <p:cNvPr id="17426" name="TextBox 17425">
            <a:extLst>
              <a:ext uri="{FF2B5EF4-FFF2-40B4-BE49-F238E27FC236}">
                <a16:creationId xmlns:a16="http://schemas.microsoft.com/office/drawing/2014/main" id="{34F48890-0B25-000B-6978-0B21CA57339D}"/>
              </a:ext>
            </a:extLst>
          </p:cNvPr>
          <p:cNvSpPr txBox="1"/>
          <p:nvPr/>
        </p:nvSpPr>
        <p:spPr>
          <a:xfrm>
            <a:off x="9564624" y="3429000"/>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55"/>
              </a:rPr>
              <a:t>Smith 2007: Tesseract OCR</a:t>
            </a:r>
          </a:p>
          <a:p>
            <a:pPr algn="l">
              <a:lnSpc>
                <a:spcPct val="100000"/>
              </a:lnSpc>
              <a:spcAft>
                <a:spcPts val="0"/>
              </a:spcAft>
            </a:pPr>
            <a:r>
              <a:rPr sz="700" b="0">
                <a:solidFill>
                  <a:srgbClr val="222222"/>
                </a:solidFill>
                <a:latin typeface="Arial"/>
              </a:rPr>
              <a:t>open-source OCR engine</a:t>
            </a:r>
          </a:p>
          <a:p>
            <a:pPr algn="l">
              <a:lnSpc>
                <a:spcPct val="100000"/>
              </a:lnSpc>
              <a:spcAft>
                <a:spcPts val="0"/>
              </a:spcAft>
            </a:pPr>
            <a:r>
              <a:rPr sz="660" b="1" err="1">
                <a:solidFill>
                  <a:srgbClr val="15803D"/>
                </a:solidFill>
                <a:latin typeface="Arial"/>
              </a:rPr>
              <a:t>github.com/tesseract-ocr</a:t>
            </a:r>
          </a:p>
        </p:txBody>
      </p:sp>
      <p:cxnSp>
        <p:nvCxnSpPr>
          <p:cNvPr id="63" name="Connector 17415">
            <a:extLst>
              <a:ext uri="{FF2B5EF4-FFF2-40B4-BE49-F238E27FC236}">
                <a16:creationId xmlns:a16="http://schemas.microsoft.com/office/drawing/2014/main" id="{15B932F6-621B-0BDE-6D21-D00948F2B680}"/>
              </a:ext>
            </a:extLst>
          </p:cNvPr>
          <p:cNvCxnSpPr/>
          <p:nvPr/>
        </p:nvCxnSpPr>
        <p:spPr>
          <a:xfrm>
            <a:off x="9198863" y="3773728"/>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50" name="Picture 17549" descr="image.png"/>
          <p:cNvPicPr>
            <a:picLocks noChangeAspect="1"/>
          </p:cNvPicPr>
          <p:nvPr/>
        </p:nvPicPr>
        <p:blipFill>
          <a:blip r:embed="rId96"/>
          <a:stretch>
            <a:fillRect/>
          </a:stretch>
        </p:blipFill>
        <p:spPr>
          <a:xfrm>
            <a:off x="9180576" y="3790187"/>
            <a:ext cx="329184" cy="329184"/>
          </a:xfrm>
          <a:prstGeom prst="rect">
            <a:avLst/>
          </a:prstGeom>
        </p:spPr>
      </p:pic>
      <p:sp>
        <p:nvSpPr>
          <p:cNvPr id="17515" name="TextBox 17425">
            <a:extLst>
              <a:ext uri="{FF2B5EF4-FFF2-40B4-BE49-F238E27FC236}">
                <a16:creationId xmlns:a16="http://schemas.microsoft.com/office/drawing/2014/main" id="{34F48890-0B25-000B-6978-0B21CA57339D}"/>
              </a:ext>
            </a:extLst>
          </p:cNvPr>
          <p:cNvSpPr txBox="1"/>
          <p:nvPr/>
        </p:nvSpPr>
        <p:spPr>
          <a:xfrm>
            <a:off x="9564624" y="3781044"/>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57"/>
              </a:rPr>
              <a:t>PyMuPDF + LibreOffice</a:t>
            </a:r>
          </a:p>
          <a:p>
            <a:pPr algn="l">
              <a:lnSpc>
                <a:spcPct val="100000"/>
              </a:lnSpc>
              <a:spcAft>
                <a:spcPts val="0"/>
              </a:spcAft>
            </a:pPr>
            <a:r>
              <a:rPr sz="700" b="0">
                <a:solidFill>
                  <a:srgbClr val="222222"/>
                </a:solidFill>
                <a:latin typeface="Arial"/>
              </a:rPr>
              <a:t>PDF geometry, PPTX → PDF</a:t>
            </a:r>
          </a:p>
          <a:p>
            <a:pPr algn="l">
              <a:lnSpc>
                <a:spcPct val="100000"/>
              </a:lnSpc>
              <a:spcAft>
                <a:spcPts val="0"/>
              </a:spcAft>
            </a:pPr>
            <a:r>
              <a:rPr sz="660" b="1" err="1">
                <a:solidFill>
                  <a:srgbClr val="15803D"/>
                </a:solidFill>
                <a:latin typeface="Arial"/>
              </a:rPr>
              <a:t>pymupdf.readthedocs.io</a:t>
            </a:r>
          </a:p>
        </p:txBody>
      </p:sp>
      <p:cxnSp>
        <p:nvCxnSpPr>
          <p:cNvPr id="17516" name="Connector 17415">
            <a:extLst>
              <a:ext uri="{FF2B5EF4-FFF2-40B4-BE49-F238E27FC236}">
                <a16:creationId xmlns:a16="http://schemas.microsoft.com/office/drawing/2014/main" id="{15B932F6-621B-0BDE-6D21-D00948F2B680}"/>
              </a:ext>
            </a:extLst>
          </p:cNvPr>
          <p:cNvCxnSpPr/>
          <p:nvPr/>
        </p:nvCxnSpPr>
        <p:spPr>
          <a:xfrm>
            <a:off x="9198863" y="4125772"/>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51" name="Picture 17550" descr="image.png"/>
          <p:cNvPicPr>
            <a:picLocks noChangeAspect="1"/>
          </p:cNvPicPr>
          <p:nvPr/>
        </p:nvPicPr>
        <p:blipFill>
          <a:blip r:embed="rId97"/>
          <a:stretch>
            <a:fillRect/>
          </a:stretch>
        </p:blipFill>
        <p:spPr>
          <a:xfrm>
            <a:off x="9180576" y="4142231"/>
            <a:ext cx="329184" cy="329184"/>
          </a:xfrm>
          <a:prstGeom prst="rect">
            <a:avLst/>
          </a:prstGeom>
        </p:spPr>
      </p:pic>
      <p:sp>
        <p:nvSpPr>
          <p:cNvPr id="17517" name="TextBox 17425">
            <a:extLst>
              <a:ext uri="{FF2B5EF4-FFF2-40B4-BE49-F238E27FC236}">
                <a16:creationId xmlns:a16="http://schemas.microsoft.com/office/drawing/2014/main" id="{34F48890-0B25-000B-6978-0B21CA57339D}"/>
              </a:ext>
            </a:extLst>
          </p:cNvPr>
          <p:cNvSpPr txBox="1"/>
          <p:nvPr/>
        </p:nvSpPr>
        <p:spPr>
          <a:xfrm>
            <a:off x="9564624" y="4133087"/>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59"/>
              </a:rPr>
              <a:t>python-pptx</a:t>
            </a:r>
          </a:p>
          <a:p>
            <a:pPr algn="l">
              <a:lnSpc>
                <a:spcPct val="100000"/>
              </a:lnSpc>
              <a:spcAft>
                <a:spcPts val="0"/>
              </a:spcAft>
            </a:pPr>
            <a:r>
              <a:rPr sz="700" b="0">
                <a:solidFill>
                  <a:srgbClr val="222222"/>
                </a:solidFill>
                <a:latin typeface="Arial"/>
              </a:rPr>
              <a:t>native, editable PowerPoint</a:t>
            </a:r>
          </a:p>
          <a:p>
            <a:pPr algn="l">
              <a:lnSpc>
                <a:spcPct val="100000"/>
              </a:lnSpc>
              <a:spcAft>
                <a:spcPts val="0"/>
              </a:spcAft>
            </a:pPr>
            <a:r>
              <a:rPr sz="660" b="1" err="1">
                <a:solidFill>
                  <a:srgbClr val="15803D"/>
                </a:solidFill>
                <a:latin typeface="Arial"/>
              </a:rPr>
              <a:t>python-pptx.readthedocs.io</a:t>
            </a:r>
          </a:p>
        </p:txBody>
      </p:sp>
      <p:sp>
        <p:nvSpPr>
          <p:cNvPr id="19" name="Rounded Rectangle 18">
            <a:extLst>
              <a:ext uri="{FF2B5EF4-FFF2-40B4-BE49-F238E27FC236}">
                <a16:creationId xmlns:a16="http://schemas.microsoft.com/office/drawing/2014/main" id="{C85FD102-A58D-172F-9B86-6152E2334734}"/>
              </a:ext>
            </a:extLst>
          </p:cNvPr>
          <p:cNvSpPr/>
          <p:nvPr/>
        </p:nvSpPr>
        <p:spPr>
          <a:xfrm>
            <a:off x="274320" y="4608576"/>
            <a:ext cx="2825496" cy="1655064"/>
          </a:xfrm>
          <a:prstGeom prst="roundRect">
            <a:avLst>
              <a:gd name="adj" fmla="val 5000"/>
            </a:avLst>
          </a:prstGeom>
          <a:solidFill>
            <a:srgbClr val="FFFFFF"/>
          </a:solidFill>
          <a:ln w="25400">
            <a:solidFill>
              <a:srgbClr val="15803D"/>
            </a:solid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75" name="Rounded Rectangle 17474">
            <a:extLst>
              <a:ext uri="{FF2B5EF4-FFF2-40B4-BE49-F238E27FC236}">
                <a16:creationId xmlns:a16="http://schemas.microsoft.com/office/drawing/2014/main" id="{303E28C7-3496-0F54-0634-535207DE53EE}"/>
              </a:ext>
            </a:extLst>
          </p:cNvPr>
          <p:cNvSpPr/>
          <p:nvPr/>
        </p:nvSpPr>
        <p:spPr>
          <a:xfrm>
            <a:off x="274320" y="4608576"/>
            <a:ext cx="2825496" cy="512064"/>
          </a:xfrm>
          <a:prstGeom prst="roundRect">
            <a:avLst>
              <a:gd name="adj" fmla="val 16000"/>
            </a:avLst>
          </a:prstGeom>
          <a:solidFill>
            <a:srgbClr val="E9F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87" name="Picture 17486" descr="sign_shield.png">
            <a:extLst>
              <a:ext uri="{FF2B5EF4-FFF2-40B4-BE49-F238E27FC236}">
                <a16:creationId xmlns:a16="http://schemas.microsoft.com/office/drawing/2014/main" id="{010BD586-24FF-518E-4F9E-59A2EF77DA4A}"/>
              </a:ext>
            </a:extLst>
          </p:cNvPr>
          <p:cNvPicPr>
            <a:picLocks noChangeAspect="1"/>
          </p:cNvPicPr>
          <p:nvPr/>
        </p:nvPicPr>
        <p:blipFill>
          <a:blip r:embed="rId60"/>
          <a:stretch>
            <a:fillRect/>
          </a:stretch>
        </p:blipFill>
        <p:spPr>
          <a:xfrm>
            <a:off x="356616" y="4663440"/>
            <a:ext cx="420624" cy="420624"/>
          </a:xfrm>
          <a:prstGeom prst="rect">
            <a:avLst/>
          </a:prstGeom>
        </p:spPr>
      </p:pic>
      <p:sp>
        <p:nvSpPr>
          <p:cNvPr id="17499" name="TextBox 17498">
            <a:extLst>
              <a:ext uri="{FF2B5EF4-FFF2-40B4-BE49-F238E27FC236}">
                <a16:creationId xmlns:a16="http://schemas.microsoft.com/office/drawing/2014/main" id="{A6FFAF45-5ED2-58E9-AE69-A89789989F9B}"/>
              </a:ext>
            </a:extLst>
          </p:cNvPr>
          <p:cNvSpPr txBox="1"/>
          <p:nvPr/>
        </p:nvSpPr>
        <p:spPr>
          <a:xfrm>
            <a:off x="841247" y="4636008"/>
            <a:ext cx="2112264" cy="475488"/>
          </a:xfrm>
          <a:prstGeom prst="rect">
            <a:avLst/>
          </a:prstGeom>
          <a:noFill/>
        </p:spPr>
        <p:txBody>
          <a:bodyPr wrap="square" lIns="18288" tIns="0" rIns="18288" bIns="0" anchor="ctr">
            <a:spAutoFit/>
          </a:bodyPr>
          <a:lstStyle/>
          <a:p>
            <a:pPr algn="l">
              <a:lnSpc>
                <a:spcPct val="100000"/>
              </a:lnSpc>
              <a:spcAft>
                <a:spcPts val="0"/>
              </a:spcAft>
            </a:pPr>
            <a:r>
              <a:rPr sz="1100" b="1">
                <a:solidFill>
                  <a:srgbClr val="15803D"/>
                </a:solidFill>
                <a:latin typeface="Arial"/>
              </a:rPr>
              <a:t>CODE AND TESTS</a:t>
            </a:r>
          </a:p>
          <a:p>
            <a:pPr algn="l">
              <a:lnSpc>
                <a:spcPct val="100000"/>
              </a:lnSpc>
              <a:spcAft>
                <a:spcPts val="0"/>
              </a:spcAft>
            </a:pPr>
            <a:r>
              <a:rPr sz="800" b="0">
                <a:solidFill>
                  <a:srgbClr val="475569"/>
                </a:solidFill>
                <a:latin typeface="Arial"/>
              </a:rPr>
              <a:t>open, testable, honest</a:t>
            </a:r>
          </a:p>
        </p:txBody>
      </p:sp>
      <p:pic>
        <p:nvPicPr>
          <p:cNvPr id="17552" name="Picture 17551" descr="image.png"/>
          <p:cNvPicPr>
            <a:picLocks noChangeAspect="1"/>
          </p:cNvPicPr>
          <p:nvPr/>
        </p:nvPicPr>
        <p:blipFill>
          <a:blip r:embed="rId78"/>
          <a:stretch>
            <a:fillRect/>
          </a:stretch>
        </p:blipFill>
        <p:spPr>
          <a:xfrm>
            <a:off x="365760" y="5184648"/>
            <a:ext cx="329184" cy="329184"/>
          </a:xfrm>
          <a:prstGeom prst="rect">
            <a:avLst/>
          </a:prstGeom>
        </p:spPr>
      </p:pic>
      <p:sp>
        <p:nvSpPr>
          <p:cNvPr id="17518" name="TextBox 17425">
            <a:extLst>
              <a:ext uri="{FF2B5EF4-FFF2-40B4-BE49-F238E27FC236}">
                <a16:creationId xmlns:a16="http://schemas.microsoft.com/office/drawing/2014/main" id="{34F48890-0B25-000B-6978-0B21CA57339D}"/>
              </a:ext>
            </a:extLst>
          </p:cNvPr>
          <p:cNvSpPr txBox="1"/>
          <p:nvPr/>
        </p:nvSpPr>
        <p:spPr>
          <a:xfrm>
            <a:off x="749808" y="5175504"/>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62"/>
              </a:rPr>
              <a:t>Source code</a:t>
            </a:r>
          </a:p>
          <a:p>
            <a:pPr algn="l">
              <a:lnSpc>
                <a:spcPct val="100000"/>
              </a:lnSpc>
              <a:spcAft>
                <a:spcPts val="0"/>
              </a:spcAft>
            </a:pPr>
            <a:r>
              <a:rPr sz="700" b="0">
                <a:solidFill>
                  <a:srgbClr val="222222"/>
                </a:solidFill>
                <a:latin typeface="Arial"/>
              </a:rPr>
              <a:t>774 tests, all modules</a:t>
            </a:r>
          </a:p>
          <a:p>
            <a:pPr algn="l">
              <a:lnSpc>
                <a:spcPct val="100000"/>
              </a:lnSpc>
              <a:spcAft>
                <a:spcPts val="0"/>
              </a:spcAft>
            </a:pPr>
            <a:r>
              <a:rPr sz="660" b="1" err="1">
                <a:solidFill>
                  <a:srgbClr val="15803D"/>
                </a:solidFill>
                <a:latin typeface="Arial"/>
              </a:rPr>
              <a:t>github.com/SDP42/LearnovaV2</a:t>
            </a:r>
          </a:p>
        </p:txBody>
      </p:sp>
      <p:cxnSp>
        <p:nvCxnSpPr>
          <p:cNvPr id="17519" name="Connector 17415">
            <a:extLst>
              <a:ext uri="{FF2B5EF4-FFF2-40B4-BE49-F238E27FC236}">
                <a16:creationId xmlns:a16="http://schemas.microsoft.com/office/drawing/2014/main" id="{15B932F6-621B-0BDE-6D21-D00948F2B680}"/>
              </a:ext>
            </a:extLst>
          </p:cNvPr>
          <p:cNvCxnSpPr/>
          <p:nvPr/>
        </p:nvCxnSpPr>
        <p:spPr>
          <a:xfrm>
            <a:off x="384048" y="5520232"/>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53" name="Picture 17552" descr="image.png"/>
          <p:cNvPicPr>
            <a:picLocks noChangeAspect="1"/>
          </p:cNvPicPr>
          <p:nvPr/>
        </p:nvPicPr>
        <p:blipFill>
          <a:blip r:embed="rId78"/>
          <a:stretch>
            <a:fillRect/>
          </a:stretch>
        </p:blipFill>
        <p:spPr>
          <a:xfrm>
            <a:off x="365760" y="5536692"/>
            <a:ext cx="329184" cy="329184"/>
          </a:xfrm>
          <a:prstGeom prst="rect">
            <a:avLst/>
          </a:prstGeom>
        </p:spPr>
      </p:pic>
      <p:sp>
        <p:nvSpPr>
          <p:cNvPr id="17427" name="TextBox 17426">
            <a:extLst>
              <a:ext uri="{FF2B5EF4-FFF2-40B4-BE49-F238E27FC236}">
                <a16:creationId xmlns:a16="http://schemas.microsoft.com/office/drawing/2014/main" id="{4E2E4989-6CE9-33E5-95D9-6D40202FEBBA}"/>
              </a:ext>
            </a:extLst>
          </p:cNvPr>
          <p:cNvSpPr txBox="1"/>
          <p:nvPr/>
        </p:nvSpPr>
        <p:spPr>
          <a:xfrm>
            <a:off x="749808" y="5527548"/>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64"/>
              </a:rPr>
              <a:t>Gold sets</a:t>
            </a:r>
          </a:p>
          <a:p>
            <a:pPr algn="l">
              <a:lnSpc>
                <a:spcPct val="100000"/>
              </a:lnSpc>
              <a:spcAft>
                <a:spcPts val="0"/>
              </a:spcAft>
            </a:pPr>
            <a:r>
              <a:rPr sz="700" b="0">
                <a:solidFill>
                  <a:srgbClr val="222222"/>
                </a:solidFill>
                <a:latin typeface="Arial"/>
              </a:rPr>
              <a:t>101 labelled slides</a:t>
            </a:r>
          </a:p>
          <a:p>
            <a:pPr algn="l">
              <a:lnSpc>
                <a:spcPct val="100000"/>
              </a:lnSpc>
              <a:spcAft>
                <a:spcPts val="0"/>
              </a:spcAft>
            </a:pPr>
            <a:r>
              <a:rPr sz="660" b="1" err="1">
                <a:solidFill>
                  <a:srgbClr val="15803D"/>
                </a:solidFill>
                <a:latin typeface="Arial"/>
              </a:rPr>
              <a:t>tests/fixtures on GitHub</a:t>
            </a:r>
          </a:p>
        </p:txBody>
      </p:sp>
      <p:cxnSp>
        <p:nvCxnSpPr>
          <p:cNvPr id="17520" name="Connector 17415">
            <a:extLst>
              <a:ext uri="{FF2B5EF4-FFF2-40B4-BE49-F238E27FC236}">
                <a16:creationId xmlns:a16="http://schemas.microsoft.com/office/drawing/2014/main" id="{15B932F6-621B-0BDE-6D21-D00948F2B680}"/>
              </a:ext>
            </a:extLst>
          </p:cNvPr>
          <p:cNvCxnSpPr/>
          <p:nvPr/>
        </p:nvCxnSpPr>
        <p:spPr>
          <a:xfrm>
            <a:off x="384048" y="5872276"/>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54" name="Picture 17553" descr="image.png"/>
          <p:cNvPicPr>
            <a:picLocks noChangeAspect="1"/>
          </p:cNvPicPr>
          <p:nvPr/>
        </p:nvPicPr>
        <p:blipFill>
          <a:blip r:embed="rId78"/>
          <a:stretch>
            <a:fillRect/>
          </a:stretch>
        </p:blipFill>
        <p:spPr>
          <a:xfrm>
            <a:off x="365760" y="5888736"/>
            <a:ext cx="329184" cy="329184"/>
          </a:xfrm>
          <a:prstGeom prst="rect">
            <a:avLst/>
          </a:prstGeom>
        </p:spPr>
      </p:pic>
      <p:sp>
        <p:nvSpPr>
          <p:cNvPr id="17521" name="TextBox 17425">
            <a:extLst>
              <a:ext uri="{FF2B5EF4-FFF2-40B4-BE49-F238E27FC236}">
                <a16:creationId xmlns:a16="http://schemas.microsoft.com/office/drawing/2014/main" id="{34F48890-0B25-000B-6978-0B21CA57339D}"/>
              </a:ext>
            </a:extLst>
          </p:cNvPr>
          <p:cNvSpPr txBox="1"/>
          <p:nvPr/>
        </p:nvSpPr>
        <p:spPr>
          <a:xfrm>
            <a:off x="749808" y="5879592"/>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66"/>
              </a:rPr>
              <a:t>Measurement scripts</a:t>
            </a:r>
          </a:p>
          <a:p>
            <a:pPr algn="l">
              <a:lnSpc>
                <a:spcPct val="100000"/>
              </a:lnSpc>
              <a:spcAft>
                <a:spcPts val="0"/>
              </a:spcAft>
            </a:pPr>
            <a:r>
              <a:rPr sz="700" b="0">
                <a:solidFill>
                  <a:srgbClr val="222222"/>
                </a:solidFill>
                <a:latin typeface="Arial"/>
              </a:rPr>
              <a:t>every number on these slides</a:t>
            </a:r>
          </a:p>
          <a:p>
            <a:pPr algn="l">
              <a:lnSpc>
                <a:spcPct val="100000"/>
              </a:lnSpc>
              <a:spcAft>
                <a:spcPts val="0"/>
              </a:spcAft>
            </a:pPr>
            <a:r>
              <a:rPr sz="660" b="1" err="1">
                <a:solidFill>
                  <a:srgbClr val="15803D"/>
                </a:solidFill>
                <a:latin typeface="Arial"/>
              </a:rPr>
              <a:t>scripts/research on GitHub</a:t>
            </a:r>
          </a:p>
        </p:txBody>
      </p:sp>
      <p:sp>
        <p:nvSpPr>
          <p:cNvPr id="20" name="Rounded Rectangle 19">
            <a:extLst>
              <a:ext uri="{FF2B5EF4-FFF2-40B4-BE49-F238E27FC236}">
                <a16:creationId xmlns:a16="http://schemas.microsoft.com/office/drawing/2014/main" id="{E64BE857-D553-50D9-283B-3D844B177EEA}"/>
              </a:ext>
            </a:extLst>
          </p:cNvPr>
          <p:cNvSpPr/>
          <p:nvPr/>
        </p:nvSpPr>
        <p:spPr>
          <a:xfrm>
            <a:off x="3209544" y="4608576"/>
            <a:ext cx="2825496" cy="1655064"/>
          </a:xfrm>
          <a:prstGeom prst="roundRect">
            <a:avLst>
              <a:gd name="adj" fmla="val 5000"/>
            </a:avLst>
          </a:prstGeom>
          <a:solidFill>
            <a:srgbClr val="FFFFFF"/>
          </a:solidFill>
          <a:ln w="25400">
            <a:solidFill>
              <a:srgbClr val="16A34A"/>
            </a:solid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76" name="Rounded Rectangle 17475">
            <a:extLst>
              <a:ext uri="{FF2B5EF4-FFF2-40B4-BE49-F238E27FC236}">
                <a16:creationId xmlns:a16="http://schemas.microsoft.com/office/drawing/2014/main" id="{95C2E49B-CA30-B9DB-E378-E5370F352585}"/>
              </a:ext>
            </a:extLst>
          </p:cNvPr>
          <p:cNvSpPr/>
          <p:nvPr/>
        </p:nvSpPr>
        <p:spPr>
          <a:xfrm>
            <a:off x="3209544" y="4608576"/>
            <a:ext cx="2825496" cy="512064"/>
          </a:xfrm>
          <a:prstGeom prst="roundRect">
            <a:avLst>
              <a:gd name="adj" fmla="val 16000"/>
            </a:avLst>
          </a:prstGeom>
          <a:solidFill>
            <a:srgbClr val="E9F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88" name="Picture 17487" descr="sign_go.png">
            <a:extLst>
              <a:ext uri="{FF2B5EF4-FFF2-40B4-BE49-F238E27FC236}">
                <a16:creationId xmlns:a16="http://schemas.microsoft.com/office/drawing/2014/main" id="{4C822118-D8E6-A42E-BD41-A33451A132C7}"/>
              </a:ext>
            </a:extLst>
          </p:cNvPr>
          <p:cNvPicPr>
            <a:picLocks noChangeAspect="1"/>
          </p:cNvPicPr>
          <p:nvPr/>
        </p:nvPicPr>
        <p:blipFill>
          <a:blip r:embed="rId67"/>
          <a:stretch>
            <a:fillRect/>
          </a:stretch>
        </p:blipFill>
        <p:spPr>
          <a:xfrm>
            <a:off x="3291839" y="4663440"/>
            <a:ext cx="420624" cy="420624"/>
          </a:xfrm>
          <a:prstGeom prst="rect">
            <a:avLst/>
          </a:prstGeom>
        </p:spPr>
      </p:pic>
      <p:sp>
        <p:nvSpPr>
          <p:cNvPr id="17500" name="TextBox 17499">
            <a:extLst>
              <a:ext uri="{FF2B5EF4-FFF2-40B4-BE49-F238E27FC236}">
                <a16:creationId xmlns:a16="http://schemas.microsoft.com/office/drawing/2014/main" id="{8ECEDDB4-26D3-7E24-8C61-71A6DE273530}"/>
              </a:ext>
            </a:extLst>
          </p:cNvPr>
          <p:cNvSpPr txBox="1"/>
          <p:nvPr/>
        </p:nvSpPr>
        <p:spPr>
          <a:xfrm>
            <a:off x="3776472" y="4636008"/>
            <a:ext cx="2112264" cy="475488"/>
          </a:xfrm>
          <a:prstGeom prst="rect">
            <a:avLst/>
          </a:prstGeom>
          <a:noFill/>
        </p:spPr>
        <p:txBody>
          <a:bodyPr wrap="square" lIns="18288" tIns="0" rIns="18288" bIns="0" anchor="ctr">
            <a:spAutoFit/>
          </a:bodyPr>
          <a:lstStyle/>
          <a:p>
            <a:pPr algn="l">
              <a:lnSpc>
                <a:spcPct val="100000"/>
              </a:lnSpc>
              <a:spcAft>
                <a:spcPts val="0"/>
              </a:spcAft>
            </a:pPr>
            <a:r>
              <a:rPr sz="1100" b="1">
                <a:solidFill>
                  <a:srgbClr val="16A34A"/>
                </a:solidFill>
                <a:latin typeface="Arial"/>
              </a:rPr>
              <a:t>TRY IT</a:t>
            </a:r>
          </a:p>
          <a:p>
            <a:pPr algn="l">
              <a:lnSpc>
                <a:spcPct val="100000"/>
              </a:lnSpc>
              <a:spcAft>
                <a:spcPts val="0"/>
              </a:spcAft>
            </a:pPr>
            <a:r>
              <a:rPr sz="800" b="0">
                <a:solidFill>
                  <a:srgbClr val="475569"/>
                </a:solidFill>
                <a:latin typeface="Arial"/>
              </a:rPr>
              <a:t>run it today</a:t>
            </a:r>
          </a:p>
        </p:txBody>
      </p:sp>
      <p:pic>
        <p:nvPicPr>
          <p:cNvPr id="17555" name="Picture 17554" descr="image.png"/>
          <p:cNvPicPr>
            <a:picLocks noChangeAspect="1"/>
          </p:cNvPicPr>
          <p:nvPr/>
        </p:nvPicPr>
        <p:blipFill>
          <a:blip r:embed="rId78"/>
          <a:stretch>
            <a:fillRect/>
          </a:stretch>
        </p:blipFill>
        <p:spPr>
          <a:xfrm>
            <a:off x="3300984" y="5184648"/>
            <a:ext cx="329184" cy="329184"/>
          </a:xfrm>
          <a:prstGeom prst="rect">
            <a:avLst/>
          </a:prstGeom>
        </p:spPr>
      </p:pic>
      <p:sp>
        <p:nvSpPr>
          <p:cNvPr id="17428" name="TextBox 17427">
            <a:extLst>
              <a:ext uri="{FF2B5EF4-FFF2-40B4-BE49-F238E27FC236}">
                <a16:creationId xmlns:a16="http://schemas.microsoft.com/office/drawing/2014/main" id="{9BF36A5F-B2BA-73F9-0962-7513115E233B}"/>
              </a:ext>
            </a:extLst>
          </p:cNvPr>
          <p:cNvSpPr txBox="1"/>
          <p:nvPr/>
        </p:nvSpPr>
        <p:spPr>
          <a:xfrm>
            <a:off x="3685031" y="5175504"/>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69"/>
              </a:rPr>
              <a:t>Run locally</a:t>
            </a:r>
          </a:p>
          <a:p>
            <a:pPr algn="l">
              <a:lnSpc>
                <a:spcPct val="100000"/>
              </a:lnSpc>
              <a:spcAft>
                <a:spcPts val="0"/>
              </a:spcAft>
            </a:pPr>
            <a:r>
              <a:rPr sz="700" b="0">
                <a:solidFill>
                  <a:srgbClr val="222222"/>
                </a:solidFill>
                <a:latin typeface="Arial"/>
              </a:rPr>
              <a:t>uvicorn API + Vite web app</a:t>
            </a:r>
          </a:p>
          <a:p>
            <a:pPr algn="l">
              <a:lnSpc>
                <a:spcPct val="100000"/>
              </a:lnSpc>
              <a:spcAft>
                <a:spcPts val="0"/>
              </a:spcAft>
            </a:pPr>
            <a:r>
              <a:rPr sz="660" b="1">
                <a:solidFill>
                  <a:srgbClr val="16A34A"/>
                </a:solidFill>
                <a:latin typeface="Arial"/>
              </a:rPr>
              <a:t>README on GitHub</a:t>
            </a:r>
          </a:p>
        </p:txBody>
      </p:sp>
      <p:cxnSp>
        <p:nvCxnSpPr>
          <p:cNvPr id="17522" name="Connector 17415">
            <a:extLst>
              <a:ext uri="{FF2B5EF4-FFF2-40B4-BE49-F238E27FC236}">
                <a16:creationId xmlns:a16="http://schemas.microsoft.com/office/drawing/2014/main" id="{15B932F6-621B-0BDE-6D21-D00948F2B680}"/>
              </a:ext>
            </a:extLst>
          </p:cNvPr>
          <p:cNvCxnSpPr/>
          <p:nvPr/>
        </p:nvCxnSpPr>
        <p:spPr>
          <a:xfrm>
            <a:off x="3319272" y="5520232"/>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17429" name="TextBox 17428">
            <a:extLst>
              <a:ext uri="{FF2B5EF4-FFF2-40B4-BE49-F238E27FC236}">
                <a16:creationId xmlns:a16="http://schemas.microsoft.com/office/drawing/2014/main" id="{7B91DE3C-5206-2215-8661-2D2D3246C5DF}"/>
              </a:ext>
            </a:extLst>
          </p:cNvPr>
          <p:cNvSpPr txBox="1"/>
          <p:nvPr/>
        </p:nvSpPr>
        <p:spPr>
          <a:xfrm>
            <a:off x="3685031" y="5527548"/>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rPr>
              <a:t>Demo decks</a:t>
            </a:r>
          </a:p>
          <a:p>
            <a:pPr algn="l">
              <a:lnSpc>
                <a:spcPct val="100000"/>
              </a:lnSpc>
              <a:spcAft>
                <a:spcPts val="0"/>
              </a:spcAft>
            </a:pPr>
            <a:r>
              <a:rPr sz="700" b="0">
                <a:solidFill>
                  <a:srgbClr val="222222"/>
                </a:solidFill>
                <a:latin typeface="Arial"/>
              </a:rPr>
              <a:t>7 real decks rebuilt</a:t>
            </a:r>
          </a:p>
          <a:p>
            <a:pPr algn="l">
              <a:lnSpc>
                <a:spcPct val="100000"/>
              </a:lnSpc>
              <a:spcAft>
                <a:spcPts val="0"/>
              </a:spcAft>
            </a:pPr>
            <a:r>
              <a:rPr sz="660" b="1">
                <a:solidFill>
                  <a:srgbClr val="16A34A"/>
                </a:solidFill>
                <a:latin typeface="Arial"/>
              </a:rPr>
              <a:t>docs/review on GitHub</a:t>
            </a:r>
          </a:p>
        </p:txBody>
      </p:sp>
      <p:cxnSp>
        <p:nvCxnSpPr>
          <p:cNvPr id="17523" name="Connector 17415">
            <a:extLst>
              <a:ext uri="{FF2B5EF4-FFF2-40B4-BE49-F238E27FC236}">
                <a16:creationId xmlns:a16="http://schemas.microsoft.com/office/drawing/2014/main" id="{15B932F6-621B-0BDE-6D21-D00948F2B680}"/>
              </a:ext>
            </a:extLst>
          </p:cNvPr>
          <p:cNvCxnSpPr/>
          <p:nvPr/>
        </p:nvCxnSpPr>
        <p:spPr>
          <a:xfrm>
            <a:off x="3319272" y="5872276"/>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pic>
        <p:nvPicPr>
          <p:cNvPr id="17556" name="Picture 17555" descr="image.png"/>
          <p:cNvPicPr>
            <a:picLocks noChangeAspect="1"/>
          </p:cNvPicPr>
          <p:nvPr/>
        </p:nvPicPr>
        <p:blipFill>
          <a:blip r:embed="rId78"/>
          <a:stretch>
            <a:fillRect/>
          </a:stretch>
        </p:blipFill>
        <p:spPr>
          <a:xfrm>
            <a:off x="3300984" y="5888736"/>
            <a:ext cx="329184" cy="329184"/>
          </a:xfrm>
          <a:prstGeom prst="rect">
            <a:avLst/>
          </a:prstGeom>
        </p:spPr>
      </p:pic>
      <p:sp>
        <p:nvSpPr>
          <p:cNvPr id="17524" name="TextBox 17427">
            <a:extLst>
              <a:ext uri="{FF2B5EF4-FFF2-40B4-BE49-F238E27FC236}">
                <a16:creationId xmlns:a16="http://schemas.microsoft.com/office/drawing/2014/main" id="{9BF36A5F-B2BA-73F9-0962-7513115E233B}"/>
              </a:ext>
            </a:extLst>
          </p:cNvPr>
          <p:cNvSpPr txBox="1"/>
          <p:nvPr/>
        </p:nvSpPr>
        <p:spPr>
          <a:xfrm>
            <a:off x="3685031" y="5879592"/>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hlinkClick r:id="rId71"/>
              </a:rPr>
              <a:t>API docs</a:t>
            </a:r>
          </a:p>
          <a:p>
            <a:pPr algn="l">
              <a:lnSpc>
                <a:spcPct val="100000"/>
              </a:lnSpc>
              <a:spcAft>
                <a:spcPts val="0"/>
              </a:spcAft>
            </a:pPr>
            <a:r>
              <a:rPr sz="700" b="0">
                <a:solidFill>
                  <a:srgbClr val="222222"/>
                </a:solidFill>
                <a:latin typeface="Arial"/>
              </a:rPr>
              <a:t>every endpoint, try it live</a:t>
            </a:r>
          </a:p>
          <a:p>
            <a:pPr algn="l">
              <a:lnSpc>
                <a:spcPct val="100000"/>
              </a:lnSpc>
              <a:spcAft>
                <a:spcPts val="0"/>
              </a:spcAft>
            </a:pPr>
            <a:r>
              <a:rPr sz="660" b="1">
                <a:solidFill>
                  <a:srgbClr val="16A34A"/>
                </a:solidFill>
                <a:latin typeface="Arial"/>
              </a:rPr>
              <a:t>localhost:8000/docs</a:t>
            </a:r>
          </a:p>
        </p:txBody>
      </p:sp>
      <p:sp>
        <p:nvSpPr>
          <p:cNvPr id="21" name="Rounded Rectangle 20">
            <a:extLst>
              <a:ext uri="{FF2B5EF4-FFF2-40B4-BE49-F238E27FC236}">
                <a16:creationId xmlns:a16="http://schemas.microsoft.com/office/drawing/2014/main" id="{724F0282-9FF3-44A1-1D7C-4A10B6AB060D}"/>
              </a:ext>
            </a:extLst>
          </p:cNvPr>
          <p:cNvSpPr/>
          <p:nvPr/>
        </p:nvSpPr>
        <p:spPr>
          <a:xfrm>
            <a:off x="6144768" y="4608576"/>
            <a:ext cx="2825496" cy="1655064"/>
          </a:xfrm>
          <a:prstGeom prst="roundRect">
            <a:avLst>
              <a:gd name="adj" fmla="val 5000"/>
            </a:avLst>
          </a:prstGeom>
          <a:solidFill>
            <a:srgbClr val="FFFFFF"/>
          </a:solidFill>
          <a:ln w="25400">
            <a:solidFill>
              <a:srgbClr val="EA580C"/>
            </a:solid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77" name="Rounded Rectangle 17476">
            <a:extLst>
              <a:ext uri="{FF2B5EF4-FFF2-40B4-BE49-F238E27FC236}">
                <a16:creationId xmlns:a16="http://schemas.microsoft.com/office/drawing/2014/main" id="{4F752AFC-B6EA-9BA5-AD6D-7BF76B3ADE92}"/>
              </a:ext>
            </a:extLst>
          </p:cNvPr>
          <p:cNvSpPr/>
          <p:nvPr/>
        </p:nvSpPr>
        <p:spPr>
          <a:xfrm>
            <a:off x="6144768" y="4608576"/>
            <a:ext cx="2825496" cy="512064"/>
          </a:xfrm>
          <a:prstGeom prst="roundRect">
            <a:avLst>
              <a:gd name="adj" fmla="val 16000"/>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89" name="Picture 17488" descr="sign_work.png">
            <a:extLst>
              <a:ext uri="{FF2B5EF4-FFF2-40B4-BE49-F238E27FC236}">
                <a16:creationId xmlns:a16="http://schemas.microsoft.com/office/drawing/2014/main" id="{698647F8-1EF2-54D9-6D55-A4FA63F9281D}"/>
              </a:ext>
            </a:extLst>
          </p:cNvPr>
          <p:cNvPicPr>
            <a:picLocks noChangeAspect="1"/>
          </p:cNvPicPr>
          <p:nvPr/>
        </p:nvPicPr>
        <p:blipFill>
          <a:blip r:embed="rId72"/>
          <a:stretch>
            <a:fillRect/>
          </a:stretch>
        </p:blipFill>
        <p:spPr>
          <a:xfrm>
            <a:off x="6227064" y="4663440"/>
            <a:ext cx="420624" cy="420624"/>
          </a:xfrm>
          <a:prstGeom prst="rect">
            <a:avLst/>
          </a:prstGeom>
        </p:spPr>
      </p:pic>
      <p:sp>
        <p:nvSpPr>
          <p:cNvPr id="17501" name="TextBox 17500">
            <a:extLst>
              <a:ext uri="{FF2B5EF4-FFF2-40B4-BE49-F238E27FC236}">
                <a16:creationId xmlns:a16="http://schemas.microsoft.com/office/drawing/2014/main" id="{AD59C8F9-9695-E217-96F6-7FB93658F112}"/>
              </a:ext>
            </a:extLst>
          </p:cNvPr>
          <p:cNvSpPr txBox="1"/>
          <p:nvPr/>
        </p:nvSpPr>
        <p:spPr>
          <a:xfrm>
            <a:off x="6711696" y="4636008"/>
            <a:ext cx="2112264" cy="475488"/>
          </a:xfrm>
          <a:prstGeom prst="rect">
            <a:avLst/>
          </a:prstGeom>
          <a:noFill/>
        </p:spPr>
        <p:txBody>
          <a:bodyPr wrap="square" lIns="18288" tIns="0" rIns="18288" bIns="0" anchor="ctr">
            <a:spAutoFit/>
          </a:bodyPr>
          <a:lstStyle/>
          <a:p>
            <a:pPr algn="l">
              <a:lnSpc>
                <a:spcPct val="100000"/>
              </a:lnSpc>
              <a:spcAft>
                <a:spcPts val="0"/>
              </a:spcAft>
            </a:pPr>
            <a:r>
              <a:rPr sz="1100" b="1">
                <a:solidFill>
                  <a:srgbClr val="EA580C"/>
                </a:solidFill>
                <a:latin typeface="Arial"/>
              </a:rPr>
              <a:t>TOOLS COMPARED</a:t>
            </a:r>
          </a:p>
          <a:p>
            <a:pPr algn="l">
              <a:lnSpc>
                <a:spcPct val="100000"/>
              </a:lnSpc>
              <a:spcAft>
                <a:spcPts val="0"/>
              </a:spcAft>
            </a:pPr>
            <a:r>
              <a:rPr sz="800" b="0">
                <a:solidFill>
                  <a:srgbClr val="475569"/>
                </a:solidFill>
                <a:latin typeface="Arial"/>
              </a:rPr>
              <a:t>what exists today</a:t>
            </a:r>
          </a:p>
        </p:txBody>
      </p:sp>
      <p:sp>
        <p:nvSpPr>
          <p:cNvPr id="17430" name="TextBox 17429">
            <a:extLst>
              <a:ext uri="{FF2B5EF4-FFF2-40B4-BE49-F238E27FC236}">
                <a16:creationId xmlns:a16="http://schemas.microsoft.com/office/drawing/2014/main" id="{6A64F8DB-F25C-F58D-D65A-259DFDFB0CAF}"/>
              </a:ext>
            </a:extLst>
          </p:cNvPr>
          <p:cNvSpPr txBox="1"/>
          <p:nvPr/>
        </p:nvSpPr>
        <p:spPr>
          <a:xfrm>
            <a:off x="6620256" y="5175504"/>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rPr>
              <a:t>Gamma</a:t>
            </a:r>
          </a:p>
          <a:p>
            <a:pPr algn="l">
              <a:lnSpc>
                <a:spcPct val="100000"/>
              </a:lnSpc>
              <a:spcAft>
                <a:spcPts val="0"/>
              </a:spcAft>
            </a:pPr>
            <a:r>
              <a:rPr sz="700" b="0">
                <a:solidFill>
                  <a:srgbClr val="222222"/>
                </a:solidFill>
                <a:latin typeface="Arial"/>
              </a:rPr>
              <a:t>prompt → new deck</a:t>
            </a:r>
          </a:p>
          <a:p>
            <a:pPr algn="l">
              <a:lnSpc>
                <a:spcPct val="100000"/>
              </a:lnSpc>
              <a:spcAft>
                <a:spcPts val="0"/>
              </a:spcAft>
            </a:pPr>
            <a:r>
              <a:rPr sz="660" b="1">
                <a:solidFill>
                  <a:srgbClr val="EA580C"/>
                </a:solidFill>
                <a:latin typeface="Arial"/>
              </a:rPr>
              <a:t>gamma.app</a:t>
            </a:r>
          </a:p>
        </p:txBody>
      </p:sp>
      <p:cxnSp>
        <p:nvCxnSpPr>
          <p:cNvPr id="17525" name="Connector 17415">
            <a:extLst>
              <a:ext uri="{FF2B5EF4-FFF2-40B4-BE49-F238E27FC236}">
                <a16:creationId xmlns:a16="http://schemas.microsoft.com/office/drawing/2014/main" id="{15B932F6-621B-0BDE-6D21-D00948F2B680}"/>
              </a:ext>
            </a:extLst>
          </p:cNvPr>
          <p:cNvCxnSpPr/>
          <p:nvPr/>
        </p:nvCxnSpPr>
        <p:spPr>
          <a:xfrm>
            <a:off x="6254496" y="5520232"/>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17431" name="TextBox 17430">
            <a:extLst>
              <a:ext uri="{FF2B5EF4-FFF2-40B4-BE49-F238E27FC236}">
                <a16:creationId xmlns:a16="http://schemas.microsoft.com/office/drawing/2014/main" id="{01861E11-32CC-5946-9A48-81C675A200C9}"/>
              </a:ext>
            </a:extLst>
          </p:cNvPr>
          <p:cNvSpPr txBox="1"/>
          <p:nvPr/>
        </p:nvSpPr>
        <p:spPr>
          <a:xfrm>
            <a:off x="6620256" y="5527548"/>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rPr>
              <a:t>Microsoft Copilot / Gemini Slides</a:t>
            </a:r>
          </a:p>
          <a:p>
            <a:pPr algn="l">
              <a:lnSpc>
                <a:spcPct val="100000"/>
              </a:lnSpc>
              <a:spcAft>
                <a:spcPts val="0"/>
              </a:spcAft>
            </a:pPr>
            <a:r>
              <a:rPr sz="700" b="0">
                <a:solidFill>
                  <a:srgbClr val="222222"/>
                </a:solidFill>
                <a:latin typeface="Arial"/>
              </a:rPr>
              <a:t>AI inside office suites</a:t>
            </a:r>
          </a:p>
          <a:p>
            <a:pPr algn="l">
              <a:lnSpc>
                <a:spcPct val="100000"/>
              </a:lnSpc>
              <a:spcAft>
                <a:spcPts val="0"/>
              </a:spcAft>
            </a:pPr>
            <a:r>
              <a:rPr sz="660" b="1">
                <a:solidFill>
                  <a:srgbClr val="EA580C"/>
                </a:solidFill>
                <a:latin typeface="Arial"/>
              </a:rPr>
              <a:t>microsoft.com · workspace.google.com</a:t>
            </a:r>
          </a:p>
        </p:txBody>
      </p:sp>
      <p:cxnSp>
        <p:nvCxnSpPr>
          <p:cNvPr id="17526" name="Connector 17415">
            <a:extLst>
              <a:ext uri="{FF2B5EF4-FFF2-40B4-BE49-F238E27FC236}">
                <a16:creationId xmlns:a16="http://schemas.microsoft.com/office/drawing/2014/main" id="{15B932F6-621B-0BDE-6D21-D00948F2B680}"/>
              </a:ext>
            </a:extLst>
          </p:cNvPr>
          <p:cNvCxnSpPr/>
          <p:nvPr/>
        </p:nvCxnSpPr>
        <p:spPr>
          <a:xfrm>
            <a:off x="6254496" y="5872276"/>
            <a:ext cx="260604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17451" name="TextBox 17450">
            <a:extLst>
              <a:ext uri="{FF2B5EF4-FFF2-40B4-BE49-F238E27FC236}">
                <a16:creationId xmlns:a16="http://schemas.microsoft.com/office/drawing/2014/main" id="{00B4AA6A-D260-AF31-0529-5238AA730EA5}"/>
              </a:ext>
            </a:extLst>
          </p:cNvPr>
          <p:cNvSpPr txBox="1"/>
          <p:nvPr/>
        </p:nvSpPr>
        <p:spPr>
          <a:xfrm>
            <a:off x="6620256" y="5879592"/>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rPr>
              <a:t>Canva Magic Design</a:t>
            </a:r>
          </a:p>
          <a:p>
            <a:pPr algn="l">
              <a:lnSpc>
                <a:spcPct val="100000"/>
              </a:lnSpc>
              <a:spcAft>
                <a:spcPts val="0"/>
              </a:spcAft>
            </a:pPr>
            <a:r>
              <a:rPr sz="700" b="0">
                <a:solidFill>
                  <a:srgbClr val="222222"/>
                </a:solidFill>
                <a:latin typeface="Arial"/>
              </a:rPr>
              <a:t>template-first AI slides</a:t>
            </a:r>
          </a:p>
          <a:p>
            <a:pPr algn="l">
              <a:lnSpc>
                <a:spcPct val="100000"/>
              </a:lnSpc>
              <a:spcAft>
                <a:spcPts val="0"/>
              </a:spcAft>
            </a:pPr>
            <a:r>
              <a:rPr sz="660" b="1">
                <a:solidFill>
                  <a:srgbClr val="4D7C0F"/>
                </a:solidFill>
                <a:latin typeface="Arial"/>
              </a:rPr>
              <a:t>canva.com</a:t>
            </a:r>
            <a:endParaRPr sz="740" b="1">
              <a:solidFill>
                <a:srgbClr val="4D7C0F"/>
              </a:solidFill>
              <a:latin typeface="Arial"/>
            </a:endParaRPr>
          </a:p>
        </p:txBody>
      </p:sp>
      <p:sp>
        <p:nvSpPr>
          <p:cNvPr id="22" name="Rounded Rectangle 21">
            <a:extLst>
              <a:ext uri="{FF2B5EF4-FFF2-40B4-BE49-F238E27FC236}">
                <a16:creationId xmlns:a16="http://schemas.microsoft.com/office/drawing/2014/main" id="{04CF5D8C-B9AA-00A0-7F2D-E6D09344AB1B}"/>
              </a:ext>
            </a:extLst>
          </p:cNvPr>
          <p:cNvSpPr/>
          <p:nvPr/>
        </p:nvSpPr>
        <p:spPr>
          <a:xfrm>
            <a:off x="9089136" y="4608576"/>
            <a:ext cx="2825496" cy="1655064"/>
          </a:xfrm>
          <a:prstGeom prst="roundRect">
            <a:avLst>
              <a:gd name="adj" fmla="val 5000"/>
            </a:avLst>
          </a:prstGeom>
          <a:solidFill>
            <a:srgbClr val="FFFFFF"/>
          </a:solidFill>
          <a:ln w="25400">
            <a:solidFill>
              <a:srgbClr val="A16207"/>
            </a:solidFill>
          </a:ln>
          <a:effectLst>
            <a:outerShdw blurRad="63500" dist="25400" dir="5400000" algn="t" rotWithShape="0">
              <a:srgbClr val="0B2545">
                <a:alpha val="2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78" name="Rounded Rectangle 17477">
            <a:extLst>
              <a:ext uri="{FF2B5EF4-FFF2-40B4-BE49-F238E27FC236}">
                <a16:creationId xmlns:a16="http://schemas.microsoft.com/office/drawing/2014/main" id="{43EC313C-9BBE-3CA9-6DD3-D51B79241427}"/>
              </a:ext>
            </a:extLst>
          </p:cNvPr>
          <p:cNvSpPr/>
          <p:nvPr/>
        </p:nvSpPr>
        <p:spPr>
          <a:xfrm>
            <a:off x="9089136" y="4608576"/>
            <a:ext cx="2825496" cy="512064"/>
          </a:xfrm>
          <a:prstGeom prst="roundRect">
            <a:avLst>
              <a:gd name="adj" fmla="val 16000"/>
            </a:avLst>
          </a:prstGeom>
          <a:solidFill>
            <a:srgbClr val="FBF6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490" name="Picture 17489" descr="sign_walk.png">
            <a:extLst>
              <a:ext uri="{FF2B5EF4-FFF2-40B4-BE49-F238E27FC236}">
                <a16:creationId xmlns:a16="http://schemas.microsoft.com/office/drawing/2014/main" id="{95B45D08-2623-EB4D-8681-A56EDA71B2EE}"/>
              </a:ext>
            </a:extLst>
          </p:cNvPr>
          <p:cNvPicPr>
            <a:picLocks noChangeAspect="1"/>
          </p:cNvPicPr>
          <p:nvPr/>
        </p:nvPicPr>
        <p:blipFill>
          <a:blip r:embed="rId73"/>
          <a:stretch>
            <a:fillRect/>
          </a:stretch>
        </p:blipFill>
        <p:spPr>
          <a:xfrm>
            <a:off x="9171432" y="4663440"/>
            <a:ext cx="420624" cy="420624"/>
          </a:xfrm>
          <a:prstGeom prst="rect">
            <a:avLst/>
          </a:prstGeom>
        </p:spPr>
      </p:pic>
      <p:sp>
        <p:nvSpPr>
          <p:cNvPr id="17502" name="TextBox 17501">
            <a:extLst>
              <a:ext uri="{FF2B5EF4-FFF2-40B4-BE49-F238E27FC236}">
                <a16:creationId xmlns:a16="http://schemas.microsoft.com/office/drawing/2014/main" id="{4AEA9504-998C-EBBB-1F48-425A396C32F7}"/>
              </a:ext>
            </a:extLst>
          </p:cNvPr>
          <p:cNvSpPr txBox="1"/>
          <p:nvPr/>
        </p:nvSpPr>
        <p:spPr>
          <a:xfrm>
            <a:off x="9656063" y="4636008"/>
            <a:ext cx="2112264" cy="475488"/>
          </a:xfrm>
          <a:prstGeom prst="rect">
            <a:avLst/>
          </a:prstGeom>
          <a:noFill/>
        </p:spPr>
        <p:txBody>
          <a:bodyPr wrap="square" lIns="18288" tIns="0" rIns="18288" bIns="0" anchor="ctr">
            <a:spAutoFit/>
          </a:bodyPr>
          <a:lstStyle/>
          <a:p>
            <a:pPr algn="l">
              <a:lnSpc>
                <a:spcPct val="100000"/>
              </a:lnSpc>
              <a:spcAft>
                <a:spcPts val="0"/>
              </a:spcAft>
            </a:pPr>
            <a:r>
              <a:rPr sz="1100" b="1">
                <a:solidFill>
                  <a:srgbClr val="A16207"/>
                </a:solidFill>
                <a:latin typeface="Arial"/>
              </a:rPr>
              <a:t>AI MODELS</a:t>
            </a:r>
          </a:p>
          <a:p>
            <a:pPr algn="l">
              <a:lnSpc>
                <a:spcPct val="100000"/>
              </a:lnSpc>
              <a:spcAft>
                <a:spcPts val="0"/>
              </a:spcAft>
            </a:pPr>
            <a:r>
              <a:rPr sz="800" b="0">
                <a:solidFill>
                  <a:srgbClr val="475569"/>
                </a:solidFill>
                <a:latin typeface="Arial"/>
              </a:rPr>
              <a:t>what powers the AI layer</a:t>
            </a:r>
          </a:p>
        </p:txBody>
      </p:sp>
      <p:sp>
        <p:nvSpPr>
          <p:cNvPr id="17452" name="TextBox 17451">
            <a:extLst>
              <a:ext uri="{FF2B5EF4-FFF2-40B4-BE49-F238E27FC236}">
                <a16:creationId xmlns:a16="http://schemas.microsoft.com/office/drawing/2014/main" id="{C8FEC86B-9715-AC87-9E91-ACB24BC562D4}"/>
              </a:ext>
            </a:extLst>
          </p:cNvPr>
          <p:cNvSpPr txBox="1"/>
          <p:nvPr/>
        </p:nvSpPr>
        <p:spPr>
          <a:xfrm>
            <a:off x="9564624" y="5559552"/>
            <a:ext cx="2286000" cy="347472"/>
          </a:xfrm>
          <a:prstGeom prst="rect">
            <a:avLst/>
          </a:prstGeom>
          <a:noFill/>
        </p:spPr>
        <p:txBody>
          <a:bodyPr wrap="square" lIns="18288" tIns="0" rIns="18288" bIns="0" anchor="ctr">
            <a:spAutoFit/>
          </a:bodyPr>
          <a:lstStyle/>
          <a:p>
            <a:pPr algn="l">
              <a:lnSpc>
                <a:spcPct val="100000"/>
              </a:lnSpc>
              <a:spcAft>
                <a:spcPts val="0"/>
              </a:spcAft>
            </a:pPr>
            <a:r>
              <a:rPr sz="819" b="1">
                <a:solidFill>
                  <a:srgbClr val="0B2545"/>
                </a:solidFill>
                <a:latin typeface="Arial"/>
              </a:rPr>
              <a:t>Google Gemini API</a:t>
            </a:r>
          </a:p>
          <a:p>
            <a:pPr algn="l">
              <a:lnSpc>
                <a:spcPct val="100000"/>
              </a:lnSpc>
              <a:spcAft>
                <a:spcPts val="0"/>
              </a:spcAft>
            </a:pPr>
            <a:r>
              <a:rPr sz="700" b="0">
                <a:solidFill>
                  <a:srgbClr val="222222"/>
                </a:solidFill>
                <a:latin typeface="Arial"/>
              </a:rPr>
              <a:t>5-key pool, diagrams, titles</a:t>
            </a:r>
          </a:p>
          <a:p>
            <a:pPr algn="l">
              <a:lnSpc>
                <a:spcPct val="100000"/>
              </a:lnSpc>
              <a:spcAft>
                <a:spcPts val="0"/>
              </a:spcAft>
            </a:pPr>
            <a:r>
              <a:rPr sz="660" b="1">
                <a:solidFill>
                  <a:srgbClr val="A16207"/>
                </a:solidFill>
                <a:latin typeface="Arial"/>
              </a:rPr>
              <a:t>ai.google.dev</a:t>
            </a:r>
          </a:p>
        </p:txBody>
      </p:sp>
      <p:sp>
        <p:nvSpPr>
          <p:cNvPr id="17527" name="Oval 17526" descr="Your startup LOGO">
            <a:extLst>
              <a:ext uri="{FF2B5EF4-FFF2-40B4-BE49-F238E27FC236}">
                <a16:creationId xmlns:a16="http://schemas.microsoft.com/office/drawing/2014/main" id="{38328A29-D4DA-760C-8E19-D91C73C569D5}"/>
              </a:ext>
              <a:ext uri="{C183D7F6-B498-43B3-948B-1728B52AA6E4}">
                <adec:decorative xmlns:adec="http://schemas.microsoft.com/office/drawing/2017/decorative" val="0"/>
              </a:ext>
            </a:extLst>
          </p:cNvPr>
          <p:cNvSpPr/>
          <p:nvPr/>
        </p:nvSpPr>
        <p:spPr>
          <a:xfrm>
            <a:off x="274320" y="196924"/>
            <a:ext cx="1902611" cy="322631"/>
          </a:xfrm>
          <a:prstGeom prst="ellipse">
            <a:avLst/>
          </a:prstGeom>
        </p:spPr>
        <p:style>
          <a:lnRef idx="2">
            <a:schemeClr val="accent4"/>
          </a:lnRef>
          <a:fillRef idx="1">
            <a:schemeClr val="lt1"/>
          </a:fillRef>
          <a:effectRef idx="0">
            <a:schemeClr val="accent4"/>
          </a:effectRef>
          <a:fontRef idx="minor">
            <a:schemeClr val="dk1"/>
          </a:fontRef>
        </p:style>
        <p:txBody>
          <a:bodyPr lIns="91440" tIns="45720" rIns="91440" bIns="45720" rtlCol="0" anchor="ctr"/>
          <a:lstStyle/>
          <a:p>
            <a:pPr algn="ctr"/>
            <a:r>
              <a:rPr dirty="0"/>
              <a:t>Learnova</a:t>
            </a:r>
            <a:endParaRPr lang="en-US" dirty="0">
              <a:ea typeface="Calibri"/>
              <a:cs typeface="Calibri"/>
            </a:endParaRPr>
          </a:p>
        </p:txBody>
      </p:sp>
    </p:spTree>
    <p:extLst>
      <p:ext uri="{BB962C8B-B14F-4D97-AF65-F5344CB8AC3E}">
        <p14:creationId xmlns:p14="http://schemas.microsoft.com/office/powerpoint/2010/main" val="1453876450"/>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2738C0BA-5070-93C5-414C-1B9E7624DEA6}"/>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a:solidFill>
                <a:schemeClr val="accent2">
                  <a:lumMod val="75000"/>
                </a:schemeClr>
              </a:solidFill>
              <a:latin typeface="+mn-lt"/>
              <a:ea typeface="+mn-ea"/>
            </a:endParaRPr>
          </a:p>
        </p:txBody>
      </p:sp>
      <p:sp>
        <p:nvSpPr>
          <p:cNvPr id="17409" name="Title 1">
            <a:extLst>
              <a:ext uri="{FF2B5EF4-FFF2-40B4-BE49-F238E27FC236}">
                <a16:creationId xmlns:a16="http://schemas.microsoft.com/office/drawing/2014/main" id="{279AAA37-CB74-B25D-64AE-53B3F8C63496}"/>
              </a:ext>
            </a:extLst>
          </p:cNvPr>
          <p:cNvSpPr>
            <a:spLocks noGrp="1"/>
          </p:cNvSpPr>
          <p:nvPr>
            <p:ph type="title"/>
          </p:nvPr>
        </p:nvSpPr>
        <p:spPr>
          <a:xfrm>
            <a:off x="609600" y="-182662"/>
            <a:ext cx="10972800" cy="843988"/>
          </a:xfrm>
        </p:spPr>
        <p:txBody>
          <a:bodyPr/>
          <a:lstStyle/>
          <a:p>
            <a:pPr eaLnBrk="1" hangingPunct="1"/>
            <a:r>
              <a:rPr lang="en-US" sz="3600" b="1">
                <a:latin typeface="Times New Roman" panose="02020603050405020304" pitchFamily="18" charset="0"/>
                <a:ea typeface="ＭＳ Ｐゴシック" pitchFamily="1" charset="-128"/>
                <a:cs typeface="Times New Roman" panose="02020603050405020304" pitchFamily="18" charset="0"/>
              </a:rPr>
              <a:t>CONCLUSIONS OBTAINED</a:t>
            </a:r>
          </a:p>
        </p:txBody>
      </p:sp>
      <p:sp>
        <p:nvSpPr>
          <p:cNvPr id="6" name="Slide Number Placeholder 5">
            <a:extLst>
              <a:ext uri="{FF2B5EF4-FFF2-40B4-BE49-F238E27FC236}">
                <a16:creationId xmlns:a16="http://schemas.microsoft.com/office/drawing/2014/main" id="{43DA03A7-2539-4A2D-F71A-F5F37F5DABF5}"/>
              </a:ext>
            </a:extLst>
          </p:cNvPr>
          <p:cNvSpPr>
            <a:spLocks noGrp="1"/>
          </p:cNvSpPr>
          <p:nvPr>
            <p:ph type="sldNum" sz="quarter" idx="12"/>
          </p:nvPr>
        </p:nvSpPr>
        <p:spPr/>
        <p:txBody>
          <a:bodyPr/>
          <a:lstStyle/>
          <a:p>
            <a:fld id="{677C3CE7-23F7-4828-823C-E0205DF2CF97}" type="slidenum">
              <a:rPr lang="en-US" b="1">
                <a:solidFill>
                  <a:schemeClr val="bg1"/>
                </a:solidFill>
              </a:rPr>
              <a:pPr/>
              <a:t>9</a:t>
            </a:fld>
            <a:endParaRPr lang="en-US" b="1">
              <a:solidFill>
                <a:schemeClr val="bg1"/>
              </a:solidFill>
            </a:endParaRPr>
          </a:p>
        </p:txBody>
      </p:sp>
      <p:sp>
        <p:nvSpPr>
          <p:cNvPr id="7" name="Footer Placeholder 6">
            <a:extLst>
              <a:ext uri="{FF2B5EF4-FFF2-40B4-BE49-F238E27FC236}">
                <a16:creationId xmlns:a16="http://schemas.microsoft.com/office/drawing/2014/main" id="{292AC042-6453-70B0-5DB4-7181492D3A65}"/>
              </a:ext>
            </a:extLst>
          </p:cNvPr>
          <p:cNvSpPr>
            <a:spLocks noGrp="1"/>
          </p:cNvSpPr>
          <p:nvPr>
            <p:ph type="ftr" sz="quarter" idx="11"/>
          </p:nvPr>
        </p:nvSpPr>
        <p:spPr>
          <a:xfrm>
            <a:off x="4648200" y="6356353"/>
            <a:ext cx="3204000" cy="365125"/>
          </a:xfrm>
        </p:spPr>
        <p:txBody>
          <a:bodyPr/>
          <a:lstStyle/>
          <a:p>
            <a:pPr>
              <a:defRPr/>
            </a:pPr>
            <a:r>
              <a:rPr lang="en-US">
                <a:solidFill>
                  <a:schemeClr val="bg1"/>
                </a:solidFill>
              </a:rPr>
              <a:t>IPD Review · Learnova · AI&amp;DS DJSCE</a:t>
            </a:r>
          </a:p>
        </p:txBody>
      </p:sp>
      <p:sp>
        <p:nvSpPr>
          <p:cNvPr id="11" name="Oval 10" descr="Your startup LOGO">
            <a:extLst>
              <a:ext uri="{FF2B5EF4-FFF2-40B4-BE49-F238E27FC236}">
                <a16:creationId xmlns:a16="http://schemas.microsoft.com/office/drawing/2014/main" id="{50E2A979-97FD-F669-DD46-B7D2FBB1E868}"/>
              </a:ext>
              <a:ext uri="{C183D7F6-B498-43B3-948B-1728B52AA6E4}">
                <adec:decorative xmlns:adec="http://schemas.microsoft.com/office/drawing/2017/decorative" val="0"/>
              </a:ext>
            </a:extLst>
          </p:cNvPr>
          <p:cNvSpPr/>
          <p:nvPr/>
        </p:nvSpPr>
        <p:spPr>
          <a:xfrm>
            <a:off x="274320" y="196924"/>
            <a:ext cx="1902611" cy="322631"/>
          </a:xfrm>
          <a:prstGeom prst="ellipse">
            <a:avLst/>
          </a:prstGeom>
        </p:spPr>
        <p:style>
          <a:lnRef idx="2">
            <a:schemeClr val="accent4"/>
          </a:lnRef>
          <a:fillRef idx="1">
            <a:schemeClr val="lt1"/>
          </a:fillRef>
          <a:effectRef idx="0">
            <a:schemeClr val="accent4"/>
          </a:effectRef>
          <a:fontRef idx="minor">
            <a:schemeClr val="dk1"/>
          </a:fontRef>
        </p:style>
        <p:txBody>
          <a:bodyPr lIns="91440" tIns="45720" rIns="91440" bIns="45720" rtlCol="0" anchor="ctr"/>
          <a:lstStyle/>
          <a:p>
            <a:pPr algn="ctr"/>
            <a:r>
              <a:rPr dirty="0"/>
              <a:t>Learnova</a:t>
            </a:r>
            <a:endParaRPr lang="en-US" dirty="0">
              <a:ea typeface="Calibri"/>
              <a:cs typeface="Calibri"/>
            </a:endParaRPr>
          </a:p>
        </p:txBody>
      </p:sp>
      <p:sp>
        <p:nvSpPr>
          <p:cNvPr id="17410" name="TextBox 17409"/>
          <p:cNvSpPr txBox="1"/>
          <p:nvPr/>
        </p:nvSpPr>
        <p:spPr>
          <a:xfrm>
            <a:off x="2743200" y="621792"/>
            <a:ext cx="6702552" cy="310896"/>
          </a:xfrm>
          <a:prstGeom prst="rect">
            <a:avLst/>
          </a:prstGeom>
          <a:noFill/>
        </p:spPr>
        <p:txBody>
          <a:bodyPr wrap="square" anchor="ctr" lIns="27432" rIns="27432" tIns="9144" bIns="9144">
            <a:spAutoFit/>
          </a:bodyPr>
          <a:lstStyle/>
          <a:p>
            <a:pPr algn="ctr"/>
            <a:r>
              <a:rPr sz="1500" b="0" i="1">
                <a:solidFill>
                  <a:srgbClr val="1F5FBF"/>
                </a:solidFill>
                <a:latin typeface="Calibri"/>
              </a:rPr>
              <a:t>What the project set out to do, what we achieved, and what comes next</a:t>
            </a:r>
          </a:p>
        </p:txBody>
      </p:sp>
      <p:sp>
        <p:nvSpPr>
          <p:cNvPr id="17411" name="Rounded Rectangle 17410"/>
          <p:cNvSpPr/>
          <p:nvPr/>
        </p:nvSpPr>
        <p:spPr>
          <a:xfrm>
            <a:off x="274320" y="1005840"/>
            <a:ext cx="7223760" cy="329184"/>
          </a:xfrm>
          <a:prstGeom prst="roundRect">
            <a:avLst>
              <a:gd name="adj" fmla="val 25000"/>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TextBox 17411"/>
          <p:cNvSpPr txBox="1"/>
          <p:nvPr/>
        </p:nvSpPr>
        <p:spPr>
          <a:xfrm>
            <a:off x="274320" y="1005840"/>
            <a:ext cx="7223760" cy="329184"/>
          </a:xfrm>
          <a:prstGeom prst="rect">
            <a:avLst/>
          </a:prstGeom>
          <a:noFill/>
        </p:spPr>
        <p:txBody>
          <a:bodyPr wrap="square" anchor="ctr" lIns="27432" rIns="27432" tIns="9144" bIns="9144">
            <a:spAutoFit/>
          </a:bodyPr>
          <a:lstStyle/>
          <a:p>
            <a:pPr algn="ctr"/>
            <a:r>
              <a:rPr sz="1300" b="1">
                <a:solidFill>
                  <a:srgbClr val="FFFFFF"/>
                </a:solidFill>
                <a:latin typeface="Calibri"/>
              </a:rPr>
              <a:t>Objectives versus outcomes</a:t>
            </a:r>
          </a:p>
        </p:txBody>
      </p:sp>
      <p:sp>
        <p:nvSpPr>
          <p:cNvPr id="17413" name="Rounded Rectangle 17412"/>
          <p:cNvSpPr/>
          <p:nvPr/>
        </p:nvSpPr>
        <p:spPr>
          <a:xfrm>
            <a:off x="274320" y="1408176"/>
            <a:ext cx="7223760" cy="411480"/>
          </a:xfrm>
          <a:prstGeom prst="roundRect">
            <a:avLst>
              <a:gd name="adj" fmla="val 10000"/>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Oval 17413"/>
          <p:cNvSpPr/>
          <p:nvPr/>
        </p:nvSpPr>
        <p:spPr>
          <a:xfrm>
            <a:off x="347472" y="1463040"/>
            <a:ext cx="301752" cy="301752"/>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15" name="Picture 17414" descr="image.png"/>
          <p:cNvPicPr>
            <a:picLocks noChangeAspect="1"/>
          </p:cNvPicPr>
          <p:nvPr/>
        </p:nvPicPr>
        <p:blipFill>
          <a:blip r:embed="rId2"/>
          <a:stretch>
            <a:fillRect/>
          </a:stretch>
        </p:blipFill>
        <p:spPr>
          <a:xfrm>
            <a:off x="407822" y="1523390"/>
            <a:ext cx="181051" cy="181051"/>
          </a:xfrm>
          <a:prstGeom prst="rect">
            <a:avLst/>
          </a:prstGeom>
        </p:spPr>
      </p:pic>
      <p:sp>
        <p:nvSpPr>
          <p:cNvPr id="17416" name="TextBox 17415"/>
          <p:cNvSpPr txBox="1"/>
          <p:nvPr/>
        </p:nvSpPr>
        <p:spPr>
          <a:xfrm>
            <a:off x="731520" y="1408176"/>
            <a:ext cx="3291840" cy="411480"/>
          </a:xfrm>
          <a:prstGeom prst="rect">
            <a:avLst/>
          </a:prstGeom>
          <a:noFill/>
        </p:spPr>
        <p:txBody>
          <a:bodyPr wrap="square" anchor="ctr" lIns="27432" rIns="27432" tIns="9144" bIns="9144">
            <a:spAutoFit/>
          </a:bodyPr>
          <a:lstStyle/>
          <a:p>
            <a:r>
              <a:rPr sz="1080" b="1">
                <a:solidFill>
                  <a:srgbClr val="172131"/>
                </a:solidFill>
                <a:latin typeface="Calibri"/>
              </a:rPr>
              <a:t>Keep every point of the teacher's deck</a:t>
            </a:r>
          </a:p>
        </p:txBody>
      </p:sp>
      <p:sp>
        <p:nvSpPr>
          <p:cNvPr id="17417" name="TextBox 17416"/>
          <p:cNvSpPr txBox="1"/>
          <p:nvPr/>
        </p:nvSpPr>
        <p:spPr>
          <a:xfrm>
            <a:off x="4069080" y="1408176"/>
            <a:ext cx="3383280" cy="411480"/>
          </a:xfrm>
          <a:prstGeom prst="rect">
            <a:avLst/>
          </a:prstGeom>
          <a:noFill/>
        </p:spPr>
        <p:txBody>
          <a:bodyPr wrap="square" anchor="ctr" lIns="27432" rIns="27432" tIns="9144" bIns="9144">
            <a:spAutoFit/>
          </a:bodyPr>
          <a:lstStyle/>
          <a:p>
            <a:r>
              <a:rPr sz="1050" b="0">
                <a:solidFill>
                  <a:srgbClr val="0F5F3C"/>
                </a:solidFill>
                <a:latin typeface="Calibri"/>
              </a:rPr>
              <a:t>98–100% of facts kept on 7 real decks</a:t>
            </a:r>
          </a:p>
        </p:txBody>
      </p:sp>
      <p:sp>
        <p:nvSpPr>
          <p:cNvPr id="17418" name="Rounded Rectangle 17417"/>
          <p:cNvSpPr/>
          <p:nvPr/>
        </p:nvSpPr>
        <p:spPr>
          <a:xfrm>
            <a:off x="274320" y="1865376"/>
            <a:ext cx="7223760" cy="411480"/>
          </a:xfrm>
          <a:prstGeom prst="roundRect">
            <a:avLst>
              <a:gd name="adj" fmla="val 10000"/>
            </a:avLst>
          </a:prstGeom>
          <a:solidFill>
            <a:srgbClr val="F7F8FB"/>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Oval 17418"/>
          <p:cNvSpPr/>
          <p:nvPr/>
        </p:nvSpPr>
        <p:spPr>
          <a:xfrm>
            <a:off x="347472" y="1920240"/>
            <a:ext cx="301752" cy="301752"/>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20" name="Picture 17419" descr="image.png"/>
          <p:cNvPicPr>
            <a:picLocks noChangeAspect="1"/>
          </p:cNvPicPr>
          <p:nvPr/>
        </p:nvPicPr>
        <p:blipFill>
          <a:blip r:embed="rId2"/>
          <a:stretch>
            <a:fillRect/>
          </a:stretch>
        </p:blipFill>
        <p:spPr>
          <a:xfrm>
            <a:off x="407822" y="1980590"/>
            <a:ext cx="181051" cy="181051"/>
          </a:xfrm>
          <a:prstGeom prst="rect">
            <a:avLst/>
          </a:prstGeom>
        </p:spPr>
      </p:pic>
      <p:sp>
        <p:nvSpPr>
          <p:cNvPr id="17421" name="TextBox 17420"/>
          <p:cNvSpPr txBox="1"/>
          <p:nvPr/>
        </p:nvSpPr>
        <p:spPr>
          <a:xfrm>
            <a:off x="731520" y="1865376"/>
            <a:ext cx="3291840" cy="411480"/>
          </a:xfrm>
          <a:prstGeom prst="rect">
            <a:avLst/>
          </a:prstGeom>
          <a:noFill/>
        </p:spPr>
        <p:txBody>
          <a:bodyPr wrap="square" anchor="ctr" lIns="27432" rIns="27432" tIns="9144" bIns="9144">
            <a:spAutoFit/>
          </a:bodyPr>
          <a:lstStyle/>
          <a:p>
            <a:r>
              <a:rPr sz="1080" b="1">
                <a:solidFill>
                  <a:srgbClr val="172131"/>
                </a:solidFill>
                <a:latin typeface="Calibri"/>
              </a:rPr>
              <a:t>Give every slide a clear title</a:t>
            </a:r>
          </a:p>
        </p:txBody>
      </p:sp>
      <p:sp>
        <p:nvSpPr>
          <p:cNvPr id="17422" name="TextBox 17421"/>
          <p:cNvSpPr txBox="1"/>
          <p:nvPr/>
        </p:nvSpPr>
        <p:spPr>
          <a:xfrm>
            <a:off x="4069080" y="1865376"/>
            <a:ext cx="3383280" cy="411480"/>
          </a:xfrm>
          <a:prstGeom prst="rect">
            <a:avLst/>
          </a:prstGeom>
          <a:noFill/>
        </p:spPr>
        <p:txBody>
          <a:bodyPr wrap="square" anchor="ctr" lIns="27432" rIns="27432" tIns="9144" bIns="9144">
            <a:spAutoFit/>
          </a:bodyPr>
          <a:lstStyle/>
          <a:p>
            <a:r>
              <a:rPr sz="1050" b="0">
                <a:solidFill>
                  <a:srgbClr val="0F5F3C"/>
                </a:solidFill>
                <a:latin typeface="Calibri"/>
              </a:rPr>
              <a:t>untitled slides 83 → 0 on 5 decks</a:t>
            </a:r>
          </a:p>
        </p:txBody>
      </p:sp>
      <p:sp>
        <p:nvSpPr>
          <p:cNvPr id="17423" name="Rounded Rectangle 17422"/>
          <p:cNvSpPr/>
          <p:nvPr/>
        </p:nvSpPr>
        <p:spPr>
          <a:xfrm>
            <a:off x="274320" y="2322576"/>
            <a:ext cx="7223760" cy="411480"/>
          </a:xfrm>
          <a:prstGeom prst="roundRect">
            <a:avLst>
              <a:gd name="adj" fmla="val 10000"/>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Oval 17423"/>
          <p:cNvSpPr/>
          <p:nvPr/>
        </p:nvSpPr>
        <p:spPr>
          <a:xfrm>
            <a:off x="347472" y="2377440"/>
            <a:ext cx="301752" cy="301752"/>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25" name="Picture 17424" descr="image.png"/>
          <p:cNvPicPr>
            <a:picLocks noChangeAspect="1"/>
          </p:cNvPicPr>
          <p:nvPr/>
        </p:nvPicPr>
        <p:blipFill>
          <a:blip r:embed="rId2"/>
          <a:stretch>
            <a:fillRect/>
          </a:stretch>
        </p:blipFill>
        <p:spPr>
          <a:xfrm>
            <a:off x="407822" y="2437790"/>
            <a:ext cx="181051" cy="181051"/>
          </a:xfrm>
          <a:prstGeom prst="rect">
            <a:avLst/>
          </a:prstGeom>
        </p:spPr>
      </p:pic>
      <p:sp>
        <p:nvSpPr>
          <p:cNvPr id="17426" name="TextBox 17425"/>
          <p:cNvSpPr txBox="1"/>
          <p:nvPr/>
        </p:nvSpPr>
        <p:spPr>
          <a:xfrm>
            <a:off x="731520" y="2322576"/>
            <a:ext cx="3291840" cy="411480"/>
          </a:xfrm>
          <a:prstGeom prst="rect">
            <a:avLst/>
          </a:prstGeom>
          <a:noFill/>
        </p:spPr>
        <p:txBody>
          <a:bodyPr wrap="square" anchor="ctr" lIns="27432" rIns="27432" tIns="9144" bIns="9144">
            <a:spAutoFit/>
          </a:bodyPr>
          <a:lstStyle/>
          <a:p>
            <a:r>
              <a:rPr sz="1080" b="1">
                <a:solidFill>
                  <a:srgbClr val="172131"/>
                </a:solidFill>
                <a:latin typeface="Calibri"/>
              </a:rPr>
              <a:t>Pick the right visual, with a reason</a:t>
            </a:r>
          </a:p>
        </p:txBody>
      </p:sp>
      <p:sp>
        <p:nvSpPr>
          <p:cNvPr id="17427" name="TextBox 17426"/>
          <p:cNvSpPr txBox="1"/>
          <p:nvPr/>
        </p:nvSpPr>
        <p:spPr>
          <a:xfrm>
            <a:off x="4069080" y="2322576"/>
            <a:ext cx="3383280" cy="411480"/>
          </a:xfrm>
          <a:prstGeom prst="rect">
            <a:avLst/>
          </a:prstGeom>
          <a:noFill/>
        </p:spPr>
        <p:txBody>
          <a:bodyPr wrap="square" anchor="ctr" lIns="27432" rIns="27432" tIns="9144" bIns="9144">
            <a:spAutoFit/>
          </a:bodyPr>
          <a:lstStyle/>
          <a:p>
            <a:r>
              <a:rPr sz="1050" b="0">
                <a:solidFill>
                  <a:srgbClr val="0F5F3C"/>
                </a:solidFill>
                <a:latin typeface="Calibri"/>
              </a:rPr>
              <a:t>97% correct on 101 gold slides, &lt; 1 ms each</a:t>
            </a:r>
          </a:p>
        </p:txBody>
      </p:sp>
      <p:sp>
        <p:nvSpPr>
          <p:cNvPr id="17428" name="Rounded Rectangle 17427"/>
          <p:cNvSpPr/>
          <p:nvPr/>
        </p:nvSpPr>
        <p:spPr>
          <a:xfrm>
            <a:off x="274320" y="2779776"/>
            <a:ext cx="7223760" cy="411480"/>
          </a:xfrm>
          <a:prstGeom prst="roundRect">
            <a:avLst>
              <a:gd name="adj" fmla="val 10000"/>
            </a:avLst>
          </a:prstGeom>
          <a:solidFill>
            <a:srgbClr val="F7F8FB"/>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9" name="Oval 17428"/>
          <p:cNvSpPr/>
          <p:nvPr/>
        </p:nvSpPr>
        <p:spPr>
          <a:xfrm>
            <a:off x="347472" y="2834640"/>
            <a:ext cx="301752" cy="301752"/>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30" name="Picture 17429" descr="image.png"/>
          <p:cNvPicPr>
            <a:picLocks noChangeAspect="1"/>
          </p:cNvPicPr>
          <p:nvPr/>
        </p:nvPicPr>
        <p:blipFill>
          <a:blip r:embed="rId2"/>
          <a:stretch>
            <a:fillRect/>
          </a:stretch>
        </p:blipFill>
        <p:spPr>
          <a:xfrm>
            <a:off x="407822" y="2894990"/>
            <a:ext cx="181051" cy="181051"/>
          </a:xfrm>
          <a:prstGeom prst="rect">
            <a:avLst/>
          </a:prstGeom>
        </p:spPr>
      </p:pic>
      <p:sp>
        <p:nvSpPr>
          <p:cNvPr id="17431" name="TextBox 17430"/>
          <p:cNvSpPr txBox="1"/>
          <p:nvPr/>
        </p:nvSpPr>
        <p:spPr>
          <a:xfrm>
            <a:off x="731520" y="2779776"/>
            <a:ext cx="3291840" cy="411480"/>
          </a:xfrm>
          <a:prstGeom prst="rect">
            <a:avLst/>
          </a:prstGeom>
          <a:noFill/>
        </p:spPr>
        <p:txBody>
          <a:bodyPr wrap="square" anchor="ctr" lIns="27432" rIns="27432" tIns="9144" bIns="9144">
            <a:spAutoFit/>
          </a:bodyPr>
          <a:lstStyle/>
          <a:p>
            <a:r>
              <a:rPr sz="1080" b="1">
                <a:solidFill>
                  <a:srgbClr val="172131"/>
                </a:solidFill>
                <a:latin typeface="Calibri"/>
              </a:rPr>
              <a:t>Illustrate every topic slide</a:t>
            </a:r>
          </a:p>
        </p:txBody>
      </p:sp>
      <p:sp>
        <p:nvSpPr>
          <p:cNvPr id="17432" name="TextBox 17431"/>
          <p:cNvSpPr txBox="1"/>
          <p:nvPr/>
        </p:nvSpPr>
        <p:spPr>
          <a:xfrm>
            <a:off x="4069080" y="2779776"/>
            <a:ext cx="3383280" cy="411480"/>
          </a:xfrm>
          <a:prstGeom prst="rect">
            <a:avLst/>
          </a:prstGeom>
          <a:noFill/>
        </p:spPr>
        <p:txBody>
          <a:bodyPr wrap="square" anchor="ctr" lIns="27432" rIns="27432" tIns="9144" bIns="9144">
            <a:spAutoFit/>
          </a:bodyPr>
          <a:lstStyle/>
          <a:p>
            <a:r>
              <a:rPr sz="1050" b="0">
                <a:solidFill>
                  <a:srgbClr val="0F5F3C"/>
                </a:solidFill>
                <a:latin typeface="Calibri"/>
              </a:rPr>
              <a:t>251 visual slides, 190 linked illustrations</a:t>
            </a:r>
          </a:p>
        </p:txBody>
      </p:sp>
      <p:sp>
        <p:nvSpPr>
          <p:cNvPr id="17433" name="Rounded Rectangle 17432"/>
          <p:cNvSpPr/>
          <p:nvPr/>
        </p:nvSpPr>
        <p:spPr>
          <a:xfrm>
            <a:off x="274320" y="3236976"/>
            <a:ext cx="7223760" cy="411480"/>
          </a:xfrm>
          <a:prstGeom prst="roundRect">
            <a:avLst>
              <a:gd name="adj" fmla="val 10000"/>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4" name="Oval 17433"/>
          <p:cNvSpPr/>
          <p:nvPr/>
        </p:nvSpPr>
        <p:spPr>
          <a:xfrm>
            <a:off x="347472" y="3291840"/>
            <a:ext cx="301752" cy="301752"/>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35" name="Picture 17434" descr="image.png"/>
          <p:cNvPicPr>
            <a:picLocks noChangeAspect="1"/>
          </p:cNvPicPr>
          <p:nvPr/>
        </p:nvPicPr>
        <p:blipFill>
          <a:blip r:embed="rId2"/>
          <a:stretch>
            <a:fillRect/>
          </a:stretch>
        </p:blipFill>
        <p:spPr>
          <a:xfrm>
            <a:off x="407822" y="3352190"/>
            <a:ext cx="181051" cy="181051"/>
          </a:xfrm>
          <a:prstGeom prst="rect">
            <a:avLst/>
          </a:prstGeom>
        </p:spPr>
      </p:pic>
      <p:sp>
        <p:nvSpPr>
          <p:cNvPr id="17436" name="TextBox 17435"/>
          <p:cNvSpPr txBox="1"/>
          <p:nvPr/>
        </p:nvSpPr>
        <p:spPr>
          <a:xfrm>
            <a:off x="731520" y="3236976"/>
            <a:ext cx="3291840" cy="411480"/>
          </a:xfrm>
          <a:prstGeom prst="rect">
            <a:avLst/>
          </a:prstGeom>
          <a:noFill/>
        </p:spPr>
        <p:txBody>
          <a:bodyPr wrap="square" anchor="ctr" lIns="27432" rIns="27432" tIns="9144" bIns="9144">
            <a:spAutoFit/>
          </a:bodyPr>
          <a:lstStyle/>
          <a:p>
            <a:r>
              <a:rPr sz="1080" b="1">
                <a:solidFill>
                  <a:srgbClr val="172131"/>
                </a:solidFill>
                <a:latin typeface="Calibri"/>
              </a:rPr>
              <a:t>Explain solved problems step by step</a:t>
            </a:r>
          </a:p>
        </p:txBody>
      </p:sp>
      <p:sp>
        <p:nvSpPr>
          <p:cNvPr id="17437" name="TextBox 17436"/>
          <p:cNvSpPr txBox="1"/>
          <p:nvPr/>
        </p:nvSpPr>
        <p:spPr>
          <a:xfrm>
            <a:off x="4069080" y="3236976"/>
            <a:ext cx="3383280" cy="411480"/>
          </a:xfrm>
          <a:prstGeom prst="rect">
            <a:avLst/>
          </a:prstGeom>
          <a:noFill/>
        </p:spPr>
        <p:txBody>
          <a:bodyPr wrap="square" anchor="ctr" lIns="27432" rIns="27432" tIns="9144" bIns="9144">
            <a:spAutoFit/>
          </a:bodyPr>
          <a:lstStyle/>
          <a:p>
            <a:r>
              <a:rPr sz="1050" b="0">
                <a:solidFill>
                  <a:srgbClr val="0F5F3C"/>
                </a:solidFill>
                <a:latin typeface="Calibri"/>
              </a:rPr>
              <a:t>26 / 26 correct, 0 false alarms on 52 sentences</a:t>
            </a:r>
          </a:p>
        </p:txBody>
      </p:sp>
      <p:sp>
        <p:nvSpPr>
          <p:cNvPr id="17438" name="Rounded Rectangle 17437"/>
          <p:cNvSpPr/>
          <p:nvPr/>
        </p:nvSpPr>
        <p:spPr>
          <a:xfrm>
            <a:off x="274320" y="3694176"/>
            <a:ext cx="7223760" cy="411480"/>
          </a:xfrm>
          <a:prstGeom prst="roundRect">
            <a:avLst>
              <a:gd name="adj" fmla="val 10000"/>
            </a:avLst>
          </a:prstGeom>
          <a:solidFill>
            <a:srgbClr val="F7F8FB"/>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9" name="Oval 17438"/>
          <p:cNvSpPr/>
          <p:nvPr/>
        </p:nvSpPr>
        <p:spPr>
          <a:xfrm>
            <a:off x="347472" y="3749039"/>
            <a:ext cx="301752" cy="301752"/>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40" name="Picture 17439" descr="image.png"/>
          <p:cNvPicPr>
            <a:picLocks noChangeAspect="1"/>
          </p:cNvPicPr>
          <p:nvPr/>
        </p:nvPicPr>
        <p:blipFill>
          <a:blip r:embed="rId2"/>
          <a:stretch>
            <a:fillRect/>
          </a:stretch>
        </p:blipFill>
        <p:spPr>
          <a:xfrm>
            <a:off x="407822" y="3809390"/>
            <a:ext cx="181051" cy="181051"/>
          </a:xfrm>
          <a:prstGeom prst="rect">
            <a:avLst/>
          </a:prstGeom>
        </p:spPr>
      </p:pic>
      <p:sp>
        <p:nvSpPr>
          <p:cNvPr id="17441" name="TextBox 17440"/>
          <p:cNvSpPr txBox="1"/>
          <p:nvPr/>
        </p:nvSpPr>
        <p:spPr>
          <a:xfrm>
            <a:off x="731520" y="3694176"/>
            <a:ext cx="3291840" cy="411480"/>
          </a:xfrm>
          <a:prstGeom prst="rect">
            <a:avLst/>
          </a:prstGeom>
          <a:noFill/>
        </p:spPr>
        <p:txBody>
          <a:bodyPr wrap="square" anchor="ctr" lIns="27432" rIns="27432" tIns="9144" bIns="9144">
            <a:spAutoFit/>
          </a:bodyPr>
          <a:lstStyle/>
          <a:p>
            <a:r>
              <a:rPr sz="1080" b="1">
                <a:solidFill>
                  <a:srgbClr val="172131"/>
                </a:solidFill>
                <a:latin typeface="Calibri"/>
              </a:rPr>
              <a:t>No overflow, no broken words</a:t>
            </a:r>
          </a:p>
        </p:txBody>
      </p:sp>
      <p:sp>
        <p:nvSpPr>
          <p:cNvPr id="17442" name="TextBox 17441"/>
          <p:cNvSpPr txBox="1"/>
          <p:nvPr/>
        </p:nvSpPr>
        <p:spPr>
          <a:xfrm>
            <a:off x="4069080" y="3694176"/>
            <a:ext cx="3383280" cy="411480"/>
          </a:xfrm>
          <a:prstGeom prst="rect">
            <a:avLst/>
          </a:prstGeom>
          <a:noFill/>
        </p:spPr>
        <p:txBody>
          <a:bodyPr wrap="square" anchor="ctr" lIns="27432" rIns="27432" tIns="9144" bIns="9144">
            <a:spAutoFit/>
          </a:bodyPr>
          <a:lstStyle/>
          <a:p>
            <a:r>
              <a:rPr sz="1050" b="0">
                <a:solidFill>
                  <a:srgbClr val="0F5F3C"/>
                </a:solidFill>
                <a:latin typeface="Calibri"/>
              </a:rPr>
              <a:t>0 on every rebuilt deck</a:t>
            </a:r>
          </a:p>
        </p:txBody>
      </p:sp>
      <p:sp>
        <p:nvSpPr>
          <p:cNvPr id="17443" name="Rounded Rectangle 17442"/>
          <p:cNvSpPr/>
          <p:nvPr/>
        </p:nvSpPr>
        <p:spPr>
          <a:xfrm>
            <a:off x="274320" y="4151376"/>
            <a:ext cx="7223760" cy="411480"/>
          </a:xfrm>
          <a:prstGeom prst="roundRect">
            <a:avLst>
              <a:gd name="adj" fmla="val 10000"/>
            </a:avLst>
          </a:prstGeom>
          <a:solidFill>
            <a:srgbClr val="FFFFFF"/>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4" name="Oval 17443"/>
          <p:cNvSpPr/>
          <p:nvPr/>
        </p:nvSpPr>
        <p:spPr>
          <a:xfrm>
            <a:off x="347472" y="4206240"/>
            <a:ext cx="301752" cy="301752"/>
          </a:xfrm>
          <a:prstGeom prst="ellipse">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45" name="Picture 17444" descr="image.png"/>
          <p:cNvPicPr>
            <a:picLocks noChangeAspect="1"/>
          </p:cNvPicPr>
          <p:nvPr/>
        </p:nvPicPr>
        <p:blipFill>
          <a:blip r:embed="rId2"/>
          <a:stretch>
            <a:fillRect/>
          </a:stretch>
        </p:blipFill>
        <p:spPr>
          <a:xfrm>
            <a:off x="407822" y="4266590"/>
            <a:ext cx="181051" cy="181051"/>
          </a:xfrm>
          <a:prstGeom prst="rect">
            <a:avLst/>
          </a:prstGeom>
        </p:spPr>
      </p:pic>
      <p:sp>
        <p:nvSpPr>
          <p:cNvPr id="17446" name="TextBox 17445"/>
          <p:cNvSpPr txBox="1"/>
          <p:nvPr/>
        </p:nvSpPr>
        <p:spPr>
          <a:xfrm>
            <a:off x="731520" y="4151376"/>
            <a:ext cx="3291840" cy="411480"/>
          </a:xfrm>
          <a:prstGeom prst="rect">
            <a:avLst/>
          </a:prstGeom>
          <a:noFill/>
        </p:spPr>
        <p:txBody>
          <a:bodyPr wrap="square" anchor="ctr" lIns="27432" rIns="27432" tIns="9144" bIns="9144">
            <a:spAutoFit/>
          </a:bodyPr>
          <a:lstStyle/>
          <a:p>
            <a:r>
              <a:rPr sz="1080" b="1">
                <a:solidFill>
                  <a:srgbClr val="172131"/>
                </a:solidFill>
                <a:latin typeface="Calibri"/>
              </a:rPr>
              <a:t>Work on any uploaded file</a:t>
            </a:r>
          </a:p>
        </p:txBody>
      </p:sp>
      <p:sp>
        <p:nvSpPr>
          <p:cNvPr id="17447" name="TextBox 17446"/>
          <p:cNvSpPr txBox="1"/>
          <p:nvPr/>
        </p:nvSpPr>
        <p:spPr>
          <a:xfrm>
            <a:off x="4069080" y="4151376"/>
            <a:ext cx="3383280" cy="411480"/>
          </a:xfrm>
          <a:prstGeom prst="rect">
            <a:avLst/>
          </a:prstGeom>
          <a:noFill/>
        </p:spPr>
        <p:txBody>
          <a:bodyPr wrap="square" anchor="ctr" lIns="27432" rIns="27432" tIns="9144" bIns="9144">
            <a:spAutoFit/>
          </a:bodyPr>
          <a:lstStyle/>
          <a:p>
            <a:r>
              <a:rPr sz="1050" b="0">
                <a:solidFill>
                  <a:srgbClr val="0F5F3C"/>
                </a:solidFill>
                <a:latin typeface="Calibri"/>
              </a:rPr>
              <a:t>9 / 9 unseen files built; 2.3% slides flagged</a:t>
            </a:r>
          </a:p>
        </p:txBody>
      </p:sp>
      <p:sp>
        <p:nvSpPr>
          <p:cNvPr id="17448" name="Rounded Rectangle 17447"/>
          <p:cNvSpPr/>
          <p:nvPr/>
        </p:nvSpPr>
        <p:spPr>
          <a:xfrm>
            <a:off x="274320" y="4608576"/>
            <a:ext cx="7223760" cy="411480"/>
          </a:xfrm>
          <a:prstGeom prst="roundRect">
            <a:avLst>
              <a:gd name="adj" fmla="val 10000"/>
            </a:avLst>
          </a:prstGeom>
          <a:solidFill>
            <a:srgbClr val="F7F8FB"/>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9" name="Oval 17448"/>
          <p:cNvSpPr/>
          <p:nvPr/>
        </p:nvSpPr>
        <p:spPr>
          <a:xfrm>
            <a:off x="347472" y="4663440"/>
            <a:ext cx="301752" cy="301752"/>
          </a:xfrm>
          <a:prstGeom prst="ellipse">
            <a:avLst/>
          </a:prstGeom>
          <a:solidFill>
            <a:srgbClr val="F2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50" name="Picture 17449" descr="image.png"/>
          <p:cNvPicPr>
            <a:picLocks noChangeAspect="1"/>
          </p:cNvPicPr>
          <p:nvPr/>
        </p:nvPicPr>
        <p:blipFill>
          <a:blip r:embed="rId3"/>
          <a:stretch>
            <a:fillRect/>
          </a:stretch>
        </p:blipFill>
        <p:spPr>
          <a:xfrm>
            <a:off x="407822" y="4723790"/>
            <a:ext cx="181051" cy="181051"/>
          </a:xfrm>
          <a:prstGeom prst="rect">
            <a:avLst/>
          </a:prstGeom>
        </p:spPr>
      </p:pic>
      <p:sp>
        <p:nvSpPr>
          <p:cNvPr id="17451" name="TextBox 17450"/>
          <p:cNvSpPr txBox="1"/>
          <p:nvPr/>
        </p:nvSpPr>
        <p:spPr>
          <a:xfrm>
            <a:off x="731520" y="4608576"/>
            <a:ext cx="3291840" cy="411480"/>
          </a:xfrm>
          <a:prstGeom prst="rect">
            <a:avLst/>
          </a:prstGeom>
          <a:noFill/>
        </p:spPr>
        <p:txBody>
          <a:bodyPr wrap="square" anchor="ctr" lIns="27432" rIns="27432" tIns="9144" bIns="9144">
            <a:spAutoFit/>
          </a:bodyPr>
          <a:lstStyle/>
          <a:p>
            <a:r>
              <a:rPr sz="1080" b="1">
                <a:solidFill>
                  <a:srgbClr val="172131"/>
                </a:solidFill>
                <a:latin typeface="Calibri"/>
              </a:rPr>
              <a:t>Lower cognitive load on every deck</a:t>
            </a:r>
          </a:p>
        </p:txBody>
      </p:sp>
      <p:sp>
        <p:nvSpPr>
          <p:cNvPr id="17452" name="TextBox 17451"/>
          <p:cNvSpPr txBox="1"/>
          <p:nvPr/>
        </p:nvSpPr>
        <p:spPr>
          <a:xfrm>
            <a:off x="4069080" y="4608576"/>
            <a:ext cx="3383280" cy="411480"/>
          </a:xfrm>
          <a:prstGeom prst="rect">
            <a:avLst/>
          </a:prstGeom>
          <a:noFill/>
        </p:spPr>
        <p:txBody>
          <a:bodyPr wrap="square" anchor="ctr" lIns="27432" rIns="27432" tIns="9144" bIns="9144">
            <a:spAutoFit/>
          </a:bodyPr>
          <a:lstStyle/>
          <a:p>
            <a:r>
              <a:rPr sz="1050" b="0">
                <a:solidFill>
                  <a:srgbClr val="F27A2E"/>
                </a:solidFill>
                <a:latin typeface="Calibri"/>
              </a:rPr>
              <a:t>better on long PDFs, mixed on short decks</a:t>
            </a:r>
          </a:p>
        </p:txBody>
      </p:sp>
      <p:sp>
        <p:nvSpPr>
          <p:cNvPr id="17453" name="Rounded Rectangle 17452"/>
          <p:cNvSpPr/>
          <p:nvPr/>
        </p:nvSpPr>
        <p:spPr>
          <a:xfrm>
            <a:off x="7635240" y="1005840"/>
            <a:ext cx="4279392" cy="329184"/>
          </a:xfrm>
          <a:prstGeom prst="roundRect">
            <a:avLst>
              <a:gd name="adj" fmla="val 25000"/>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4" name="TextBox 17453"/>
          <p:cNvSpPr txBox="1"/>
          <p:nvPr/>
        </p:nvSpPr>
        <p:spPr>
          <a:xfrm>
            <a:off x="7635240" y="1005840"/>
            <a:ext cx="4279392" cy="329184"/>
          </a:xfrm>
          <a:prstGeom prst="rect">
            <a:avLst/>
          </a:prstGeom>
          <a:noFill/>
        </p:spPr>
        <p:txBody>
          <a:bodyPr wrap="square" anchor="ctr" lIns="27432" rIns="27432" tIns="9144" bIns="9144">
            <a:spAutoFit/>
          </a:bodyPr>
          <a:lstStyle/>
          <a:p>
            <a:pPr algn="ctr"/>
            <a:r>
              <a:rPr sz="1300" b="1">
                <a:solidFill>
                  <a:srgbClr val="FFFFFF"/>
                </a:solidFill>
                <a:latin typeface="Calibri"/>
              </a:rPr>
              <a:t>Key conclusions</a:t>
            </a:r>
          </a:p>
        </p:txBody>
      </p:sp>
      <p:sp>
        <p:nvSpPr>
          <p:cNvPr id="17455" name="TextBox 17454"/>
          <p:cNvSpPr txBox="1"/>
          <p:nvPr/>
        </p:nvSpPr>
        <p:spPr>
          <a:xfrm>
            <a:off x="7662672" y="1389888"/>
            <a:ext cx="4224528" cy="2743200"/>
          </a:xfrm>
          <a:prstGeom prst="rect">
            <a:avLst/>
          </a:prstGeom>
          <a:noFill/>
        </p:spPr>
        <p:txBody>
          <a:bodyPr wrap="square" lIns="36576" rIns="36576" tIns="18288" bIns="18288">
            <a:spAutoFit/>
          </a:bodyPr>
          <a:lstStyle/>
          <a:p>
            <a:pPr>
              <a:spcAft>
                <a:spcPts val="200"/>
              </a:spcAft>
            </a:pPr>
            <a:r>
              <a:rPr sz="1130" b="1">
                <a:solidFill>
                  <a:srgbClr val="16845B"/>
                </a:solidFill>
                <a:latin typeface="Calibri"/>
              </a:rPr>
              <a:t>● </a:t>
            </a:r>
            <a:r>
              <a:rPr sz="1130" b="1">
                <a:solidFill>
                  <a:srgbClr val="172131"/>
                </a:solidFill>
                <a:latin typeface="Calibri"/>
              </a:rPr>
              <a:t>Redesign beats regeneration: </a:t>
            </a:r>
            <a:r>
              <a:rPr sz="1130" b="0">
                <a:solidFill>
                  <a:srgbClr val="172131"/>
                </a:solidFill>
                <a:latin typeface="Calibri"/>
              </a:rPr>
              <a:t>starting from the teacher's deck keeps it trusted and correct.</a:t>
            </a:r>
          </a:p>
          <a:p>
            <a:pPr>
              <a:spcAft>
                <a:spcPts val="200"/>
              </a:spcAft>
            </a:pPr>
            <a:r>
              <a:rPr sz="1130" b="1">
                <a:solidFill>
                  <a:srgbClr val="16845B"/>
                </a:solidFill>
                <a:latin typeface="Calibri"/>
              </a:rPr>
              <a:t>● </a:t>
            </a:r>
            <a:r>
              <a:rPr sz="1130" b="1">
                <a:solidFill>
                  <a:srgbClr val="172131"/>
                </a:solidFill>
                <a:latin typeface="Calibri"/>
              </a:rPr>
              <a:t>Rules + checked AI work together: </a:t>
            </a:r>
            <a:r>
              <a:rPr sz="1130" b="0">
                <a:solidFill>
                  <a:srgbClr val="172131"/>
                </a:solidFill>
                <a:latin typeface="Calibri"/>
              </a:rPr>
              <a:t>rules give speed and reasons; AI adds titles, diagrams and labs only after a check.</a:t>
            </a:r>
          </a:p>
          <a:p>
            <a:pPr>
              <a:spcAft>
                <a:spcPts val="200"/>
              </a:spcAft>
            </a:pPr>
            <a:r>
              <a:rPr sz="1130" b="1">
                <a:solidFill>
                  <a:srgbClr val="16845B"/>
                </a:solidFill>
                <a:latin typeface="Calibri"/>
              </a:rPr>
              <a:t>● </a:t>
            </a:r>
            <a:r>
              <a:rPr sz="1130" b="1">
                <a:solidFill>
                  <a:srgbClr val="172131"/>
                </a:solidFill>
                <a:latin typeface="Calibri"/>
              </a:rPr>
              <a:t>Exact maths matters: </a:t>
            </a:r>
            <a:r>
              <a:rPr sz="1130" b="0">
                <a:solidFill>
                  <a:srgbClr val="172131"/>
                </a:solidFill>
                <a:latin typeface="Calibri"/>
              </a:rPr>
              <a:t>SymPy solvers were right even where our own hand answers were wrong.</a:t>
            </a:r>
          </a:p>
          <a:p>
            <a:pPr>
              <a:spcAft>
                <a:spcPts val="200"/>
              </a:spcAft>
            </a:pPr>
            <a:r>
              <a:rPr sz="1130" b="1">
                <a:solidFill>
                  <a:srgbClr val="16845B"/>
                </a:solidFill>
                <a:latin typeface="Calibri"/>
              </a:rPr>
              <a:t>● </a:t>
            </a:r>
            <a:r>
              <a:rPr sz="1130" b="1">
                <a:solidFill>
                  <a:srgbClr val="172131"/>
                </a:solidFill>
                <a:latin typeface="Calibri"/>
              </a:rPr>
              <a:t>Measure honestly: </a:t>
            </a:r>
            <a:r>
              <a:rPr sz="1130" b="0">
                <a:solidFill>
                  <a:srgbClr val="172131"/>
                </a:solidFill>
                <a:latin typeface="Calibri"/>
              </a:rPr>
              <a:t>PSF showed where rebuilt slides were longer, and we report it.</a:t>
            </a:r>
          </a:p>
          <a:p>
            <a:pPr>
              <a:spcAft>
                <a:spcPts val="200"/>
              </a:spcAft>
            </a:pPr>
            <a:r>
              <a:rPr sz="1130" b="1">
                <a:solidFill>
                  <a:srgbClr val="16845B"/>
                </a:solidFill>
                <a:latin typeface="Calibri"/>
              </a:rPr>
              <a:t>● </a:t>
            </a:r>
            <a:r>
              <a:rPr sz="1130" b="1">
                <a:solidFill>
                  <a:srgbClr val="172131"/>
                </a:solidFill>
                <a:latin typeface="Calibri"/>
              </a:rPr>
              <a:t>Built for real classrooms: </a:t>
            </a:r>
            <a:r>
              <a:rPr sz="1130" b="0">
                <a:solidFill>
                  <a:srgbClr val="172131"/>
                </a:solidFill>
                <a:latin typeface="Calibri"/>
              </a:rPr>
              <a:t>free, offline, editable, and fast enough to use before a lecture.</a:t>
            </a:r>
          </a:p>
          <a:p>
            <a:pPr>
              <a:spcAft>
                <a:spcPts val="200"/>
              </a:spcAft>
            </a:pPr>
            <a:r>
              <a:rPr sz="1130" b="1">
                <a:solidFill>
                  <a:srgbClr val="16845B"/>
                </a:solidFill>
                <a:latin typeface="Calibri"/>
              </a:rPr>
              <a:t>● </a:t>
            </a:r>
            <a:r>
              <a:rPr sz="1130" b="1">
                <a:solidFill>
                  <a:srgbClr val="172131"/>
                </a:solidFill>
                <a:latin typeface="Calibri"/>
              </a:rPr>
              <a:t>Checks catch real bugs: </a:t>
            </a:r>
            <a:r>
              <a:rPr sz="1130" b="0">
                <a:solidFill>
                  <a:srgbClr val="172131"/>
                </a:solidFill>
                <a:latin typeface="Calibri"/>
              </a:rPr>
              <a:t>our own tests found and fixed a lab-gate and a key-pool fault.</a:t>
            </a:r>
          </a:p>
          <a:p>
            <a:pPr>
              <a:spcAft>
                <a:spcPts val="200"/>
              </a:spcAft>
            </a:pPr>
            <a:r>
              <a:rPr sz="1130" b="1">
                <a:solidFill>
                  <a:srgbClr val="16845B"/>
                </a:solidFill>
                <a:latin typeface="Calibri"/>
              </a:rPr>
              <a:t>● </a:t>
            </a:r>
            <a:r>
              <a:rPr sz="1130" b="1">
                <a:solidFill>
                  <a:srgbClr val="172131"/>
                </a:solidFill>
                <a:latin typeface="Calibri"/>
              </a:rPr>
              <a:t>Explainability builds trust: </a:t>
            </a:r>
            <a:r>
              <a:rPr sz="1130" b="0">
                <a:solidFill>
                  <a:srgbClr val="172131"/>
                </a:solidFill>
                <a:latin typeface="Calibri"/>
              </a:rPr>
              <a:t>teachers accept a visual faster when they can see why it was chosen.</a:t>
            </a:r>
          </a:p>
        </p:txBody>
      </p:sp>
      <p:sp>
        <p:nvSpPr>
          <p:cNvPr id="17456" name="Rounded Rectangle 17455"/>
          <p:cNvSpPr/>
          <p:nvPr/>
        </p:nvSpPr>
        <p:spPr>
          <a:xfrm>
            <a:off x="7635240" y="4206240"/>
            <a:ext cx="4279392" cy="2066543"/>
          </a:xfrm>
          <a:prstGeom prst="roundRect">
            <a:avLst>
              <a:gd name="adj" fmla="val 5000"/>
            </a:avLst>
          </a:prstGeom>
          <a:solidFill>
            <a:srgbClr val="172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7" name="TextBox 17456"/>
          <p:cNvSpPr txBox="1"/>
          <p:nvPr/>
        </p:nvSpPr>
        <p:spPr>
          <a:xfrm>
            <a:off x="7772400" y="4261104"/>
            <a:ext cx="4023360" cy="1965960"/>
          </a:xfrm>
          <a:prstGeom prst="rect">
            <a:avLst/>
          </a:prstGeom>
          <a:noFill/>
        </p:spPr>
        <p:txBody>
          <a:bodyPr wrap="square" anchor="t" lIns="27432" rIns="27432" tIns="9144" bIns="9144">
            <a:spAutoFit/>
          </a:bodyPr>
          <a:lstStyle/>
          <a:p>
            <a:r>
              <a:rPr sz="1250" b="1">
                <a:solidFill>
                  <a:srgbClr val="F27A2E"/>
                </a:solidFill>
                <a:latin typeface="Calibri"/>
              </a:rPr>
              <a:t>Future scope</a:t>
            </a:r>
          </a:p>
          <a:p>
            <a:r>
              <a:rPr sz="1200" b="0">
                <a:solidFill>
                  <a:srgbClr val="FFFFFF"/>
                </a:solidFill>
                <a:latin typeface="Calibri"/>
              </a:rPr>
              <a:t>•  Classroom study with our own students next semester</a:t>
            </a:r>
          </a:p>
          <a:p>
            <a:r>
              <a:rPr sz="1200" b="0">
                <a:solidFill>
                  <a:srgbClr val="FFFFFF"/>
                </a:solidFill>
                <a:latin typeface="Calibri"/>
              </a:rPr>
              <a:t>•  Hindi and Marathi decks; voice narration</a:t>
            </a:r>
          </a:p>
          <a:p>
            <a:r>
              <a:rPr sz="1200" b="0">
                <a:solidFill>
                  <a:srgbClr val="FFFFFF"/>
                </a:solidFill>
                <a:latin typeface="Calibri"/>
              </a:rPr>
              <a:t>•  LMS export (Moodle, Google Classroom)</a:t>
            </a:r>
          </a:p>
          <a:p>
            <a:r>
              <a:rPr sz="1200" b="0">
                <a:solidFill>
                  <a:srgbClr val="FFFFFF"/>
                </a:solidFill>
                <a:latin typeface="Calibri"/>
              </a:rPr>
              <a:t>•  Calibrate PSF weights with student ratings</a:t>
            </a:r>
          </a:p>
          <a:p>
            <a:r>
              <a:rPr sz="1200" b="0">
                <a:solidFill>
                  <a:srgbClr val="FFFFFF"/>
                </a:solidFill>
                <a:latin typeface="Calibri"/>
              </a:rPr>
              <a:t>•  Department server and shared lab library</a:t>
            </a:r>
          </a:p>
          <a:p>
            <a:r>
              <a:rPr sz="1200" b="0">
                <a:solidFill>
                  <a:srgbClr val="FFFFFF"/>
                </a:solidFill>
                <a:latin typeface="Calibri"/>
              </a:rPr>
              <a:t>•  Handwritten-slide OCR and more solver types</a:t>
            </a:r>
          </a:p>
          <a:p>
            <a:r>
              <a:rPr sz="1050" b="1">
                <a:solidFill>
                  <a:srgbClr val="9FD8B8"/>
                </a:solidFill>
                <a:latin typeface="Calibri"/>
              </a:rPr>
              <a:t>Outputs: 2 research papers · IPD report · open-source code</a:t>
            </a:r>
          </a:p>
        </p:txBody>
      </p:sp>
      <p:sp>
        <p:nvSpPr>
          <p:cNvPr id="17458" name="Rounded Rectangle 17457"/>
          <p:cNvSpPr/>
          <p:nvPr/>
        </p:nvSpPr>
        <p:spPr>
          <a:xfrm>
            <a:off x="274320" y="5120640"/>
            <a:ext cx="7223760" cy="1152144"/>
          </a:xfrm>
          <a:prstGeom prst="roundRect">
            <a:avLst>
              <a:gd name="adj" fmla="val 6000"/>
            </a:avLst>
          </a:prstGeom>
          <a:solidFill>
            <a:srgbClr val="EAF1FB"/>
          </a:solidFill>
          <a:ln w="9525">
            <a:solidFill>
              <a:srgbClr val="1F5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9" name="TextBox 17458"/>
          <p:cNvSpPr txBox="1"/>
          <p:nvPr/>
        </p:nvSpPr>
        <p:spPr>
          <a:xfrm>
            <a:off x="411480" y="5157216"/>
            <a:ext cx="6949440" cy="1097280"/>
          </a:xfrm>
          <a:prstGeom prst="rect">
            <a:avLst/>
          </a:prstGeom>
          <a:noFill/>
        </p:spPr>
        <p:txBody>
          <a:bodyPr wrap="square" anchor="t" lIns="27432" rIns="27432" tIns="9144" bIns="9144">
            <a:spAutoFit/>
          </a:bodyPr>
          <a:lstStyle/>
          <a:p>
            <a:r>
              <a:rPr sz="1200" b="1">
                <a:solidFill>
                  <a:srgbClr val="1F5FBF"/>
                </a:solidFill>
                <a:latin typeface="Calibri"/>
              </a:rPr>
              <a:t>In one line</a:t>
            </a:r>
          </a:p>
          <a:p>
            <a:r>
              <a:rPr sz="1300" b="0">
                <a:solidFill>
                  <a:srgbClr val="172131"/>
                </a:solidFill>
                <a:latin typeface="Calibri"/>
              </a:rPr>
              <a:t>Learnova turns the decks teachers already have into faithful, visual and interactive lessons in about a minute, explains every design choice it makes, and uses AI only where its output can be checked.</a:t>
            </a:r>
          </a:p>
          <a:p>
            <a:r>
              <a:rPr sz="1200" b="1">
                <a:solidFill>
                  <a:srgbClr val="16845B"/>
                </a:solidFill>
                <a:latin typeface="Calibri"/>
              </a:rPr>
              <a:t>Status: working prototype, tested on 7 real decks, ready for a department pilot.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2738C0BA-5070-93C5-414C-1B9E7624DEA6}"/>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a:solidFill>
                <a:schemeClr val="accent2">
                  <a:lumMod val="75000"/>
                </a:schemeClr>
              </a:solidFill>
              <a:latin typeface="+mn-lt"/>
              <a:ea typeface="+mn-ea"/>
            </a:endParaRPr>
          </a:p>
        </p:txBody>
      </p:sp>
      <p:sp>
        <p:nvSpPr>
          <p:cNvPr id="17409" name="Title 1">
            <a:extLst>
              <a:ext uri="{FF2B5EF4-FFF2-40B4-BE49-F238E27FC236}">
                <a16:creationId xmlns:a16="http://schemas.microsoft.com/office/drawing/2014/main" id="{279AAA37-CB74-B25D-64AE-53B3F8C63496}"/>
              </a:ext>
            </a:extLst>
          </p:cNvPr>
          <p:cNvSpPr>
            <a:spLocks noGrp="1"/>
          </p:cNvSpPr>
          <p:nvPr>
            <p:ph type="title"/>
          </p:nvPr>
        </p:nvSpPr>
        <p:spPr>
          <a:xfrm>
            <a:off x="609600" y="-182662"/>
            <a:ext cx="10972800" cy="843988"/>
          </a:xfrm>
        </p:spPr>
        <p:txBody>
          <a:bodyPr/>
          <a:lstStyle/>
          <a:p>
            <a:pPr eaLnBrk="1" hangingPunct="1"/>
            <a:r>
              <a:rPr lang="en-US" sz="3600" b="1">
                <a:latin typeface="Times New Roman" panose="02020603050405020304" pitchFamily="18" charset="0"/>
                <a:ea typeface="ＭＳ Ｐゴシック" pitchFamily="1" charset="-128"/>
                <a:cs typeface="Times New Roman" panose="02020603050405020304" pitchFamily="18" charset="0"/>
              </a:rPr>
              <a:t>THANK YOU</a:t>
            </a:r>
          </a:p>
        </p:txBody>
      </p:sp>
      <p:sp>
        <p:nvSpPr>
          <p:cNvPr id="6" name="Slide Number Placeholder 5">
            <a:extLst>
              <a:ext uri="{FF2B5EF4-FFF2-40B4-BE49-F238E27FC236}">
                <a16:creationId xmlns:a16="http://schemas.microsoft.com/office/drawing/2014/main" id="{43DA03A7-2539-4A2D-F71A-F5F37F5DABF5}"/>
              </a:ext>
            </a:extLst>
          </p:cNvPr>
          <p:cNvSpPr>
            <a:spLocks noGrp="1"/>
          </p:cNvSpPr>
          <p:nvPr>
            <p:ph type="sldNum" sz="quarter" idx="12"/>
          </p:nvPr>
        </p:nvSpPr>
        <p:spPr/>
        <p:txBody>
          <a:bodyPr/>
          <a:lstStyle/>
          <a:p>
            <a:fld id="{677C3CE7-23F7-4828-823C-E0205DF2CF97}" type="slidenum">
              <a:rPr lang="en-US" b="1">
                <a:solidFill>
                  <a:schemeClr val="bg1"/>
                </a:solidFill>
              </a:rPr>
              <a:pPr/>
              <a:t>10</a:t>
            </a:fld>
            <a:endParaRPr lang="en-US" b="1">
              <a:solidFill>
                <a:schemeClr val="bg1"/>
              </a:solidFill>
            </a:endParaRPr>
          </a:p>
        </p:txBody>
      </p:sp>
      <p:sp>
        <p:nvSpPr>
          <p:cNvPr id="7" name="Footer Placeholder 6">
            <a:extLst>
              <a:ext uri="{FF2B5EF4-FFF2-40B4-BE49-F238E27FC236}">
                <a16:creationId xmlns:a16="http://schemas.microsoft.com/office/drawing/2014/main" id="{292AC042-6453-70B0-5DB4-7181492D3A65}"/>
              </a:ext>
            </a:extLst>
          </p:cNvPr>
          <p:cNvSpPr>
            <a:spLocks noGrp="1"/>
          </p:cNvSpPr>
          <p:nvPr>
            <p:ph type="ftr" sz="quarter" idx="11"/>
          </p:nvPr>
        </p:nvSpPr>
        <p:spPr>
          <a:xfrm>
            <a:off x="4648200" y="6356353"/>
            <a:ext cx="3204000" cy="365125"/>
          </a:xfrm>
        </p:spPr>
        <p:txBody>
          <a:bodyPr/>
          <a:lstStyle/>
          <a:p>
            <a:pPr>
              <a:defRPr/>
            </a:pPr>
            <a:r>
              <a:rPr lang="en-US">
                <a:solidFill>
                  <a:schemeClr val="bg1"/>
                </a:solidFill>
              </a:rPr>
              <a:t>IPD Review · Learnova · AI&amp;DS DJSCE</a:t>
            </a:r>
          </a:p>
        </p:txBody>
      </p:sp>
      <p:sp>
        <p:nvSpPr>
          <p:cNvPr id="11" name="Oval 10" descr="Your startup LOGO">
            <a:extLst>
              <a:ext uri="{FF2B5EF4-FFF2-40B4-BE49-F238E27FC236}">
                <a16:creationId xmlns:a16="http://schemas.microsoft.com/office/drawing/2014/main" id="{50E2A979-97FD-F669-DD46-B7D2FBB1E868}"/>
              </a:ext>
              <a:ext uri="{C183D7F6-B498-43B3-948B-1728B52AA6E4}">
                <adec:decorative xmlns:adec="http://schemas.microsoft.com/office/drawing/2017/decorative" val="0"/>
              </a:ext>
            </a:extLst>
          </p:cNvPr>
          <p:cNvSpPr/>
          <p:nvPr/>
        </p:nvSpPr>
        <p:spPr>
          <a:xfrm>
            <a:off x="274320" y="196924"/>
            <a:ext cx="1902611" cy="322631"/>
          </a:xfrm>
          <a:prstGeom prst="ellipse">
            <a:avLst/>
          </a:prstGeom>
        </p:spPr>
        <p:style>
          <a:lnRef idx="2">
            <a:schemeClr val="accent4"/>
          </a:lnRef>
          <a:fillRef idx="1">
            <a:schemeClr val="lt1"/>
          </a:fillRef>
          <a:effectRef idx="0">
            <a:schemeClr val="accent4"/>
          </a:effectRef>
          <a:fontRef idx="minor">
            <a:schemeClr val="dk1"/>
          </a:fontRef>
        </p:style>
        <p:txBody>
          <a:bodyPr lIns="91440" tIns="45720" rIns="91440" bIns="45720" rtlCol="0" anchor="ctr"/>
          <a:lstStyle/>
          <a:p>
            <a:pPr algn="ctr"/>
            <a:r>
              <a:rPr dirty="0"/>
              <a:t>Learnova</a:t>
            </a:r>
            <a:endParaRPr lang="en-US" dirty="0">
              <a:ea typeface="Calibri"/>
              <a:cs typeface="Calibri"/>
            </a:endParaRPr>
          </a:p>
        </p:txBody>
      </p:sp>
      <p:sp>
        <p:nvSpPr>
          <p:cNvPr id="17410" name="Rounded Rectangle 17409"/>
          <p:cNvSpPr/>
          <p:nvPr/>
        </p:nvSpPr>
        <p:spPr>
          <a:xfrm>
            <a:off x="274320" y="914400"/>
            <a:ext cx="5577840" cy="5349240"/>
          </a:xfrm>
          <a:prstGeom prst="roundRect">
            <a:avLst>
              <a:gd name="adj" fmla="val 4000"/>
            </a:avLst>
          </a:prstGeom>
          <a:solidFill>
            <a:srgbClr val="172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1" name="Rectangle 17410"/>
          <p:cNvSpPr/>
          <p:nvPr/>
        </p:nvSpPr>
        <p:spPr>
          <a:xfrm>
            <a:off x="274320" y="914400"/>
            <a:ext cx="109728" cy="5349240"/>
          </a:xfrm>
          <a:prstGeom prst="rect">
            <a:avLst/>
          </a:prstGeom>
          <a:solidFill>
            <a:srgbClr val="F2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TextBox 17411"/>
          <p:cNvSpPr txBox="1"/>
          <p:nvPr/>
        </p:nvSpPr>
        <p:spPr>
          <a:xfrm>
            <a:off x="594360" y="1024128"/>
            <a:ext cx="5120640" cy="5212080"/>
          </a:xfrm>
          <a:prstGeom prst="rect">
            <a:avLst/>
          </a:prstGeom>
          <a:noFill/>
        </p:spPr>
        <p:txBody>
          <a:bodyPr wrap="square" anchor="t" lIns="27432" rIns="27432" tIns="9144" bIns="9144">
            <a:spAutoFit/>
          </a:bodyPr>
          <a:lstStyle/>
          <a:p>
            <a:r>
              <a:rPr sz="4400" b="1">
                <a:solidFill>
                  <a:srgbClr val="FFFFFF"/>
                </a:solidFill>
                <a:latin typeface="Calibri"/>
              </a:rPr>
              <a:t>LEARNOVA</a:t>
            </a:r>
          </a:p>
          <a:p>
            <a:r>
              <a:rPr sz="2000" b="0">
                <a:solidFill>
                  <a:srgbClr val="F2A26E"/>
                </a:solidFill>
                <a:latin typeface="Calibri"/>
              </a:rPr>
              <a:t>Old decks.  New learning.</a:t>
            </a:r>
          </a:p>
          <a:p>
            <a:r>
              <a:rPr sz="800" b="0">
                <a:solidFill>
                  <a:srgbClr val="FFFFFF"/>
                </a:solidFill>
                <a:latin typeface="Calibri"/>
              </a:rPr>
              <a:t/>
            </a:r>
          </a:p>
          <a:p>
            <a:r>
              <a:rPr sz="1400" b="0">
                <a:solidFill>
                  <a:srgbClr val="D6DEEA"/>
                </a:solidFill>
                <a:latin typeface="Calibri"/>
              </a:rPr>
              <a:t>A faithful, explainable and interactive redesign of the lecture decks teachers already have — every point kept, every slide illustrated, every AI output checked.</a:t>
            </a:r>
          </a:p>
          <a:p>
            <a:r>
              <a:rPr sz="800" b="0">
                <a:solidFill>
                  <a:srgbClr val="FFFFFF"/>
                </a:solidFill>
                <a:latin typeface="Calibri"/>
              </a:rPr>
              <a:t/>
            </a:r>
          </a:p>
          <a:p>
            <a:r>
              <a:rPr sz="1400" b="1">
                <a:solidFill>
                  <a:srgbClr val="F27A2E"/>
                </a:solidFill>
                <a:latin typeface="Calibri"/>
              </a:rPr>
              <a:t>Team</a:t>
            </a:r>
          </a:p>
          <a:p>
            <a:r>
              <a:rPr sz="1350" b="0">
                <a:solidFill>
                  <a:srgbClr val="FFFFFF"/>
                </a:solidFill>
                <a:latin typeface="Calibri"/>
              </a:rPr>
              <a:t>Swayam Devendra Panchal  ·  Kawaljeet Singh Bharaj</a:t>
            </a:r>
          </a:p>
          <a:p>
            <a:r>
              <a:rPr sz="1350" b="0">
                <a:solidFill>
                  <a:srgbClr val="FFFFFF"/>
                </a:solidFill>
                <a:latin typeface="Calibri"/>
              </a:rPr>
              <a:t>Jeevesh Bharat Bodhani  ·  Rishit Pankajkumar Lahoti</a:t>
            </a:r>
          </a:p>
          <a:p>
            <a:r>
              <a:rPr sz="600" b="0">
                <a:solidFill>
                  <a:srgbClr val="FFFFFF"/>
                </a:solidFill>
                <a:latin typeface="Calibri"/>
              </a:rPr>
              <a:t/>
            </a:r>
          </a:p>
          <a:p>
            <a:r>
              <a:rPr sz="1400" b="1">
                <a:solidFill>
                  <a:srgbClr val="F27A2E"/>
                </a:solidFill>
                <a:latin typeface="Calibri"/>
              </a:rPr>
              <a:t>Guided by</a:t>
            </a:r>
          </a:p>
          <a:p>
            <a:r>
              <a:rPr sz="1350" b="0">
                <a:solidFill>
                  <a:srgbClr val="FFFFFF"/>
                </a:solidFill>
                <a:latin typeface="Calibri"/>
              </a:rPr>
              <a:t>Dr. Pratik Kanani, Head of Department</a:t>
            </a:r>
          </a:p>
          <a:p>
            <a:r>
              <a:rPr sz="1200" b="0">
                <a:solidFill>
                  <a:srgbClr val="D6DEEA"/>
                </a:solidFill>
                <a:latin typeface="Calibri"/>
              </a:rPr>
              <a:t>Artificial Intelligence and Data Science, DJSCE, Mumbai</a:t>
            </a:r>
          </a:p>
          <a:p>
            <a:r>
              <a:rPr sz="800" b="0">
                <a:solidFill>
                  <a:srgbClr val="FFFFFF"/>
                </a:solidFill>
                <a:latin typeface="Calibri"/>
              </a:rPr>
              <a:t/>
            </a:r>
          </a:p>
          <a:p>
            <a:r>
              <a:rPr sz="1400" b="1">
                <a:solidFill>
                  <a:srgbClr val="F27A2E"/>
                </a:solidFill>
                <a:latin typeface="Calibri"/>
              </a:rPr>
              <a:t>What it gives back</a:t>
            </a:r>
          </a:p>
          <a:p>
            <a:r>
              <a:rPr sz="1300" b="0">
                <a:solidFill>
                  <a:srgbClr val="FFFFFF"/>
                </a:solidFill>
                <a:latin typeface="Calibri"/>
              </a:rPr>
              <a:t>Editable PowerPoint · interactive web deck · study pack · labs · quizzes · step-by-step explainers · deck tutor</a:t>
            </a:r>
          </a:p>
          <a:p>
            <a:r>
              <a:rPr sz="800" b="0">
                <a:solidFill>
                  <a:srgbClr val="FFFFFF"/>
                </a:solidFill>
                <a:latin typeface="Calibri"/>
              </a:rPr>
              <a:t/>
            </a:r>
          </a:p>
          <a:p>
            <a:r>
              <a:rPr sz="1600" b="1">
                <a:solidFill>
                  <a:srgbClr val="9FD8B8"/>
                </a:solidFill>
                <a:latin typeface="Calibri"/>
              </a:rPr>
              <a:t>Questions and live demo welcome</a:t>
            </a:r>
          </a:p>
        </p:txBody>
      </p:sp>
      <p:pic>
        <p:nvPicPr>
          <p:cNvPr id="17413" name="Picture 17412" descr="image.png"/>
          <p:cNvPicPr>
            <a:picLocks noChangeAspect="1"/>
          </p:cNvPicPr>
          <p:nvPr/>
        </p:nvPicPr>
        <p:blipFill>
          <a:blip r:embed="rId2"/>
          <a:stretch>
            <a:fillRect/>
          </a:stretch>
        </p:blipFill>
        <p:spPr>
          <a:xfrm>
            <a:off x="6035040" y="914400"/>
            <a:ext cx="3657600" cy="2057400"/>
          </a:xfrm>
          <a:prstGeom prst="rect">
            <a:avLst/>
          </a:prstGeom>
        </p:spPr>
      </p:pic>
      <p:pic>
        <p:nvPicPr>
          <p:cNvPr id="17414" name="Picture 17413" descr="mobile-home.jpg"/>
          <p:cNvPicPr>
            <a:picLocks noChangeAspect="1"/>
          </p:cNvPicPr>
          <p:nvPr/>
        </p:nvPicPr>
        <p:blipFill>
          <a:blip r:embed="rId3"/>
          <a:stretch>
            <a:fillRect/>
          </a:stretch>
        </p:blipFill>
        <p:spPr>
          <a:xfrm>
            <a:off x="10397139" y="914400"/>
            <a:ext cx="950153" cy="2057400"/>
          </a:xfrm>
          <a:prstGeom prst="rect">
            <a:avLst/>
          </a:prstGeom>
        </p:spPr>
      </p:pic>
      <p:sp>
        <p:nvSpPr>
          <p:cNvPr id="17415" name="Rounded Rectangle 17414"/>
          <p:cNvSpPr/>
          <p:nvPr/>
        </p:nvSpPr>
        <p:spPr>
          <a:xfrm>
            <a:off x="6035040" y="3108960"/>
            <a:ext cx="1389888" cy="914400"/>
          </a:xfrm>
          <a:prstGeom prst="roundRect">
            <a:avLst>
              <a:gd name="adj" fmla="val 12000"/>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TextBox 17415"/>
          <p:cNvSpPr txBox="1"/>
          <p:nvPr/>
        </p:nvSpPr>
        <p:spPr>
          <a:xfrm>
            <a:off x="6035040" y="3127248"/>
            <a:ext cx="1389888" cy="877824"/>
          </a:xfrm>
          <a:prstGeom prst="rect">
            <a:avLst/>
          </a:prstGeom>
          <a:noFill/>
        </p:spPr>
        <p:txBody>
          <a:bodyPr wrap="square" anchor="ctr" lIns="27432" rIns="27432" tIns="9144" bIns="9144">
            <a:spAutoFit/>
          </a:bodyPr>
          <a:lstStyle/>
          <a:p>
            <a:pPr algn="ctr"/>
            <a:r>
              <a:rPr sz="1900" b="1">
                <a:solidFill>
                  <a:srgbClr val="FFFFFF"/>
                </a:solidFill>
                <a:latin typeface="Calibri"/>
              </a:rPr>
              <a:t>83→0</a:t>
            </a:r>
          </a:p>
          <a:p>
            <a:pPr algn="ctr"/>
            <a:r>
              <a:rPr sz="950" b="0">
                <a:solidFill>
                  <a:srgbClr val="FFFFFF"/>
                </a:solidFill>
                <a:latin typeface="Calibri"/>
              </a:rPr>
              <a:t>untitled slides</a:t>
            </a:r>
          </a:p>
        </p:txBody>
      </p:sp>
      <p:sp>
        <p:nvSpPr>
          <p:cNvPr id="17417" name="Rounded Rectangle 17416"/>
          <p:cNvSpPr/>
          <p:nvPr/>
        </p:nvSpPr>
        <p:spPr>
          <a:xfrm>
            <a:off x="7516367" y="3108960"/>
            <a:ext cx="1389888" cy="914400"/>
          </a:xfrm>
          <a:prstGeom prst="roundRect">
            <a:avLst>
              <a:gd name="adj" fmla="val 12000"/>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TextBox 17417"/>
          <p:cNvSpPr txBox="1"/>
          <p:nvPr/>
        </p:nvSpPr>
        <p:spPr>
          <a:xfrm>
            <a:off x="7516367" y="3127248"/>
            <a:ext cx="1389888" cy="877824"/>
          </a:xfrm>
          <a:prstGeom prst="rect">
            <a:avLst/>
          </a:prstGeom>
          <a:noFill/>
        </p:spPr>
        <p:txBody>
          <a:bodyPr wrap="square" anchor="ctr" lIns="27432" rIns="27432" tIns="9144" bIns="9144">
            <a:spAutoFit/>
          </a:bodyPr>
          <a:lstStyle/>
          <a:p>
            <a:pPr algn="ctr"/>
            <a:r>
              <a:rPr sz="1900" b="1">
                <a:solidFill>
                  <a:srgbClr val="FFFFFF"/>
                </a:solidFill>
                <a:latin typeface="Calibri"/>
              </a:rPr>
              <a:t>98–100%</a:t>
            </a:r>
          </a:p>
          <a:p>
            <a:pPr algn="ctr"/>
            <a:r>
              <a:rPr sz="950" b="0">
                <a:solidFill>
                  <a:srgbClr val="FFFFFF"/>
                </a:solidFill>
                <a:latin typeface="Calibri"/>
              </a:rPr>
              <a:t>facts kept</a:t>
            </a:r>
          </a:p>
        </p:txBody>
      </p:sp>
      <p:sp>
        <p:nvSpPr>
          <p:cNvPr id="17419" name="Rounded Rectangle 17418"/>
          <p:cNvSpPr/>
          <p:nvPr/>
        </p:nvSpPr>
        <p:spPr>
          <a:xfrm>
            <a:off x="8997696" y="3108960"/>
            <a:ext cx="1389888" cy="914400"/>
          </a:xfrm>
          <a:prstGeom prst="roundRect">
            <a:avLst>
              <a:gd name="adj" fmla="val 12000"/>
            </a:avLst>
          </a:prstGeom>
          <a:solidFill>
            <a:srgbClr val="F2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8997696" y="3127248"/>
            <a:ext cx="1389888" cy="877824"/>
          </a:xfrm>
          <a:prstGeom prst="rect">
            <a:avLst/>
          </a:prstGeom>
          <a:noFill/>
        </p:spPr>
        <p:txBody>
          <a:bodyPr wrap="square" anchor="ctr" lIns="27432" rIns="27432" tIns="9144" bIns="9144">
            <a:spAutoFit/>
          </a:bodyPr>
          <a:lstStyle/>
          <a:p>
            <a:pPr algn="ctr"/>
            <a:r>
              <a:rPr sz="1900" b="1">
                <a:solidFill>
                  <a:srgbClr val="FFFFFF"/>
                </a:solidFill>
                <a:latin typeface="Calibri"/>
              </a:rPr>
              <a:t>774</a:t>
            </a:r>
          </a:p>
          <a:p>
            <a:pPr algn="ctr"/>
            <a:r>
              <a:rPr sz="950" b="0">
                <a:solidFill>
                  <a:srgbClr val="FFFFFF"/>
                </a:solidFill>
                <a:latin typeface="Calibri"/>
              </a:rPr>
              <a:t>automated tests</a:t>
            </a:r>
          </a:p>
        </p:txBody>
      </p:sp>
      <p:sp>
        <p:nvSpPr>
          <p:cNvPr id="17421" name="Rounded Rectangle 17420"/>
          <p:cNvSpPr/>
          <p:nvPr/>
        </p:nvSpPr>
        <p:spPr>
          <a:xfrm>
            <a:off x="10479024" y="3108960"/>
            <a:ext cx="1389888" cy="914400"/>
          </a:xfrm>
          <a:prstGeom prst="roundRect">
            <a:avLst>
              <a:gd name="adj" fmla="val 12000"/>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TextBox 17421"/>
          <p:cNvSpPr txBox="1"/>
          <p:nvPr/>
        </p:nvSpPr>
        <p:spPr>
          <a:xfrm>
            <a:off x="10479024" y="3127248"/>
            <a:ext cx="1389888" cy="877824"/>
          </a:xfrm>
          <a:prstGeom prst="rect">
            <a:avLst/>
          </a:prstGeom>
          <a:noFill/>
        </p:spPr>
        <p:txBody>
          <a:bodyPr wrap="square" anchor="ctr" lIns="27432" rIns="27432" tIns="9144" bIns="9144">
            <a:spAutoFit/>
          </a:bodyPr>
          <a:lstStyle/>
          <a:p>
            <a:pPr algn="ctr"/>
            <a:r>
              <a:rPr sz="1900" b="1">
                <a:solidFill>
                  <a:srgbClr val="FFFFFF"/>
                </a:solidFill>
                <a:latin typeface="Calibri"/>
              </a:rPr>
              <a:t>~35 s</a:t>
            </a:r>
          </a:p>
          <a:p>
            <a:pPr algn="ctr"/>
            <a:r>
              <a:rPr sz="950" b="0">
                <a:solidFill>
                  <a:srgbClr val="FFFFFF"/>
                </a:solidFill>
                <a:latin typeface="Calibri"/>
              </a:rPr>
              <a:t>216-page deck</a:t>
            </a:r>
          </a:p>
        </p:txBody>
      </p:sp>
      <p:sp>
        <p:nvSpPr>
          <p:cNvPr id="17423" name="Rounded Rectangle 17422"/>
          <p:cNvSpPr/>
          <p:nvPr/>
        </p:nvSpPr>
        <p:spPr>
          <a:xfrm>
            <a:off x="6035040" y="4160520"/>
            <a:ext cx="5879592" cy="2103120"/>
          </a:xfrm>
          <a:prstGeom prst="roundRect">
            <a:avLst>
              <a:gd name="adj" fmla="val 5000"/>
            </a:avLst>
          </a:prstGeom>
          <a:solidFill>
            <a:srgbClr val="F7F8FB"/>
          </a:solidFill>
          <a:ln w="9525">
            <a:solidFill>
              <a:srgbClr val="E2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24" name="Picture 17423" descr="image.png"/>
          <p:cNvPicPr>
            <a:picLocks noChangeAspect="1"/>
          </p:cNvPicPr>
          <p:nvPr/>
        </p:nvPicPr>
        <p:blipFill>
          <a:blip r:embed="rId4"/>
          <a:stretch>
            <a:fillRect/>
          </a:stretch>
        </p:blipFill>
        <p:spPr>
          <a:xfrm>
            <a:off x="6172200" y="4297680"/>
            <a:ext cx="1828800" cy="1828800"/>
          </a:xfrm>
          <a:prstGeom prst="rect">
            <a:avLst/>
          </a:prstGeom>
        </p:spPr>
      </p:pic>
      <p:sp>
        <p:nvSpPr>
          <p:cNvPr id="17425" name="TextBox 17424"/>
          <p:cNvSpPr txBox="1"/>
          <p:nvPr/>
        </p:nvSpPr>
        <p:spPr>
          <a:xfrm>
            <a:off x="8138160" y="4279392"/>
            <a:ext cx="3703320" cy="1938528"/>
          </a:xfrm>
          <a:prstGeom prst="rect">
            <a:avLst/>
          </a:prstGeom>
          <a:noFill/>
        </p:spPr>
        <p:txBody>
          <a:bodyPr wrap="square" anchor="t" lIns="27432" rIns="27432" tIns="9144" bIns="9144">
            <a:spAutoFit/>
          </a:bodyPr>
          <a:lstStyle/>
          <a:p>
            <a:r>
              <a:rPr sz="1400" b="1">
                <a:solidFill>
                  <a:srgbClr val="1F5FBF"/>
                </a:solidFill>
                <a:latin typeface="Calibri"/>
              </a:rPr>
              <a:t>Try it yourself</a:t>
            </a:r>
          </a:p>
          <a:p>
            <a:r>
              <a:rPr sz="1100" b="0">
                <a:solidFill>
                  <a:srgbClr val="172131"/>
                </a:solidFill>
                <a:latin typeface="Calibri"/>
              </a:rPr>
              <a:t>Scan for the source code, demo decks, test suite and both research papers.</a:t>
            </a:r>
          </a:p>
          <a:p>
            <a:r>
              <a:rPr sz="1100" b="1">
                <a:solidFill>
                  <a:srgbClr val="16845B"/>
                </a:solidFill>
                <a:latin typeface="Calibri"/>
              </a:rPr>
              <a:t>github.com/SDP42/LearnovaV2</a:t>
            </a:r>
          </a:p>
          <a:p>
            <a:r>
              <a:rPr sz="1100" b="0">
                <a:solidFill>
                  <a:srgbClr val="555F6D"/>
                </a:solidFill>
                <a:latin typeface="Calibri"/>
              </a:rPr>
              <a:t>Upload any lecture deck: PPTX, PDF or Word. Get back an editable PowerPoint, an interactive web deck and a study pack.</a:t>
            </a:r>
          </a:p>
          <a:p>
            <a:r>
              <a:rPr sz="1100" b="1">
                <a:solidFill>
                  <a:srgbClr val="F27A2E"/>
                </a:solidFill>
                <a:latin typeface="Calibri"/>
              </a:rPr>
              <a:t>Runs on one laptop: FastAPI + React, works offline, free.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287</TotalTime>
  <Words>2132</Words>
  <Application>Microsoft Macintosh PowerPoint</Application>
  <PresentationFormat>Widescreen</PresentationFormat>
  <Paragraphs>310</Paragraphs>
  <Slides>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ＭＳ Ｐゴシック</vt:lpstr>
      <vt:lpstr>Arial</vt:lpstr>
      <vt:lpstr>Calibri</vt:lpstr>
      <vt:lpstr>Garamond</vt:lpstr>
      <vt:lpstr>Times New Roman</vt:lpstr>
      <vt:lpstr>TradeGothic</vt:lpstr>
      <vt:lpstr>Office Theme</vt:lpstr>
      <vt:lpstr>SMART INDIA HACKATHON 2026</vt:lpstr>
      <vt:lpstr> IDEA TITLE</vt:lpstr>
      <vt:lpstr>TECHNICAL APPROACH</vt:lpstr>
      <vt:lpstr>FEASIBILITY AND VIABILITY</vt:lpstr>
      <vt:lpstr>IMPACT AND BENEFITS Worked out on CAG audit figures and our own cost model, not on promises</vt:lpstr>
      <vt:lpstr>RESEARCH  AND REFERENCES 12 road signs  ·  34 sources  ·  scan any code to check us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Devendra Panchal</cp:lastModifiedBy>
  <cp:revision>7</cp:revision>
  <dcterms:created xsi:type="dcterms:W3CDTF">2013-12-12T18:46:50Z</dcterms:created>
  <dcterms:modified xsi:type="dcterms:W3CDTF">2026-10-28T09:00:59Z</dcterms:modified>
  <cp:category/>
</cp:coreProperties>
</file>