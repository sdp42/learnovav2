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vek Gupta" initials="VG" lastIdx="1" clrIdx="0">
    <p:extLst>
      <p:ext uri="{19B8F6BF-5375-455C-9EA6-DF929625EA0E}">
        <p15:presenceInfo xmlns:p15="http://schemas.microsoft.com/office/powerpoint/2012/main" userId="9e3497427a199ad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FF914D"/>
    <a:srgbClr val="5A9BD5"/>
    <a:srgbClr val="444444"/>
    <a:srgbClr val="E5E5E5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0662CA-E166-1FA6-9DCC-73CE1FBF29A6}" v="8" dt="2025-11-24T03:45:03.816"/>
    <p1510:client id="{73E2D20C-6160-2DC2-F79E-1EDDA96EDE4C}" v="1" dt="2025-11-22T15:09:32.096"/>
    <p1510:client id="{F9D93F2B-2279-484E-13B3-2C4AA3987D22}" v="1" dt="2025-11-22T15:12:52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ARAJITA SINGH - 60018240018" userId="S::aparajita.singh18@svkmmumbai.onmicrosoft.com::c49548fc-eba9-451f-9e2c-d73c02c76d76" providerId="AD" clId="Web-{F9D93F2B-2279-484E-13B3-2C4AA3987D22}"/>
    <pc:docChg chg="modSld">
      <pc:chgData name="APARAJITA SINGH - 60018240018" userId="S::aparajita.singh18@svkmmumbai.onmicrosoft.com::c49548fc-eba9-451f-9e2c-d73c02c76d76" providerId="AD" clId="Web-{F9D93F2B-2279-484E-13B3-2C4AA3987D22}" dt="2025-11-22T15:12:52.597" v="0" actId="1076"/>
      <pc:docMkLst>
        <pc:docMk/>
      </pc:docMkLst>
      <pc:sldChg chg="modSp">
        <pc:chgData name="APARAJITA SINGH - 60018240018" userId="S::aparajita.singh18@svkmmumbai.onmicrosoft.com::c49548fc-eba9-451f-9e2c-d73c02c76d76" providerId="AD" clId="Web-{F9D93F2B-2279-484E-13B3-2C4AA3987D22}" dt="2025-11-22T15:12:52.597" v="0" actId="1076"/>
        <pc:sldMkLst>
          <pc:docMk/>
          <pc:sldMk cId="2602694481" sldId="310"/>
        </pc:sldMkLst>
        <pc:spChg chg="mod">
          <ac:chgData name="APARAJITA SINGH - 60018240018" userId="S::aparajita.singh18@svkmmumbai.onmicrosoft.com::c49548fc-eba9-451f-9e2c-d73c02c76d76" providerId="AD" clId="Web-{F9D93F2B-2279-484E-13B3-2C4AA3987D22}" dt="2025-11-22T15:12:52.597" v="0" actId="1076"/>
          <ac:spMkLst>
            <pc:docMk/>
            <pc:sldMk cId="2602694481" sldId="310"/>
            <ac:spMk id="4" creationId="{7D952A44-36D7-4B9A-9931-639BE6F2A57A}"/>
          </ac:spMkLst>
        </pc:spChg>
      </pc:sldChg>
    </pc:docChg>
  </pc:docChgLst>
  <pc:docChgLst>
    <pc:chgData name="ATHARVA DEO - 60018240103" userId="S::atharva.deo03@svkmmumbai.onmicrosoft.com::a57ae294-44f3-4d60-93cf-50cb5a8c2e3d" providerId="AD" clId="Web-{E24B5070-9DEA-E294-B36D-90ED6B3F1093}"/>
    <pc:docChg chg="modSld">
      <pc:chgData name="ATHARVA DEO - 60018240103" userId="S::atharva.deo03@svkmmumbai.onmicrosoft.com::a57ae294-44f3-4d60-93cf-50cb5a8c2e3d" providerId="AD" clId="Web-{E24B5070-9DEA-E294-B36D-90ED6B3F1093}" dt="2025-11-18T13:45:46.918" v="0" actId="1076"/>
      <pc:docMkLst>
        <pc:docMk/>
      </pc:docMkLst>
      <pc:sldChg chg="modSp">
        <pc:chgData name="ATHARVA DEO - 60018240103" userId="S::atharva.deo03@svkmmumbai.onmicrosoft.com::a57ae294-44f3-4d60-93cf-50cb5a8c2e3d" providerId="AD" clId="Web-{E24B5070-9DEA-E294-B36D-90ED6B3F1093}" dt="2025-11-18T13:45:46.918" v="0" actId="1076"/>
        <pc:sldMkLst>
          <pc:docMk/>
          <pc:sldMk cId="720051218" sldId="256"/>
        </pc:sldMkLst>
        <pc:spChg chg="mod">
          <ac:chgData name="ATHARVA DEO - 60018240103" userId="S::atharva.deo03@svkmmumbai.onmicrosoft.com::a57ae294-44f3-4d60-93cf-50cb5a8c2e3d" providerId="AD" clId="Web-{E24B5070-9DEA-E294-B36D-90ED6B3F1093}" dt="2025-11-18T13:45:46.918" v="0" actId="1076"/>
          <ac:spMkLst>
            <pc:docMk/>
            <pc:sldMk cId="720051218" sldId="256"/>
            <ac:spMk id="2" creationId="{3FBA529D-1BA3-40E6-A890-9B30DEC65779}"/>
          </ac:spMkLst>
        </pc:spChg>
      </pc:sldChg>
    </pc:docChg>
  </pc:docChgLst>
  <pc:docChgLst>
    <pc:chgData name="BANSRI VAGHASIYA - 60018240017" userId="S::bansri.vaghasiya17@svkmmumbai.onmicrosoft.com::c8d62111-734e-48f7-be95-f684e6ce8e15" providerId="AD" clId="Web-{73E2D20C-6160-2DC2-F79E-1EDDA96EDE4C}"/>
    <pc:docChg chg="modSld">
      <pc:chgData name="BANSRI VAGHASIYA - 60018240017" userId="S::bansri.vaghasiya17@svkmmumbai.onmicrosoft.com::c8d62111-734e-48f7-be95-f684e6ce8e15" providerId="AD" clId="Web-{73E2D20C-6160-2DC2-F79E-1EDDA96EDE4C}" dt="2025-11-22T15:09:32.096" v="0" actId="1076"/>
      <pc:docMkLst>
        <pc:docMk/>
      </pc:docMkLst>
      <pc:sldChg chg="modSp">
        <pc:chgData name="BANSRI VAGHASIYA - 60018240017" userId="S::bansri.vaghasiya17@svkmmumbai.onmicrosoft.com::c8d62111-734e-48f7-be95-f684e6ce8e15" providerId="AD" clId="Web-{73E2D20C-6160-2DC2-F79E-1EDDA96EDE4C}" dt="2025-11-22T15:09:32.096" v="0" actId="1076"/>
        <pc:sldMkLst>
          <pc:docMk/>
          <pc:sldMk cId="2534587027" sldId="307"/>
        </pc:sldMkLst>
        <pc:grpChg chg="mod">
          <ac:chgData name="BANSRI VAGHASIYA - 60018240017" userId="S::bansri.vaghasiya17@svkmmumbai.onmicrosoft.com::c8d62111-734e-48f7-be95-f684e6ce8e15" providerId="AD" clId="Web-{73E2D20C-6160-2DC2-F79E-1EDDA96EDE4C}" dt="2025-11-22T15:09:32.096" v="0" actId="1076"/>
          <ac:grpSpMkLst>
            <pc:docMk/>
            <pc:sldMk cId="2534587027" sldId="307"/>
            <ac:grpSpMk id="14" creationId="{92D5F3AC-733A-412D-B96A-EC190E4DB381}"/>
          </ac:grpSpMkLst>
        </pc:grpChg>
      </pc:sldChg>
    </pc:docChg>
  </pc:docChgLst>
  <pc:docChgLst>
    <pc:chgData name="PARSHV SHAH - 60018240005" userId="S::parshv.shah05@svkmmumbai.onmicrosoft.com::d57e4ee7-762a-4025-9b12-556294592ef5" providerId="AD" clId="Web-{660662CA-E166-1FA6-9DCC-73CE1FBF29A6}"/>
    <pc:docChg chg="modSld">
      <pc:chgData name="PARSHV SHAH - 60018240005" userId="S::parshv.shah05@svkmmumbai.onmicrosoft.com::d57e4ee7-762a-4025-9b12-556294592ef5" providerId="AD" clId="Web-{660662CA-E166-1FA6-9DCC-73CE1FBF29A6}" dt="2025-11-24T03:45:03.816" v="5" actId="20577"/>
      <pc:docMkLst>
        <pc:docMk/>
      </pc:docMkLst>
      <pc:sldChg chg="modSp">
        <pc:chgData name="PARSHV SHAH - 60018240005" userId="S::parshv.shah05@svkmmumbai.onmicrosoft.com::d57e4ee7-762a-4025-9b12-556294592ef5" providerId="AD" clId="Web-{660662CA-E166-1FA6-9DCC-73CE1FBF29A6}" dt="2025-11-24T03:45:03.816" v="5" actId="20577"/>
        <pc:sldMkLst>
          <pc:docMk/>
          <pc:sldMk cId="1094017875" sldId="306"/>
        </pc:sldMkLst>
        <pc:spChg chg="mod">
          <ac:chgData name="PARSHV SHAH - 60018240005" userId="S::parshv.shah05@svkmmumbai.onmicrosoft.com::d57e4ee7-762a-4025-9b12-556294592ef5" providerId="AD" clId="Web-{660662CA-E166-1FA6-9DCC-73CE1FBF29A6}" dt="2025-11-24T03:45:03.816" v="5" actId="20577"/>
          <ac:spMkLst>
            <pc:docMk/>
            <pc:sldMk cId="1094017875" sldId="306"/>
            <ac:spMk id="14" creationId="{F32D15DE-43A0-4C12-B223-EA1FD2284564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Pictures and titles per deck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Slides with a picture — before</c:v>
                </c:pt>
              </c:strCache>
            </c:strRef>
          </c:tx>
          <c:spPr>
            <a:solidFill>
              <a:srgbClr val="B8C2D0"/>
            </a:solidFill>
          </c:spPr>
          <c:cat>
            <c:strRef>
              <c:f>Sheet1!$A$2:$A$6</c:f>
              <c:strCache>
                <c:ptCount val="5"/>
                <c:pt idx="0">
                  <c:v>ML Bias&amp;Var</c:v>
                </c:pt>
                <c:pt idx="1">
                  <c:v>ML Lin.Reg</c:v>
                </c:pt>
                <c:pt idx="2">
                  <c:v>NLP WSD</c:v>
                </c:pt>
                <c:pt idx="3">
                  <c:v>NLP Mod 4</c:v>
                </c:pt>
                <c:pt idx="4">
                  <c:v>NLP Mod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49</c:v>
                </c:pt>
                <c:pt idx="2">
                  <c:v>7</c:v>
                </c:pt>
                <c:pt idx="3">
                  <c:v>13</c:v>
                </c:pt>
                <c:pt idx="4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1F5FBF"/>
            </a:solidFill>
          </c:spPr>
          <c:cat>
            <c:strRef>
              <c:f>Sheet1!$A$2:$A$6</c:f>
              <c:strCache>
                <c:ptCount val="5"/>
                <c:pt idx="0">
                  <c:v>ML Bias&amp;Var</c:v>
                </c:pt>
                <c:pt idx="1">
                  <c:v>ML Lin.Reg</c:v>
                </c:pt>
                <c:pt idx="2">
                  <c:v>NLP WSD</c:v>
                </c:pt>
                <c:pt idx="3">
                  <c:v>NLP Mod 4</c:v>
                </c:pt>
                <c:pt idx="4">
                  <c:v>NLP Mod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</c:v>
                </c:pt>
                <c:pt idx="1">
                  <c:v>64</c:v>
                </c:pt>
                <c:pt idx="2">
                  <c:v>46</c:v>
                </c:pt>
                <c:pt idx="3">
                  <c:v>43</c:v>
                </c:pt>
                <c:pt idx="4">
                  <c:v>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Untitled — before</c:v>
                </c:pt>
              </c:strCache>
            </c:strRef>
          </c:tx>
          <c:spPr>
            <a:solidFill>
              <a:srgbClr val="C03030"/>
            </a:solidFill>
          </c:spPr>
          <c:cat>
            <c:strRef>
              <c:f>Sheet1!$A$2:$A$6</c:f>
              <c:strCache>
                <c:ptCount val="5"/>
                <c:pt idx="0">
                  <c:v>ML Bias&amp;Var</c:v>
                </c:pt>
                <c:pt idx="1">
                  <c:v>ML Lin.Reg</c:v>
                </c:pt>
                <c:pt idx="2">
                  <c:v>NLP WSD</c:v>
                </c:pt>
                <c:pt idx="3">
                  <c:v>NLP Mod 4</c:v>
                </c:pt>
                <c:pt idx="4">
                  <c:v>NLP Mod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</c:v>
                </c:pt>
                <c:pt idx="1">
                  <c:v>36</c:v>
                </c:pt>
                <c:pt idx="2">
                  <c:v>1</c:v>
                </c:pt>
                <c:pt idx="3">
                  <c:v>0</c:v>
                </c:pt>
                <c:pt idx="4">
                  <c:v>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Added by Learnova (all were 0 before)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Visual slides</c:v>
                </c:pt>
              </c:strCache>
            </c:strRef>
          </c:tx>
          <c:spPr>
            <a:solidFill>
              <a:srgbClr val="1F5FBF"/>
            </a:solidFill>
          </c:spPr>
          <c:cat>
            <c:strRef>
              <c:f>Sheet1!$A$2:$A$6</c:f>
              <c:strCache>
                <c:ptCount val="5"/>
                <c:pt idx="0">
                  <c:v>ML Bias&amp;Var</c:v>
                </c:pt>
                <c:pt idx="1">
                  <c:v>ML Lin.Reg</c:v>
                </c:pt>
                <c:pt idx="2">
                  <c:v>NLP WSD</c:v>
                </c:pt>
                <c:pt idx="3">
                  <c:v>NLP Mod 4</c:v>
                </c:pt>
                <c:pt idx="4">
                  <c:v>NLP Mod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45</c:v>
                </c:pt>
                <c:pt idx="2">
                  <c:v>52</c:v>
                </c:pt>
                <c:pt idx="3">
                  <c:v>43</c:v>
                </c:pt>
                <c:pt idx="4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Linked illustrations</c:v>
                </c:pt>
              </c:strCache>
            </c:strRef>
          </c:tx>
          <c:spPr>
            <a:solidFill>
              <a:srgbClr val="6B3FA0"/>
            </a:solidFill>
          </c:spPr>
          <c:cat>
            <c:strRef>
              <c:f>Sheet1!$A$2:$A$6</c:f>
              <c:strCache>
                <c:ptCount val="5"/>
                <c:pt idx="0">
                  <c:v>ML Bias&amp;Var</c:v>
                </c:pt>
                <c:pt idx="1">
                  <c:v>ML Lin.Reg</c:v>
                </c:pt>
                <c:pt idx="2">
                  <c:v>NLP WSD</c:v>
                </c:pt>
                <c:pt idx="3">
                  <c:v>NLP Mod 4</c:v>
                </c:pt>
                <c:pt idx="4">
                  <c:v>NLP Mod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23</c:v>
                </c:pt>
                <c:pt idx="2">
                  <c:v>40</c:v>
                </c:pt>
                <c:pt idx="3">
                  <c:v>37</c:v>
                </c:pt>
                <c:pt idx="4">
                  <c:v>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Quizzes</c:v>
                </c:pt>
              </c:strCache>
            </c:strRef>
          </c:tx>
          <c:spPr>
            <a:solidFill>
              <a:srgbClr val="F27A2E"/>
            </a:solidFill>
          </c:spPr>
          <c:cat>
            <c:strRef>
              <c:f>Sheet1!$A$2:$A$6</c:f>
              <c:strCache>
                <c:ptCount val="5"/>
                <c:pt idx="0">
                  <c:v>ML Bias&amp;Var</c:v>
                </c:pt>
                <c:pt idx="1">
                  <c:v>ML Lin.Reg</c:v>
                </c:pt>
                <c:pt idx="2">
                  <c:v>NLP WSD</c:v>
                </c:pt>
                <c:pt idx="3">
                  <c:v>NLP Mod 4</c:v>
                </c:pt>
                <c:pt idx="4">
                  <c:v>NLP Mod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Labs</c:v>
                </c:pt>
              </c:strCache>
            </c:strRef>
          </c:tx>
          <c:spPr>
            <a:solidFill>
              <a:srgbClr val="16845B"/>
            </a:solidFill>
          </c:spPr>
          <c:cat>
            <c:strRef>
              <c:f>Sheet1!$A$2:$A$6</c:f>
              <c:strCache>
                <c:ptCount val="5"/>
                <c:pt idx="0">
                  <c:v>ML Bias&amp;Var</c:v>
                </c:pt>
                <c:pt idx="1">
                  <c:v>ML Lin.Reg</c:v>
                </c:pt>
                <c:pt idx="2">
                  <c:v>NLP WSD</c:v>
                </c:pt>
                <c:pt idx="3">
                  <c:v>NLP Mod 4</c:v>
                </c:pt>
                <c:pt idx="4">
                  <c:v>NLP Mod 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10</c:v>
                </c:pt>
                <c:pt idx="3">
                  <c:v>3</c:v>
                </c:pt>
                <c:pt idx="4">
                  <c:v>13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D1D4-B685-458D-B459-CB6803F5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0B3E1-DBD4-4F8E-9D64-2BAAC476F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00BF2-521A-41F9-A2A9-BBA61BD2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CD874-48DD-44BF-9D2E-106392FB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D7492-C20A-4826-B7E5-0F2D100E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914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4EE94-8751-49BA-A438-C4184FD1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7513-3C42-4CB5-85ED-A91D1A3C2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5206F-0765-4E02-9294-F76F262C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B7E5D-4830-4788-A504-628A880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17893-9F99-45D7-B5AE-F1661D30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853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01404-440D-49A8-9C32-468BBD10D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B36DC-12C5-4213-A535-B0B0E5FE6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5D2C5-0D5B-41A9-8FB0-5D253FC3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6A06A-635B-4010-8E13-C288FF02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D4188-032D-44C6-8E24-8A4CEBA2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218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F209-AAAD-4A51-A234-BCA19719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365D-4751-465E-9978-ED7C0F11D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C5C1C-75D9-42A2-9E98-BE4E26668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530C1-DB0C-493B-8F42-5E364C67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38793-0EE6-49DE-BBC7-8858FCB2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9679A-7E71-4368-B90F-A6CB1561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681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9B0E-6E04-45E5-AFAB-4CBAF066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AC49-E133-431E-9B63-82C3065B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C31C5-E83F-4CC3-B67A-80C1E3DB0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EB8DB-C9D5-479C-9E6F-6B515F307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E07925-3379-4B40-B48F-813C2CAA05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F11F18-CEF9-4216-BB6F-27811637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14E82B-B980-49F0-BDF0-E22D84AD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D42DBB-A0E2-423B-9823-81055400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014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1721-E7F5-406B-95EA-96077FEE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5745D-E50B-4F80-9AC8-830FE178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16831-01CB-4FFD-9EAB-5FB4CB02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6B1E0-F9CB-4814-8B56-E52306FB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887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2CC19-E12D-496A-A1BE-9450A2ED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14230-EC71-4C19-98EE-E4E2DF3D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96D21-4931-4731-A700-D2DC973C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019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49E4-515E-40BE-BA47-3B0065E7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7FED-6ED6-405E-B9EC-9323275ED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2DFC3-51A0-4AFF-A99E-749A3F4AC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F908E-9618-401F-B968-6A1FADE1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8904D-3366-4FC0-A05B-BC4770F4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DE53E-C844-40E7-8211-43884C78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878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35E0-E78A-49DF-BE68-034C77FF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C2B68-60E1-413C-9A10-57E702122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DE7BD-1D6E-44E4-AB27-6CF97EDF6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2EC1C-1FE5-41C4-9CDD-3F7A6E261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7CE0F-AD47-4B88-8459-3E910E2D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61804-D1D0-4740-8A4F-B63E06621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82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8944-2DA5-4AF6-84CC-2008F45C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66A86-420B-4072-80B3-30A8C600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0004E-7F93-4014-B34F-0FF8008A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6D0FA-F051-4CDC-A382-AE4261A0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99C5F-6D39-4642-84C4-842D6B213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871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58DB5-7AA6-4010-A0E9-827DE07E8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3A24B-74C5-487D-9D8A-5C0CE9D3F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38912-CA6E-486F-8937-312129DA2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CE315-9C7D-46C6-AA5F-A19F71B5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F53DD-68A5-4A4B-80AD-9DB9E763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44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78500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3A338-BA2D-44D6-B7C1-45303E1B0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64EC9-91C1-4D63-8E74-E34C63F0B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754EB-E9C2-4C5D-B6FD-59C42E386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20EAD-7A93-4DAC-84EA-6EBB2FB32DD8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39B1B-E7B1-4012-92D6-77A2059BE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2D2A0-2CAD-4650-8781-31D41F651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9A4DC-40DA-4F58-9F97-ABDD680B3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25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5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8.png"/><Relationship Id="rId26" Type="http://schemas.openxmlformats.org/officeDocument/2006/relationships/image" Target="../media/image29.png"/><Relationship Id="rId27" Type="http://schemas.openxmlformats.org/officeDocument/2006/relationships/image" Target="../media/image30.png"/><Relationship Id="rId28" Type="http://schemas.openxmlformats.org/officeDocument/2006/relationships/image" Target="../media/image31.png"/><Relationship Id="rId29" Type="http://schemas.openxmlformats.org/officeDocument/2006/relationships/image" Target="../media/image32.png"/><Relationship Id="rId30" Type="http://schemas.openxmlformats.org/officeDocument/2006/relationships/image" Target="../media/image33.png"/><Relationship Id="rId31" Type="http://schemas.openxmlformats.org/officeDocument/2006/relationships/image" Target="../media/image34.png"/><Relationship Id="rId32" Type="http://schemas.openxmlformats.org/officeDocument/2006/relationships/image" Target="../media/image3.png"/><Relationship Id="rId33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15.png"/><Relationship Id="rId9" Type="http://schemas.openxmlformats.org/officeDocument/2006/relationships/image" Target="../media/image18.png"/><Relationship Id="rId10" Type="http://schemas.openxmlformats.org/officeDocument/2006/relationships/image" Target="../media/image31.png"/><Relationship Id="rId11" Type="http://schemas.openxmlformats.org/officeDocument/2006/relationships/image" Target="../media/image36.jpg"/><Relationship Id="rId12" Type="http://schemas.openxmlformats.org/officeDocument/2006/relationships/image" Target="../media/image37.png"/><Relationship Id="rId13" Type="http://schemas.openxmlformats.org/officeDocument/2006/relationships/image" Target="../media/image38.jpg"/><Relationship Id="rId14" Type="http://schemas.openxmlformats.org/officeDocument/2006/relationships/image" Target="../media/image39.png"/><Relationship Id="rId15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0.png"/><Relationship Id="rId4" Type="http://schemas.openxmlformats.org/officeDocument/2006/relationships/image" Target="../media/image50.png"/><Relationship Id="rId5" Type="http://schemas.openxmlformats.org/officeDocument/2006/relationships/image" Target="../media/image26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55.png"/><Relationship Id="rId4" Type="http://schemas.openxmlformats.org/officeDocument/2006/relationships/image" Target="../media/image47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56.png"/><Relationship Id="rId8" Type="http://schemas.openxmlformats.org/officeDocument/2006/relationships/image" Target="../media/image12.png"/><Relationship Id="rId9" Type="http://schemas.openxmlformats.org/officeDocument/2006/relationships/image" Target="../media/image57.png"/><Relationship Id="rId10" Type="http://schemas.openxmlformats.org/officeDocument/2006/relationships/image" Target="../media/image4.png"/><Relationship Id="rId11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529D-1BA3-40E6-A890-9B30DEC65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1131" y="2618392"/>
            <a:ext cx="8048017" cy="812260"/>
          </a:xfrm>
        </p:spPr>
        <p:txBody>
          <a:bodyPr>
            <a:noAutofit/>
          </a:bodyPr>
          <a:lstStyle/>
          <a:p>
            <a:r>
              <a:rPr lang="en-IN" sz="6600" b="1">
                <a:solidFill>
                  <a:schemeClr val="bg2"/>
                </a:solidFill>
                <a:latin typeface="Montserrat ExtraBold" panose="00000900000000000000" pitchFamily="50" charset="0"/>
              </a:rPr>
              <a:t>I</a:t>
            </a:r>
            <a:r>
              <a:rPr lang="en-IN" sz="4800">
                <a:solidFill>
                  <a:schemeClr val="bg2"/>
                </a:solidFill>
                <a:latin typeface="Montserrat ExtraBold" panose="00000900000000000000" pitchFamily="50" charset="0"/>
              </a:rPr>
              <a:t>nnovative </a:t>
            </a:r>
            <a:r>
              <a:rPr lang="en-IN" sz="6600" b="1">
                <a:solidFill>
                  <a:schemeClr val="bg2"/>
                </a:solidFill>
                <a:latin typeface="Montserrat ExtraBold" panose="00000900000000000000" pitchFamily="50" charset="0"/>
              </a:rPr>
              <a:t>P</a:t>
            </a:r>
            <a:r>
              <a:rPr lang="en-IN" sz="4800">
                <a:solidFill>
                  <a:schemeClr val="bg2"/>
                </a:solidFill>
                <a:latin typeface="Montserrat ExtraBold" panose="00000900000000000000" pitchFamily="50" charset="0"/>
              </a:rPr>
              <a:t>roduct </a:t>
            </a:r>
            <a:r>
              <a:rPr lang="en-IN" sz="6600" b="1">
                <a:solidFill>
                  <a:schemeClr val="bg2"/>
                </a:solidFill>
                <a:latin typeface="Montserrat ExtraBold" panose="00000900000000000000" pitchFamily="50" charset="0"/>
              </a:rPr>
              <a:t>D</a:t>
            </a:r>
            <a:r>
              <a:rPr lang="en-IN" sz="4800">
                <a:solidFill>
                  <a:schemeClr val="bg2"/>
                </a:solidFill>
                <a:latin typeface="Montserrat ExtraBold" panose="00000900000000000000" pitchFamily="50" charset="0"/>
              </a:rPr>
              <a:t>evelopment</a:t>
            </a:r>
            <a:endParaRPr lang="en-IN" sz="4800">
              <a:solidFill>
                <a:srgbClr val="FF914D"/>
              </a:solidFill>
              <a:latin typeface="Montserrat ExtraBold" panose="00000900000000000000" pitchFamily="50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7DA4F9-6575-4994-857C-41C93D6AD771}"/>
              </a:ext>
            </a:extLst>
          </p:cNvPr>
          <p:cNvGrpSpPr/>
          <p:nvPr/>
        </p:nvGrpSpPr>
        <p:grpSpPr>
          <a:xfrm>
            <a:off x="199063" y="742860"/>
            <a:ext cx="3439875" cy="5956520"/>
            <a:chOff x="7049740" y="0"/>
            <a:chExt cx="2011587" cy="3387579"/>
          </a:xfrm>
        </p:grpSpPr>
        <p:sp>
          <p:nvSpPr>
            <p:cNvPr id="8" name="Rectangle: Rounded Corners 8">
              <a:extLst>
                <a:ext uri="{FF2B5EF4-FFF2-40B4-BE49-F238E27FC236}">
                  <a16:creationId xmlns:a16="http://schemas.microsoft.com/office/drawing/2014/main" id="{59E23B07-1050-4A46-A90D-3BFBFE5FF861}"/>
                </a:ext>
              </a:extLst>
            </p:cNvPr>
            <p:cNvSpPr/>
            <p:nvPr/>
          </p:nvSpPr>
          <p:spPr>
            <a:xfrm>
              <a:off x="7049740" y="0"/>
              <a:ext cx="2011587" cy="3387579"/>
            </a:xfrm>
            <a:prstGeom prst="rect">
              <a:avLst/>
            </a:prstGeom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p/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1201F5A7-11A3-4C7B-ACF4-E33121C7569D}"/>
                </a:ext>
              </a:extLst>
            </p:cNvPr>
            <p:cNvSpPr txBox="1"/>
            <p:nvPr/>
          </p:nvSpPr>
          <p:spPr>
            <a:xfrm>
              <a:off x="7108657" y="58917"/>
              <a:ext cx="1893753" cy="32697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b="1" sz="1200">
                  <a:solidFill>
                    <a:srgbClr val="000000"/>
                  </a:solidFill>
                  <a:latin typeface="Calibri"/>
                </a:rPr>
                <a:t>Group Members: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/>
              </a:r>
            </a:p>
            <a:p>
              <a:r>
                <a:rPr b="1" sz="1200">
                  <a:solidFill>
                    <a:srgbClr val="000000"/>
                  </a:solidFill>
                  <a:latin typeface="Calibri"/>
                </a:rPr>
                <a:t>Kawaljeet Singh Bharaj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>S004 · 60018240016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/>
              </a:r>
            </a:p>
            <a:p>
              <a:r>
                <a:rPr b="1" sz="1200">
                  <a:solidFill>
                    <a:srgbClr val="000000"/>
                  </a:solidFill>
                  <a:latin typeface="Calibri"/>
                </a:rPr>
                <a:t>Jeevesh Bharat Bodhani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>S005 · 60018240096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/>
              </a:r>
            </a:p>
            <a:p>
              <a:r>
                <a:rPr b="1" sz="1200">
                  <a:solidFill>
                    <a:srgbClr val="000000"/>
                  </a:solidFill>
                  <a:latin typeface="Calibri"/>
                </a:rPr>
                <a:t>Rishit Pankajkumar Lahoti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>S026 · 6001840101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/>
              </a:r>
            </a:p>
            <a:p>
              <a:r>
                <a:rPr b="1" sz="1200">
                  <a:solidFill>
                    <a:srgbClr val="000000"/>
                  </a:solidFill>
                  <a:latin typeface="Calibri"/>
                </a:rPr>
                <a:t>Swayam Devendra Panchal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>S029 · 60018240013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/>
              </a:r>
            </a:p>
            <a:p>
              <a:r>
                <a:rPr b="1" sz="1200">
                  <a:solidFill>
                    <a:srgbClr val="000000"/>
                  </a:solidFill>
                  <a:latin typeface="Calibri"/>
                </a:rPr>
                <a:t>Mentor:</a:t>
              </a:r>
            </a:p>
            <a:p>
              <a:r>
                <a:rPr b="0" sz="1100">
                  <a:solidFill>
                    <a:srgbClr val="000000"/>
                  </a:solidFill>
                  <a:latin typeface="Calibri"/>
                </a:rPr>
                <a:t>________________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886200" y="3611880"/>
            <a:ext cx="800100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27A2E"/>
                </a:solidFill>
                <a:latin typeface="Montserrat"/>
              </a:rPr>
              <a:t>Title: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Learnova — AI-powered redesign of outdated lecture slides into illustrated, interactive teaching decks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DDDDD"/>
                </a:solidFill>
                <a:latin typeface="Calibri"/>
              </a:rPr>
              <a:t>Domain: Education Technology · Artificial Intelligence · Document Understanding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BBBBBB"/>
                </a:solidFill>
                <a:latin typeface="Calibri"/>
              </a:rPr>
              <a:t>Group No. 1 · Department of Artificial Intelligence and Data Science, DJSCE · Interdisciplinary Project Review, Odd Sem 2026</a:t>
            </a:r>
          </a:p>
        </p:txBody>
      </p:sp>
    </p:spTree>
    <p:extLst>
      <p:ext uri="{BB962C8B-B14F-4D97-AF65-F5344CB8AC3E}">
        <p14:creationId xmlns:p14="http://schemas.microsoft.com/office/powerpoint/2010/main" val="720051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72131"/>
                </a:solidFill>
                <a:latin typeface="Montserrat"/>
              </a:rPr>
              <a:t>IDEA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621792"/>
            <a:ext cx="1188720" cy="54864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4864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1F5FBF"/>
                </a:solidFill>
                <a:latin typeface="Calibri"/>
              </a:rPr>
              <a:t>From text walls to teaching decks — without losing a single point the teacher wrote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28016"/>
            <a:ext cx="2606040" cy="56692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28016"/>
            <a:ext cx="2514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7A2E"/>
                </a:solidFill>
                <a:latin typeface="Montserrat"/>
              </a:rPr>
              <a:t>LEARNOVA · Group 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IPD Review · AI &amp; DS, DJSCE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Learnova — redesigning outdated lecture slides into illustrated, interactive teaching decks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548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896112"/>
            <a:ext cx="11658600" cy="329184"/>
          </a:xfrm>
          <a:prstGeom prst="roundRect">
            <a:avLst>
              <a:gd name="adj" fmla="val 40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896112"/>
            <a:ext cx="11658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five real course decks (306 slides) we found 83 untitled slides, equations pasted as pictures, and not one diagram, quiz or interactive element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298448"/>
            <a:ext cx="116586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7A2E"/>
                </a:solidFill>
                <a:latin typeface="Calibri"/>
              </a:rPr>
              <a:t>Proposed solution:  </a:t>
            </a:r>
            <a:r>
              <a:rPr sz="1150" b="0" i="0">
                <a:solidFill>
                  <a:srgbClr val="172131"/>
                </a:solidFill>
                <a:latin typeface="Calibri"/>
              </a:rPr>
              <a:t>Faculty reuse the same slide decks for years, and students revise from them before every examination. Learnova is a web platform that takes the deck a teacher already has — a PowerPoint, a slide PDF, Word notes or a typed topic — and rebuilds it as an </a:t>
            </a:r>
            <a:r>
              <a:rPr sz="1150" b="1" i="0">
                <a:solidFill>
                  <a:srgbClr val="172131"/>
                </a:solidFill>
                <a:latin typeface="Calibri"/>
              </a:rPr>
              <a:t>editable PowerPoint, an interactive web deck and a study pack</a:t>
            </a:r>
            <a:r>
              <a:rPr sz="1150" b="0" i="0">
                <a:solidFill>
                  <a:srgbClr val="172131"/>
                </a:solidFill>
                <a:latin typeface="Calibri"/>
              </a:rPr>
              <a:t>. Every point of the original is kept; what changes is how it is shown: a visual for every idea, an illustration on every slide, and quizzes, solved problems and labs that let students work with the material instead of only reading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029968"/>
            <a:ext cx="3776472" cy="3090672"/>
          </a:xfrm>
          <a:prstGeom prst="roundRect">
            <a:avLst>
              <a:gd name="adj" fmla="val 4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2029968"/>
            <a:ext cx="3776472" cy="329184"/>
          </a:xfrm>
          <a:prstGeom prst="roundRect">
            <a:avLst>
              <a:gd name="adj" fmla="val 25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194560"/>
            <a:ext cx="3776472" cy="164592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75688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2029968"/>
            <a:ext cx="3364991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Detailed explanation of 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414016"/>
            <a:ext cx="3611880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Slide reader: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PDF/PPTX read page by page — titles, bullet levels, tables, figures; OCR for picture-only slides.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Decision engine: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27 detectors choose process, timeline, comparison, definition, chart or cards — with a reason.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Assertion titles: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every title states the slide's point (AI with key, rules without).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Illustrations: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AI-written diagram, teacher's figure or offline scene on every slide, each with an HTML link.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Interaction: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checkpoint quizzes, exact step-by-step solvers, labs for NLP, ML and IPCV topics.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Outputs: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editable PPTX, Reveal.js web deck, flashcards, Anki, quiz bank, share link, tutor.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8807" y="2029968"/>
            <a:ext cx="3776472" cy="3090672"/>
          </a:xfrm>
          <a:prstGeom prst="roundRect">
            <a:avLst>
              <a:gd name="adj" fmla="val 4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78807" y="2029968"/>
            <a:ext cx="3776472" cy="329184"/>
          </a:xfrm>
          <a:prstGeom prst="roundRect">
            <a:avLst>
              <a:gd name="adj" fmla="val 25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78807" y="2194560"/>
            <a:ext cx="3776472" cy="164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2075688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26279" y="2029968"/>
            <a:ext cx="3364991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How it addresses 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7" y="2414016"/>
            <a:ext cx="3611880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Text walls →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one idea per slide, drawn as a visual at a readable density.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Untitled slides →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83 → 0; split parts are named after what they cover.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Pictures of equations →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kept as full-size figures; never replaced by OCR noise.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Passive reading →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quizzes, steppers and labs on the slide itself.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Hours of redesign →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a finished deck in about 10–60 s, fully editable.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Unreliable AI →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source text kept verbatim; 98–100% of facts retained.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2029968"/>
            <a:ext cx="3776472" cy="3090672"/>
          </a:xfrm>
          <a:prstGeom prst="roundRect">
            <a:avLst>
              <a:gd name="adj" fmla="val 4000"/>
            </a:avLst>
          </a:prstGeom>
          <a:solidFill>
            <a:srgbClr val="F1EBF9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83296" y="2029968"/>
            <a:ext cx="3776472" cy="329184"/>
          </a:xfrm>
          <a:prstGeom prst="roundRect">
            <a:avLst>
              <a:gd name="adj" fmla="val 25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2194560"/>
            <a:ext cx="3776472" cy="1645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07568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30768" y="2029968"/>
            <a:ext cx="3364991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Innovation and uniqueness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2414016"/>
            <a:ext cx="3611880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Redesign, not generate: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starts from the teacher's deck; Gamma, Copilot and Canva start from a prompt.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Faithful by construction: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every AI output is checked against the slide; numbers are computed.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Explainable design: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each visual choice comes with its rule and confidence.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Glyph-measured layout: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no overflow and no word ever broken across lines.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Two fallbacks: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5-key Gemini pool → Groq/NVIDIA → full offline logic.</a:t>
            </a:r>
          </a:p>
          <a:p>
            <a:pPr algn="l">
              <a:spcAft>
                <a:spcPts val="400"/>
              </a:spcAft>
            </a:pPr>
            <a:r>
              <a:rPr sz="103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1030" b="1" i="0">
                <a:solidFill>
                  <a:srgbClr val="172131"/>
                </a:solidFill>
                <a:latin typeface="Calibri"/>
              </a:rPr>
              <a:t>Built-in labs:</a:t>
            </a:r>
            <a:r>
              <a:rPr sz="1030" b="0" i="0">
                <a:solidFill>
                  <a:srgbClr val="172131"/>
                </a:solidFill>
                <a:latin typeface="Calibri"/>
              </a:rPr>
              <a:t> Region Growing, Split &amp; Merge, CYK, Viterbi, NB-WSD, HMM tagging.</a:t>
            </a:r>
          </a:p>
        </p:txBody>
      </p:sp>
      <p:sp>
        <p:nvSpPr>
          <p:cNvPr id="31" name="Pentagon 30"/>
          <p:cNvSpPr/>
          <p:nvPr/>
        </p:nvSpPr>
        <p:spPr>
          <a:xfrm>
            <a:off x="274320" y="5212080"/>
            <a:ext cx="2286000" cy="274320"/>
          </a:xfrm>
          <a:prstGeom prst="homePlat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21208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PHASE 1 · Sep–Dec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504688"/>
            <a:ext cx="22860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F27A2E"/>
                </a:solidFill>
                <a:latin typeface="Calibri"/>
              </a:rPr>
              <a:t>Research &amp; design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72131"/>
                </a:solidFill>
                <a:latin typeface="Calibri"/>
              </a:rPr>
              <a:t>Literature survey, competitor study, problem statement, architecture, UI plan</a:t>
            </a:r>
          </a:p>
        </p:txBody>
      </p:sp>
      <p:sp>
        <p:nvSpPr>
          <p:cNvPr id="34" name="Pentagon 33"/>
          <p:cNvSpPr/>
          <p:nvPr/>
        </p:nvSpPr>
        <p:spPr>
          <a:xfrm>
            <a:off x="2651760" y="5212080"/>
            <a:ext cx="2286000" cy="274320"/>
          </a:xfrm>
          <a:prstGeom prst="homePlat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521208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PHASE 2 · Jan–Mar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504688"/>
            <a:ext cx="22860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F5FBF"/>
                </a:solidFill>
                <a:latin typeface="Calibri"/>
              </a:rPr>
              <a:t>Prototype V1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72131"/>
                </a:solidFill>
                <a:latin typeface="Calibri"/>
              </a:rPr>
              <a:t>Parsing, AI rewriting, engagement score, quiz generation, Streamlit demo</a:t>
            </a:r>
          </a:p>
        </p:txBody>
      </p:sp>
      <p:sp>
        <p:nvSpPr>
          <p:cNvPr id="37" name="Pentagon 36"/>
          <p:cNvSpPr/>
          <p:nvPr/>
        </p:nvSpPr>
        <p:spPr>
          <a:xfrm>
            <a:off x="5029200" y="5212080"/>
            <a:ext cx="2286000" cy="274320"/>
          </a:xfrm>
          <a:prstGeom prst="homePlat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521208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PHASE 3 · Apr–Jul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504688"/>
            <a:ext cx="22860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845B"/>
                </a:solidFill>
                <a:latin typeface="Calibri"/>
              </a:rPr>
              <a:t>Learnova V2 platform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72131"/>
                </a:solidFill>
                <a:latin typeface="Calibri"/>
              </a:rPr>
              <a:t>FastAPI + React, decision engine, PPTX &amp; web builders, OTP accounts, library</a:t>
            </a:r>
          </a:p>
        </p:txBody>
      </p:sp>
      <p:sp>
        <p:nvSpPr>
          <p:cNvPr id="40" name="Pentagon 39"/>
          <p:cNvSpPr/>
          <p:nvPr/>
        </p:nvSpPr>
        <p:spPr>
          <a:xfrm>
            <a:off x="7406640" y="5212080"/>
            <a:ext cx="2286000" cy="274320"/>
          </a:xfrm>
          <a:prstGeom prst="homePlat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521208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PHASE 4 · Aug–Oct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504688"/>
            <a:ext cx="22860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6B3FA0"/>
                </a:solidFill>
                <a:latin typeface="Calibri"/>
              </a:rPr>
              <a:t>Real lecture decks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72131"/>
                </a:solidFill>
                <a:latin typeface="Calibri"/>
              </a:rPr>
              <a:t>Slide reader + OCR, illustrations, explainers, labs, AI keys, papers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29800" y="5212080"/>
            <a:ext cx="2103120" cy="1298448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5285232"/>
            <a:ext cx="914400" cy="9144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35640" y="5248656"/>
            <a:ext cx="1078992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5FBF"/>
                </a:solidFill>
                <a:latin typeface="Calibri"/>
              </a:rPr>
              <a:t>LIVE CODE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172131"/>
                </a:solidFill>
                <a:latin typeface="Calibri"/>
              </a:rPr>
              <a:t>Full source, 755 tests, papers and demo decks on GitHub</a:t>
            </a:r>
          </a:p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1F5FBF"/>
                </a:solidFill>
                <a:latin typeface="Calibri"/>
              </a:rPr>
              <a:t>SDP42/LearnovaV2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72131"/>
                </a:solidFill>
                <a:latin typeface="Montserrat"/>
              </a:rPr>
              <a:t>LITERATURE REVIEW / EXISTING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621792"/>
            <a:ext cx="1188720" cy="54864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4864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1F5FBF"/>
                </a:solidFill>
                <a:latin typeface="Calibri"/>
              </a:rPr>
              <a:t>What research and today's tools do — and the gap Learnova fills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28016"/>
            <a:ext cx="2606040" cy="56692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28016"/>
            <a:ext cx="2514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7A2E"/>
                </a:solidFill>
                <a:latin typeface="Montserrat"/>
              </a:rPr>
              <a:t>LEARNOVA · Group 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IPD Review · AI &amp; DS, DJSCE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Learnova — redesigning outdated lecture slides into illustrated, interactive teaching decks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548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914400"/>
          <a:ext cx="827532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2331720"/>
                <a:gridCol w="2834640"/>
                <a:gridCol w="28346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18288" marB="18288">
                    <a:solidFill>
                      <a:srgbClr val="1F5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Reference / existing system</a:t>
                      </a:r>
                    </a:p>
                  </a:txBody>
                  <a:tcPr marL="45720" marR="45720" marT="18288" marB="18288">
                    <a:solidFill>
                      <a:srgbClr val="1F5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 &amp; key findings</a:t>
                      </a:r>
                    </a:p>
                  </a:txBody>
                  <a:tcPr marL="45720" marR="45720" marT="18288" marB="18288">
                    <a:solidFill>
                      <a:srgbClr val="1F5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Gap / scope for improvement</a:t>
                      </a:r>
                    </a:p>
                  </a:txBody>
                  <a:tcPr marL="45720" marR="45720" marT="18288" marB="18288">
                    <a:solidFill>
                      <a:srgbClr val="1F5FB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7213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Hu &amp; Wan, “PPSGen”, IEEE TKDE 27(4), 2015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Learns sentence importance with regression; ILP selects sentences into slides for academic papers.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Papers only; summarises so content is lost; no visuals; cannot redesign existing slides.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7213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Fu et al., “DOC2PPT”, AAAI 36, 2022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Hierarchical neural summariser + figure selection + layout prediction from paper–slide pairs.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Needs training pairs; abstractive text can alter facts; input must be a scientific paper.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7213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Sun et al., “D2S”, NAACL 2021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Slide titles used as queries; retrieval + QA-style summarisation fills each slide.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Text only; no figures, quizzes or interaction; not for an existing lecture deck.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7213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Maynez et al., “Faithfulness in abstractive summarization”, ACL 2020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Abstractive models hallucinate and omit content in a large share of outputs.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Motivates keeping source text verbatim and checking every AI output.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7213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Garner &amp; Alley, assertion–evidence, IJEE 29(6), 2013; Mayer, Multimedia Learning, 2009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Sentence headlines + visual evidence beat bullet lists; one idea per slide, words near pictures.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Design guidance only — no tool applies it automatically to old decks.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7213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Sweller &amp; Cooper 1985; Hundhausen et al. 2002 (worked examples, algorithm visualisation)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Studying solved steps and interacting with a visual simulation improves learning.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Lecture slides show finished answers; no step-by-step or interactive layer.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7213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Gamma, MS Copilot in PowerPoint, Gemini in Slides, Canva Magic Design (2026)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LLM writes an outline, then fills a template; attractive new decks from a prompt.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72131"/>
                          </a:solidFill>
                          <a:latin typeface="Calibri"/>
                        </a:rPr>
                        <a:t>Rewrite/merge the teacher's points, drop figures, no labs/solvers, need internet &amp; paid plans.</a:t>
                      </a:r>
                    </a:p>
                  </a:txBody>
                  <a:tcPr marL="45720" marR="45720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86800" y="914400"/>
            <a:ext cx="3246120" cy="4553712"/>
          </a:xfrm>
          <a:prstGeom prst="roundRect">
            <a:avLst>
              <a:gd name="adj" fmla="val 4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0" y="914400"/>
            <a:ext cx="3246120" cy="329184"/>
          </a:xfrm>
          <a:prstGeom prst="roundRect">
            <a:avLst>
              <a:gd name="adj" fmla="val 25000"/>
            </a:avLst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1078992"/>
            <a:ext cx="3246120" cy="164592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960120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34272" y="914400"/>
            <a:ext cx="28346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Gap → how Learnova closes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335024"/>
            <a:ext cx="1325880" cy="493776"/>
          </a:xfrm>
          <a:prstGeom prst="roundRect">
            <a:avLst>
              <a:gd name="adj" fmla="val 15000"/>
            </a:avLst>
          </a:prstGeom>
          <a:solidFill>
            <a:srgbClr val="FCEBEA"/>
          </a:solidFill>
          <a:ln w="9525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1335024"/>
            <a:ext cx="128930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0" i="0">
                <a:solidFill>
                  <a:srgbClr val="C03030"/>
                </a:solidFill>
                <a:latin typeface="Calibri"/>
              </a:rPr>
              <a:t>Generates new decks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22408" y="1581912"/>
            <a:ext cx="237744" cy="0"/>
          </a:xfrm>
          <a:prstGeom prst="line">
            <a:avLst/>
          </a:prstGeom>
          <a:ln w="2222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378440" y="1335024"/>
            <a:ext cx="1463040" cy="493776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96728" y="1335024"/>
            <a:ext cx="142646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1" i="0">
                <a:solidFill>
                  <a:srgbClr val="16845B"/>
                </a:solidFill>
                <a:latin typeface="Calibri"/>
              </a:rPr>
              <a:t>Redesigns the existing deck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920240"/>
            <a:ext cx="1325880" cy="493776"/>
          </a:xfrm>
          <a:prstGeom prst="roundRect">
            <a:avLst>
              <a:gd name="adj" fmla="val 15000"/>
            </a:avLst>
          </a:prstGeom>
          <a:solidFill>
            <a:srgbClr val="FCEBEA"/>
          </a:solidFill>
          <a:ln w="9525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1920240"/>
            <a:ext cx="128930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0" i="0">
                <a:solidFill>
                  <a:srgbClr val="C03030"/>
                </a:solidFill>
                <a:latin typeface="Calibri"/>
              </a:rPr>
              <a:t>Paraphrases, drops items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22408" y="2167128"/>
            <a:ext cx="237744" cy="0"/>
          </a:xfrm>
          <a:prstGeom prst="line">
            <a:avLst/>
          </a:prstGeom>
          <a:ln w="2222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78440" y="1920240"/>
            <a:ext cx="1463040" cy="493776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96728" y="1920240"/>
            <a:ext cx="142646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1" i="0">
                <a:solidFill>
                  <a:srgbClr val="16845B"/>
                </a:solidFill>
                <a:latin typeface="Calibri"/>
              </a:rPr>
              <a:t>Verbatim content + fact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505456"/>
            <a:ext cx="1325880" cy="493776"/>
          </a:xfrm>
          <a:prstGeom prst="roundRect">
            <a:avLst>
              <a:gd name="adj" fmla="val 15000"/>
            </a:avLst>
          </a:prstGeom>
          <a:solidFill>
            <a:srgbClr val="FCEBEA"/>
          </a:solidFill>
          <a:ln w="9525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505456"/>
            <a:ext cx="128930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0" i="0">
                <a:solidFill>
                  <a:srgbClr val="C03030"/>
                </a:solidFill>
                <a:latin typeface="Calibri"/>
              </a:rPr>
              <a:t>Loses figures/equations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22408" y="2752344"/>
            <a:ext cx="237744" cy="0"/>
          </a:xfrm>
          <a:prstGeom prst="line">
            <a:avLst/>
          </a:prstGeom>
          <a:ln w="2222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378440" y="2505456"/>
            <a:ext cx="1463040" cy="493776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96728" y="2505456"/>
            <a:ext cx="142646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1" i="0">
                <a:solidFill>
                  <a:srgbClr val="16845B"/>
                </a:solidFill>
                <a:latin typeface="Calibri"/>
              </a:rPr>
              <a:t>Keeps every figure; OCR only when reliable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090672"/>
            <a:ext cx="1325880" cy="493776"/>
          </a:xfrm>
          <a:prstGeom prst="roundRect">
            <a:avLst>
              <a:gd name="adj" fmla="val 15000"/>
            </a:avLst>
          </a:prstGeom>
          <a:solidFill>
            <a:srgbClr val="FCEBEA"/>
          </a:solidFill>
          <a:ln w="9525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96528" y="3090672"/>
            <a:ext cx="128930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0" i="0">
                <a:solidFill>
                  <a:srgbClr val="C03030"/>
                </a:solidFill>
                <a:latin typeface="Calibri"/>
              </a:rPr>
              <a:t>No visuals by meaning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22408" y="3337560"/>
            <a:ext cx="237744" cy="0"/>
          </a:xfrm>
          <a:prstGeom prst="line">
            <a:avLst/>
          </a:prstGeom>
          <a:ln w="2222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378440" y="3090672"/>
            <a:ext cx="1463040" cy="493776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96728" y="3090672"/>
            <a:ext cx="142646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1" i="0">
                <a:solidFill>
                  <a:srgbClr val="16845B"/>
                </a:solidFill>
                <a:latin typeface="Calibri"/>
              </a:rPr>
              <a:t>27-detector decision engine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3675887"/>
            <a:ext cx="1325880" cy="493776"/>
          </a:xfrm>
          <a:prstGeom prst="roundRect">
            <a:avLst>
              <a:gd name="adj" fmla="val 15000"/>
            </a:avLst>
          </a:prstGeom>
          <a:solidFill>
            <a:srgbClr val="FCEBEA"/>
          </a:solidFill>
          <a:ln w="9525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6528" y="3675887"/>
            <a:ext cx="128930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0" i="0">
                <a:solidFill>
                  <a:srgbClr val="C03030"/>
                </a:solidFill>
                <a:latin typeface="Calibri"/>
              </a:rPr>
              <a:t>No illustration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122408" y="3922775"/>
            <a:ext cx="237744" cy="0"/>
          </a:xfrm>
          <a:prstGeom prst="line">
            <a:avLst/>
          </a:prstGeom>
          <a:ln w="2222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378440" y="3675887"/>
            <a:ext cx="1463040" cy="493776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6728" y="3675887"/>
            <a:ext cx="142646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1" i="0">
                <a:solidFill>
                  <a:srgbClr val="16845B"/>
                </a:solidFill>
                <a:latin typeface="Calibri"/>
              </a:rPr>
              <a:t>AI diagram / own figure / offline scene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4261104"/>
            <a:ext cx="1325880" cy="493776"/>
          </a:xfrm>
          <a:prstGeom prst="roundRect">
            <a:avLst>
              <a:gd name="adj" fmla="val 15000"/>
            </a:avLst>
          </a:prstGeom>
          <a:solidFill>
            <a:srgbClr val="FCEBEA"/>
          </a:solidFill>
          <a:ln w="9525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6528" y="4261104"/>
            <a:ext cx="128930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0" i="0">
                <a:solidFill>
                  <a:srgbClr val="C03030"/>
                </a:solidFill>
                <a:latin typeface="Calibri"/>
              </a:rPr>
              <a:t>No interaction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22408" y="4507992"/>
            <a:ext cx="237744" cy="0"/>
          </a:xfrm>
          <a:prstGeom prst="line">
            <a:avLst/>
          </a:prstGeom>
          <a:ln w="2222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378440" y="4261104"/>
            <a:ext cx="1463040" cy="493776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96728" y="4261104"/>
            <a:ext cx="142646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1" i="0">
                <a:solidFill>
                  <a:srgbClr val="16845B"/>
                </a:solidFill>
                <a:latin typeface="Calibri"/>
              </a:rPr>
              <a:t>Quizzes, solvers, labs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4846320"/>
            <a:ext cx="1325880" cy="493776"/>
          </a:xfrm>
          <a:prstGeom prst="roundRect">
            <a:avLst>
              <a:gd name="adj" fmla="val 15000"/>
            </a:avLst>
          </a:prstGeom>
          <a:solidFill>
            <a:srgbClr val="FCEBEA"/>
          </a:solidFill>
          <a:ln w="9525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4846320"/>
            <a:ext cx="128930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0" i="0">
                <a:solidFill>
                  <a:srgbClr val="C03030"/>
                </a:solidFill>
                <a:latin typeface="Calibri"/>
              </a:rPr>
              <a:t>Cloud &amp; paid only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22408" y="5093208"/>
            <a:ext cx="237744" cy="0"/>
          </a:xfrm>
          <a:prstGeom prst="line">
            <a:avLst/>
          </a:prstGeom>
          <a:ln w="2222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378440" y="4846320"/>
            <a:ext cx="1463040" cy="493776"/>
          </a:xfrm>
          <a:prstGeom prst="roundRect">
            <a:avLst>
              <a:gd name="adj" fmla="val 15000"/>
            </a:avLst>
          </a:prstGeom>
          <a:solidFill>
            <a:srgbClr val="E6F5EE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96728" y="4846320"/>
            <a:ext cx="1426464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80" b="1" i="0">
                <a:solidFill>
                  <a:srgbClr val="16845B"/>
                </a:solidFill>
                <a:latin typeface="Calibri"/>
              </a:rPr>
              <a:t>Offline mode, free keys optional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577840"/>
            <a:ext cx="11658600" cy="914400"/>
          </a:xfrm>
          <a:prstGeom prst="roundRect">
            <a:avLst>
              <a:gd name="adj" fmla="val 8000"/>
            </a:avLst>
          </a:prstGeom>
          <a:solidFill>
            <a:srgbClr val="FCEBEA"/>
          </a:solidFill>
          <a:ln w="12700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614416"/>
            <a:ext cx="114300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03030"/>
                </a:solidFill>
                <a:latin typeface="Calibri"/>
              </a:rPr>
              <a:t>Common limitations found:  </a:t>
            </a:r>
            <a:r>
              <a:rPr sz="1100" b="0" i="0">
                <a:solidFill>
                  <a:srgbClr val="172131"/>
                </a:solidFill>
                <a:latin typeface="Calibri"/>
              </a:rPr>
              <a:t>research systems summarise scientific papers rather than lecture decks, and they trade faithfulness for brevity; commercial tools produce attractive slides but cannot be checked against the source, ignore picture-only and equation slides, add no interaction and require a connection and a subscription. None of them redesigns the deck a teacher already uses — which is exactly the gap Learnova targets.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72131"/>
                </a:solidFill>
                <a:latin typeface="Montserrat"/>
              </a:rPr>
              <a:t>TECHNICAL APPROACH —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621792"/>
            <a:ext cx="1188720" cy="54864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4864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1F5FBF"/>
                </a:solidFill>
                <a:latin typeface="Calibri"/>
              </a:rPr>
              <a:t>Input → processing workflow → output; every AI step has an offline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28016"/>
            <a:ext cx="2606040" cy="56692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28016"/>
            <a:ext cx="2514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7A2E"/>
                </a:solidFill>
                <a:latin typeface="Montserrat"/>
              </a:rPr>
              <a:t>LEARNOVA · Group 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IPD Review · AI &amp; DS, DJSCE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Learnova — redesigning outdated lecture slides into illustrated, interactive teaching decks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548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896112"/>
            <a:ext cx="8183879" cy="292608"/>
          </a:xfrm>
          <a:prstGeom prst="roundRect">
            <a:avLst>
              <a:gd name="adj" fmla="val 40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896112"/>
            <a:ext cx="8183879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System architecture and data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261872"/>
            <a:ext cx="1481328" cy="3904487"/>
          </a:xfrm>
          <a:prstGeom prst="roundRect">
            <a:avLst>
              <a:gd name="adj" fmla="val 5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" y="120700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207008"/>
            <a:ext cx="12618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" y="149961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904" y="1554480"/>
            <a:ext cx="292608" cy="2926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" y="1613001"/>
            <a:ext cx="175564" cy="1755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4" y="151790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PowerPoint (.pptx)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84708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teacher's existing deck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" y="223113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04" y="2286000"/>
            <a:ext cx="292608" cy="2926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" y="2344521"/>
            <a:ext cx="175564" cy="1755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944" y="224942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Slide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57860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exported lecture slides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" y="296265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4904" y="3017520"/>
            <a:ext cx="292608" cy="2926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" y="3076041"/>
            <a:ext cx="175564" cy="1755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4944" y="298094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Word /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31012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.docx, markdown, 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" y="369417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4904" y="3749039"/>
            <a:ext cx="292608" cy="2926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" y="3807561"/>
            <a:ext cx="175564" cy="1755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4944" y="371246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Typed topic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04164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a prompt or syllabus 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" y="442569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4904" y="4480559"/>
            <a:ext cx="292608" cy="2926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" y="4539081"/>
            <a:ext cx="175564" cy="1755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4944" y="444398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Teacher labs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77316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own HTML labs via API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764792" y="3200400"/>
            <a:ext cx="164592" cy="0"/>
          </a:xfrm>
          <a:prstGeom prst="line">
            <a:avLst/>
          </a:prstGeom>
          <a:ln w="28575">
            <a:solidFill>
              <a:srgbClr val="1721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645920" y="2926080"/>
            <a:ext cx="402336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680" b="0" i="1">
                <a:solidFill>
                  <a:srgbClr val="172131"/>
                </a:solidFill>
                <a:latin typeface="Calibri"/>
              </a:rPr>
              <a:t>IR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38528" y="1261872"/>
            <a:ext cx="1481328" cy="3904487"/>
          </a:xfrm>
          <a:prstGeom prst="roundRect">
            <a:avLst>
              <a:gd name="adj" fmla="val 5000"/>
            </a:avLst>
          </a:prstGeom>
          <a:solidFill>
            <a:srgbClr val="E3F4F5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048256" y="120700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48256" y="1207008"/>
            <a:ext cx="12618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02536" y="149961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39112" y="1554480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7633" y="1613001"/>
            <a:ext cx="175564" cy="1755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359152" y="151790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LibreOffice convert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9968" y="184708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PPTX → PDF, cached by hash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02536" y="223113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39112" y="2286000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7633" y="2344521"/>
            <a:ext cx="175564" cy="17556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359152" y="224942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Slide reader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29968" y="257860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titles · bullet levels · tables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002536" y="296265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39112" y="3017520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7633" y="3076041"/>
            <a:ext cx="175564" cy="17556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359152" y="298094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OCR decision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29968" y="331012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Tesseract when text is reliable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02536" y="369417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039112" y="3749039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7633" y="3807561"/>
            <a:ext cx="175564" cy="17556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359152" y="371246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Repair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29968" y="404164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furniture, glued titles, split words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02536" y="442569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039112" y="4480559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7633" y="4539081"/>
            <a:ext cx="175564" cy="17556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2359152" y="444398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Colour DNA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29968" y="477316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source palette → theme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429000" y="3200400"/>
            <a:ext cx="164592" cy="0"/>
          </a:xfrm>
          <a:prstGeom prst="line">
            <a:avLst/>
          </a:prstGeom>
          <a:ln w="28575">
            <a:solidFill>
              <a:srgbClr val="1721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310128" y="2926080"/>
            <a:ext cx="402336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680" b="0" i="1">
                <a:solidFill>
                  <a:srgbClr val="172131"/>
                </a:solidFill>
                <a:latin typeface="Calibri"/>
              </a:rPr>
              <a:t>plan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02736" y="1261872"/>
            <a:ext cx="1481328" cy="3904487"/>
          </a:xfrm>
          <a:prstGeom prst="roundRect">
            <a:avLst>
              <a:gd name="adj" fmla="val 5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712463" y="120700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12463" y="1207008"/>
            <a:ext cx="12618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ENGINES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66744" y="149961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703320" y="1554480"/>
            <a:ext cx="292608" cy="292608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1841" y="1613001"/>
            <a:ext cx="175564" cy="17556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023360" y="151790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Planner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94176" y="184708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split · merge · agenda · glossary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66744" y="223113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703320" y="2286000"/>
            <a:ext cx="292608" cy="292608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1841" y="2344521"/>
            <a:ext cx="175564" cy="17556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023360" y="224942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Decision engine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94176" y="257860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27 detectors, reason + score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66744" y="296265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703320" y="3017520"/>
            <a:ext cx="292608" cy="292608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61841" y="3076041"/>
            <a:ext cx="175564" cy="175564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023360" y="298094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Layout engine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94176" y="331012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glyph-measured, no broken words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66744" y="369417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703320" y="3749039"/>
            <a:ext cx="292608" cy="292608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61841" y="3807561"/>
            <a:ext cx="175564" cy="175564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4023360" y="371246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Explainer solvers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94176" y="404164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exact step-by-step (SymPy)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66744" y="442569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703320" y="4480559"/>
            <a:ext cx="292608" cy="292608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61841" y="4539081"/>
            <a:ext cx="175564" cy="17556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023360" y="444398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Quiz + lab selector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94176" y="477316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checkpoints, one lab per topic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5093208" y="3200400"/>
            <a:ext cx="164592" cy="0"/>
          </a:xfrm>
          <a:prstGeom prst="line">
            <a:avLst/>
          </a:prstGeom>
          <a:ln w="28575">
            <a:solidFill>
              <a:srgbClr val="1721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974336" y="2926080"/>
            <a:ext cx="402336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680" b="0" i="1">
                <a:solidFill>
                  <a:srgbClr val="172131"/>
                </a:solidFill>
                <a:latin typeface="Calibri"/>
              </a:rPr>
              <a:t>calls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266944" y="1261872"/>
            <a:ext cx="1481328" cy="3904487"/>
          </a:xfrm>
          <a:prstGeom prst="roundRect">
            <a:avLst>
              <a:gd name="adj" fmla="val 5000"/>
            </a:avLst>
          </a:prstGeom>
          <a:solidFill>
            <a:srgbClr val="F1EBF9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376672" y="120700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76672" y="1207008"/>
            <a:ext cx="12618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AI SERVICE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330952" y="149961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67528" y="1554480"/>
            <a:ext cx="292608" cy="292608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26049" y="1613001"/>
            <a:ext cx="175564" cy="175564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687568" y="151790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LLM router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58383" y="184708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Gemini ×5 → Groq → NVIDIA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330952" y="223113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367528" y="2286000"/>
            <a:ext cx="292608" cy="292608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049" y="2344521"/>
            <a:ext cx="175564" cy="175564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687568" y="224942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AI polish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58383" y="257860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assertion titles, explanations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330952" y="296265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67528" y="3017520"/>
            <a:ext cx="292608" cy="292608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6049" y="3076041"/>
            <a:ext cx="175564" cy="175564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5687568" y="298094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Topic diagrams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358383" y="331012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validated SVG + HTML page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330952" y="369417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67528" y="3749039"/>
            <a:ext cx="292608" cy="292608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26049" y="3807561"/>
            <a:ext cx="175564" cy="175564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5687568" y="371246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AI labs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58383" y="404164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JS checked with node --check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330952" y="442569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67528" y="4480559"/>
            <a:ext cx="292608" cy="292608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6049" y="4539081"/>
            <a:ext cx="175564" cy="175564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5687568" y="444398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Offline fallback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358383" y="477316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rules, scenes, structure labs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757416" y="3200400"/>
            <a:ext cx="164592" cy="0"/>
          </a:xfrm>
          <a:prstGeom prst="line">
            <a:avLst/>
          </a:prstGeom>
          <a:ln w="28575">
            <a:solidFill>
              <a:srgbClr val="1721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6638544" y="2926080"/>
            <a:ext cx="402336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680" b="0" i="1">
                <a:solidFill>
                  <a:srgbClr val="172131"/>
                </a:solidFill>
                <a:latin typeface="Calibri"/>
              </a:rPr>
              <a:t>assets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931152" y="1261872"/>
            <a:ext cx="1481328" cy="3904487"/>
          </a:xfrm>
          <a:prstGeom prst="roundRect">
            <a:avLst>
              <a:gd name="adj" fmla="val 5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040880" y="120700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40880" y="1207008"/>
            <a:ext cx="1261872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995160" y="149961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031736" y="1554480"/>
            <a:ext cx="292608" cy="2926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Picture 1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90257" y="1613001"/>
            <a:ext cx="175564" cy="175564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7351776" y="151790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Editable PPTX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022592" y="184708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native shapes, linked pictures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995160" y="223113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031736" y="2286000"/>
            <a:ext cx="292608" cy="2926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90257" y="2344521"/>
            <a:ext cx="175564" cy="17556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7351776" y="224942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Web deck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22592" y="257860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Reveal.js, reveals, overlays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995160" y="296265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031736" y="3017520"/>
            <a:ext cx="292608" cy="2926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90257" y="3076041"/>
            <a:ext cx="175564" cy="175564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7351776" y="2980944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Study pack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022592" y="331012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flashcards · Anki · quiz bank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995160" y="369417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031736" y="3749039"/>
            <a:ext cx="292608" cy="2926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90257" y="3807561"/>
            <a:ext cx="175564" cy="175564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7351776" y="371246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Share link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022592" y="404164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view-only, no login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995160" y="4425696"/>
            <a:ext cx="13533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031736" y="4480559"/>
            <a:ext cx="292608" cy="2926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90257" y="4539081"/>
            <a:ext cx="175564" cy="175564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7351776" y="4443983"/>
            <a:ext cx="98755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40" b="1" i="0">
                <a:solidFill>
                  <a:srgbClr val="172131"/>
                </a:solidFill>
                <a:latin typeface="Calibri"/>
              </a:rPr>
              <a:t>Deck tutor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022592" y="4773168"/>
            <a:ext cx="1298448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55F6D"/>
                </a:solidFill>
                <a:latin typeface="Calibri"/>
              </a:rPr>
              <a:t>answers from the deck only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74320" y="5257800"/>
            <a:ext cx="8183879" cy="6583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7472" y="5266944"/>
            <a:ext cx="274320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55F6D"/>
                </a:solidFill>
                <a:latin typeface="Calibri"/>
              </a:rPr>
              <a:t>DEPLOYMENT AND OPERATIONS · open-source / free tier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84048" y="5486400"/>
            <a:ext cx="1444752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29768" y="5522976"/>
            <a:ext cx="310896" cy="310896"/>
          </a:xfrm>
          <a:prstGeom prst="ellipse">
            <a:avLst/>
          </a:prstGeom>
          <a:solidFill>
            <a:srgbClr val="172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1947" y="5585155"/>
            <a:ext cx="186537" cy="186537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68096" y="5486400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72131"/>
                </a:solidFill>
                <a:latin typeface="Calibri"/>
              </a:rPr>
              <a:t>GitHub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555F6D"/>
                </a:solidFill>
                <a:latin typeface="Calibri"/>
              </a:rPr>
              <a:t>source · 755 tests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1837944" y="5678424"/>
            <a:ext cx="155448" cy="0"/>
          </a:xfrm>
          <a:prstGeom prst="line">
            <a:avLst/>
          </a:prstGeom>
          <a:ln w="190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ounded Rectangle 166"/>
          <p:cNvSpPr/>
          <p:nvPr/>
        </p:nvSpPr>
        <p:spPr>
          <a:xfrm>
            <a:off x="2002536" y="5486400"/>
            <a:ext cx="1444752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048255" y="5522976"/>
            <a:ext cx="310896" cy="310896"/>
          </a:xfrm>
          <a:prstGeom prst="ellipse">
            <a:avLst/>
          </a:prstGeom>
          <a:solidFill>
            <a:srgbClr val="172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10435" y="5585155"/>
            <a:ext cx="186537" cy="186537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2386584" y="5486400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72131"/>
                </a:solidFill>
                <a:latin typeface="Calibri"/>
              </a:rPr>
              <a:t>Vercel / Netlify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555F6D"/>
                </a:solidFill>
                <a:latin typeface="Calibri"/>
              </a:rPr>
              <a:t>React static build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3456432" y="5678424"/>
            <a:ext cx="155448" cy="0"/>
          </a:xfrm>
          <a:prstGeom prst="line">
            <a:avLst/>
          </a:prstGeom>
          <a:ln w="190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le 171"/>
          <p:cNvSpPr/>
          <p:nvPr/>
        </p:nvSpPr>
        <p:spPr>
          <a:xfrm>
            <a:off x="3621024" y="5486400"/>
            <a:ext cx="1444752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666744" y="5522976"/>
            <a:ext cx="310896" cy="310896"/>
          </a:xfrm>
          <a:prstGeom prst="ellipse">
            <a:avLst/>
          </a:prstGeom>
          <a:solidFill>
            <a:srgbClr val="172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28923" y="5585155"/>
            <a:ext cx="186537" cy="186537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4005072" y="5486400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72131"/>
                </a:solidFill>
                <a:latin typeface="Calibri"/>
              </a:rPr>
              <a:t>Docker on Render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555F6D"/>
                </a:solidFill>
                <a:latin typeface="Calibri"/>
              </a:rPr>
              <a:t>FastAPI + LibreOffice + OCR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5074920" y="5678424"/>
            <a:ext cx="155448" cy="0"/>
          </a:xfrm>
          <a:prstGeom prst="line">
            <a:avLst/>
          </a:prstGeom>
          <a:ln w="190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5239512" y="5486400"/>
            <a:ext cx="1444752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285232" y="5522976"/>
            <a:ext cx="310896" cy="310896"/>
          </a:xfrm>
          <a:prstGeom prst="ellipse">
            <a:avLst/>
          </a:prstGeom>
          <a:solidFill>
            <a:srgbClr val="172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47411" y="5585155"/>
            <a:ext cx="186537" cy="186537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5623560" y="5486400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72131"/>
                </a:solidFill>
                <a:latin typeface="Calibri"/>
              </a:rPr>
              <a:t>SQLite volume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555F6D"/>
                </a:solidFill>
                <a:latin typeface="Calibri"/>
              </a:rPr>
              <a:t>users · decks · caches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6693408" y="5678424"/>
            <a:ext cx="155448" cy="0"/>
          </a:xfrm>
          <a:prstGeom prst="line">
            <a:avLst/>
          </a:prstGeom>
          <a:ln w="19050">
            <a:solidFill>
              <a:srgbClr val="555F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le 181"/>
          <p:cNvSpPr/>
          <p:nvPr/>
        </p:nvSpPr>
        <p:spPr>
          <a:xfrm>
            <a:off x="6858000" y="5486400"/>
            <a:ext cx="1444752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6903720" y="5522976"/>
            <a:ext cx="310896" cy="310896"/>
          </a:xfrm>
          <a:prstGeom prst="ellipse">
            <a:avLst/>
          </a:prstGeom>
          <a:solidFill>
            <a:srgbClr val="172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4" name="Picture 18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65899" y="5585155"/>
            <a:ext cx="186537" cy="186537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7242048" y="5486400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72131"/>
                </a:solidFill>
                <a:latin typeface="Calibri"/>
              </a:rPr>
              <a:t>Monitoring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555F6D"/>
                </a:solidFill>
                <a:latin typeface="Calibri"/>
              </a:rPr>
              <a:t>health · audit · logs</a:t>
            </a:r>
          </a:p>
        </p:txBody>
      </p:sp>
      <p:sp>
        <p:nvSpPr>
          <p:cNvPr id="186" name="Pentagon 185"/>
          <p:cNvSpPr/>
          <p:nvPr/>
        </p:nvSpPr>
        <p:spPr>
          <a:xfrm>
            <a:off x="274320" y="5989320"/>
            <a:ext cx="1993392" cy="530352"/>
          </a:xfrm>
          <a:prstGeom prst="homePlat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47472" y="5989320"/>
            <a:ext cx="178308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1 · Read faithfully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every page, every figure kept</a:t>
            </a:r>
          </a:p>
        </p:txBody>
      </p:sp>
      <p:sp>
        <p:nvSpPr>
          <p:cNvPr id="188" name="Pentagon 187"/>
          <p:cNvSpPr/>
          <p:nvPr/>
        </p:nvSpPr>
        <p:spPr>
          <a:xfrm>
            <a:off x="2331720" y="5989320"/>
            <a:ext cx="1993392" cy="530352"/>
          </a:xfrm>
          <a:prstGeom prst="homePlat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404872" y="5989320"/>
            <a:ext cx="178308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2 · Decide with rules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explainable visual per slide</a:t>
            </a:r>
          </a:p>
        </p:txBody>
      </p:sp>
      <p:sp>
        <p:nvSpPr>
          <p:cNvPr id="190" name="Pentagon 189"/>
          <p:cNvSpPr/>
          <p:nvPr/>
        </p:nvSpPr>
        <p:spPr>
          <a:xfrm>
            <a:off x="4389120" y="5989320"/>
            <a:ext cx="1993392" cy="530352"/>
          </a:xfrm>
          <a:prstGeom prst="homePlat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462272" y="5989320"/>
            <a:ext cx="178308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3 · Enrich with AI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checked titles, diagrams, labs</a:t>
            </a:r>
          </a:p>
        </p:txBody>
      </p:sp>
      <p:sp>
        <p:nvSpPr>
          <p:cNvPr id="192" name="Pentagon 191"/>
          <p:cNvSpPr/>
          <p:nvPr/>
        </p:nvSpPr>
        <p:spPr>
          <a:xfrm>
            <a:off x="6446520" y="5989320"/>
            <a:ext cx="1993392" cy="530352"/>
          </a:xfrm>
          <a:prstGeom prst="homePlate">
            <a:avLst/>
          </a:prstGeom>
          <a:solidFill>
            <a:srgbClr val="172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519672" y="5989320"/>
            <a:ext cx="178308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4 · Build and audit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>PPTX + web deck, no breaks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8595360" y="896112"/>
            <a:ext cx="3337560" cy="292608"/>
          </a:xfrm>
          <a:prstGeom prst="roundRect">
            <a:avLst>
              <a:gd name="adj" fmla="val 40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595360" y="896112"/>
            <a:ext cx="333756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Technologies to be used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8796528" y="12801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7" name="Picture 19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87967" y="1371600"/>
            <a:ext cx="274320" cy="274320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8595359" y="1737360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React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619488" y="12801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0" name="Picture 19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10928" y="1371600"/>
            <a:ext cx="274320" cy="274320"/>
          </a:xfrm>
          <a:prstGeom prst="rect">
            <a:avLst/>
          </a:prstGeom>
        </p:spPr>
      </p:pic>
      <p:sp>
        <p:nvSpPr>
          <p:cNvPr id="201" name="TextBox 200"/>
          <p:cNvSpPr txBox="1"/>
          <p:nvPr/>
        </p:nvSpPr>
        <p:spPr>
          <a:xfrm>
            <a:off x="9418319" y="1737360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Vite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0442448" y="12801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3" name="Picture 20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33888" y="1371600"/>
            <a:ext cx="274320" cy="274320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10241280" y="1737360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Tailwind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265407" y="12801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9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6" name="Picture 20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56847" y="1371600"/>
            <a:ext cx="274320" cy="274320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11064239" y="1737360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Reveal.js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8796528" y="199339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0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87967" y="2084831"/>
            <a:ext cx="274320" cy="274320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8595359" y="2450591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Python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619488" y="199339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2" name="Picture 21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10928" y="2084831"/>
            <a:ext cx="274320" cy="274320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9418319" y="2450591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FastAPI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0442448" y="199339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F5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5" name="Picture 21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33888" y="2084831"/>
            <a:ext cx="274320" cy="274320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0241280" y="2450591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SQLite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1265407" y="199339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8" name="Picture 2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47" y="2084831"/>
            <a:ext cx="274320" cy="274320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11064239" y="2450591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PyMuPDF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8796528" y="270662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8A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967" y="2798064"/>
            <a:ext cx="274320" cy="274320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8595359" y="3163824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LibreOffice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9619488" y="270662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4" name="Picture 2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0928" y="2798064"/>
            <a:ext cx="274320" cy="274320"/>
          </a:xfrm>
          <a:prstGeom prst="rect">
            <a:avLst/>
          </a:prstGeom>
        </p:spPr>
      </p:pic>
      <p:sp>
        <p:nvSpPr>
          <p:cNvPr id="225" name="TextBox 224"/>
          <p:cNvSpPr txBox="1"/>
          <p:nvPr/>
        </p:nvSpPr>
        <p:spPr>
          <a:xfrm>
            <a:off x="9418319" y="3163824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Tesseract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0442448" y="270662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7" name="Picture 226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533888" y="2798064"/>
            <a:ext cx="274320" cy="274320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10241280" y="3163824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Gemini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1265407" y="270662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55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0" name="Picture 2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56847" y="2798064"/>
            <a:ext cx="274320" cy="274320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11064239" y="3163824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Groq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8796528" y="34198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3" name="Picture 2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87967" y="3511296"/>
            <a:ext cx="274320" cy="274320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8595359" y="3877056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SymPy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9619488" y="34198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89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6" name="Picture 235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710928" y="3511296"/>
            <a:ext cx="274320" cy="274320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9418319" y="3877056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pytest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0442448" y="34198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72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9" name="Picture 23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33888" y="3511296"/>
            <a:ext cx="274320" cy="274320"/>
          </a:xfrm>
          <a:prstGeom prst="rect">
            <a:avLst/>
          </a:prstGeom>
        </p:spPr>
      </p:pic>
      <p:sp>
        <p:nvSpPr>
          <p:cNvPr id="240" name="TextBox 239"/>
          <p:cNvSpPr txBox="1"/>
          <p:nvPr/>
        </p:nvSpPr>
        <p:spPr>
          <a:xfrm>
            <a:off x="10241280" y="3877056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GitHub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1265407" y="341985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2" name="Picture 24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56847" y="3511296"/>
            <a:ext cx="274320" cy="274320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11064239" y="3877056"/>
            <a:ext cx="868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80" b="1" i="0">
                <a:solidFill>
                  <a:srgbClr val="172131"/>
                </a:solidFill>
                <a:latin typeface="Calibri"/>
              </a:rPr>
              <a:t>Docker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613648" y="4160520"/>
            <a:ext cx="333756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9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890" b="1" i="0">
                <a:solidFill>
                  <a:srgbClr val="172131"/>
                </a:solidFill>
                <a:latin typeface="Calibri"/>
              </a:rPr>
              <a:t>Frontend:</a:t>
            </a:r>
            <a:r>
              <a:rPr sz="890" b="0" i="0">
                <a:solidFill>
                  <a:srgbClr val="172131"/>
                </a:solidFill>
                <a:latin typeface="Calibri"/>
              </a:rPr>
              <a:t> React 18 · Vite · Tailwind CSS · Reveal.js web deck · PWA (manifest + service worker)</a:t>
            </a:r>
          </a:p>
          <a:p>
            <a:pPr algn="l">
              <a:spcAft>
                <a:spcPts val="300"/>
              </a:spcAft>
            </a:pPr>
            <a:r>
              <a:rPr sz="89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890" b="1" i="0">
                <a:solidFill>
                  <a:srgbClr val="172131"/>
                </a:solidFill>
                <a:latin typeface="Calibri"/>
              </a:rPr>
              <a:t>Backend:</a:t>
            </a:r>
            <a:r>
              <a:rPr sz="890" b="0" i="0">
                <a:solidFill>
                  <a:srgbClr val="172131"/>
                </a:solidFill>
                <a:latin typeface="Calibri"/>
              </a:rPr>
              <a:t> Python 3.12 · FastAPI · Pydantic · background job queue · SQLite · OTP auth</a:t>
            </a:r>
          </a:p>
          <a:p>
            <a:pPr algn="l">
              <a:spcAft>
                <a:spcPts val="300"/>
              </a:spcAft>
            </a:pPr>
            <a:r>
              <a:rPr sz="89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890" b="1" i="0">
                <a:solidFill>
                  <a:srgbClr val="172131"/>
                </a:solidFill>
                <a:latin typeface="Calibri"/>
              </a:rPr>
              <a:t>Documents:</a:t>
            </a:r>
            <a:r>
              <a:rPr sz="890" b="0" i="0">
                <a:solidFill>
                  <a:srgbClr val="172131"/>
                </a:solidFill>
                <a:latin typeface="Calibri"/>
              </a:rPr>
              <a:t> python-pptx · PyMuPDF · LibreOffice headless · python-docx · Tesseract OCR</a:t>
            </a:r>
          </a:p>
          <a:p>
            <a:pPr algn="l">
              <a:spcAft>
                <a:spcPts val="300"/>
              </a:spcAft>
            </a:pPr>
            <a:r>
              <a:rPr sz="89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890" b="1" i="0">
                <a:solidFill>
                  <a:srgbClr val="172131"/>
                </a:solidFill>
                <a:latin typeface="Calibri"/>
              </a:rPr>
              <a:t>AI / NLP:</a:t>
            </a:r>
            <a:r>
              <a:rPr sz="890" b="0" i="0">
                <a:solidFill>
                  <a:srgbClr val="172131"/>
                </a:solidFill>
                <a:latin typeface="Calibri"/>
              </a:rPr>
              <a:t> Gemini (pool of 5 keys, per-key pacing) · Groq · NVIDIA NIM · failover router</a:t>
            </a:r>
          </a:p>
          <a:p>
            <a:pPr algn="l">
              <a:spcAft>
                <a:spcPts val="300"/>
              </a:spcAft>
            </a:pPr>
            <a:r>
              <a:rPr sz="89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890" b="1" i="0">
                <a:solidFill>
                  <a:srgbClr val="172131"/>
                </a:solidFill>
                <a:latin typeface="Calibri"/>
              </a:rPr>
              <a:t>Maths &amp; labs:</a:t>
            </a:r>
            <a:r>
              <a:rPr sz="890" b="0" i="0">
                <a:solidFill>
                  <a:srgbClr val="172131"/>
                </a:solidFill>
                <a:latin typeface="Calibri"/>
              </a:rPr>
              <a:t> SymPy exact solvers · JavaScript lab engine · SVG via MuPDF</a:t>
            </a:r>
          </a:p>
          <a:p>
            <a:pPr algn="l">
              <a:spcAft>
                <a:spcPts val="300"/>
              </a:spcAft>
            </a:pPr>
            <a:r>
              <a:rPr sz="890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890" b="1" i="0">
                <a:solidFill>
                  <a:srgbClr val="172131"/>
                </a:solidFill>
                <a:latin typeface="Calibri"/>
              </a:rPr>
              <a:t>Quality &amp; DevOps:</a:t>
            </a:r>
            <a:r>
              <a:rPr sz="890" b="0" i="0">
                <a:solidFill>
                  <a:srgbClr val="172131"/>
                </a:solidFill>
                <a:latin typeface="Calibri"/>
              </a:rPr>
              <a:t> pytest (755) · layout audit · gold sets · GitHub ·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72131"/>
                </a:solidFill>
                <a:latin typeface="Montserrat"/>
              </a:rPr>
              <a:t>TECHNICAL APPROACH —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621792"/>
            <a:ext cx="1188720" cy="54864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4864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1F5FBF"/>
                </a:solidFill>
                <a:latin typeface="Calibri"/>
              </a:rPr>
              <a:t>Nine stages from upload to audited deck, with the algorithm behind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28016"/>
            <a:ext cx="2606040" cy="56692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28016"/>
            <a:ext cx="2514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7A2E"/>
                </a:solidFill>
                <a:latin typeface="Montserrat"/>
              </a:rPr>
              <a:t>LEARNOVA · Group 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IPD Review · AI &amp; DS, DJSCE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Learnova — redesigning outdated lecture slides into illustrated, interactive teaching decks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548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91440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" y="1024128"/>
            <a:ext cx="457200" cy="457200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556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" y="15179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27A2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96926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Convert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PPTX → PDF (LibreOffice), DOCX/text → Markdown IR; colour palette of the source kept.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50791" y="1417320"/>
            <a:ext cx="128016" cy="0"/>
          </a:xfrm>
          <a:prstGeom prst="line">
            <a:avLst/>
          </a:prstGeom>
          <a:ln w="25400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78807" y="91440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70247" y="1024128"/>
            <a:ext cx="457200" cy="457200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7" y="1115568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51959" y="15179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27A2E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96926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Read slides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Furniture = text on ≥ max(3, 0.3n) pages; bullet level ℓ(x) = argmin |x − aₖ|; glued titles split by DP.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55279" y="1417320"/>
            <a:ext cx="128017" cy="0"/>
          </a:xfrm>
          <a:prstGeom prst="line">
            <a:avLst/>
          </a:prstGeom>
          <a:ln w="25400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83296" y="91440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74736" y="1024128"/>
            <a:ext cx="457200" cy="457200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111556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56448" y="15179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27A2E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96926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OCR decision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γ = |ink ∖ text| / |ink|; OCR used only if conf ≥ 62, γ ≤ 0.42, &lt; 15% symbol 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201168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5760" y="2121408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12848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47472" y="261518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F5FB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06654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Plan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Split overloaded slides at logical boundaries; merge thin parts; agenda, glossary, quizzes.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50791" y="2514600"/>
            <a:ext cx="128016" cy="0"/>
          </a:xfrm>
          <a:prstGeom prst="line">
            <a:avLst/>
          </a:prstGeom>
          <a:ln w="25400">
            <a:solidFill>
              <a:srgbClr val="1F5F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78807" y="201168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70247" y="2121408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7" y="221284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51959" y="261518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F5FB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06654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Decide visual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27 detectors → (family, confidence, data, reason); d* = argmax c after exclusion rules.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55279" y="2514600"/>
            <a:ext cx="128017" cy="0"/>
          </a:xfrm>
          <a:prstGeom prst="line">
            <a:avLst/>
          </a:prstGeom>
          <a:ln w="25400">
            <a:solidFill>
              <a:srgbClr val="1F5F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083296" y="201168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74736" y="2121408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5" y="2212848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56448" y="261518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F5FBF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3376" y="206654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AI polish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Assertion titles, explanations, key terms — accepted only if grounded in the slide's words.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310896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5760" y="321868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310128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47472" y="3712463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6845B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316382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Illustrate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LLM SVG → whitelist + ≥ 6 shapes + render check → cache; else own figure / offline scene.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050791" y="3611880"/>
            <a:ext cx="12801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178807" y="310896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70247" y="321868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1687" y="3310128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251959" y="3712463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6845B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8888" y="316382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Lay out &amp; build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s* = largest size that fits (≥ 11 pt); σ = min(1, W / w(longest word)); PPTX + web deck.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955279" y="3611880"/>
            <a:ext cx="128017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083296" y="3108960"/>
            <a:ext cx="3776472" cy="1005840"/>
          </a:xfrm>
          <a:prstGeom prst="roundRect">
            <a:avLst>
              <a:gd name="adj" fmla="val 8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74736" y="321868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6175" y="3310128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156448" y="3712463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6845B"/>
                </a:solidFill>
                <a:latin typeface="Calibri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23376" y="3163824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72131"/>
                </a:solidFill>
                <a:latin typeface="Montserrat"/>
              </a:rPr>
              <a:t>Audit</a:t>
            </a:r>
          </a:p>
          <a:p>
            <a:pPr algn="l">
              <a:spcAft>
                <a:spcPts val="100"/>
              </a:spcAft>
            </a:pPr>
            <a:r>
              <a:rPr sz="960" b="0" i="0">
                <a:solidFill>
                  <a:srgbClr val="172131"/>
                </a:solidFill>
                <a:latin typeface="Calibri"/>
              </a:rPr>
              <a:t>Overflow, broken words, sparse slides; fact retention R = |F_src ∩ F_deck| / |F_src|.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4224528"/>
            <a:ext cx="11658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27A2E"/>
                </a:solidFill>
                <a:latin typeface="Calibri"/>
              </a:rPr>
              <a:t>WORKING PROTOTYPE · real screens from the running application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74320" y="4498848"/>
            <a:ext cx="2258568" cy="199339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app-preview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84" y="4561713"/>
            <a:ext cx="2148840" cy="1611630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sp>
        <p:nvSpPr>
          <p:cNvPr id="64" name="TextBox 63"/>
          <p:cNvSpPr txBox="1"/>
          <p:nvPr/>
        </p:nvSpPr>
        <p:spPr>
          <a:xfrm>
            <a:off x="274320" y="6199632"/>
            <a:ext cx="22585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Deck preview — visual chosen and why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624327" y="4498848"/>
            <a:ext cx="2258568" cy="199339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web_de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79191" y="4763166"/>
            <a:ext cx="2148840" cy="1208722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sp>
        <p:nvSpPr>
          <p:cNvPr id="67" name="TextBox 66"/>
          <p:cNvSpPr txBox="1"/>
          <p:nvPr/>
        </p:nvSpPr>
        <p:spPr>
          <a:xfrm>
            <a:off x="2624327" y="6199632"/>
            <a:ext cx="22585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Web deck — AI diagram beside the content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74336" y="4498848"/>
            <a:ext cx="2258568" cy="199339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app-solv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199" y="4561713"/>
            <a:ext cx="2148840" cy="1611630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sp>
        <p:nvSpPr>
          <p:cNvPr id="70" name="TextBox 69"/>
          <p:cNvSpPr txBox="1"/>
          <p:nvPr/>
        </p:nvSpPr>
        <p:spPr>
          <a:xfrm>
            <a:off x="4974336" y="6199632"/>
            <a:ext cx="22585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Solve step by step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24344" y="4498848"/>
            <a:ext cx="2258568" cy="199339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explainer-viterb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9208" y="4566596"/>
            <a:ext cx="2148840" cy="1601862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sp>
        <p:nvSpPr>
          <p:cNvPr id="73" name="TextBox 72"/>
          <p:cNvSpPr txBox="1"/>
          <p:nvPr/>
        </p:nvSpPr>
        <p:spPr>
          <a:xfrm>
            <a:off x="7324344" y="6199632"/>
            <a:ext cx="22585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Viterbi explainer, exact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74352" y="4498848"/>
            <a:ext cx="2258568" cy="199339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lab_spli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5657" y="4553712"/>
            <a:ext cx="2055956" cy="1627632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sp>
        <p:nvSpPr>
          <p:cNvPr id="76" name="TextBox 75"/>
          <p:cNvSpPr txBox="1"/>
          <p:nvPr/>
        </p:nvSpPr>
        <p:spPr>
          <a:xfrm>
            <a:off x="9674352" y="6199632"/>
            <a:ext cx="22585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Split &amp; Merge lab (IPCV)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72131"/>
                </a:solidFill>
                <a:latin typeface="Montserrat"/>
              </a:rPr>
              <a:t>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621792"/>
            <a:ext cx="1188720" cy="54864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4864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1F5FBF"/>
                </a:solidFill>
                <a:latin typeface="Calibri"/>
              </a:rPr>
              <a:t>The problems teachers and students faced — and what Learnova now achieves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28016"/>
            <a:ext cx="2606040" cy="56692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28016"/>
            <a:ext cx="2514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7A2E"/>
                </a:solidFill>
                <a:latin typeface="Montserrat"/>
              </a:rPr>
              <a:t>LEARNOVA · Group 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IPD Review · AI &amp; DS, DJSCE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Learnova — redesigning outdated lecture slides into illustrated, interactive teaching decks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548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914400"/>
          <a:ext cx="68122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560320"/>
                <a:gridCol w="2697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45720" marR="45720" marT="18288" marB="18288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BEFORE — problem faced</a:t>
                      </a:r>
                    </a:p>
                  </a:txBody>
                  <a:tcPr marL="45720" marR="45720" marT="18288" marB="18288">
                    <a:solidFill>
                      <a:srgbClr val="17213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AFTER — with Learnova</a:t>
                      </a:r>
                    </a:p>
                  </a:txBody>
                  <a:tcPr marL="45720" marR="45720" marT="18288" marB="18288">
                    <a:solidFill>
                      <a:srgbClr val="17213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172131"/>
                          </a:solidFill>
                          <a:latin typeface="Calibri"/>
                        </a:rPr>
                        <a:t>Text-heavy slides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C03030"/>
                          </a:solidFill>
                          <a:latin typeface="Calibri"/>
                        </a:rPr>
                        <a:t>✘ 100+ words on a slide; students skim and miss points</a:t>
                      </a:r>
                    </a:p>
                  </a:txBody>
                  <a:tcPr marL="45720" marR="45720" marT="18288" marB="18288">
                    <a:solidFill>
                      <a:srgbClr val="FCEB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16845B"/>
                          </a:solidFill>
                          <a:latin typeface="Calibri"/>
                        </a:rPr>
                        <a:t>✔ One idea per slide, drawn as a visual at a readable density</a:t>
                      </a:r>
                    </a:p>
                  </a:txBody>
                  <a:tcPr marL="45720" marR="45720" marT="18288" marB="18288">
                    <a:solidFill>
                      <a:srgbClr val="E6F5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172131"/>
                          </a:solidFill>
                          <a:latin typeface="Calibri"/>
                        </a:rPr>
                        <a:t>Pictures of equations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C03030"/>
                          </a:solidFill>
                          <a:latin typeface="Calibri"/>
                        </a:rPr>
                        <a:t>✘ Content locked in images; tools drop these slides</a:t>
                      </a:r>
                    </a:p>
                  </a:txBody>
                  <a:tcPr marL="45720" marR="45720" marT="18288" marB="18288">
                    <a:solidFill>
                      <a:srgbClr val="FCEB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16845B"/>
                          </a:solidFill>
                          <a:latin typeface="Calibri"/>
                        </a:rPr>
                        <a:t>✔ Kept full size as figures; OCR only when reliable</a:t>
                      </a:r>
                    </a:p>
                  </a:txBody>
                  <a:tcPr marL="45720" marR="45720" marT="18288" marB="18288">
                    <a:solidFill>
                      <a:srgbClr val="E6F5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172131"/>
                          </a:solidFill>
                          <a:latin typeface="Calibri"/>
                        </a:rPr>
                        <a:t>Untitled / generic titles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C03030"/>
                          </a:solidFill>
                          <a:latin typeface="Calibri"/>
                        </a:rPr>
                        <a:t>✘ “Slide 9”, “Hypothesis (2/5)” says nothing</a:t>
                      </a:r>
                    </a:p>
                  </a:txBody>
                  <a:tcPr marL="45720" marR="45720" marT="18288" marB="18288">
                    <a:solidFill>
                      <a:srgbClr val="FCEB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16845B"/>
                          </a:solidFill>
                          <a:latin typeface="Calibri"/>
                        </a:rPr>
                        <a:t>✔ Assertion titles; 83 untitled slides → 0</a:t>
                      </a:r>
                    </a:p>
                  </a:txBody>
                  <a:tcPr marL="45720" marR="45720" marT="18288" marB="18288">
                    <a:solidFill>
                      <a:srgbClr val="E6F5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172131"/>
                          </a:solidFill>
                          <a:latin typeface="Calibri"/>
                        </a:rPr>
                        <a:t>No diagrams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C03030"/>
                          </a:solidFill>
                          <a:latin typeface="Calibri"/>
                        </a:rPr>
                        <a:t>✘ Plain text with nothing to explain the idea</a:t>
                      </a:r>
                    </a:p>
                  </a:txBody>
                  <a:tcPr marL="45720" marR="45720" marT="18288" marB="18288">
                    <a:solidFill>
                      <a:srgbClr val="FCEB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16845B"/>
                          </a:solidFill>
                          <a:latin typeface="Calibri"/>
                        </a:rPr>
                        <a:t>✔ Illustration on every topic slide + HTML link</a:t>
                      </a:r>
                    </a:p>
                  </a:txBody>
                  <a:tcPr marL="45720" marR="45720" marT="18288" marB="18288">
                    <a:solidFill>
                      <a:srgbClr val="E6F5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172131"/>
                          </a:solidFill>
                          <a:latin typeface="Calibri"/>
                        </a:rPr>
                        <a:t>No interaction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C03030"/>
                          </a:solidFill>
                          <a:latin typeface="Calibri"/>
                        </a:rPr>
                        <a:t>✘ Solved problems shown as finished tables</a:t>
                      </a:r>
                    </a:p>
                  </a:txBody>
                  <a:tcPr marL="45720" marR="45720" marT="18288" marB="18288">
                    <a:solidFill>
                      <a:srgbClr val="FCEB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16845B"/>
                          </a:solidFill>
                          <a:latin typeface="Calibri"/>
                        </a:rPr>
                        <a:t>✔ Quizzes, step-by-step solvers, labs</a:t>
                      </a:r>
                    </a:p>
                  </a:txBody>
                  <a:tcPr marL="45720" marR="45720" marT="18288" marB="18288">
                    <a:solidFill>
                      <a:srgbClr val="E6F5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172131"/>
                          </a:solidFill>
                          <a:latin typeface="Calibri"/>
                        </a:rPr>
                        <a:t>AI changes 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C03030"/>
                          </a:solidFill>
                          <a:latin typeface="Calibri"/>
                        </a:rPr>
                        <a:t>✘ Paraphrased, merged, invented facts</a:t>
                      </a:r>
                    </a:p>
                  </a:txBody>
                  <a:tcPr marL="45720" marR="45720" marT="18288" marB="18288">
                    <a:solidFill>
                      <a:srgbClr val="FCEB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16845B"/>
                          </a:solidFill>
                          <a:latin typeface="Calibri"/>
                        </a:rPr>
                        <a:t>✔ Verbatim + checked: 98–100% facts kept</a:t>
                      </a:r>
                    </a:p>
                  </a:txBody>
                  <a:tcPr marL="45720" marR="45720" marT="18288" marB="18288">
                    <a:solidFill>
                      <a:srgbClr val="E6F5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172131"/>
                          </a:solidFill>
                          <a:latin typeface="Calibri"/>
                        </a:rPr>
                        <a:t>Redesign takes hours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C03030"/>
                          </a:solidFill>
                          <a:latin typeface="Calibri"/>
                        </a:rPr>
                        <a:t>✘ An evening per lecture, needs design skill</a:t>
                      </a:r>
                    </a:p>
                  </a:txBody>
                  <a:tcPr marL="45720" marR="45720" marT="18288" marB="18288">
                    <a:solidFill>
                      <a:srgbClr val="FCEB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16845B"/>
                          </a:solidFill>
                          <a:latin typeface="Calibri"/>
                        </a:rPr>
                        <a:t>✔ ≈10–60 s per deck, fully editable</a:t>
                      </a:r>
                    </a:p>
                  </a:txBody>
                  <a:tcPr marL="45720" marR="45720" marT="18288" marB="18288">
                    <a:solidFill>
                      <a:srgbClr val="E6F5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172131"/>
                          </a:solidFill>
                          <a:latin typeface="Calibri"/>
                        </a:rPr>
                        <a:t>Needs internet / paid AI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C03030"/>
                          </a:solidFill>
                          <a:latin typeface="Calibri"/>
                        </a:rPr>
                        <a:t>✘ Cloud-only, subscriptions, quotas</a:t>
                      </a:r>
                    </a:p>
                  </a:txBody>
                  <a:tcPr marL="45720" marR="45720" marT="18288" marB="18288">
                    <a:solidFill>
                      <a:srgbClr val="FCEB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16845B"/>
                          </a:solidFill>
                          <a:latin typeface="Calibri"/>
                        </a:rPr>
                        <a:t>✔ Offline mode; 5 free keys rotate</a:t>
                      </a:r>
                    </a:p>
                  </a:txBody>
                  <a:tcPr marL="45720" marR="45720" marT="18288" marB="18288">
                    <a:solidFill>
                      <a:srgbClr val="E6F5E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69480" y="896112"/>
            <a:ext cx="46634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C03030"/>
                </a:solidFill>
                <a:latin typeface="Calibri"/>
              </a:rPr>
              <a:t>ORIGINAL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   →   </a:t>
            </a:r>
            <a:r>
              <a:rPr sz="1000" b="1" i="0">
                <a:solidFill>
                  <a:srgbClr val="16845B"/>
                </a:solidFill>
                <a:latin typeface="Calibri"/>
              </a:rPr>
              <a:t>LEARNOVA</a:t>
            </a:r>
          </a:p>
        </p:txBody>
      </p:sp>
      <p:pic>
        <p:nvPicPr>
          <p:cNvPr id="12" name="Picture 11" descr="pair1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029" y="1170432"/>
            <a:ext cx="1979740" cy="1115568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cxnSp>
        <p:nvCxnSpPr>
          <p:cNvPr id="13" name="Connector 12"/>
          <p:cNvCxnSpPr/>
          <p:nvPr/>
        </p:nvCxnSpPr>
        <p:spPr>
          <a:xfrm>
            <a:off x="9445752" y="1728216"/>
            <a:ext cx="246888" cy="0"/>
          </a:xfrm>
          <a:prstGeom prst="line">
            <a:avLst/>
          </a:prstGeom>
          <a:ln w="2857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pair1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024" y="1170432"/>
            <a:ext cx="1983231" cy="1115568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269480" y="2084832"/>
            <a:ext cx="21488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ML · Bias &amp; variance (PPTX)</a:t>
            </a:r>
          </a:p>
        </p:txBody>
      </p:sp>
      <p:pic>
        <p:nvPicPr>
          <p:cNvPr id="16" name="Picture 15" descr="pair2_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029" y="2377440"/>
            <a:ext cx="1979740" cy="1115568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cxnSp>
        <p:nvCxnSpPr>
          <p:cNvPr id="17" name="Connector 16"/>
          <p:cNvCxnSpPr/>
          <p:nvPr/>
        </p:nvCxnSpPr>
        <p:spPr>
          <a:xfrm>
            <a:off x="9445752" y="2935224"/>
            <a:ext cx="246888" cy="0"/>
          </a:xfrm>
          <a:prstGeom prst="line">
            <a:avLst/>
          </a:prstGeom>
          <a:ln w="2857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pair2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4024" y="2377440"/>
            <a:ext cx="1983231" cy="1115568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269480" y="3291840"/>
            <a:ext cx="21488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ML · Linear regression (PPTX)</a:t>
            </a:r>
          </a:p>
        </p:txBody>
      </p:sp>
      <p:pic>
        <p:nvPicPr>
          <p:cNvPr id="20" name="Picture 19" descr="pair3_bef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034" y="3584448"/>
            <a:ext cx="1981730" cy="1115568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cxnSp>
        <p:nvCxnSpPr>
          <p:cNvPr id="21" name="Connector 20"/>
          <p:cNvCxnSpPr/>
          <p:nvPr/>
        </p:nvCxnSpPr>
        <p:spPr>
          <a:xfrm>
            <a:off x="9445752" y="4142232"/>
            <a:ext cx="246888" cy="0"/>
          </a:xfrm>
          <a:prstGeom prst="line">
            <a:avLst/>
          </a:prstGeom>
          <a:ln w="28575">
            <a:solidFill>
              <a:srgbClr val="F27A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pair3_af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4024" y="3584448"/>
            <a:ext cx="1983231" cy="1115568"/>
          </a:xfrm>
          <a:prstGeom prst="rect">
            <a:avLst/>
          </a:prstGeom>
          <a:ln w="9525">
            <a:solidFill>
              <a:srgbClr val="C9D0D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7269480" y="4498848"/>
            <a:ext cx="21488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NLP · WSD (PDF)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4846320"/>
            <a:ext cx="2267712" cy="768096"/>
          </a:xfrm>
          <a:prstGeom prst="roundRect">
            <a:avLst>
              <a:gd name="adj" fmla="val 10000"/>
            </a:avLst>
          </a:prstGeom>
          <a:solidFill>
            <a:srgbClr val="FCEBEA"/>
          </a:solidFill>
          <a:ln w="12700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4864607"/>
            <a:ext cx="2267712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C03030"/>
                </a:solidFill>
                <a:latin typeface="Montserrat"/>
              </a:rPr>
              <a:t>83 → 0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72131"/>
                </a:solidFill>
                <a:latin typeface="Calibri"/>
              </a:rPr>
              <a:t>untitled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28632" y="4846320"/>
            <a:ext cx="2267712" cy="768096"/>
          </a:xfrm>
          <a:prstGeom prst="roundRect">
            <a:avLst>
              <a:gd name="adj" fmla="val 10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8632" y="4864607"/>
            <a:ext cx="2267712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5FBF"/>
                </a:solidFill>
                <a:latin typeface="Montserrat"/>
              </a:rPr>
              <a:t>251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72131"/>
                </a:solidFill>
                <a:latin typeface="Calibri"/>
              </a:rPr>
              <a:t>slides drawn as visuals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5687568"/>
            <a:ext cx="2267712" cy="768096"/>
          </a:xfrm>
          <a:prstGeom prst="roundRect">
            <a:avLst>
              <a:gd name="adj" fmla="val 10000"/>
            </a:avLst>
          </a:prstGeom>
          <a:solidFill>
            <a:srgbClr val="F1EBF9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705855"/>
            <a:ext cx="2267712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B3FA0"/>
                </a:solidFill>
                <a:latin typeface="Montserrat"/>
              </a:rPr>
              <a:t>190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72131"/>
                </a:solidFill>
                <a:latin typeface="Calibri"/>
              </a:rPr>
              <a:t>linked illustrations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8632" y="5687568"/>
            <a:ext cx="2267712" cy="768096"/>
          </a:xfrm>
          <a:prstGeom prst="roundRect">
            <a:avLst>
              <a:gd name="adj" fmla="val 10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28632" y="5705855"/>
            <a:ext cx="2267712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6845B"/>
                </a:solidFill>
                <a:latin typeface="Montserrat"/>
              </a:rPr>
              <a:t>64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72131"/>
                </a:solidFill>
                <a:latin typeface="Calibri"/>
              </a:rPr>
              <a:t>quizzes + labs added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434840"/>
            <a:ext cx="6812280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27A2E"/>
                </a:solidFill>
                <a:latin typeface="Calibri"/>
              </a:rPr>
              <a:t>Reading the comparison</a:t>
            </a:r>
          </a:p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172131"/>
                </a:solidFill>
                <a:latin typeface="Calibri"/>
              </a:rPr>
              <a:t>The left column lists the problems we saw in our own courses: decks that are hard to read, half their content locked in pictures and no way for a student to check understanding. The right column is what Learnova does to the same material, measured on five real decks (two machine-learning PowerPoints and three NLP PDFs). The slide pairs show the same source slide before and after; the counters on the right sum the changes across all five decks.</a:t>
            </a:r>
          </a:p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172131"/>
                </a:solidFill>
                <a:latin typeface="Calibri"/>
              </a:rPr>
              <a:t>The content itself does not change: fact retention stayed between 98% and 100% for every deck, and the layout audit found no overflowing text and no broken 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72131"/>
                </a:solidFill>
                <a:latin typeface="Montserrat"/>
              </a:rPr>
              <a:t>RESULTS, IMPACT &amp;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621792"/>
            <a:ext cx="1188720" cy="54864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4864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1F5FBF"/>
                </a:solidFill>
                <a:latin typeface="Calibri"/>
              </a:rPr>
              <a:t>Measured on real course material — not on promises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28016"/>
            <a:ext cx="2606040" cy="56692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28016"/>
            <a:ext cx="2514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7A2E"/>
                </a:solidFill>
                <a:latin typeface="Montserrat"/>
              </a:rPr>
              <a:t>LEARNOVA · Group 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IPD Review · AI &amp; DS, DJSCE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Learnova — redesigning outdated lecture slides into illustrated, interactive teaching decks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548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74320" y="914400"/>
          <a:ext cx="420624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0" y="914400"/>
          <a:ext cx="388620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595360" y="914400"/>
            <a:ext cx="1600200" cy="841248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914400"/>
            <a:ext cx="16002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27A2E"/>
                </a:solidFill>
                <a:latin typeface="Montserrat"/>
              </a:rPr>
              <a:t>97%</a:t>
            </a:r>
          </a:p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72131"/>
                </a:solidFill>
                <a:latin typeface="Calibri"/>
              </a:rPr>
              <a:t>visual chosen correctly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F6D"/>
                </a:solidFill>
                <a:latin typeface="Calibri"/>
              </a:rPr>
              <a:t>101 gold slides, 3 sets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914400"/>
            <a:ext cx="1600200" cy="841248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0" y="914400"/>
            <a:ext cx="16002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27A2E"/>
                </a:solidFill>
                <a:latin typeface="Montserrat"/>
              </a:rPr>
              <a:t>98–100%</a:t>
            </a:r>
          </a:p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72131"/>
                </a:solidFill>
                <a:latin typeface="Calibri"/>
              </a:rPr>
              <a:t>facts kept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F6D"/>
                </a:solidFill>
                <a:latin typeface="Calibri"/>
              </a:rPr>
              <a:t>7 real decks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828800"/>
            <a:ext cx="1600200" cy="841248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828800"/>
            <a:ext cx="16002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27A2E"/>
                </a:solidFill>
                <a:latin typeface="Montserrat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72131"/>
                </a:solidFill>
                <a:latin typeface="Calibri"/>
              </a:rPr>
              <a:t>broken words / overflow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F6D"/>
                </a:solidFill>
                <a:latin typeface="Calibri"/>
              </a:rPr>
              <a:t>layout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1828800"/>
            <a:ext cx="1600200" cy="841248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1828800"/>
            <a:ext cx="16002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27A2E"/>
                </a:solidFill>
                <a:latin typeface="Montserrat"/>
              </a:rPr>
              <a:t>26/26</a:t>
            </a:r>
          </a:p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72131"/>
                </a:solidFill>
                <a:latin typeface="Calibri"/>
              </a:rPr>
              <a:t>problems solved right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F6D"/>
                </a:solidFill>
                <a:latin typeface="Calibri"/>
              </a:rPr>
              <a:t>held-out benchmark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743200"/>
            <a:ext cx="1600200" cy="841248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743200"/>
            <a:ext cx="16002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27A2E"/>
                </a:solidFill>
                <a:latin typeface="Montserrat"/>
              </a:rPr>
              <a:t>&lt; 1 ms</a:t>
            </a:r>
          </a:p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72131"/>
                </a:solidFill>
                <a:latin typeface="Calibri"/>
              </a:rPr>
              <a:t>decision per slide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F6D"/>
                </a:solidFill>
                <a:latin typeface="Calibri"/>
              </a:rPr>
              <a:t>rule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2743200"/>
            <a:ext cx="1600200" cy="841248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743200"/>
            <a:ext cx="1600200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27A2E"/>
                </a:solidFill>
                <a:latin typeface="Montserrat"/>
              </a:rPr>
              <a:t>~35 s</a:t>
            </a:r>
          </a:p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72131"/>
                </a:solidFill>
                <a:latin typeface="Calibri"/>
              </a:rPr>
              <a:t>216-page PDF → deck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55F6D"/>
                </a:solidFill>
                <a:latin typeface="Calibri"/>
              </a:rPr>
              <a:t>no API 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30752"/>
            <a:ext cx="2816352" cy="1965960"/>
          </a:xfrm>
          <a:prstGeom prst="roundRect">
            <a:avLst>
              <a:gd name="adj" fmla="val 4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" y="3730752"/>
            <a:ext cx="2816352" cy="329184"/>
          </a:xfrm>
          <a:prstGeom prst="roundRect">
            <a:avLst>
              <a:gd name="adj" fmla="val 25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95344"/>
            <a:ext cx="2816352" cy="164592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776472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1792" y="3730752"/>
            <a:ext cx="240487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Students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4087368"/>
            <a:ext cx="269748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One clear idea per slide with a picture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Steps with reasons for every solved problem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Quizzes, labs and flashcards to practise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Revise on a phone, even offline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3730752"/>
            <a:ext cx="2816352" cy="1965960"/>
          </a:xfrm>
          <a:prstGeom prst="roundRect">
            <a:avLst>
              <a:gd name="adj" fmla="val 4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0" y="3730752"/>
            <a:ext cx="2816352" cy="329184"/>
          </a:xfrm>
          <a:prstGeom prst="roundRect">
            <a:avLst>
              <a:gd name="adj" fmla="val 25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895344"/>
            <a:ext cx="2816352" cy="164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776472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547872" y="3730752"/>
            <a:ext cx="240487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Faculty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3552" y="4087368"/>
            <a:ext cx="269748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Old decks modernised in about a minute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Their own words and figures kept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Editable PowerPoint, ready to teach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Quizzes and labs with no extra work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730752"/>
            <a:ext cx="2816352" cy="1965960"/>
          </a:xfrm>
          <a:prstGeom prst="roundRect">
            <a:avLst>
              <a:gd name="adj" fmla="val 4000"/>
            </a:avLst>
          </a:prstGeom>
          <a:solidFill>
            <a:srgbClr val="F1EBF9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6480" y="3730752"/>
            <a:ext cx="2816352" cy="329184"/>
          </a:xfrm>
          <a:prstGeom prst="roundRect">
            <a:avLst>
              <a:gd name="adj" fmla="val 25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3895344"/>
            <a:ext cx="2816352" cy="1645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776472"/>
            <a:ext cx="237744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73952" y="3730752"/>
            <a:ext cx="240487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Institution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4087368"/>
            <a:ext cx="269748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Consistent, accessible course material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No paid AI licence needed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Supports flipped and remote classes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Reusable lab library across subjects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3730752"/>
            <a:ext cx="2816352" cy="1965960"/>
          </a:xfrm>
          <a:prstGeom prst="roundRect">
            <a:avLst>
              <a:gd name="adj" fmla="val 4000"/>
            </a:avLst>
          </a:prstGeom>
          <a:solidFill>
            <a:srgbClr val="E3F4F5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60" y="3730752"/>
            <a:ext cx="2816352" cy="329184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3895344"/>
            <a:ext cx="2816352" cy="164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776472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400032" y="3730752"/>
            <a:ext cx="2404872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Society · SDG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4087368"/>
            <a:ext cx="269748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Quality education with low-cost tools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Works where internet is unreliable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Plain-language help for first-generation learners</a:t>
            </a:r>
          </a:p>
          <a:p>
            <a:pPr algn="l">
              <a:spcAft>
                <a:spcPts val="400"/>
              </a:spcAft>
            </a:pPr>
            <a:r>
              <a:rPr sz="1040" b="1" i="0">
                <a:solidFill>
                  <a:srgbClr val="F27A2E"/>
                </a:solidFill>
                <a:latin typeface="Calibri"/>
              </a:rPr>
              <a:t>✔ </a:t>
            </a:r>
            <a:r>
              <a:rPr sz="1040" b="0" i="0">
                <a:solidFill>
                  <a:srgbClr val="172131"/>
                </a:solidFill>
                <a:latin typeface="Calibri"/>
              </a:rPr>
              <a:t>Open formats, easy to share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779008"/>
            <a:ext cx="11658600" cy="713232"/>
          </a:xfrm>
          <a:prstGeom prst="roundRect">
            <a:avLst>
              <a:gd name="adj" fmla="val 10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797296"/>
            <a:ext cx="114300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5FBF"/>
                </a:solidFill>
                <a:latin typeface="Calibri"/>
              </a:rPr>
              <a:t>Use cases:  </a:t>
            </a:r>
            <a:r>
              <a:rPr sz="1050" b="0" i="0">
                <a:solidFill>
                  <a:srgbClr val="172131"/>
                </a:solidFill>
                <a:latin typeface="Calibri"/>
              </a:rPr>
              <a:t>a teacher uploads last year's PPT the night before a lecture and presents the redesigned deck; a student opens the shared web deck to revise with quizzes and labs; an IPCV class explores region growing and split-and-merge in the browser; a college without paid AI tools uses the offline mode. Next: a classroom study of learning outcomes with our own batch.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72131"/>
                </a:solidFill>
                <a:latin typeface="Montserrat"/>
              </a:rPr>
              <a:t>FEASIBILITY &amp; VIABILITY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621792"/>
            <a:ext cx="1188720" cy="54864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4864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1F5FBF"/>
                </a:solidFill>
                <a:latin typeface="Calibri"/>
              </a:rPr>
              <a:t>Running today on a laptop · pilot-ready for a department · every risk has a named safeguard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28016"/>
            <a:ext cx="2606040" cy="56692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28016"/>
            <a:ext cx="2514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7A2E"/>
                </a:solidFill>
                <a:latin typeface="Montserrat"/>
              </a:rPr>
              <a:t>LEARNOVA · Group 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IPD Review · AI &amp; DS, DJSCE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Learnova — redesigning outdated lecture slides into illustrated, interactive teaching decks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548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914400"/>
            <a:ext cx="4114800" cy="1042415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" y="1024128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556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" y="950976"/>
            <a:ext cx="3456432" cy="987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F5FBF"/>
                </a:solidFill>
                <a:latin typeface="Calibri"/>
              </a:rPr>
              <a:t>TECHNICAL</a:t>
            </a:r>
          </a:p>
          <a:p>
            <a:pPr algn="l">
              <a:spcAft>
                <a:spcPts val="100"/>
              </a:spcAft>
            </a:pPr>
            <a:r>
              <a:rPr sz="930" b="0" i="0">
                <a:solidFill>
                  <a:srgbClr val="172131"/>
                </a:solidFill>
                <a:latin typeface="Calibri"/>
              </a:rPr>
              <a:t>Already working end to end: FastAPI back end, React front end, 755 automated tests, layout audit. Each stage is a separate module, so features are added without rework.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029967"/>
            <a:ext cx="4114800" cy="1042415"/>
          </a:xfrm>
          <a:prstGeom prst="roundRect">
            <a:avLst>
              <a:gd name="adj" fmla="val 8000"/>
            </a:avLst>
          </a:prstGeom>
          <a:solidFill>
            <a:srgbClr val="E3F4F5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" y="2139696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136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" y="2066543"/>
            <a:ext cx="3456432" cy="987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0E7C86"/>
                </a:solidFill>
                <a:latin typeface="Calibri"/>
              </a:rPr>
              <a:t>DATA</a:t>
            </a:r>
          </a:p>
          <a:p>
            <a:pPr algn="l">
              <a:spcAft>
                <a:spcPts val="100"/>
              </a:spcAft>
            </a:pPr>
            <a:r>
              <a:rPr sz="930" b="0" i="0">
                <a:solidFill>
                  <a:srgbClr val="172131"/>
                </a:solidFill>
                <a:latin typeface="Calibri"/>
              </a:rPr>
              <a:t>Input is the college's own lecture material (PPTX, PDF, DOCX). Tested on seven real decks of 15 to 216 slides from NLP, ML and IPCV.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145536"/>
            <a:ext cx="4114800" cy="1042415"/>
          </a:xfrm>
          <a:prstGeom prst="roundRect">
            <a:avLst>
              <a:gd name="adj" fmla="val 8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" y="3255264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46704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6112" y="3182112"/>
            <a:ext cx="3456432" cy="987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845B"/>
                </a:solidFill>
                <a:latin typeface="Calibri"/>
              </a:rPr>
              <a:t>ECONOMIC</a:t>
            </a:r>
          </a:p>
          <a:p>
            <a:pPr algn="l">
              <a:spcAft>
                <a:spcPts val="100"/>
              </a:spcAft>
            </a:pPr>
            <a:r>
              <a:rPr sz="930" b="0" i="0">
                <a:solidFill>
                  <a:srgbClr val="172131"/>
                </a:solidFill>
                <a:latin typeface="Calibri"/>
              </a:rPr>
              <a:t>Free to run offline; Gemini free-tier keys (pool of 5) are optional. Hosting a department server costs less than a single paid AI-presentation licence per year.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61104"/>
            <a:ext cx="4114800" cy="1042415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" y="4370832"/>
            <a:ext cx="457200" cy="457200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62272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297680"/>
            <a:ext cx="3456432" cy="987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F27A2E"/>
                </a:solidFill>
                <a:latin typeface="Calibri"/>
              </a:rPr>
              <a:t>OPERATIONAL</a:t>
            </a:r>
          </a:p>
          <a:p>
            <a:pPr algn="l">
              <a:spcAft>
                <a:spcPts val="100"/>
              </a:spcAft>
            </a:pPr>
            <a:r>
              <a:rPr sz="930" b="0" i="0">
                <a:solidFill>
                  <a:srgbClr val="172131"/>
                </a:solidFill>
                <a:latin typeface="Calibri"/>
              </a:rPr>
              <a:t>Teachers keep control: every slide stays editable and every automatic choice shows its reason. Students need only a browser.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376672"/>
            <a:ext cx="4114800" cy="1042415"/>
          </a:xfrm>
          <a:prstGeom prst="roundRect">
            <a:avLst>
              <a:gd name="adj" fmla="val 8000"/>
            </a:avLst>
          </a:prstGeom>
          <a:solidFill>
            <a:srgbClr val="F1EBF9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" y="548640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577840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6112" y="5413248"/>
            <a:ext cx="3456432" cy="987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6B3FA0"/>
                </a:solidFill>
                <a:latin typeface="Calibri"/>
              </a:rPr>
              <a:t>SECURITY</a:t>
            </a:r>
          </a:p>
          <a:p>
            <a:pPr algn="l">
              <a:spcAft>
                <a:spcPts val="100"/>
              </a:spcAft>
            </a:pPr>
            <a:r>
              <a:rPr sz="930" b="0" i="0">
                <a:solidFill>
                  <a:srgbClr val="172131"/>
                </a:solidFill>
                <a:latin typeface="Calibri"/>
              </a:rPr>
              <a:t>OTP sign-in, hashed codes, rate limits; AI-written SVG and lab code are whitelisted and statically checked; share links are view-only.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914400"/>
            <a:ext cx="3749039" cy="5559552"/>
          </a:xfrm>
          <a:prstGeom prst="roundRect">
            <a:avLst>
              <a:gd name="adj" fmla="val 4000"/>
            </a:avLst>
          </a:prstGeom>
          <a:solidFill>
            <a:srgbClr val="FCEBEA"/>
          </a:solidFill>
          <a:ln w="12700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26280" y="914400"/>
            <a:ext cx="3749039" cy="329184"/>
          </a:xfrm>
          <a:prstGeom prst="roundRect">
            <a:avLst>
              <a:gd name="adj" fmla="val 25000"/>
            </a:avLst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1078992"/>
            <a:ext cx="3749039" cy="164592"/>
          </a:xfrm>
          <a:prstGeom prst="rect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960120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73752" y="914400"/>
            <a:ext cx="333755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Challenges / risks → our safeguard</a:t>
            </a:r>
          </a:p>
        </p:txBody>
      </p:sp>
      <p:sp>
        <p:nvSpPr>
          <p:cNvPr id="35" name="Oval 34"/>
          <p:cNvSpPr/>
          <p:nvPr/>
        </p:nvSpPr>
        <p:spPr>
          <a:xfrm>
            <a:off x="4617720" y="1325880"/>
            <a:ext cx="384048" cy="384048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1325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1289304"/>
            <a:ext cx="3154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72131"/>
                </a:solidFill>
                <a:latin typeface="Calibri"/>
              </a:rPr>
              <a:t>Messy lecture PDFs</a:t>
            </a:r>
          </a:p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555F6D"/>
                </a:solidFill>
                <a:latin typeface="Calibri"/>
              </a:rPr>
              <a:t>symbol bullets, glued titles, picture slides → page reader, DP title split, OCR decision</a:t>
            </a:r>
          </a:p>
        </p:txBody>
      </p:sp>
      <p:sp>
        <p:nvSpPr>
          <p:cNvPr id="38" name="Oval 37"/>
          <p:cNvSpPr/>
          <p:nvPr/>
        </p:nvSpPr>
        <p:spPr>
          <a:xfrm>
            <a:off x="4617720" y="2057400"/>
            <a:ext cx="384048" cy="384048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205740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2020824"/>
            <a:ext cx="3154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72131"/>
                </a:solidFill>
                <a:latin typeface="Calibri"/>
              </a:rPr>
              <a:t>AI hallucination</a:t>
            </a:r>
          </a:p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555F6D"/>
                </a:solidFill>
                <a:latin typeface="Calibri"/>
              </a:rPr>
              <a:t>paraphrase, invented facts → grounded checks, verbatim source, SymPy numbers</a:t>
            </a:r>
          </a:p>
        </p:txBody>
      </p:sp>
      <p:sp>
        <p:nvSpPr>
          <p:cNvPr id="41" name="Oval 40"/>
          <p:cNvSpPr/>
          <p:nvPr/>
        </p:nvSpPr>
        <p:spPr>
          <a:xfrm>
            <a:off x="4617720" y="2788920"/>
            <a:ext cx="384048" cy="384048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278892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2752344"/>
            <a:ext cx="3154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72131"/>
                </a:solidFill>
                <a:latin typeface="Calibri"/>
              </a:rPr>
              <a:t>API quota / cost</a:t>
            </a:r>
          </a:p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555F6D"/>
                </a:solidFill>
                <a:latin typeface="Calibri"/>
              </a:rPr>
              <a:t>free-tier limits → 5-key pool, per-key pacing, failover, offline mode, cache</a:t>
            </a:r>
          </a:p>
        </p:txBody>
      </p:sp>
      <p:sp>
        <p:nvSpPr>
          <p:cNvPr id="44" name="Oval 43"/>
          <p:cNvSpPr/>
          <p:nvPr/>
        </p:nvSpPr>
        <p:spPr>
          <a:xfrm>
            <a:off x="4617720" y="3520440"/>
            <a:ext cx="384048" cy="384048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352044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3483864"/>
            <a:ext cx="3154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72131"/>
                </a:solidFill>
                <a:latin typeface="Calibri"/>
              </a:rPr>
              <a:t>Broken layout</a:t>
            </a:r>
          </a:p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555F6D"/>
                </a:solidFill>
                <a:latin typeface="Calibri"/>
              </a:rPr>
              <a:t>overflow, split words → glyph-measured fitting, 11 pt floor, continuation slides</a:t>
            </a:r>
          </a:p>
        </p:txBody>
      </p:sp>
      <p:sp>
        <p:nvSpPr>
          <p:cNvPr id="47" name="Oval 46"/>
          <p:cNvSpPr/>
          <p:nvPr/>
        </p:nvSpPr>
        <p:spPr>
          <a:xfrm>
            <a:off x="4617720" y="4251960"/>
            <a:ext cx="384048" cy="384048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425196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4215384"/>
            <a:ext cx="3154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72131"/>
                </a:solidFill>
                <a:latin typeface="Calibri"/>
              </a:rPr>
              <a:t>Slow large decks</a:t>
            </a:r>
          </a:p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555F6D"/>
                </a:solidFill>
                <a:latin typeface="Calibri"/>
              </a:rPr>
              <a:t>216 pages, many diagrams → parallel generation, content-hash caching</a:t>
            </a:r>
          </a:p>
        </p:txBody>
      </p:sp>
      <p:sp>
        <p:nvSpPr>
          <p:cNvPr id="50" name="Oval 49"/>
          <p:cNvSpPr/>
          <p:nvPr/>
        </p:nvSpPr>
        <p:spPr>
          <a:xfrm>
            <a:off x="4617720" y="4983480"/>
            <a:ext cx="384048" cy="384048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4983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946904"/>
            <a:ext cx="3154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72131"/>
                </a:solidFill>
                <a:latin typeface="Calibri"/>
              </a:rPr>
              <a:t>Unsafe generated code</a:t>
            </a:r>
          </a:p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555F6D"/>
                </a:solidFill>
                <a:latin typeface="Calibri"/>
              </a:rPr>
              <a:t>scripts in SVG/labs → element whitelist, node --check, no network APIs</a:t>
            </a:r>
          </a:p>
        </p:txBody>
      </p:sp>
      <p:sp>
        <p:nvSpPr>
          <p:cNvPr id="53" name="Oval 52"/>
          <p:cNvSpPr/>
          <p:nvPr/>
        </p:nvSpPr>
        <p:spPr>
          <a:xfrm>
            <a:off x="4617720" y="5715000"/>
            <a:ext cx="384048" cy="384048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571500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4920" y="5678424"/>
            <a:ext cx="3154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172131"/>
                </a:solidFill>
                <a:latin typeface="Calibri"/>
              </a:rPr>
              <a:t>Wrong visual choice</a:t>
            </a:r>
          </a:p>
          <a:p>
            <a:pPr algn="l">
              <a:spcAft>
                <a:spcPts val="0"/>
              </a:spcAft>
            </a:pPr>
            <a:r>
              <a:rPr sz="919" b="0" i="0">
                <a:solidFill>
                  <a:srgbClr val="555F6D"/>
                </a:solidFill>
                <a:latin typeface="Calibri"/>
              </a:rPr>
              <a:t>rule misfires → alternatives shown in the editor; slide stays editable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914400"/>
            <a:ext cx="3520440" cy="2834640"/>
          </a:xfrm>
          <a:prstGeom prst="roundRect">
            <a:avLst>
              <a:gd name="adj" fmla="val 4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412480" y="914400"/>
            <a:ext cx="3520440" cy="329184"/>
          </a:xfrm>
          <a:prstGeom prst="roundRect">
            <a:avLst>
              <a:gd name="adj" fmla="val 25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12480" y="1078992"/>
            <a:ext cx="3520440" cy="164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960120"/>
            <a:ext cx="237744" cy="23774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759952" y="914400"/>
            <a:ext cx="31089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Adoption path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03920" y="1325880"/>
            <a:ext cx="33375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77072" y="1344168"/>
            <a:ext cx="32004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45B"/>
                </a:solidFill>
                <a:latin typeface="Calibri"/>
              </a:rPr>
              <a:t>1 · Pilot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131"/>
                </a:solidFill>
                <a:latin typeface="Calibri"/>
              </a:rPr>
              <a:t>AI &amp; DS department: our own courses this semester, feedback from 3–4 faculty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03920" y="2112264"/>
            <a:ext cx="33375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77072" y="2130552"/>
            <a:ext cx="32004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45B"/>
                </a:solidFill>
                <a:latin typeface="Calibri"/>
              </a:rPr>
              <a:t>2 · Department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131"/>
                </a:solidFill>
                <a:latin typeface="Calibri"/>
              </a:rPr>
              <a:t>shared server, deck library per teacher, labs library grows with faculty labs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03920" y="2898648"/>
            <a:ext cx="33375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77072" y="2916936"/>
            <a:ext cx="32004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45B"/>
                </a:solidFill>
                <a:latin typeface="Calibri"/>
              </a:rPr>
              <a:t>3 · College / LMS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131"/>
                </a:solidFill>
                <a:latin typeface="Calibri"/>
              </a:rPr>
              <a:t>Moodle / Google Classroom export, regional languages, analytics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412480" y="3840480"/>
            <a:ext cx="3520440" cy="2633472"/>
          </a:xfrm>
          <a:prstGeom prst="roundRect">
            <a:avLst>
              <a:gd name="adj" fmla="val 4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412480" y="3840480"/>
            <a:ext cx="3520440" cy="329184"/>
          </a:xfrm>
          <a:prstGeom prst="roundRect">
            <a:avLst>
              <a:gd name="adj" fmla="val 25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12480" y="4005072"/>
            <a:ext cx="3520440" cy="164592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5632" y="3886200"/>
            <a:ext cx="237744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759952" y="3840480"/>
            <a:ext cx="31089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Deployment plan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4224528"/>
            <a:ext cx="3337560" cy="2240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19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919" b="1" i="0">
                <a:solidFill>
                  <a:srgbClr val="172131"/>
                </a:solidFill>
                <a:latin typeface="Calibri"/>
              </a:rPr>
              <a:t>Front end:</a:t>
            </a:r>
            <a:r>
              <a:rPr sz="919" b="0" i="0">
                <a:solidFill>
                  <a:srgbClr val="172131"/>
                </a:solidFill>
                <a:latin typeface="Calibri"/>
              </a:rPr>
              <a:t> static React build on Vercel / Netlify.</a:t>
            </a:r>
          </a:p>
          <a:p>
            <a:pPr algn="l">
              <a:spcAft>
                <a:spcPts val="300"/>
              </a:spcAft>
            </a:pPr>
            <a:r>
              <a:rPr sz="919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919" b="1" i="0">
                <a:solidFill>
                  <a:srgbClr val="172131"/>
                </a:solidFill>
                <a:latin typeface="Calibri"/>
              </a:rPr>
              <a:t>Back end:</a:t>
            </a:r>
            <a:r>
              <a:rPr sz="919" b="0" i="0">
                <a:solidFill>
                  <a:srgbClr val="172131"/>
                </a:solidFill>
                <a:latin typeface="Calibri"/>
              </a:rPr>
              <a:t> Docker container (FastAPI + LibreOffice + Tesseract) on Render, Railway or Google Cloud Run with a persistent volume.</a:t>
            </a:r>
          </a:p>
          <a:p>
            <a:pPr algn="l">
              <a:spcAft>
                <a:spcPts val="300"/>
              </a:spcAft>
            </a:pPr>
            <a:r>
              <a:rPr sz="919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919" b="1" i="0">
                <a:solidFill>
                  <a:srgbClr val="172131"/>
                </a:solidFill>
                <a:latin typeface="Calibri"/>
              </a:rPr>
              <a:t>Config:</a:t>
            </a:r>
            <a:r>
              <a:rPr sz="919" b="0" i="0">
                <a:solidFill>
                  <a:srgbClr val="172131"/>
                </a:solidFill>
                <a:latin typeface="Calibri"/>
              </a:rPr>
              <a:t> API URL for the front end; LEARNOVA_PUBLIC_URL so PowerPoint lab and illustration links resolve.</a:t>
            </a:r>
          </a:p>
          <a:p>
            <a:pPr algn="l">
              <a:spcAft>
                <a:spcPts val="300"/>
              </a:spcAft>
            </a:pPr>
            <a:r>
              <a:rPr sz="919" b="1" i="0">
                <a:solidFill>
                  <a:srgbClr val="F27A2E"/>
                </a:solidFill>
                <a:latin typeface="Calibri"/>
              </a:rPr>
              <a:t>• </a:t>
            </a:r>
            <a:r>
              <a:rPr sz="919" b="1" i="0">
                <a:solidFill>
                  <a:srgbClr val="172131"/>
                </a:solidFill>
                <a:latin typeface="Calibri"/>
              </a:rPr>
              <a:t>Why not all on Vercel:</a:t>
            </a:r>
            <a:r>
              <a:rPr sz="919" b="0" i="0">
                <a:solidFill>
                  <a:srgbClr val="172131"/>
                </a:solidFill>
                <a:latin typeface="Calibri"/>
              </a:rPr>
              <a:t> long jobs, system binaries and on-disk storage do not fit serverless functions.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7782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72131"/>
                </a:solidFill>
                <a:latin typeface="Montserrat"/>
              </a:rPr>
              <a:t>RESEARCH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621792"/>
            <a:ext cx="1188720" cy="54864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4864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1F5FBF"/>
                </a:solidFill>
                <a:latin typeface="Calibri"/>
              </a:rPr>
              <a:t>Papers we built on · tools we compared · our own publications and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28016"/>
            <a:ext cx="2606040" cy="56692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28016"/>
            <a:ext cx="2514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7A2E"/>
                </a:solidFill>
                <a:latin typeface="Montserrat"/>
              </a:rPr>
              <a:t>LEARNOVA · Group 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55F6D"/>
                </a:solidFill>
                <a:latin typeface="Calibri"/>
              </a:rPr>
              <a:t>IPD Review · AI &amp; DS, DJSCE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82296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Learnova — redesigning outdated lecture slides into illustrated, interactive teaching decks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548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914400"/>
            <a:ext cx="2816352" cy="2240280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" y="1005840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" y="1024128"/>
            <a:ext cx="21488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5FBF"/>
                </a:solidFill>
                <a:latin typeface="Montserrat"/>
              </a:rPr>
              <a:t>SLIDE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517904"/>
            <a:ext cx="2633472" cy="16093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F5FBF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Hu &amp; Wan, PPSGen, IEEE TKDE 27(4):1085–1097, 2015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F5FBF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Fu et al., DOC2PPT, AAAI 36:634–642, 2022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F5FBF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Sun et al., D2S, NAACL 2021, pp. 1405–1418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914400"/>
            <a:ext cx="2816352" cy="224028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91840" y="1005840"/>
            <a:ext cx="457200" cy="457200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097280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22191" y="1024128"/>
            <a:ext cx="21488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03030"/>
                </a:solidFill>
                <a:latin typeface="Montserrat"/>
              </a:rPr>
              <a:t>FAITHFULNESS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17904"/>
            <a:ext cx="2633472" cy="16093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C03030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Maynez et al., ACL 2020, pp. 1906–1919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C03030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Ji et al., Survey of hallucination, ACM CSUR 55(12), 2023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914400"/>
            <a:ext cx="2816352" cy="224028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 w="127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7920" y="1005840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1097280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48272" y="1024128"/>
            <a:ext cx="21488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6845B"/>
                </a:solidFill>
                <a:latin typeface="Montserrat"/>
              </a:rPr>
              <a:t>LEARNING SCIENCE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1517904"/>
            <a:ext cx="2633472" cy="16093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6845B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Mayer, Multimedia Learning, CUP, 2009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6845B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Sweller, Cognitive Science 12(2), 1988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6845B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Garner &amp; Alley, IJEE 29(6), 2013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914400"/>
            <a:ext cx="2816352" cy="224028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 w="12700">
            <a:solidFill>
              <a:srgbClr val="F2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0" y="1005840"/>
            <a:ext cx="457200" cy="457200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097280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74352" y="1024128"/>
            <a:ext cx="21488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27A2E"/>
                </a:solidFill>
                <a:latin typeface="Montserrat"/>
              </a:rPr>
              <a:t>WORKED EXAMPLES &amp; LABS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517904"/>
            <a:ext cx="2633472" cy="16093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27A2E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Sweller &amp; Cooper, Cogn. &amp; Instr. 2(1), 1985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27A2E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Hundhausen et al., JVLC 13(3), 2002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27A2E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Wieman et al., PhET, Science 322, 2008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246120"/>
            <a:ext cx="2816352" cy="2240280"/>
          </a:xfrm>
          <a:prstGeom prst="roundRect">
            <a:avLst>
              <a:gd name="adj" fmla="val 6000"/>
            </a:avLst>
          </a:prstGeom>
          <a:solidFill>
            <a:srgbClr val="F1EBF9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760" y="3337560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29000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112" y="3355848"/>
            <a:ext cx="21488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B3FA0"/>
                </a:solidFill>
                <a:latin typeface="Montserrat"/>
              </a:rPr>
              <a:t>LAYOUT &amp; VISUALS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849624"/>
            <a:ext cx="2633472" cy="16093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6B3FA0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Knuth &amp; Plass, Breaking paragraphs into lines, SPE 11(11), 1981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6B3FA0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Mackinlay, APT, ACM TOG 5(2), 1986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6B3FA0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Moritz et al., Draco, IEEE TVCG 25(1), 2019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246120"/>
            <a:ext cx="2816352" cy="22402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91840" y="3337560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429000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22191" y="3355848"/>
            <a:ext cx="21488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E7C86"/>
                </a:solidFill>
                <a:latin typeface="Montserrat"/>
              </a:rPr>
              <a:t>NLP &amp; OCR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0128" y="3849624"/>
            <a:ext cx="2633472" cy="16093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0E7C86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Jurafsky &amp; Martin, Speech and Language Processing, 3rd ed. draft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0E7C86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Smith, Tesseract OCR, ICDAR 2007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0E7C86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Meurer et al., SymPy, PeerJ CS 3:e103, 2017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246120"/>
            <a:ext cx="2816352" cy="2240280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17920" y="3337560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59" y="3429000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48272" y="3355848"/>
            <a:ext cx="21488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5FBF"/>
                </a:solidFill>
                <a:latin typeface="Montserrat"/>
              </a:rPr>
              <a:t>TOOLS COMPARED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3849624"/>
            <a:ext cx="2633472" cy="16093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F5FBF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Gamma (gamma.app)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F5FBF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Microsoft Copilot in PowerPoint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1F5FBF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Gemini in Google Slides · Canva Magic Design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3246120"/>
            <a:ext cx="2816352" cy="224028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44000" y="3337560"/>
            <a:ext cx="457200" cy="457200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0" y="3429000"/>
            <a:ext cx="274320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74352" y="3355848"/>
            <a:ext cx="21488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03030"/>
                </a:solidFill>
                <a:latin typeface="Montserrat"/>
              </a:rPr>
              <a:t>OUR PAPERS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2288" y="3849624"/>
            <a:ext cx="2633472" cy="16093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C03030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IEEE conf. paper: Rebuilding lecture slide decks into visually structured, interactive presentations</a:t>
            </a:r>
          </a:p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C03030"/>
                </a:solidFill>
                <a:latin typeface="Calibri"/>
              </a:rPr>
              <a:t>▸ </a:t>
            </a:r>
            <a:r>
              <a:rPr sz="1000" b="0" i="0">
                <a:solidFill>
                  <a:srgbClr val="172131"/>
                </a:solidFill>
                <a:latin typeface="Calibri"/>
              </a:rPr>
              <a:t>Springer LNCS paper: Computed step-by-step explainers and generated labs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5614416"/>
            <a:ext cx="11658600" cy="868680"/>
          </a:xfrm>
          <a:prstGeom prst="roundRect">
            <a:avLst>
              <a:gd name="adj" fmla="val 10000"/>
            </a:avLst>
          </a:prstGeom>
          <a:solidFill>
            <a:srgbClr val="E8F0FC"/>
          </a:solidFill>
          <a:ln w="1270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" y="5660136"/>
            <a:ext cx="777240" cy="77724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7008" y="5660136"/>
            <a:ext cx="777240" cy="7772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103120" y="5641848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5FBF"/>
                </a:solidFill>
                <a:latin typeface="Calibri"/>
              </a:rPr>
              <a:t>Scan to verify:  </a:t>
            </a:r>
            <a:r>
              <a:rPr sz="1050" b="0" i="0">
                <a:solidFill>
                  <a:srgbClr val="172131"/>
                </a:solidFill>
                <a:latin typeface="Calibri"/>
              </a:rPr>
              <a:t>left — full source code, tests and demo decks (github.com/SDP42/LearnovaV2); right — both research papers (IEEE and Springer LNCS), gold sets and the measurement scripts used for every number on these slides. </a:t>
            </a:r>
            <a:r>
              <a:rPr sz="1050" b="1" i="0">
                <a:solidFill>
                  <a:srgbClr val="172131"/>
                </a:solidFill>
                <a:latin typeface="Calibri"/>
              </a:rPr>
              <a:t>Web resources: </a:t>
            </a:r>
            <a:r>
              <a:rPr sz="1050" b="0" i="0">
                <a:solidFill>
                  <a:srgbClr val="172131"/>
                </a:solidFill>
                <a:latin typeface="Calibri"/>
              </a:rPr>
              <a:t>revealjs.com · python-pptx · PyMuPDF · LibreOffice · Tesseract · ai.google.dev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291840"/>
            <a:ext cx="5029200" cy="5029200"/>
          </a:xfrm>
          <a:prstGeom prst="ellipse">
            <a:avLst/>
          </a:prstGeom>
          <a:solidFill>
            <a:srgbClr val="1F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097280"/>
            <a:ext cx="3108960" cy="3108960"/>
          </a:xfrm>
          <a:prstGeom prst="ellipse">
            <a:avLst/>
          </a:prstGeom>
          <a:solidFill>
            <a:srgbClr val="5A2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5394960"/>
            <a:ext cx="1463040" cy="1463040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43000"/>
            <a:ext cx="128016" cy="2103120"/>
          </a:xfrm>
          <a:prstGeom prst="rect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6858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6600" b="1" i="0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240280"/>
            <a:ext cx="6858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B07A"/>
                </a:solidFill>
                <a:latin typeface="Calibri"/>
              </a:rPr>
              <a:t>Questions, feedback — and a live demo of Learnova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8D0DC"/>
                </a:solidFill>
                <a:latin typeface="Calibri"/>
              </a:rPr>
              <a:t>Upload any lecture deck and watch it become an illustrated, interactive teaching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6035040" cy="214884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 w="12700">
            <a:solidFill>
              <a:srgbClr val="2E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67328"/>
            <a:ext cx="5760720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27A2E"/>
                </a:solidFill>
                <a:latin typeface="Calibri"/>
              </a:rPr>
              <a:t>TEAM · GROUP 1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Kawaljeet Singh Bharaj · 60018240016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Jeevesh Bharat Bodhani · 60018240096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Rishit Pankajkumar Lahoti · 6001840101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Swayam Devendra Panchal · 60018240013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8B3C4"/>
                </a:solidFill>
                <a:latin typeface="Calibri"/>
              </a:rPr>
              <a:t>Department of Artificial Intelligence and Data Science, DJSCE, Mumbai</a:t>
            </a:r>
          </a:p>
        </p:txBody>
      </p:sp>
      <p:pic>
        <p:nvPicPr>
          <p:cNvPr id="10" name="Picture 9" descr="ar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9973"/>
            <a:ext cx="4206240" cy="12462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3090672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A8B3C4"/>
                </a:solidFill>
                <a:latin typeface="Calibri"/>
              </a:rPr>
              <a:t>Diagrams drawn by Learnova for real lecture slides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61188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730752"/>
            <a:ext cx="141732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64040" y="3749039"/>
            <a:ext cx="1691640" cy="2057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5F6D"/>
                </a:solidFill>
                <a:latin typeface="Calibri"/>
              </a:rPr>
              <a:t>Scan for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2131"/>
                </a:solidFill>
                <a:latin typeface="Calibri"/>
              </a:rPr>
              <a:t>code, papers &amp; demo decks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5FBF"/>
                </a:solidFill>
                <a:latin typeface="Calibri"/>
              </a:rPr>
              <a:t>github.com/SDP42/LearnovaV2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7F8CA0"/>
                </a:solidFill>
                <a:latin typeface="Montserrat"/>
              </a:rPr>
              <a:t>LEARNOVA  ·  Read  ·  Redesign  ·  Illustrate  ·  Engage  ·  Deliver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AE97A8E38BB94C9EDB181DC7B004DD" ma:contentTypeVersion="3" ma:contentTypeDescription="Create a new document." ma:contentTypeScope="" ma:versionID="94b3b7349a4843f7c2279f465d38d8db">
  <xsd:schema xmlns:xsd="http://www.w3.org/2001/XMLSchema" xmlns:xs="http://www.w3.org/2001/XMLSchema" xmlns:p="http://schemas.microsoft.com/office/2006/metadata/properties" xmlns:ns2="578f2802-b87e-4c64-b910-c86400058cd2" targetNamespace="http://schemas.microsoft.com/office/2006/metadata/properties" ma:root="true" ma:fieldsID="66cf2d19400d805c1056feb769f61489" ns2:_="">
    <xsd:import namespace="578f2802-b87e-4c64-b910-c86400058c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8f2802-b87e-4c64-b910-c86400058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47C690-70C6-49CB-940B-76F6A72D322D}"/>
</file>

<file path=customXml/itemProps2.xml><?xml version="1.0" encoding="utf-8"?>
<ds:datastoreItem xmlns:ds="http://schemas.openxmlformats.org/officeDocument/2006/customXml" ds:itemID="{B80725F3-0F6C-49D8-A2A4-B4EC187C173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2246789-8CCD-40B5-A136-5C106992B9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Innovative Product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FOX LINT</dc:title>
  <dc:creator>Vivek Gupta</dc:creator>
  <cp:revision>1</cp:revision>
  <dcterms:created xsi:type="dcterms:W3CDTF">2022-02-16T17:50:52Z</dcterms:created>
  <dcterms:modified xsi:type="dcterms:W3CDTF">2025-11-24T03:45:13Z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0x01010059AE97A8E38BB94C9EDB181DC7B004DD</vt:lpwstr>
  </property>
</Properties>
</file>