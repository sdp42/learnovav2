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Agenda POS Tagging SYNTACTIC ANALYSIS PART-OF-SPEECH TAGGING RULE BASED POS TAGGING (POS) TAGGING Rules has to be updated based on language change.</a:t>
            </a:r>
          </a:p>
          <a:p>
            <a:r>
              <a:t>  - The/DT can/MD was/VBD rusted/VBD 1) Generative Model</a:t>
            </a:r>
          </a:p>
          <a:p/>
          <a:p>
            <a:r>
              <a:t>Pause: ask the class what they already know about “Agenda”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Types of POS Tagging</a:t>
            </a:r>
          </a:p>
          <a:p>
            <a:r>
              <a:t>  2. Parsers</a:t>
            </a:r>
          </a:p>
          <a:p>
            <a:r>
              <a:t>  3. Part of speech tagging uses different parsers to analyze sentence structure and assign grammatical categories.</a:t>
            </a:r>
          </a:p>
          <a:p>
            <a:r>
              <a:t>  4. These parsers help process text accurately by understanding word roles.</a:t>
            </a:r>
          </a:p>
          <a:p>
            <a:r>
              <a:t>  5. Example: A parser determines if 'run' is a noun or a verb.</a:t>
            </a:r>
          </a:p>
          <a:p/>
          <a:p>
            <a:r>
              <a:t>Say what these mean, in your own words:</a:t>
            </a:r>
          </a:p>
          <a:p>
            <a:r>
              <a:t>  - pos: Parts of Speech Tagging</a:t>
            </a:r>
          </a:p>
          <a:p>
            <a:r>
              <a:t>  - POS Tagging: Assigning grammatical parts of speech to each word in a text.</a:t>
            </a:r>
          </a:p>
          <a:p/>
          <a:p>
            <a:r>
              <a:t>Pause: ask the class what they already know about “Parsers for part of speech tagging come in various types”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Discriminative Model : Maximum Entropy</a:t>
            </a:r>
          </a:p>
          <a:p>
            <a:r>
              <a:t>  2. Model</a:t>
            </a:r>
          </a:p>
          <a:p>
            <a:r>
              <a:t>  3. Parts of Speech Tagging (POS)</a:t>
            </a:r>
          </a:p>
          <a:p>
            <a:r>
              <a:t>  4. Conditional Random Field (CRF)</a:t>
            </a:r>
          </a:p>
          <a:p>
            <a:r>
              <a:t>  5. Tagset for English (Upenn Treebank)</a:t>
            </a:r>
          </a:p>
          <a:p>
            <a:r>
              <a:t>  6. Parsers: Top Down and Bottom up</a:t>
            </a:r>
          </a:p>
          <a:p>
            <a:r>
              <a:t>  7. Difficulties and Challenges in POS tagging</a:t>
            </a:r>
          </a:p>
          <a:p/>
          <a:p>
            <a:r>
              <a:t>Read these exactly (do not paraphrase):</a:t>
            </a:r>
          </a:p>
          <a:p>
            <a:r>
              <a:t>  - Syntactic analysis encompasses models parsers and challenges for POS tagging Discriminative Model : Maximum Entropy Model Parts of Speech Tagging (POS) Conditional Random Field (CRF) Tagset for English (Upenn Treebank) Parsers: Top Down and Bottom up Difficulties and Challenges in POS tagging Modelling Constituency Rule Based, Stochastic and Transformation based Generative Model : Hidden Markov Model (HMM Bottom-up parser : CYK, PCFG, SR Parser Veterbi) for POS Tagging Top-down Parser : Early Parser, Predictive Issues in HMM POS Tagging Parser</a:t>
            </a:r>
          </a:p>
          <a:p/>
          <a:p>
            <a:r>
              <a:t>Say what these mean, in your own words:</a:t>
            </a:r>
          </a:p>
          <a:p>
            <a:r>
              <a:t>  - hmm: Hidden Markov Model</a:t>
            </a:r>
          </a:p>
          <a:p>
            <a:r>
              <a:t>  - Discriminative Model: A model that directly calculates the conditional probability of classes given observations.</a:t>
            </a:r>
          </a:p>
          <a:p/>
          <a:p>
            <a:r>
              <a:t>Pause: ask the class what they already know about “Syntactic analysis encompasses models parsers and challenges for POS tagging”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TYPES OF POS TAGGING</a:t>
            </a:r>
          </a:p>
          <a:p>
            <a:r>
              <a:t>  2. Different categories of part of speech tagging exist to process and assign word classes effectively.</a:t>
            </a:r>
          </a:p>
          <a:p>
            <a:r>
              <a:t>  3. These types organize how algorithms approach natural language understanding.</a:t>
            </a:r>
          </a:p>
          <a:p>
            <a:r>
              <a:t>  4. Example: Rule-based versus stochastic tagging methods.</a:t>
            </a:r>
          </a:p>
          <a:p/>
          <a:p>
            <a:r>
              <a:t>Say what these mean, in your own words:</a:t>
            </a:r>
          </a:p>
          <a:p>
            <a:r>
              <a:t>  - POS Tagging: The process of marking up a word in a text as corresponding to a particular part of speech.</a:t>
            </a:r>
          </a:p>
          <a:p/>
          <a:p>
            <a:r>
              <a:t>Pause: ask the class what they already know about “Various approaches define the types of POS tagging”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Syntactic analysis (continued)</a:t>
            </a:r>
          </a:p>
          <a:p/>
          <a:p>
            <a:r>
              <a:t>Pause: ask the class what they already know about “Syntactic analysis (continued)” before revealing the slide.</a:t>
            </a:r>
          </a:p>
          <a:p/>
          <a:p>
            <a:r>
              <a:t>Wording matters here — slow down, keep it precise.</a:t>
            </a:r>
          </a:p>
          <a:p/>
          <a:p>
            <a:r>
              <a:t>~19s</a:t>
            </a:r>
          </a:p>
          <a:p>
            <a:r>
              <a:t>Text in the figure: Process of POS Tagging</a:t>
            </a:r>
          </a:p>
          <a:p>
            <a:r>
              <a:t>A Single Best Tag of Each Word</a:t>
            </a:r>
          </a:p>
          <a:p>
            <a:r>
              <a:t>J VB DT NN.</a:t>
            </a:r>
          </a:p>
          <a:p>
            <a:r>
              <a:t>Book that flight .</a:t>
            </a:r>
          </a:p>
          <a:p>
            <a:r>
              <a:t>VBZ DT NN VB NN ?</a:t>
            </a:r>
          </a:p>
          <a:p>
            <a:r>
              <a:t>Does that flight serve dinner ?</a:t>
            </a:r>
          </a:p>
          <a:p>
            <a:r>
              <a:t>_~ Syntagmalic information (lookin at information about tag sequences)</a:t>
            </a:r>
          </a:p>
          <a:p>
            <a:r>
              <a:t>= Lexical information (predicting a tag based on the word concerned)</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Syntactic analysis (continued)</a:t>
            </a:r>
          </a:p>
          <a:p/>
          <a:p>
            <a:r>
              <a:t>Pause: ask the class what they already know about “Syntactic analysis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Syntactic analysis (continued)</a:t>
            </a:r>
          </a:p>
          <a:p/>
          <a:p>
            <a:r>
              <a:t>Pause: ask the class what they already know about “Syntactic analysis (continued)” before revealing the slide.</a:t>
            </a:r>
          </a:p>
          <a:p/>
          <a:p>
            <a:r>
              <a:t>Wording matters here — slow down, keep it precise.</a:t>
            </a:r>
          </a:p>
          <a:p/>
          <a:p>
            <a:r>
              <a:t>~19s</a:t>
            </a:r>
          </a:p>
          <a:p>
            <a:r>
              <a:t>Text in the figure: Classification of Taggers Rule Based Stochastic/ Statistical based Transformation based Probablistic Generative Model Discriminative Model</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Rule-based taggers</a:t>
            </a:r>
          </a:p>
          <a:p>
            <a:r>
              <a:t>  2. Stochastic taggers</a:t>
            </a:r>
          </a:p>
          <a:p>
            <a:r>
              <a:t>  3. Involve a large database of hand-written</a:t>
            </a:r>
          </a:p>
          <a:p>
            <a:r>
              <a:t>  4. Resolve tagging ambiguities by using a</a:t>
            </a:r>
          </a:p>
          <a:p>
            <a:r>
              <a:t>  5. disambiguation rule specifying, for</a:t>
            </a:r>
          </a:p>
          <a:p>
            <a:r>
              <a:t>  6. training corpus to count the probability of</a:t>
            </a:r>
          </a:p>
          <a:p>
            <a:r>
              <a:t>  7. example, that an ambiguous word is a</a:t>
            </a:r>
          </a:p>
          <a:p/>
          <a:p>
            <a:r>
              <a:t>Say what these mean, in your own words:</a:t>
            </a:r>
          </a:p>
          <a:p>
            <a:r>
              <a:t>  - Rule-based tagger: A tagger that uses a large database of hand-written disambiguation rules.</a:t>
            </a:r>
          </a:p>
          <a:p/>
          <a:p>
            <a:r>
              <a:t>Pause: ask the class what they already know about “Part of speech tagging utilizes rule based and stochastic tagger architectures”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earliest algorithms for automatically assigning POS were based on a two-stage architecture.</a:t>
            </a:r>
          </a:p>
          <a:p>
            <a:r>
              <a:t>  2. First, use a dictionary to assign each word a list of potential POS.</a:t>
            </a:r>
          </a:p>
          <a:p>
            <a:r>
              <a:t>  3. Second, use large lists of hand-written disambiguation rules to win now down this list to a single POS for each word.</a:t>
            </a:r>
          </a:p>
          <a:p>
            <a:r>
              <a:t>  4. The ENGTWOL tagger (1995) is based on the same two</a:t>
            </a:r>
          </a:p>
          <a:p>
            <a:r>
              <a:t>  5. •Lexicon:</a:t>
            </a:r>
          </a:p>
          <a:p>
            <a:r>
              <a:t>  6. stage architecture, with much more sophisticated</a:t>
            </a:r>
          </a:p>
          <a:p>
            <a:r>
              <a:t>  7. •56000 entries</a:t>
            </a:r>
          </a:p>
          <a:p/>
          <a:p>
            <a:r>
              <a:t>Read these exactly (do not paraphrase):</a:t>
            </a:r>
          </a:p>
          <a:p>
            <a:r>
              <a:t>  - The ENGTWOL tagger (1995) is based on the same two •Lexicon: stage architecture, with much more sophisticated •56000 entries lexicon and disambiguation rules than before.</a:t>
            </a:r>
          </a:p>
          <a:p/>
          <a:p>
            <a:r>
              <a:t>Say what these mean, in your own words:</a:t>
            </a:r>
          </a:p>
          <a:p>
            <a:r>
              <a:t>  - Lexicon: A dictionary containing words and their potential parts of speech entries.</a:t>
            </a:r>
          </a:p>
          <a:p/>
          <a:p>
            <a:r>
              <a:t>Pause: ask the class what they already know about “Rule based POS tagging uses a dictionary and disambiguation rules”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Rule based POS tagging (POS) (continued)</a:t>
            </a:r>
          </a:p>
          <a:p/>
          <a:p>
            <a:r>
              <a:t>Pause: ask the class what they already know about “Rule based POS tagging (POS) (continued)” before revealing the slide.</a:t>
            </a:r>
          </a:p>
          <a:p/>
          <a:p>
            <a:r>
              <a:t>Wording matters here — slow down, keep it precise.</a:t>
            </a:r>
          </a:p>
          <a:p/>
          <a:p>
            <a:r>
              <a:t>~19s</a:t>
            </a:r>
          </a:p>
          <a:p>
            <a:r>
              <a:t>Text in the figure: Additional POS features smaller COMPARATIVE entire ABSOLUTE ATTRIBUTIVE fast SUPERLATIVE that CENTRAL DEMONSTRATIVE SG all PREDETERMINER SG/PL QUANTIFIER dog’s GENITIVE SG furniture NOMINATIVE SG NOINDEFDETERMINER one-third NUM SG she PRON PERSONAL FEMININE NOMINATIVE SG3 show V IMPERATIVE VFIN show Vv PRESENT -SG3 VFIN show N NOMINATIVE SG shown PCP2 SVOO SVO SV occurred PCP2 SV occurred V PAST VFIN SV sample lexical entries from the ENGTWOL lexicon.</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Rule based POS tagging (POS) (continued)</a:t>
            </a:r>
          </a:p>
          <a:p/>
          <a:p>
            <a:r>
              <a:t>Pause: ask the class what they already know about “Rule based POS tagging (POS) (continued)” before revealing the slide.</a:t>
            </a:r>
          </a:p>
          <a:p/>
          <a:p>
            <a:r>
              <a:t>Wording matters here — slow down, keep it precise.</a:t>
            </a:r>
          </a:p>
          <a:p/>
          <a:p>
            <a:r>
              <a:t>~19s</a:t>
            </a:r>
          </a:p>
          <a:p>
            <a:r>
              <a:t>Text in the figure: ADVERBIAL-THAT RULE Given input: “that” if (+1 A/ADV/QUANT); /* if next word is adj, adverb, or quantifier * / (+2 SENT-LIM); /* and following which is a sentence boundary, */ (NOT -1 SVOC/A); /* and the previous word is not a verb like * / /* ‘consider’ which allows adjs as object complements * / then eliminate non-ADV tags else eliminate ADV tag Example: It isn't that odd! ADV A I consider that odd. Compliment NUM</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STOCHASTIC POS</a:t>
            </a:r>
          </a:p>
          <a:p>
            <a:r>
              <a:t>  2. Based on probability of certain tag occurring, given various possibilities</a:t>
            </a:r>
          </a:p>
          <a:p>
            <a:r>
              <a:t>  3. Necessitates a training corpus</a:t>
            </a:r>
          </a:p>
          <a:p>
            <a:r>
              <a:t>  4. A collection of sentences that have already been tagged</a:t>
            </a:r>
          </a:p>
          <a:p>
            <a:r>
              <a:t>  5. Several such corpora exist</a:t>
            </a:r>
          </a:p>
          <a:p>
            <a:r>
              <a:t>  6. Standard Corpus of Present-Day American English (or just the Brown Corpus)</a:t>
            </a:r>
          </a:p>
          <a:p>
            <a:r>
              <a:t>  7. about 1,000,000 words from a wide variety of sources</a:t>
            </a:r>
          </a:p>
          <a:p/>
          <a:p>
            <a:r>
              <a:t>Read these exactly (do not paraphrase):</a:t>
            </a:r>
          </a:p>
          <a:p>
            <a:r>
              <a:t>  - Stochastic POS tagging relies on probabilities derived from training corpora STOCHASTIC POS Based on probability of certain tag occurring, given various possibilities Necessitates a training corpus A collection of sentences that have already been tagged Several such corpora exist Standard Corpus of Present-Day American English (or just the Brown Corpus) about 1,000,000 words from a wide variety of sources POS tags assigned to each</a:t>
            </a:r>
          </a:p>
          <a:p/>
          <a:p>
            <a:r>
              <a:t>Say what these mean, in your own words:</a:t>
            </a:r>
          </a:p>
          <a:p>
            <a:r>
              <a:t>  - Training Corpus: A collection of pre-tagged sentences used to compute statistical probabilities.</a:t>
            </a:r>
          </a:p>
          <a:p/>
          <a:p>
            <a:r>
              <a:t>Pause: ask the class what they already know about “Stochastic POS tagging relies on probabilities derived from training corpora”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Limitations of Rule-based Approach</a:t>
            </a:r>
          </a:p>
          <a:p>
            <a:r>
              <a:t>  2. Hard coded rule are required.</a:t>
            </a:r>
          </a:p>
          <a:p>
            <a:r>
              <a:t>  3. It needs to check lexicon every time which is not efficient approach</a:t>
            </a:r>
          </a:p>
          <a:p>
            <a:r>
              <a:t>  4. Strong language experts team is required.</a:t>
            </a:r>
          </a:p>
          <a:p>
            <a:r>
              <a:t>  5. 2) Stochastic/ Statistical based Approach</a:t>
            </a:r>
          </a:p>
          <a:p>
            <a:r>
              <a:t>  6. It is based on concept of probability and machine learning.</a:t>
            </a:r>
          </a:p>
          <a:p>
            <a:r>
              <a:t>  7. Training and Test corpus are used.</a:t>
            </a:r>
          </a:p>
          <a:p/>
          <a:p>
            <a:r>
              <a:t>Read these exactly (do not paraphrase):</a:t>
            </a:r>
          </a:p>
          <a:p>
            <a:r>
              <a:t>  - 2) Stochastic/ Statistical based Approach It is based on concept of probability and machine learning.</a:t>
            </a:r>
          </a:p>
          <a:p>
            <a:r>
              <a:t>  - Two approaches are there a) Transformation based Tagger b) Probabilistic based Tagger</a:t>
            </a:r>
          </a:p>
          <a:p/>
          <a:p>
            <a:r>
              <a:t>Pause: ask the class what they already know about “Rules has to be updated based on language change”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 Transformation based Tagger</a:t>
            </a:r>
          </a:p>
          <a:p>
            <a:r>
              <a:t>  2. This tagger is based on concept of Transformation-Based Learning (TBL) approach.</a:t>
            </a:r>
          </a:p>
          <a:p>
            <a:r>
              <a:t>  3. TBL uses supervised learning.</a:t>
            </a:r>
          </a:p>
          <a:p>
            <a:r>
              <a:t>  4. There is assumption of pre-tagged training corpus.</a:t>
            </a:r>
          </a:p>
          <a:p>
            <a:r>
              <a:t>  5. It combines idea of the rule-based and stochastic taggers.</a:t>
            </a:r>
          </a:p>
          <a:p>
            <a:r>
              <a:t>  6. Like the rule based taggers, TBL is based on rules that specify what tags should</a:t>
            </a:r>
          </a:p>
          <a:p>
            <a:r>
              <a:t>  7. be assigned to what words.</a:t>
            </a:r>
          </a:p>
          <a:p/>
          <a:p>
            <a:r>
              <a:t>Read these exactly (do not paraphrase):</a:t>
            </a:r>
          </a:p>
          <a:p>
            <a:r>
              <a:t>  - Transformation based tagging combines rule based and stochastic learning approaches a) Transformation based Tagger This tagger is based on concept of Transformation-Based Learning (TBL) approach.</a:t>
            </a:r>
          </a:p>
          <a:p/>
          <a:p>
            <a:r>
              <a:t>Say what these mean, in your own words:</a:t>
            </a:r>
          </a:p>
          <a:p>
            <a:r>
              <a:t>  - Transformation-Based Learning: A supervised machine learning approach that automatically induces correction rules from data.</a:t>
            </a:r>
          </a:p>
          <a:p/>
          <a:p>
            <a:r>
              <a:t>Pause: ask the class what they already know about “Transformation based tagging combines rule based and stochastic learning approaches”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Label the training set with most frequent tags</a:t>
            </a:r>
          </a:p>
          <a:p>
            <a:r>
              <a:t>  2. e.g. The can was rusted.</a:t>
            </a:r>
          </a:p>
          <a:p>
            <a:r>
              <a:t>  3. Add transformation rules to reduce training mistakes.</a:t>
            </a:r>
          </a:p>
          <a:p>
            <a:r>
              <a:t>  4. Explanation: ‘can’ can be noun as well as modal verb also.</a:t>
            </a:r>
          </a:p>
          <a:p>
            <a:r>
              <a:t>  5. It uses machine learning as well as grammar rules.</a:t>
            </a:r>
          </a:p>
          <a:p>
            <a:r>
              <a:t>  6. 1) Model verb is never preceded by determiner.</a:t>
            </a:r>
          </a:p>
          <a:p>
            <a:r>
              <a:t>  7. 2) Also in corpus (training data) possibility of ‘determiner model verb’ pair is zero.</a:t>
            </a:r>
          </a:p>
          <a:p/>
          <a:p>
            <a:r>
              <a:t>Read these exactly (do not paraphrase):</a:t>
            </a:r>
          </a:p>
          <a:p>
            <a:r>
              <a:t>  - 1) Model verb is never preceded by determiner.</a:t>
            </a:r>
          </a:p>
          <a:p>
            <a:r>
              <a:t>  - 2) Also in corpus (training data) possibility of ‘determiner model verb’ pair is zero.</a:t>
            </a:r>
          </a:p>
          <a:p>
            <a:r>
              <a:t>  - 1) In grammar rule, VBN is preceded by VBD 2) Also in corpus, possibility of “VBD-VBD’ pair is negligible.</a:t>
            </a:r>
          </a:p>
          <a:p/>
          <a:p>
            <a:r>
              <a:t>Say what these mean, in your own words:</a:t>
            </a:r>
          </a:p>
          <a:p>
            <a:r>
              <a:t>  - Training Set: Labeled data used to teach a machine learning model correct tagging.</a:t>
            </a:r>
          </a:p>
          <a:p/>
          <a:p>
            <a:r>
              <a:t>Pause: ask the class what they already know about “Transformation rules and grammar constraints resolve ambiguous word tags”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The/DT can/MD was/VBD rusted/VBD (continued)</a:t>
            </a:r>
          </a:p>
          <a:p/>
          <a:p>
            <a:r>
              <a:t>Pause: ask the class what they already know about “The/DT can/MD was/VBD rusted/VBD (continued)” before revealing the slide.</a:t>
            </a:r>
          </a:p>
          <a:p/>
          <a:p>
            <a:r>
              <a:t>Wording matters here — slow down, keep it precise.</a:t>
            </a:r>
          </a:p>
          <a:p/>
          <a:p>
            <a:r>
              <a:t>~19s</a:t>
            </a:r>
          </a:p>
          <a:p>
            <a:r>
              <a:t>Text in the figure: Statement: Race is incorrectly tagged in the following statement: is/VBZ expected/VBN to/TO race/NN tomorrow/NN In the second case this race is correctly tagged as an NN: the/DT race/NN for/IN outer/JJ space/NN For example, in the Brown corpus, race is most likely to be a noun: P(NNirace) = .98 P(VBirace) = .02 Therefore race is labelled as NN because its occurrence (probability) is more. Brill's tagger learned a rule that applies exactly to this mistagging of race: Change NN to VB when the previous tag is TO. This rule would change race/NN to race/VB in exactly the following situation, since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Approach is to "pick the most-likely tag for this word".</a:t>
            </a:r>
          </a:p>
          <a:p>
            <a:r>
              <a:t>  2. Two approaches are there whether you generate the data from the class or the</a:t>
            </a:r>
          </a:p>
          <a:p>
            <a:r>
              <a:t>  3. class from the data.</a:t>
            </a:r>
          </a:p>
          <a:p>
            <a:r>
              <a:t>  4. Problem statement: Data available of the form [d, c]</a:t>
            </a:r>
          </a:p>
          <a:p>
            <a:r>
              <a:t>  5. where d is observations and c is hidden classes.</a:t>
            </a:r>
          </a:p>
          <a:p>
            <a:r>
              <a:t>  6. Two types of Model are there</a:t>
            </a:r>
          </a:p>
          <a:p>
            <a:r>
              <a:t>  7. i) Generative Model</a:t>
            </a:r>
          </a:p>
          <a:p/>
          <a:p>
            <a:r>
              <a:t>Read these exactly (do not paraphrase):</a:t>
            </a:r>
          </a:p>
          <a:p>
            <a:r>
              <a:t>  - POS tagging approaches pick the most likely tag using generative or discriminative models Approach is to "pick the most-likely tag for this word".</a:t>
            </a:r>
          </a:p>
          <a:p>
            <a:r>
              <a:t>  - Two types of Model are there i) Generative Model ii) Discriminative Model</a:t>
            </a:r>
          </a:p>
          <a:p/>
          <a:p>
            <a:r>
              <a:t>Say what these mean, in your own words:</a:t>
            </a:r>
          </a:p>
          <a:p>
            <a:r>
              <a:t>  - Generative Model: A model that assumes classes generate observable data.</a:t>
            </a:r>
          </a:p>
          <a:p/>
          <a:p>
            <a:r>
              <a:t>Pause: ask the class what they already know about “POS tagging approaches pick the most likely tag using generative or discriminative models”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 generative model, we assume that</a:t>
            </a:r>
          </a:p>
          <a:p>
            <a:r>
              <a:t>  2. class is there and it generates data.</a:t>
            </a:r>
          </a:p>
          <a:p>
            <a:r>
              <a:t>  3. For e.g. class is given (subjects), and all</a:t>
            </a:r>
          </a:p>
          <a:p>
            <a:r>
              <a:t>  4. words are generated from subject.</a:t>
            </a:r>
          </a:p>
          <a:p>
            <a:r>
              <a:t>  5. For e.g. Part- of- Speech Tagging: POS</a:t>
            </a:r>
          </a:p>
          <a:p>
            <a:r>
              <a:t>  6. tags are there and words are</a:t>
            </a:r>
          </a:p>
          <a:p>
            <a:r>
              <a:t>  7. generated from that.</a:t>
            </a:r>
          </a:p>
          <a:p/>
          <a:p>
            <a:r>
              <a:t>Read these exactly (do not paraphrase):</a:t>
            </a:r>
          </a:p>
          <a:p>
            <a:r>
              <a:t>  - class is given (subjects), and all words are generated from subject.</a:t>
            </a:r>
          </a:p>
          <a:p>
            <a:r>
              <a:t>  - Example are Hidden Markov * Here flow is downward (Classes Model, Naive Bayes Classifier generates data)</a:t>
            </a:r>
          </a:p>
          <a:p/>
          <a:p>
            <a:r>
              <a:t>Say what these mean, in your own words:</a:t>
            </a:r>
          </a:p>
          <a:p>
            <a:r>
              <a:t>  - pos: Parts of Speech Tagging</a:t>
            </a:r>
          </a:p>
          <a:p>
            <a:r>
              <a:t>  - Generative Model: A statistical model where classes generate the observable data.</a:t>
            </a:r>
          </a:p>
          <a:p/>
          <a:p>
            <a:r>
              <a:t>Pause: ask the class what they already know about “Generative models assume classes generate observable data with downward data flow”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- 1) Generative Model (continued)</a:t>
            </a:r>
          </a:p>
          <a:p/>
          <a:p>
            <a:r>
              <a:t>Pause: ask the class what they already know about “1) Generative Model (continued)” before revealing the slide.</a:t>
            </a:r>
          </a:p>
          <a:p/>
          <a:p>
            <a:r>
              <a:t>Wording matters here — slow down, keep it precise.</a:t>
            </a:r>
          </a:p>
          <a:p/>
          <a:p>
            <a:r>
              <a:t>~19s</a:t>
            </a:r>
          </a:p>
          <a:p>
            <a:r>
              <a:t>Text in the figure: Generative Model Classes State transition probability Emission probability ts | For e.g. POS tag noun(class) generates data like girl, boy, man, woman, water etc. Statement is The girl is intelligent. In this case, determiner class generates the, NN class generates girl, VBZ generates is and JJ generates adjective.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In the discriminative model, data is there and you assume that hidden state is a generated from the data. Here flow is u</a:t>
            </a:r>
          </a:p>
          <a:p>
            <a:r>
              <a:t>  2. For e.g. keywords of the subjects are given(data) and from the keywords we</a:t>
            </a:r>
          </a:p>
          <a:p>
            <a:r>
              <a:t>  3. determine subject. Keywords are data and subject is class. Class is hidden. By seeing nature of data, we can assign prob</a:t>
            </a:r>
          </a:p>
          <a:p>
            <a:r>
              <a:t>  4. Example are Maximum entropy model, Conditional Random field.</a:t>
            </a:r>
          </a:p>
          <a:p/>
          <a:p>
            <a:r>
              <a:t>Read these exactly (do not paraphrase):</a:t>
            </a:r>
          </a:p>
          <a:p>
            <a:r>
              <a:t>  - (that data identifies class) For e.g.</a:t>
            </a:r>
          </a:p>
          <a:p>
            <a:r>
              <a:t>  - keywords of the subjects are given(data) and from the keywords we determine subject.</a:t>
            </a:r>
          </a:p>
          <a:p/>
          <a:p>
            <a:r>
              <a:t>Say what these mean, in your own words:</a:t>
            </a:r>
          </a:p>
          <a:p>
            <a:r>
              <a:t>  - Discriminative model: A model where hidden states are generated from observed data.</a:t>
            </a:r>
          </a:p>
          <a:p>
            <a:r>
              <a:t>  - Maximum entropy model: An example of a discriminative probabilistic model.</a:t>
            </a:r>
          </a:p>
          <a:p/>
          <a:p>
            <a:r>
              <a:t>Pause: ask the class what they already know about “Discriminative models assign class probabilities upward from given data”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- 2)Discriminative Model (continued)</a:t>
            </a:r>
          </a:p>
          <a:p/>
          <a:p>
            <a:r>
              <a:t>Pause: ask the class what they already know about “2)Discriminative Model (continued)” before revealing the slide.</a:t>
            </a:r>
          </a:p>
          <a:p/>
          <a:p>
            <a:r>
              <a:t>Wording matters here — slow down, keep it precise.</a:t>
            </a:r>
          </a:p>
          <a:p/>
          <a:p>
            <a:r>
              <a:t>~19s</a:t>
            </a:r>
          </a:p>
          <a:p>
            <a:r>
              <a:t>Text in the figure: Discriminative Model casses | | | | | Data | the =| girl _| For e.g. For every word, various features are given with respect to previous words and future words. From that features, we can decide POS tag for that word. That is flow is upward. For a given word, using features of neighboring word, we determine class or tag.</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Stochastic (Probabilistic) tagging: A stochastic approach includes frequency, probability or statistics.</a:t>
            </a:r>
          </a:p>
          <a:p>
            <a:r>
              <a:t>  2. The simplest stochastic approach finds out the most frequently used tag for a specific word in the annotated training da</a:t>
            </a:r>
          </a:p>
          <a:p>
            <a:r>
              <a:t>  3. But sometimes this approach comes up with sequences of tags for sentences that are not acceptable according to the gramm</a:t>
            </a:r>
          </a:p>
          <a:p>
            <a:r>
              <a:t>  4. One such approach is to calculate the probabilities of various tag sequences that are possible for a sentence and assign</a:t>
            </a:r>
          </a:p>
          <a:p>
            <a:r>
              <a:t>  5. POS tags from the sequence with the highest probability.</a:t>
            </a:r>
          </a:p>
          <a:p>
            <a:r>
              <a:t>  6. Hidden Markov Models (HMMs) are probabilistic approaches to assign a POS Tag.</a:t>
            </a:r>
          </a:p>
          <a:p/>
          <a:p>
            <a:r>
              <a:t>Read these exactly (do not paraphrase):</a:t>
            </a:r>
          </a:p>
          <a:p>
            <a:r>
              <a:t>  - Stochastic tagging calculates probabilities to assign the best POS tag sequence Stochastic (Probabilistic) tagging: A stochastic approach includes frequency, probability or statistics.</a:t>
            </a:r>
          </a:p>
          <a:p>
            <a:r>
              <a:t>  - Hidden Markov Models (HMMs) are probabilistic approaches to assign a POS Tag.</a:t>
            </a:r>
          </a:p>
          <a:p/>
          <a:p>
            <a:r>
              <a:t>Say what these mean, in your own words:</a:t>
            </a:r>
          </a:p>
          <a:p>
            <a:r>
              <a:t>  - Stochastic tagging: An approach using frequency, probability, or statistics to assign tags.</a:t>
            </a:r>
          </a:p>
          <a:p>
            <a:r>
              <a:t>  - Hidden Markov Models: Probabilistic approaches used to assign part of speech tags.</a:t>
            </a:r>
          </a:p>
          <a:p/>
          <a:p>
            <a:r>
              <a:t>Pause: ask the class what they already know about “Stochastic tagging calculates probabilities to assign the best POS tag sequence”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reason it is called a Hidden Markov Model is because an inference model is constructed based on the assumptions of a</a:t>
            </a:r>
          </a:p>
          <a:p>
            <a:r>
              <a:t>  2. The Markov process assumption is simply that the “future is independent of the past given the present”.</a:t>
            </a:r>
          </a:p>
          <a:p>
            <a:r>
              <a:t>  3. To make this point clear, let us consider the scenario below where the weather, the hidden variable, can be hot, mild or</a:t>
            </a:r>
          </a:p>
          <a:p>
            <a:r>
              <a:t>  4. The arrows represent transitions from a hidden state to another hidden state or from a hidden state to an observed varia</a:t>
            </a:r>
          </a:p>
          <a:p>
            <a:r>
              <a:t>  5. The Markov assumption, each state only depends on the previous state and not on any other prior states.</a:t>
            </a:r>
          </a:p>
          <a:p/>
          <a:p>
            <a:r>
              <a:t>Read these exactly (do not paraphrase):</a:t>
            </a:r>
          </a:p>
          <a:p>
            <a:r>
              <a:t>  - The Markov process assumption is simply that the “future is independent of the past given the present”.</a:t>
            </a:r>
          </a:p>
          <a:p/>
          <a:p>
            <a:r>
              <a:t>Say what these mean, in your own words:</a:t>
            </a:r>
          </a:p>
          <a:p>
            <a:r>
              <a:t>  - Markov process assumption: The assumption that the future is independent of the past given the present.</a:t>
            </a:r>
          </a:p>
          <a:p>
            <a:r>
              <a:t>  - Hidden variable: A state that cannot be directly observed, such as weather.</a:t>
            </a:r>
          </a:p>
          <a:p/>
          <a:p>
            <a:r>
              <a:t>Pause: ask the class what they already know about “Hidden Markov Models construct inference based on Markov process assumptions”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State Transition Probability: Based on Markov Model</a:t>
            </a:r>
          </a:p>
          <a:p>
            <a:r>
              <a:t>  2. N-gram Model: An n-gram is a contiguous sequence of n items from a given</a:t>
            </a:r>
          </a:p>
          <a:p>
            <a:r>
              <a:t>  3. base pairs according to the application. The n-grams typically are collected from a</a:t>
            </a:r>
          </a:p>
          <a:p>
            <a:r>
              <a:t>  4. text or speech corpus.</a:t>
            </a:r>
          </a:p>
          <a:p>
            <a:r>
              <a:t>  5. Conditional Probability: P(B|A)= P(A, B) = P(A)P(B| A)</a:t>
            </a:r>
          </a:p>
          <a:p>
            <a:r>
              <a:t>  6. More variables: P(A,B,C,D) = P(A)P(B| A)P(C| A, B)P(D| A,B,C)</a:t>
            </a:r>
          </a:p>
          <a:p/>
          <a:p>
            <a:r>
              <a:t>Read these exactly (do not paraphrase):</a:t>
            </a:r>
          </a:p>
          <a:p>
            <a:r>
              <a:t>  - Conditional Probability: P(B|A)= P(A, B) = P(A)P(B| A) More variables: P(A,B,C,D) = P(A)P(B| A)P(C| A, B)P(D| A,B,C)</a:t>
            </a:r>
          </a:p>
          <a:p/>
          <a:p>
            <a:r>
              <a:t>Say what these mean, in your own words:</a:t>
            </a:r>
          </a:p>
          <a:p>
            <a:r>
              <a:t>  - N-gram: A contiguous sequence of n items from a given text or speech corpus.</a:t>
            </a:r>
          </a:p>
          <a:p>
            <a:r>
              <a:t>  - Conditional Probability: The probability of an event occurring given that another event has already occurred.</a:t>
            </a:r>
          </a:p>
          <a:p/>
          <a:p>
            <a:r>
              <a:t>Pause: ask the class what they already know about “N-gram models and conditional probability define state transition probabilities”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The items can be phonemes, syllables, letters, words or (continued)</a:t>
            </a:r>
          </a:p>
          <a:p/>
          <a:p>
            <a:r>
              <a:t>Pause: ask the class what they already know about “sample of text or speech. The items can be phonemes, syllables, letters, words or (continued)” before revealing the slide.</a:t>
            </a:r>
          </a:p>
          <a:p/>
          <a:p>
            <a:r>
              <a:t>Wording matters here — slow down, keep it precise.</a:t>
            </a:r>
          </a:p>
          <a:p/>
          <a:p>
            <a:r>
              <a:t>~19s</a:t>
            </a:r>
          </a:p>
          <a:p>
            <a:r>
              <a:t>Text in the figure: Chain Rule: = [SP (Ry | POR, | By Probability of words in sentences: | [P(w, | i Unigram(1-gram): No history is used. Bi-gram(2-gram): One word history Tri-gram(3-gram): Two words history Four-gram(4-gram): Three words history Five-gram(5-gram):Four words history Bi-gram(2-gram): One word history P(w,,w,)=] P(w,| W,_,) = I] count(w,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The items can be phonemes, syllables, letters, words or (continued)</a:t>
            </a:r>
          </a:p>
          <a:p/>
          <a:p>
            <a:r>
              <a:t>Pause: ask the class what they already know about “sample of text or speech. The items can be phonemes, syllables, letters, words or (continued)” before revealing the slide.</a:t>
            </a:r>
          </a:p>
          <a:p/>
          <a:p>
            <a:r>
              <a:t>Wording matters here — slow down, keep it precise.</a:t>
            </a:r>
          </a:p>
          <a:p/>
          <a:p>
            <a:r>
              <a:t>~19s</a:t>
            </a:r>
          </a:p>
          <a:p>
            <a:r>
              <a:t>Text in the figure: Bi-gram(2-gram): One word history count(Ww,_,,W;) First order Markov assumption: Emission Probability matrix gives this Bi-gram value. Second order Markov assumption: For e.g. Appearances of pair: Determiner-NN 1 In-a) Classes Determiner | Noun(NN) | | Adjective(J)) State transition probability Emission probability +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Emission Probability: Based on Bayes rule of conditional probability</a:t>
            </a:r>
          </a:p>
          <a:p>
            <a:r>
              <a:t>  2. Classes Determiner | Noun(NN) | Verb(VBZ) | Adjective(J))</a:t>
            </a:r>
          </a:p>
          <a:p>
            <a:r>
              <a:t>  3. State transition probability</a:t>
            </a:r>
          </a:p>
          <a:p>
            <a:r>
              <a:t>  4. Emission probability</a:t>
            </a:r>
          </a:p>
          <a:p>
            <a:r>
              <a:t>  5. Data The girl Is Intelligent</a:t>
            </a:r>
          </a:p>
          <a:p>
            <a:r>
              <a:t>  6. This value, we calculate from Emission Probability Matrix</a:t>
            </a:r>
          </a:p>
          <a:p>
            <a:r>
              <a:t>  7. Emission probability connects observed data tokens to their corresponding hidden classes using Bayes rule.</a:t>
            </a:r>
          </a:p>
          <a:p/>
          <a:p>
            <a:r>
              <a:t>Read these exactly (do not paraphrase):</a:t>
            </a:r>
          </a:p>
          <a:p>
            <a:r>
              <a:t>  - Emission probability derives from Bayes rule of conditional probability Emission Probability: Based on Bayes rule of conditional probability Classes Determiner | Noun(NN) | Verb(VBZ) | Adjective(J)) State transition probability Emission probability Data The girl Is Intelligent This value, we calculate from Emission Probability Matrix Emission probability connects observed data tokens to their corresponding hidden classes using Bayes rule.</a:t>
            </a:r>
          </a:p>
          <a:p/>
          <a:p>
            <a:r>
              <a:t>Say what these mean, in your own words:</a:t>
            </a:r>
          </a:p>
          <a:p>
            <a:r>
              <a:t>  - Emission Probability: The probability that a specific token is emitted from a hidden state.</a:t>
            </a:r>
          </a:p>
          <a:p>
            <a:r>
              <a:t>  - Determiner: A part of speech category used in tagging text data.</a:t>
            </a:r>
          </a:p>
          <a:p/>
          <a:p>
            <a:r>
              <a:t>Pause: ask the class what they already know about “Emission probability derives from Bayes rule of conditional probability”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Probability: P(B|A)= P(A, B) = P(A)P(B| A) (continued)</a:t>
            </a:r>
          </a:p>
          <a:p/>
          <a:p>
            <a:r>
              <a:t>Pause: ask the class what they already know about “Conditional Probability: P(B|A)= P(A, B) = P(A)P(B| A) (continued)” before revealing the slide.</a:t>
            </a:r>
          </a:p>
          <a:p/>
          <a:p>
            <a:r>
              <a:t>Wording matters here — slow down, keep it precise.</a:t>
            </a:r>
          </a:p>
          <a:p/>
          <a:p>
            <a:r>
              <a:t>~19s</a:t>
            </a:r>
          </a:p>
          <a:p>
            <a:r>
              <a:t>Text in the figure: Generative Model: Hidden Markov Model (HMM) P(q1, ++) In) = II P(qi\qi-1 Markov Chain Rule: Bigram i=1 Bayes rule of conditional probability</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Probability: P(B|A)= P(A, B) = P(A)P(B| A) (continued)</a:t>
            </a:r>
          </a:p>
          <a:p/>
          <a:p>
            <a:r>
              <a:t>Pause: ask the class what they already know about “Conditional Probability: P(B|A)= P(A, B) = P(A)P(B| A) (continued)” before revealing the slide.</a:t>
            </a:r>
          </a:p>
          <a:p/>
          <a:p>
            <a:r>
              <a:t>Wording matters here — slow down, keep it precise.</a:t>
            </a:r>
          </a:p>
          <a:p/>
          <a:p>
            <a:r>
              <a:t>~19s</a:t>
            </a:r>
          </a:p>
          <a:p>
            <a:r>
              <a:t>Text in the figure: Hidden Markov Model (HMM) HMM Model for POS Tagging Race: VB [ secretariat | [ expected | Race: NN [expected | [ tomorrow |</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Probability: P(B|A)= P(A, B) = P(A)P(B| A) (continued)</a:t>
            </a:r>
          </a:p>
          <a:p/>
          <a:p>
            <a:r>
              <a:t>Pause: ask the class what they already know about “Conditional Probability: P(B|A)= P(A, B) = P(A)P(B| A) (continued)” before revealing the slide.</a:t>
            </a:r>
          </a:p>
          <a:p/>
          <a:p>
            <a:r>
              <a:t>Wording matters here — slow down, keep it precise.</a:t>
            </a:r>
          </a:p>
          <a:p/>
          <a:p>
            <a:r>
              <a:t>~19s</a:t>
            </a:r>
          </a:p>
          <a:p>
            <a:r>
              <a:t>Text in the figure: Decide with HMM, word ‘Race’ is noun or verb ql q2 qi and q2: States (class) ) ) x2: word emitted from q2 state [ race | x2 Bayesrule Markov Chain Rule: Bigram P(q2|x2,q1) = P(x2|q2) * P(q2|q1) P(VB|race, to) = P(race|VB) * P(VB|to)</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Probability: P(B|A)= P(A, B) = P(A)P(B| A) (continued)</a:t>
            </a:r>
          </a:p>
          <a:p/>
          <a:p>
            <a:r>
              <a:t>Pause: ask the class what they already know about “Conditional Probability: P(B|A)= P(A, B) = P(A)P(B| A) (continued)” before revealing the slide.</a:t>
            </a:r>
          </a:p>
          <a:p/>
          <a:p>
            <a:r>
              <a:t>Wording matters here — slow down, keep it precise.</a:t>
            </a:r>
          </a:p>
          <a:p/>
          <a:p>
            <a:r>
              <a:t>~19s</a:t>
            </a:r>
          </a:p>
          <a:p>
            <a:r>
              <a:t>Text in the figure: ql q2 ql and q2: States (class) x2: word emitted from q2 state [ race | x2 Bayesrule Markov Chain Rule: Bigram = P(x2|q2) * P(NN\|race, to) = P(race|NN) « P(NN|to)</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Probability: P(B|A)= P(A, B) = P(A)P(B| A) (continued)</a:t>
            </a:r>
          </a:p>
          <a:p/>
          <a:p>
            <a:r>
              <a:t>Pause: ask the class what they already know about “Conditional Probability: P(B|A)= P(A, B) = P(A)P(B| A) (continued)” before revealing the slide.</a:t>
            </a:r>
          </a:p>
          <a:p/>
          <a:p>
            <a:r>
              <a:t>Wording matters here — slow down, keep it precise.</a:t>
            </a:r>
          </a:p>
          <a:p/>
          <a:p>
            <a:r>
              <a:t>~19s</a:t>
            </a:r>
          </a:p>
          <a:p>
            <a:r>
              <a:t>Text in the figure: For better result, previous as well as next state is considered i.e. q1 and q3) ql q2 q3 NR: Adverbial Noun x2 P(q2|x2,q1,q3) = P(x2|q2) * P(q2|q1) « P(q3|q2) P(VB|race,to) = P(race|VB) « P(NR|VB) = 0.82 « 0.00012 « 0.0027 = 9.72 * 107?</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Probability: P(B|A)= P(A, B) = P(A)P(B| A) (continued)</a:t>
            </a:r>
          </a:p>
          <a:p/>
          <a:p>
            <a:r>
              <a:t>Pause: ask the class what they already know about “Conditional Probability: P(B|A)= P(A, B) = P(A)P(B| A) (continued)” before revealing the slide.</a:t>
            </a:r>
          </a:p>
          <a:p/>
          <a:p>
            <a:r>
              <a:t>Wording matters here — slow down, keep it precise.</a:t>
            </a:r>
          </a:p>
          <a:p/>
          <a:p>
            <a:r>
              <a:t>~19s</a:t>
            </a:r>
          </a:p>
          <a:p>
            <a:r>
              <a:t>Text in the figure: qi q2 q3 NR: Adverbial Noun x2 P(q2|x2,q1,q3) = P(x2|q2) « P(q2|q1) * P(q3|q2) P(NN|race, to) = P(race|NN) * P(NR|NN) P(NN|race, to) = 0.0012 * 0.0047 * 0.00057 = 3.21 * 107° Probability of Verb is more than Noun. Therefore disambiguation process happens and race s assigned verb tag</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3”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qi q2 ql and q2: States (class)</a:t>
            </a:r>
          </a:p>
          <a:p>
            <a:r>
              <a:t>  2. x2: word emitted from q2 state</a:t>
            </a:r>
          </a:p>
          <a:p>
            <a:r>
              <a:t>  3. Bayes Rule Bigram</a:t>
            </a:r>
          </a:p>
          <a:p>
            <a:r>
              <a:t>  4. Bayes Rule data obtained from Emission Probability matrix while Bigram data is</a:t>
            </a:r>
          </a:p>
          <a:p>
            <a:r>
              <a:t>  5. obtained from State Transition Matrix</a:t>
            </a:r>
          </a:p>
          <a:p>
            <a:r>
              <a:t>  6. Hidden Markov models combine states and emitted words using Bayes rule.</a:t>
            </a:r>
          </a:p>
          <a:p>
            <a:r>
              <a:t>  7. Data for emission comes from the emission probability matrix, whereas bigram data is obtained from the state transition </a:t>
            </a:r>
          </a:p>
          <a:p/>
          <a:p>
            <a:r>
              <a:t>Read these exactly (do not paraphrase):</a:t>
            </a:r>
          </a:p>
          <a:p>
            <a:r>
              <a:t>  - Hidden Markov models utilize emission and state transition matrices qi q2 ql and q2: States (class) x2: word emitted from q2 state Bayes Rule Bigram Bayes Rule data obtained from Emission Probability matrix while Bigram data is obtained from State Transition Matrix Hidden Markov models combine states and emitted words using Bayes rule.</a:t>
            </a:r>
          </a:p>
          <a:p/>
          <a:p>
            <a:r>
              <a:t>Say what these mean, in your own words:</a:t>
            </a:r>
          </a:p>
          <a:p>
            <a:r>
              <a:t>  - Emission Probability Matrix: A table providing data obtained for Bayes rule emission probability.</a:t>
            </a:r>
          </a:p>
          <a:p>
            <a:r>
              <a:t>  - State Transition Matrix: A table providing bigram data for state transition probabilities.</a:t>
            </a:r>
          </a:p>
          <a:p/>
          <a:p>
            <a:r>
              <a:t>Pause: ask the class what they already know about “Hidden Markov models utilize emission and state transition matrices”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Emission Probability Matrix:</a:t>
            </a:r>
          </a:p>
          <a:p>
            <a:r>
              <a:t>  2. From a given corpus, identify unique tokens. Also identify total part of speech</a:t>
            </a:r>
          </a:p>
          <a:p>
            <a:r>
              <a:t>  3. tags present in corpus.</a:t>
            </a:r>
          </a:p>
          <a:p>
            <a:r>
              <a:t>  4. Assign correct Part of Speech (POS) tag for every token.</a:t>
            </a:r>
          </a:p>
          <a:p>
            <a:r>
              <a:t>  5. Arrange tokens in horizontal and Part of Speech (POS) tag in vertical fashion.</a:t>
            </a:r>
          </a:p>
          <a:p>
            <a:r>
              <a:t>  6. Wecan change this order also.</a:t>
            </a:r>
          </a:p>
          <a:p>
            <a:r>
              <a:t>  7. This will provide data for Bayes rule emission probability.</a:t>
            </a:r>
          </a:p>
          <a:p/>
          <a:p>
            <a:r>
              <a:t>Read these exactly (do not paraphrase):</a:t>
            </a:r>
          </a:p>
          <a:p>
            <a:r>
              <a:t>  - Assign correct Part of Speech (POS) tag for every token.</a:t>
            </a:r>
          </a:p>
          <a:p>
            <a:r>
              <a:t>  - Arrange tokens in horizontal and Part of Speech (POS) tag in vertical fashion.</a:t>
            </a:r>
          </a:p>
          <a:p/>
          <a:p>
            <a:r>
              <a:t>Say what these mean, in your own words:</a:t>
            </a:r>
          </a:p>
          <a:p>
            <a:r>
              <a:t>  - pos: Parts of Speech Tagging</a:t>
            </a:r>
          </a:p>
          <a:p>
            <a:r>
              <a:t>  - Emission Probability Matrix: An NxM matrix mapping unique tokens to part of speech tags.</a:t>
            </a:r>
          </a:p>
          <a:p>
            <a:r>
              <a:t>  - Bigram concept: A method using adjacent part of speech tags to fill an MxM transition table.</a:t>
            </a:r>
          </a:p>
          <a:p/>
          <a:p>
            <a:r>
              <a:t>Pause: ask the class what they already know about “Emission and transition matrices are constructed from corpus tokens and tags”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Need of Viterbi Decoding Algorithm: Itis based on dynamic programming. Dynamic programming breakdowns the problems into sub-problems. It saves the sult for future purposes therefore no not need to compute the result again. Statement is : Assured to back the silver coin VBD: Past Tense ee | | Tl Total number of ways are: 3x1x4x2x3x2= 144 possibilities are there.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Total number of ways are: 144 possibilities are there. Viterbi algorithm is used to find efficient path.</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Training Corpus: watch | &lt;E&gt; | Martin| &lt;E&gt; &lt;S&gt;|Martin| will |pat |Spot &lt;S&gt; and &lt;E&gt; start and end of the statement respectively. Step 1: Assign correct POS Tag to training corpus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Training Corpus with Correct POS Tag: M: Modal verb | watch} Martin| &lt;E&gt; V:Verb N M Vv N ar</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Step 2: Creation of Emission Probability Matrix | NM IN &lt;S&gt;|Martin|Justin|can | watch | Will| &lt;E&gt; N N M Vv N Martin 4/9 | Martin| &lt;E&gt; Justin | 2/9 0 | wa 5 0 Will |Justin| spot | Martin| &lt;E&gt; Spot 2/9 | 0 | 4/4 &lt;S&gt;|Martin| will N M Vv N can | 0 [va] 0 | JWatch] 0 | 0 [2/4 Pat | 0 | 0 | P(Word|Class) = P(Class, Word) P(Class)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Step 2: Creation of Emission Probability Matrix | NM IN &lt;S&gt;|Martin|Justin|can | watch | Will| &lt;E&gt; N N M Vv N Martin 4/9 | Martin| &lt;E&gt; Justin | 2/9 0 | wa 5 0 Will |Justin| spot | Martin| &lt;E&gt; Spot 2/9 | 0 | 4/4 &lt;S&gt;|Martin| will N M Vv N can | 0 [va] 0 | JWatch] 0 | 0 [2/4 Pat | 0 | 0 | P(Word|Class) = P(Class, Word) P(Class)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Step 3: Creation of State Transition Probability Matrix Y |&lt; 0 15/4) 0 | | watch | Will| &lt;E&gt; N N Spot | will N M will &lt;S&gt;|Martin| will N M Vv N Dr. Varsha Patil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Step 3: Creation of State Transition Probability Matrix Y |&lt; 0 15/4) 0 | | watch | Will| &lt;E&gt; N N Spot | will N M will &lt;S&gt;|Martin| will N M Vv N Dr. Varsha Patil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Test Data &lt;S&gt; Justin will spot Will &lt;E&gt; PN Total ways : 1x2x2x2=8</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4”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Justin q2 Cs &gt;" ) P(N\|Justin, &lt; &gt;) = P(Justin|N) * P(Noun| &lt; S &gt;) | S &gt;) 2 3 1 [sn] 32 9°46</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sis P(M|will, N) = P(will|M) * 311 a ae P(M|will,N) x2 Nowe P(N|will, N) = P(will|N) * P(N|N) qi @ 11 1 11 1 1 | &gt; — P(M)&gt; P(N Result: will as Modal Verb 24 = 486 (M)</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spot as Verb P(v|spot, M) = P(spot|v) * P(v|M) ql q2 3 P(v|spot, M) = — J 16 3 11 fe” 24 128 v|spo [ spot] x2 spot as Noun P(N|spot,M) = P(spot|N) *« P(N|M) ql q2 1 SPO) = 78 P(N| 4 1824 432 | spot | x2 P(V P(N Result: spot as verb Ton gag</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will as modal Verb P(M|will, V) = P(will|M) * P(M|V) ql q2 3 1 3 ) =-x—— = —_ = P(M|will, V) = x = : x2 = 4000 128 512000 will as Noun P(N|will, V) = P(will|N) * P(N|V) ql q2 P(N|will, V) = 1 9 x2 V) = 5X = 432 P(V) &gt; P(N) Result: will as noun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Generative Model: Hidden Markov Model (HMM) (continued)</a:t>
            </a:r>
          </a:p>
          <a:p/>
          <a:p>
            <a:r>
              <a:t>Pause: ask the class what they already know about “Generative Model: Hidden Markov Model (HMM) (continued)” before revealing the slide.</a:t>
            </a:r>
          </a:p>
          <a:p/>
          <a:p>
            <a:r>
              <a:t>Wording matters here — slow down, keep it precise.</a:t>
            </a:r>
          </a:p>
          <a:p/>
          <a:p>
            <a:r>
              <a:t>~19s</a:t>
            </a:r>
          </a:p>
          <a:p>
            <a:r>
              <a:t>Text in the figure: Probability of will as Noun is more.</a:t>
            </a:r>
          </a:p>
          <a:p>
            <a:r>
              <a:t>Result of POS tagging after applying HMM model</a:t>
            </a:r>
          </a:p>
          <a:p>
            <a:r>
              <a:t>&amp;</a:t>
            </a:r>
          </a:p>
          <a:p>
            <a:r>
              <a:t>Justin | will |spot | Will</a:t>
            </a:r>
          </a:p>
          <a:p>
            <a:r>
              <a:t>BRALILAL</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transition probability is the likelihood of a particular sequence for example, Eg: “ Ted will spot Will ” how likely</a:t>
            </a:r>
          </a:p>
          <a:p>
            <a:r>
              <a:t>  2. This probability is known as Transition probability.</a:t>
            </a:r>
          </a:p>
          <a:p>
            <a:r>
              <a:t>  3. It should be high for a particular sequence to be correct.</a:t>
            </a:r>
          </a:p>
          <a:p>
            <a:r>
              <a:t>  4. what is the probability that the word Ted is a noun, will is a model, spot is a verb and Will is a noun.</a:t>
            </a:r>
          </a:p>
          <a:p>
            <a:r>
              <a:t>  5. These sets of probabilities are Emission probabilities and should be high.</a:t>
            </a:r>
          </a:p>
          <a:p/>
          <a:p>
            <a:r>
              <a:t>Read these exactly (do not paraphrase):</a:t>
            </a:r>
          </a:p>
          <a:p>
            <a:r>
              <a:t>  - Transition and emission probabilities measure the likelihood of sequences The transition probability is the likelihood of a particular sequence for example, Eg: “ Ted will spot Will ” how likely is that a noun is followed by a model and a model by a verb and a verb by a noun.</a:t>
            </a:r>
          </a:p>
          <a:p>
            <a:r>
              <a:t>  - This probability is known as Transition probability.</a:t>
            </a:r>
          </a:p>
          <a:p/>
          <a:p>
            <a:r>
              <a:t>Say what these mean, in your own words:</a:t>
            </a:r>
          </a:p>
          <a:p>
            <a:r>
              <a:t>  - Transition probability: The likelihood of a particular sequence of part of speech tags.</a:t>
            </a:r>
          </a:p>
          <a:p>
            <a:r>
              <a:t>  - Emission probability: The likelihood that a specific word corresponds to a specific part of speech.</a:t>
            </a:r>
          </a:p>
          <a:p/>
          <a:p>
            <a:r>
              <a:t>Pause: ask the class what they already know about “Transition and emission probabilities measure the likelihood of sequences”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Training Corpus with Correct POS Tag im | peek</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E.g. The park is a book</a:t>
            </a:r>
          </a:p>
          <a:p>
            <a:r>
              <a:t>The park is a book</a:t>
            </a:r>
          </a:p>
          <a:p>
            <a:r>
              <a:t>Total number of ways are: 1%2*1*1x2= 4 possibilities are there.</a:t>
            </a:r>
          </a:p>
          <a:p>
            <a:r>
              <a:t>Viterbi algorithm is used to find efficient path.</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Step 1: Assign correct POS Tag to training corpus</a:t>
            </a:r>
          </a:p>
          <a:p>
            <a:r>
              <a:t>Sfistetel |</a:t>
            </a:r>
          </a:p>
          <a:p>
            <a:r>
              <a:t>permet LL | rostas</a:t>
            </a:r>
          </a:p>
          <a:p>
            <a:r>
              <a:t>pfepepery | tt |</a:t>
            </a:r>
          </a:p>
          <a:p>
            <a:r>
              <a:t>er</a:t>
            </a:r>
          </a:p>
          <a:p/>
          <a:p>
            <a:r>
              <a:t>Noun</a:t>
            </a:r>
          </a:p>
          <a:p/>
          <a:p>
            <a:r>
              <a:t>Verb</a:t>
            </a:r>
          </a:p>
          <a:p/>
          <a:p>
            <a:r>
              <a:t>Preposition</a:t>
            </a:r>
          </a:p>
          <a:p/>
          <a:p>
            <a:r>
              <a:t>SPEER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Step 2: Creation of Emission Probability Matrix Verb | Det. | Noun Prep. &lt;S&gt; | Book| a | car | &lt;/S&gt; (2) (4) (6) (6) Verb | Det. | Noun 1/4 0 1/6 0 &lt;S&gt; | Park | the | car | &lt;/S&gt; 0 2/6 0 0 Verb | Det. 0 0 4/6 0 0 4 ] 6 0 0 &lt;S&gt; | The | book! is in | the | car | &lt;/S&gt; 1/4 0 1/6 0 Det. |Noun| Verb | Prep.| Det. | Noun 2/4 0 0 0 &lt;S&gt; | The | car | is in park | &lt;/S&gt; 0 0 0 2/2 Det. |Noun| Verb | Prep.| Det. | Noun 4 6 6 Z P(Class, Word) P(Word|Class)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Step 3: Creation of State Transition Probability Matrix Noun | Det. | Prep. &lt;/S&gt; [Book] a | car [&lt;/&gt; Verb | Det. | Noun &lt;S&gt; | Park | the | car | &lt;/S&gt; 2/4 2/4 | Verb | Det. [Noun 0 &lt;S&gt; | The | book} is in | the | car | &lt;/S&gt; Det. |Noun| Verb | Prep.| Det. | Noun &lt;S&gt; | The | car is in a | park | &lt;/S&gt; Det. |Noun| Verb | Prep.| Det. | Noun count(w,_,,W;) P(w;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5”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Test Data &lt;S&gt;The park is a book &lt;/S&gt; | park | a | book | | |e | || vere 1*2*1x1x2=4 ways are there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P(q2|x2, q1) = P(x2|q2) * P(q2|q1) rants) (on) P(Det|The, &lt; $ &gt;) = P(The|Det) « P(Det| &lt; $ &gt;) P(Det|The, &lt;S&gt; (Det|The,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Park as Noun Previous Probability is 1/3 [a | P(q2|x2, q1) = P(x2|q2) x P(q2|q1) &lt;&gt; Coun &gt;) P(Noun|Park, Det) = P(Park|Noun) x P(Noun|Det.) 2 P(Noun|Park, Det.) = x : 4 P(Noun|Park, Det.) = Det) = P(ParkiVerb) x P(Verb|Det.) 1 0 Park as verb P(Verb|Park, Det.) = 0 11 14 = P(Verb|Park, Det.) = 5 1 1 1 P(Verb|Park, Det.) = 400 1200 1 1 Pak») Ie 1200 Result: park as noun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is as Verb Previous Probability is 1/18 qa q2 P(Verb|is, Noun) = p(is|Verb) x P(Verb|Noun) 2.2 1 P(Verb|is, Noun) = _1 1 1 Oye 108 Previous Probability is 1/108 aas Det P(Det.|a, Verb) = P(a|Det.) x P(Det.|Verb) 221 P(Det|a, Verb) = 1 | P(Det.|a, Verb) = — Ca a 648</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Text in the figure: book as Noun Previous Probability is 1/648 P(Noun|book, Det.) = P(book|Noun) x P(Noun|Det) 161 P(Noun|book, Det.) = 1 1 P(Noun|book, Det.) = 6* 648 3808 book as Verb P(Noun|Verb, Det.) = P(book|Verb) x P(Verb|Det) 1 P(Verb|book, Det.) = — 0=0 (vet. &lt;&gt; P(Noun|book, Det.) = 4% 100 400 1, 1 1 1 1 P(Noun|book, Det.) = 400 * 648 259200 z 1 [2] 3888 259200 Result: book as Noun 008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&amp; emission probability (continued)</a:t>
            </a:r>
          </a:p>
          <a:p/>
          <a:p>
            <a:r>
              <a:t>Pause: ask the class what they already know about “Transition probability &amp; emission probability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“Sequence labeling using HMM” before revealing the slide.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Mary Jane can see Will</a:t>
            </a:r>
          </a:p>
          <a:p>
            <a:r>
              <a:t>  2. Spot will see Mary</a:t>
            </a:r>
          </a:p>
          <a:p>
            <a:r>
              <a:t>  3. Will Jane spot Mary?</a:t>
            </a:r>
          </a:p>
          <a:p>
            <a:r>
              <a:t>  4. Mary will pat Spot</a:t>
            </a:r>
          </a:p>
          <a:p/>
          <a:p>
            <a:r>
              <a:t>Say what these mean, in your own words:</a:t>
            </a:r>
          </a:p>
          <a:p>
            <a:r>
              <a:t>  - Sentence set: A collection of sentences used for calculating language probabilities.</a:t>
            </a:r>
          </a:p>
          <a:p>
            <a:r>
              <a:t>  - Spot: A word used as a verb or noun in the sample sentences.</a:t>
            </a:r>
          </a:p>
          <a:p/>
          <a:p>
            <a:r>
              <a:t>Pause: ask the class what they already know about “Sample sentences provide data for calculating sequence probabilities”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“Emission probability matrix” before revealing the slide.</a:t>
            </a:r>
          </a:p>
          <a:p/>
          <a:p>
            <a:r>
              <a:t>~19s</a:t>
            </a:r>
          </a:p>
          <a:p>
            <a:r>
              <a:t>Text in the figure: Words Noun Model Verb</a:t>
            </a:r>
          </a:p>
          <a:p>
            <a:r>
              <a:t>Mary 4 0 o</a:t>
            </a:r>
          </a:p>
          <a:p>
            <a:r>
              <a:t>Jane 2 0 o</a:t>
            </a:r>
          </a:p>
          <a:p>
            <a:r>
              <a:t>will 1 3 o</a:t>
            </a:r>
          </a:p>
          <a:p>
            <a:r>
              <a:t>Spot 2 0 1</a:t>
            </a:r>
          </a:p>
          <a:p>
            <a:r>
              <a:t>can o 1 o</a:t>
            </a:r>
          </a:p>
          <a:p>
            <a:r>
              <a:t>see o 0 2</a:t>
            </a:r>
          </a:p>
          <a:p>
            <a:r>
              <a:t>pat o 0 1</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Emission probability matrix (continued)</a:t>
            </a:r>
          </a:p>
          <a:p/>
          <a:p>
            <a:r>
              <a:t>Pause: ask the class what they already know about “Emission probability matrix (continued)” before revealing the slide.</a:t>
            </a:r>
          </a:p>
          <a:p/>
          <a:p>
            <a:r>
              <a:t>Wording matters here — slow down, keep it precise.</a:t>
            </a:r>
          </a:p>
          <a:p/>
          <a:p>
            <a:r>
              <a:t>~19s</a:t>
            </a:r>
          </a:p>
          <a:p>
            <a:r>
              <a:t>Text in the figure: Words Noun Model Verb</a:t>
            </a:r>
          </a:p>
          <a:p>
            <a:r>
              <a:t>Mary 4/9 O 0</a:t>
            </a:r>
          </a:p>
          <a:p>
            <a:r>
              <a:t>Jane 2/9 O 0</a:t>
            </a:r>
          </a:p>
          <a:p>
            <a:r>
              <a:t>will 9 3/4 0</a:t>
            </a:r>
          </a:p>
          <a:p>
            <a:r>
              <a:t>Spot 2/9 O 4</a:t>
            </a:r>
          </a:p>
          <a:p>
            <a:r>
              <a:t>Can 0 4 0</a:t>
            </a:r>
          </a:p>
          <a:p>
            <a:r>
              <a:t>See (o) O 2/4</a:t>
            </a:r>
          </a:p>
          <a:p>
            <a:r>
              <a:t>pat o 0 1</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Emission probability matrix (continued)</a:t>
            </a:r>
          </a:p>
          <a:p/>
          <a:p>
            <a:r>
              <a:t>Pause: ask the class what they already know about “Emission probability matrix (continued)” before revealing the slide.</a:t>
            </a:r>
          </a:p>
          <a:p/>
          <a:p>
            <a:r>
              <a:t>Wording matters here — slow down, keep it precise.</a:t>
            </a:r>
          </a:p>
          <a:p/>
          <a:p>
            <a:r>
              <a:t>~19s</a:t>
            </a:r>
          </a:p>
          <a:p>
            <a:r>
              <a:t>Text in the figure: Mary can See Will Spot will see Mary wil Jane spot Mary ? Mary willl pat Spot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6”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“Transition probability matrix” before revealing the slide.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matrix (continued)</a:t>
            </a:r>
          </a:p>
          <a:p/>
          <a:p>
            <a:r>
              <a:t>Pause: ask the class what they already know about “Transition probability matrix (continued)” before revealing the slide.</a:t>
            </a:r>
          </a:p>
          <a:p/>
          <a:p>
            <a:r>
              <a:t>Wording matters here — slow down, keep it precise.</a:t>
            </a:r>
          </a:p>
          <a:p/>
          <a:p>
            <a:r>
              <a:t>~19s</a:t>
            </a:r>
          </a:p>
          <a:p>
            <a:r>
              <a:t>Text in the figure: N M Vv &lt;B&gt; &lt;&gt; 3/4 0 0 N 1/9 3/9 4/9 M 1/4 3/4 (0)</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How does the HMM determine the appropriate sequence of tags for a particular sentence from the above tables?</a:t>
            </a:r>
          </a:p>
          <a:p>
            <a:r>
              <a:t>  2. Take a new sentence and tag them with wrong tags.</a:t>
            </a:r>
          </a:p>
          <a:p>
            <a:r>
              <a:t>  3. Let the sentence, ‘ Will can spot Mary’ be tagged as-</a:t>
            </a:r>
          </a:p>
          <a:p>
            <a:r>
              <a:t>  4. Will as a model</a:t>
            </a:r>
          </a:p>
          <a:p>
            <a:r>
              <a:t>  5. Can as a verb</a:t>
            </a:r>
          </a:p>
          <a:p>
            <a:r>
              <a:t>  6. Spot as a noun</a:t>
            </a:r>
          </a:p>
          <a:p>
            <a:r>
              <a:t>  7. Mary as a noun</a:t>
            </a:r>
          </a:p>
          <a:p/>
          <a:p>
            <a:r>
              <a:t>Say what these mean, in your own words:</a:t>
            </a:r>
          </a:p>
          <a:p>
            <a:r>
              <a:t>  - hmm: Hidden Markov Model</a:t>
            </a:r>
          </a:p>
          <a:p>
            <a:r>
              <a:t>  - Transition probability matrix: A table used by HMM to determine appropriate tag sequences for a sentence.</a:t>
            </a:r>
          </a:p>
          <a:p>
            <a:r>
              <a:t>  - Tagging: Assigning parts of speech like nouns or verbs to words in a sentence.</a:t>
            </a:r>
          </a:p>
          <a:p/>
          <a:p>
            <a:r>
              <a:t>Pause: ask the class what they already know about “Hidden Markov models determine appropriate tag sequences using probability tables”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Transition probability matrix (continued)</a:t>
            </a:r>
          </a:p>
          <a:p/>
          <a:p>
            <a:r>
              <a:t>Pause: ask the class what they already know about “Transition probability matrix (continued)” before revealing the slide.</a:t>
            </a:r>
          </a:p>
          <a:p/>
          <a:p>
            <a:r>
              <a:t>Wording matters here — slow down, keep it precise.</a:t>
            </a:r>
          </a:p>
          <a:p/>
          <a:p>
            <a:r>
              <a:t>~19s</a:t>
            </a:r>
          </a:p>
          <a:p>
            <a:r>
              <a:t>Text in the figure: can spot Mary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There are two paths leading to this vertex as shown below along with the probabilities of the two mini-paths.</a:t>
            </a:r>
          </a:p>
          <a:p>
            <a:r>
              <a:t>  2. When multiple paths reach a single vertex, each path carries its own specific probability.</a:t>
            </a:r>
          </a:p>
          <a:p>
            <a:r>
              <a:t>  3. Understanding these individual mini-path probabilities is essential for calculating the likelihood of larger sequences.</a:t>
            </a:r>
          </a:p>
          <a:p>
            <a:r>
              <a:t>  4. We use these values to determine how likely each incoming route is.</a:t>
            </a:r>
          </a:p>
          <a:p>
            <a:r>
              <a:t>  5. Example: Path A has a probability of 0.3 and Path B has 0.7.</a:t>
            </a:r>
          </a:p>
          <a:p/>
          <a:p>
            <a:r>
              <a:t>Say what these mean, in your own words:</a:t>
            </a:r>
          </a:p>
          <a:p>
            <a:r>
              <a:t>  - Transition probability: The likelihood of moving from one specific state to another.</a:t>
            </a:r>
          </a:p>
          <a:p/>
          <a:p>
            <a:r>
              <a:t>Pause: ask the class what they already know about “Two paths lead to this vertex with known probabilities”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“After Computing probabilities of all paths” before revealing the slide.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To get an optimal path, start from the end and trace backward, since each state has only one incoming edge, This gives a</a:t>
            </a:r>
          </a:p>
          <a:p>
            <a:r>
              <a:t>  2. An optimal path is found by starting at the final state and working backward.</a:t>
            </a:r>
          </a:p>
          <a:p>
            <a:r>
              <a:t>  3. Because each state features a single incoming edge, this reverse tracing process clearly reveals the best sequence of st</a:t>
            </a:r>
          </a:p>
          <a:p>
            <a:r>
              <a:t>  4. Example: Tracing back from the final destination node to the start node.</a:t>
            </a:r>
          </a:p>
          <a:p/>
          <a:p>
            <a:r>
              <a:t>Read these exactly (do not paraphrase):</a:t>
            </a:r>
          </a:p>
          <a:p>
            <a:r>
              <a:t>  - Because each state features a single incoming edge, this reverse tracing process clearly reveals the best sequence of states that led to the end.</a:t>
            </a:r>
          </a:p>
          <a:p/>
          <a:p>
            <a:r>
              <a:t>Say what these mean, in your own words:</a:t>
            </a:r>
          </a:p>
          <a:p>
            <a:r>
              <a:t>  - Optimal path: The best or most likely sequence of states through a network.</a:t>
            </a:r>
          </a:p>
          <a:p/>
          <a:p>
            <a:r>
              <a:t>Pause: ask the class what they already know about “Tracing backward from the end yields an optimal path”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“Problem in which matrix is GIVEN/ not training data” before revealing the slide.</a:t>
            </a:r>
          </a:p>
          <a:p/>
          <a:p>
            <a:r>
              <a:t>~19s</a:t>
            </a:r>
          </a:p>
          <a:p>
            <a:r>
              <a:t>Text in the figure: step 1: Assign correct POS Tag to training corpus</a:t>
            </a:r>
          </a:p>
          <a:p/>
          <a:p>
            <a:r>
              <a:t>Step 2: Creation of Emission Probability Matrix</a:t>
            </a:r>
          </a:p>
          <a:p>
            <a:r>
              <a:t>| oT NN | vB</a:t>
            </a:r>
          </a:p>
          <a:p>
            <a:r>
              <a:t>_That | 0.40 | 0.00 | 0.00_</a:t>
            </a:r>
          </a:p>
          <a:p>
            <a:r>
              <a:t>_Girl_| 0.00 | 0.015 | 0.0031</a:t>
            </a:r>
          </a:p>
          <a:p>
            <a:r>
              <a:t>Smiles | 0.00 |0.0004| 0.20 _</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Test Data &lt;s&gt; That girl smiles &lt;/S&gt; That _| Girl_| Smiles | | NN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 x P(DT|that, &lt; § &gt;) = P(that|DT) x P(DT| &lt; S&gt;) S&gt; P(DT|that, &lt; &gt;) = 0.40 x 0.50 = 0.2 | Cw &gt;) P(NN|that, &lt; $ &gt;) = P(that|NN) x P(NN| &lt; $ &gt;) P(NN|that, &lt; &gt;) = 0.00 x 0.40 = 0 [2] P(VB|that, &lt; $ &gt;) = P(that|VB) x P(VB| &lt; S$ &gt;) Con Coe) P(VB|that, &lt; $&gt;) = 0.00x0.1=0 Com) Probability of “that “ word is large for DT Part of Speech Tag 9 Dr. Varsha Patil</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7”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Previous Probability is 0.2 [at a2 P(DT|girl, DT) = P(girl|DT x P(DT|DT) P(DT|girl, DT) = 0 x 0.01 = 0 [2] P(NN|girl, DT) = P(girl|NN) x P(NN|DT) Cr Cw) P(NN|girl, DT) = 0.015 x 0.99 = 0.01485 = 0.01458 x 0.2 = 0.00297 ~ 0.003 Coin) [el P(VB|girl, DT) = P(girl|VB) x P(VB|DT) DT) = 0.0031 x 0.00 = 0 [2] Result: Girl is noun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Previous Probability is 0.003 at a2 Cu Cr) P(DT|smiles, NN) = x P(DT|NN) P(DT|smiles, NN) = 0 x 0.30 x2 | a a P(NN|smiles, NN) = P(smiles|NN) x P(NN|NN) Con Coe) P(NN|smiles, NN) = 0.0004 x 0.30 = 0.00012 = 0.00012 x 0.003 = 0.00000036 [a2 Co P(VB|smiles, NN) = P(smiles|VB) x P(VB|NN) P(VB|smiles, NN) = 0.2 x 0.4 = 0.08 = 0.08 x 0.003 = 0.00024 =) £ Dd Result: Smiles is verb Dr. Varsha Patil</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Step 1: Assign correct POS Tag to training corpus Step 2: Creation of Emission Probability Matrix |like [an | arrow, VB | 0.1 | 0 NN | 0.1 | 0.1 | 0 | 0 | 01 | IN | 0 | 0 0 oT} o | 0 | 0 oO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Step 3: Creation of State Transition Probability Matrix count(w,_,,W;) P(w; | = count(w,_,)</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Test Data’ &lt;s&gt; Time flies like an arraow &lt;/S&gt; an | ve | ve | nn | | ee 2x2x2x1x1=8 ways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P(q2|x2, q1) = P(x2|q2) x P(q2|q1) P(NNitime, &lt; $ &gt; P(time|NN) x P(NN| &lt; S&gt;) P(NN|time, &lt;S &gt;) = 0.1 x 0.8 = 0.08 P(VB|time, &lt; S &gt;) = P(time|VB) x P(VB| &lt; S&gt;) P(VB|time, &lt; S$ &gt;) = 0.2 = 0.02 [=] 0.08 &gt; 0.02 Ptobability of “time “ large for NN Part of Speech Tag</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Previous Probability is 0.08 [«] [=] NN) = P(flies|NN) x P(NN|NN) P(NN|flies, NN) = 0.1 x 0.5 = 0.05 = 0.05 x 0.08 = 0.0040 [x | P(VB|flies, NN) = P(flies|VB) x P(VB|NN) CuO) P(VB|flies, NN) = 0.2 x 0.4 = 0.08 = 0.08 x 0.08 = 0.0064 0.0064 &gt; 0.0040 Result: flies is verb</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Previous Probability is 0.0064 Ce Cm) P(In|like, VB) = P(like|In) x P(In|VB) P(IN|like, VB) = 0.25 x 0.2 = 0.05 = 0.05 x 0.0064 = 0.00032 P(VB|like, VB) = P(like|VB) x P(VB|VB) P(IN|like, VB) = 0.2 x 0=0 ) = 0.2 x 0.01 = 0.002 = 0.002 x 0.0064 = [2] Result: like is preposition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Previous Probability ts 0.00032 Cm —&gt;Cor ») IN) = P(a|DT) x P(DT|a, IN) = 0.5 x 0.25 = 0.125 = 0.125 x 0.00032 = &amp; Result: an is DT Previous Probability is 0.00004 P(NN{arrow, DT) = P(arrow|NN) x P(NN|DT) Cor =01x1=01 = 0.1 x 0.00004 = 0.000004 ») Result:arrow is noun £ © [2] or</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8”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O=4192..-9N a set of N states</a:t>
            </a:r>
          </a:p>
          <a:p>
            <a:r>
              <a:t>  2. a transition probability matrix 4, each a;; rep- resenting the probability of moving from state i to state j, s.t. =1 Vi</a:t>
            </a:r>
          </a:p>
          <a:p>
            <a:r>
              <a:t>  3. B=b5,(0;) a sequence of observation likelihoods:, also</a:t>
            </a:r>
          </a:p>
          <a:p>
            <a:r>
              <a:t>  4. called emission probabilities, each expressing the probability of an observation 0; being gen- erated from a state 7. a </a:t>
            </a:r>
          </a:p>
          <a:p/>
          <a:p>
            <a:r>
              <a:t>Read these exactly (do not paraphrase):</a:t>
            </a:r>
          </a:p>
          <a:p>
            <a:r>
              <a:t>  - Problem in which matrix is GIVEN/ not training data: O=4192..-9N a set O=4192..-9N a set of N states a transition probability matrix 4, each a;; rep- resenting the probability of moving from state i to state j, s.t.</a:t>
            </a:r>
          </a:p>
          <a:p>
            <a:r>
              <a:t>  - =1 Vi a sequence of T observations, each one drawn from a vocabulary V = vr.</a:t>
            </a:r>
          </a:p>
          <a:p>
            <a:r>
              <a:t>  - B=b5,(0;) a sequence of observation likelihoods:, also called emission probabilities, each expressing the probability of an observation 0; being gen- erated from a state 7.</a:t>
            </a:r>
          </a:p>
          <a:p>
            <a:r>
              <a:t>  - a special start state and end (final) state which are not associated with observations, together with transition probabilities out of the start state and ito the end state |</a:t>
            </a:r>
          </a:p>
          <a:p/>
          <a:p>
            <a:r>
              <a:t>Pause: ask the class what they already know about “Problem in which matrix is GIVEN/ not training data: O=4192..-9N a set” before revealing the slide.</a:t>
            </a:r>
          </a:p>
          <a:p/>
          <a:p>
            <a:r>
              <a:t>Wording matters here — slow down, keep it precise.</a:t>
            </a:r>
          </a:p>
          <a:p/>
          <a:p>
            <a:r>
              <a:t>~40s</a:t>
            </a:r>
          </a:p>
          <a:p>
            <a:r>
              <a:t>Ask the class: What happens to the result if one of the inputs doubles?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 first-order Hidden Markov Model instantiates two simplifying assumptions. First, as with a first-orderMarkov chain, th</a:t>
            </a:r>
          </a:p>
          <a:p>
            <a:r>
              <a:t>  2. Markov Assumption: P(qi|q1..qi−1) = P(qi|qi−1)</a:t>
            </a:r>
          </a:p>
          <a:p>
            <a:r>
              <a:t>  3. Second, the probability of an output observation oi is dependent only on the state that produced the observation qi, and</a:t>
            </a:r>
          </a:p>
          <a:p>
            <a:r>
              <a:t>  4. Output Independence: P(oi|q1...qi,...,qT,o1,...,oi,...,oT) = P(oi|qi)</a:t>
            </a:r>
          </a:p>
          <a:p/>
          <a:p>
            <a:r>
              <a:t>Read these exactly (do not paraphrase):</a:t>
            </a:r>
          </a:p>
          <a:p>
            <a:r>
              <a:t>  - First, as with a first-orderMarkov chain, the probability of a particular state is dependent only on the previous state: Markov Assumption: P(qi|q1..qi−1) = P(qi|qi−1) Second, the probability of an output observation oi is dependent only on the state that produced the observation qi, and not on any other states or any other observations: Output Independence: P(oi|q1...qi,...,qT,o1,...,oi,...,oT) = P(oi|qi)</a:t>
            </a:r>
          </a:p>
          <a:p/>
          <a:p>
            <a:r>
              <a:t>Say what these mean, in your own words:</a:t>
            </a:r>
          </a:p>
          <a:p>
            <a:r>
              <a:t>  - Markov Assumption: The probability of a state depends only on the immediately preceding state.</a:t>
            </a:r>
          </a:p>
          <a:p>
            <a:r>
              <a:t>  - Output Independence: The probability of an observation depends only on its corresponding state.</a:t>
            </a:r>
          </a:p>
          <a:p/>
          <a:p>
            <a:r>
              <a:t>Pause: ask the class what they already know about “First-order Hidden Markov models rely on two simplifying assumptions” before revealing the slide.</a:t>
            </a:r>
          </a:p>
          <a:p/>
          <a:p>
            <a:r>
              <a:t>Wording matters here — slow down, keep it precise.</a:t>
            </a:r>
          </a:p>
          <a:p/>
          <a:p>
            <a:r>
              <a:t>~40s</a:t>
            </a:r>
          </a:p>
          <a:p>
            <a:r>
              <a:t>Ask the class: Which step would break the whole process if it failed — and why?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Fig. 6.3 shows a sample HMM for the ice cream task. The two hidden states (H and C) correspond to hot and cold weather, while the observations (drawn from the alphabet O = {1,2,3}) correspond to the number of ice creams eaten by Jason on a given day. A Hidden Markov Model for relating numbers of ice creams eaten by Jason (the observations) to the weather (H or C, the hidden variables). For this example we are not using an end-state, instead allowing both states 1 and 2 to be a final (accepting) state.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Now that we have seen the structure of an HMM, we tum to algorithms for com-</a:t>
            </a:r>
          </a:p>
          <a:p>
            <a:r>
              <a:t>puting things with them. An influential tutorial by Rabiner (1989), based on tutorials</a:t>
            </a:r>
          </a:p>
          <a:p>
            <a:r>
              <a:t>by Jack Ferguson in the 1960s, introduced the idea that Hidden Markov Models should</a:t>
            </a:r>
          </a:p>
          <a:p>
            <a:r>
              <a:t>be characterized by three fundamental problems:</a:t>
            </a:r>
          </a:p>
          <a:p/>
          <a:p>
            <a:r>
              <a:t>Problem 1 (Likelihood): Given an HMM A = (4,B) and an observation se-</a:t>
            </a:r>
          </a:p>
          <a:p>
            <a:r>
              <a:t>quence O, determine the likelihood P(O|A).</a:t>
            </a:r>
          </a:p>
          <a:p/>
          <a:p>
            <a:r>
              <a:t>Problem 2 (Decoding): Given an observation sequence O and an HMM A =</a:t>
            </a:r>
          </a:p>
          <a:p>
            <a:r>
              <a:t>(4,B). discover the best hidden state sequence Q.</a:t>
            </a:r>
          </a:p>
          <a:p/>
          <a:p>
            <a:r>
              <a:t>Problem 3 (Learning): Given an observation sequence O and the set of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(9) P(31 3|hothot cold) = P(3|hot) x P(1{hot) x P(3|cold)</a:t>
            </a:r>
          </a:p>
          <a:p>
            <a:r>
              <a:t>4 2 A</a:t>
            </a:r>
          </a:p>
          <a:p>
            <a:r>
              <a:t>3 1 3</a:t>
            </a:r>
          </a:p>
          <a:p>
            <a:r>
              <a:t>‘The computation of the observation likelihood for the ice-cream events 3 J 3 given</a:t>
            </a:r>
          </a:p>
          <a:p>
            <a:r>
              <a:t>the hidden state sequence hot hot cold.</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P(HIH) * P(1IH) a7 Cry “fy 77 5 Moy &amp; (1) = 02 = 82°15 *+ = a&gt; 2 ~ a; co *P(tIC) oO 675 H i — : es { stan | start } 0; The forward trellis for computing the total observation likelihood for the ice-cream events 3 ] 3. Hidden states are in circles, observations in squares. White (unfilled) circles indicate illegal transitions. The figure shows the computation of o;(j) for two states at two time steps. The computation in each cell follows Eq. 6.15: = The resulting probability expressed in each cell is Eq. 6.14: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oy P(HIH) * P(1IH) fy 42 ik} x ! a &gt; va=o2 ou) = = .048 as owt, 2 a ws a, Se P(CIC) * oO 65 oot do {stan | { | {start } 0, Oo 03 t The Viterbi trellis for computing the best path through the hidden state space for the ice-cream eating events 3 J 3. Hidden states are in circles, observations in squares. White (unfilled) circles indicate illegal transitions. The figure shows the computation of v;(j) for two states at two time steps. The computation in each cell follows Eq. 6.20: v¢(j) = The resulting probability expressed in each cell is Eq. 6.19: = =</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Problem in which matrix is GIVEN/ not training data (continued)</a:t>
            </a:r>
          </a:p>
          <a:p/>
          <a:p>
            <a:r>
              <a:t>Pause: ask the class what they already know about “Problem in which matrix is GIVEN/ not training data (continued)” before revealing the slide.</a:t>
            </a:r>
          </a:p>
          <a:p/>
          <a:p>
            <a:r>
              <a:t>Wording matters here — slow down, keep it precise.</a:t>
            </a:r>
          </a:p>
          <a:p/>
          <a:p>
            <a:r>
              <a:t>~19s</a:t>
            </a:r>
          </a:p>
          <a:p>
            <a:r>
              <a:t>Text in the figure: Ip ae ay 8 x PAA) “On \ &amp; -- \ an \ do {stan | {start | {amr} woe’ 0, 03 t The Viterbi backtrace. As we extend each path to a new state account for the next observation, we keep a backpointer (shown with broken blue lines) to the best path that led us to this state.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function VITERBI(observations of len T, state-graph of len N) returns best-path</a:t>
            </a:r>
          </a:p>
          <a:p>
            <a:r>
              <a:t>  2. for each state s from 1 to N do sinitialization step</a:t>
            </a:r>
          </a:p>
          <a:p>
            <a:r>
              <a:t>  3. backpointer[s,1]— 0 for each time step ¢ from 2 to T do srecursion step for each state s from lto Ndo viterbi[s.t]— max </a:t>
            </a:r>
          </a:p>
          <a:p>
            <a:r>
              <a:t>  4. backpointer{s,t]—argmax * ays</a:t>
            </a:r>
          </a:p>
          <a:p>
            <a:r>
              <a:t>  5. viterbi[gr,T]— max *; termination step</a:t>
            </a:r>
          </a:p>
          <a:p>
            <a:r>
              <a:t>  6. backpointer[qr,T]— argmax * ds.g;; termination step</a:t>
            </a:r>
          </a:p>
          <a:p>
            <a:r>
              <a:t>  7. return the backtrace path by following backpointers to states back in time from backpointer[qr,T]</a:t>
            </a:r>
          </a:p>
          <a:p/>
          <a:p>
            <a:r>
              <a:t>Read these exactly (do not paraphrase):</a:t>
            </a:r>
          </a:p>
          <a:p>
            <a:r>
              <a:t>  - The Viterbi algorithm finds the optimal sequence of hidden states function VITERBI(observations of len T, state-graph of len N) returns best-path for each state s from 1 to N do sinitialization step backpointer[s,1]— 0 for each time step ¢ from 2 to T do srecursion step for each state s from lto Ndo viterbi[s.t]— max viterbils’ * ay; * backpointer{s,t]—argmax * ays viterbi[gr,T]— max *; termination step backpointer[qr,T]— argmax * ds.g;; termination step return the backtrace path by following backpointers to states back in time from backpointer[qr,T] Viterbi algorithm for finding optimal sequence of hidden states.</a:t>
            </a:r>
          </a:p>
          <a:p>
            <a:r>
              <a:t>  - Given an obser- vation sequence and an HMM A = (4,8), the algorithm returns the state-path through the HMM which assigns maximum likelihood to the observation sequence.</a:t>
            </a:r>
          </a:p>
          <a:p/>
          <a:p>
            <a:r>
              <a:t>Say what these mean, in your own words:</a:t>
            </a:r>
          </a:p>
          <a:p>
            <a:r>
              <a:t>  - hmm: Hidden Markov Model</a:t>
            </a:r>
          </a:p>
          <a:p>
            <a:r>
              <a:t>  - Viterbi algorithm: An algorithm that returns the state-path assigning maximum likelihood to an observation sequence.</a:t>
            </a:r>
          </a:p>
          <a:p>
            <a:r>
              <a:t>  - Backpointer: A pointer stored during recursion to trace back the optimal path.</a:t>
            </a:r>
          </a:p>
          <a:p/>
          <a:p>
            <a:r>
              <a:t>Pause: ask the class what they already know about “The Viterbi algorithm finds the optimal sequence of hidden states”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create a path probability matrix viterbi{N+2,T] (continued)</a:t>
            </a:r>
          </a:p>
          <a:p/>
          <a:p>
            <a:r>
              <a:t>Pause: ask the class what they already know about “create a path probability matrix viterbi{N+2,T] (continued)” before revealing the slide.</a:t>
            </a:r>
          </a:p>
          <a:p/>
          <a:p>
            <a:r>
              <a:t>Wording matters here — slow down, keep it precise.</a:t>
            </a:r>
          </a:p>
          <a:p/>
          <a:p>
            <a:r>
              <a:t>~19s</a:t>
            </a:r>
          </a:p>
          <a:p>
            <a:r>
              <a:t>Text in the figure: Exercise: Janet will back the bill NNP 0.000032 0 0 0 MD 0 0.308431 0 0 0 VB 0 0.000028 0.000672 0 0.000028 Emission Probabilities: iJ 0 0 0.000340 0 0 NN 0 0.000200 0.000223 0 0.002337 RB 0 0 0.010446 0 0 DT 0 0 0 0.506099 0 Transition Probabilities: NNP MD NN RB DT &lt;s&gt; 0.2767 0.0031 0.0453 0.0449 0.0510 0.2026 NNP 0.3777 0.0009 0.0084 0.0584 0.0090 0.0025 MD 0.0008 0.0002 0.7968 0.0005 0.0008 0.1698 0.0041 VB 0.0322 0.0005 0.0050 0.0837 0.0615 0.0514 0.2231 JJ 0.0366 0.0004 0.0001 0.0733 0.4509 0.0036 0.0036 NN 0.0096 0.0176 0.0014 0.0086 0.1216 0.0177 0.0068 RB 0.0068 0.0102 0.1011 0.1012 0</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create a path probability matrix viterbi{N+2,T] (continued)</a:t>
            </a:r>
          </a:p>
          <a:p/>
          <a:p>
            <a:r>
              <a:t>Pause: ask the class what they already know about “create a path probability matrix viterbi{N+2,T] (continued)” before revealing the slide.</a:t>
            </a:r>
          </a:p>
          <a:p/>
          <a:p>
            <a:r>
              <a:t>Wording matters here — slow down, keep it precise.</a:t>
            </a:r>
          </a:p>
          <a:p/>
          <a:p>
            <a:r>
              <a:t>~19s</a:t>
            </a:r>
          </a:p>
          <a:p>
            <a:r>
              <a:t>Text in the figure: NNP | Janet will back the bill A sketch of the lattice for Janet will back the bill, showing the possible tags (q;) for each word and highlighting the path corresponding to the correct tag sequence through the hidden states. States (parts of speech) which have a zero probability of generating a particular word according to the B matrix (such as the probability that a determiner DT will be realized as Janet) are greyed out.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9”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create a path probability matrix viterbi{N+2,T] (continued)</a:t>
            </a:r>
          </a:p>
          <a:p/>
          <a:p>
            <a:r>
              <a:t>Pause: ask the class what they already know about “create a path probability matrix viterbi{N+2,T] (continued)” before revealing the slide.</a:t>
            </a:r>
          </a:p>
          <a:p/>
          <a:p>
            <a:r>
              <a:t>Wording matters here — slow down, keep it precise.</a:t>
            </a:r>
          </a:p>
          <a:p/>
          <a:p>
            <a:r>
              <a:t>~19s</a:t>
            </a:r>
          </a:p>
          <a:p>
            <a:r>
              <a:t>Text in the figure: The first few entries in the individual state columns for the Viterbi algorithm. Each cell keeps the probability of the best path so far and a pointer to the previous cell along that path. We have only filled out columns 1 and 2; to avoid clutter most cells with value 0 are left empty. The rest is left as an exercise for the reader. After the cells are filled in, backtracing from the end state, we should be able to reconstruct the correct state sequence NNP MD VB DT NN.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create a path probability matrix viterbi{N+2,T] (continued)</a:t>
            </a:r>
          </a:p>
          <a:p/>
          <a:p>
            <a:r>
              <a:t>Pause: ask the class what they already know about “create a path probability matrix viterbi{N+2,T] (continued)” before revealing the slide.</a:t>
            </a:r>
          </a:p>
          <a:p/>
          <a:p>
            <a:r>
              <a:t>Wording matters here — slow down, keep it precise.</a:t>
            </a:r>
          </a:p>
          <a:p/>
          <a:p>
            <a:r>
              <a:t>~19s</a:t>
            </a:r>
          </a:p>
          <a:p>
            <a:r>
              <a:t>Text in the figure: Apply Viterbi Algorithm to assign POS in effiecient way iN 1x3x4x2x2=48 ways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Limitations of HMM POS Tagging</a:t>
            </a:r>
          </a:p>
          <a:p>
            <a:r>
              <a:t>  2. The emission probabilities and state transition probabilities of the corpus are</a:t>
            </a:r>
          </a:p>
          <a:p>
            <a:r>
              <a:t>  3. explicitly used in the HMM model.</a:t>
            </a:r>
          </a:p>
          <a:p>
            <a:r>
              <a:t>  4. That is, it worked with a dataset that was labelled (i.e. whose emission and state transition probabilities known)</a:t>
            </a:r>
          </a:p>
          <a:p>
            <a:r>
              <a:t>  5. Baum Welch Algorithm is one way to tackle the challenge of working</a:t>
            </a:r>
          </a:p>
          <a:p>
            <a:r>
              <a:t>  6. HMM POS tagging for unlabeled data sets.</a:t>
            </a:r>
          </a:p>
          <a:p>
            <a:r>
              <a:t>  7. The EM algorithm, which uses a forward and backward approach to get the</a:t>
            </a:r>
          </a:p>
          <a:p/>
          <a:p>
            <a:r>
              <a:t>Read these exactly (do not paraphrase):</a:t>
            </a:r>
          </a:p>
          <a:p>
            <a:r>
              <a:t>  - That is, it worked with a dataset that was labelled (i.e.</a:t>
            </a:r>
          </a:p>
          <a:p>
            <a:r>
              <a:t>  - whose emission and state transition probabilities known) Baum Welch Algorithm is one way to tackle the challenge of working HMM POS tagging for unlabeled data sets.</a:t>
            </a:r>
          </a:p>
          <a:p/>
          <a:p>
            <a:r>
              <a:t>Say what these mean, in your own words:</a:t>
            </a:r>
          </a:p>
          <a:p>
            <a:r>
              <a:t>  - pos: Parts of Speech Tagging</a:t>
            </a:r>
          </a:p>
          <a:p>
            <a:r>
              <a:t>  - Baum Welch Algorithm: An EM algorithm used to estimate parameters of a hidden Markov model for unlabeled data.</a:t>
            </a:r>
          </a:p>
          <a:p>
            <a:r>
              <a:t>  - Emission probability: The probability of generating a particular observation from a given state.</a:t>
            </a:r>
          </a:p>
          <a:p/>
          <a:p>
            <a:r>
              <a:t>Pause: ask the class what they already know about “Hidden Markov Models require known emission and transition probabilities”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Issues of HUM</a:t>
            </a:r>
          </a:p>
          <a:p>
            <a:r>
              <a:t>  2. 1) Unknown Words:</a:t>
            </a:r>
          </a:p>
          <a:p>
            <a:r>
              <a:t>  3. We might get some unknown words at runtime that aren't in the corpus.</a:t>
            </a:r>
          </a:p>
          <a:p>
            <a:r>
              <a:t>  4. That word has no emission probability</a:t>
            </a:r>
          </a:p>
          <a:p>
            <a:r>
              <a:t>  5. Asaresult, Viterbi decoding is not possible.</a:t>
            </a:r>
          </a:p>
          <a:p>
            <a:r>
              <a:t>  6. use morphological signals to determine whether a word is a proper noun if</a:t>
            </a:r>
          </a:p>
          <a:p>
            <a:r>
              <a:t>  7. the first character is capital.</a:t>
            </a:r>
          </a:p>
          <a:p/>
          <a:p>
            <a:r>
              <a:t>Read these exactly (do not paraphrase):</a:t>
            </a:r>
          </a:p>
          <a:p>
            <a:r>
              <a:t>  - Unknown words at runtime prevent standard Viterbi decoding Issues of HUM 1) Unknown Words: We might get some unknown words at runtime that aren't in the corpus.</a:t>
            </a:r>
          </a:p>
          <a:p/>
          <a:p>
            <a:r>
              <a:t>Say what these mean, in your own words:</a:t>
            </a:r>
          </a:p>
          <a:p>
            <a:r>
              <a:t>  - Unknown word: A runtime word missing from the training corpus lacking emission probabilities.</a:t>
            </a:r>
          </a:p>
          <a:p>
            <a:r>
              <a:t>  - Morphological signal: Word features like prefixes or suffixes used to infer grammatical properties.</a:t>
            </a:r>
          </a:p>
          <a:p/>
          <a:p>
            <a:r>
              <a:t>Pause: ask the class what they already know about “Unknown words at runtime prevent standard Viterbi decoding”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2. Limited Context:</a:t>
            </a:r>
          </a:p>
          <a:p>
            <a:r>
              <a:t>  2. Markov model in Viterbi decoding, which acts as a bigram in state</a:t>
            </a:r>
          </a:p>
          <a:p>
            <a:r>
              <a:t>  3. However, as seen in the example below, sometimes preceding background is insufficient.</a:t>
            </a:r>
          </a:p>
          <a:p>
            <a:r>
              <a:t>  4. e.g. correctly idetified by HMM (First order Markov] is [Verb, Past Participle] she passed [Verb, Past Tense] is absolut</a:t>
            </a:r>
          </a:p>
          <a:p>
            <a:r>
              <a:t>  5. Solution: To determine the correct POS tag, use higher order n-grams to assess the</a:t>
            </a:r>
          </a:p>
          <a:p>
            <a:r>
              <a:t>  6. POS of previous words.</a:t>
            </a:r>
          </a:p>
          <a:p/>
          <a:p>
            <a:r>
              <a:t>Read these exactly (do not paraphrase):</a:t>
            </a:r>
          </a:p>
          <a:p>
            <a:r>
              <a:t>  - correctly idetified by HMM (First order Markov] is [Verb, Past Participle] she passed [Verb, Past Tense] is absolutely passed she absolutely passed Solution: To determine the correct POS tag, use higher order n-grams to assess the POS of previous words.</a:t>
            </a:r>
          </a:p>
          <a:p/>
          <a:p>
            <a:r>
              <a:t>Say what these mean, in your own words:</a:t>
            </a:r>
          </a:p>
          <a:p>
            <a:r>
              <a:t>  - Bigram: A sequence of two adjacent elements used to model context.</a:t>
            </a:r>
          </a:p>
          <a:p>
            <a:r>
              <a:t>  - POS tag: A label indicating the part of speech for a word.</a:t>
            </a:r>
          </a:p>
          <a:p/>
          <a:p>
            <a:r>
              <a:t>Pause: ask the class what they already know about “Limited context in first-order Markov models requires higher-order n-grams”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4. Word features are limited.</a:t>
            </a:r>
          </a:p>
          <a:p>
            <a:r>
              <a:t>  2. Use a feature-rich classifier as a solution.</a:t>
            </a:r>
          </a:p>
          <a:p>
            <a:r>
              <a:t>  3. Maximum Entropy Model (MaxEnt)</a:t>
            </a:r>
          </a:p>
          <a:p>
            <a:r>
              <a:t>  4. Observed word</a:t>
            </a:r>
          </a:p>
          <a:p>
            <a:r>
              <a:t>  5. Standard Markov models have restricted features when handling large sentences.</a:t>
            </a:r>
          </a:p>
          <a:p>
            <a:r>
              <a:t>  6. Transitioning to a feature-rich classifier like the Maximum Entropy Model provides a better solution for observing word </a:t>
            </a:r>
          </a:p>
          <a:p>
            <a:r>
              <a:t>  7. Example: Using word endings and surrounding context as features in a MaxEnt model.</a:t>
            </a:r>
          </a:p>
          <a:p/>
          <a:p>
            <a:r>
              <a:t>Read these exactly (do not paraphrase):</a:t>
            </a:r>
          </a:p>
          <a:p>
            <a:r>
              <a:t>  - Maximum Entropy Model (MaxEnt) Observed word Standard Markov models have restricted features when handling large sentences.</a:t>
            </a:r>
          </a:p>
          <a:p/>
          <a:p>
            <a:r>
              <a:t>Say what these mean, in your own words:</a:t>
            </a:r>
          </a:p>
          <a:p>
            <a:r>
              <a:t>  - Feature-rich classifier: A model that incorporates many diverse input properties to make decisions.</a:t>
            </a:r>
          </a:p>
          <a:p/>
          <a:p>
            <a:r>
              <a:t>Pause: ask the class what they already know about “Maximum entropy models address limited features in big sentences” before revealing the slide.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Maximum Entropy Model (MEM or MaxEnt)</a:t>
            </a:r>
          </a:p>
          <a:p>
            <a:r>
              <a:t>  2. For POS disambiguation, HMM POS tagging uses restricted features.</a:t>
            </a:r>
          </a:p>
          <a:p>
            <a:r>
              <a:t>  3. Both the tag and the observed word in HMM are dependent on the previous tag.</a:t>
            </a:r>
          </a:p>
          <a:p>
            <a:r>
              <a:t>  4. To establish the POS tag for an observed word, further features must</a:t>
            </a:r>
          </a:p>
          <a:p>
            <a:r>
              <a:t>  5. A discriminatory model is the Maximum Entropy Model.</a:t>
            </a:r>
          </a:p>
          <a:p>
            <a:r>
              <a:t>  6. It does POS tagging for a given sentence by combining several heterogeneous features in a probabilistic framework.</a:t>
            </a:r>
          </a:p>
          <a:p/>
          <a:p>
            <a:r>
              <a:t>Read these exactly (do not paraphrase):</a:t>
            </a:r>
          </a:p>
          <a:p>
            <a:r>
              <a:t>  - Maximum Entropy Models combine heterogeneous features in a probabilistic framework Maximum Entropy Model (MEM or MaxEnt) For POS disambiguation, HMM POS tagging uses restricted features.</a:t>
            </a:r>
          </a:p>
          <a:p/>
          <a:p>
            <a:r>
              <a:t>Say what these mean, in your own words:</a:t>
            </a:r>
          </a:p>
          <a:p>
            <a:r>
              <a:t>  - Discriminatory model: A model that performs classification by combining multiple features directly.</a:t>
            </a:r>
          </a:p>
          <a:p>
            <a:r>
              <a:t>  - POS disambiguation: The process of determining the correct part of speech for a word in context.</a:t>
            </a:r>
          </a:p>
          <a:p/>
          <a:p>
            <a:r>
              <a:t>Pause: ask the class what they already know about “Maximum Entropy Models combine heterogeneous features in a probabilistic framework”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MaxEnt is based on the Principle of Maximum Entropy, which states</a:t>
            </a:r>
          </a:p>
          <a:p>
            <a:r>
              <a:t>  2. that of all models that match training data, the one with the highest</a:t>
            </a:r>
          </a:p>
          <a:p>
            <a:r>
              <a:t>  3. entropy should be chosen.</a:t>
            </a:r>
          </a:p>
          <a:p>
            <a:r>
              <a:t>  4. When the conditional independence of the features cannot be assumed,</a:t>
            </a:r>
          </a:p>
          <a:p>
            <a:r>
              <a:t>  5. the Maximum Entropy classifier is utilised.</a:t>
            </a:r>
          </a:p>
          <a:p>
            <a:r>
              <a:t>  6. This means that features are interdependent.</a:t>
            </a:r>
          </a:p>
          <a:p>
            <a:r>
              <a:t>  7. This is especially evident in problems involving text categorization,</a:t>
            </a:r>
          </a:p>
          <a:p/>
          <a:p>
            <a:r>
              <a:t>Read these exactly (do not paraphrase):</a:t>
            </a:r>
          </a:p>
          <a:p>
            <a:r>
              <a:t>  - For big sentences, go slowly: MaxEnt is based The MaxEnt is based on the Principle of Maximum Entropy, which states that of all models that match training data, the one with the highest entropy should be chosen.</a:t>
            </a:r>
          </a:p>
          <a:p>
            <a:r>
              <a:t>  - This means that features are interdependent.</a:t>
            </a:r>
          </a:p>
          <a:p/>
          <a:p>
            <a:r>
              <a:t>Pause: ask the class what they already know about “3. For big sentences, go slowly: MaxEnt is based”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Maximum Entropy Modeling (MaxEnt) is a machine learning framework.</a:t>
            </a:r>
          </a:p>
          <a:p>
            <a:r>
              <a:t>  2. features describing the observation, and then classifying the observation into one of a</a:t>
            </a:r>
          </a:p>
          <a:p>
            <a:r>
              <a:t>  3. set of discrete classes depending on these features.</a:t>
            </a:r>
          </a:p>
          <a:p>
            <a:r>
              <a:t>  4. Probabilistic classifier: Indicates the likelihood that the observation belongs to that</a:t>
            </a:r>
          </a:p>
          <a:p>
            <a:r>
              <a:t>  5. Non-sequential categorization — When it comes to text classification, we may need to</a:t>
            </a:r>
          </a:p>
          <a:p>
            <a:r>
              <a:t>  6. evaluate whether or not an email should be categorised as spam. We must assess</a:t>
            </a:r>
          </a:p>
          <a:p>
            <a:r>
              <a:t>  7. whether a statement or document represents a favourable or negative attitude in</a:t>
            </a:r>
          </a:p>
          <a:p/>
          <a:p>
            <a:r>
              <a:t>Read these exactly (do not paraphrase):</a:t>
            </a:r>
          </a:p>
          <a:p>
            <a:r>
              <a:t>  - Classification is the problem of taking a single observation, extracting some useful Maximum Entropy Modeling (MaxEnt) is a machine learning framework.</a:t>
            </a:r>
          </a:p>
          <a:p>
            <a:r>
              <a:t>  - A period character (V) must be classified as a sentence boundary or</a:t>
            </a:r>
          </a:p>
          <a:p/>
          <a:p>
            <a:r>
              <a:t>Pause: ask the class what they already know about “Classification is the problem of taking a single observation, extracting some useful”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MaxEnt belongs to the family of classifiers known as the exponential or log-linear</a:t>
            </a:r>
          </a:p>
          <a:p>
            <a:r>
              <a:t>  2. MaxEnt works by extracting some set of features from the input, combining them</a:t>
            </a:r>
          </a:p>
          <a:p>
            <a:r>
              <a:t>  3. linearly (multiply each feature by a weight and then add them up), and then using</a:t>
            </a:r>
          </a:p>
          <a:p>
            <a:r>
              <a:t>  4. this sum as an exponent.</a:t>
            </a:r>
          </a:p>
          <a:p>
            <a:r>
              <a:t>  5. Example: tagging — A feature for tagging might be this word ends in ed or the</a:t>
            </a:r>
          </a:p>
          <a:p>
            <a:r>
              <a:t>  6. previous word was adverb</a:t>
            </a:r>
          </a:p>
          <a:p/>
          <a:p>
            <a:r>
              <a:t>Read these exactly (do not paraphrase):</a:t>
            </a:r>
          </a:p>
          <a:p>
            <a:r>
              <a:t>  - MaxEnt classifiers combine input features linearly using exponents MaxEnt belongs to the family of classifiers known as the exponential or log-linear MaxEnt works by extracting some set of features from the input, combining them linearly (multiply each feature by a weight and then add them up), and then using this sum as an exponent.</a:t>
            </a:r>
          </a:p>
          <a:p/>
          <a:p>
            <a:r>
              <a:t>Say what these mean, in your own words:</a:t>
            </a:r>
          </a:p>
          <a:p>
            <a:r>
              <a:t>  - Log-linear: A model family combining input features linearly within an exponential function.</a:t>
            </a:r>
          </a:p>
          <a:p>
            <a:r>
              <a:t>  - Feature extraction: The process of identifying useful properties from raw input data.</a:t>
            </a:r>
          </a:p>
          <a:p/>
          <a:p>
            <a:r>
              <a:t>Pause: ask the class what they already know about “MaxEnt classifiers combine input features linearly using exponents”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MaxEnt classification is one of the classical machine learning tasks.</a:t>
            </a:r>
          </a:p>
          <a:p>
            <a:r>
              <a:t>  2. Sentiment analysis (for example, what does a product reviewer like and dislike about the product?)</a:t>
            </a:r>
          </a:p>
          <a:p>
            <a:r>
              <a:t>  3. Preferences (for example, who will a person vote for based on their demographics?</a:t>
            </a:r>
          </a:p>
          <a:p>
            <a:r>
              <a:t>  4. Would they rather have Superman, Batman, or the Teenage Mutant Ninja Turtles, for example?</a:t>
            </a:r>
          </a:p>
          <a:p>
            <a:r>
              <a:t>  5. Diagnosis (e.g., what medical disease is a person at risk of getting based on the</a:t>
            </a:r>
          </a:p>
          <a:p>
            <a:r>
              <a:t>  6. characteristics of many medical imaging and the patient's history?)</a:t>
            </a:r>
          </a:p>
          <a:p/>
          <a:p>
            <a:r>
              <a:t>Read these exactly (do not paraphrase):</a:t>
            </a:r>
          </a:p>
          <a:p>
            <a:r>
              <a:t>  - Sentiment analysis (for example, what does a product reviewer like and dislike about the product?)</a:t>
            </a:r>
          </a:p>
          <a:p>
            <a:r>
              <a:t>  - Preferences (for example, who will a person vote for based on their demographics?</a:t>
            </a:r>
          </a:p>
          <a:p>
            <a:r>
              <a:t>  - Diagnosis (e.g., what medical disease is a person at risk of getting based on the characteristics of many medical imaging and the patient's history?)</a:t>
            </a:r>
          </a:p>
          <a:p/>
          <a:p>
            <a:r>
              <a:t>Say what these mean, in your own words:</a:t>
            </a:r>
          </a:p>
          <a:p>
            <a:r>
              <a:t>  - MaxEnt classification: A classical machine learning task used for predicting categories and outcomes.</a:t>
            </a:r>
          </a:p>
          <a:p>
            <a:r>
              <a:t>  - Sentiment analysis: A task determining whether text expresses positive or negative opinions.</a:t>
            </a:r>
          </a:p>
          <a:p/>
          <a:p>
            <a:r>
              <a:t>Pause: ask the class what they already know about “Applications”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10”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Some of the features of the emails that might be useful to determine spam or not spam.</a:t>
            </a:r>
          </a:p>
          <a:p>
            <a:r>
              <a:t>  2. Features of Spam Mail:</a:t>
            </a:r>
          </a:p>
          <a:p>
            <a:r>
              <a:t>  3. F1: Look at who the email is addressed to</a:t>
            </a:r>
          </a:p>
          <a:p>
            <a:r>
              <a:t>  4. F2: Check the “from” email address</a:t>
            </a:r>
          </a:p>
          <a:p>
            <a:r>
              <a:t>  5. F3: Check the greeting</a:t>
            </a:r>
          </a:p>
          <a:p>
            <a:r>
              <a:t>  6. F4: Look at the Subject of the Email</a:t>
            </a:r>
          </a:p>
          <a:p>
            <a:r>
              <a:t>  7. F5: Your domain is forwarded to another domain</a:t>
            </a:r>
          </a:p>
          <a:p/>
          <a:p>
            <a:r>
              <a:t>Pause: ask the class what they already know about “Email spam detection uses specific features like address details grammar and subject lines”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Example of Spam/Not Spam Mail Detection (continued)</a:t>
            </a:r>
          </a:p>
          <a:p/>
          <a:p>
            <a:r>
              <a:t>Pause: ask the class what they already know about “Example of Spam/Not Spam Mail Detection (continued)” before revealing the slide.</a:t>
            </a:r>
          </a:p>
          <a:p/>
          <a:p>
            <a:r>
              <a:t>Wording matters here — slow down, keep it precise.</a:t>
            </a:r>
          </a:p>
          <a:p/>
          <a:p>
            <a:r>
              <a:t>~19s</a:t>
            </a:r>
          </a:p>
          <a:p>
            <a:r>
              <a:t>Text in the figure: Some of these features are more inclined towards spam than the others. We can assign weight to each features depending on the priority. Weight vary from -1 to 1 Features Weight Weight Weight (Not Spam) (Spam) F1: Look at who the email is addressed to -0.2 0.5 F2: Check the “from” email address W2 -0.2 0.6 F3: Check the greeting W3 -0.3 0.7 F4: Look at the Subject of the Email 0.6 -0.3 F5: Email content are money, lottery, win, prizes WS 0.7 -0.4 F6: Bad Grammar and Spelling W6 0.5 -0.2 F7: No phone number in the signature W7 -0.2 0.5</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Example of Spam/Not Spam Mail Detection (continued)</a:t>
            </a:r>
          </a:p>
          <a:p/>
          <a:p>
            <a:r>
              <a:t>Pause: ask the class what they already know about “Example of Spam/Not Spam Mail Detection (continued)” before revealing the slide.</a:t>
            </a:r>
          </a:p>
          <a:p/>
          <a:p>
            <a:r>
              <a:t>Wording matters here — slow down, keep it precise.</a:t>
            </a:r>
          </a:p>
          <a:p/>
          <a:p>
            <a:r>
              <a:t>~19s</a:t>
            </a:r>
          </a:p>
          <a:p>
            <a:r>
              <a:t>Text in the figure: Using the following approach, we can predict decision(d) [Spam/Non Spam] for the given input x. The input x has N binary features that are either 0 or 1. 1. For each feature, determine whether f,(x) is 1 or 0. 2. Multiply each feature by the weight associated with it, w;(d), i.e. fi(x)*w; (d) 3. For N features, add the total of fi(x)*wi(d). Formula N fi@) x i=1 4. Take the exponent of summation. N Numerator = exp( f,(x) x wi(d)) i=1 If two classes are there we can obtain two numerators one for spam and other for non-spam.</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5. Divide the numerator by sum of the numerators for every possible decision d (i.e.for all</a:t>
            </a:r>
          </a:p>
          <a:p>
            <a:r>
              <a:t>  2. _ Numerator</a:t>
            </a:r>
          </a:p>
          <a:p>
            <a:r>
              <a:t>  3. P(clx) = Denominator exp( De, fi(x) x wi(d))</a:t>
            </a:r>
          </a:p>
          <a:p/>
          <a:p>
            <a:r>
              <a:t>Read these exactly (do not paraphrase):</a:t>
            </a:r>
          </a:p>
          <a:p>
            <a:r>
              <a:t>  - Divide the numerator by sum of the numerators for every possible decision d (i.e.for all _ Numerator P(clx) = Denominator exp( De, fi(x) x wi(d))</a:t>
            </a:r>
          </a:p>
          <a:p/>
          <a:p>
            <a:r>
              <a:t>Pause: ask the class what they already know about “Calculates probabilities by dividing a decision numerator by the sum of all numerators” before revealing the slide.</a:t>
            </a:r>
          </a:p>
          <a:p/>
          <a:p>
            <a:r>
              <a:t>Wording matters here — slow down, keep it precise.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possible classes) (continued)</a:t>
            </a:r>
          </a:p>
          <a:p/>
          <a:p>
            <a:r>
              <a:t>Pause: ask the class what they already know about “possible classes) (continued)” before revealing the slide.</a:t>
            </a:r>
          </a:p>
          <a:p/>
          <a:p>
            <a:r>
              <a:t>Wording matters here — slow down, keep it precise.</a:t>
            </a:r>
          </a:p>
          <a:p/>
          <a:p>
            <a:r>
              <a:t>~19s</a:t>
            </a:r>
          </a:p>
          <a:p>
            <a:r>
              <a:t>Text in the figure: exp( x w,(d)) = 00) x 1 p(clx) = For NLP,c is POS tag and x is observed word For Email example, c is Soam or Non Spam, x is email input Demonimator (Z) is normalizing constant</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Example: Email as input x, d as two classes Spam and Non Spam</a:t>
            </a:r>
          </a:p>
          <a:p>
            <a:r>
              <a:t>  2. Present (Spam)</a:t>
            </a:r>
          </a:p>
          <a:p>
            <a:r>
              <a:t>  3. F1: Look at who the email is addressed to F</a:t>
            </a:r>
          </a:p>
          <a:p>
            <a:r>
              <a:t>  4. F2: Check the “from” email address F</a:t>
            </a:r>
          </a:p>
          <a:p>
            <a:r>
              <a:t>  5. F3: Check the greeting F</a:t>
            </a:r>
          </a:p>
          <a:p>
            <a:r>
              <a:t>  6. F4: Look at the Subject of the Email T 0.6 -0.3</a:t>
            </a:r>
          </a:p>
          <a:p>
            <a:r>
              <a:t>  7. F5: Email content are money, lottery, win, prizes T 0.7 -0.4</a:t>
            </a:r>
          </a:p>
          <a:p/>
          <a:p>
            <a:r>
              <a:t>Read these exactly (do not paraphrase):</a:t>
            </a:r>
          </a:p>
          <a:p>
            <a:r>
              <a:t>  - Email classification calculates separate scores for spam and non spam classes using weights Example: Email as input x, d as two classes Spam and Non Spam Present (Spam) F1: Look at who the email is addressed to F F2: Check the “from” email address F F3: Check the greeting F F4: Look at the Subject of the Email T 0.6 -0.3 F5: Email content are money, lottery, win, prizes T 0.7 -0.4 F6: Bad Grammar and Spelling T 0.5 -0.2 F7: No phone number in the signature F We will calcuate two scores, one for Spam and other for Non Spam</a:t>
            </a:r>
          </a:p>
          <a:p/>
          <a:p>
            <a:r>
              <a:t>Pause: ask the class what they already know about “Email classification calculates separate scores for spam and non spam classes using weights”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exp( f(x) x wi(d)) = X Exponential function has a graph that gets very close to the x- axis as the graph extends to the left (as x becomes more negative), but never really touches the x-axis. exp(0.6 x 1+0.7 x 1+0.5 x 1) p(SPAM|x) = exp(0.6 X 1+ 0.7 x 1+0.5 x 1-0.4x1-0.2x 1) exp(0.18) exp(0.18) + exp( — 0.9) P(SPAMIX) = SPAM|x) = =0.75</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exp(— 03 X 04X1-02x1) x1) exp( — 0.9) p(Non ~ SPAMIx) = = (0.18) + exp(—0.9) 2 p(Non — = =0.25 1.20+0.41 Email spam score (0.77) is higher than the Non-SPAM score (0.25). Therfore given email is SPAM.</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Feature Weight e.g. correctly idetified by HMM (First order Markov] F1:T,..=Adverb 0.7 is passed [Verb, Past Participle] she passed [Verb, Past Tense] F2:T=Past Tense 0.4 is absolutely passed F3:T,=Past Participle 0.4 she absolutely passed F4: T,..=Auxiliary Verb 0.3 F5:T,..=Third person singular 0.3 0.1 F7:Wj,,=conjunction 0.2 “passed” is observed word 7 F8:W,,,=preposition 0.5 F9:W,,,=determiner 0.4</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The complex record Stentence is: “The complex record” Det. Verb Verb Noun Adj. Noun Context/Features: POS Tags | Tj, T; Word Wi4 W; Wisi Assumption: All features having same weight which is equal to 1. Beam Size=2</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Features are taken as below. Observed word(W;). Its previous word (W;.,) and POS Tag stentence is: “The complex record” Feature The The Complex | Complex Record Record (Det.) | (Noun) (Verb) (Adj.) (Verb) (Noun) F1:T,.,=Det and T=Adj 1 and T=Verb 1 And T=Noun F4: W,.,=the and 1 F5:W,.,=the &amp; W,,,=record and T;=Adj 1 F6=:W,.,=complex and T;=Noun 1 F7:Wj,,=complex and 1 F8:W,..=NULL and 1</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11”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The Word The (Det) F7 feature is present The(Noun) F8 feature is present exp(1 * 1) = p(Noun|The) = oan) exp(1 * 1)+ exp(1 * 1)</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Observed Word is complex Word</a:t>
            </a:r>
          </a:p>
          <a:p>
            <a:r>
              <a:t>  2. For The(Det)</a:t>
            </a:r>
          </a:p>
          <a:p>
            <a:r>
              <a:t>  3. complex(Verb) No feature is present</a:t>
            </a:r>
          </a:p>
          <a:p>
            <a:r>
              <a:t>  4. complex (Adj.) F1,F4,F5 feature is present</a:t>
            </a:r>
          </a:p>
          <a:p>
            <a:r>
              <a:t>  5. For The(Noun)</a:t>
            </a:r>
          </a:p>
          <a:p>
            <a:r>
              <a:t>  6. complex(Verb) F2 feature is present</a:t>
            </a:r>
          </a:p>
          <a:p>
            <a:r>
              <a:t>  7. complex (Adj.) F4,F5 feature is present</a:t>
            </a:r>
          </a:p>
          <a:p/>
          <a:p>
            <a:r>
              <a:t>Read these exactly (do not paraphrase):</a:t>
            </a:r>
          </a:p>
          <a:p>
            <a:r>
              <a:t>  - Observed word features change depending on the part of speech and context Observed Word is complex Word For The(Det) complex(Verb) No feature is present complex (Adj.)</a:t>
            </a:r>
          </a:p>
          <a:p>
            <a:r>
              <a:t>  - F1,F4,F5 feature is present For The(Noun) complex(Verb) F2 feature is present complex (Adj.)</a:t>
            </a:r>
          </a:p>
          <a:p/>
          <a:p>
            <a:r>
              <a:t>Say what these mean, in your own words:</a:t>
            </a:r>
          </a:p>
          <a:p>
            <a:r>
              <a:t>  - Observed Word: A specific word identified in the input data text.</a:t>
            </a:r>
          </a:p>
          <a:p>
            <a:r>
              <a:t>  - Feature: A measurable characteristic used to help classify data instances.</a:t>
            </a:r>
          </a:p>
          <a:p/>
          <a:p>
            <a:r>
              <a:t>Pause: ask the class what they already know about “Observed word features change depending on the part of speech and context”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For The(Det) : complex(Verb) No feature is present complex (Adj.) F1, F4, F5 feature is present exp(0) 1) + = 1) + exp = 1) + expo) p(Verb|complex) = =0.11x0.5 exp(1 *« 1) + exp(1 * 1) + exp(1 * 1) = am [exp(1 = exp(1 « 1) + exp(1 « 1)] + exp(0) =0.89 x 0.5= 0.455</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For The(Noun) complex(Verb) F2 feature is present complex (Adj.) F4,F5 feature is present exp(1) p(Verb|complex) = 1) + exp(1* 1)]+ ae x 0.5= 0.165 (Adj. |complex) = ee = 1)-+ = 0.66 x 0.5 = 0.33</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First Word: The Second Word:Complex Answer</a:t>
            </a:r>
          </a:p>
          <a:p>
            <a:r>
              <a:t>Det Verb 0.055</a:t>
            </a:r>
          </a:p>
          <a:p>
            <a:r>
              <a:t>Det Adj. 0.455</a:t>
            </a:r>
          </a:p>
          <a:p>
            <a:r>
              <a:t>Noun Verb 0.165</a:t>
            </a:r>
          </a:p>
          <a:p>
            <a:r>
              <a:t>Noun Adj. 0.330</a:t>
            </a:r>
          </a:p>
          <a:p>
            <a:r>
              <a:t>b</a:t>
            </a:r>
          </a:p>
          <a:p/>
          <a:p>
            <a:r>
              <a:t>Beam Size=2</a:t>
            </a:r>
          </a:p>
          <a:p>
            <a:r>
              <a:t>First Word: The Second Word:Complex Answer</a:t>
            </a:r>
          </a:p>
          <a:p>
            <a:r>
              <a:t>Det Adj. 0.455</a:t>
            </a:r>
          </a:p>
          <a:p>
            <a:r>
              <a:t>Noun Adj. 0.330</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First Word: The Second Word:Complex Answer Det Adj. 0.455 For record: record(Verb) No feature is present record (Noun) F3, feature is present exp(0) p(Verbjrecord) = 1] ~ 21° x 0.455 = 0.0728 p(Noun|record) = —— 0.85 11 [exp(1 + 1) + exp(1 * 1)] + exp(0) x 0.455 = 0.387</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First Word: The Second Word:Complex Answer Noun Adj. 0.330 For record: record(Verb) No feature is present record (Noun) F3, feature is present exp(0) p(Verbjrecord) = 1) + exp(1 * 1)] + Outs = 0.16 x 0.330 = 0.0528 p(Noun|record) = _o ge [exp(1 * 1) + exp(1 * 1)] + exp(0) = 0.85 x 0.281</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Text in the figure: Problems with Maximum Entropy Models Per-state normalization: Bias Label Problem All the mass that arrives at a state must be distributed among the possible successor states. First Word Second Word The Complex Det Adj. (0.550) Noun Adj. (0.150) For Third word ‘Record’, Four features gets mapped. Two from Det Adj and Two from Noun Adj. ax</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Features | Weight (Not Spam) (continued)</a:t>
            </a:r>
          </a:p>
          <a:p/>
          <a:p>
            <a:r>
              <a:t>Pause: ask the class what they already know about “Features | Weight (Not Spam) (continued)”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Solution is Conditional Random Field (CRF)</a:t>
            </a:r>
          </a:p>
          <a:p>
            <a:r>
              <a:t>  2. CRF is a Discriminative Probabilistic Classifiers.</a:t>
            </a:r>
          </a:p>
          <a:p>
            <a:r>
              <a:t>  3. It is same as Maximum Entropy model only per</a:t>
            </a:r>
          </a:p>
          <a:p>
            <a:r>
              <a:t>  4. state normalization is not used.</a:t>
            </a:r>
          </a:p>
          <a:p>
            <a:r>
              <a:t>  5. Normalization at the sentence level is used</a:t>
            </a:r>
          </a:p>
          <a:p>
            <a:r>
              <a:t>  6. Conditional Random Fields act as discriminative probabilistic classifiers similar to Maximum Entropy models.</a:t>
            </a:r>
          </a:p>
          <a:p>
            <a:r>
              <a:t>  7. They differ by normalizing at the entire sentence level rather than per individual state.</a:t>
            </a:r>
          </a:p>
          <a:p/>
          <a:p>
            <a:r>
              <a:t>Read these exactly (do not paraphrase):</a:t>
            </a:r>
          </a:p>
          <a:p>
            <a:r>
              <a:t>  - Conditional Random Fields use sentence level normalization instead of per state normalization Solution is Conditional Random Field (CRF) CRF is a Discriminative Probabilistic Classifiers.</a:t>
            </a:r>
          </a:p>
          <a:p/>
          <a:p>
            <a:r>
              <a:t>Say what these mean, in your own words:</a:t>
            </a:r>
          </a:p>
          <a:p>
            <a:r>
              <a:t>  - crf: Conditional Random Field</a:t>
            </a:r>
          </a:p>
          <a:p>
            <a:r>
              <a:t>  - Conditional Random Field (CRF): A discriminative probabilistic classifier that uses sentence level normalization.</a:t>
            </a:r>
          </a:p>
          <a:p>
            <a:r>
              <a:t>  - Discriminative Probabilistic Classifiers: Models that directly learn the conditional probability for classification tasks.</a:t>
            </a:r>
          </a:p>
          <a:p/>
          <a:p>
            <a:r>
              <a:t>Pause: ask the class what they already know about “Conditional Random Fields use sentence level normalization instead of per state normalization”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 TO LAND: Answer, then check your reasoning.</a:t>
            </a:r>
          </a:p>
          <a:p/>
          <a:p>
            <a:r>
              <a:t>Pause: ask the class what they already know about “Checkpoint 12” before revealing the slide.</a:t>
            </a:r>
          </a:p>
          <a:p/>
          <a:p>
            <a:r>
              <a:t>~44s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Reveal 1</a:t>
            </a:r>
          </a:p>
          <a:p>
            <a:r>
              <a:t>  2. Reveal 2</a:t>
            </a:r>
          </a:p>
          <a:p/>
          <a:p>
            <a:r>
              <a:t>Read these exactly (do not paraphrase):</a:t>
            </a:r>
          </a:p>
          <a:p>
            <a:r>
              <a:t>  - Conditional random fields (CRF) This is also a sequence modelling algorithm.</a:t>
            </a:r>
          </a:p>
          <a:p/>
          <a:p>
            <a:r>
              <a:t>Say what these mean, in your own words:</a:t>
            </a:r>
          </a:p>
          <a:p>
            <a:r>
              <a:t>  - hmm: Hidden Markov Model</a:t>
            </a:r>
          </a:p>
          <a:p/>
          <a:p>
            <a:r>
              <a:t>Pause: ask the class what they already know about “Conditional random fields (CRF)” before revealing the slide.</a:t>
            </a:r>
          </a:p>
          <a:p/>
          <a:p>
            <a:r>
              <a:t>~26s</a:t>
            </a:r>
          </a:p>
          <a:p>
            <a:r>
              <a:t>Ask the class: Name one more thing that belongs in the overlap.</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Conditional random fields (CRF) (continued)</a:t>
            </a:r>
          </a:p>
          <a:p/>
          <a:p>
            <a:r>
              <a:t>Pause: ask the class what they already know about “Conditional random fields (CRF) (continued)” before revealing the slide.</a:t>
            </a:r>
          </a:p>
          <a:p/>
          <a:p>
            <a:r>
              <a:t>Wording matters here — slow down, keep it precise.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Generative Methods</a:t>
            </a:r>
          </a:p>
          <a:p>
            <a:r>
              <a:t>  2. “Generative” since sampling can generate synthetic data points</a:t>
            </a:r>
          </a:p>
          <a:p>
            <a:r>
              <a:t>  3. Popular models</a:t>
            </a:r>
          </a:p>
          <a:p>
            <a:r>
              <a:t>  4. Naive Bayes, Mixtures of multinomials</a:t>
            </a:r>
          </a:p>
          <a:p>
            <a:r>
              <a:t>  5. Mixtures of Gaussians, Hidden Markov Models Bayesian networks, Markov random fields</a:t>
            </a:r>
          </a:p>
          <a:p>
            <a:r>
              <a:t>  6. Discriminative Methods</a:t>
            </a:r>
          </a:p>
          <a:p>
            <a:r>
              <a:t>  7. Focus on given task— better performance</a:t>
            </a:r>
          </a:p>
          <a:p/>
          <a:p>
            <a:r>
              <a:t>Read these exactly (do not paraphrase):</a:t>
            </a:r>
          </a:p>
          <a:p>
            <a:r>
              <a:t>  - Classification of ML Methods Generative Methods “Generative” since sampling can generate synthetic data points Popular models Naive Bayes, Mixtures of multinomials Mixtures of Gaussians, Hidden Markov Models Bayesian networks, Markov random fields Discriminative Methods Focus on given task— better performance Logistic regression, SVMs Traditional neural networks, Nearest neighbor Conditional Random Fields (CRF)</a:t>
            </a:r>
          </a:p>
          <a:p/>
          <a:p>
            <a:r>
              <a:t>Pause: ask the class what they already know about “Classification of ML Methods”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X is observed data sequence to be labeled, y y Y is the random variable over the label sequences HMM is a distribution t</a:t>
            </a:r>
          </a:p>
          <a:p>
            <a:r>
              <a:t>  2. Highly structured network indicates conditional independences,</a:t>
            </a:r>
          </a:p>
          <a:p>
            <a:r>
              <a:t>  3. past states independent of future states</a:t>
            </a:r>
          </a:p>
          <a:p>
            <a:r>
              <a:t>  4. Conditional independence of observed</a:t>
            </a:r>
          </a:p>
          <a:p>
            <a:r>
              <a:t>  5. given its state.</a:t>
            </a:r>
          </a:p>
          <a:p/>
          <a:p>
            <a:r>
              <a:t>Read these exactly (do not paraphrase):</a:t>
            </a:r>
          </a:p>
          <a:p>
            <a:r>
              <a:t>  - Hidden Markov models use structured networks to model joint distributions of observed sequences X is observed data sequence to be labeled, y y Y is the random variable over the label sequences HMM is a distribution that models p(Y X) Joint distribution is po, Highly structured network indicates conditional independences, past states independent of future states Conditional independence of observed given its state.</a:t>
            </a:r>
          </a:p>
          <a:p/>
          <a:p>
            <a:r>
              <a:t>Pause: ask the class what they already know about “Hidden Markov models use structured networks to model joint distributions of observed sequences”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CRF models the conditional distribution p(Y/X)</a:t>
            </a:r>
          </a:p>
          <a:p>
            <a:r>
              <a:t>  2. CREF is a random field globally conditioned observation X</a:t>
            </a:r>
          </a:p>
          <a:p>
            <a:r>
              <a:t>  3. The conditional distribution P(Y|X) that follows from the joint distribution p(Y,X) can be rewritten as a Markov Random </a:t>
            </a:r>
          </a:p>
          <a:p/>
          <a:p>
            <a:r>
              <a:t>Read these exactly (do not paraphrase):</a:t>
            </a:r>
          </a:p>
          <a:p>
            <a:r>
              <a:t>  - Conditional random fields model conditional distributions globally conditioned on observations CRF models the conditional distribution p(Y/X) CREF is a random field globally conditioned observation X The conditional distribution P(Y|X) that follows from the joint distribution p(Y,X) can be rewritten as a Markov Random Field 20</a:t>
            </a:r>
          </a:p>
          <a:p/>
          <a:p>
            <a:r>
              <a:t>Pause: ask the class what they already know about “Conditional random fields model conditional distributions globally conditioned on observations” before revealing the slide.</a:t>
            </a:r>
          </a:p>
          <a:p/>
          <a:p>
            <a:r>
              <a:t>Wording matters here — slow down, keep it precise.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Discriminative Model for Sequential Data (continued)</a:t>
            </a:r>
          </a:p>
          <a:p/>
          <a:p>
            <a:r>
              <a:t>Pause: ask the class what they already know about “Discriminative Model for Sequential Data (continued)” before revealing the slide.</a:t>
            </a:r>
          </a:p>
          <a:p/>
          <a:p>
            <a:r>
              <a:t>Wording matters here — slow down, keep it precise.</a:t>
            </a:r>
          </a:p>
          <a:p/>
          <a:p>
            <a:r>
              <a:t>~19s</a:t>
            </a:r>
          </a:p>
          <a:p>
            <a:r>
              <a:t>Text in the figure: Graphical Model Relationship Naive Bayes Classifier Hidden Markov Model y Y : @ @ 6» x Pan x) Xu x; [| CONDITION CONDITION NZ NZ pW) Pee Logistic Regression Conditional Random Field _</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Discriminative Model for Sequential Data (continued)</a:t>
            </a:r>
          </a:p>
          <a:p/>
          <a:p>
            <a:r>
              <a:t>Pause: ask the class what they already know about “Discriminative Model for Sequential Data (continued)” before revealing the slide.</a:t>
            </a:r>
          </a:p>
          <a:p/>
          <a:p>
            <a:r>
              <a:t>Wording matters here — slow down, keep it precise.</a:t>
            </a:r>
          </a:p>
          <a:p/>
          <a:p>
            <a:r>
              <a:t>~19s</a:t>
            </a:r>
          </a:p>
          <a:p>
            <a:r>
              <a:t>Text in the figure: Functional Models Hidden Markov Model Naive Bayes Classifier @ x) Xu M N = m=1 n=l “he Fon M exp fe »)| Eyer] P(Y |x) ay eee Logistic Regression Conditional Random Field</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Sequence Models</a:t>
            </a:r>
          </a:p>
          <a:p>
            <a:r>
              <a:t>  2. Hidden Markov Model (HMM)</a:t>
            </a:r>
          </a:p>
          <a:p>
            <a:r>
              <a:t>  3. HMMs</a:t>
            </a:r>
          </a:p>
          <a:p>
            <a:r>
              <a:t>  4. Conditional Random Fields (CRF) CONDITIDNAL</a:t>
            </a:r>
          </a:p>
          <a:p>
            <a:r>
              <a:t>  5. ply|x exp 2. Yt-1, Xt Cy</a:t>
            </a:r>
          </a:p>
          <a:p>
            <a:r>
              <a:t>  6. A key advantage of CRF is their great flexibility to</a:t>
            </a:r>
          </a:p>
          <a:p>
            <a:r>
              <a:t>  7. Linear-chain CRFs</a:t>
            </a:r>
          </a:p>
          <a:p/>
          <a:p>
            <a:r>
              <a:t>Read these exactly (do not paraphrase):</a:t>
            </a:r>
          </a:p>
          <a:p>
            <a:r>
              <a:t>  - Conditional random fields flexibly incorporate arbitrary non-independent observation features Sequence Models Hidden Markov Model (HMM) HMMs Conditional Random Fields (CRF) CONDITIDNAL ply|x exp 2.</a:t>
            </a:r>
          </a:p>
          <a:p/>
          <a:p>
            <a:r>
              <a:t>Say what these mean, in your own words:</a:t>
            </a:r>
          </a:p>
          <a:p>
            <a:r>
              <a:t>  - Hmms: Hidden Markov Models</a:t>
            </a:r>
          </a:p>
          <a:p>
            <a:r>
              <a:t>  - Conditional Random Field: A sequence model that includes a wide variety of arbitrary, non-independent observation features.</a:t>
            </a:r>
          </a:p>
          <a:p>
            <a:r>
              <a:t>  - Linear-chain CRF: A specific CRF architecture used for sequential data labeling tasks.</a:t>
            </a:r>
          </a:p>
          <a:p/>
          <a:p>
            <a:r>
              <a:t>Pause: ask the class what they already know about “Conditional random fields flexibly incorporate arbitrary non-independent observation features”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 TTY Y (continued)</a:t>
            </a:r>
          </a:p>
          <a:p/>
          <a:p>
            <a:r>
              <a:t>Pause: ask the class what they already know about “T TTY Y (continued)” before revealing the slide.</a:t>
            </a:r>
          </a:p>
          <a:p/>
          <a:p>
            <a:r>
              <a:t>Wording matters here — slow down, keep it precise.</a:t>
            </a:r>
          </a:p>
          <a:p/>
          <a:p>
            <a:r>
              <a:t>~19s</a:t>
            </a:r>
          </a:p>
          <a:p>
            <a:r>
              <a:t>Text in the figure: CRE definition A linear chain CREF is a distribution that takes the form l M Y|X)= Az p(Y|X) ZH infu Where Z(X) is an instance specific normalization function M Z(X) = &gt; exp ? Vn-l &gt; x, y m=1</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For a sequence of words w = {W,,W&gt;,..W,} find syntactic labels s for each word:</a:t>
            </a:r>
          </a:p>
          <a:p>
            <a:r>
              <a:t>  2. w= The quick brown fox jumped over the lazy dog</a:t>
            </a:r>
          </a:p>
          <a:p>
            <a:r>
              <a:t>  3. DET VERB ADJ NOUN-S VERB-P PREP DET ADJ NOUN-S</a:t>
            </a:r>
          </a:p>
          <a:p>
            <a:r>
              <a:t>  4. Baseline is already 90%</a:t>
            </a:r>
          </a:p>
          <a:p>
            <a:r>
              <a:t>  5. Model | Error</a:t>
            </a:r>
          </a:p>
          <a:p>
            <a:r>
              <a:t>  6. Tag every word with its most frequent tag</a:t>
            </a:r>
          </a:p>
          <a:p>
            <a:r>
              <a:t>  7. 5.69% * Tag unknown words as nouns</a:t>
            </a:r>
          </a:p>
          <a:p/>
          <a:p>
            <a:r>
              <a:t>Read these exactly (do not paraphrase):</a:t>
            </a:r>
          </a:p>
          <a:p>
            <a:r>
              <a:t>  - Part of speech tagging assigns syntactic labels to a sequence of words For a sequence of words w = {W,,W&gt;,..W,} find syntactic labels s for each word: w= The quick brown fox jumped over the lazy dog DET VERB ADJ NOUN-S VERB-P PREP DET ADJ NOUN-S Baseline is already 90% Model | Error Tag every word with its most frequent tag 5.69% * Tag unknown words as nouns Per-word error rates for POS tagging on the Penn treebank</a:t>
            </a:r>
          </a:p>
          <a:p/>
          <a:p>
            <a:r>
              <a:t>Say what these mean, in your own words:</a:t>
            </a:r>
          </a:p>
          <a:p>
            <a:r>
              <a:t>  - pos: Parts of Speech Tagging</a:t>
            </a:r>
          </a:p>
          <a:p>
            <a:r>
              <a:t>  - POS Tagging: Finding syntactic labels for each word in a sequence of words.</a:t>
            </a:r>
          </a:p>
          <a:p>
            <a:r>
              <a:t>  - Baseline model: Tagging every word with its most frequent tag to achieve basic accuracy.</a:t>
            </a:r>
          </a:p>
          <a:p/>
          <a:p>
            <a:r>
              <a:t>Pause: ask the class what they already know about “Part of speech tagging assigns syntactic labels to a sequence of words”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To label lines of text document:</a:t>
            </a:r>
          </a:p>
          <a:p>
            <a:r>
              <a:t>  2. Whether part of table and its role in table.</a:t>
            </a:r>
          </a:p>
          <a:p>
            <a:r>
              <a:t>  3. Finding tables and extracting information is necessary component of data mining, question- answering and IR tasks.</a:t>
            </a:r>
          </a:p>
          <a:p>
            <a:r>
              <a:t>  4. Table extraction determines whether text lines belong to a table and defines their roles.</a:t>
            </a:r>
          </a:p>
          <a:p>
            <a:r>
              <a:t>  5. This process is a necessary component for data mining, question-answering, and information retrieval tasks.</a:t>
            </a:r>
          </a:p>
          <a:p>
            <a:r>
              <a:t>  6. Example: Extracting financial figures from an annual report PDF table.</a:t>
            </a:r>
          </a:p>
          <a:p/>
          <a:p>
            <a:r>
              <a:t>Say what these mean, in your own words:</a:t>
            </a:r>
          </a:p>
          <a:p>
            <a:r>
              <a:t>  - Table extraction: Finding tables and extracting information from text documents.</a:t>
            </a:r>
          </a:p>
          <a:p>
            <a:r>
              <a:t>  - Data mining: The practice of examining large datasets to discover patterns.</a:t>
            </a:r>
          </a:p>
          <a:p/>
          <a:p>
            <a:r>
              <a:t>Pause: ask the class what they already know about “Table extraction identifies table lines and roles for data mining and IR”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Precursor to full parsing or information extraction</a:t>
            </a:r>
          </a:p>
          <a:p>
            <a:r>
              <a:t>  2. Identifies non-recursive cores of various phrase types in text</a:t>
            </a:r>
          </a:p>
          <a:p>
            <a:r>
              <a:t>  3. Input: words in a sentence annotated automatically with POS tags</a:t>
            </a:r>
          </a:p>
          <a:p>
            <a:r>
              <a:t>  4. Task: label each word with a label indicating</a:t>
            </a:r>
          </a:p>
          <a:p>
            <a:r>
              <a:t>  5. word is outside a chunk (O), starts a chunk (B), continues a chunk (1) NP chunks</a:t>
            </a:r>
          </a:p>
          <a:p>
            <a:r>
              <a:t>  6. Rockwell International Corp. |’s Tulsa unit] — said it] signed agreement] extending its contract with] Boeing Co. to pro</a:t>
            </a:r>
          </a:p>
          <a:p>
            <a:r>
              <a:t>  7. CRFs beat all reported single-model NP chunking results on standard evaluation dataset</a:t>
            </a:r>
          </a:p>
          <a:p/>
          <a:p>
            <a:r>
              <a:t>Read these exactly (do not paraphrase):</a:t>
            </a:r>
          </a:p>
          <a:p>
            <a:r>
              <a:t>  - Shallow parsing identifies non-recursive phrase cores using BIO labeling Precursor to full parsing or information extraction Identifies non-recursive cores of various phrase types in text Input: words in a sentence annotated automatically with POS tags Task: label each word with a label indicating word is outside a chunk (O), starts a chunk (B), continues a chunk (1) NP chunks Rockwell International Corp.</a:t>
            </a:r>
          </a:p>
          <a:p>
            <a:r>
              <a:t>  - to provide } structural parts | for] Boeing |} ’s 747 jetliners CRFs beat all reported single-model NP chunking results on standard evaluation dataset Model Voted perceptron 94.09%</a:t>
            </a:r>
          </a:p>
          <a:p/>
          <a:p>
            <a:r>
              <a:t>Say what these mean, in your own words:</a:t>
            </a:r>
          </a:p>
          <a:p>
            <a:r>
              <a:t>  - Shallow parsing: Precursor to full parsing that identifies non-recursive cores of phrase types.</a:t>
            </a:r>
          </a:p>
          <a:p>
            <a:r>
              <a:t>  - BIO labeling: Labeling words as outside a chunk, starting a chunk, or continuing a chunk.</a:t>
            </a:r>
          </a:p>
          <a:p/>
          <a:p>
            <a:r>
              <a:t>Pause: ask the class what they already know about “Shallow parsing identifies non-recursive phrase cores using BIO labeling”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Given word image and lexicon, find most probable lexical entry Algorithm Outline</a:t>
            </a:r>
          </a:p>
          <a:p>
            <a:r>
              <a:t>  2. Oversegment image</a:t>
            </a:r>
          </a:p>
          <a:p>
            <a:r>
              <a:t>  3. segment combinations are potential characters</a:t>
            </a:r>
          </a:p>
          <a:p>
            <a:r>
              <a:t>  4. Given y = a word in lexicon, s = grouping of segments,</a:t>
            </a:r>
          </a:p>
          <a:p>
            <a:r>
              <a:t>  5. x = input word image features</a:t>
            </a:r>
          </a:p>
          <a:p>
            <a:r>
              <a:t>  6. Find word in lexicon and segment grouping that maximizes</a:t>
            </a:r>
          </a:p>
          <a:p>
            <a:r>
              <a:t>  7. x), — Description</a:t>
            </a:r>
          </a:p>
          <a:p>
            <a:r>
              <a:t>  8. CRF Model</a:t>
            </a:r>
          </a:p>
          <a:p>
            <a:r>
              <a:t>  9. eV x8) m Height difference</a:t>
            </a:r>
          </a:p>
          <a:p>
            <a:r>
              <a:t>  10. Association Potential (state term) J —— AG. A</a:t>
            </a:r>
          </a:p>
          <a:p>
            <a:r>
              <a:t>  11. Interaction Potential</a:t>
            </a:r>
          </a:p>
          <a:p>
            <a:r>
              <a:t>  12. WR Rank</a:t>
            </a:r>
          </a:p>
          <a:p/>
          <a:p>
            <a:r>
              <a:t>Read these exactly (do not paraphrase):</a:t>
            </a:r>
          </a:p>
          <a:p>
            <a:r>
              <a:t>  - Handwritten word recognition maximizes lexical and segment grouping probabilities Given word image and lexicon, find most probable lexical entry Algorithm Outline Oversegment image segment combinations are potential characters Given y = a word in lexicon, s = grouping of segments, x = input word image features Find word in lexicon and segment grouping that maximizes x), — Description CRF Model eV x8) m Height difference Association Potential (state term) J —— AG.</a:t>
            </a:r>
          </a:p>
          <a:p/>
          <a:p>
            <a:r>
              <a:t>Say what these mean, in your own words:</a:t>
            </a:r>
          </a:p>
          <a:p>
            <a:r>
              <a:t>  - crf: Conditional Random Field</a:t>
            </a:r>
          </a:p>
          <a:p>
            <a:r>
              <a:t>  - Lexicon: A vocabulary or list of valid words used during recognition.</a:t>
            </a:r>
          </a:p>
          <a:p>
            <a:r>
              <a:t>  - Interaction Potential: A component evaluating relationships between states in a model.</a:t>
            </a:r>
          </a:p>
          <a:p/>
          <a:p>
            <a:r>
              <a:t>Pause: ask the class what they already know about “Handwritten word recognition maximizes lexical and segment grouping probabilities” before revealing the slide.</a:t>
            </a:r>
          </a:p>
          <a:p/>
          <a:p>
            <a:r>
              <a:t>Wording matters here — slow down, keep it precise.</a:t>
            </a:r>
          </a:p>
          <a:p/>
          <a:p>
            <a:r>
              <a:t>~96s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Handwritten Word Recognition (continued)</a:t>
            </a:r>
          </a:p>
          <a:p/>
          <a:p>
            <a:r>
              <a:t>Pause: ask the class what they already know about “Handwritten Word Recognition (continued)” before revealing the slide.</a:t>
            </a:r>
          </a:p>
          <a:p/>
          <a:p>
            <a:r>
              <a:t>Wording matters here — slow down, keep it precise.</a:t>
            </a:r>
          </a:p>
          <a:p/>
          <a:p>
            <a:r>
              <a:t>~19s</a:t>
            </a:r>
          </a:p>
          <a:p>
            <a:r>
              <a:t>Text in the figure: Document Zoning (labeling regions) error rates Neural Naive Network /|Bayes 2.35% 11.54% 20.90% 25.04% Noise |10.20% Total 7.04% 12.58%</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You may have observed that there are no probabilities on the right side of the equation where we have the weights and fe</a:t>
            </a:r>
          </a:p>
          <a:p>
            <a:r>
              <a:t>  2. However, the output is expected to be a probability and hence there is a need for normalization.</a:t>
            </a:r>
          </a:p>
          <a:p>
            <a:r>
              <a:t>  3. The normalization constant Z(x) is a sum of all possible state sequences such that the total becomes 1.</a:t>
            </a:r>
          </a:p>
          <a:p>
            <a:r>
              <a:t>  4. 2.Weights and Features:</a:t>
            </a:r>
          </a:p>
          <a:p>
            <a:r>
              <a:t>  5. This component can be thought of as the logistic regression formula with weights and the corresponding features.</a:t>
            </a:r>
          </a:p>
          <a:p>
            <a:r>
              <a:t>  6. The weight estimation is performed by maximum likelihood estimation and the features are defined by us.</a:t>
            </a:r>
          </a:p>
          <a:p/>
          <a:p>
            <a:r>
              <a:t>Read these exactly (do not paraphrase):</a:t>
            </a:r>
          </a:p>
          <a:p>
            <a:r>
              <a:t>  - The normalization constant Z(x) is a sum of all possible state sequences such that the total becomes 1.</a:t>
            </a:r>
          </a:p>
          <a:p/>
          <a:p>
            <a:r>
              <a:t>Say what these mean, in your own words:</a:t>
            </a:r>
          </a:p>
          <a:p>
            <a:r>
              <a:t>  - Normalization constant: A sum of all possible state sequences ensuring total probability equals one.</a:t>
            </a:r>
          </a:p>
          <a:p>
            <a:r>
              <a:t>  - Maximum likelihood estimation: A method used for weight estimation in models.</a:t>
            </a:r>
          </a:p>
          <a:p/>
          <a:p>
            <a:r>
              <a:t>Pause: ask the class what they already know about “Normalization uses a partition function to ensure outputs represent probabilities”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 sequence of words that acts as a single unit</a:t>
            </a:r>
          </a:p>
          <a:p>
            <a:r>
              <a:t>  2. Noun phrases</a:t>
            </a:r>
          </a:p>
          <a:p>
            <a:r>
              <a:t>  3. Verb phrases</a:t>
            </a:r>
          </a:p>
          <a:p>
            <a:r>
              <a:t>  4. These units form coherent classes that behave in similar ways</a:t>
            </a:r>
          </a:p>
          <a:p>
            <a:r>
              <a:t>  5. For example, we can say that noun phrases can come before verbs</a:t>
            </a:r>
          </a:p>
          <a:p>
            <a:r>
              <a:t>  6. Sequences of words can act as single units called constituents, such as noun phrases or verb phrases.</a:t>
            </a:r>
          </a:p>
          <a:p>
            <a:r>
              <a:t>  7. These units form coherent classes that behave in similar ways within sentences.</a:t>
            </a:r>
          </a:p>
          <a:p/>
          <a:p>
            <a:r>
              <a:t>Say what these mean, in your own words:</a:t>
            </a:r>
          </a:p>
          <a:p>
            <a:r>
              <a:t>  - Constituency: A sequence of words that acts as a single unit.</a:t>
            </a:r>
          </a:p>
          <a:p>
            <a:r>
              <a:t>  - Noun phrase: A phrase that functions as a noun, often coming before verbs.</a:t>
            </a:r>
          </a:p>
          <a:p/>
          <a:p>
            <a:r>
              <a:t>Pause: ask the class what they already know about “Constituency groups word sequences into single functional units like phrases”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For example, following are all noun phrases in English...</a:t>
            </a:r>
          </a:p>
          <a:p>
            <a:r>
              <a:t>  2. Why? One piece of evidence is that they can all</a:t>
            </a:r>
          </a:p>
          <a:p>
            <a:r>
              <a:t>  3. Specific word sequences in English act as noun phrases because they share common distributional behaviors and syntactic </a:t>
            </a:r>
          </a:p>
          <a:p>
            <a:r>
              <a:t>  4. They serve as concrete examples of constituency principles in natural language.</a:t>
            </a:r>
          </a:p>
          <a:p>
            <a:r>
              <a:t>  5. Example: Phrases like 'the book' and 'a very clever student' functioning as noun phrases.</a:t>
            </a:r>
          </a:p>
          <a:p/>
          <a:p>
            <a:r>
              <a:t>Say what these mean, in your own words:</a:t>
            </a:r>
          </a:p>
          <a:p>
            <a:r>
              <a:t>  - Noun phrases: Constituents that act as single noun units in English.</a:t>
            </a:r>
          </a:p>
          <a:p>
            <a:r>
              <a:t>  - Evidence: Proof that phrases share similar grammatical behaviors.</a:t>
            </a:r>
          </a:p>
          <a:p/>
          <a:p>
            <a:r>
              <a:t>Pause: ask the class what they already know about “English noun phrases demonstrate constituency through shared grammatical behavior”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There are different kinds of constituents:</a:t>
            </a:r>
          </a:p>
          <a:p>
            <a:r>
              <a:t>  2. Noun phrases: the man, a girl with glasses, Illinois</a:t>
            </a:r>
          </a:p>
          <a:p>
            <a:r>
              <a:t>  3. Prepositional phrases: with glasses, in the garden</a:t>
            </a:r>
          </a:p>
          <a:p>
            <a:r>
              <a:t>  4. Verb phrases: eat sushi, sleep, sleep soundly</a:t>
            </a:r>
          </a:p>
          <a:p>
            <a:r>
              <a:t>  5. Every phrase has a head:</a:t>
            </a:r>
          </a:p>
          <a:p>
            <a:r>
              <a:t>  6. The other parts are its dependents.</a:t>
            </a:r>
          </a:p>
          <a:p>
            <a:r>
              <a:t>  7. Dependents are either arguments or adjuncts</a:t>
            </a:r>
          </a:p>
          <a:p/>
          <a:p>
            <a:r>
              <a:t>Say what these mean, in your own words:</a:t>
            </a:r>
          </a:p>
          <a:p>
            <a:r>
              <a:t>  - Head: The core element of a phrase that determines its category.</a:t>
            </a:r>
          </a:p>
          <a:p>
            <a:r>
              <a:t>  - Dependents: The other parts of a phrase that are either arguments or adjuncts.</a:t>
            </a:r>
          </a:p>
          <a:p/>
          <a:p>
            <a:r>
              <a:t>Pause: ask the class what they already know about “Constituents consist of heads and dependents which form various phrase types”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Phrase structure organizes words into nested constituents</a:t>
            </a:r>
          </a:p>
          <a:p>
            <a:r>
              <a:t>  2. Starting units: words are given a category: part-of-speech tags</a:t>
            </a:r>
          </a:p>
          <a:p>
            <a:r>
              <a:t>  3. the, cuddly, cat, by, the, door Det, Adj, N, P, Det, N</a:t>
            </a:r>
          </a:p>
          <a:p>
            <a:r>
              <a:t>  4. Words combine into phrases with categories</a:t>
            </a:r>
          </a:p>
          <a:p>
            <a:r>
              <a:t>  5. the cuddly cat, by the door NP—Det NP</a:t>
            </a:r>
          </a:p>
          <a:p>
            <a:r>
              <a:t>  6. Phrases can combine into bigger phrases recursively</a:t>
            </a:r>
          </a:p>
          <a:p>
            <a:r>
              <a:t>  7. the cuddly cat by the door NP— NP PP</a:t>
            </a:r>
          </a:p>
          <a:p/>
          <a:p>
            <a:r>
              <a:t>Say what these mean, in your own words:</a:t>
            </a:r>
          </a:p>
          <a:p>
            <a:r>
              <a:t>  - Constituency structure: The organization of words into nested constituents and phrase categories.</a:t>
            </a:r>
          </a:p>
          <a:p>
            <a:r>
              <a:t>  - Recursive: The ability of phrases to combine into bigger phrases repeatedly.</a:t>
            </a:r>
          </a:p>
          <a:p/>
          <a:p>
            <a:r>
              <a:t>Pause: ask the class what they already know about “Constituency structure organizes words into nested recursive phrase categories”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“Is string Α a CONSTITUENT?” before revealing the slide.</a:t>
            </a:r>
          </a:p>
          <a:p/>
          <a:p>
            <a:r>
              <a:t>~19s</a:t>
            </a:r>
          </a:p>
          <a:p>
            <a:r>
              <a:t>Text in the figure: He talks [in class].</a:t>
            </a:r>
          </a:p>
          <a:p>
            <a:r>
              <a:t>Substitution test:</a:t>
            </a:r>
          </a:p>
          <a:p>
            <a:r>
              <a:t>Can a be replaced by a single word?</a:t>
            </a:r>
          </a:p>
          <a:p>
            <a:r>
              <a:t>He talks [there].</a:t>
            </a:r>
          </a:p>
          <a:p>
            <a:r>
              <a:t>Movement test:</a:t>
            </a:r>
          </a:p>
          <a:p>
            <a:r>
              <a:t>Can a be moved around in the sentence?</a:t>
            </a:r>
          </a:p>
          <a:p>
            <a:r>
              <a:t>[In class], he talks.</a:t>
            </a:r>
          </a:p>
          <a:p>
            <a:r>
              <a:t>Answer test:</a:t>
            </a:r>
          </a:p>
          <a:p>
            <a:r>
              <a:t>Can a be the answer to a question?</a:t>
            </a:r>
          </a:p>
          <a:p>
            <a:r>
              <a:t>Where does he talk? - [In class].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(continued)</a:t>
            </a:r>
          </a:p>
          <a:p/>
          <a:p>
            <a:r>
              <a:t>Pause: ask the class what they already know about “Is string Α a CONSTITUENT? (continued)” before revealing the slide.</a:t>
            </a:r>
          </a:p>
          <a:p/>
          <a:p>
            <a:r>
              <a:t>Wording matters here — slow down, keep it precise.</a:t>
            </a:r>
          </a:p>
          <a:p/>
          <a:p>
            <a:r>
              <a:t>~19s</a:t>
            </a:r>
          </a:p>
          <a:p>
            <a:r>
              <a:t>Text in the figure: This Thursday Dependency structure Dependency structure shows which words depend on (modify or are arguments of) which other words. nmod nsubj dobj case Satellites spot whales from space Satellites spot whales from space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We need to understand sentence structure in order to be able to interpret language correctly</a:t>
            </a:r>
          </a:p>
          <a:p>
            <a:r>
              <a:t>  2. Human communicate complex ideas by composing words together into bigger units</a:t>
            </a:r>
          </a:p>
          <a:p>
            <a:r>
              <a:t>  3. We need to know what is connected to what</a:t>
            </a:r>
          </a:p>
          <a:p>
            <a:r>
              <a:t>  4. Sentence structure is necessary to interpret language correctly because humans communicate complex ideas by composing wo</a:t>
            </a:r>
          </a:p>
          <a:p>
            <a:r>
              <a:t>  5. We need to know what is connected to what to properly understand the intended meaning.</a:t>
            </a:r>
          </a:p>
          <a:p>
            <a:r>
              <a:t>  6. Example: Grouping words together lets us know which modifier connects to which noun.</a:t>
            </a:r>
          </a:p>
          <a:p/>
          <a:p>
            <a:r>
              <a:t>Say what these mean, in your own words:</a:t>
            </a:r>
          </a:p>
          <a:p>
            <a:r>
              <a:t>  - Sentence structure: The arrangement of words into bigger units to communicate complex ideas.</a:t>
            </a:r>
          </a:p>
          <a:p/>
          <a:p>
            <a:r>
              <a:t>Pause: ask the class what they already know about “Sentence structure is necessary to interpret language correctly and understand connections”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 CFG defines a formal language = the set of all sentences (strings of words) that can be derived by the grammar.</a:t>
            </a:r>
          </a:p>
          <a:p>
            <a:r>
              <a:t>  2. Sentences in this set said to be grammatical.</a:t>
            </a:r>
          </a:p>
          <a:p>
            <a:r>
              <a:t>  3. Sentences outside this set said to be ungrammatical</a:t>
            </a:r>
          </a:p>
          <a:p>
            <a:r>
              <a:t>  4. A context-free grammar defines a formal language by establishing the set of all sentences that can be derived by the gra</a:t>
            </a:r>
          </a:p>
          <a:p>
            <a:r>
              <a:t>  5. Sentences generated within this set are grammatical, while sentences outside of it are ungrammatical.</a:t>
            </a:r>
          </a:p>
          <a:p>
            <a:r>
              <a:t>  6. Example: Valid word combinations form grammatical sentences, while random sequences are ungrammatical.</a:t>
            </a:r>
          </a:p>
          <a:p/>
          <a:p>
            <a:r>
              <a:t>Read these exactly (do not paraphrase):</a:t>
            </a:r>
          </a:p>
          <a:p>
            <a:r>
              <a:t>  - A context-free grammar defines a formal language of grammatical sentences A CFG defines a formal language = the set of all sentences (strings of words) that can be derived by the grammar.</a:t>
            </a:r>
          </a:p>
          <a:p/>
          <a:p>
            <a:r>
              <a:t>Say what these mean, in your own words:</a:t>
            </a:r>
          </a:p>
          <a:p>
            <a:r>
              <a:t>  - CFG: A grammar that defines a formal language through a set of derivable sentences.</a:t>
            </a:r>
          </a:p>
          <a:p/>
          <a:p>
            <a:r>
              <a:t>Pause: ask the class what they already know about “A context-free grammar defines a formal language of grammatical sentences”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 is set of terminals (lexicon)</a:t>
            </a:r>
          </a:p>
          <a:p>
            <a:r>
              <a:t>  2. N is set of non-terminals For NLP, we usually distinguish out a set P CN of preterminals which always rewrite as termina</a:t>
            </a:r>
          </a:p>
          <a:p>
            <a:r>
              <a:t>  3. S is start symbol (one of the nonterminals)</a:t>
            </a:r>
          </a:p>
          <a:p>
            <a:r>
              <a:t>  4. R is rules/productions of the form X — where X is a nonterminal and 7 is a sequence of terminals and nonterminals (may b</a:t>
            </a:r>
          </a:p>
          <a:p>
            <a:r>
              <a:t>  5. A grammar G generates a language L.</a:t>
            </a:r>
          </a:p>
          <a:p/>
          <a:p>
            <a:r>
              <a:t>Read these exactly (do not paraphrase):</a:t>
            </a:r>
          </a:p>
          <a:p>
            <a:r>
              <a:t>  - Why do we need sentence structure?: T is set T is set of terminals (lexicon) N is set of non-terminals For NLP, we usually distinguish out a set P CN of preterminals which always rewrite as terminals.</a:t>
            </a:r>
          </a:p>
          <a:p>
            <a:r>
              <a:t>  - S is start symbol (one of the nonterminals) R is rules/productions of the form X — where X is a nonterminal and 7 is a sequence of terminals and nonterminals (may be empty).</a:t>
            </a:r>
          </a:p>
          <a:p/>
          <a:p>
            <a:r>
              <a:t>Pause: ask the class what they already know about “Why do we need sentence structure?: T is set” before revealing the slide.</a:t>
            </a:r>
          </a:p>
          <a:p/>
          <a:p>
            <a:r>
              <a:t>Wording matters here — slow down, keep it precise.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“An example CONTEXT-FREE grammar” before revealing the slide.</a:t>
            </a:r>
          </a:p>
          <a:p/>
          <a:p>
            <a:r>
              <a:t>~19s</a:t>
            </a:r>
          </a:p>
          <a:p>
            <a:r>
              <a:t>Text in the figure: G =(T,N,S,R) T = {that, this, a, the, man, book, flight, meal, include, read, does} N = {S, NP, NOM, VP, Det, Noun, Verb, Aux} S=S R={ S — NP VP Det — that | a| the S — Aux NP VP Noun — book | flight | meal | man S— VP Verb — book | include | read NP — Det NOM Aux — does NOM — Noun NOM — Noun NOM VP — Verb VP — Verb NP</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An example CONTEXT-FREE grammar (continued)</a:t>
            </a:r>
          </a:p>
          <a:p/>
          <a:p>
            <a:r>
              <a:t>Pause: ask the class what they already know about “An example CONTEXT-FREE grammar (continued)” before revealing the slide.</a:t>
            </a:r>
          </a:p>
          <a:p/>
          <a:p>
            <a:r>
              <a:t>Wording matters here — slow down, keep it precise.</a:t>
            </a:r>
          </a:p>
          <a:p/>
          <a:p>
            <a:r>
              <a:t>~19s</a:t>
            </a:r>
          </a:p>
          <a:p>
            <a:r>
              <a:t>Text in the figure: A Context-Free Grammar for English N = {S, NP, VP, PP, DT, Vi, Vt, NN, IN} S=S = {sleeps, saw, man, woman, telescope, the, with, in} R= Vi sleeps Vt — = saw NN — man NN — woman NN —_ telescope NP — DT NN NN — dog NP -— PP DT — the PP — IN NP IN — with IN — in Grammar Lexicon S:sentence, VP:verb phrase, NP: noun phrase, PP:prepositional phrase, DT:determiner, Vi:intransitive verb, Vt:transitive verb, NN: noun, IN:preposition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“Application of grammar rewrite rules” before revealing the slide.</a:t>
            </a:r>
          </a:p>
          <a:p/>
          <a:p>
            <a:r>
              <a:t>~19s</a:t>
            </a:r>
          </a:p>
          <a:p>
            <a:r>
              <a:t>Text in the figure: S — NP VP Det — that | a| the S — Aux NP VP Noun — book | flight | meal | man S— VP Verb — book | include | read NP — Det NOM Aux — does NOM —} Noun NOM — Noun NOM VP — Verb VP — Verb NP S — NP VP Det NOM VP The NOM VP The Noun VP The man VP The man Verb NP The man read NP The man read Det NOM The man read this NOM The man read this Noun The man read this book</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“L0 grammar” before revealing the slide.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All the morning flights from Denver to Tampa leaving before 10</a:t>
            </a:r>
          </a:p>
          <a:p>
            <a:r>
              <a:t>  2. Clearly this NP is really about flights. That’s the central critical noun in this NP. Such word is called as the head.</a:t>
            </a:r>
          </a:p>
          <a:p>
            <a:r>
              <a:t>  3. We can dissect this kind of NP into the stuff that can come before the head, and the stuff that can come after it.</a:t>
            </a:r>
          </a:p>
          <a:p/>
          <a:p>
            <a:r>
              <a:t>Say what these mean, in your own words:</a:t>
            </a:r>
          </a:p>
          <a:p>
            <a:r>
              <a:t>  - Head: The central critical noun that an entire noun phrase is really about.</a:t>
            </a:r>
          </a:p>
          <a:p>
            <a:r>
              <a:t>  - NP: A noun phrase that can be dissected into material coming before and after the head.</a:t>
            </a:r>
          </a:p>
          <a:p/>
          <a:p>
            <a:r>
              <a:t>Pause: ask the class what they already know about “Noun phrase structure centers around a head noun with surrounding modifiers” before revealing the slide.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Noun phrases can start with determiners...</a:t>
            </a:r>
          </a:p>
          <a:p>
            <a:r>
              <a:t>  2. Determiners can be</a:t>
            </a:r>
          </a:p>
          <a:p>
            <a:r>
              <a:t>  3. Simple lexical items: the, this, a, an, etc.</a:t>
            </a:r>
          </a:p>
          <a:p>
            <a:r>
              <a:t>  4. A car</a:t>
            </a:r>
          </a:p>
          <a:p>
            <a:r>
              <a:t>  5. Or simple possessives</a:t>
            </a:r>
          </a:p>
          <a:p>
            <a:r>
              <a:t>  6. John’s car</a:t>
            </a:r>
          </a:p>
          <a:p>
            <a:r>
              <a:t>  7. Or complex recursive versions of that</a:t>
            </a:r>
          </a:p>
          <a:p/>
          <a:p>
            <a:r>
              <a:t>Say what these mean, in your own words:</a:t>
            </a:r>
          </a:p>
          <a:p>
            <a:r>
              <a:t>  - Determiner: An introductory element of a noun phrase like an article or possessive.</a:t>
            </a:r>
          </a:p>
          <a:p/>
          <a:p>
            <a:r>
              <a:t>Pause: ask the class what they already know about “Determiners start noun phrases as simple items, possessives, or recursive versions”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Contains the head and any pre- and post- modifiers of the head.</a:t>
            </a:r>
          </a:p>
          <a:p>
            <a:r>
              <a:t>  2. Pre-</a:t>
            </a:r>
          </a:p>
          <a:p>
            <a:r>
              <a:t>  3. Quantifiers, cardinals, ordinals...</a:t>
            </a:r>
          </a:p>
          <a:p>
            <a:r>
              <a:t>  4. Three cars</a:t>
            </a:r>
          </a:p>
          <a:p>
            <a:r>
              <a:t>  5. Adjectives and Aps</a:t>
            </a:r>
          </a:p>
          <a:p>
            <a:r>
              <a:t>  6. large cars</a:t>
            </a:r>
          </a:p>
          <a:p>
            <a:r>
              <a:t>  7. Ordering constraints</a:t>
            </a:r>
          </a:p>
          <a:p/>
          <a:p>
            <a:r>
              <a:t>Say what these mean, in your own words:</a:t>
            </a:r>
          </a:p>
          <a:p>
            <a:r>
              <a:t>  - Nominal: The part of a noun phrase containing the head and its modifiers.</a:t>
            </a:r>
          </a:p>
          <a:p/>
          <a:p>
            <a:r>
              <a:t>Pause: ask the class what they already know about “Nominals contain the head noun and its various pre- and post-modifiers”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Three kinds</a:t>
            </a:r>
          </a:p>
          <a:p>
            <a:r>
              <a:t>  2. Prepositional phrases</a:t>
            </a:r>
          </a:p>
          <a:p>
            <a:r>
              <a:t>  3. Flights from Seattle</a:t>
            </a:r>
          </a:p>
          <a:p>
            <a:r>
              <a:t>  4. Non-finite clauses</a:t>
            </a:r>
          </a:p>
          <a:p>
            <a:r>
              <a:t>  5. Flights arriving before noon</a:t>
            </a:r>
          </a:p>
          <a:p>
            <a:r>
              <a:t>  6. Relative clauses</a:t>
            </a:r>
          </a:p>
          <a:p>
            <a:r>
              <a:t>  7. Flights that serve breakfast</a:t>
            </a:r>
          </a:p>
          <a:p/>
          <a:p>
            <a:r>
              <a:t>Read these exactly (do not paraphrase):</a:t>
            </a:r>
          </a:p>
          <a:p>
            <a:r>
              <a:t>  - Postmodifiers expand nominals using prepositional phrases, non-finite clauses, or relative clauses Three kinds Prepositional phrases Flights from Seattle Non-finite clauses Flights arriving before noon Relative clauses Flights that serve breakfast Same general (recursive) rule to handle these Nominal →Nominal PP Nominal →Nominal GerundVP Nominal →Nominal RelClause Postmodifiers come after the head and add more detail using prepositional phrases, non-finite clauses, or relative clauses.</a:t>
            </a:r>
          </a:p>
          <a:p/>
          <a:p>
            <a:r>
              <a:t>Say what these mean, in your own words:</a:t>
            </a:r>
          </a:p>
          <a:p>
            <a:r>
              <a:t>  - Postmodifier: A phrase or clause that follows the head noun inside a nominal.</a:t>
            </a:r>
          </a:p>
          <a:p/>
          <a:p>
            <a:r>
              <a:t>Pause: ask the class what they already know about “Postmodifiers expand nominals using prepositional phrases, non-finite clauses, or relative clauses”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Constraints that hold among various constituents.</a:t>
            </a:r>
          </a:p>
          <a:p>
            <a:r>
              <a:t>  2. For example, in English, determiners and the head nouns in NPs have to agree in their number.</a:t>
            </a:r>
          </a:p>
          <a:p>
            <a:r>
              <a:t>  3. Which of the following cannot be parsed by the rule</a:t>
            </a:r>
          </a:p>
          <a:p>
            <a:r>
              <a:t>  4. NP →Det Nominal?</a:t>
            </a:r>
          </a:p>
          <a:p>
            <a:r>
              <a:t>  5. This rule does not handle agreement! (The rule does not detect whether the agreement is correct or not.)</a:t>
            </a:r>
          </a:p>
          <a:p>
            <a:r>
              <a:t>  6. (O) This flight</a:t>
            </a:r>
          </a:p>
          <a:p>
            <a:r>
              <a:t>  7. (X) This flights</a:t>
            </a:r>
          </a:p>
          <a:p/>
          <a:p>
            <a:r>
              <a:t>Read these exactly (do not paraphrase):</a:t>
            </a:r>
          </a:p>
          <a:p>
            <a:r>
              <a:t>  - (The rule does not detect whether the agreement is correct or not.)</a:t>
            </a:r>
          </a:p>
          <a:p>
            <a:r>
              <a:t>  - (O) This flight (X) This flights (O) Those flights (X) Those flight</a:t>
            </a:r>
          </a:p>
          <a:p/>
          <a:p>
            <a:r>
              <a:t>Say what these mean, in your own words:</a:t>
            </a:r>
          </a:p>
          <a:p>
            <a:r>
              <a:t>  - Agreement: Constraints holding among constituents, such as matching number between determiners and head nouns.</a:t>
            </a:r>
          </a:p>
          <a:p/>
          <a:p>
            <a:r>
              <a:t>Pause: ask the class what they already know about “Basic NP rules fail because determiners and head nouns require number agreement”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Our earlier NP rules are clearly deficient since they don’t capture the agreement constraint</a:t>
            </a:r>
          </a:p>
          <a:p>
            <a:r>
              <a:t>  2. NP →Det Nominal</a:t>
            </a:r>
          </a:p>
          <a:p>
            <a:r>
              <a:t>  3. Accepts, and assigns correct structures, to grammatical examples (this flight)</a:t>
            </a:r>
          </a:p>
          <a:p>
            <a:r>
              <a:t>  4. But its also happy with incorrect examples (*these flight)</a:t>
            </a:r>
          </a:p>
          <a:p>
            <a:r>
              <a:t>  5. Such a rule is said to overgenerate.</a:t>
            </a:r>
          </a:p>
          <a:p>
            <a:r>
              <a:t>  6. We’ll come back to this in a bit</a:t>
            </a:r>
          </a:p>
          <a:p/>
          <a:p>
            <a:r>
              <a:t>Read these exactly (do not paraphrase):</a:t>
            </a:r>
          </a:p>
          <a:p>
            <a:r>
              <a:t>  - Early noun phrase rules overgenerate by accepting incorrect number agreement examples Our earlier NP rules are clearly deficient since they don’t capture the agreement constraint NP →Det Nominal Accepts, and assigns correct structures, to grammatical examples (this flight) But its also happy with incorrect examples (*these flight) Such a rule is said to overgenerate.</a:t>
            </a:r>
          </a:p>
          <a:p/>
          <a:p>
            <a:r>
              <a:t>Say what these mean, in your own words:</a:t>
            </a:r>
          </a:p>
          <a:p>
            <a:r>
              <a:t>  - Overgeneration: The property of a grammar rule accepting incorrect examples alongside grammatical ones.</a:t>
            </a:r>
          </a:p>
          <a:p/>
          <a:p>
            <a:r>
              <a:t>Pause: ask the class what they already know about “Early noun phrase rules overgenerate by accepting incorrect number agreement examples”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English VPs consist of a head verb along with 0 or more following constituents which we’ll call arguments.</a:t>
            </a:r>
          </a:p>
          <a:p>
            <a:r>
              <a:t>  2. English VPs consist of a head verb along with zero or more following constituents called arguments.</a:t>
            </a:r>
          </a:p>
          <a:p>
            <a:r>
              <a:t>  3. These arguments complete or modify the action expressed by the verb.</a:t>
            </a:r>
          </a:p>
          <a:p>
            <a:r>
              <a:t>  4. Example: A verb followed by a direct object forms a verb phrase with an argument.</a:t>
            </a:r>
          </a:p>
          <a:p/>
          <a:p>
            <a:r>
              <a:t>Say what these mean, in your own words:</a:t>
            </a:r>
          </a:p>
          <a:p>
            <a:r>
              <a:t>  - Arguments: Constituents that follow the head verb in a verb phrase.</a:t>
            </a:r>
          </a:p>
          <a:p/>
          <a:p>
            <a:r>
              <a:t>Pause: ask the class what they already know about “English verb phrases consist of a head verb and following arguments” before revealing the slide.</a:t>
            </a:r>
          </a:p>
          <a:p/>
          <a:p>
            <a:r>
              <a:t>~40s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But, even though there are many valid VP rules in English, not all verbs are allowed to participate in all those VP rule</a:t>
            </a:r>
          </a:p>
          <a:p>
            <a:r>
              <a:t>  2. We can subcategorize the verbs in a language according to the sets of VP rules that they participate in.</a:t>
            </a:r>
          </a:p>
          <a:p>
            <a:r>
              <a:t>  3. This is a modern take on the traditional notion of transitive/intransitive.</a:t>
            </a:r>
          </a:p>
          <a:p>
            <a:r>
              <a:t>  4. Modern grammars may have 100s or such classes.</a:t>
            </a:r>
          </a:p>
          <a:p/>
          <a:p>
            <a:r>
              <a:t>Say what these mean, in your own words:</a:t>
            </a:r>
          </a:p>
          <a:p>
            <a:r>
              <a:t>  - Subcategorization: Classifying verbs according to the sets of verb phrase rules they participate in.</a:t>
            </a:r>
          </a:p>
          <a:p/>
          <a:p>
            <a:r>
              <a:t>Pause: ask the class what they already know about “Verbs are subcategorized based on the specific verb phrase rules they follow” before revealing the slide.</a:t>
            </a:r>
          </a:p>
          <a:p/>
          <a:p>
            <a:r>
              <a:t>~40s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Sneeze: John sneezed</a:t>
            </a:r>
          </a:p>
          <a:p>
            <a:r>
              <a:t>  2. Find: Please find [a flight to NY]NP</a:t>
            </a:r>
          </a:p>
          <a:p>
            <a:r>
              <a:t>  3. Give: Give [me]NP[a cheaper fare]NP</a:t>
            </a:r>
          </a:p>
          <a:p>
            <a:r>
              <a:t>  4. Help: Can you help [me]NP[with a flight]PP</a:t>
            </a:r>
          </a:p>
          <a:p>
            <a:r>
              <a:t>  5. Prefer: I prefer [to leave earlier]TO-VP</a:t>
            </a:r>
          </a:p>
          <a:p>
            <a:r>
              <a:t>  6. Told: I was told [United has a flight]S</a:t>
            </a:r>
          </a:p>
          <a:p>
            <a:r>
              <a:t>  7. ⚫…</a:t>
            </a:r>
          </a:p>
          <a:p/>
          <a:p>
            <a:r>
              <a:t>Say what these mean, in your own words:</a:t>
            </a:r>
          </a:p>
          <a:p>
            <a:r>
              <a:t>  - Subcategorization: The classification of verbs based on the specific types of syntactic arguments they require.</a:t>
            </a:r>
          </a:p>
          <a:p/>
          <a:p>
            <a:r>
              <a:t>Pause: ask the class what they already know about “Subcategorization: Sneeze”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⚫*John sneezed the book ⚫*I prefer United has a flight ⚫*Give with a flight</a:t>
            </a:r>
          </a:p>
          <a:p>
            <a:r>
              <a:t>  2. As with agreement phenomena, we need a way to formally express the constraints!</a:t>
            </a:r>
          </a:p>
          <a:p>
            <a:r>
              <a:t>  3. Certain verb and argument combinations are ungrammatical and must be restricted by formal constraints.</a:t>
            </a:r>
          </a:p>
          <a:p>
            <a:r>
              <a:t>  4. Just like agreement phenomena, language systems need rules to rule out invalid structures.</a:t>
            </a:r>
          </a:p>
          <a:p>
            <a:r>
              <a:t>  5. This prevents verbs from pairing with incompatible phrases.</a:t>
            </a:r>
          </a:p>
          <a:p>
            <a:r>
              <a:t>  6. Example: Writing *John sneezed the book violates the verb's subcategorization frame.</a:t>
            </a:r>
          </a:p>
          <a:p/>
          <a:p>
            <a:r>
              <a:t>Say what these mean, in your own words:</a:t>
            </a:r>
          </a:p>
          <a:p>
            <a:r>
              <a:t>  - Constraint: A formal rule that restricts allowable combinations in a grammar to ensure grammaticality.</a:t>
            </a:r>
          </a:p>
          <a:p/>
          <a:p>
            <a:r>
              <a:t>Pause: ask the class what they already know about “Grammars require formal constraints to prevent ungrammatical verb combinations”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WHY?</a:t>
            </a:r>
          </a:p>
          <a:p>
            <a:r>
              <a:t>  2. Right now, the various rules for VPs overgenerate.</a:t>
            </a:r>
          </a:p>
          <a:p>
            <a:r>
              <a:t>  3. They permit the presence of strings containing verbs and arguments that don’t go together</a:t>
            </a:r>
          </a:p>
          <a:p>
            <a:r>
              <a:t>  4. For example</a:t>
            </a:r>
          </a:p>
          <a:p>
            <a:r>
              <a:t>  5. VP -&gt; V NP therefore Sneezed the book is a VP since “sneeze” is a verb and “the book” is a valid NP</a:t>
            </a:r>
          </a:p>
          <a:p/>
          <a:p>
            <a:r>
              <a:t>Say what these mean, in your own words:</a:t>
            </a:r>
          </a:p>
          <a:p>
            <a:r>
              <a:t>  - Overgeneration: When a grammar incorrectly produces ungrammatical sentences or invalid structures.</a:t>
            </a:r>
          </a:p>
          <a:p/>
          <a:p>
            <a:r>
              <a:t>Pause: ask the class what they already know about “Basic verb phrase rules overgenerate invalid argument combinations” before revealing the slide.</a:t>
            </a:r>
          </a:p>
          <a:p/>
          <a:p>
            <a:r>
              <a:t>~47s</a:t>
            </a:r>
          </a:p>
          <a:p>
            <a:r>
              <a:t>Ask the class: Where could you break this chain of events?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SgS -&gt; SgNP SgVP</a:t>
            </a:r>
          </a:p>
          <a:p>
            <a:r>
              <a:t>  2. Possible solution for</a:t>
            </a:r>
          </a:p>
          <a:p>
            <a:r>
              <a:t>  3. PlS -&gt; PlNp PlVP</a:t>
            </a:r>
          </a:p>
          <a:p>
            <a:r>
              <a:t>  4. agreement.</a:t>
            </a:r>
          </a:p>
          <a:p>
            <a:r>
              <a:t>  5. SgNP -&gt; SgDet SgNom</a:t>
            </a:r>
          </a:p>
          <a:p>
            <a:r>
              <a:t>  6. Can use the same trick for</a:t>
            </a:r>
          </a:p>
          <a:p>
            <a:r>
              <a:t>  7. PlNP -&gt; PlDet PlNom</a:t>
            </a:r>
          </a:p>
          <a:p/>
          <a:p>
            <a:r>
              <a:t>Say what these mean, in your own words:</a:t>
            </a:r>
          </a:p>
          <a:p>
            <a:r>
              <a:t>  - Context-Free Grammar: A set of recursive rules used to generate possible phrase structures in a language.</a:t>
            </a:r>
          </a:p>
          <a:p/>
          <a:p>
            <a:r>
              <a:t>Pause: ask the class what they already know about “Context-free grammar rules can enforce agreement and verb classes”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It works and stays within the power of CFGs</a:t>
            </a:r>
          </a:p>
          <a:p>
            <a:r>
              <a:t>  2. And it doesn’t scale all that well because of the interaction among the various constraints explodes the number of rules</a:t>
            </a:r>
          </a:p>
          <a:p>
            <a:r>
              <a:t>  3. While splitting non-terminals works within the power of context-free grammars, it does not scale well.</a:t>
            </a:r>
          </a:p>
          <a:p>
            <a:r>
              <a:t>  4. The interaction among various linguistic constraints causes an explosion in the number of rules.</a:t>
            </a:r>
          </a:p>
          <a:p>
            <a:r>
              <a:t>  5. Consequently, the grammar becomes too large and complex to manage easily.</a:t>
            </a:r>
          </a:p>
          <a:p>
            <a:r>
              <a:t>  6. Example: Adding every feature combination multiplies grammar rules into the thousands.</a:t>
            </a:r>
          </a:p>
          <a:p/>
          <a:p>
            <a:r>
              <a:t>Say what these mean, in your own words:</a:t>
            </a:r>
          </a:p>
          <a:p>
            <a:r>
              <a:t>  - Scalability: The ability of a grammar system to handle growing complexity without exploding in size.</a:t>
            </a:r>
          </a:p>
          <a:p/>
          <a:p>
            <a:r>
              <a:t>Pause: ask the class what they already know about “Multiplying context-free grammar rules causes severe scalability issues”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CFG solution for agreement (continued)</a:t>
            </a:r>
          </a:p>
          <a:p/>
          <a:p>
            <a:r>
              <a:t>Pause: ask the class what they already know about “CFG solution for agreement (continued)” before revealing the slide.</a:t>
            </a:r>
          </a:p>
          <a:p/>
          <a:p>
            <a:r>
              <a:t>Wording matters here — slow down, keep it precise.</a:t>
            </a:r>
          </a:p>
          <a:p/>
          <a:p>
            <a:r>
              <a:t>~19s</a:t>
            </a:r>
          </a:p>
          <a:p>
            <a:r>
              <a:t>Text in the figure: Syntactic parsing Used as intermediate representation for downstream applications English word order: subject — verb — object Japanese word order: subject — object — verb HE ADORES LISTENING TO MUSIC (ve) ve) —— \~—_ (Vell PRA (vez) ivan \ Ny (ve) (To) va) / \ (TO) (TO) UM 1 —— | To nase 70 ve INPUT SYNTAX TREE "troy REORDERING rene io WORD INSERTING we Ww Neu KARE HA ONGAKU WO KIKU NO GA DAISUK! DESU RESULT TRANSLATION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Used as intermediate representation for downstream applications</a:t>
            </a:r>
          </a:p>
          <a:p>
            <a:r>
              <a:t>  2. Relation: per:city_of death Relation: per:employee_of Relation: org:founded_by Benoit B. Mandelbrot, a maverick In a car</a:t>
            </a:r>
          </a:p>
          <a:p>
            <a:r>
              <a:t>  3. Prize calib id Gennady Mesyats, the director million from 2004 through 2009. of the Lebedev Physics Institute in Moscow,</a:t>
            </a:r>
          </a:p>
          <a:p>
            <a:r>
              <a:t>  4. died Ginzburg worked. Rajaratnam</a:t>
            </a:r>
          </a:p>
          <a:p>
            <a:r>
              <a:t>  5. Institute ma</a:t>
            </a:r>
          </a:p>
          <a:p>
            <a:r>
              <a:t>  6. Thursday Cambridge = a ¥ es</a:t>
            </a:r>
          </a:p>
          <a:p>
            <a:r>
              <a:t>  7. the Lebedev Physics Moscow worked the Group</a:t>
            </a:r>
          </a:p>
          <a:p/>
          <a:p>
            <a:r>
              <a:t>Read these exactly (do not paraphrase):</a:t>
            </a:r>
          </a:p>
          <a:p>
            <a:r>
              <a:t>  - Rajaratnam Institute ma Thursday Cambridge = a ¥ es the Lebedev Physics Moscow worked the Group Benoit B.</a:t>
            </a:r>
          </a:p>
          <a:p/>
          <a:p>
            <a:r>
              <a:t>Say what these mean, in your own words:</a:t>
            </a:r>
          </a:p>
          <a:p>
            <a:r>
              <a:t>  - Syntactic parsing: The process of analyzing a sentence to determine its grammatical structure.</a:t>
            </a:r>
          </a:p>
          <a:p/>
          <a:p>
            <a:r>
              <a:t>Pause: ask the class what they already know about “Syntactic parsing serves as an intermediate representation for downstream applications”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Syntactic parsing (continued)</a:t>
            </a:r>
          </a:p>
          <a:p/>
          <a:p>
            <a:r>
              <a:t>Pause: ask the class what they already know about “Syntactic parsing (continued)” before revealing the slide.</a:t>
            </a:r>
          </a:p>
          <a:p/>
          <a:p>
            <a:r>
              <a:t>Wording matters here — slow down, keep it precise.</a:t>
            </a:r>
          </a:p>
          <a:p/>
          <a:p>
            <a:r>
              <a:t>~19s</a:t>
            </a:r>
          </a:p>
          <a:p>
            <a:r>
              <a:t>Text in the figure: Syntactic parsing Syntactic parsing is the task of recognizing a sentence and assigning a structure to it. Beoing is located in Seattle. S NP VP | V VP Boeing Vv Bp | ——. located P NP | | in N | Seattle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ALL THE MORNING FLIGHTS FROM DENVER TO TAMPA</a:t>
            </a:r>
          </a:p>
          <a:p>
            <a:r>
              <a:t>  2. Which word is central (most important)?</a:t>
            </a:r>
          </a:p>
          <a:p>
            <a:r>
              <a:t>  3. Complex noun phrases contain modifiers and specifiers surrounding a central word that determines the phrase's core meani</a:t>
            </a:r>
          </a:p>
          <a:p>
            <a:r>
              <a:t>  4. Identifying this central word helps understand the phrase's primary category and reference.</a:t>
            </a:r>
          </a:p>
          <a:p>
            <a:r>
              <a:t>  5. Every phrase relies on this main lexical anchor.</a:t>
            </a:r>
          </a:p>
          <a:p>
            <a:r>
              <a:t>  6. Example: In a flight to NY, flight is the central word.</a:t>
            </a:r>
          </a:p>
          <a:p/>
          <a:p>
            <a:r>
              <a:t>Read these exactly (do not paraphrase):</a:t>
            </a:r>
          </a:p>
          <a:p>
            <a:r>
              <a:t>  - Noun phrases contain a single central most important word ALL THE MORNING FLIGHTS FROM DENVER TO TAMPA Which word is central (most important)?</a:t>
            </a:r>
          </a:p>
          <a:p/>
          <a:p>
            <a:r>
              <a:t>Say what these mean, in your own words:</a:t>
            </a:r>
          </a:p>
          <a:p>
            <a:r>
              <a:t>  - Central word: The primary head word that determines the core meaning and category of a phrase.</a:t>
            </a:r>
          </a:p>
          <a:p/>
          <a:p>
            <a:r>
              <a:t>Pause: ask the class what they already know about “Noun phrases contain a single central most important word”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ALL THE MORNING FLIGHTS FROM DENVER TO TAMPA</a:t>
            </a:r>
          </a:p>
          <a:p>
            <a:r>
              <a:t>  2. Which word is central (most important)?</a:t>
            </a:r>
          </a:p>
          <a:p>
            <a:r>
              <a:t>  3. Noun phrases bundle determiners, adjectives, and modifiers together around a central head noun.</a:t>
            </a:r>
          </a:p>
          <a:p>
            <a:r>
              <a:t>  4. Identifying the central word reveals what entity the entire phrase refers to.</a:t>
            </a:r>
          </a:p>
          <a:p>
            <a:r>
              <a:t>  5. The surrounding modifiers provide descriptive details about that central element.</a:t>
            </a:r>
          </a:p>
          <a:p>
            <a:r>
              <a:t>  6. Example: In morning flights, flights is the central word modified by morning.</a:t>
            </a:r>
          </a:p>
          <a:p/>
          <a:p>
            <a:r>
              <a:t>Read these exactly (do not paraphrase):</a:t>
            </a:r>
          </a:p>
          <a:p>
            <a:r>
              <a:t>  - Noun phrase elements include determiners and modifiers around a central head ALL THE MORNING FLIGHTS FROM DENVER TO TAMPA Which word is central (most important)?</a:t>
            </a:r>
          </a:p>
          <a:p>
            <a:r>
              <a:t>  - Identifying the central word reveals what entity the entire phrase refers to.</a:t>
            </a:r>
          </a:p>
          <a:p/>
          <a:p>
            <a:r>
              <a:t>Say what these mean, in your own words:</a:t>
            </a:r>
          </a:p>
          <a:p>
            <a:r>
              <a:t>  - Head word: The central word of a phrase that dictates its grammatical properties.</a:t>
            </a:r>
          </a:p>
          <a:p/>
          <a:p>
            <a:r>
              <a:t>Pause: ask the class what they already know about “Noun phrase elements include determiners and modifiers around a central head”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ask the class what they already know about “Parse tree” before revealing the slide.</a:t>
            </a:r>
          </a:p>
          <a:p/>
          <a:p>
            <a:r>
              <a:t>~19s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Parse tree (continued)</a:t>
            </a:r>
          </a:p>
          <a:p/>
          <a:p>
            <a:r>
              <a:t>Pause: ask the class what they already know about “Parse tree (continued)” before revealing the slide.</a:t>
            </a:r>
          </a:p>
          <a:p/>
          <a:p>
            <a:r>
              <a:t>Wording matters here — slow down, keep it precise.</a:t>
            </a:r>
          </a:p>
          <a:p/>
          <a:p>
            <a:r>
              <a:t>~19s</a:t>
            </a:r>
          </a:p>
          <a:p>
            <a:r>
              <a:t>Text in the figure: (Left-most) Derivations = NP VP VP =&gt; Vi DENN VP S VP — Vt NP VP VP PP 54 = the NN VP NP vP PP Ss = the man VP DT NN Vi S¢ = the man Vi | | | 6 the man sleeps we woman S7 = the man sleeps NN telescope NN — _ dog A derivation can be represented as a parse tree! Astring s € &amp;* is in the language defined by the CFG if there is at least one derivation whose yield is s The set of possible derivations may be finite or infinite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Parse tree (continued)</a:t>
            </a:r>
          </a:p>
          <a:p/>
          <a:p>
            <a:r>
              <a:t>Pause: ask the class what they already know about “Parse tree (continued)” before revealing the slide.</a:t>
            </a:r>
          </a:p>
          <a:p/>
          <a:p>
            <a:r>
              <a:t>Wording matters here — slow down, keep it precise.</a:t>
            </a:r>
          </a:p>
          <a:p/>
          <a:p>
            <a:r>
              <a:t>~19s</a:t>
            </a:r>
          </a:p>
          <a:p>
            <a:r>
              <a:t>Text in the figure: Ambiguity Some strings may have more than one derivations more than one parse trees!). DT NN NP ve | | ve NP DT NN oN the man | | vp PP saw NP PP the man oo ~ oe IN NP DT NN w NP | a | the dog with DT | NN | | | | | | the dog the telescope the telescope</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Parse tree (continued)</a:t>
            </a:r>
          </a:p>
          <a:p/>
          <a:p>
            <a:r>
              <a:t>Pause: ask the class what they already know about “Parse tree (continued)” before revealing the slide.</a:t>
            </a:r>
          </a:p>
          <a:p/>
          <a:p>
            <a:r>
              <a:t>Wording matters here — slow down, keep it precise.</a:t>
            </a:r>
          </a:p>
          <a:p/>
          <a:p>
            <a:r>
              <a:t>~19s</a:t>
            </a:r>
          </a:p>
          <a:p>
            <a:r>
              <a:t>Text in the figure: Statistical parsing Learning from data: treebanks Adding probabilities to the rules: probabilistic CFGs (PCFGs) Treebanks: a collection of sentences paired with their parse trees «cs (NP-SBJ (DT That) Cs (JJ cold) ¢, ,) CNP-SBJ The/DT flight/NN ) (JJ empty) (NN sky) ) (VP should/MD (VP (VBD was) (VP arrive/VB (ADJP-PRD (JJ full) (PP-TMP at/IN (PP CIN of) (NP eleven/CD a.m/RB )) (NP (NN fire) (NP-TMP tomorrow/NN ))))) ccc and) (NN light) )))) C2) (a) (b) The Penn Treebank Project (Marcus et al, 1993)</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Parse tree (continued)</a:t>
            </a:r>
          </a:p>
          <a:p/>
          <a:p>
            <a:r>
              <a:t>Pause: ask the class what they already know about “Parse tree (continued)” before revealing the slide.</a:t>
            </a:r>
          </a:p>
          <a:p/>
          <a:p>
            <a:r>
              <a:t>Wording matters here — slow down, keep it precise.</a:t>
            </a:r>
          </a:p>
          <a:p/>
          <a:p>
            <a:r>
              <a:t>~19s</a:t>
            </a:r>
          </a:p>
          <a:p>
            <a:r>
              <a:t>Text in the figure: Probabilistic context-free grammars (PCFGs) S =&gt; NP VP 1.0 Vi = sleeps 1.0 vP =&gt; Vi 0.4 Vt =&gt; saw 1.0 VP =&gt; Vt NP 0.4 NN = man 0.7 vP = VP PP NN =&gt; woman | 0.2 NP = DT NN 03 NN telescope | 0.1 DT = the 1.0 NP = NP PP 0.7 - IN =&gt; in 0.5 A probabilistic context-free grammar (PCFG) consists of: Acontext-free grammar: G = (N, x, R, S) Foreachrulea &gt; € R, there is a parameter g(a &gt; f) &gt; 0. For any X € N,</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Parse tree (continued)</a:t>
            </a:r>
          </a:p>
          <a:p/>
          <a:p>
            <a:r>
              <a:t>Pause: ask the class what they already know about “Parse tree (continued)” before revealing the slide.</a:t>
            </a:r>
          </a:p>
          <a:p/>
          <a:p>
            <a:r>
              <a:t>Wording matters here — slow down, keep it precise.</a:t>
            </a:r>
          </a:p>
          <a:p/>
          <a:p>
            <a:r>
              <a:t>~19s</a:t>
            </a:r>
          </a:p>
          <a:p>
            <a:r>
              <a:t>Text in the figure: Probabilistic context-free grammars (PCFGs) For any derivation (parse tree) containing rules: a &gt; A &gt; fy, &gt; the probability of the parse is: l S =&gt; NP VP [10 A vP =&gt; Vi 0.4 i=1 Ss VP =&gt; Vt NP 0.4 vP = VP PP |0.2 NP =&gt; DT NN NP = NP PP DT NN vi PP =&gt; P NP | | | the man sleeps Vi sleeps 1.0 Vt =&gt; = saw 1.0 P(t) = q(S NP VP) x g(NP &gt; DT NN) x q(DT = the) NN =&gt; man 0.7 NN = woman 0.2 x q(NN &gt; man) x q(VP &gt; Vi) x q(Vi &gt; sleeps) NN =&gt; telescope | 0.1 DT = the 1.0 = 1.0x0.3x 1.0x0.7 x 0.4x 1.0 = 0.084 IN =&gt; with 0.5 IN =&gt; in 0.5 Why do we want ¥ p)=1?</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Training data: a set of parse trees ft),....t,,</a:t>
            </a:r>
          </a:p>
          <a:p>
            <a:r>
              <a:t>  2. Nis the set of all non-terminals seen in the trees</a:t>
            </a:r>
          </a:p>
          <a:p>
            <a:r>
              <a:t>  3. is the set of all words seen in the trees</a:t>
            </a:r>
          </a:p>
          <a:p>
            <a:r>
              <a:t>  4. Sis taken to be S.</a:t>
            </a:r>
          </a:p>
          <a:p>
            <a:r>
              <a:t>  5. R is taken to be the set of all rules a &gt; seen in the trees</a:t>
            </a:r>
          </a:p>
          <a:p>
            <a:r>
              <a:t>  6. The maximum-likelihood parameter estimates are:</a:t>
            </a:r>
          </a:p>
          <a:p>
            <a:r>
              <a:t>  7. If we have seen the rule VP — Vt NP 105 times, and the the non-terminal VP 1000 times, g(VP — Vt NP) = 0.105</a:t>
            </a:r>
          </a:p>
          <a:p/>
          <a:p>
            <a:r>
              <a:t>Read these exactly (do not paraphrase):</a:t>
            </a:r>
          </a:p>
          <a:p>
            <a:r>
              <a:t>  - Maximum likelihood estimation derives probabilistic rules from treebanks Training data: a set of parse trees ft),....t,, Nis the set of all non-terminals seen in the trees is the set of all words seen in the trees Sis taken to be S.</a:t>
            </a:r>
          </a:p>
          <a:p>
            <a:r>
              <a:t>  - R is taken to be the set of all rules a &gt; seen in the trees The maximum-likelihood parameter estimates are: If we have seen the rule VP — Vt NP 105 times, and the the non-terminal VP 1000 times, g(VP — Vt NP) = 0.105</a:t>
            </a:r>
          </a:p>
          <a:p/>
          <a:p>
            <a:r>
              <a:t>Say what these mean, in your own words:</a:t>
            </a:r>
          </a:p>
          <a:p>
            <a:r>
              <a:t>  - Treebank: A parsed corpus of text containing annotated syntactic trees used as training data.</a:t>
            </a:r>
          </a:p>
          <a:p/>
          <a:p>
            <a:r>
              <a:t>Pause: ask the class what they already know about “Maximum likelihood estimation derives probabilistic rules from treebanks”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Given a sentence s and a PCFG, how to find the highest scoring parse tree for s?</a:t>
            </a:r>
          </a:p>
          <a:p>
            <a:r>
              <a:t>  2. The CKY algorithm: applies to a PCFG in Chomsky normal form (CNF)</a:t>
            </a:r>
          </a:p>
          <a:p>
            <a:r>
              <a:t>  3. Chomsky Normal Form (CNF): all the rules take one of the two following forms:</a:t>
            </a:r>
          </a:p>
          <a:p>
            <a:r>
              <a:t>  4. X—&gt; YwhereX ENYEX</a:t>
            </a:r>
          </a:p>
          <a:p>
            <a:r>
              <a:t>  5. It is possible to convert any PCFG into an equivalent grammar in CNF!</a:t>
            </a:r>
          </a:p>
          <a:p>
            <a:r>
              <a:t>  6. However, the trees will look differently; It is possible to do “reverse transformation”</a:t>
            </a:r>
          </a:p>
          <a:p/>
          <a:p>
            <a:r>
              <a:t>Read these exactly (do not paraphrase):</a:t>
            </a:r>
          </a:p>
          <a:p>
            <a:r>
              <a:t>  - The CKY algorithm: applies to a PCFG in Chomsky normal form (CNF) Chomsky Normal Form (CNF): all the rules take one of the two following forms: X—&gt; YwhereX ENYEX It is possible to convert any PCFG into an equivalent grammar in CNF!</a:t>
            </a:r>
          </a:p>
          <a:p>
            <a:r>
              <a:t>  - However, the trees will look differently; It is possible to do “reverse transformation”</a:t>
            </a:r>
          </a:p>
          <a:p/>
          <a:p>
            <a:r>
              <a:t>Say what these mean, in your own words:</a:t>
            </a:r>
          </a:p>
          <a:p>
            <a:r>
              <a:t>  - Chomsky Normal Form: A restricted format where all grammar rules produce either two non-terminals or one terminal.</a:t>
            </a:r>
          </a:p>
          <a:p/>
          <a:p>
            <a:r>
              <a:t>Pause: ask the class what they already know about “The CKY algorithm finds the highest scoring parse tree in Chomsky normal form” before revealing the slide.</a:t>
            </a:r>
          </a:p>
          <a:p/>
          <a:p>
            <a:r>
              <a:t>Wording matters here — slow down, keep it precise.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Parsing with PCFGs (continued)</a:t>
            </a:r>
          </a:p>
          <a:p/>
          <a:p>
            <a:r>
              <a:t>Pause: ask the class what they already know about “Parsing with PCFGs (continued)” before revealing the slide.</a:t>
            </a:r>
          </a:p>
          <a:p/>
          <a:p>
            <a:r>
              <a:t>Wording matters here — slow down, keep it precise.</a:t>
            </a:r>
          </a:p>
          <a:p/>
          <a:p>
            <a:r>
              <a:t>~19s</a:t>
            </a:r>
          </a:p>
          <a:p>
            <a:r>
              <a:t>Text in the figure: Converting PCFGs into a CNF grammar n-ary rules (n &gt; 2): NP DT NNP VBG NN NP NP a DT @NP-&gt; DT DT NNP VBG NN tle | | | @NP-&gt;_DT_NNP the Dutch publishing group | Dutch VBG NN | | publishing group Unary rules: VP Vi, Vi &gt; sleeps Eliminate all the unary rules recursively by adding VP — sleeps We will come back to this later!</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membership problem:</a:t>
            </a:r>
          </a:p>
          <a:p>
            <a:r>
              <a:t>  2. Problem:</a:t>
            </a:r>
          </a:p>
          <a:p>
            <a:r>
              <a:t>  3. Given a context-free grammar G and a string w</a:t>
            </a:r>
          </a:p>
          <a:p>
            <a:r>
              <a:t>  4. G = (V, ∑,P, S) where</a:t>
            </a:r>
          </a:p>
          <a:p>
            <a:r>
              <a:t>  5. V finite set of variables</a:t>
            </a:r>
          </a:p>
          <a:p>
            <a:r>
              <a:t>  6. » ∑(the alphabet) finite set of terminal symbols</a:t>
            </a:r>
          </a:p>
          <a:p>
            <a:r>
              <a:t>  7. P finite set of rules</a:t>
            </a:r>
          </a:p>
          <a:p/>
          <a:p>
            <a:r>
              <a:t>Read these exactly (do not paraphrase):</a:t>
            </a:r>
          </a:p>
          <a:p>
            <a:r>
              <a:t>  - The CYK algorithm determines if a given string belongs to a language The membership problem: Problem: Given a context-free grammar G and a string w G = (V, ∑,P, S) where V finite set of variables » ∑(the alphabet) finite set of terminal symbols P finite set of rules S start symbol (distinguished element of V) V and ∑ are assumed to be disjoint G is used to generate the string of a language Question: Is w in L(G)?</a:t>
            </a:r>
          </a:p>
          <a:p/>
          <a:p>
            <a:r>
              <a:t>Say what these mean, in your own words:</a:t>
            </a:r>
          </a:p>
          <a:p>
            <a:r>
              <a:t>  - Membership problem: Determining whether a specific string can be generated by a given context-free grammar.</a:t>
            </a:r>
          </a:p>
          <a:p>
            <a:r>
              <a:t>  - Context-free grammar: A formal grammar defined by variables, terminals, production rules, and a start symbol.</a:t>
            </a:r>
          </a:p>
          <a:p/>
          <a:p>
            <a:r>
              <a:t>Pause: ask the class what they already know about “The CYK algorithm determines if a given string belongs to a language”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J. Cocke</a:t>
            </a:r>
          </a:p>
          <a:p>
            <a:r>
              <a:t>  2. D. Younger,</a:t>
            </a:r>
          </a:p>
          <a:p>
            <a:r>
              <a:t>  3. T. Kasami</a:t>
            </a:r>
          </a:p>
          <a:p>
            <a:r>
              <a:t>  4. Independently developed an algorithm to answer this question.</a:t>
            </a:r>
          </a:p>
          <a:p>
            <a:r>
              <a:t>  5. Kasami independently created this method.</a:t>
            </a:r>
          </a:p>
          <a:p>
            <a:r>
              <a:t>  6. It answers whether a string belongs to a specific grammar language.</a:t>
            </a:r>
          </a:p>
          <a:p>
            <a:r>
              <a:t>  7. Example: Three researchers independently solved the same parsing problem.</a:t>
            </a:r>
          </a:p>
          <a:p/>
          <a:p>
            <a:r>
              <a:t>Say what these mean, in your own words:</a:t>
            </a:r>
          </a:p>
          <a:p>
            <a:r>
              <a:t>  - CYK algorithm: An algorithm named after its creators to solve the membership problem.</a:t>
            </a:r>
          </a:p>
          <a:p/>
          <a:p>
            <a:r>
              <a:t>Pause: ask the class what they already know about “Cocke Younger and Kasami independently developed the CYK algorithm” before revealing the slide.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The Structure of the rules in a Chomsky Normal Form grammar</a:t>
            </a:r>
          </a:p>
          <a:p>
            <a:r>
              <a:t>  2. Uses a “dynamic programming” or “table-filling algorithm”</a:t>
            </a:r>
          </a:p>
          <a:p>
            <a:r>
              <a:t>  3. This method relies on table-filling techniques.</a:t>
            </a:r>
          </a:p>
          <a:p>
            <a:r>
              <a:t>  4. It requires the grammar rules to follow a very specific structure known as Chomsky Normal Form.</a:t>
            </a:r>
          </a:p>
          <a:p>
            <a:r>
              <a:t>  5. Example: Filling out a matrix cell by cell using previously solved subproblems.</a:t>
            </a:r>
          </a:p>
          <a:p/>
          <a:p>
            <a:r>
              <a:t>Read these exactly (do not paraphrase):</a:t>
            </a:r>
          </a:p>
          <a:p>
            <a:r>
              <a:t>  - The CYK algorithm uses dynamic programming and Chomsky Normal Form rules The Structure of the rules in a Chomsky Normal Form grammar Uses a “dynamic programming” or “table-filling algorithm” This method relies on table-filling techniques.</a:t>
            </a:r>
          </a:p>
          <a:p/>
          <a:p>
            <a:r>
              <a:t>Say what these mean, in your own words:</a:t>
            </a:r>
          </a:p>
          <a:p>
            <a:r>
              <a:t>  - Dynamic programming: An algorithmic technique that solves complex problems by breaking them down into simpler subproblems.</a:t>
            </a:r>
          </a:p>
          <a:p>
            <a:r>
              <a:t>  - Chomsky Normal Form: A standardized format for context-free grammar rules.</a:t>
            </a:r>
          </a:p>
          <a:p/>
          <a:p>
            <a:r>
              <a:t>Pause: ask the class what they already know about “The CYK algorithm uses dynamic programming and Chomsky Normal Form rules” before revealing the slide.</a:t>
            </a:r>
          </a:p>
          <a:p/>
          <a:p>
            <a:r>
              <a:t>~47s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Normal Form is described by a set of conditions that each rule in the grammar must satisfy</a:t>
            </a:r>
          </a:p>
          <a:p>
            <a:r>
              <a:t>  2. Context-free grammar is in CNF if each rule has one of the following forms:</a:t>
            </a:r>
          </a:p>
          <a:p>
            <a:r>
              <a:t>  3. A → BC</a:t>
            </a:r>
          </a:p>
          <a:p>
            <a:r>
              <a:t>  4. at most 2 symbols on right side</a:t>
            </a:r>
          </a:p>
          <a:p>
            <a:r>
              <a:t>  5. A → a, or</a:t>
            </a:r>
          </a:p>
          <a:p>
            <a:r>
              <a:t>  6. terminal symbol</a:t>
            </a:r>
          </a:p>
          <a:p>
            <a:r>
              <a:t>  7. S → λ</a:t>
            </a:r>
          </a:p>
          <a:p/>
          <a:p>
            <a:r>
              <a:t>Read these exactly (do not paraphrase):</a:t>
            </a:r>
          </a:p>
          <a:p>
            <a:r>
              <a:t>  - Chomsky normal form restricts grammar rules to specific production types Normal Form is described by a set of conditions that each rule in the grammar must satisfy Context-free grammar is in CNF if each rule has one of the following forms: A → BC at most 2 symbols on right side A → a, or terminal symbol S → λ null string where B, C Є V – {S}</a:t>
            </a:r>
          </a:p>
          <a:p/>
          <a:p>
            <a:r>
              <a:t>Say what these mean, in your own words:</a:t>
            </a:r>
          </a:p>
          <a:p>
            <a:r>
              <a:t>  - cnf: PCFG in Chomsky normal form</a:t>
            </a:r>
          </a:p>
          <a:p>
            <a:r>
              <a:t>  - Terminal symbol: An elementary symbol of a language that cannot be changed by production rules.</a:t>
            </a:r>
          </a:p>
          <a:p>
            <a:r>
              <a:t>  - Null string: The empty string represented by lambda.</a:t>
            </a:r>
          </a:p>
          <a:p/>
          <a:p>
            <a:r>
              <a:t>Pause: ask the class what they already know about “Chomsky normal form restricts grammar rules to specific production types”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Each row corresponds to one length of substrings</a:t>
            </a:r>
          </a:p>
          <a:p>
            <a:r>
              <a:t>  2. Bottom Row – Strings of length 1</a:t>
            </a:r>
          </a:p>
          <a:p>
            <a:r>
              <a:t>  3. Second from Bottom Row – Strings of length 2</a:t>
            </a:r>
          </a:p>
          <a:p>
            <a:r>
              <a:t>  4. Top Row – string ‘w’</a:t>
            </a:r>
          </a:p>
          <a:p>
            <a:r>
              <a:t>  5. The table organizes intermediate results systematically.</a:t>
            </a:r>
          </a:p>
          <a:p>
            <a:r>
              <a:t>  6. The bottom row handles length-one substrings, while the top row tests the full string.</a:t>
            </a:r>
          </a:p>
          <a:p>
            <a:r>
              <a:t>  7. Example: A pyramid-shaped table where the peak represents the full input string.</a:t>
            </a:r>
          </a:p>
          <a:p/>
          <a:p>
            <a:r>
              <a:t>Say what these mean, in your own words:</a:t>
            </a:r>
          </a:p>
          <a:p>
            <a:r>
              <a:t>  - Triangular table: A tabular structure used in CYK parsing to store sets of variables for substrings.</a:t>
            </a:r>
          </a:p>
          <a:p/>
          <a:p>
            <a:r>
              <a:t>Pause: ask the class what they already know about “The CYK algorithm builds a triangular table where each row represents substring lengths” before revealing the slide.</a:t>
            </a:r>
          </a:p>
          <a:p/>
          <a:p>
            <a:r>
              <a:t>~61s</a:t>
            </a:r>
          </a:p>
          <a:p>
            <a:r>
              <a:t>Ask the class: What might explain these numbers?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 A TRIANGULAR TABLE</a:t>
            </a:r>
          </a:p>
          <a:p>
            <a:r>
              <a:t>  2. Xi, i is the set of variables A such that</a:t>
            </a:r>
          </a:p>
          <a:p>
            <a:r>
              <a:t>  3. Compare at most n pairs of previously computed sets: (Xi, i, Xi+1, j), (Xi, i+1, Xi+2, j) … (Xi, j-1, Xj, j)</a:t>
            </a:r>
          </a:p>
          <a:p>
            <a:r>
              <a:t>  4. Each table entry stores variables that generate specific substrings.</a:t>
            </a:r>
          </a:p>
          <a:p>
            <a:r>
              <a:t>  5. The algorithm compares pairs of earlier sets to find matching production rules.</a:t>
            </a:r>
          </a:p>
          <a:p>
            <a:r>
              <a:t>  6. Example: Combining sets from smaller adjacent spans to test a larger span.</a:t>
            </a:r>
          </a:p>
          <a:p/>
          <a:p>
            <a:r>
              <a:t>Read these exactly (do not paraphrase):</a:t>
            </a:r>
          </a:p>
          <a:p>
            <a:r>
              <a:t>  - Table construction compares pairs of previously computed sets using grammar productions CONSTRUCT A TRIANGULAR TABLE Xi, i is the set of variables A such that Compare at most n pairs of previously computed sets: (Xi, i, Xi+1, j), (Xi, i+1, Xi+2, j) … (Xi, j-1, Xj, j) Each table entry stores variables that generate specific substrings.</a:t>
            </a:r>
          </a:p>
          <a:p/>
          <a:p>
            <a:r>
              <a:t>Say what these mean, in your own words:</a:t>
            </a:r>
          </a:p>
          <a:p>
            <a:r>
              <a:t>  - Production: A rewrite rule in a formal grammar that replaces variables with other symbols.</a:t>
            </a:r>
          </a:p>
          <a:p/>
          <a:p>
            <a:r>
              <a:t>Pause: ask the class what they already know about “Table construction compares pairs of previously computed sets using grammar productions” before revealing the slide.</a:t>
            </a:r>
          </a:p>
          <a:p/>
          <a:p>
            <a:r>
              <a:t>~54s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 A TRIANGULAR TABLE (1/2)</a:t>
            </a:r>
          </a:p>
          <a:p/>
          <a:p>
            <a:r>
              <a:t>Full detail (from the source):</a:t>
            </a:r>
          </a:p>
          <a:p>
            <a:r>
              <a:t>  - w1 - w2 - w3 - w4 - w5 - Table for string ‘w’ that has length 5 [TABLE DATA] | X 1, 5 | | | | | | --- | --- | --- | --- | --- | | X 1, 4 | X 2, 5 | | | | | X 1, 3 | X 2, 4 | X 3, 5 | | | | X 1, 2 | X 2, 3 | X 3, 4 | X 4, 5 | | | X 1, 1 | X 2, 2 | X 3, 3 | X 4, 4 | X 5, 5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 A TRIANGULAR TABLE (2/2)</a:t>
            </a:r>
          </a:p>
          <a:p/>
          <a:p>
            <a:r>
              <a:t>Full detail (from the source):</a:t>
            </a:r>
          </a:p>
          <a:p>
            <a:r>
              <a:t>  - w1 - w2 - w3 - w4 - w5 - Looking for pairs to compare [TABLE DATA] | X 1, 5 | | | | | | | --- | --- | --- | --- | --- | --- | | X 1, | 4 | X 2, 5 | | | | | X 1, | 3 | X 2, 4 | X 3, 5 | | | | X 1, | 2 | X 2, 3 | X 3, 4 | X 4, 5 | | | X 1, 1 | | X 2, 2 | X 3, 3 | X 4, 4 | X 5, 5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Show the CYK Algorithm with the following example:</a:t>
            </a:r>
          </a:p>
          <a:p>
            <a:r>
              <a:t>  2. CNF grammar G</a:t>
            </a:r>
          </a:p>
          <a:p>
            <a:r>
              <a:t>  3. S → AB | BC</a:t>
            </a:r>
          </a:p>
          <a:p>
            <a:r>
              <a:t>  4. A → BA | a</a:t>
            </a:r>
          </a:p>
          <a:p>
            <a:r>
              <a:t>  5. B → CC | b</a:t>
            </a:r>
          </a:p>
          <a:p>
            <a:r>
              <a:t>  6. C → AB | a</a:t>
            </a:r>
          </a:p>
          <a:p>
            <a:r>
              <a:t>  7. w is baaba</a:t>
            </a:r>
          </a:p>
          <a:p/>
          <a:p>
            <a:r>
              <a:t>Read these exactly (do not paraphrase):</a:t>
            </a:r>
          </a:p>
          <a:p>
            <a:r>
              <a:t>  - An example grammar tests whether the string baaba belongs to the language Show the CYK Algorithm with the following example: CNF grammar G S → AB | BC A → BA | a B → CC | b C → AB | a w is baaba Question Is baaba in L(G)?</a:t>
            </a:r>
          </a:p>
          <a:p/>
          <a:p>
            <a:r>
              <a:t>Say what these mean, in your own words:</a:t>
            </a:r>
          </a:p>
          <a:p>
            <a:r>
              <a:t>  - Grammar: A set of production rules that define valid sentences in a language.</a:t>
            </a:r>
          </a:p>
          <a:p/>
          <a:p>
            <a:r>
              <a:t>Pause: ask the class what they already know about “An example grammar tests whether the string baaba belongs to the language”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 → AB | BC</a:t>
            </a:r>
          </a:p>
          <a:p>
            <a:r>
              <a:t>  2. A → BA | a</a:t>
            </a:r>
          </a:p>
          <a:p>
            <a:r>
              <a:t>  3. B → CC | b</a:t>
            </a:r>
          </a:p>
          <a:p>
            <a:r>
              <a:t>  4. C → AB | a</a:t>
            </a:r>
          </a:p>
          <a:p>
            <a:r>
              <a:t>  5. {B}</a:t>
            </a:r>
          </a:p>
          <a:p>
            <a:r>
              <a:t>  6. {A, C}</a:t>
            </a:r>
          </a:p>
          <a:p>
            <a:r>
              <a:t>  7. {A, C}</a:t>
            </a:r>
          </a:p>
          <a:p/>
          <a:p>
            <a:r>
              <a:t>Read these exactly (do not paraphrase):</a:t>
            </a:r>
          </a:p>
          <a:p>
            <a:r>
              <a:t>  - The bottom row of the triangular table evaluates single character terminals S → AB | BC A → BA | a B → CC | b C → AB | a {B} {A, C} {A, C} {B} {A, C} Calculating the Bottom ROW</a:t>
            </a:r>
          </a:p>
          <a:p/>
          <a:p>
            <a:r>
              <a:t>Say what these mean, in your own words:</a:t>
            </a:r>
          </a:p>
          <a:p>
            <a:r>
              <a:t>  - Bottom row: The base layer of the CYK table representing substrings of length one.</a:t>
            </a:r>
          </a:p>
          <a:p/>
          <a:p>
            <a:r>
              <a:t>Pause: ask the class what they already know about “The bottom row of the triangular table evaluates single character terminals” before revealing the slide.</a:t>
            </a:r>
          </a:p>
          <a:p/>
          <a:p>
            <a:r>
              <a:t>Wording matters here — slow down, keep it precise.</a:t>
            </a:r>
          </a:p>
          <a:p/>
          <a:p>
            <a:r>
              <a:t>~61s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X1, 2 = (Xi, i,Xi+1, j) = (X1, 1</a:t>
            </a:r>
          </a:p>
          <a:p>
            <a:r>
              <a:t>  3. X2, 2)</a:t>
            </a:r>
          </a:p>
          <a:p>
            <a:r>
              <a:t>  4. ➔ {B}{A,C} = {BA, BC}</a:t>
            </a:r>
          </a:p>
          <a:p>
            <a:r>
              <a:t>  5. Steps:</a:t>
            </a:r>
          </a:p>
          <a:p>
            <a:r>
              <a:t>  6. Look for production rules to generate BA or BC</a:t>
            </a:r>
          </a:p>
          <a:p>
            <a:r>
              <a:t>  7. There are two: S and A</a:t>
            </a:r>
          </a:p>
          <a:p>
            <a:r>
              <a:t>  8. X1, 2= {S, A}</a:t>
            </a:r>
          </a:p>
          <a:p>
            <a:r>
              <a:t>  9. S → AB | BC A → BA | a B → CC | b C → AB | a</a:t>
            </a:r>
          </a:p>
          <a:p/>
          <a:p>
            <a:r>
              <a:t>Read these exactly (do not paraphrase):</a:t>
            </a:r>
          </a:p>
          <a:p>
            <a:r>
              <a:t>  - Combining adjacent table sets identifies higher level production rule matches CONSTRUCTING THE TRIANGULAR TABLE X1, 2 = (Xi, i,Xi+1, j) = (X1, 1 X2, 2) ➔ {B}{A,C} = {BA, BC} Steps: Look for production rules to generate BA or BC There are two: S and A X1, 2= {S, A} S → AB | BC A → BA | a B → CC | b C → AB | a</a:t>
            </a:r>
          </a:p>
          <a:p/>
          <a:p>
            <a:r>
              <a:t>Say what these mean, in your own words:</a:t>
            </a:r>
          </a:p>
          <a:p>
            <a:r>
              <a:t>  - Production rules: Rules specifying how grammar variables can be replaced by sequences of symbols.</a:t>
            </a:r>
          </a:p>
          <a:p/>
          <a:p>
            <a:r>
              <a:t>Pause: ask the class what they already know about “Combining adjacent table sets identifies higher level production rule matches” before revealing the slide.</a:t>
            </a:r>
          </a:p>
          <a:p/>
          <a:p>
            <a:r>
              <a:t>Wording matters here — slow down, keep it precise.</a:t>
            </a:r>
          </a:p>
          <a:p/>
          <a:p>
            <a:r>
              <a:t>~75s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(3/15)</a:t>
            </a:r>
          </a:p>
          <a:p/>
          <a:p>
            <a:r>
              <a:t>Pause: ask the class what they already know about “CONSTRUCTING THE TRIANGULAR TABLE”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X2, 3 = (Xi, i,Xi+1, j) = (X2, 2, X3, 3)</a:t>
            </a:r>
          </a:p>
          <a:p>
            <a:r>
              <a:t>  3. ➔ {A, C}{A,C} = {AA, AC, CA, CC} = Y</a:t>
            </a:r>
          </a:p>
          <a:p>
            <a:r>
              <a:t>  4. Steps:</a:t>
            </a:r>
          </a:p>
          <a:p>
            <a:r>
              <a:t>  5. Look for production rules to generate Y</a:t>
            </a:r>
          </a:p>
          <a:p>
            <a:r>
              <a:t>  6. There is one: B</a:t>
            </a:r>
          </a:p>
          <a:p>
            <a:r>
              <a:t>  7. S → AB | BC</a:t>
            </a:r>
          </a:p>
          <a:p>
            <a:r>
              <a:t>  8. = {B}</a:t>
            </a:r>
          </a:p>
          <a:p>
            <a:r>
              <a:t>  9. A → BA | a B → CC | b C → AB | a</a:t>
            </a:r>
          </a:p>
          <a:p/>
          <a:p>
            <a:r>
              <a:t>Read these exactly (do not paraphrase):</a:t>
            </a:r>
          </a:p>
          <a:p>
            <a:r>
              <a:t>  - Subsequent table entries combine adjacent sets to find matching grammar productions CONSTRUCTING THE TRIANGULAR TABLE X2, 3 = (Xi, i,Xi+1, j) = (X2, 2, X3, 3) ➔ {A, C}{A,C} = {AA, AC, CA, CC} = Y Steps: Look for production rules to generate Y There is one: B S → AB | BC = {B} A → BA | a B → CC | b C → AB | a</a:t>
            </a:r>
          </a:p>
          <a:p/>
          <a:p>
            <a:r>
              <a:t>Pause: ask the class what they already know about “Subsequent table entries combine adjacent sets to find matching grammar productions” before revealing the slide.</a:t>
            </a:r>
          </a:p>
          <a:p/>
          <a:p>
            <a:r>
              <a:t>Wording matters here — slow down, keep it precise.</a:t>
            </a:r>
          </a:p>
          <a:p/>
          <a:p>
            <a:r>
              <a:t>~75s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(5/15)</a:t>
            </a:r>
          </a:p>
          <a:p/>
          <a:p>
            <a:r>
              <a:t>Pause: ask the class what they already know about “CONSTRUCTING THE TRIANGULAR TABLE”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X3, 4 = (Xi, i,Xi+1, j) = (X3, 3</a:t>
            </a:r>
          </a:p>
          <a:p>
            <a:r>
              <a:t>  3. X4, 4)</a:t>
            </a:r>
          </a:p>
          <a:p>
            <a:r>
              <a:t>  4. ➔ {A, C}{B} = {AB, CB} = Y</a:t>
            </a:r>
          </a:p>
          <a:p>
            <a:r>
              <a:t>  5. Steps:</a:t>
            </a:r>
          </a:p>
          <a:p>
            <a:r>
              <a:t>  6. Look for production rules to generate Y</a:t>
            </a:r>
          </a:p>
          <a:p>
            <a:r>
              <a:t>  7. There are two: S and C</a:t>
            </a:r>
          </a:p>
          <a:p>
            <a:r>
              <a:t>  8. S → AB | BC</a:t>
            </a:r>
          </a:p>
          <a:p>
            <a:r>
              <a:t>  9. = {S, C}</a:t>
            </a:r>
          </a:p>
          <a:p>
            <a:r>
              <a:t>  10. A → BA | a B → CC | b C → AB | a</a:t>
            </a:r>
          </a:p>
          <a:p/>
          <a:p>
            <a:r>
              <a:t>Read these exactly (do not paraphrase):</a:t>
            </a:r>
          </a:p>
          <a:p>
            <a:r>
              <a:t>  - Constructing the triangular table: X3, 4 = CONSTRUCTING THE TRIANGULAR TABLE X3, 4 = (Xi, i,Xi+1, j) = (X3, 3 X4, 4) ➔ {A, C}{B} = {AB, CB} = Y Steps: Look for production rules to generate Y There are two: S and C S → AB | BC = {S, C} A → BA | a B → CC | b C → AB | a</a:t>
            </a:r>
          </a:p>
          <a:p/>
          <a:p>
            <a:r>
              <a:t>Pause: ask the class what they already know about “Constructing the triangular table: X3, 4 =” before revealing the slide.</a:t>
            </a:r>
          </a:p>
          <a:p/>
          <a:p>
            <a:r>
              <a:t>Wording matters here — slow down, keep it precise.</a:t>
            </a:r>
          </a:p>
          <a:p/>
          <a:p>
            <a:r>
              <a:t>~82s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(7/15)</a:t>
            </a:r>
          </a:p>
          <a:p/>
          <a:p>
            <a:r>
              <a:t>Pause: ask the class what they already know about “CONSTRUCTING THE TRIANGULAR TABLE” before revealing the slide.</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X4, 5 = (Xi, i,Xi+1, j) = (X4, 4</a:t>
            </a:r>
          </a:p>
          <a:p>
            <a:r>
              <a:t>  3. X5, 5)</a:t>
            </a:r>
          </a:p>
          <a:p>
            <a:r>
              <a:t>  4. ➔ {B}{A, C} = {BA, BC} = Y</a:t>
            </a:r>
          </a:p>
          <a:p>
            <a:r>
              <a:t>  5. Steps:</a:t>
            </a:r>
          </a:p>
          <a:p>
            <a:r>
              <a:t>  6. Look for production rules to generate Y</a:t>
            </a:r>
          </a:p>
          <a:p>
            <a:r>
              <a:t>  7. There are two: S and A</a:t>
            </a:r>
          </a:p>
          <a:p>
            <a:r>
              <a:t>  8. S → AB | BC</a:t>
            </a:r>
          </a:p>
          <a:p>
            <a:r>
              <a:t>  9. = {S, A}</a:t>
            </a:r>
          </a:p>
          <a:p>
            <a:r>
              <a:t>  10. A → BA | a B → CC | b C → AB | a</a:t>
            </a:r>
          </a:p>
          <a:p/>
          <a:p>
            <a:r>
              <a:t>Read these exactly (do not paraphrase):</a:t>
            </a:r>
          </a:p>
          <a:p>
            <a:r>
              <a:t>  - Constructing the triangular table: X4, 5 = CONSTRUCTING THE TRIANGULAR TABLE X4, 5 = (Xi, i,Xi+1, j) = (X4, 4 X5, 5) ➔ {B}{A, C} = {BA, BC} = Y Steps: Look for production rules to generate Y There are two: S and A S → AB | BC = {S, A} A → BA | a B → CC | b C → AB | a</a:t>
            </a:r>
          </a:p>
          <a:p/>
          <a:p>
            <a:r>
              <a:t>Pause: ask the class what they already know about “Constructing the triangular table: X4, 5 =” before revealing the slide.</a:t>
            </a:r>
          </a:p>
          <a:p/>
          <a:p>
            <a:r>
              <a:t>Wording matters here — slow down, keep it precise.</a:t>
            </a:r>
          </a:p>
          <a:p/>
          <a:p>
            <a:r>
              <a:t>~82s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(9/15)</a:t>
            </a:r>
          </a:p>
          <a:p/>
          <a:p>
            <a:r>
              <a:t>Full detail (from the source):</a:t>
            </a:r>
          </a:p>
          <a:p>
            <a:r>
              <a:t>  [TABLE DATA] | {S, A} | {B} | {S, C} | {S, A} | | | --- | --- | --- | --- | --- | | {B} | {A, C} | {A, C} | {B} | {A, C}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X1, 3</a:t>
            </a:r>
          </a:p>
          <a:p>
            <a:r>
              <a:t>  3. = (Xi, i,Xi+1, j) (Xi, i+1,Xi+2, j) = (X1, 1, X2, 3), (X1, 2, X3, 3)</a:t>
            </a:r>
          </a:p>
          <a:p>
            <a:r>
              <a:t>  4. ➔ {B}{B} U {S, A}{A, C}= {BB, SA, SC, AA, AC} = Y</a:t>
            </a:r>
          </a:p>
          <a:p>
            <a:r>
              <a:t>  5. Steps:</a:t>
            </a:r>
          </a:p>
          <a:p>
            <a:r>
              <a:t>  6. Look for production rules to generate Y</a:t>
            </a:r>
          </a:p>
          <a:p>
            <a:r>
              <a:t>  7. S → AB | BC</a:t>
            </a:r>
          </a:p>
          <a:p>
            <a:r>
              <a:t>  8. There are NONE: S and A</a:t>
            </a:r>
          </a:p>
          <a:p>
            <a:r>
              <a:t>  9. A → BA | a</a:t>
            </a:r>
          </a:p>
          <a:p>
            <a:r>
              <a:t>  10. B → CC | b C → AB | a</a:t>
            </a:r>
          </a:p>
          <a:p>
            <a:r>
              <a:t>  11. no elements in this set (empty set)</a:t>
            </a:r>
          </a:p>
          <a:p/>
          <a:p>
            <a:r>
              <a:t>Read these exactly (do not paraphrase):</a:t>
            </a:r>
          </a:p>
          <a:p>
            <a:r>
              <a:t>  - Constructing the triangular table: X1, 3 CONSTRUCTING THE TRIANGULAR TABLE X1, 3 = (Xi, i,Xi+1, j) (Xi, i+1,Xi+2, j) = (X1, 1, X2, 3), (X1, 2, X3, 3) ➔ {B}{B} U {S, A}{A, C}= {BB, SA, SC, AA, AC} = Y Steps: Look for production rules to generate Y S → AB | BC There are NONE: S and A A → BA | a B → CC | b C → AB | a no elements in this set (empty set)</a:t>
            </a:r>
          </a:p>
          <a:p/>
          <a:p>
            <a:r>
              <a:t>Pause: ask the class what they already know about “Constructing the triangular table: X1, 3” before revealing the slide.</a:t>
            </a:r>
          </a:p>
          <a:p/>
          <a:p>
            <a:r>
              <a:t>Wording matters here — slow down, keep it precise.</a:t>
            </a:r>
          </a:p>
          <a:p/>
          <a:p>
            <a:r>
              <a:t>~89s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(11/15)</a:t>
            </a:r>
          </a:p>
          <a:p/>
          <a:p>
            <a:r>
              <a:t>Full detail (from the source):</a:t>
            </a:r>
          </a:p>
          <a:p>
            <a:r>
              <a:t>  [TABLE DATA] | Ø | | | | | | --- | --- | --- | --- | --- | | {S, A} | {B} | {S, C} | {S, A} | | | {B} | {A, C} | {A, C} | {B} | {A, C}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X2, 4</a:t>
            </a:r>
          </a:p>
          <a:p>
            <a:r>
              <a:t>  3. = (Xi, i,Xi+1, j) (Xi, i+1,Xi+2, j) = (X2, 2, X3, 4), (X2, 3, X4, 4)</a:t>
            </a:r>
          </a:p>
          <a:p>
            <a:r>
              <a:t>  4. ➔ {A, C}{S, C} U {B}{B}= {AS, AC, CS, CC, BB} = Y</a:t>
            </a:r>
          </a:p>
          <a:p>
            <a:r>
              <a:t>  5. Steps:</a:t>
            </a:r>
          </a:p>
          <a:p>
            <a:r>
              <a:t>  6. Look for production rules to generate Y</a:t>
            </a:r>
          </a:p>
          <a:p>
            <a:r>
              <a:t>  7. S → AB | BC</a:t>
            </a:r>
          </a:p>
          <a:p>
            <a:r>
              <a:t>  8. There is one: B</a:t>
            </a:r>
          </a:p>
          <a:p>
            <a:r>
              <a:t>  9. A → BA | a</a:t>
            </a:r>
          </a:p>
          <a:p>
            <a:r>
              <a:t>  10. X2, 4= {B}</a:t>
            </a:r>
          </a:p>
          <a:p>
            <a:r>
              <a:t>  11. B → CC | b C → AB | a</a:t>
            </a:r>
          </a:p>
          <a:p/>
          <a:p>
            <a:r>
              <a:t>Read these exactly (do not paraphrase):</a:t>
            </a:r>
          </a:p>
          <a:p>
            <a:r>
              <a:t>  - Constructing the triangular table: X2, 4 CONSTRUCTING THE TRIANGULAR TABLE X2, 4 = (Xi, i,Xi+1, j) (Xi, i+1,Xi+2, j) = (X2, 2, X3, 4), (X2, 3, X4, 4) ➔ {A, C}{S, C} U {B}{B}= {AS, AC, CS, CC, BB} = Y Steps: Look for production rules to generate Y S → AB | BC There is one: B A → BA | a X2, 4= {B} B → CC | b C → AB | a</a:t>
            </a:r>
          </a:p>
          <a:p/>
          <a:p>
            <a:r>
              <a:t>Pause: ask the class what they already know about “Constructing the triangular table: X2, 4” before revealing the slide.</a:t>
            </a:r>
          </a:p>
          <a:p/>
          <a:p>
            <a:r>
              <a:t>Wording matters here — slow down, keep it precise.</a:t>
            </a:r>
          </a:p>
          <a:p/>
          <a:p>
            <a:r>
              <a:t>~89s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(13/15)</a:t>
            </a:r>
          </a:p>
          <a:p/>
          <a:p>
            <a:r>
              <a:t>Full detail (from the source):</a:t>
            </a:r>
          </a:p>
          <a:p>
            <a:r>
              <a:t>  [TABLE DATA] | Ø | {B} | | | | | --- | --- | --- | --- | --- | | {S, A} | {B} | {S, C} | {S, A} | | | {B} | {A, C} | {A, C} | {B} | {A, C}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CONSTRUCTING THE TRIANGULAR TABLE</a:t>
            </a:r>
          </a:p>
          <a:p>
            <a:r>
              <a:t>  2. X3, 5</a:t>
            </a:r>
          </a:p>
          <a:p>
            <a:r>
              <a:t>  3. = (Xi, i,Xi+1, j) (Xi, i+1,Xi+2, j) = (X3, 3, X4, 5), (X3, 4, X5, 5)</a:t>
            </a:r>
          </a:p>
          <a:p>
            <a:r>
              <a:t>  4. ➔ {A,C}{S,A} U {S,C}{A,C}</a:t>
            </a:r>
          </a:p>
          <a:p>
            <a:r>
              <a:t>  5. = {AS, AA, CS, CA, SA, SC, CA, CC} = Y</a:t>
            </a:r>
          </a:p>
          <a:p>
            <a:r>
              <a:t>  6. Steps:</a:t>
            </a:r>
          </a:p>
          <a:p>
            <a:r>
              <a:t>  7. Look for production rules to generate Y</a:t>
            </a:r>
          </a:p>
          <a:p>
            <a:r>
              <a:t>  8. S → AB | BC</a:t>
            </a:r>
          </a:p>
          <a:p>
            <a:r>
              <a:t>  9. There is one: B</a:t>
            </a:r>
          </a:p>
          <a:p>
            <a:r>
              <a:t>  10. A → BA | a</a:t>
            </a:r>
          </a:p>
          <a:p>
            <a:r>
              <a:t>  11. B → CC | b</a:t>
            </a:r>
          </a:p>
          <a:p>
            <a:r>
              <a:t>  12. = {B}</a:t>
            </a:r>
          </a:p>
          <a:p>
            <a:r>
              <a:t>  13. C → AB | a</a:t>
            </a:r>
          </a:p>
          <a:p/>
          <a:p>
            <a:r>
              <a:t>Read these exactly (do not paraphrase):</a:t>
            </a:r>
          </a:p>
          <a:p>
            <a:r>
              <a:t>  - Constructing the triangular table: X3, 5 CONSTRUCTING THE TRIANGULAR TABLE X3, 5 = (Xi, i,Xi+1, j) (Xi, i+1,Xi+2, j) = (X3, 3, X4, 5), (X3, 4, X5, 5) ➔ {A,C}{S,A} U {S,C}{A,C} = {AS, AA, CS, CA, SA, SC, CA, CC} = Y Steps: Look for production rules to generate Y S → AB | BC There is one: B A → BA | a B → CC | b = {B} C → AB | a</a:t>
            </a:r>
          </a:p>
          <a:p/>
          <a:p>
            <a:r>
              <a:t>Pause: ask the class what they already know about “Constructing the triangular table: X3, 5” before revealing the slide.</a:t>
            </a:r>
          </a:p>
          <a:p/>
          <a:p>
            <a:r>
              <a:t>Wording matters here — slow down, keep it precise.</a:t>
            </a:r>
          </a:p>
          <a:p/>
          <a:p>
            <a:r>
              <a:t>~103s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CONSTRUCTING THE TRIANGULAR TABLE (15/15)</a:t>
            </a:r>
          </a:p>
          <a:p/>
          <a:p>
            <a:r>
              <a:t>Full detail (from the source):</a:t>
            </a:r>
          </a:p>
          <a:p>
            <a:r>
              <a:t>  [TABLE DATA] | Ø | {B} | {B} | | | | --- | --- | --- | --- | --- | | {S, A} | {B} | {S, C} | {S, A} | | | {B} | {A, C} | {A, C} | {B} | {A, C} |</a:t>
            </a:r>
          </a:p>
          <a:p/>
          <a:p>
            <a:r>
              <a:t>Wording matters here — slow down, keep it precise.</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detail (from the source):</a:t>
            </a:r>
          </a:p>
          <a:p>
            <a:r>
              <a:t>  - - Table for string ‘w’ that has length 5 - - The algorithm populates the triangular table [TABLE DATA] | {S, A, C} | | | | | | --- | --- | --- | --- | --- | | Ø | {S, A, C} | | | | | Ø | {B} | {B} | | | | {S, A} | {B} | {S, C} | {S, A} | | | {B} | {A, C} | {A, C} | {B} | {A, C} |</a:t>
            </a:r>
          </a:p>
          <a:p/>
          <a:p>
            <a:r>
              <a:t>~19s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Is baaba in L(G)?</a:t>
            </a:r>
          </a:p>
          <a:p>
            <a:r>
              <a:t>  2. Yes</a:t>
            </a:r>
          </a:p>
          <a:p>
            <a:r>
              <a:t>  3. We can see the S in the set X1n where ‘n’ = 5 We can see the table the cell X15 = (S, A, C) then if S Є X15 then baaba Є</a:t>
            </a:r>
          </a:p>
          <a:p/>
          <a:p>
            <a:r>
              <a:t>Read these exactly (do not paraphrase):</a:t>
            </a:r>
          </a:p>
          <a:p>
            <a:r>
              <a:t>  - Example (RESULT) Is baaba in L(G)?</a:t>
            </a:r>
          </a:p>
          <a:p>
            <a:r>
              <a:t>  - Yes We can see the S in the set X1n where ‘n’ = 5 We can see the table the cell X15 = (S, A, C) then if S Є X15 then baaba Є L(G)</a:t>
            </a:r>
          </a:p>
          <a:p/>
          <a:p>
            <a:r>
              <a:t>Pause: ask the class what they already know about “Example (RESULT)” before revealing the slide.</a:t>
            </a:r>
          </a:p>
          <a:p/>
          <a:p>
            <a:r>
              <a:t>Wording matters here — slow down, keep it precise.</a:t>
            </a:r>
          </a:p>
          <a:p/>
          <a:p>
            <a:r>
              <a:t>~33s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exactly (do not paraphrase):</a:t>
            </a:r>
          </a:p>
          <a:p>
            <a:r>
              <a:t>  - Theorem The CYK Algorithm correctly computes X i jfor all i and j; thus w is in L(G) if and only if S is in X1n.</a:t>
            </a:r>
          </a:p>
          <a:p>
            <a:r>
              <a:t>  - The running time of the algorithm is O(n3).</a:t>
            </a:r>
          </a:p>
          <a:p/>
          <a:p>
            <a:r>
              <a:t>Pause: ask the class what they already know about “Theorem” before revealing the slide.</a:t>
            </a:r>
          </a:p>
          <a:p/>
          <a:p>
            <a:r>
              <a:t>Wording matters here — slow down, keep it precise.</a:t>
            </a:r>
          </a:p>
          <a:p/>
          <a:p>
            <a:r>
              <a:t>~19s</a:t>
            </a:r>
          </a:p>
          <a:p>
            <a:r>
              <a:t>Ask the class: Explain this slide in your own words,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Pos: Parts of Speech Tagging</a:t>
            </a:r>
          </a:p>
          <a:p>
            <a:r>
              <a:t>  2. Hmm: Hidden Markov Model</a:t>
            </a:r>
          </a:p>
          <a:p>
            <a:r>
              <a:t>  3. Crf: Conditional Random Field</a:t>
            </a:r>
          </a:p>
          <a:p>
            <a:r>
              <a:t>  4. Cnf: PCFG in Chomsky normal form</a:t>
            </a:r>
          </a:p>
          <a:p>
            <a:r>
              <a:t>  5. Hmms: Hidden Markov Models</a:t>
            </a:r>
          </a:p>
          <a:p>
            <a:r>
              <a:t>  6. The transition probability: likelihood of a particular sequence for example, Eg: “ Ted will spot Will ” how likely is th</a:t>
            </a:r>
          </a:p>
          <a:p/>
          <a:p>
            <a:r>
              <a:t>Read these exactly (do not paraphrase):</a:t>
            </a:r>
          </a:p>
          <a:p>
            <a:r>
              <a:t>  - Glossary Pos: Parts of Speech Tagging Hmm: Hidden Markov Model Crf: Conditional Random Field Cnf: PCFG in Chomsky normal form Hmms: Hidden Markov Models The transition probability: likelihood of a particular sequence for example, Eg: “ Ted will spot Will ” how likely is that a noun…</a:t>
            </a:r>
          </a:p>
          <a:p/>
          <a:p>
            <a:r>
              <a:t>Pause: ask the class what they already know about “Glossary” before revealing the slide.</a:t>
            </a:r>
          </a:p>
          <a:p/>
          <a:p>
            <a:r>
              <a:t>Wording matters here — slow down, keep it precise.</a:t>
            </a:r>
          </a:p>
          <a:p/>
          <a:p>
            <a:r>
              <a:t>~54s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Such word: as the head</a:t>
            </a:r>
          </a:p>
          <a:p>
            <a:r>
              <a:t>  2. Reason it: a Hidden Markov Model is because an inference model is constructed based on the assumptions of a Markov proce</a:t>
            </a:r>
          </a:p>
          <a:p>
            <a:r>
              <a:t>  3. Cref: random field globally conditioned observation X</a:t>
            </a:r>
          </a:p>
          <a:p>
            <a:r>
              <a:t>  4. A discriminatory model: Maximum Entropy Model</a:t>
            </a:r>
          </a:p>
          <a:p/>
          <a:p>
            <a:r>
              <a:t>Pause: ask the class what they already know about “Glossary: Such word” before revealing the slide.</a:t>
            </a:r>
          </a:p>
          <a:p/>
          <a:p>
            <a:r>
              <a:t>~40s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one click at a time:</a:t>
            </a:r>
          </a:p>
          <a:p>
            <a:r>
              <a:t>  1. POS Tagging: Types of POS Tagging</a:t>
            </a:r>
          </a:p>
          <a:p>
            <a:r>
              <a:t>  2. WHY HIDDEN, MARKOV MODEL?: The reason it is called a Hidden Markov Model is because an inference model is constructed ba</a:t>
            </a:r>
          </a:p>
          <a:p>
            <a:r>
              <a:t>  3. create a path probability matrix viter: Limitations of HMM POS Tagging</a:t>
            </a:r>
          </a:p>
          <a:p>
            <a:r>
              <a:t>  4. Features Features | Weight Weight (Not: Solution is Conditional Random Field (CRF)</a:t>
            </a:r>
          </a:p>
          <a:p>
            <a:r>
              <a:t>  5. CONSTITUENTS: HEADS AND DEPENDENTS: There are different kinds of constituents:</a:t>
            </a:r>
          </a:p>
          <a:p>
            <a:r>
              <a:t>  6. SUBCATEGORIZATION: Sneeze: John sneezed</a:t>
            </a:r>
          </a:p>
          <a:p>
            <a:r>
              <a:t>  7. CHOMSKY NORMAL FORM: Normal Form is described by a set of conditions that each rule in the grammar must satisfy</a:t>
            </a:r>
          </a:p>
          <a:p/>
          <a:p>
            <a:r>
              <a:t>Read these exactly (do not paraphrase):</a:t>
            </a:r>
          </a:p>
          <a:p>
            <a:r>
              <a:t>  - Key takeaways POS Tagging: Types of POS Tagging WHY HIDDEN, MARKOV MODEL?: The reason it is called a Hidden Markov Model is because an inference model is constructed based on the assumptions… create a path probability matrix viter: Limitations of HMM POS Tagging Features Features | Weight Weight (Not: Solution is Conditional Random Field (CRF) CONSTITUENTS: HEADS AND DEPENDENTS: There are different kinds of constituents: SUBCATEGORIZATION: Sneeze: John sneezed CHOMSKY NORMAL FORM: Normal Form is described by a set of conditions that each rule in the grammar must satisfy</a:t>
            </a:r>
          </a:p>
          <a:p/>
          <a:p>
            <a:r>
              <a:t>Pause: ask the class what they already know about “Key takeaways” before revealing the slide.</a:t>
            </a:r>
          </a:p>
          <a:p/>
          <a:p>
            <a:r>
              <a:t>Wording matters here — slow down, keep it precise.</a:t>
            </a:r>
          </a:p>
          <a:p/>
          <a:p>
            <a:r>
              <a:t>~61s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ocalhost:8000/api/art/a807328528e4761d0b3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localhost:8000/api/labs/pos_tagging_hmm" TargetMode="External"/><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hyperlink" Target="http://localhost:8000/api/labs/pos_tagging_hmm" TargetMode="Externa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image" Target="../media/image13.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hyperlink" Target="http://localhost:8000/api/art/cb34dd1a87a4a488c96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hyperlink" Target="http://localhost:8000/api/art/55861cd86e41ec3bc07f" TargetMode="External"/><Relationship Id="rId5" Type="http://schemas.openxmlformats.org/officeDocument/2006/relationships/image" Target="../media/image7.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hyperlink" Target="http://localhost:8000/api/art/9ea2be8cb2894fb7c12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hyperlink" Target="http://localhost:8000/api/art/4f19cdd279771e71dbeb" TargetMode="External"/><Relationship Id="rId5" Type="http://schemas.openxmlformats.org/officeDocument/2006/relationships/image" Target="../media/image26.png"/><Relationship Id="rId6"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hyperlink" Target="http://localhost:8000/api/art/3db9b1b6b062c60d617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hyperlink" Target="http://localhost:8000/api/art/1a76e0b8cbd4de85be8a" TargetMode="External"/><Relationship Id="rId5" Type="http://schemas.openxmlformats.org/officeDocument/2006/relationships/image" Target="../media/image31.png"/><Relationship Id="rId6" Type="http://schemas.openxmlformats.org/officeDocument/2006/relationships/image" Target="../media/image9.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hyperlink" Target="http://localhost:8000/api/art/57161994f7002de979bd" TargetMode="External"/><Relationship Id="rId5" Type="http://schemas.openxmlformats.org/officeDocument/2006/relationships/image" Target="../media/image9.png"/><Relationship Id="rId6"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8.png"/><Relationship Id="rId4" Type="http://schemas.openxmlformats.org/officeDocument/2006/relationships/hyperlink" Target="http://localhost:8000/api/art/3f5806bbb27763a76b0c" TargetMode="External"/><Relationship Id="rId5" Type="http://schemas.openxmlformats.org/officeDocument/2006/relationships/image" Target="../media/image9.png"/><Relationship Id="rId6"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hyperlink" Target="http://localhost:8000/api/art/3aaf95a61fd4a3cf398e" TargetMode="External"/><Relationship Id="rId5" Type="http://schemas.openxmlformats.org/officeDocument/2006/relationships/image" Target="../media/image42.png"/><Relationship Id="rId6"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hyperlink" Target="http://localhost:8000/api/art/077fb2613e274ace80b3"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5.png"/><Relationship Id="rId4" Type="http://schemas.openxmlformats.org/officeDocument/2006/relationships/hyperlink" Target="http://localhost:8000/api/art/71e71eaadbf9abf4d276" TargetMode="External"/><Relationship Id="rId5" Type="http://schemas.openxmlformats.org/officeDocument/2006/relationships/hyperlink" Target="http://localhost:8000/api/labs/bigram_mode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8.png"/><Relationship Id="rId4" Type="http://schemas.openxmlformats.org/officeDocument/2006/relationships/hyperlink" Target="http://localhost:8000/api/art/7677a840bf89cc86732b"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5.png"/><Relationship Id="rId4" Type="http://schemas.openxmlformats.org/officeDocument/2006/relationships/hyperlink" Target="http://localhost:8000/api/art/72d978956ff133c9b2d2" TargetMode="External"/><Relationship Id="rId5" Type="http://schemas.openxmlformats.org/officeDocument/2006/relationships/hyperlink" Target="http://localhost:8000/api/labs/bigram_mode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6.png"/><Relationship Id="rId4" Type="http://schemas.openxmlformats.org/officeDocument/2006/relationships/hyperlink" Target="http://localhost:8000/api/art/0e3dcef0f026a071ab06"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hyperlink" Target="http://localhost:8000/api/labs/viterbi_hmm" TargetMode="External"/><Relationship Id="rId4" Type="http://schemas.openxmlformats.org/officeDocument/2006/relationships/image" Target="../media/image5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8.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6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66.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6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6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69.png"/><Relationship Id="rId4" Type="http://schemas.openxmlformats.org/officeDocument/2006/relationships/hyperlink" Target="http://localhost:8000/api/art/2bff15091021c8fcc53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7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7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7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73.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74.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7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76.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7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7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80.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hyperlink" Target="http://localhost:8000/api/labs/viterbi_hmm" TargetMode="External"/><Relationship Id="rId4" Type="http://schemas.openxmlformats.org/officeDocument/2006/relationships/image" Target="../media/image8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82.jpg"/><Relationship Id="rId4" Type="http://schemas.openxmlformats.org/officeDocument/2006/relationships/image" Target="../media/image7.png"/><Relationship Id="rId5"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8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8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85.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8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8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88.png"/><Relationship Id="rId4" Type="http://schemas.openxmlformats.org/officeDocument/2006/relationships/hyperlink" Target="http://localhost:8000/api/art/97e0e8858c956f3f48fd" TargetMode="External"/><Relationship Id="rId5" Type="http://schemas.openxmlformats.org/officeDocument/2006/relationships/image" Target="../media/image42.png"/><Relationship Id="rId6" Type="http://schemas.openxmlformats.org/officeDocument/2006/relationships/image" Target="../media/image7.png"/><Relationship Id="rId7" Type="http://schemas.openxmlformats.org/officeDocument/2006/relationships/image" Target="../media/image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8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image" Target="../media/image90.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91.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9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93.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94.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 Id="rId3" Type="http://schemas.openxmlformats.org/officeDocument/2006/relationships/image" Target="../media/image95.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96.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97.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9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99.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100.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0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102.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103.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104.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105.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106.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107.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108.png"/><Relationship Id="rId4" Type="http://schemas.openxmlformats.org/officeDocument/2006/relationships/hyperlink" Target="http://localhost:8000/api/art/d72a55e227cabd95c0c3"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109.png"/><Relationship Id="rId4" Type="http://schemas.openxmlformats.org/officeDocument/2006/relationships/hyperlink" Target="http://localhost:8000/api/art/3257dcf4eec588f4c0e2" TargetMode="Externa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11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 Id="rId3" Type="http://schemas.openxmlformats.org/officeDocument/2006/relationships/image" Target="../media/image11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11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11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11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11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 Id="rId3" Type="http://schemas.openxmlformats.org/officeDocument/2006/relationships/image" Target="../media/image116.png"/><Relationship Id="rId4" Type="http://schemas.openxmlformats.org/officeDocument/2006/relationships/hyperlink" Target="http://localhost:8000/api/art/581416ed1d71aac5b38f"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 Id="rId3" Type="http://schemas.openxmlformats.org/officeDocument/2006/relationships/image" Target="../media/image117.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 Id="rId3" Type="http://schemas.openxmlformats.org/officeDocument/2006/relationships/image" Target="../media/image11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11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 Id="rId3" Type="http://schemas.openxmlformats.org/officeDocument/2006/relationships/image" Target="../media/image120.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121.png"/><Relationship Id="rId4" Type="http://schemas.openxmlformats.org/officeDocument/2006/relationships/hyperlink" Target="http://localhost:8000/api/art/39fe95fa0a7d15cfea6a" TargetMode="External"/><Relationship Id="rId5" Type="http://schemas.openxmlformats.org/officeDocument/2006/relationships/image" Target="../media/image122.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123.png"/><Relationship Id="rId9" Type="http://schemas.openxmlformats.org/officeDocument/2006/relationships/image" Target="../media/image14.png"/><Relationship Id="rId10" Type="http://schemas.openxmlformats.org/officeDocument/2006/relationships/image" Target="../media/image12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openxmlformats.org/officeDocument/2006/relationships/image" Target="../media/image125.png"/><Relationship Id="rId4" Type="http://schemas.openxmlformats.org/officeDocument/2006/relationships/hyperlink" Target="http://localhost:8000/api/art/d92f15e8e63140a9187a"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126.png"/><Relationship Id="rId4" Type="http://schemas.openxmlformats.org/officeDocument/2006/relationships/hyperlink" Target="http://localhost:8000/api/art/5b7998f5a45455980062"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127.png"/><Relationship Id="rId4" Type="http://schemas.openxmlformats.org/officeDocument/2006/relationships/hyperlink" Target="http://localhost:8000/api/art/8ebbd66d2c629343c336" TargetMode="External"/><Relationship Id="rId5" Type="http://schemas.openxmlformats.org/officeDocument/2006/relationships/image" Target="../media/image128.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2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130.png"/><Relationship Id="rId4" Type="http://schemas.openxmlformats.org/officeDocument/2006/relationships/hyperlink" Target="http://localhost:8000/api/art/b9995ab3a9fa149d812b" TargetMode="External"/><Relationship Id="rId5" Type="http://schemas.openxmlformats.org/officeDocument/2006/relationships/image" Target="../media/image7.png"/><Relationship Id="rId6" Type="http://schemas.openxmlformats.org/officeDocument/2006/relationships/image" Target="../media/image131.png"/><Relationship Id="rId7" Type="http://schemas.openxmlformats.org/officeDocument/2006/relationships/image" Target="../media/image33.png"/><Relationship Id="rId8" Type="http://schemas.openxmlformats.org/officeDocument/2006/relationships/image" Target="../media/image128.png"/><Relationship Id="rId9" Type="http://schemas.openxmlformats.org/officeDocument/2006/relationships/image" Target="../media/image132.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133.png"/><Relationship Id="rId4" Type="http://schemas.openxmlformats.org/officeDocument/2006/relationships/hyperlink" Target="http://localhost:8000/api/art/73ed196d5e488fc34133" TargetMode="Externa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image" Target="../media/image134.png"/><Relationship Id="rId4" Type="http://schemas.openxmlformats.org/officeDocument/2006/relationships/hyperlink" Target="http://localhost:8000/api/art/4ecfa6ec6efc486ed880" TargetMode="External"/><Relationship Id="rId5" Type="http://schemas.openxmlformats.org/officeDocument/2006/relationships/image" Target="../media/image27.png"/><Relationship Id="rId6" Type="http://schemas.openxmlformats.org/officeDocument/2006/relationships/image" Target="../media/image33.png"/><Relationship Id="rId7" Type="http://schemas.openxmlformats.org/officeDocument/2006/relationships/image" Target="../media/image128.png"/><Relationship Id="rId8" Type="http://schemas.openxmlformats.org/officeDocument/2006/relationships/image" Target="../media/image135.png"/><Relationship Id="rId9" Type="http://schemas.openxmlformats.org/officeDocument/2006/relationships/image" Target="../media/image136.png"/><Relationship Id="rId10" Type="http://schemas.openxmlformats.org/officeDocument/2006/relationships/image" Target="../media/image13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 Id="rId3" Type="http://schemas.openxmlformats.org/officeDocument/2006/relationships/image" Target="../media/image138.png"/><Relationship Id="rId4" Type="http://schemas.openxmlformats.org/officeDocument/2006/relationships/hyperlink" Target="http://localhost:8000/api/art/cb73356bf3224af718d7" TargetMode="Externa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image" Target="../media/image139.png"/><Relationship Id="rId4" Type="http://schemas.openxmlformats.org/officeDocument/2006/relationships/hyperlink" Target="http://localhost:8000/api/art/217f765cd607c959062e" TargetMode="Externa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140.png"/><Relationship Id="rId4" Type="http://schemas.openxmlformats.org/officeDocument/2006/relationships/hyperlink" Target="http://localhost:8000/api/art/002623b32395621dfd46" TargetMode="External"/><Relationship Id="rId5" Type="http://schemas.openxmlformats.org/officeDocument/2006/relationships/image" Target="../media/image137.png"/><Relationship Id="rId6" Type="http://schemas.openxmlformats.org/officeDocument/2006/relationships/image" Target="../media/image141.png"/><Relationship Id="rId7" Type="http://schemas.openxmlformats.org/officeDocument/2006/relationships/image" Target="../media/image7.png"/><Relationship Id="rId8" Type="http://schemas.openxmlformats.org/officeDocument/2006/relationships/image" Target="../media/image43.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14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143.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image" Target="../media/image144.png"/><Relationship Id="rId4" Type="http://schemas.openxmlformats.org/officeDocument/2006/relationships/hyperlink" Target="http://localhost:8000/api/art/c8345ccd33a1d763e501" TargetMode="External"/><Relationship Id="rId5" Type="http://schemas.openxmlformats.org/officeDocument/2006/relationships/image" Target="../media/image123.png"/><Relationship Id="rId6" Type="http://schemas.openxmlformats.org/officeDocument/2006/relationships/image" Target="../media/image7.png"/><Relationship Id="rId7" Type="http://schemas.openxmlformats.org/officeDocument/2006/relationships/image" Target="../media/image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openxmlformats.org/officeDocument/2006/relationships/image" Target="../media/image145.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 Id="rId3" Type="http://schemas.openxmlformats.org/officeDocument/2006/relationships/image" Target="../media/image146.png"/><Relationship Id="rId4" Type="http://schemas.openxmlformats.org/officeDocument/2006/relationships/hyperlink" Target="http://localhost:8000/api/art/30649a5cd5e09450d30b"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 Id="rId3" Type="http://schemas.openxmlformats.org/officeDocument/2006/relationships/image" Target="../media/image147.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image" Target="../media/image148.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 Id="rId3" Type="http://schemas.openxmlformats.org/officeDocument/2006/relationships/image" Target="../media/image149.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image" Target="../media/image150.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 Id="rId3" Type="http://schemas.openxmlformats.org/officeDocument/2006/relationships/image" Target="../media/image15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 Id="rId3" Type="http://schemas.openxmlformats.org/officeDocument/2006/relationships/image" Target="../media/image152.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153.png"/><Relationship Id="rId4" Type="http://schemas.openxmlformats.org/officeDocument/2006/relationships/hyperlink" Target="http://localhost:8000/api/art/5d2028e1bce2a84e1a42" TargetMode="External"/><Relationship Id="rId5" Type="http://schemas.openxmlformats.org/officeDocument/2006/relationships/image" Target="../media/image154.png"/><Relationship Id="rId6" Type="http://schemas.openxmlformats.org/officeDocument/2006/relationships/image" Target="../media/image7.png"/><Relationship Id="rId7" Type="http://schemas.openxmlformats.org/officeDocument/2006/relationships/image" Target="../media/image128.png"/><Relationship Id="rId8" Type="http://schemas.openxmlformats.org/officeDocument/2006/relationships/image" Target="../media/image8.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 Id="rId3" Type="http://schemas.openxmlformats.org/officeDocument/2006/relationships/image" Target="../media/image155.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 Id="rId3" Type="http://schemas.openxmlformats.org/officeDocument/2006/relationships/image" Target="../media/image156.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 Id="rId3" Type="http://schemas.openxmlformats.org/officeDocument/2006/relationships/image" Target="../media/image157.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image" Target="../media/image158.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 Id="rId3" Type="http://schemas.openxmlformats.org/officeDocument/2006/relationships/image" Target="../media/image159.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 Id="rId3" Type="http://schemas.openxmlformats.org/officeDocument/2006/relationships/image" Target="../media/image160.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 Id="rId3" Type="http://schemas.openxmlformats.org/officeDocument/2006/relationships/image" Target="../media/image161.jp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 Id="rId3" Type="http://schemas.openxmlformats.org/officeDocument/2006/relationships/image" Target="../media/image162.jp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 Id="rId3" Type="http://schemas.openxmlformats.org/officeDocument/2006/relationships/image" Target="../media/image163.png"/><Relationship Id="rId4" Type="http://schemas.openxmlformats.org/officeDocument/2006/relationships/hyperlink" Target="http://localhost:8000/api/art/7dcd382d6f6fe31f333f" TargetMode="Externa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 Id="rId3" Type="http://schemas.openxmlformats.org/officeDocument/2006/relationships/image" Target="../media/image164.png"/><Relationship Id="rId4" Type="http://schemas.openxmlformats.org/officeDocument/2006/relationships/hyperlink" Target="http://localhost:8000/api/art/9e09b732e0ad5e46c648"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image" Target="../media/image165.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 Id="rId3" Type="http://schemas.openxmlformats.org/officeDocument/2006/relationships/image" Target="../media/image166.png"/><Relationship Id="rId4" Type="http://schemas.openxmlformats.org/officeDocument/2006/relationships/hyperlink" Target="http://localhost:8000/api/art/789d9e29a061d9442543" TargetMode="External"/><Relationship Id="rId5" Type="http://schemas.openxmlformats.org/officeDocument/2006/relationships/hyperlink" Target="http://localhost:8000/api/labs/auto-33ab1904a41b"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 Id="rId3" Type="http://schemas.openxmlformats.org/officeDocument/2006/relationships/image" Target="../media/image167.png"/><Relationship Id="rId4" Type="http://schemas.openxmlformats.org/officeDocument/2006/relationships/hyperlink" Target="http://localhost:8000/api/art/2eedd5bb77df74143d84" TargetMode="External"/><Relationship Id="rId5" Type="http://schemas.openxmlformats.org/officeDocument/2006/relationships/image" Target="../media/image168.png"/><Relationship Id="rId6" Type="http://schemas.openxmlformats.org/officeDocument/2006/relationships/image" Target="../media/image169.png"/><Relationship Id="rId7" Type="http://schemas.openxmlformats.org/officeDocument/2006/relationships/image" Target="../media/image9.png"/><Relationship Id="rId8" Type="http://schemas.openxmlformats.org/officeDocument/2006/relationships/image" Target="../media/image33.png"/><Relationship Id="rId9" Type="http://schemas.openxmlformats.org/officeDocument/2006/relationships/image" Target="../media/image170.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 Id="rId3" Type="http://schemas.openxmlformats.org/officeDocument/2006/relationships/image" Target="../media/image171.png"/><Relationship Id="rId4" Type="http://schemas.openxmlformats.org/officeDocument/2006/relationships/hyperlink" Target="http://localhost:8000/api/art/2b0406fc19e3b58559ae" TargetMode="External"/><Relationship Id="rId5" Type="http://schemas.openxmlformats.org/officeDocument/2006/relationships/image" Target="../media/image168.png"/><Relationship Id="rId6" Type="http://schemas.openxmlformats.org/officeDocument/2006/relationships/image" Target="../media/image39.png"/><Relationship Id="rId7" Type="http://schemas.openxmlformats.org/officeDocument/2006/relationships/image" Target="../media/image9.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 Id="rId3" Type="http://schemas.openxmlformats.org/officeDocument/2006/relationships/image" Target="../media/image17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 Id="rId3" Type="http://schemas.openxmlformats.org/officeDocument/2006/relationships/image" Target="../media/image173.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 Id="rId3" Type="http://schemas.openxmlformats.org/officeDocument/2006/relationships/image" Target="../media/image174.png"/><Relationship Id="rId4" Type="http://schemas.openxmlformats.org/officeDocument/2006/relationships/hyperlink" Target="http://localhost:8000/api/art/cdc425acd4f7dde3e3bc"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 Id="rId3" Type="http://schemas.openxmlformats.org/officeDocument/2006/relationships/image" Target="../media/image175.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 Id="rId3" Type="http://schemas.openxmlformats.org/officeDocument/2006/relationships/image" Target="../media/image176.png"/><Relationship Id="rId4" Type="http://schemas.openxmlformats.org/officeDocument/2006/relationships/hyperlink" Target="http://localhost:8000/api/art/b679b688e8e0f8888bf3" TargetMode="Externa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 Id="rId3" Type="http://schemas.openxmlformats.org/officeDocument/2006/relationships/image" Target="../media/image177.png"/><Relationship Id="rId4" Type="http://schemas.openxmlformats.org/officeDocument/2006/relationships/hyperlink" Target="http://localhost:8000/api/art/952b8cc7424bc4014bba" TargetMode="External"/><Relationship Id="rId5" Type="http://schemas.openxmlformats.org/officeDocument/2006/relationships/image" Target="../media/image136.png"/><Relationship Id="rId6" Type="http://schemas.openxmlformats.org/officeDocument/2006/relationships/image" Target="../media/image124.png"/><Relationship Id="rId7" Type="http://schemas.openxmlformats.org/officeDocument/2006/relationships/image" Target="../media/image9.png"/><Relationship Id="rId8" Type="http://schemas.openxmlformats.org/officeDocument/2006/relationships/image" Target="../media/image178.png"/><Relationship Id="rId9" Type="http://schemas.openxmlformats.org/officeDocument/2006/relationships/image" Target="../media/image179.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 Id="rId3" Type="http://schemas.openxmlformats.org/officeDocument/2006/relationships/image" Target="../media/image180.png"/><Relationship Id="rId4" Type="http://schemas.openxmlformats.org/officeDocument/2006/relationships/hyperlink" Target="http://localhost:8000/api/art/5a992efa73936aa15cf7" TargetMode="Externa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 Id="rId3" Type="http://schemas.openxmlformats.org/officeDocument/2006/relationships/image" Target="../media/image181.png"/><Relationship Id="rId4" Type="http://schemas.openxmlformats.org/officeDocument/2006/relationships/hyperlink" Target="http://localhost:8000/api/art/fd68b601b6a22d8ce720" TargetMode="Externa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 Id="rId3" Type="http://schemas.openxmlformats.org/officeDocument/2006/relationships/image" Target="../media/image18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image" Target="../media/image183.png"/><Relationship Id="rId4" Type="http://schemas.openxmlformats.org/officeDocument/2006/relationships/hyperlink" Target="http://localhost:8000/api/art/3f1de941fca230ed9f67" TargetMode="Externa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 Id="rId3" Type="http://schemas.openxmlformats.org/officeDocument/2006/relationships/image" Target="../media/image184.png"/><Relationship Id="rId4" Type="http://schemas.openxmlformats.org/officeDocument/2006/relationships/hyperlink" Target="http://localhost:8000/api/art/3b486fb816eff5102a82" TargetMode="Externa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185.png"/><Relationship Id="rId4" Type="http://schemas.openxmlformats.org/officeDocument/2006/relationships/hyperlink" Target="http://localhost:8000/api/art/af384549e2487bf375bc" TargetMode="External"/><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3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186.png"/><Relationship Id="rId4" Type="http://schemas.openxmlformats.org/officeDocument/2006/relationships/hyperlink" Target="http://localhost:8000/api/art/3475a50128366d64e7c1" TargetMode="Externa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 Id="rId3" Type="http://schemas.openxmlformats.org/officeDocument/2006/relationships/image" Target="../media/image187.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image" Target="../media/image188.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image" Target="../media/image189.png"/><Relationship Id="rId4" Type="http://schemas.openxmlformats.org/officeDocument/2006/relationships/hyperlink" Target="http://localhost:8000/api/art/dcfd53364a41a73a856b" TargetMode="Externa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image" Target="../media/image190.png"/><Relationship Id="rId4" Type="http://schemas.openxmlformats.org/officeDocument/2006/relationships/hyperlink" Target="http://localhost:8000/api/art/abeb139feb963cfd5885" TargetMode="Externa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191.png"/><Relationship Id="rId4" Type="http://schemas.openxmlformats.org/officeDocument/2006/relationships/hyperlink" Target="http://localhost:8000/api/art/d4ef55a5f44d2ebf5ed7" TargetMode="Externa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 Id="rId3" Type="http://schemas.openxmlformats.org/officeDocument/2006/relationships/image" Target="../media/image192.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19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 Id="rId3" Type="http://schemas.openxmlformats.org/officeDocument/2006/relationships/image" Target="../media/image19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image" Target="../media/image19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 Id="rId3" Type="http://schemas.openxmlformats.org/officeDocument/2006/relationships/image" Target="../media/image196.png"/><Relationship Id="rId4" Type="http://schemas.openxmlformats.org/officeDocument/2006/relationships/hyperlink" Target="http://localhost:8000/api/art/e8b13094a56487cce169" TargetMode="Externa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image" Target="../media/image197.png"/><Relationship Id="rId4" Type="http://schemas.openxmlformats.org/officeDocument/2006/relationships/hyperlink" Target="http://localhost:8000/api/art/952ecc2096a9850a45f2" TargetMode="Externa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198.png"/><Relationship Id="rId4" Type="http://schemas.openxmlformats.org/officeDocument/2006/relationships/hyperlink" Target="http://localhost:8000/api/art/6938e4a68e9645536292" TargetMode="External"/><Relationship Id="rId5" Type="http://schemas.openxmlformats.org/officeDocument/2006/relationships/image" Target="../media/image199.png"/><Relationship Id="rId6" Type="http://schemas.openxmlformats.org/officeDocument/2006/relationships/image" Target="../media/image200.png"/><Relationship Id="rId7" Type="http://schemas.openxmlformats.org/officeDocument/2006/relationships/image" Target="../media/image201.png"/><Relationship Id="rId8" Type="http://schemas.openxmlformats.org/officeDocument/2006/relationships/image" Target="../media/image7.png"/><Relationship Id="rId9" Type="http://schemas.openxmlformats.org/officeDocument/2006/relationships/image" Target="../media/image8.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 Id="rId3" Type="http://schemas.openxmlformats.org/officeDocument/2006/relationships/image" Target="../media/image202.png"/><Relationship Id="rId4" Type="http://schemas.openxmlformats.org/officeDocument/2006/relationships/hyperlink" Target="http://localhost:8000/api/art/59e97dceccabda666544" TargetMode="Externa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 Id="rId3" Type="http://schemas.openxmlformats.org/officeDocument/2006/relationships/image" Target="../media/image203.png"/><Relationship Id="rId4" Type="http://schemas.openxmlformats.org/officeDocument/2006/relationships/hyperlink" Target="http://localhost:8000/api/art/7f155014f107cb5bfdc9" TargetMode="Externa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 Id="rId3" Type="http://schemas.openxmlformats.org/officeDocument/2006/relationships/image" Target="../media/image204.png"/><Relationship Id="rId4" Type="http://schemas.openxmlformats.org/officeDocument/2006/relationships/hyperlink" Target="http://localhost:8000/api/art/e09d170783c6e9a5abd6" TargetMode="Externa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 Id="rId3" Type="http://schemas.openxmlformats.org/officeDocument/2006/relationships/image" Target="../media/image205.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206.png"/><Relationship Id="rId4" Type="http://schemas.openxmlformats.org/officeDocument/2006/relationships/hyperlink" Target="http://localhost:8000/api/art/ac92a36f495b6310d511" TargetMode="Externa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 Id="rId3" Type="http://schemas.openxmlformats.org/officeDocument/2006/relationships/hyperlink" Target="http://localhost:8000/api/labs/auto-3f39509c17fa" TargetMode="External"/><Relationship Id="rId4" Type="http://schemas.openxmlformats.org/officeDocument/2006/relationships/image" Target="../media/image207.png"/><Relationship Id="rId5" Type="http://schemas.openxmlformats.org/officeDocument/2006/relationships/hyperlink" Target="http://localhost:8000/api/art/4e84e1c97ddd01afc460" TargetMode="External"/><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8.png"/><Relationship Id="rId9" Type="http://schemas.openxmlformats.org/officeDocument/2006/relationships/image" Target="../media/image208.png"/><Relationship Id="rId10" Type="http://schemas.openxmlformats.org/officeDocument/2006/relationships/image" Target="../media/image209.png"/><Relationship Id="rId11" Type="http://schemas.openxmlformats.org/officeDocument/2006/relationships/image" Target="../media/image210.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211.png"/><Relationship Id="rId4" Type="http://schemas.openxmlformats.org/officeDocument/2006/relationships/hyperlink" Target="http://localhost:8000/api/art/367eb93a32e03554cb31" TargetMode="Externa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 Id="rId3" Type="http://schemas.openxmlformats.org/officeDocument/2006/relationships/image" Target="../media/image212.png"/><Relationship Id="rId4" Type="http://schemas.openxmlformats.org/officeDocument/2006/relationships/hyperlink" Target="http://localhost:8000/api/art/01ba6539009405d4b90d" TargetMode="External"/><Relationship Id="rId5" Type="http://schemas.openxmlformats.org/officeDocument/2006/relationships/hyperlink" Target="http://localhost:8000/api/labs/auto-ed890e607fed" TargetMode="Externa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 Id="rId3" Type="http://schemas.openxmlformats.org/officeDocument/2006/relationships/image" Target="../media/image213.png"/><Relationship Id="rId4" Type="http://schemas.openxmlformats.org/officeDocument/2006/relationships/hyperlink" Target="http://localhost:8000/api/art/421825729ba66d389fd0" TargetMode="Externa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 Id="rId3" Type="http://schemas.openxmlformats.org/officeDocument/2006/relationships/image" Target="../media/image214.png"/><Relationship Id="rId4" Type="http://schemas.openxmlformats.org/officeDocument/2006/relationships/hyperlink" Target="http://localhost:8000/api/art/4d4d8f9759f3ddde2437" TargetMode="External"/><Relationship Id="rId5" Type="http://schemas.openxmlformats.org/officeDocument/2006/relationships/hyperlink" Target="http://localhost:8000/api/labs/auto-c95ce52ec1f6" TargetMode="Externa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 Id="rId3" Type="http://schemas.openxmlformats.org/officeDocument/2006/relationships/image" Target="../media/image215.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 Id="rId3" Type="http://schemas.openxmlformats.org/officeDocument/2006/relationships/image" Target="../media/image216.png"/><Relationship Id="rId4" Type="http://schemas.openxmlformats.org/officeDocument/2006/relationships/hyperlink" Target="http://localhost:8000/api/art/1ab20593c430c3b45e6a"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 Id="rId3" Type="http://schemas.openxmlformats.org/officeDocument/2006/relationships/image" Target="../media/image217.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 Id="rId3" Type="http://schemas.openxmlformats.org/officeDocument/2006/relationships/image" Target="../media/image218.png"/><Relationship Id="rId4" Type="http://schemas.openxmlformats.org/officeDocument/2006/relationships/image" Target="../media/image210.png"/><Relationship Id="rId5" Type="http://schemas.openxmlformats.org/officeDocument/2006/relationships/image" Target="../media/image7.png"/><Relationship Id="rId6" Type="http://schemas.openxmlformats.org/officeDocument/2006/relationships/image" Target="../media/image154.png"/><Relationship Id="rId7" Type="http://schemas.openxmlformats.org/officeDocument/2006/relationships/image" Target="../media/image219.png"/><Relationship Id="rId8" Type="http://schemas.openxmlformats.org/officeDocument/2006/relationships/image" Target="../media/image220.png"/><Relationship Id="rId9" Type="http://schemas.openxmlformats.org/officeDocument/2006/relationships/image" Target="../media/image8.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 Id="rId3" Type="http://schemas.openxmlformats.org/officeDocument/2006/relationships/image" Target="../media/image218.png"/><Relationship Id="rId4" Type="http://schemas.openxmlformats.org/officeDocument/2006/relationships/image" Target="../media/image210.png"/><Relationship Id="rId5" Type="http://schemas.openxmlformats.org/officeDocument/2006/relationships/image" Target="../media/image7.png"/><Relationship Id="rId6" Type="http://schemas.openxmlformats.org/officeDocument/2006/relationships/image" Target="../media/image199.png"/><Relationship Id="rId7" Type="http://schemas.openxmlformats.org/officeDocument/2006/relationships/image" Target="../media/image219.png"/><Relationship Id="rId8" Type="http://schemas.openxmlformats.org/officeDocument/2006/relationships/image" Target="../media/image8.png"/><Relationship Id="rId9" Type="http://schemas.openxmlformats.org/officeDocument/2006/relationships/image" Target="../media/image10.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image" Target="../media/image22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 Id="rId3" Type="http://schemas.openxmlformats.org/officeDocument/2006/relationships/image" Target="../media/image222.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 Id="rId3" Type="http://schemas.openxmlformats.org/officeDocument/2006/relationships/image" Target="../media/image223.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 Id="rId3" Type="http://schemas.openxmlformats.org/officeDocument/2006/relationships/image" Target="../media/image224.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 Id="rId3" Type="http://schemas.openxmlformats.org/officeDocument/2006/relationships/image" Target="../media/image225.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 Id="rId3" Type="http://schemas.openxmlformats.org/officeDocument/2006/relationships/image" Target="../media/image226.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 Id="rId3" Type="http://schemas.openxmlformats.org/officeDocument/2006/relationships/image" Target="../media/image227.png"/><Relationship Id="rId4" Type="http://schemas.openxmlformats.org/officeDocument/2006/relationships/hyperlink" Target="http://localhost:8000/api/art/0b8e53e5d70973e76f7c" TargetMode="External"/><Relationship Id="rId5" Type="http://schemas.openxmlformats.org/officeDocument/2006/relationships/hyperlink" Target="http://localhost:8000/api/labs/auto-dd326c6d0467" TargetMode="Externa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 Id="rId3" Type="http://schemas.openxmlformats.org/officeDocument/2006/relationships/image" Target="../media/image228.png"/><Relationship Id="rId4" Type="http://schemas.openxmlformats.org/officeDocument/2006/relationships/hyperlink" Target="http://localhost:8000/api/art/7ff182122c3e2eb7e4d6" TargetMode="External"/><Relationship Id="rId5" Type="http://schemas.openxmlformats.org/officeDocument/2006/relationships/hyperlink" Target="http://localhost:8000/api/labs/cyk_parsing" TargetMode="Externa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 Id="rId3" Type="http://schemas.openxmlformats.org/officeDocument/2006/relationships/image" Target="../media/image229.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 Id="rId3" Type="http://schemas.openxmlformats.org/officeDocument/2006/relationships/image" Target="../media/image230.png"/><Relationship Id="rId4" Type="http://schemas.openxmlformats.org/officeDocument/2006/relationships/hyperlink" Target="http://localhost:8000/api/art/42422c9deeca1c4a8f02" TargetMode="External"/><Relationship Id="rId5" Type="http://schemas.openxmlformats.org/officeDocument/2006/relationships/hyperlink" Target="http://localhost:8000/api/labs/cyk_parsing" TargetMode="Externa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 Id="rId3" Type="http://schemas.openxmlformats.org/officeDocument/2006/relationships/image" Target="../media/image231.png"/><Relationship Id="rId4" Type="http://schemas.openxmlformats.org/officeDocument/2006/relationships/hyperlink" Target="http://localhost:8000/api/art/786ca2470b0da63f772b" TargetMode="External"/><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0.png"/><Relationship Id="rId8" Type="http://schemas.openxmlformats.org/officeDocument/2006/relationships/image" Target="../media/image14.png"/><Relationship Id="rId9" Type="http://schemas.openxmlformats.org/officeDocument/2006/relationships/image" Target="../media/image232.png"/><Relationship Id="rId10" Type="http://schemas.openxmlformats.org/officeDocument/2006/relationships/image" Target="../media/image43.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 Id="rId3" Type="http://schemas.openxmlformats.org/officeDocument/2006/relationships/image" Target="../media/image233.png"/><Relationship Id="rId4" Type="http://schemas.openxmlformats.org/officeDocument/2006/relationships/hyperlink" Target="http://localhost:8000/api/art/e710702dd82dec3e7160" TargetMode="Externa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 Id="rId3" Type="http://schemas.openxmlformats.org/officeDocument/2006/relationships/image" Target="../media/image234.png"/><Relationship Id="rId4" Type="http://schemas.openxmlformats.org/officeDocument/2006/relationships/hyperlink" Target="http://localhost:8000/api/art/8c2a3664c5cbc456af63" TargetMode="External"/><Relationship Id="rId5" Type="http://schemas.openxmlformats.org/officeDocument/2006/relationships/image" Target="../media/image235.png"/><Relationship Id="rId6" Type="http://schemas.openxmlformats.org/officeDocument/2006/relationships/image" Target="../media/image43.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10.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 Id="rId3" Type="http://schemas.openxmlformats.org/officeDocument/2006/relationships/image" Target="../media/image236.png"/><Relationship Id="rId4" Type="http://schemas.openxmlformats.org/officeDocument/2006/relationships/hyperlink" Target="http://localhost:8000/api/art/5b5f282e081246e11d17" TargetMode="Externa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 Id="rId3" Type="http://schemas.openxmlformats.org/officeDocument/2006/relationships/image" Target="../media/image237.png"/><Relationship Id="rId4" Type="http://schemas.openxmlformats.org/officeDocument/2006/relationships/hyperlink" Target="http://localhost:8000/api/art/8193f0478f267002d161" TargetMode="External"/><Relationship Id="rId5" Type="http://schemas.openxmlformats.org/officeDocument/2006/relationships/image" Target="../media/image124.png"/><Relationship Id="rId6" Type="http://schemas.openxmlformats.org/officeDocument/2006/relationships/image" Target="../media/image7.png"/><Relationship Id="rId7" Type="http://schemas.openxmlformats.org/officeDocument/2006/relationships/image" Target="../media/image238.png"/><Relationship Id="rId8" Type="http://schemas.openxmlformats.org/officeDocument/2006/relationships/image" Target="../media/image128.png"/><Relationship Id="rId9" Type="http://schemas.openxmlformats.org/officeDocument/2006/relationships/image" Target="../media/image14.png"/><Relationship Id="rId10" Type="http://schemas.openxmlformats.org/officeDocument/2006/relationships/image" Target="../media/image239.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 Id="rId3" Type="http://schemas.openxmlformats.org/officeDocument/2006/relationships/image" Target="../media/image240.png"/><Relationship Id="rId4" Type="http://schemas.openxmlformats.org/officeDocument/2006/relationships/hyperlink" Target="http://localhost:8000/api/art/15f638438e8b755654ed" TargetMode="Externa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 Id="rId3" Type="http://schemas.openxmlformats.org/officeDocument/2006/relationships/image" Target="../media/image241.png"/><Relationship Id="rId4" Type="http://schemas.openxmlformats.org/officeDocument/2006/relationships/hyperlink" Target="http://localhost:8000/api/art/8712a38246ce8e86ea3e" TargetMode="Externa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 Id="rId3" Type="http://schemas.openxmlformats.org/officeDocument/2006/relationships/image" Target="../media/image242.png"/><Relationship Id="rId4" Type="http://schemas.openxmlformats.org/officeDocument/2006/relationships/hyperlink" Target="http://localhost:8000/api/art/3ba22b4cbdff1fd2b06b" TargetMode="External"/><Relationship Id="rId5" Type="http://schemas.openxmlformats.org/officeDocument/2006/relationships/image" Target="../media/image14.png"/><Relationship Id="rId6" Type="http://schemas.openxmlformats.org/officeDocument/2006/relationships/image" Target="../media/image43.png"/><Relationship Id="rId7" Type="http://schemas.openxmlformats.org/officeDocument/2006/relationships/image" Target="../media/image7.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 Id="rId3" Type="http://schemas.openxmlformats.org/officeDocument/2006/relationships/image" Target="../media/image243.png"/><Relationship Id="rId4" Type="http://schemas.openxmlformats.org/officeDocument/2006/relationships/image" Target="../media/image7.png"/><Relationship Id="rId5" Type="http://schemas.openxmlformats.org/officeDocument/2006/relationships/image" Target="../media/image8.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 Id="rId3" Type="http://schemas.openxmlformats.org/officeDocument/2006/relationships/image" Target="../media/image244.png"/><Relationship Id="rId4" Type="http://schemas.openxmlformats.org/officeDocument/2006/relationships/hyperlink" Target="http://localhost:8000/api/art/da25d137fdd2de2f3907" TargetMode="Externa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 Id="rId3" Type="http://schemas.openxmlformats.org/officeDocument/2006/relationships/image" Target="../media/image245.png"/><Relationship Id="rId4" Type="http://schemas.openxmlformats.org/officeDocument/2006/relationships/hyperlink" Target="http://localhost:8000/api/art/6ed1303c7d6f3dddbc6d"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 Id="rId3" Type="http://schemas.openxmlformats.org/officeDocument/2006/relationships/image" Target="../media/image246.png"/><Relationship Id="rId4" Type="http://schemas.openxmlformats.org/officeDocument/2006/relationships/hyperlink" Target="http://localhost:8000/api/art/c20ad912721eb02849ac" TargetMode="Externa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 Id="rId3" Type="http://schemas.openxmlformats.org/officeDocument/2006/relationships/image" Target="../media/image247.png"/><Relationship Id="rId4" Type="http://schemas.openxmlformats.org/officeDocument/2006/relationships/hyperlink" Target="http://localhost:8000/api/art/1acc4ec9e8e6d52d488b" TargetMode="Externa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 Id="rId3" Type="http://schemas.openxmlformats.org/officeDocument/2006/relationships/image" Target="../media/image248.png"/><Relationship Id="rId4" Type="http://schemas.openxmlformats.org/officeDocument/2006/relationships/hyperlink" Target="http://localhost:8000/api/art/95ccd58f28b7858b354b" TargetMode="Externa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 Id="rId3" Type="http://schemas.openxmlformats.org/officeDocument/2006/relationships/image" Target="../media/image249.png"/><Relationship Id="rId4" Type="http://schemas.openxmlformats.org/officeDocument/2006/relationships/hyperlink" Target="http://localhost:8000/api/art/8f7d41ff805d9702805a" TargetMode="Externa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 Id="rId3" Type="http://schemas.openxmlformats.org/officeDocument/2006/relationships/image" Target="../media/image250.png"/><Relationship Id="rId4" Type="http://schemas.openxmlformats.org/officeDocument/2006/relationships/hyperlink" Target="http://localhost:8000/api/art/a7eb1fa81f5242df3cbc"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 Id="rId3" Type="http://schemas.openxmlformats.org/officeDocument/2006/relationships/image" Target="../media/image251.png"/><Relationship Id="rId4" Type="http://schemas.openxmlformats.org/officeDocument/2006/relationships/hyperlink" Target="http://localhost:8000/api/art/ddc9e84a1db06c12ab0c" TargetMode="Externa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 Id="rId3" Type="http://schemas.openxmlformats.org/officeDocument/2006/relationships/image" Target="../media/image252.png"/><Relationship Id="rId4" Type="http://schemas.openxmlformats.org/officeDocument/2006/relationships/hyperlink" Target="http://localhost:8000/api/art/ffe3d36f07dd18017735" TargetMode="Externa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 Id="rId3" Type="http://schemas.openxmlformats.org/officeDocument/2006/relationships/image" Target="../media/image253.png"/><Relationship Id="rId4" Type="http://schemas.openxmlformats.org/officeDocument/2006/relationships/hyperlink" Target="http://localhost:8000/api/art/03e77a7c17cd4a4294c0" TargetMode="Externa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 Id="rId3" Type="http://schemas.openxmlformats.org/officeDocument/2006/relationships/image" Target="../media/image254.png"/><Relationship Id="rId4" Type="http://schemas.openxmlformats.org/officeDocument/2006/relationships/hyperlink" Target="http://localhost:8000/api/art/84998c161082f684ca19" TargetMode="Externa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 Id="rId3" Type="http://schemas.openxmlformats.org/officeDocument/2006/relationships/image" Target="../media/image255.png"/><Relationship Id="rId4" Type="http://schemas.openxmlformats.org/officeDocument/2006/relationships/hyperlink" Target="http://localhost:8000/api/art/03b28977c79ce7d7bca5" TargetMode="Externa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 Id="rId3" Type="http://schemas.openxmlformats.org/officeDocument/2006/relationships/image" Target="../media/image256.png"/><Relationship Id="rId4" Type="http://schemas.openxmlformats.org/officeDocument/2006/relationships/hyperlink" Target="http://localhost:8000/api/art/183617b8738a29cf65af" TargetMode="Externa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 Id="rId3" Type="http://schemas.openxmlformats.org/officeDocument/2006/relationships/image" Target="../media/image257.png"/><Relationship Id="rId4" Type="http://schemas.openxmlformats.org/officeDocument/2006/relationships/hyperlink" Target="http://localhost:8000/api/art/74b1a17a036f9bb960cc" TargetMode="Externa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 Id="rId3" Type="http://schemas.openxmlformats.org/officeDocument/2006/relationships/image" Target="../media/image258.png"/><Relationship Id="rId4" Type="http://schemas.openxmlformats.org/officeDocument/2006/relationships/hyperlink" Target="http://localhost:8000/api/art/8da4dfeeeb98d5890544" TargetMode="Externa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 Id="rId3" Type="http://schemas.openxmlformats.org/officeDocument/2006/relationships/image" Target="../media/image259.png"/><Relationship Id="rId4" Type="http://schemas.openxmlformats.org/officeDocument/2006/relationships/hyperlink" Target="http://localhost:8000/api/art/b76d79439e0715d079d4" TargetMode="Externa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 Id="rId3" Type="http://schemas.openxmlformats.org/officeDocument/2006/relationships/image" Target="../media/image260.png"/><Relationship Id="rId4" Type="http://schemas.openxmlformats.org/officeDocument/2006/relationships/hyperlink" Target="http://localhost:8000/api/art/4b5394a6e21ec76a438f" TargetMode="Externa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 Id="rId3" Type="http://schemas.openxmlformats.org/officeDocument/2006/relationships/image" Target="../media/image261.png"/><Relationship Id="rId4" Type="http://schemas.openxmlformats.org/officeDocument/2006/relationships/hyperlink" Target="http://localhost:8000/api/art/66ce96d06372df1a984b" TargetMode="External"/><Relationship Id="rId5" Type="http://schemas.openxmlformats.org/officeDocument/2006/relationships/image" Target="../media/image200.png"/><Relationship Id="rId6" Type="http://schemas.openxmlformats.org/officeDocument/2006/relationships/image" Target="../media/image9.png"/><Relationship Id="rId7" Type="http://schemas.openxmlformats.org/officeDocument/2006/relationships/image" Target="../media/image39.png"/><Relationship Id="rId8" Type="http://schemas.openxmlformats.org/officeDocument/2006/relationships/image" Target="../media/image235.png"/><Relationship Id="rId9" Type="http://schemas.openxmlformats.org/officeDocument/2006/relationships/image" Target="../media/image36.png"/><Relationship Id="rId10" Type="http://schemas.openxmlformats.org/officeDocument/2006/relationships/image" Target="../media/image42.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 Id="rId3" Type="http://schemas.openxmlformats.org/officeDocument/2006/relationships/image" Target="../media/image262.png"/><Relationship Id="rId4" Type="http://schemas.openxmlformats.org/officeDocument/2006/relationships/hyperlink" Target="http://localhost:8000/api/art/d16ef8666f04868d9b93" TargetMode="External"/><Relationship Id="rId5" Type="http://schemas.openxmlformats.org/officeDocument/2006/relationships/image" Target="../media/image199.png"/><Relationship Id="rId6" Type="http://schemas.openxmlformats.org/officeDocument/2006/relationships/image" Target="../media/image9.png"/><Relationship Id="rId7" Type="http://schemas.openxmlformats.org/officeDocument/2006/relationships/image" Target="../media/image39.png"/><Relationship Id="rId8" Type="http://schemas.openxmlformats.org/officeDocument/2006/relationships/image" Target="../media/image7.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 Id="rId3" Type="http://schemas.openxmlformats.org/officeDocument/2006/relationships/image" Target="../media/image263.png"/><Relationship Id="rId4" Type="http://schemas.openxmlformats.org/officeDocument/2006/relationships/hyperlink" Target="http://localhost:8000/api/art/56913ae46d4d5d5d5727" TargetMode="External"/><Relationship Id="rId5" Type="http://schemas.openxmlformats.org/officeDocument/2006/relationships/image" Target="../media/image7.png"/><Relationship Id="rId6" Type="http://schemas.openxmlformats.org/officeDocument/2006/relationships/image" Target="../media/image34.png"/><Relationship Id="rId7" Type="http://schemas.openxmlformats.org/officeDocument/2006/relationships/image" Target="../media/image8.png"/><Relationship Id="rId8" Type="http://schemas.openxmlformats.org/officeDocument/2006/relationships/image" Target="../media/image235.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65A5"/>
        </a:solidFill>
        <a:effectLst/>
      </p:bgPr>
    </p:bg>
    <p:spTree>
      <p:nvGrpSpPr>
        <p:cNvPr id="1" name=""/>
        <p:cNvGrpSpPr/>
        <p:nvPr/>
      </p:nvGrpSpPr>
      <p:grpSpPr/>
      <p:sp>
        <p:nvSpPr>
          <p:cNvPr id="2" name="Oval 1"/>
          <p:cNvSpPr/>
          <p:nvPr/>
        </p:nvSpPr>
        <p:spPr>
          <a:xfrm>
            <a:off x="8595360" y="3566160"/>
            <a:ext cx="5669280" cy="5669280"/>
          </a:xfrm>
          <a:prstGeom prst="ellipse">
            <a:avLst/>
          </a:prstGeom>
          <a:solidFill>
            <a:srgbClr val="F77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498079" y="-1280160"/>
            <a:ext cx="3108960" cy="3108960"/>
          </a:xfrm>
          <a:prstGeom prst="ellipse">
            <a:avLst/>
          </a:prstGeom>
          <a:solidFill>
            <a:srgbClr val="4E8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548640"/>
            <a:ext cx="1463040" cy="1463040"/>
          </a:xfrm>
          <a:prstGeom prst="ellipse">
            <a:avLst/>
          </a:prstGeom>
          <a:solidFill>
            <a:srgbClr val="FBB4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092440" y="868680"/>
            <a:ext cx="3611880" cy="4517136"/>
          </a:xfrm>
          <a:prstGeom prst="rect">
            <a:avLst/>
          </a:prstGeom>
        </p:spPr>
      </p:pic>
      <p:sp>
        <p:nvSpPr>
          <p:cNvPr id="6" name="Rounded Rectangle 5"/>
          <p:cNvSpPr/>
          <p:nvPr/>
        </p:nvSpPr>
        <p:spPr>
          <a:xfrm>
            <a:off x="822960" y="1828800"/>
            <a:ext cx="1280160" cy="128016"/>
          </a:xfrm>
          <a:prstGeom prst="roundRect">
            <a:avLst>
              <a:gd name="adj" fmla="val 50000"/>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03120"/>
            <a:ext cx="7132320" cy="2377440"/>
          </a:xfrm>
          <a:prstGeom prst="rect">
            <a:avLst/>
          </a:prstGeom>
          <a:noFill/>
        </p:spPr>
        <p:txBody>
          <a:bodyPr wrap="square" anchor="t" lIns="0" rIns="0" tIns="0" bIns="0">
            <a:spAutoFit/>
          </a:bodyPr>
          <a:lstStyle/>
          <a:p>
            <a:pPr algn="l">
              <a:defRPr sz="5400" b="1">
                <a:solidFill>
                  <a:srgbClr val="FFFFFF"/>
                </a:solidFill>
              </a:defRPr>
            </a:pPr>
            <a:r>
              <a:rPr>
                <a:latin typeface="Bebas Neue"/>
              </a:rPr>
              <a:t>SYNTAX ANALYSIS</a:t>
            </a:r>
          </a:p>
        </p:txBody>
      </p:sp>
      <p:sp>
        <p:nvSpPr>
          <p:cNvPr id="8" name="TextBox 7"/>
          <p:cNvSpPr txBox="1"/>
          <p:nvPr/>
        </p:nvSpPr>
        <p:spPr>
          <a:xfrm>
            <a:off x="822960" y="4572000"/>
            <a:ext cx="6949440" cy="457200"/>
          </a:xfrm>
          <a:prstGeom prst="rect">
            <a:avLst/>
          </a:prstGeom>
          <a:noFill/>
        </p:spPr>
        <p:txBody>
          <a:bodyPr wrap="square" anchor="ctr" lIns="0" rIns="0" tIns="0" bIns="0">
            <a:spAutoFit/>
          </a:bodyPr>
          <a:lstStyle/>
          <a:p>
            <a:pPr algn="l">
              <a:defRPr sz="1800" b="0">
                <a:solidFill>
                  <a:srgbClr val="FFFFFF"/>
                </a:solidFill>
              </a:defRPr>
            </a:pPr>
            <a:r>
              <a:rPr>
                <a:latin typeface="Inter"/>
              </a:rPr>
              <a:t>MODULE NO 3 · Compiled By : Mrs. Angelin Florence A  •  229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Agenda</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 / 229</a:t>
            </a:r>
          </a:p>
        </p:txBody>
      </p:sp>
      <p:sp>
        <p:nvSpPr>
          <p:cNvPr id="8" name="Rounded Rectangle 7"/>
          <p:cNvSpPr/>
          <p:nvPr/>
        </p:nvSpPr>
        <p:spPr>
          <a:xfrm>
            <a:off x="457200" y="1298448"/>
            <a:ext cx="553669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3220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298448" y="1371600"/>
            <a:ext cx="4494276" cy="978408"/>
          </a:xfrm>
          <a:prstGeom prst="rect">
            <a:avLst/>
          </a:prstGeom>
          <a:noFill/>
        </p:spPr>
        <p:txBody>
          <a:bodyPr wrap="square" anchor="ctr" lIns="0" tIns="0" rIns="0" bIns="0">
            <a:spAutoFit/>
          </a:bodyPr>
          <a:lstStyle/>
          <a:p>
            <a:pPr algn="l"/>
            <a:r>
              <a:rPr sz="2580" b="1">
                <a:solidFill>
                  <a:srgbClr val="1365A5"/>
                </a:solidFill>
                <a:latin typeface="Bebas Neue"/>
              </a:rPr>
              <a:t>POS Tagging</a:t>
            </a:r>
          </a:p>
        </p:txBody>
      </p:sp>
      <p:sp>
        <p:nvSpPr>
          <p:cNvPr id="11" name="Rounded Rectangle 10"/>
          <p:cNvSpPr/>
          <p:nvPr/>
        </p:nvSpPr>
        <p:spPr>
          <a:xfrm>
            <a:off x="6195059" y="1298448"/>
            <a:ext cx="553669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96227" y="163220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7036307" y="1371600"/>
            <a:ext cx="4494275" cy="978408"/>
          </a:xfrm>
          <a:prstGeom prst="rect">
            <a:avLst/>
          </a:prstGeom>
          <a:noFill/>
        </p:spPr>
        <p:txBody>
          <a:bodyPr wrap="square" anchor="ctr" lIns="0" tIns="0" rIns="0" bIns="0">
            <a:spAutoFit/>
          </a:bodyPr>
          <a:lstStyle/>
          <a:p>
            <a:pPr algn="l"/>
            <a:r>
              <a:rPr sz="2580" b="1">
                <a:solidFill>
                  <a:srgbClr val="1365A5"/>
                </a:solidFill>
                <a:latin typeface="Bebas Neue"/>
              </a:rPr>
              <a:t>SYNTACTIC ANALYSIS</a:t>
            </a:r>
          </a:p>
        </p:txBody>
      </p:sp>
      <p:sp>
        <p:nvSpPr>
          <p:cNvPr id="14" name="Rounded Rectangle 13"/>
          <p:cNvSpPr/>
          <p:nvPr/>
        </p:nvSpPr>
        <p:spPr>
          <a:xfrm>
            <a:off x="457200" y="2624328"/>
            <a:ext cx="553669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95808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298448" y="2697480"/>
            <a:ext cx="4494276" cy="978408"/>
          </a:xfrm>
          <a:prstGeom prst="rect">
            <a:avLst/>
          </a:prstGeom>
          <a:noFill/>
        </p:spPr>
        <p:txBody>
          <a:bodyPr wrap="square" anchor="ctr" lIns="0" tIns="0" rIns="0" bIns="0">
            <a:spAutoFit/>
          </a:bodyPr>
          <a:lstStyle/>
          <a:p>
            <a:pPr algn="l"/>
            <a:r>
              <a:rPr sz="2580" b="1">
                <a:solidFill>
                  <a:srgbClr val="1365A5"/>
                </a:solidFill>
                <a:latin typeface="Bebas Neue"/>
              </a:rPr>
              <a:t>PART-OF-SPEECH TAGGING</a:t>
            </a:r>
          </a:p>
        </p:txBody>
      </p:sp>
      <p:sp>
        <p:nvSpPr>
          <p:cNvPr id="17" name="Rounded Rectangle 16"/>
          <p:cNvSpPr/>
          <p:nvPr/>
        </p:nvSpPr>
        <p:spPr>
          <a:xfrm>
            <a:off x="6195059" y="2624328"/>
            <a:ext cx="553669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96227" y="295808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7036307" y="2697480"/>
            <a:ext cx="4494275" cy="978408"/>
          </a:xfrm>
          <a:prstGeom prst="rect">
            <a:avLst/>
          </a:prstGeom>
          <a:noFill/>
        </p:spPr>
        <p:txBody>
          <a:bodyPr wrap="square" anchor="ctr" lIns="0" tIns="0" rIns="0" bIns="0">
            <a:spAutoFit/>
          </a:bodyPr>
          <a:lstStyle/>
          <a:p>
            <a:pPr algn="l"/>
            <a:r>
              <a:rPr sz="2580" b="1">
                <a:solidFill>
                  <a:srgbClr val="1365A5"/>
                </a:solidFill>
                <a:latin typeface="Bebas Neue"/>
              </a:rPr>
              <a:t>RULE BASED POS TAGGING (POS)</a:t>
            </a:r>
          </a:p>
        </p:txBody>
      </p:sp>
      <p:sp>
        <p:nvSpPr>
          <p:cNvPr id="20" name="Rounded Rectangle 19"/>
          <p:cNvSpPr/>
          <p:nvPr/>
        </p:nvSpPr>
        <p:spPr>
          <a:xfrm>
            <a:off x="457200" y="3950208"/>
            <a:ext cx="553669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2839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298448" y="4023360"/>
            <a:ext cx="4494276" cy="978408"/>
          </a:xfrm>
          <a:prstGeom prst="rect">
            <a:avLst/>
          </a:prstGeom>
          <a:noFill/>
        </p:spPr>
        <p:txBody>
          <a:bodyPr wrap="square" anchor="ctr" lIns="0" tIns="0" rIns="0" bIns="0">
            <a:spAutoFit/>
          </a:bodyPr>
          <a:lstStyle/>
          <a:p>
            <a:pPr algn="l"/>
            <a:r>
              <a:rPr sz="2580" b="1">
                <a:solidFill>
                  <a:srgbClr val="1365A5"/>
                </a:solidFill>
                <a:latin typeface="Bebas Neue"/>
              </a:rPr>
              <a:t>Rules has to be updated based on language ch</a:t>
            </a:r>
          </a:p>
        </p:txBody>
      </p:sp>
      <p:sp>
        <p:nvSpPr>
          <p:cNvPr id="23" name="Rounded Rectangle 22"/>
          <p:cNvSpPr/>
          <p:nvPr/>
        </p:nvSpPr>
        <p:spPr>
          <a:xfrm>
            <a:off x="6195059" y="3950208"/>
            <a:ext cx="553669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96227" y="42839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7036307" y="4023360"/>
            <a:ext cx="4494275" cy="978408"/>
          </a:xfrm>
          <a:prstGeom prst="rect">
            <a:avLst/>
          </a:prstGeom>
          <a:noFill/>
        </p:spPr>
        <p:txBody>
          <a:bodyPr wrap="square" anchor="ctr" lIns="0" tIns="0" rIns="0" bIns="0">
            <a:spAutoFit/>
          </a:bodyPr>
          <a:lstStyle/>
          <a:p>
            <a:pPr algn="l"/>
            <a:r>
              <a:rPr sz="2580" b="1">
                <a:solidFill>
                  <a:srgbClr val="1365A5"/>
                </a:solidFill>
                <a:latin typeface="Bebas Neue"/>
              </a:rPr>
              <a:t>The/DT can/MD was/VBD rusted/VBD</a:t>
            </a:r>
          </a:p>
        </p:txBody>
      </p:sp>
      <p:sp>
        <p:nvSpPr>
          <p:cNvPr id="26" name="Rounded Rectangle 25"/>
          <p:cNvSpPr/>
          <p:nvPr/>
        </p:nvSpPr>
        <p:spPr>
          <a:xfrm>
            <a:off x="457200" y="5276088"/>
            <a:ext cx="11274552"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60984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298448" y="5349240"/>
            <a:ext cx="10232136" cy="978408"/>
          </a:xfrm>
          <a:prstGeom prst="rect">
            <a:avLst/>
          </a:prstGeom>
          <a:noFill/>
        </p:spPr>
        <p:txBody>
          <a:bodyPr wrap="square" anchor="ctr" lIns="0" tIns="0" rIns="0" bIns="0">
            <a:spAutoFit/>
          </a:bodyPr>
          <a:lstStyle/>
          <a:p>
            <a:pPr algn="l"/>
            <a:r>
              <a:rPr sz="2580" b="1">
                <a:solidFill>
                  <a:srgbClr val="1365A5"/>
                </a:solidFill>
                <a:latin typeface="Bebas Neue"/>
              </a:rPr>
              <a:t>1) Generative Model</a:t>
            </a:r>
          </a:p>
        </p:txBody>
      </p:sp>
    </p:spTree>
  </p:cSld>
  <p:clrMapOvr>
    <a:masterClrMapping/>
  </p:clrMapOvr>
  <p:transition spd="med">
    <p:push dir="l"/>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50" b="1">
                <a:solidFill>
                  <a:srgbClr val="FFFFFF"/>
                </a:solidFill>
              </a:defRPr>
            </a:pPr>
            <a:r>
              <a:rPr>
                <a:latin typeface="Bebas Neue"/>
              </a:rPr>
              <a:t>Parsers for part of speech tagging come in various types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 / 229</a:t>
            </a:r>
          </a:p>
        </p:txBody>
      </p:sp>
      <p:sp>
        <p:nvSpPr>
          <p:cNvPr id="7" name="Rounded Rectangle 6">
            <a:hlinkClick r:id="rId3"/>
          </p:cNvPr>
          <p:cNvSpPr/>
          <p:nvPr/>
        </p:nvSpPr>
        <p:spPr>
          <a:xfrm>
            <a:off x="3802989" y="6455664"/>
            <a:ext cx="4582972"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POS Tagging (HMM) Lab</a:t>
            </a:r>
          </a:p>
        </p:txBody>
      </p:sp>
      <p:pic>
        <p:nvPicPr>
          <p:cNvPr id="8" name="Picture 7" descr="image.jpg"/>
          <p:cNvPicPr>
            <a:picLocks noChangeAspect="1"/>
          </p:cNvPicPr>
          <p:nvPr/>
        </p:nvPicPr>
        <p:blipFill>
          <a:blip r:embed="rId4"/>
          <a:stretch>
            <a:fillRect/>
          </a:stretch>
        </p:blipFill>
        <p:spPr>
          <a:xfrm>
            <a:off x="7672913" y="2486812"/>
            <a:ext cx="4058838" cy="1610055"/>
          </a:xfrm>
          <a:prstGeom prst="rect">
            <a:avLst/>
          </a:prstGeom>
        </p:spPr>
      </p:pic>
      <p:sp>
        <p:nvSpPr>
          <p:cNvPr id="9" name="Rounded Rectangle 8"/>
          <p:cNvSpPr/>
          <p:nvPr/>
        </p:nvSpPr>
        <p:spPr>
          <a:xfrm>
            <a:off x="457200" y="1298448"/>
            <a:ext cx="3406688" cy="2903483"/>
          </a:xfrm>
          <a:prstGeom prst="roundRect">
            <a:avLst>
              <a:gd name="adj" fmla="val 484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49961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771753" y="1613001"/>
            <a:ext cx="340156" cy="340156"/>
          </a:xfrm>
          <a:prstGeom prst="rect">
            <a:avLst/>
          </a:prstGeom>
        </p:spPr>
      </p:pic>
      <p:sp>
        <p:nvSpPr>
          <p:cNvPr id="12" name="TextBox 11"/>
          <p:cNvSpPr txBox="1"/>
          <p:nvPr/>
        </p:nvSpPr>
        <p:spPr>
          <a:xfrm>
            <a:off x="658368" y="2212848"/>
            <a:ext cx="3004352" cy="1787915"/>
          </a:xfrm>
          <a:prstGeom prst="rect">
            <a:avLst/>
          </a:prstGeom>
          <a:noFill/>
        </p:spPr>
        <p:txBody>
          <a:bodyPr wrap="square" anchor="t" lIns="0" tIns="0" rIns="0" bIns="0">
            <a:spAutoFit/>
          </a:bodyPr>
          <a:lstStyle/>
          <a:p>
            <a:pPr algn="l"/>
            <a:r>
              <a:rPr sz="2039" b="1">
                <a:solidFill>
                  <a:srgbClr val="1365A5"/>
                </a:solidFill>
                <a:latin typeface="Bebas Neue"/>
              </a:rPr>
              <a:t>Sentence Analysis</a:t>
            </a:r>
          </a:p>
          <a:p>
            <a:pPr algn="l">
              <a:spcBef>
                <a:spcPts val="500"/>
              </a:spcBef>
            </a:pPr>
            <a:r>
              <a:rPr sz="1700" b="0">
                <a:solidFill>
                  <a:srgbClr val="111111"/>
                </a:solidFill>
                <a:latin typeface="Inter"/>
              </a:rPr>
              <a:t>Part of speech tagging uses different parsers to analyze sentence structure and assign grammatical categories.</a:t>
            </a:r>
          </a:p>
        </p:txBody>
      </p:sp>
      <p:sp>
        <p:nvSpPr>
          <p:cNvPr id="13" name="Rounded Rectangle 12"/>
          <p:cNvSpPr/>
          <p:nvPr/>
        </p:nvSpPr>
        <p:spPr>
          <a:xfrm>
            <a:off x="4065056" y="1298448"/>
            <a:ext cx="3406688" cy="2903483"/>
          </a:xfrm>
          <a:prstGeom prst="roundRect">
            <a:avLst>
              <a:gd name="adj" fmla="val 484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66224" y="149961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6"/>
          <a:stretch>
            <a:fillRect/>
          </a:stretch>
        </p:blipFill>
        <p:spPr>
          <a:xfrm>
            <a:off x="4379610" y="1613001"/>
            <a:ext cx="340156" cy="340156"/>
          </a:xfrm>
          <a:prstGeom prst="rect">
            <a:avLst/>
          </a:prstGeom>
        </p:spPr>
      </p:pic>
      <p:sp>
        <p:nvSpPr>
          <p:cNvPr id="16" name="TextBox 15"/>
          <p:cNvSpPr txBox="1"/>
          <p:nvPr/>
        </p:nvSpPr>
        <p:spPr>
          <a:xfrm>
            <a:off x="4266224" y="2212848"/>
            <a:ext cx="3004352" cy="1787915"/>
          </a:xfrm>
          <a:prstGeom prst="rect">
            <a:avLst/>
          </a:prstGeom>
          <a:noFill/>
        </p:spPr>
        <p:txBody>
          <a:bodyPr wrap="square" anchor="t" lIns="0" tIns="0" rIns="0" bIns="0">
            <a:spAutoFit/>
          </a:bodyPr>
          <a:lstStyle/>
          <a:p>
            <a:pPr algn="l"/>
            <a:r>
              <a:rPr sz="2039" b="1">
                <a:solidFill>
                  <a:srgbClr val="1365A5"/>
                </a:solidFill>
                <a:latin typeface="Bebas Neue"/>
              </a:rPr>
              <a:t>Processing Accuracy</a:t>
            </a:r>
          </a:p>
          <a:p>
            <a:pPr algn="l">
              <a:spcBef>
                <a:spcPts val="500"/>
              </a:spcBef>
            </a:pPr>
            <a:r>
              <a:rPr sz="1700" b="0">
                <a:solidFill>
                  <a:srgbClr val="111111"/>
                </a:solidFill>
                <a:latin typeface="Inter"/>
              </a:rPr>
              <a:t>These parsers help process text accurately by understanding word roles, such as determining if 'run' is a noun or a verb.</a:t>
            </a:r>
          </a:p>
        </p:txBody>
      </p:sp>
      <p:sp>
        <p:nvSpPr>
          <p:cNvPr id="17" name="Rounded Rectangle 16"/>
          <p:cNvSpPr/>
          <p:nvPr/>
        </p:nvSpPr>
        <p:spPr>
          <a:xfrm>
            <a:off x="457200" y="4403099"/>
            <a:ext cx="7014545"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4476251"/>
            <a:ext cx="6619524" cy="73582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Types of POS Tagging Example: A parser determines if 'run' is a noun or a verb.</a:t>
            </a:r>
          </a:p>
        </p:txBody>
      </p:sp>
      <p:sp>
        <p:nvSpPr>
          <p:cNvPr id="20" name="Rounded Rectangle 1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Part of speech tagging parsers analyze sentence structure and assign grammatical categories.</a:t>
            </a:r>
          </a:p>
          <a:p>
            <a:pPr algn="l"/>
            <a:r>
              <a:rPr b="1" sz="1300">
                <a:solidFill>
                  <a:srgbClr val="1365A5"/>
                </a:solidFill>
                <a:latin typeface="Bebas Neue"/>
              </a:rPr>
              <a:t>Key terms:  </a:t>
            </a:r>
            <a:r>
              <a:rPr sz="1300" b="0">
                <a:solidFill>
                  <a:srgbClr val="111111"/>
                </a:solidFill>
                <a:latin typeface="Inter"/>
              </a:rPr>
              <a:t>pos — Parts of Speech Tagging  ·  POS Tagging — Assigning grammatical parts of speech to each word in a text.</a:t>
            </a:r>
          </a:p>
        </p:txBody>
      </p:sp>
      <p:sp>
        <p:nvSpPr>
          <p:cNvPr id="21" name="Rectangle 2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50"/>
                                        <p:tgtEl>
                                          <p:spTgt spid="20"/>
                                        </p:tgtEl>
                                      </p:cBhvr>
                                    </p:animEffect>
                                  </p:childTnLst>
                                </p:cTn>
                              </p:par>
                              <p:par>
                                <p:cTn id="47" presetID="10"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Syntactic analysis encompasses models parsers and challenges for POS tagging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 / 229</a:t>
            </a:r>
          </a:p>
        </p:txBody>
      </p:sp>
      <p:sp>
        <p:nvSpPr>
          <p:cNvPr id="7" name="Rounded Rectangle 6">
            <a:hlinkClick r:id="rId3"/>
          </p:cNvPr>
          <p:cNvSpPr/>
          <p:nvPr/>
        </p:nvSpPr>
        <p:spPr>
          <a:xfrm>
            <a:off x="3802989" y="6455664"/>
            <a:ext cx="4582972"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POS Tagging (HMM) Lab</a:t>
            </a:r>
          </a:p>
        </p:txBody>
      </p:sp>
      <p:pic>
        <p:nvPicPr>
          <p:cNvPr id="8" name="Picture 7" descr="image.png"/>
          <p:cNvPicPr>
            <a:picLocks noChangeAspect="1"/>
          </p:cNvPicPr>
          <p:nvPr/>
        </p:nvPicPr>
        <p:blipFill>
          <a:blip r:embed="rId4"/>
          <a:stretch>
            <a:fillRect/>
          </a:stretch>
        </p:blipFill>
        <p:spPr>
          <a:xfrm>
            <a:off x="7672913" y="2339588"/>
            <a:ext cx="4058838" cy="1904502"/>
          </a:xfrm>
          <a:prstGeom prst="rect">
            <a:avLst/>
          </a:prstGeom>
        </p:spPr>
      </p:pic>
      <p:sp>
        <p:nvSpPr>
          <p:cNvPr id="9" name="Rounded Rectangle 8"/>
          <p:cNvSpPr/>
          <p:nvPr/>
        </p:nvSpPr>
        <p:spPr>
          <a:xfrm>
            <a:off x="457200" y="1298448"/>
            <a:ext cx="3406688" cy="643952"/>
          </a:xfrm>
          <a:prstGeom prst="roundRect">
            <a:avLst>
              <a:gd name="adj" fmla="val 2186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3369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5"/>
          <a:stretch>
            <a:fillRect/>
          </a:stretch>
        </p:blipFill>
        <p:spPr>
          <a:xfrm>
            <a:off x="771753" y="1450345"/>
            <a:ext cx="340156" cy="340156"/>
          </a:xfrm>
          <a:prstGeom prst="rect">
            <a:avLst/>
          </a:prstGeom>
        </p:spPr>
      </p:pic>
      <p:sp>
        <p:nvSpPr>
          <p:cNvPr id="12" name="TextBox 11"/>
          <p:cNvSpPr txBox="1"/>
          <p:nvPr/>
        </p:nvSpPr>
        <p:spPr>
          <a:xfrm>
            <a:off x="1408175" y="1371600"/>
            <a:ext cx="2254544" cy="497648"/>
          </a:xfrm>
          <a:prstGeom prst="rect">
            <a:avLst/>
          </a:prstGeom>
          <a:noFill/>
        </p:spPr>
        <p:txBody>
          <a:bodyPr wrap="square" anchor="ctr" lIns="0" tIns="0" rIns="0" bIns="0">
            <a:spAutoFit/>
          </a:bodyPr>
          <a:lstStyle/>
          <a:p>
            <a:pPr algn="l"/>
            <a:r>
              <a:rPr sz="1440" b="1">
                <a:solidFill>
                  <a:srgbClr val="1365A5"/>
                </a:solidFill>
                <a:latin typeface="Bebas Neue"/>
              </a:rPr>
              <a:t>Discriminative Model</a:t>
            </a:r>
          </a:p>
          <a:p>
            <a:pPr algn="l">
              <a:spcBef>
                <a:spcPts val="500"/>
              </a:spcBef>
            </a:pPr>
            <a:r>
              <a:rPr sz="1200" b="0">
                <a:solidFill>
                  <a:srgbClr val="111111"/>
                </a:solidFill>
                <a:latin typeface="Inter"/>
              </a:rPr>
              <a:t>Maximum Entropy</a:t>
            </a:r>
          </a:p>
        </p:txBody>
      </p:sp>
      <p:sp>
        <p:nvSpPr>
          <p:cNvPr id="13" name="Rounded Rectangle 12"/>
          <p:cNvSpPr/>
          <p:nvPr/>
        </p:nvSpPr>
        <p:spPr>
          <a:xfrm>
            <a:off x="4065056" y="1298448"/>
            <a:ext cx="3406688" cy="643952"/>
          </a:xfrm>
          <a:prstGeom prst="roundRect">
            <a:avLst>
              <a:gd name="adj" fmla="val 2186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66224" y="13369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6"/>
          <a:stretch>
            <a:fillRect/>
          </a:stretch>
        </p:blipFill>
        <p:spPr>
          <a:xfrm>
            <a:off x="4379610" y="1450345"/>
            <a:ext cx="340156" cy="340156"/>
          </a:xfrm>
          <a:prstGeom prst="rect">
            <a:avLst/>
          </a:prstGeom>
        </p:spPr>
      </p:pic>
      <p:sp>
        <p:nvSpPr>
          <p:cNvPr id="16" name="TextBox 15"/>
          <p:cNvSpPr txBox="1"/>
          <p:nvPr/>
        </p:nvSpPr>
        <p:spPr>
          <a:xfrm>
            <a:off x="5016032" y="1371600"/>
            <a:ext cx="2254544" cy="497648"/>
          </a:xfrm>
          <a:prstGeom prst="rect">
            <a:avLst/>
          </a:prstGeom>
          <a:noFill/>
        </p:spPr>
        <p:txBody>
          <a:bodyPr wrap="square" anchor="ctr" lIns="0" tIns="0" rIns="0" bIns="0">
            <a:spAutoFit/>
          </a:bodyPr>
          <a:lstStyle/>
          <a:p>
            <a:pPr algn="l"/>
            <a:r>
              <a:rPr sz="1440" b="1">
                <a:solidFill>
                  <a:srgbClr val="1365A5"/>
                </a:solidFill>
                <a:latin typeface="Bebas Neue"/>
              </a:rPr>
              <a:t>Parsers</a:t>
            </a:r>
          </a:p>
          <a:p>
            <a:pPr algn="l">
              <a:spcBef>
                <a:spcPts val="500"/>
              </a:spcBef>
            </a:pPr>
            <a:r>
              <a:rPr sz="1200" b="0">
                <a:solidFill>
                  <a:srgbClr val="111111"/>
                </a:solidFill>
                <a:latin typeface="Inter"/>
              </a:rPr>
              <a:t>Top Down and Bottom up</a:t>
            </a:r>
          </a:p>
        </p:txBody>
      </p:sp>
      <p:sp>
        <p:nvSpPr>
          <p:cNvPr id="17" name="Rounded Rectangle 16"/>
          <p:cNvSpPr/>
          <p:nvPr/>
        </p:nvSpPr>
        <p:spPr>
          <a:xfrm>
            <a:off x="457200" y="2143568"/>
            <a:ext cx="3406688" cy="643952"/>
          </a:xfrm>
          <a:prstGeom prst="roundRect">
            <a:avLst>
              <a:gd name="adj" fmla="val 2186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18208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7"/>
          <a:stretch>
            <a:fillRect/>
          </a:stretch>
        </p:blipFill>
        <p:spPr>
          <a:xfrm>
            <a:off x="771753" y="2295465"/>
            <a:ext cx="340156" cy="340156"/>
          </a:xfrm>
          <a:prstGeom prst="rect">
            <a:avLst/>
          </a:prstGeom>
        </p:spPr>
      </p:pic>
      <p:sp>
        <p:nvSpPr>
          <p:cNvPr id="20" name="TextBox 19"/>
          <p:cNvSpPr txBox="1"/>
          <p:nvPr/>
        </p:nvSpPr>
        <p:spPr>
          <a:xfrm>
            <a:off x="1408175" y="2216720"/>
            <a:ext cx="2254544" cy="497648"/>
          </a:xfrm>
          <a:prstGeom prst="rect">
            <a:avLst/>
          </a:prstGeom>
          <a:noFill/>
        </p:spPr>
        <p:txBody>
          <a:bodyPr wrap="square" anchor="ctr" lIns="0" tIns="0" rIns="0" bIns="0">
            <a:spAutoFit/>
          </a:bodyPr>
          <a:lstStyle/>
          <a:p>
            <a:pPr algn="l"/>
            <a:r>
              <a:rPr sz="1440" b="1">
                <a:solidFill>
                  <a:srgbClr val="1365A5"/>
                </a:solidFill>
                <a:latin typeface="Bebas Neue"/>
              </a:rPr>
              <a:t>Generative Model</a:t>
            </a:r>
          </a:p>
          <a:p>
            <a:pPr algn="l">
              <a:spcBef>
                <a:spcPts val="500"/>
              </a:spcBef>
            </a:pPr>
            <a:r>
              <a:rPr sz="1200" b="0">
                <a:solidFill>
                  <a:srgbClr val="111111"/>
                </a:solidFill>
                <a:latin typeface="Inter"/>
              </a:rPr>
              <a:t>Hidden Markov Model (HMM</a:t>
            </a:r>
          </a:p>
        </p:txBody>
      </p:sp>
      <p:sp>
        <p:nvSpPr>
          <p:cNvPr id="21" name="Rounded Rectangle 20"/>
          <p:cNvSpPr/>
          <p:nvPr/>
        </p:nvSpPr>
        <p:spPr>
          <a:xfrm>
            <a:off x="4065056" y="2143568"/>
            <a:ext cx="3406688" cy="643952"/>
          </a:xfrm>
          <a:prstGeom prst="roundRect">
            <a:avLst>
              <a:gd name="adj" fmla="val 2186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266224" y="218208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8"/>
          <a:stretch>
            <a:fillRect/>
          </a:stretch>
        </p:blipFill>
        <p:spPr>
          <a:xfrm>
            <a:off x="4379610" y="2295465"/>
            <a:ext cx="340156" cy="340156"/>
          </a:xfrm>
          <a:prstGeom prst="rect">
            <a:avLst/>
          </a:prstGeom>
        </p:spPr>
      </p:pic>
      <p:sp>
        <p:nvSpPr>
          <p:cNvPr id="24" name="TextBox 23"/>
          <p:cNvSpPr txBox="1"/>
          <p:nvPr/>
        </p:nvSpPr>
        <p:spPr>
          <a:xfrm>
            <a:off x="5016032" y="2216720"/>
            <a:ext cx="2254544" cy="497648"/>
          </a:xfrm>
          <a:prstGeom prst="rect">
            <a:avLst/>
          </a:prstGeom>
          <a:noFill/>
        </p:spPr>
        <p:txBody>
          <a:bodyPr wrap="square" anchor="ctr" lIns="0" tIns="0" rIns="0" bIns="0">
            <a:spAutoFit/>
          </a:bodyPr>
          <a:lstStyle/>
          <a:p>
            <a:pPr algn="l"/>
            <a:r>
              <a:rPr sz="1440" b="1">
                <a:solidFill>
                  <a:srgbClr val="1365A5"/>
                </a:solidFill>
                <a:latin typeface="Bebas Neue"/>
              </a:rPr>
              <a:t>Bottom-up parser</a:t>
            </a:r>
          </a:p>
          <a:p>
            <a:pPr algn="l">
              <a:spcBef>
                <a:spcPts val="500"/>
              </a:spcBef>
            </a:pPr>
            <a:r>
              <a:rPr sz="1200" b="0">
                <a:solidFill>
                  <a:srgbClr val="111111"/>
                </a:solidFill>
                <a:latin typeface="Inter"/>
              </a:rPr>
              <a:t>CYK, PCFG, SR Parser</a:t>
            </a:r>
          </a:p>
        </p:txBody>
      </p:sp>
      <p:sp>
        <p:nvSpPr>
          <p:cNvPr id="25" name="Rounded Rectangle 24"/>
          <p:cNvSpPr/>
          <p:nvPr/>
        </p:nvSpPr>
        <p:spPr>
          <a:xfrm>
            <a:off x="457200" y="2988688"/>
            <a:ext cx="7014545" cy="643952"/>
          </a:xfrm>
          <a:prstGeom prst="roundRect">
            <a:avLst>
              <a:gd name="adj" fmla="val 2186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0272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9"/>
          <a:stretch>
            <a:fillRect/>
          </a:stretch>
        </p:blipFill>
        <p:spPr>
          <a:xfrm>
            <a:off x="771753" y="3140586"/>
            <a:ext cx="340156" cy="340156"/>
          </a:xfrm>
          <a:prstGeom prst="rect">
            <a:avLst/>
          </a:prstGeom>
        </p:spPr>
      </p:pic>
      <p:sp>
        <p:nvSpPr>
          <p:cNvPr id="28" name="TextBox 27"/>
          <p:cNvSpPr txBox="1"/>
          <p:nvPr/>
        </p:nvSpPr>
        <p:spPr>
          <a:xfrm>
            <a:off x="1408175" y="3061840"/>
            <a:ext cx="5862401" cy="497648"/>
          </a:xfrm>
          <a:prstGeom prst="rect">
            <a:avLst/>
          </a:prstGeom>
          <a:noFill/>
        </p:spPr>
        <p:txBody>
          <a:bodyPr wrap="square" anchor="ctr" lIns="0" tIns="0" rIns="0" bIns="0">
            <a:spAutoFit/>
          </a:bodyPr>
          <a:lstStyle/>
          <a:p>
            <a:pPr algn="l"/>
            <a:r>
              <a:rPr sz="1440" b="1">
                <a:solidFill>
                  <a:srgbClr val="1365A5"/>
                </a:solidFill>
                <a:latin typeface="Bebas Neue"/>
              </a:rPr>
              <a:t>Top-down Parser</a:t>
            </a:r>
          </a:p>
          <a:p>
            <a:pPr algn="l">
              <a:spcBef>
                <a:spcPts val="500"/>
              </a:spcBef>
            </a:pPr>
            <a:r>
              <a:rPr sz="1200" b="0">
                <a:solidFill>
                  <a:srgbClr val="111111"/>
                </a:solidFill>
                <a:latin typeface="Inter"/>
              </a:rPr>
              <a:t>Early Parser, Predictive</a:t>
            </a:r>
          </a:p>
        </p:txBody>
      </p:sp>
      <p:sp>
        <p:nvSpPr>
          <p:cNvPr id="29" name="Rounded Rectangle 28"/>
          <p:cNvSpPr/>
          <p:nvPr/>
        </p:nvSpPr>
        <p:spPr>
          <a:xfrm>
            <a:off x="457200" y="3833808"/>
            <a:ext cx="7014545" cy="145142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833808"/>
            <a:ext cx="73152" cy="145142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1286" y="3906960"/>
            <a:ext cx="6619524" cy="1305119"/>
          </a:xfrm>
          <a:prstGeom prst="rect">
            <a:avLst/>
          </a:prstGeom>
          <a:noFill/>
        </p:spPr>
        <p:txBody>
          <a:bodyPr wrap="square" anchor="ctr" lIns="0" tIns="0" rIns="0" bIns="0">
            <a:spAutoFit/>
          </a:bodyPr>
          <a:lstStyle/>
          <a:p>
            <a:pPr algn="l"/>
            <a:r>
              <a:rPr sz="860" b="1">
                <a:solidFill>
                  <a:srgbClr val="F76945"/>
                </a:solidFill>
                <a:latin typeface="Bebas Neue"/>
              </a:rPr>
              <a:t>IN PLAIN WORDS</a:t>
            </a:r>
          </a:p>
          <a:p>
            <a:pPr algn="l">
              <a:spcBef>
                <a:spcPts val="300"/>
              </a:spcBef>
            </a:pPr>
            <a:r>
              <a:rPr sz="1200" b="0">
                <a:solidFill>
                  <a:srgbClr val="111111"/>
                </a:solidFill>
                <a:latin typeface="Inter"/>
              </a:rPr>
              <a:t>Syntactic analysis involves diverse models like hidden Markov models and conditional random fields. It utilizes top-down and bottom-up parsers to address tagging difficulties. For example, using a CYK parser for grammar analysis.</a:t>
            </a:r>
          </a:p>
          <a:p>
            <a:pPr algn="l">
              <a:spcBef>
                <a:spcPts val="300"/>
              </a:spcBef>
            </a:pPr>
            <a:r>
              <a:rPr sz="1200" b="0">
                <a:solidFill>
                  <a:srgbClr val="111111"/>
                </a:solidFill>
                <a:latin typeface="Inter"/>
              </a:rPr>
              <a:t>Parts of Speech Tagging (POS) Conditional Random Field (CRF) Tagset for English (Upenn Treebank) Difficulties and Challenges in POS tagging</a:t>
            </a:r>
          </a:p>
        </p:txBody>
      </p:sp>
      <p:sp>
        <p:nvSpPr>
          <p:cNvPr id="32" name="Rounded Rectangle 3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50">
                <a:solidFill>
                  <a:srgbClr val="1365A5"/>
                </a:solidFill>
                <a:latin typeface="Bebas Neue"/>
              </a:rPr>
              <a:t>Key takeaway:  </a:t>
            </a:r>
            <a:r>
              <a:rPr sz="1250" b="0">
                <a:solidFill>
                  <a:srgbClr val="111111"/>
                </a:solidFill>
                <a:latin typeface="Inter"/>
              </a:rPr>
              <a:t>Syntactic analysis encompasses top-down and bottom-up parsers, generative models, and discriminative models.</a:t>
            </a:r>
          </a:p>
          <a:p>
            <a:pPr algn="l"/>
            <a:r>
              <a:rPr b="1" sz="1250">
                <a:solidFill>
                  <a:srgbClr val="1365A5"/>
                </a:solidFill>
                <a:latin typeface="Bebas Neue"/>
              </a:rPr>
              <a:t>Key terms:  </a:t>
            </a:r>
            <a:r>
              <a:rPr sz="1250" b="0">
                <a:solidFill>
                  <a:srgbClr val="111111"/>
                </a:solidFill>
                <a:latin typeface="Inter"/>
              </a:rPr>
              <a:t>hmm — Hidden Markov Model  ·  Discriminative Model — A model that directly calculates the conditional probability of classes given observations.</a:t>
            </a:r>
          </a:p>
        </p:txBody>
      </p:sp>
      <p:sp>
        <p:nvSpPr>
          <p:cNvPr id="33" name="Rectangle 3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5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50"/>
                                        <p:tgtEl>
                                          <p:spTgt spid="17"/>
                                        </p:tgtEl>
                                      </p:cBhvr>
                                    </p:animEffect>
                                  </p:childTnLst>
                                </p:cTn>
                              </p:par>
                              <p:par>
                                <p:cTn id="36" presetID="10" presetClass="entr" presetSubtype="0"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par>
                                <p:cTn id="45" presetID="10" presetClass="entr" presetSubtype="0"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5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5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5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10"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5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5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Various approaches define the types of POS tagging</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 / 229</a:t>
            </a:r>
          </a:p>
        </p:txBody>
      </p:sp>
      <p:pic>
        <p:nvPicPr>
          <p:cNvPr id="7" name="Picture 6" descr="image.jpg"/>
          <p:cNvPicPr>
            <a:picLocks noChangeAspect="1"/>
          </p:cNvPicPr>
          <p:nvPr/>
        </p:nvPicPr>
        <p:blipFill>
          <a:blip r:embed="rId3"/>
          <a:stretch>
            <a:fillRect/>
          </a:stretch>
        </p:blipFill>
        <p:spPr>
          <a:xfrm>
            <a:off x="7672913" y="2345323"/>
            <a:ext cx="4058838" cy="1893033"/>
          </a:xfrm>
          <a:prstGeom prst="rect">
            <a:avLst/>
          </a:prstGeom>
        </p:spPr>
      </p:pic>
      <p:sp>
        <p:nvSpPr>
          <p:cNvPr id="8" name="Rounded Rectangle 7"/>
          <p:cNvSpPr/>
          <p:nvPr/>
        </p:nvSpPr>
        <p:spPr>
          <a:xfrm>
            <a:off x="457200" y="1298448"/>
            <a:ext cx="7014545"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961388"/>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2074773"/>
            <a:ext cx="340156" cy="340156"/>
          </a:xfrm>
          <a:prstGeom prst="rect">
            <a:avLst/>
          </a:prstGeom>
        </p:spPr>
      </p:pic>
      <p:sp>
        <p:nvSpPr>
          <p:cNvPr id="11" name="TextBox 10"/>
          <p:cNvSpPr txBox="1"/>
          <p:nvPr/>
        </p:nvSpPr>
        <p:spPr>
          <a:xfrm>
            <a:off x="1408175" y="1371600"/>
            <a:ext cx="5862401" cy="1746504"/>
          </a:xfrm>
          <a:prstGeom prst="rect">
            <a:avLst/>
          </a:prstGeom>
          <a:noFill/>
        </p:spPr>
        <p:txBody>
          <a:bodyPr wrap="square" anchor="ctr" lIns="0" tIns="0" rIns="0" bIns="0">
            <a:spAutoFit/>
          </a:bodyPr>
          <a:lstStyle/>
          <a:p>
            <a:pPr algn="l"/>
            <a:r>
              <a:rPr sz="2400" b="1">
                <a:solidFill>
                  <a:srgbClr val="1365A5"/>
                </a:solidFill>
                <a:latin typeface="Bebas Neue"/>
              </a:rPr>
              <a:t>Categories &amp; Classes</a:t>
            </a:r>
          </a:p>
          <a:p>
            <a:pPr algn="l">
              <a:spcBef>
                <a:spcPts val="500"/>
              </a:spcBef>
            </a:pPr>
            <a:r>
              <a:rPr sz="2000" b="0">
                <a:solidFill>
                  <a:srgbClr val="111111"/>
                </a:solidFill>
                <a:latin typeface="Inter"/>
              </a:rPr>
              <a:t>Different categories of part of speech tagging exist to process and assign word classes effectively.</a:t>
            </a:r>
          </a:p>
        </p:txBody>
      </p:sp>
      <p:sp>
        <p:nvSpPr>
          <p:cNvPr id="12" name="Rounded Rectangle 11"/>
          <p:cNvSpPr/>
          <p:nvPr/>
        </p:nvSpPr>
        <p:spPr>
          <a:xfrm>
            <a:off x="457200" y="3392424"/>
            <a:ext cx="7014545"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405536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753" y="4168749"/>
            <a:ext cx="340156" cy="340156"/>
          </a:xfrm>
          <a:prstGeom prst="rect">
            <a:avLst/>
          </a:prstGeom>
        </p:spPr>
      </p:pic>
      <p:sp>
        <p:nvSpPr>
          <p:cNvPr id="15" name="TextBox 14"/>
          <p:cNvSpPr txBox="1"/>
          <p:nvPr/>
        </p:nvSpPr>
        <p:spPr>
          <a:xfrm>
            <a:off x="1408175" y="3465576"/>
            <a:ext cx="5862401" cy="1746504"/>
          </a:xfrm>
          <a:prstGeom prst="rect">
            <a:avLst/>
          </a:prstGeom>
          <a:noFill/>
        </p:spPr>
        <p:txBody>
          <a:bodyPr wrap="square" anchor="ctr" lIns="0" tIns="0" rIns="0" bIns="0">
            <a:spAutoFit/>
          </a:bodyPr>
          <a:lstStyle/>
          <a:p>
            <a:pPr algn="l"/>
            <a:r>
              <a:rPr sz="2400" b="1">
                <a:solidFill>
                  <a:srgbClr val="1365A5"/>
                </a:solidFill>
                <a:latin typeface="Bebas Neue"/>
              </a:rPr>
              <a:t>Algorithm Approaches</a:t>
            </a:r>
          </a:p>
          <a:p>
            <a:pPr algn="l">
              <a:spcBef>
                <a:spcPts val="500"/>
              </a:spcBef>
            </a:pPr>
            <a:r>
              <a:rPr sz="2000" b="0">
                <a:solidFill>
                  <a:srgbClr val="111111"/>
                </a:solidFill>
                <a:latin typeface="Inter"/>
              </a:rPr>
              <a:t>These types organize how algorithms approach natural language understanding, such as rule-based versus stochastic methods.</a:t>
            </a:r>
          </a:p>
        </p:txBody>
      </p:sp>
      <p:sp>
        <p:nvSpPr>
          <p:cNvPr id="16" name="Rounded Rectangle 1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Different types of POS tagging categorize how algorithms approach natural language understanding.</a:t>
            </a:r>
          </a:p>
          <a:p>
            <a:pPr algn="l"/>
            <a:r>
              <a:rPr b="1" sz="1300">
                <a:solidFill>
                  <a:srgbClr val="1365A5"/>
                </a:solidFill>
                <a:latin typeface="Bebas Neue"/>
              </a:rPr>
              <a:t>Key terms:  </a:t>
            </a:r>
            <a:r>
              <a:rPr sz="1300" b="0">
                <a:solidFill>
                  <a:srgbClr val="111111"/>
                </a:solidFill>
                <a:latin typeface="Inter"/>
              </a:rPr>
              <a:t>POS Tagging — The process of marking up a word in a text as corresponding to a particular part of speech.</a:t>
            </a:r>
          </a:p>
        </p:txBody>
      </p:sp>
      <p:sp>
        <p:nvSpPr>
          <p:cNvPr id="17" name="Rectangle 1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Syntactic analysis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 / 229</a:t>
            </a:r>
          </a:p>
        </p:txBody>
      </p:sp>
      <p:sp>
        <p:nvSpPr>
          <p:cNvPr id="7" name="Rounded Rectangle 6"/>
          <p:cNvSpPr/>
          <p:nvPr/>
        </p:nvSpPr>
        <p:spPr>
          <a:xfrm>
            <a:off x="2970872" y="1298448"/>
            <a:ext cx="624720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3135464" y="1463040"/>
            <a:ext cx="5918023" cy="4773168"/>
          </a:xfrm>
          <a:prstGeom prst="rect">
            <a:avLst/>
          </a:prstGeom>
        </p:spPr>
      </p:pic>
    </p:spTree>
  </p:cSld>
  <p:clrMapOvr>
    <a:masterClrMapping/>
  </p:clrMapOvr>
  <p:transition spd="med">
    <p:zoom dir="in"/>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Syntactic analysis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 / 229</a:t>
            </a:r>
          </a:p>
        </p:txBody>
      </p:sp>
      <p:sp>
        <p:nvSpPr>
          <p:cNvPr id="7" name="Rounded Rectangle 6"/>
          <p:cNvSpPr/>
          <p:nvPr/>
        </p:nvSpPr>
        <p:spPr>
          <a:xfrm>
            <a:off x="1701841" y="1298448"/>
            <a:ext cx="878526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866433" y="1463040"/>
            <a:ext cx="8456085" cy="477316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Syntactic analysis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 / 229</a:t>
            </a:r>
          </a:p>
        </p:txBody>
      </p:sp>
      <p:sp>
        <p:nvSpPr>
          <p:cNvPr id="7" name="Rounded Rectangle 6"/>
          <p:cNvSpPr/>
          <p:nvPr/>
        </p:nvSpPr>
        <p:spPr>
          <a:xfrm>
            <a:off x="2191294" y="1298448"/>
            <a:ext cx="7806363" cy="469087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355886" y="1463040"/>
            <a:ext cx="7477179"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Classification of Taggers Rule Based Stochastic/ Statistical based 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Part of speech tagging utilizes rule based and stochastic tagger architectures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 / 229</a:t>
            </a:r>
          </a:p>
        </p:txBody>
      </p:sp>
      <p:sp>
        <p:nvSpPr>
          <p:cNvPr id="8" name="Rounded Rectangle 7"/>
          <p:cNvSpPr/>
          <p:nvPr/>
        </p:nvSpPr>
        <p:spPr>
          <a:xfrm>
            <a:off x="457200" y="1298448"/>
            <a:ext cx="3624072" cy="1230182"/>
          </a:xfrm>
          <a:prstGeom prst="roundRect">
            <a:avLst>
              <a:gd name="adj" fmla="val 114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3221736" cy="908313"/>
          </a:xfrm>
          <a:prstGeom prst="rect">
            <a:avLst/>
          </a:prstGeom>
          <a:noFill/>
        </p:spPr>
        <p:txBody>
          <a:bodyPr wrap="square" anchor="t" lIns="0" tIns="0" rIns="0" bIns="0">
            <a:spAutoFit/>
          </a:bodyPr>
          <a:lstStyle/>
          <a:p>
            <a:pPr algn="l"/>
            <a:r>
              <a:rPr sz="1310" b="1">
                <a:solidFill>
                  <a:srgbClr val="1365A5"/>
                </a:solidFill>
                <a:latin typeface="Bebas Neue"/>
              </a:rPr>
              <a:t>Rule-based taggers</a:t>
            </a:r>
          </a:p>
          <a:p>
            <a:pPr algn="l" marL="256032" indent="-256032" lvl="0">
              <a:spcBef>
                <a:spcPts val="700"/>
              </a:spcBef>
              <a:buClr>
                <a:srgbClr val="F76945"/>
              </a:buClr>
              <a:buFont typeface="Arial"/>
              <a:buChar char="•"/>
            </a:pPr>
            <a:r>
              <a:rPr sz="1050" b="0">
                <a:solidFill>
                  <a:srgbClr val="111111"/>
                </a:solidFill>
                <a:latin typeface="Inter"/>
              </a:rPr>
              <a:t>Stochastic taggers</a:t>
            </a:r>
          </a:p>
        </p:txBody>
      </p:sp>
      <p:sp>
        <p:nvSpPr>
          <p:cNvPr id="11" name="Rounded Rectangle 10"/>
          <p:cNvSpPr/>
          <p:nvPr/>
        </p:nvSpPr>
        <p:spPr>
          <a:xfrm>
            <a:off x="4282440" y="1298448"/>
            <a:ext cx="3624072" cy="1230182"/>
          </a:xfrm>
          <a:prstGeom prst="roundRect">
            <a:avLst>
              <a:gd name="adj" fmla="val 114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8244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3608" y="1459382"/>
            <a:ext cx="3221736" cy="908313"/>
          </a:xfrm>
          <a:prstGeom prst="rect">
            <a:avLst/>
          </a:prstGeom>
          <a:noFill/>
        </p:spPr>
        <p:txBody>
          <a:bodyPr wrap="square" anchor="t" lIns="0" tIns="0" rIns="0" bIns="0">
            <a:spAutoFit/>
          </a:bodyPr>
          <a:lstStyle/>
          <a:p>
            <a:pPr algn="l"/>
            <a:r>
              <a:rPr sz="1310" b="1">
                <a:solidFill>
                  <a:srgbClr val="1365A5"/>
                </a:solidFill>
                <a:latin typeface="Bebas Neue"/>
              </a:rPr>
              <a:t>Involve a large database of hand-written</a:t>
            </a:r>
          </a:p>
          <a:p>
            <a:pPr algn="l" marL="256032" indent="-256032" lvl="0">
              <a:spcBef>
                <a:spcPts val="700"/>
              </a:spcBef>
              <a:buClr>
                <a:srgbClr val="F76945"/>
              </a:buClr>
              <a:buFont typeface="Arial"/>
              <a:buChar char="•"/>
            </a:pPr>
            <a:r>
              <a:rPr sz="1050" b="0">
                <a:solidFill>
                  <a:srgbClr val="111111"/>
                </a:solidFill>
                <a:latin typeface="Inter"/>
              </a:rPr>
              <a:t>Resolve tagging ambiguities by using a</a:t>
            </a:r>
          </a:p>
        </p:txBody>
      </p:sp>
      <p:sp>
        <p:nvSpPr>
          <p:cNvPr id="14" name="Rounded Rectangle 13"/>
          <p:cNvSpPr/>
          <p:nvPr/>
        </p:nvSpPr>
        <p:spPr>
          <a:xfrm>
            <a:off x="8107680" y="1298448"/>
            <a:ext cx="3624072" cy="1230182"/>
          </a:xfrm>
          <a:prstGeom prst="roundRect">
            <a:avLst>
              <a:gd name="adj" fmla="val 114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0768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8848" y="1459382"/>
            <a:ext cx="3221736" cy="908313"/>
          </a:xfrm>
          <a:prstGeom prst="rect">
            <a:avLst/>
          </a:prstGeom>
          <a:noFill/>
        </p:spPr>
        <p:txBody>
          <a:bodyPr wrap="square" anchor="t" lIns="0" tIns="0" rIns="0" bIns="0">
            <a:spAutoFit/>
          </a:bodyPr>
          <a:lstStyle/>
          <a:p>
            <a:pPr algn="l"/>
            <a:r>
              <a:rPr sz="1310" b="1">
                <a:solidFill>
                  <a:srgbClr val="1365A5"/>
                </a:solidFill>
                <a:latin typeface="Bebas Neue"/>
              </a:rPr>
              <a:t>Disambiguation rule specifying, for</a:t>
            </a:r>
          </a:p>
          <a:p>
            <a:pPr algn="l" marL="256032" indent="-256032" lvl="0">
              <a:spcBef>
                <a:spcPts val="700"/>
              </a:spcBef>
              <a:buClr>
                <a:srgbClr val="F76945"/>
              </a:buClr>
              <a:buFont typeface="Arial"/>
              <a:buChar char="•"/>
            </a:pPr>
            <a:r>
              <a:rPr sz="1050" b="0">
                <a:solidFill>
                  <a:srgbClr val="111111"/>
                </a:solidFill>
                <a:latin typeface="Inter"/>
              </a:rPr>
              <a:t>training corpus to count the probability of</a:t>
            </a:r>
          </a:p>
        </p:txBody>
      </p:sp>
      <p:sp>
        <p:nvSpPr>
          <p:cNvPr id="17" name="Rounded Rectangle 16"/>
          <p:cNvSpPr/>
          <p:nvPr/>
        </p:nvSpPr>
        <p:spPr>
          <a:xfrm>
            <a:off x="457200" y="2729798"/>
            <a:ext cx="3624072" cy="1230182"/>
          </a:xfrm>
          <a:prstGeom prst="roundRect">
            <a:avLst>
              <a:gd name="adj" fmla="val 114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2894390"/>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890732"/>
            <a:ext cx="3221736" cy="908313"/>
          </a:xfrm>
          <a:prstGeom prst="rect">
            <a:avLst/>
          </a:prstGeom>
          <a:noFill/>
        </p:spPr>
        <p:txBody>
          <a:bodyPr wrap="square" anchor="t" lIns="0" tIns="0" rIns="0" bIns="0">
            <a:spAutoFit/>
          </a:bodyPr>
          <a:lstStyle/>
          <a:p>
            <a:pPr algn="l"/>
            <a:r>
              <a:rPr sz="1310" b="1">
                <a:solidFill>
                  <a:srgbClr val="1365A5"/>
                </a:solidFill>
                <a:latin typeface="Bebas Neue"/>
              </a:rPr>
              <a:t>Example, that an ambiguous word is a</a:t>
            </a:r>
          </a:p>
          <a:p>
            <a:pPr algn="l" marL="256032" indent="-256032" lvl="0">
              <a:spcBef>
                <a:spcPts val="700"/>
              </a:spcBef>
              <a:buClr>
                <a:srgbClr val="F76945"/>
              </a:buClr>
              <a:buFont typeface="Arial"/>
              <a:buChar char="•"/>
            </a:pPr>
            <a:r>
              <a:rPr sz="1050" b="0">
                <a:solidFill>
                  <a:srgbClr val="111111"/>
                </a:solidFill>
                <a:latin typeface="Inter"/>
              </a:rPr>
              <a:t>a given word having a given tag in each</a:t>
            </a:r>
          </a:p>
        </p:txBody>
      </p:sp>
      <p:sp>
        <p:nvSpPr>
          <p:cNvPr id="20" name="Rounded Rectangle 19"/>
          <p:cNvSpPr/>
          <p:nvPr/>
        </p:nvSpPr>
        <p:spPr>
          <a:xfrm>
            <a:off x="4282440" y="2729798"/>
            <a:ext cx="3624072" cy="1230182"/>
          </a:xfrm>
          <a:prstGeom prst="roundRect">
            <a:avLst>
              <a:gd name="adj" fmla="val 114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82440" y="2894390"/>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3608" y="2890732"/>
            <a:ext cx="3221736" cy="908313"/>
          </a:xfrm>
          <a:prstGeom prst="rect">
            <a:avLst/>
          </a:prstGeom>
          <a:noFill/>
        </p:spPr>
        <p:txBody>
          <a:bodyPr wrap="square" anchor="t" lIns="0" tIns="0" rIns="0" bIns="0">
            <a:spAutoFit/>
          </a:bodyPr>
          <a:lstStyle/>
          <a:p>
            <a:pPr algn="l"/>
            <a:r>
              <a:rPr sz="1310" b="1">
                <a:solidFill>
                  <a:srgbClr val="1365A5"/>
                </a:solidFill>
                <a:latin typeface="Bebas Neue"/>
              </a:rPr>
              <a:t>Noun rather than a verb if it follows a</a:t>
            </a:r>
          </a:p>
          <a:p>
            <a:pPr algn="l" marL="256032" indent="-256032" lvl="0">
              <a:spcBef>
                <a:spcPts val="700"/>
              </a:spcBef>
              <a:buClr>
                <a:srgbClr val="F76945"/>
              </a:buClr>
              <a:buFont typeface="Arial"/>
              <a:buChar char="•"/>
            </a:pPr>
            <a:r>
              <a:rPr sz="1050" b="0">
                <a:solidFill>
                  <a:srgbClr val="111111"/>
                </a:solidFill>
                <a:latin typeface="Inter"/>
              </a:rPr>
              <a:t>context.</a:t>
            </a:r>
          </a:p>
        </p:txBody>
      </p:sp>
      <p:sp>
        <p:nvSpPr>
          <p:cNvPr id="23" name="Rounded Rectangle 22"/>
          <p:cNvSpPr/>
          <p:nvPr/>
        </p:nvSpPr>
        <p:spPr>
          <a:xfrm>
            <a:off x="8107680" y="2729798"/>
            <a:ext cx="3624072" cy="1230182"/>
          </a:xfrm>
          <a:prstGeom prst="roundRect">
            <a:avLst>
              <a:gd name="adj" fmla="val 114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07680" y="2894390"/>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08848" y="2890732"/>
            <a:ext cx="3221736" cy="908313"/>
          </a:xfrm>
          <a:prstGeom prst="rect">
            <a:avLst/>
          </a:prstGeom>
          <a:noFill/>
        </p:spPr>
        <p:txBody>
          <a:bodyPr wrap="square" anchor="t" lIns="0" tIns="0" rIns="0" bIns="0">
            <a:spAutoFit/>
          </a:bodyPr>
          <a:lstStyle/>
          <a:p>
            <a:pPr algn="l"/>
            <a:r>
              <a:rPr sz="1310" b="1">
                <a:solidFill>
                  <a:srgbClr val="1365A5"/>
                </a:solidFill>
                <a:latin typeface="Bebas Neue"/>
              </a:rPr>
              <a:t>Determiner.</a:t>
            </a:r>
          </a:p>
          <a:p>
            <a:pPr algn="l" marL="256032" indent="-256032" lvl="0">
              <a:spcBef>
                <a:spcPts val="700"/>
              </a:spcBef>
              <a:buClr>
                <a:srgbClr val="F76945"/>
              </a:buClr>
              <a:buFont typeface="Arial"/>
              <a:buChar char="•"/>
            </a:pPr>
            <a:r>
              <a:rPr sz="1050" b="0">
                <a:solidFill>
                  <a:srgbClr val="111111"/>
                </a:solidFill>
                <a:latin typeface="Inter"/>
              </a:rPr>
              <a:t>The Brill tagger, called the transformation-based tagger, shares features of both tagging architecture.</a:t>
            </a:r>
          </a:p>
        </p:txBody>
      </p:sp>
      <p:sp>
        <p:nvSpPr>
          <p:cNvPr id="26" name="Rounded Rectangle 25"/>
          <p:cNvSpPr/>
          <p:nvPr/>
        </p:nvSpPr>
        <p:spPr>
          <a:xfrm>
            <a:off x="457200" y="4161149"/>
            <a:ext cx="11274552" cy="11240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161149"/>
            <a:ext cx="73152" cy="11240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Part of speech tagging methods combine hand-written rules with corpus-based probability counts. The Brill tagger successfully merges both rule-based and stochastic approaches for better accuracy. For example, using a rule that a determiner is followed by a noun.</a:t>
            </a:r>
          </a:p>
        </p:txBody>
      </p:sp>
      <p:sp>
        <p:nvSpPr>
          <p:cNvPr id="29" name="Rounded Rectangle 2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Transformation-based taggers combine rule-based databases and stochastic training corpora features.</a:t>
            </a:r>
          </a:p>
          <a:p>
            <a:pPr algn="l"/>
            <a:r>
              <a:rPr b="1" sz="1300">
                <a:solidFill>
                  <a:srgbClr val="1365A5"/>
                </a:solidFill>
                <a:latin typeface="Bebas Neue"/>
              </a:rPr>
              <a:t>Key terms:  </a:t>
            </a:r>
            <a:r>
              <a:rPr sz="1300" b="0">
                <a:solidFill>
                  <a:srgbClr val="111111"/>
                </a:solidFill>
                <a:latin typeface="Inter"/>
              </a:rPr>
              <a:t>Rule-based tagger — A tagger that uses a large database of hand-written disambiguation rules.</a:t>
            </a:r>
          </a:p>
        </p:txBody>
      </p:sp>
      <p:sp>
        <p:nvSpPr>
          <p:cNvPr id="30" name="Rectangle 2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5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par>
                                <p:cTn id="64" presetID="10" presetClass="entr" presetSubtype="0"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45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Rule based POS tagging uses a dictionary and disambiguation rules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 / 229</a:t>
            </a:r>
          </a:p>
        </p:txBody>
      </p:sp>
      <p:pic>
        <p:nvPicPr>
          <p:cNvPr id="7" name="Picture 6" descr="image.png"/>
          <p:cNvPicPr>
            <a:picLocks noChangeAspect="1"/>
          </p:cNvPicPr>
          <p:nvPr/>
        </p:nvPicPr>
        <p:blipFill>
          <a:blip r:embed="rId3"/>
          <a:stretch>
            <a:fillRect/>
          </a:stretch>
        </p:blipFill>
        <p:spPr>
          <a:xfrm>
            <a:off x="7672913" y="2312683"/>
            <a:ext cx="4058838" cy="1958312"/>
          </a:xfrm>
          <a:prstGeom prst="rect">
            <a:avLst/>
          </a:prstGeom>
        </p:spPr>
      </p:pic>
      <p:sp>
        <p:nvSpPr>
          <p:cNvPr id="8" name="Rectangle 7"/>
          <p:cNvSpPr/>
          <p:nvPr/>
        </p:nvSpPr>
        <p:spPr>
          <a:xfrm>
            <a:off x="457200" y="1335024"/>
            <a:ext cx="82296" cy="71044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6278614" cy="728731"/>
          </a:xfrm>
          <a:prstGeom prst="rect">
            <a:avLst/>
          </a:prstGeom>
          <a:noFill/>
        </p:spPr>
        <p:txBody>
          <a:bodyPr wrap="square" anchor="t" lIns="0" tIns="0" rIns="0" bIns="0">
            <a:spAutoFit/>
          </a:bodyPr>
          <a:lstStyle/>
          <a:p>
            <a:pPr algn="l"/>
            <a:r>
              <a:rPr sz="1520" b="1">
                <a:solidFill>
                  <a:srgbClr val="1365A5"/>
                </a:solidFill>
                <a:latin typeface="Bebas Neue"/>
              </a:rPr>
              <a:t>The earliest algorithms for automatically assigning POS were based on a two-stage architecture.</a:t>
            </a:r>
          </a:p>
        </p:txBody>
      </p:sp>
      <p:sp>
        <p:nvSpPr>
          <p:cNvPr id="10" name="TextBox 9"/>
          <p:cNvSpPr txBox="1"/>
          <p:nvPr/>
        </p:nvSpPr>
        <p:spPr>
          <a:xfrm>
            <a:off x="720547" y="2219203"/>
            <a:ext cx="6278614" cy="176022"/>
          </a:xfrm>
          <a:prstGeom prst="rect">
            <a:avLst/>
          </a:prstGeom>
          <a:noFill/>
        </p:spPr>
        <p:txBody>
          <a:bodyPr wrap="square" lIns="0" rIns="0" tIns="0" bIns="0">
            <a:spAutoFit/>
          </a:bodyPr>
          <a:lstStyle/>
          <a:p>
            <a:r>
              <a:rPr sz="680" b="1">
                <a:solidFill>
                  <a:srgbClr val="6D28D9"/>
                </a:solidFill>
                <a:latin typeface="Bebas Neue"/>
              </a:rPr>
              <a:t>THEN   </a:t>
            </a:r>
            <a:r>
              <a:rPr sz="1100" b="1">
                <a:solidFill>
                  <a:srgbClr val="6D28D9"/>
                </a:solidFill>
                <a:latin typeface="Bebas Neue"/>
              </a:rPr>
              <a:t>First</a:t>
            </a:r>
            <a:r>
              <a:rPr sz="1100">
                <a:solidFill>
                  <a:srgbClr val="111111"/>
                </a:solidFill>
                <a:latin typeface="Inter"/>
              </a:rPr>
              <a:t>, use a dictionary to assign each word a list of potential POS.</a:t>
            </a:r>
          </a:p>
        </p:txBody>
      </p:sp>
      <p:sp>
        <p:nvSpPr>
          <p:cNvPr id="11" name="TextBox 10"/>
          <p:cNvSpPr txBox="1"/>
          <p:nvPr/>
        </p:nvSpPr>
        <p:spPr>
          <a:xfrm>
            <a:off x="720547" y="2523241"/>
            <a:ext cx="6278614" cy="352044"/>
          </a:xfrm>
          <a:prstGeom prst="rect">
            <a:avLst/>
          </a:prstGeom>
          <a:noFill/>
        </p:spPr>
        <p:txBody>
          <a:bodyPr wrap="square" lIns="0" rIns="0" tIns="0" bIns="0">
            <a:spAutoFit/>
          </a:bodyPr>
          <a:lstStyle/>
          <a:p>
            <a:r>
              <a:rPr sz="680" b="1">
                <a:solidFill>
                  <a:srgbClr val="6D28D9"/>
                </a:solidFill>
                <a:latin typeface="Bebas Neue"/>
              </a:rPr>
              <a:t>THEN   </a:t>
            </a:r>
            <a:r>
              <a:rPr sz="1100" b="1">
                <a:solidFill>
                  <a:srgbClr val="6D28D9"/>
                </a:solidFill>
                <a:latin typeface="Bebas Neue"/>
              </a:rPr>
              <a:t>Second</a:t>
            </a:r>
            <a:r>
              <a:rPr sz="1100">
                <a:solidFill>
                  <a:srgbClr val="111111"/>
                </a:solidFill>
                <a:latin typeface="Inter"/>
              </a:rPr>
              <a:t>, use large lists of hand-written disambiguation rules to win now down this list to a single POS for each word.</a:t>
            </a:r>
          </a:p>
        </p:txBody>
      </p:sp>
      <p:sp>
        <p:nvSpPr>
          <p:cNvPr id="12" name="TextBox 11"/>
          <p:cNvSpPr txBox="1"/>
          <p:nvPr/>
        </p:nvSpPr>
        <p:spPr>
          <a:xfrm>
            <a:off x="720547" y="3003301"/>
            <a:ext cx="6278614" cy="176022"/>
          </a:xfrm>
          <a:prstGeom prst="rect">
            <a:avLst/>
          </a:prstGeom>
          <a:noFill/>
        </p:spPr>
        <p:txBody>
          <a:bodyPr wrap="square" lIns="0" rIns="0" tIns="0" bIns="0">
            <a:spAutoFit/>
          </a:bodyPr>
          <a:lstStyle/>
          <a:p>
            <a:r>
              <a:rPr sz="1100">
                <a:solidFill>
                  <a:srgbClr val="111111"/>
                </a:solidFill>
                <a:latin typeface="Inter"/>
              </a:rPr>
              <a:t>The ENGTWOL tagger (1995) is based on the same two.</a:t>
            </a:r>
          </a:p>
        </p:txBody>
      </p:sp>
      <p:sp>
        <p:nvSpPr>
          <p:cNvPr id="13" name="TextBox 12"/>
          <p:cNvSpPr txBox="1"/>
          <p:nvPr/>
        </p:nvSpPr>
        <p:spPr>
          <a:xfrm>
            <a:off x="720547" y="3307339"/>
            <a:ext cx="6278614" cy="176022"/>
          </a:xfrm>
          <a:prstGeom prst="rect">
            <a:avLst/>
          </a:prstGeom>
          <a:noFill/>
        </p:spPr>
        <p:txBody>
          <a:bodyPr wrap="square" lIns="0" rIns="0" tIns="0" bIns="0">
            <a:spAutoFit/>
          </a:bodyPr>
          <a:lstStyle/>
          <a:p>
            <a:r>
              <a:rPr sz="1100">
                <a:solidFill>
                  <a:srgbClr val="111111"/>
                </a:solidFill>
                <a:latin typeface="Inter"/>
              </a:rPr>
              <a:t>stage architecture, with much more sophisticated.</a:t>
            </a:r>
          </a:p>
        </p:txBody>
      </p:sp>
      <p:sp>
        <p:nvSpPr>
          <p:cNvPr id="14" name="TextBox 13"/>
          <p:cNvSpPr txBox="1"/>
          <p:nvPr/>
        </p:nvSpPr>
        <p:spPr>
          <a:xfrm>
            <a:off x="720547" y="3611377"/>
            <a:ext cx="6278614" cy="176022"/>
          </a:xfrm>
          <a:prstGeom prst="rect">
            <a:avLst/>
          </a:prstGeom>
          <a:noFill/>
        </p:spPr>
        <p:txBody>
          <a:bodyPr wrap="square" lIns="0" rIns="0" tIns="0" bIns="0">
            <a:spAutoFit/>
          </a:bodyPr>
          <a:lstStyle/>
          <a:p>
            <a:r>
              <a:rPr sz="1100">
                <a:solidFill>
                  <a:srgbClr val="111111"/>
                </a:solidFill>
                <a:latin typeface="Inter"/>
              </a:rPr>
              <a:t>•56000 entries.</a:t>
            </a:r>
          </a:p>
        </p:txBody>
      </p:sp>
      <p:sp>
        <p:nvSpPr>
          <p:cNvPr id="15" name="TextBox 14"/>
          <p:cNvSpPr txBox="1"/>
          <p:nvPr/>
        </p:nvSpPr>
        <p:spPr>
          <a:xfrm>
            <a:off x="720547" y="3915415"/>
            <a:ext cx="6278614" cy="176022"/>
          </a:xfrm>
          <a:prstGeom prst="rect">
            <a:avLst/>
          </a:prstGeom>
          <a:noFill/>
        </p:spPr>
        <p:txBody>
          <a:bodyPr wrap="square" lIns="0" rIns="0" tIns="0" bIns="0">
            <a:spAutoFit/>
          </a:bodyPr>
          <a:lstStyle/>
          <a:p>
            <a:r>
              <a:rPr sz="1100">
                <a:solidFill>
                  <a:srgbClr val="111111"/>
                </a:solidFill>
                <a:latin typeface="Inter"/>
              </a:rPr>
              <a:t>lexicon and disambiguation rules than </a:t>
            </a:r>
            <a:r>
              <a:rPr sz="1100" b="1">
                <a:solidFill>
                  <a:srgbClr val="6D28D9"/>
                </a:solidFill>
                <a:latin typeface="Bebas Neue"/>
              </a:rPr>
              <a:t>before</a:t>
            </a:r>
            <a:r>
              <a:rPr sz="1100">
                <a:solidFill>
                  <a:srgbClr val="111111"/>
                </a:solidFill>
                <a:latin typeface="Inter"/>
              </a:rPr>
              <a:t>.</a:t>
            </a:r>
          </a:p>
        </p:txBody>
      </p:sp>
      <p:sp>
        <p:nvSpPr>
          <p:cNvPr id="16" name="TextBox 15"/>
          <p:cNvSpPr txBox="1"/>
          <p:nvPr/>
        </p:nvSpPr>
        <p:spPr>
          <a:xfrm>
            <a:off x="720547" y="4219453"/>
            <a:ext cx="6278614" cy="176022"/>
          </a:xfrm>
          <a:prstGeom prst="rect">
            <a:avLst/>
          </a:prstGeom>
          <a:noFill/>
        </p:spPr>
        <p:txBody>
          <a:bodyPr wrap="square" lIns="0" rIns="0" tIns="0" bIns="0">
            <a:spAutoFit/>
          </a:bodyPr>
          <a:lstStyle/>
          <a:p>
            <a:r>
              <a:rPr sz="1100">
                <a:solidFill>
                  <a:srgbClr val="111111"/>
                </a:solidFill>
                <a:latin typeface="Inter"/>
              </a:rPr>
              <a:t>•A word with multiple POS is counted as separate entries.</a:t>
            </a:r>
          </a:p>
        </p:txBody>
      </p:sp>
      <p:sp>
        <p:nvSpPr>
          <p:cNvPr id="17" name="Rounded Rectangle 16"/>
          <p:cNvSpPr/>
          <p:nvPr/>
        </p:nvSpPr>
        <p:spPr>
          <a:xfrm>
            <a:off x="457200" y="3919198"/>
            <a:ext cx="7014545"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3992350"/>
            <a:ext cx="6619524" cy="1219729"/>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Early part of speech tagging relied on a two-stage architecture. It first assigned potential parts of speech using a dictionary and then applied hand-written rules to narrow down the correct tag. For example, the ENGTWOL tagger using a 56000 entry lexicon.</a:t>
            </a:r>
          </a:p>
        </p:txBody>
      </p:sp>
      <p:sp>
        <p:nvSpPr>
          <p:cNvPr id="20" name="Rounded Rectangle 1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Lexicon — A dictionary containing words and their potential parts of speech entries.</a:t>
            </a:r>
          </a:p>
        </p:txBody>
      </p:sp>
      <p:sp>
        <p:nvSpPr>
          <p:cNvPr id="21" name="Rectangle 2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Rule based POS tagging (POS)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 / 229</a:t>
            </a:r>
          </a:p>
        </p:txBody>
      </p:sp>
      <p:sp>
        <p:nvSpPr>
          <p:cNvPr id="7" name="Rounded Rectangle 6"/>
          <p:cNvSpPr/>
          <p:nvPr/>
        </p:nvSpPr>
        <p:spPr>
          <a:xfrm>
            <a:off x="2117242" y="1298448"/>
            <a:ext cx="795446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81834" y="1463040"/>
            <a:ext cx="7625283" cy="4773168"/>
          </a:xfrm>
          <a:prstGeom prst="rect">
            <a:avLst/>
          </a:prstGeom>
        </p:spPr>
      </p:pic>
    </p:spTree>
  </p:cSld>
  <p:clrMapOvr>
    <a:masterClrMapping/>
  </p:clrMapOvr>
  <p:transition spd="med">
    <p:cover dir="r"/>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Rule based POS tagging (POS)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 / 229</a:t>
            </a:r>
          </a:p>
        </p:txBody>
      </p:sp>
      <p:sp>
        <p:nvSpPr>
          <p:cNvPr id="7" name="Rounded Rectangle 6"/>
          <p:cNvSpPr/>
          <p:nvPr/>
        </p:nvSpPr>
        <p:spPr>
          <a:xfrm>
            <a:off x="1925276" y="1298448"/>
            <a:ext cx="833839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089868" y="1463040"/>
            <a:ext cx="8009214" cy="477316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“A dictionary containing words and their potential parts of speech entries.”?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Maximum likelihood estimation</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Hmms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Backpointer</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Lexicon</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Lexicon: A dictionary containing words and their potential parts of speech entries.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Stochastic POS tagging relies on probabilities derived from training corpora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1115939"/>
          </a:xfrm>
          <a:prstGeom prst="roundRect">
            <a:avLst>
              <a:gd name="adj" fmla="val 1261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295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86339"/>
            <a:ext cx="340156" cy="340156"/>
          </a:xfrm>
          <a:prstGeom prst="rect">
            <a:avLst/>
          </a:prstGeom>
        </p:spPr>
      </p:pic>
      <p:sp>
        <p:nvSpPr>
          <p:cNvPr id="11" name="TextBox 10"/>
          <p:cNvSpPr txBox="1"/>
          <p:nvPr/>
        </p:nvSpPr>
        <p:spPr>
          <a:xfrm>
            <a:off x="1408175" y="1371600"/>
            <a:ext cx="6598919" cy="969635"/>
          </a:xfrm>
          <a:prstGeom prst="rect">
            <a:avLst/>
          </a:prstGeom>
          <a:noFill/>
        </p:spPr>
        <p:txBody>
          <a:bodyPr wrap="square" anchor="ctr" lIns="0" tIns="0" rIns="0" bIns="0">
            <a:spAutoFit/>
          </a:bodyPr>
          <a:lstStyle/>
          <a:p>
            <a:pPr algn="l"/>
            <a:r>
              <a:rPr sz="2100" b="1">
                <a:solidFill>
                  <a:srgbClr val="1365A5"/>
                </a:solidFill>
                <a:latin typeface="Bebas Neue"/>
              </a:rPr>
              <a:t>Probability Based</a:t>
            </a:r>
          </a:p>
          <a:p>
            <a:pPr algn="l">
              <a:spcBef>
                <a:spcPts val="500"/>
              </a:spcBef>
            </a:pPr>
            <a:r>
              <a:rPr sz="1750" b="0">
                <a:solidFill>
                  <a:srgbClr val="111111"/>
                </a:solidFill>
                <a:latin typeface="Inter"/>
              </a:rPr>
              <a:t>Based on probability of a certain tag occurring, given various possibilities.</a:t>
            </a:r>
          </a:p>
        </p:txBody>
      </p:sp>
      <p:sp>
        <p:nvSpPr>
          <p:cNvPr id="12" name="Rounded Rectangle 11"/>
          <p:cNvSpPr/>
          <p:nvPr/>
        </p:nvSpPr>
        <p:spPr>
          <a:xfrm>
            <a:off x="457200" y="2615555"/>
            <a:ext cx="7751064" cy="1115939"/>
          </a:xfrm>
          <a:prstGeom prst="roundRect">
            <a:avLst>
              <a:gd name="adj" fmla="val 1261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8900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003446"/>
            <a:ext cx="340156" cy="340156"/>
          </a:xfrm>
          <a:prstGeom prst="rect">
            <a:avLst/>
          </a:prstGeom>
        </p:spPr>
      </p:pic>
      <p:sp>
        <p:nvSpPr>
          <p:cNvPr id="15" name="TextBox 14"/>
          <p:cNvSpPr txBox="1"/>
          <p:nvPr/>
        </p:nvSpPr>
        <p:spPr>
          <a:xfrm>
            <a:off x="1408175" y="2688707"/>
            <a:ext cx="6598919" cy="969635"/>
          </a:xfrm>
          <a:prstGeom prst="rect">
            <a:avLst/>
          </a:prstGeom>
          <a:noFill/>
        </p:spPr>
        <p:txBody>
          <a:bodyPr wrap="square" anchor="ctr" lIns="0" tIns="0" rIns="0" bIns="0">
            <a:spAutoFit/>
          </a:bodyPr>
          <a:lstStyle/>
          <a:p>
            <a:pPr algn="l"/>
            <a:r>
              <a:rPr sz="2100" b="1">
                <a:solidFill>
                  <a:srgbClr val="1365A5"/>
                </a:solidFill>
                <a:latin typeface="Bebas Neue"/>
              </a:rPr>
              <a:t>Training Corpus</a:t>
            </a:r>
          </a:p>
          <a:p>
            <a:pPr algn="l">
              <a:spcBef>
                <a:spcPts val="500"/>
              </a:spcBef>
            </a:pPr>
            <a:r>
              <a:rPr sz="1750" b="0">
                <a:solidFill>
                  <a:srgbClr val="111111"/>
                </a:solidFill>
                <a:latin typeface="Inter"/>
              </a:rPr>
              <a:t>Necessitates a training corpus, such as the Brown Corpus with about 1,000,000 words from wide sources.</a:t>
            </a:r>
          </a:p>
        </p:txBody>
      </p:sp>
      <p:sp>
        <p:nvSpPr>
          <p:cNvPr id="16" name="Rounded Rectangle 15"/>
          <p:cNvSpPr/>
          <p:nvPr/>
        </p:nvSpPr>
        <p:spPr>
          <a:xfrm>
            <a:off x="457200" y="3932662"/>
            <a:ext cx="7751064" cy="1352569"/>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932662"/>
            <a:ext cx="73152" cy="135256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005814"/>
            <a:ext cx="7356043" cy="1206265"/>
          </a:xfrm>
          <a:prstGeom prst="rect">
            <a:avLst/>
          </a:prstGeom>
          <a:noFill/>
        </p:spPr>
        <p:txBody>
          <a:bodyPr wrap="square" anchor="ctr" lIns="0" tIns="0" rIns="0" bIns="0">
            <a:spAutoFit/>
          </a:bodyPr>
          <a:lstStyle/>
          <a:p>
            <a:pPr algn="l"/>
            <a:r>
              <a:rPr sz="790" b="1">
                <a:solidFill>
                  <a:srgbClr val="F76945"/>
                </a:solidFill>
                <a:latin typeface="Bebas Neue"/>
              </a:rPr>
              <a:t>IN PLAIN WORDS</a:t>
            </a:r>
          </a:p>
          <a:p>
            <a:pPr algn="l">
              <a:spcBef>
                <a:spcPts val="300"/>
              </a:spcBef>
            </a:pPr>
            <a:r>
              <a:rPr sz="1100" b="0">
                <a:solidFill>
                  <a:srgbClr val="111111"/>
                </a:solidFill>
                <a:latin typeface="Inter"/>
              </a:rPr>
              <a:t>Stochastic tagging calculates the likelihood of a specific tag occurring based on surrounding contexts. This method requires a training corpus, which is a collection of pre-tagged sentences. For example, the Brown Corpus containing about one million tagged words.</a:t>
            </a:r>
          </a:p>
          <a:p>
            <a:pPr algn="l">
              <a:spcBef>
                <a:spcPts val="300"/>
              </a:spcBef>
            </a:pPr>
            <a:r>
              <a:rPr sz="1100" b="0">
                <a:solidFill>
                  <a:srgbClr val="111111"/>
                </a:solidFill>
                <a:latin typeface="Inter"/>
              </a:rPr>
              <a:t>STOCHASTIC POS A collection of sentences that have already been tagged Several such corpora exist Standard Corpus of Present-Day American English (or just the Brown Corpus)</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Stochastic POS tagging uses the 1,000,000-word Brown Corpus to calculate tag probabilities.</a:t>
            </a:r>
          </a:p>
          <a:p>
            <a:pPr algn="l"/>
            <a:r>
              <a:rPr b="1" sz="1300">
                <a:solidFill>
                  <a:srgbClr val="1365A5"/>
                </a:solidFill>
                <a:latin typeface="Bebas Neue"/>
              </a:rPr>
              <a:t>Key terms:  </a:t>
            </a:r>
            <a:r>
              <a:rPr sz="1300" b="0">
                <a:solidFill>
                  <a:srgbClr val="111111"/>
                </a:solidFill>
                <a:latin typeface="Inter"/>
              </a:rPr>
              <a:t>Training Corpus — A collection of pre-tagged sentences used to compute statistical probabilities.</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Rules has to be updated based on language change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 / 229</a:t>
            </a:r>
          </a:p>
        </p:txBody>
      </p:sp>
      <p:sp>
        <p:nvSpPr>
          <p:cNvPr id="8" name="Rounded Rectangle 7"/>
          <p:cNvSpPr/>
          <p:nvPr/>
        </p:nvSpPr>
        <p:spPr>
          <a:xfrm>
            <a:off x="457200" y="1298448"/>
            <a:ext cx="5536692" cy="5102352"/>
          </a:xfrm>
          <a:prstGeom prst="roundRect">
            <a:avLst>
              <a:gd name="adj" fmla="val 275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4780483"/>
          </a:xfrm>
          <a:prstGeom prst="rect">
            <a:avLst/>
          </a:prstGeom>
          <a:noFill/>
        </p:spPr>
        <p:txBody>
          <a:bodyPr wrap="square" anchor="t" lIns="0" tIns="0" rIns="0" bIns="0">
            <a:spAutoFit/>
          </a:bodyPr>
          <a:lstStyle/>
          <a:p>
            <a:pPr algn="l"/>
            <a:r>
              <a:rPr sz="2500" b="1">
                <a:solidFill>
                  <a:srgbClr val="1365A5"/>
                </a:solidFill>
                <a:latin typeface="Bebas Neue"/>
              </a:rPr>
              <a:t>Limitations of Rule-based Approach</a:t>
            </a:r>
          </a:p>
          <a:p>
            <a:pPr algn="l" marL="256032" indent="-256032" lvl="0">
              <a:spcBef>
                <a:spcPts val="700"/>
              </a:spcBef>
              <a:buClr>
                <a:srgbClr val="F76945"/>
              </a:buClr>
              <a:buFont typeface="Arial"/>
              <a:buChar char="•"/>
            </a:pPr>
            <a:r>
              <a:rPr sz="2000" b="0">
                <a:solidFill>
                  <a:srgbClr val="111111"/>
                </a:solidFill>
                <a:latin typeface="Inter"/>
              </a:rPr>
              <a:t>Hard coded rule are required.</a:t>
            </a:r>
          </a:p>
          <a:p>
            <a:pPr algn="l" marL="256032" indent="-256032" lvl="0">
              <a:spcBef>
                <a:spcPts val="700"/>
              </a:spcBef>
              <a:buClr>
                <a:srgbClr val="F76945"/>
              </a:buClr>
              <a:buFont typeface="Arial"/>
              <a:buChar char="•"/>
            </a:pPr>
            <a:r>
              <a:rPr sz="2000" b="0">
                <a:solidFill>
                  <a:srgbClr val="111111"/>
                </a:solidFill>
                <a:latin typeface="Inter"/>
              </a:rPr>
              <a:t>It needs to check lexicon every time which is not efficient approach</a:t>
            </a:r>
          </a:p>
        </p:txBody>
      </p:sp>
      <p:sp>
        <p:nvSpPr>
          <p:cNvPr id="11" name="Rounded Rectangle 10"/>
          <p:cNvSpPr/>
          <p:nvPr/>
        </p:nvSpPr>
        <p:spPr>
          <a:xfrm>
            <a:off x="6195059" y="1298448"/>
            <a:ext cx="5536692" cy="5102352"/>
          </a:xfrm>
          <a:prstGeom prst="roundRect">
            <a:avLst>
              <a:gd name="adj" fmla="val 275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4780483"/>
          </a:xfrm>
          <a:prstGeom prst="rect">
            <a:avLst/>
          </a:prstGeom>
          <a:noFill/>
        </p:spPr>
        <p:txBody>
          <a:bodyPr wrap="square" anchor="t" lIns="0" tIns="0" rIns="0" bIns="0">
            <a:spAutoFit/>
          </a:bodyPr>
          <a:lstStyle/>
          <a:p>
            <a:pPr algn="l"/>
            <a:r>
              <a:rPr sz="2500" b="1">
                <a:solidFill>
                  <a:srgbClr val="1365A5"/>
                </a:solidFill>
                <a:latin typeface="Bebas Neue"/>
              </a:rPr>
              <a:t>Strong language experts team is required.</a:t>
            </a:r>
          </a:p>
          <a:p>
            <a:pPr algn="l" marL="256032" indent="-256032" lvl="0">
              <a:spcBef>
                <a:spcPts val="700"/>
              </a:spcBef>
              <a:buClr>
                <a:srgbClr val="F76945"/>
              </a:buClr>
              <a:buFont typeface="Arial"/>
              <a:buChar char="•"/>
            </a:pPr>
            <a:r>
              <a:rPr sz="2000" b="0">
                <a:solidFill>
                  <a:srgbClr val="111111"/>
                </a:solidFill>
                <a:latin typeface="Inter"/>
              </a:rPr>
              <a:t>2) Stochastic/ Statistical based Approach</a:t>
            </a:r>
          </a:p>
          <a:p>
            <a:pPr algn="l" marL="256032" indent="-256032" lvl="0">
              <a:spcBef>
                <a:spcPts val="700"/>
              </a:spcBef>
              <a:buClr>
                <a:srgbClr val="F76945"/>
              </a:buClr>
              <a:buFont typeface="Arial"/>
              <a:buChar char="•"/>
            </a:pPr>
            <a:r>
              <a:rPr sz="2000" b="0">
                <a:solidFill>
                  <a:srgbClr val="111111"/>
                </a:solidFill>
                <a:latin typeface="Inter"/>
              </a:rPr>
              <a:t>It is based on concept of probability and machine learning.</a:t>
            </a:r>
          </a:p>
          <a:p>
            <a:pPr algn="l" marL="256032" indent="-256032" lvl="0">
              <a:spcBef>
                <a:spcPts val="700"/>
              </a:spcBef>
              <a:buClr>
                <a:srgbClr val="F76945"/>
              </a:buClr>
              <a:buFont typeface="Arial"/>
              <a:buChar char="•"/>
            </a:pPr>
            <a:r>
              <a:rPr sz="2000" b="0">
                <a:solidFill>
                  <a:srgbClr val="111111"/>
                </a:solidFill>
                <a:latin typeface="Inter"/>
              </a:rPr>
              <a:t>Training and Test corpus are used.</a:t>
            </a:r>
          </a:p>
          <a:p>
            <a:pPr algn="l" marL="256032" indent="-256032" lvl="0">
              <a:spcBef>
                <a:spcPts val="700"/>
              </a:spcBef>
              <a:buClr>
                <a:srgbClr val="F76945"/>
              </a:buClr>
              <a:buFont typeface="Arial"/>
              <a:buChar char="•"/>
            </a:pPr>
            <a:r>
              <a:rPr sz="2000" b="0">
                <a:solidFill>
                  <a:srgbClr val="111111"/>
                </a:solidFill>
                <a:latin typeface="Inter"/>
              </a:rPr>
              <a:t>Two approaches are there</a:t>
            </a:r>
          </a:p>
          <a:p>
            <a:pPr algn="l" marL="256032" indent="-256032" lvl="0">
              <a:spcBef>
                <a:spcPts val="700"/>
              </a:spcBef>
              <a:buClr>
                <a:srgbClr val="F76945"/>
              </a:buClr>
              <a:buFont typeface="Arial"/>
              <a:buChar char="•"/>
            </a:pPr>
            <a:r>
              <a:rPr sz="2000" b="0">
                <a:solidFill>
                  <a:srgbClr val="111111"/>
                </a:solidFill>
                <a:latin typeface="Inter"/>
              </a:rPr>
              <a:t>a) Transformation based Tagger b) Probabilistic based Tagger</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Transformation based tagging combines rule based and stochastic learning approaches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1020887"/>
          </a:xfrm>
          <a:prstGeom prst="roundRect">
            <a:avLst>
              <a:gd name="adj" fmla="val 1379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25427"/>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38813"/>
            <a:ext cx="340156" cy="340156"/>
          </a:xfrm>
          <a:prstGeom prst="rect">
            <a:avLst/>
          </a:prstGeom>
        </p:spPr>
      </p:pic>
      <p:sp>
        <p:nvSpPr>
          <p:cNvPr id="11" name="TextBox 10"/>
          <p:cNvSpPr txBox="1"/>
          <p:nvPr/>
        </p:nvSpPr>
        <p:spPr>
          <a:xfrm>
            <a:off x="1408175" y="1371600"/>
            <a:ext cx="6731812" cy="874583"/>
          </a:xfrm>
          <a:prstGeom prst="rect">
            <a:avLst/>
          </a:prstGeom>
          <a:noFill/>
        </p:spPr>
        <p:txBody>
          <a:bodyPr wrap="square" anchor="ctr" lIns="0" tIns="0" rIns="0" bIns="0">
            <a:spAutoFit/>
          </a:bodyPr>
          <a:lstStyle/>
          <a:p>
            <a:pPr algn="l"/>
            <a:r>
              <a:rPr sz="1860" b="1">
                <a:solidFill>
                  <a:srgbClr val="1365A5"/>
                </a:solidFill>
                <a:latin typeface="Bebas Neue"/>
              </a:rPr>
              <a:t>Transformation-Based Learning (TBL)</a:t>
            </a:r>
          </a:p>
          <a:p>
            <a:pPr algn="l">
              <a:spcBef>
                <a:spcPts val="500"/>
              </a:spcBef>
            </a:pPr>
            <a:r>
              <a:rPr sz="1550" b="0">
                <a:solidFill>
                  <a:srgbClr val="111111"/>
                </a:solidFill>
                <a:latin typeface="Inter"/>
              </a:rPr>
              <a:t>Uses supervised learning and assumes a pre-tagged training corpus.</a:t>
            </a:r>
          </a:p>
        </p:txBody>
      </p:sp>
      <p:sp>
        <p:nvSpPr>
          <p:cNvPr id="12" name="Rounded Rectangle 11"/>
          <p:cNvSpPr/>
          <p:nvPr/>
        </p:nvSpPr>
        <p:spPr>
          <a:xfrm>
            <a:off x="457200" y="2520503"/>
            <a:ext cx="7883956" cy="1020887"/>
          </a:xfrm>
          <a:prstGeom prst="roundRect">
            <a:avLst>
              <a:gd name="adj" fmla="val 1379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74748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860868"/>
            <a:ext cx="340156" cy="340156"/>
          </a:xfrm>
          <a:prstGeom prst="rect">
            <a:avLst/>
          </a:prstGeom>
        </p:spPr>
      </p:pic>
      <p:sp>
        <p:nvSpPr>
          <p:cNvPr id="15" name="TextBox 14"/>
          <p:cNvSpPr txBox="1"/>
          <p:nvPr/>
        </p:nvSpPr>
        <p:spPr>
          <a:xfrm>
            <a:off x="1408175" y="2593655"/>
            <a:ext cx="6731812" cy="874583"/>
          </a:xfrm>
          <a:prstGeom prst="rect">
            <a:avLst/>
          </a:prstGeom>
          <a:noFill/>
        </p:spPr>
        <p:txBody>
          <a:bodyPr wrap="square" anchor="ctr" lIns="0" tIns="0" rIns="0" bIns="0">
            <a:spAutoFit/>
          </a:bodyPr>
          <a:lstStyle/>
          <a:p>
            <a:pPr algn="l"/>
            <a:r>
              <a:rPr sz="1860" b="1">
                <a:solidFill>
                  <a:srgbClr val="1365A5"/>
                </a:solidFill>
                <a:latin typeface="Bebas Neue"/>
              </a:rPr>
              <a:t>Combined Architecture</a:t>
            </a:r>
          </a:p>
          <a:p>
            <a:pPr algn="l">
              <a:spcBef>
                <a:spcPts val="500"/>
              </a:spcBef>
            </a:pPr>
            <a:r>
              <a:rPr sz="1550" b="0">
                <a:solidFill>
                  <a:srgbClr val="111111"/>
                </a:solidFill>
                <a:latin typeface="Inter"/>
              </a:rPr>
              <a:t>Combines rule-based specific tags with stochastic machine learning where rules are automatically induced from data.</a:t>
            </a:r>
          </a:p>
        </p:txBody>
      </p:sp>
      <p:sp>
        <p:nvSpPr>
          <p:cNvPr id="16" name="Rounded Rectangle 15"/>
          <p:cNvSpPr/>
          <p:nvPr/>
        </p:nvSpPr>
        <p:spPr>
          <a:xfrm>
            <a:off x="457200" y="3742558"/>
            <a:ext cx="7883956" cy="154267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2558"/>
            <a:ext cx="73152" cy="154267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15710"/>
            <a:ext cx="7488935" cy="1396369"/>
          </a:xfrm>
          <a:prstGeom prst="rect">
            <a:avLst/>
          </a:prstGeom>
          <a:noFill/>
        </p:spPr>
        <p:txBody>
          <a:bodyPr wrap="square" anchor="ctr" lIns="0" tIns="0" rIns="0" bIns="0">
            <a:spAutoFit/>
          </a:bodyPr>
          <a:lstStyle/>
          <a:p>
            <a:pPr algn="l"/>
            <a:r>
              <a:rPr sz="790" b="1">
                <a:solidFill>
                  <a:srgbClr val="F76945"/>
                </a:solidFill>
                <a:latin typeface="Bebas Neue"/>
              </a:rPr>
              <a:t>IN PLAIN WORDS</a:t>
            </a:r>
          </a:p>
          <a:p>
            <a:pPr algn="l">
              <a:spcBef>
                <a:spcPts val="300"/>
              </a:spcBef>
            </a:pPr>
            <a:r>
              <a:rPr sz="1100" b="0">
                <a:solidFill>
                  <a:srgbClr val="111111"/>
                </a:solidFill>
                <a:latin typeface="Inter"/>
              </a:rPr>
              <a:t>Transformation-based learning uses supervised learning with a pre-tagged corpus to assign tags. It merges rule-based logic with stochastic machine learning by automatically inducing rules from data. For example, automatically generating error-correction rules from a tagged corpus.</a:t>
            </a:r>
          </a:p>
          <a:p>
            <a:pPr algn="l">
              <a:spcBef>
                <a:spcPts val="300"/>
              </a:spcBef>
            </a:pPr>
            <a:r>
              <a:rPr sz="1100" b="0">
                <a:solidFill>
                  <a:srgbClr val="111111"/>
                </a:solidFill>
                <a:latin typeface="Inter"/>
              </a:rPr>
              <a:t>a) Transformation based Tagger This tagger is based on concept of Transformation-Based Learning (TBL) approach. Like the rule based taggers, TBL is based on rules that specify what tags should be assigned to what words.</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200">
                <a:solidFill>
                  <a:srgbClr val="1365A5"/>
                </a:solidFill>
                <a:latin typeface="Bebas Neue"/>
              </a:rPr>
              <a:t>Key takeaway:  </a:t>
            </a:r>
            <a:r>
              <a:rPr sz="1200" b="0">
                <a:solidFill>
                  <a:srgbClr val="111111"/>
                </a:solidFill>
                <a:latin typeface="Inter"/>
              </a:rPr>
              <a:t>Transformation-based learning uses supervised learning to automatically induce rules from pre-tagged corpora.</a:t>
            </a:r>
          </a:p>
          <a:p>
            <a:pPr algn="l"/>
            <a:r>
              <a:rPr b="1" sz="1200">
                <a:solidFill>
                  <a:srgbClr val="1365A5"/>
                </a:solidFill>
                <a:latin typeface="Bebas Neue"/>
              </a:rPr>
              <a:t>Key terms:  </a:t>
            </a:r>
            <a:r>
              <a:rPr sz="1200" b="0">
                <a:solidFill>
                  <a:srgbClr val="111111"/>
                </a:solidFill>
                <a:latin typeface="Inter"/>
              </a:rPr>
              <a:t>Transformation-Based Learning — A supervised machine learning approach that automatically induces correction rules from data.</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Transformation rules and grammar constraints resolve ambiguous word tags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35024"/>
            <a:ext cx="82296" cy="22462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7087166" cy="242910"/>
          </a:xfrm>
          <a:prstGeom prst="rect">
            <a:avLst/>
          </a:prstGeom>
          <a:noFill/>
        </p:spPr>
        <p:txBody>
          <a:bodyPr wrap="square" anchor="t" lIns="0" tIns="0" rIns="0" bIns="0">
            <a:spAutoFit/>
          </a:bodyPr>
          <a:lstStyle/>
          <a:p>
            <a:pPr algn="l"/>
            <a:r>
              <a:rPr sz="1520" b="1">
                <a:solidFill>
                  <a:srgbClr val="1365A5"/>
                </a:solidFill>
                <a:latin typeface="Bebas Neue"/>
              </a:rPr>
              <a:t>Label the training set with most frequent tags.</a:t>
            </a:r>
          </a:p>
        </p:txBody>
      </p:sp>
      <p:sp>
        <p:nvSpPr>
          <p:cNvPr id="10" name="TextBox 9"/>
          <p:cNvSpPr txBox="1"/>
          <p:nvPr/>
        </p:nvSpPr>
        <p:spPr>
          <a:xfrm>
            <a:off x="720547" y="1733382"/>
            <a:ext cx="7087166" cy="176022"/>
          </a:xfrm>
          <a:prstGeom prst="rect">
            <a:avLst/>
          </a:prstGeom>
          <a:noFill/>
        </p:spPr>
        <p:txBody>
          <a:bodyPr wrap="square" lIns="0" rIns="0" tIns="0" bIns="0">
            <a:spAutoFit/>
          </a:bodyPr>
          <a:lstStyle/>
          <a:p>
            <a:r>
              <a:rPr sz="1100">
                <a:solidFill>
                  <a:srgbClr val="111111"/>
                </a:solidFill>
                <a:latin typeface="Inter"/>
              </a:rPr>
              <a:t>e.g. The can was rusted.</a:t>
            </a:r>
          </a:p>
        </p:txBody>
      </p:sp>
      <p:sp>
        <p:nvSpPr>
          <p:cNvPr id="11" name="TextBox 10"/>
          <p:cNvSpPr txBox="1"/>
          <p:nvPr/>
        </p:nvSpPr>
        <p:spPr>
          <a:xfrm>
            <a:off x="720547" y="2037420"/>
            <a:ext cx="7087166" cy="176022"/>
          </a:xfrm>
          <a:prstGeom prst="rect">
            <a:avLst/>
          </a:prstGeom>
          <a:noFill/>
        </p:spPr>
        <p:txBody>
          <a:bodyPr wrap="square" lIns="0" rIns="0" tIns="0" bIns="0">
            <a:spAutoFit/>
          </a:bodyPr>
          <a:lstStyle/>
          <a:p>
            <a:r>
              <a:rPr sz="1100">
                <a:solidFill>
                  <a:srgbClr val="111111"/>
                </a:solidFill>
                <a:latin typeface="Inter"/>
              </a:rPr>
              <a:t>Add transformation rules to reduce training mistakes.</a:t>
            </a:r>
          </a:p>
        </p:txBody>
      </p:sp>
      <p:sp>
        <p:nvSpPr>
          <p:cNvPr id="12" name="TextBox 11"/>
          <p:cNvSpPr txBox="1"/>
          <p:nvPr/>
        </p:nvSpPr>
        <p:spPr>
          <a:xfrm>
            <a:off x="720547" y="2341458"/>
            <a:ext cx="7087166" cy="176022"/>
          </a:xfrm>
          <a:prstGeom prst="rect">
            <a:avLst/>
          </a:prstGeom>
          <a:noFill/>
        </p:spPr>
        <p:txBody>
          <a:bodyPr wrap="square" lIns="0" rIns="0" tIns="0" bIns="0">
            <a:spAutoFit/>
          </a:bodyPr>
          <a:lstStyle/>
          <a:p>
            <a:r>
              <a:rPr sz="1100">
                <a:solidFill>
                  <a:srgbClr val="111111"/>
                </a:solidFill>
                <a:latin typeface="Inter"/>
              </a:rPr>
              <a:t>Explanation: ‘can’ can be noun </a:t>
            </a:r>
            <a:r>
              <a:rPr sz="1100" b="1">
                <a:solidFill>
                  <a:srgbClr val="0F766E"/>
                </a:solidFill>
                <a:latin typeface="Bebas Neue"/>
              </a:rPr>
              <a:t>as well as</a:t>
            </a:r>
            <a:r>
              <a:rPr sz="1100">
                <a:solidFill>
                  <a:srgbClr val="111111"/>
                </a:solidFill>
                <a:latin typeface="Inter"/>
              </a:rPr>
              <a:t> modal verb </a:t>
            </a:r>
            <a:r>
              <a:rPr sz="1100" b="1">
                <a:solidFill>
                  <a:srgbClr val="0F766E"/>
                </a:solidFill>
                <a:latin typeface="Bebas Neue"/>
              </a:rPr>
              <a:t>also</a:t>
            </a:r>
            <a:r>
              <a:rPr sz="1100">
                <a:solidFill>
                  <a:srgbClr val="111111"/>
                </a:solidFill>
                <a:latin typeface="Inter"/>
              </a:rPr>
              <a:t>.</a:t>
            </a:r>
          </a:p>
        </p:txBody>
      </p:sp>
      <p:sp>
        <p:nvSpPr>
          <p:cNvPr id="13" name="TextBox 12"/>
          <p:cNvSpPr txBox="1"/>
          <p:nvPr/>
        </p:nvSpPr>
        <p:spPr>
          <a:xfrm>
            <a:off x="994867" y="2645496"/>
            <a:ext cx="6812846" cy="176022"/>
          </a:xfrm>
          <a:prstGeom prst="rect">
            <a:avLst/>
          </a:prstGeom>
          <a:noFill/>
        </p:spPr>
        <p:txBody>
          <a:bodyPr wrap="square" lIns="0" rIns="0" tIns="0" bIns="0">
            <a:spAutoFit/>
          </a:bodyPr>
          <a:lstStyle/>
          <a:p>
            <a:r>
              <a:rPr sz="1100">
                <a:solidFill>
                  <a:srgbClr val="111111"/>
                </a:solidFill>
                <a:latin typeface="Inter"/>
              </a:rPr>
              <a:t>It uses machine learning </a:t>
            </a:r>
            <a:r>
              <a:rPr sz="1100" b="1">
                <a:solidFill>
                  <a:srgbClr val="0F766E"/>
                </a:solidFill>
                <a:latin typeface="Bebas Neue"/>
              </a:rPr>
              <a:t>as well as</a:t>
            </a:r>
            <a:r>
              <a:rPr sz="1100">
                <a:solidFill>
                  <a:srgbClr val="111111"/>
                </a:solidFill>
                <a:latin typeface="Inter"/>
              </a:rPr>
              <a:t> grammar rules.</a:t>
            </a:r>
          </a:p>
        </p:txBody>
      </p:sp>
      <p:sp>
        <p:nvSpPr>
          <p:cNvPr id="14" name="TextBox 13"/>
          <p:cNvSpPr txBox="1"/>
          <p:nvPr/>
        </p:nvSpPr>
        <p:spPr>
          <a:xfrm>
            <a:off x="720547" y="2949534"/>
            <a:ext cx="7087166" cy="176022"/>
          </a:xfrm>
          <a:prstGeom prst="rect">
            <a:avLst/>
          </a:prstGeom>
          <a:noFill/>
        </p:spPr>
        <p:txBody>
          <a:bodyPr wrap="square" lIns="0" rIns="0" tIns="0" bIns="0">
            <a:spAutoFit/>
          </a:bodyPr>
          <a:lstStyle/>
          <a:p>
            <a:r>
              <a:rPr sz="1100">
                <a:solidFill>
                  <a:srgbClr val="111111"/>
                </a:solidFill>
                <a:latin typeface="Inter"/>
              </a:rPr>
              <a:t>1) Model verb is never preceded by determiner.</a:t>
            </a:r>
          </a:p>
        </p:txBody>
      </p:sp>
      <p:sp>
        <p:nvSpPr>
          <p:cNvPr id="15" name="TextBox 14"/>
          <p:cNvSpPr txBox="1"/>
          <p:nvPr/>
        </p:nvSpPr>
        <p:spPr>
          <a:xfrm>
            <a:off x="720547" y="3253572"/>
            <a:ext cx="7087166" cy="176022"/>
          </a:xfrm>
          <a:prstGeom prst="rect">
            <a:avLst/>
          </a:prstGeom>
          <a:noFill/>
        </p:spPr>
        <p:txBody>
          <a:bodyPr wrap="square" lIns="0" rIns="0" tIns="0" bIns="0">
            <a:spAutoFit/>
          </a:bodyPr>
          <a:lstStyle/>
          <a:p>
            <a:r>
              <a:rPr sz="680" b="1">
                <a:solidFill>
                  <a:srgbClr val="0F766E"/>
                </a:solidFill>
                <a:latin typeface="Bebas Neue"/>
              </a:rPr>
              <a:t>ALSO   </a:t>
            </a:r>
            <a:r>
              <a:rPr sz="1100">
                <a:solidFill>
                  <a:srgbClr val="111111"/>
                </a:solidFill>
                <a:latin typeface="Inter"/>
              </a:rPr>
              <a:t>2) </a:t>
            </a:r>
            <a:r>
              <a:rPr sz="1100" b="1">
                <a:solidFill>
                  <a:srgbClr val="0F766E"/>
                </a:solidFill>
                <a:latin typeface="Bebas Neue"/>
              </a:rPr>
              <a:t>Also</a:t>
            </a:r>
            <a:r>
              <a:rPr sz="1100">
                <a:solidFill>
                  <a:srgbClr val="111111"/>
                </a:solidFill>
                <a:latin typeface="Inter"/>
              </a:rPr>
              <a:t> in corpus (training data) possibility of ‘determiner model verb’ pair is zero.</a:t>
            </a:r>
          </a:p>
        </p:txBody>
      </p:sp>
      <p:sp>
        <p:nvSpPr>
          <p:cNvPr id="16" name="TextBox 15"/>
          <p:cNvSpPr txBox="1"/>
          <p:nvPr/>
        </p:nvSpPr>
        <p:spPr>
          <a:xfrm>
            <a:off x="720547" y="3557610"/>
            <a:ext cx="7087166" cy="176022"/>
          </a:xfrm>
          <a:prstGeom prst="rect">
            <a:avLst/>
          </a:prstGeom>
          <a:noFill/>
        </p:spPr>
        <p:txBody>
          <a:bodyPr wrap="square" lIns="0" rIns="0" tIns="0" bIns="0">
            <a:spAutoFit/>
          </a:bodyPr>
          <a:lstStyle/>
          <a:p>
            <a:r>
              <a:rPr sz="680" b="1">
                <a:solidFill>
                  <a:srgbClr val="1D4ED8"/>
                </a:solidFill>
                <a:latin typeface="Bebas Neue"/>
              </a:rPr>
              <a:t>SO   </a:t>
            </a:r>
            <a:r>
              <a:rPr sz="1100" b="1">
                <a:solidFill>
                  <a:srgbClr val="1D4ED8"/>
                </a:solidFill>
                <a:latin typeface="Bebas Neue"/>
              </a:rPr>
              <a:t>Therefore</a:t>
            </a:r>
            <a:r>
              <a:rPr sz="1100">
                <a:solidFill>
                  <a:srgbClr val="111111"/>
                </a:solidFill>
                <a:latin typeface="Inter"/>
              </a:rPr>
              <a:t> can is replaced as Noun tag.</a:t>
            </a:r>
          </a:p>
        </p:txBody>
      </p:sp>
      <p:sp>
        <p:nvSpPr>
          <p:cNvPr id="17" name="TextBox 16"/>
          <p:cNvSpPr txBox="1"/>
          <p:nvPr/>
        </p:nvSpPr>
        <p:spPr>
          <a:xfrm>
            <a:off x="720547" y="3861648"/>
            <a:ext cx="7087166" cy="176022"/>
          </a:xfrm>
          <a:prstGeom prst="rect">
            <a:avLst/>
          </a:prstGeom>
          <a:noFill/>
        </p:spPr>
        <p:txBody>
          <a:bodyPr wrap="square" lIns="0" rIns="0" tIns="0" bIns="0">
            <a:spAutoFit/>
          </a:bodyPr>
          <a:lstStyle/>
          <a:p>
            <a:r>
              <a:rPr sz="1100">
                <a:solidFill>
                  <a:srgbClr val="111111"/>
                </a:solidFill>
                <a:latin typeface="Inter"/>
              </a:rPr>
              <a:t>Explanation: ‘rusted’ can be VBD </a:t>
            </a:r>
            <a:r>
              <a:rPr sz="1100" b="1">
                <a:solidFill>
                  <a:srgbClr val="0F766E"/>
                </a:solidFill>
                <a:latin typeface="Bebas Neue"/>
              </a:rPr>
              <a:t>as well as</a:t>
            </a:r>
            <a:r>
              <a:rPr sz="1100">
                <a:solidFill>
                  <a:srgbClr val="111111"/>
                </a:solidFill>
                <a:latin typeface="Inter"/>
              </a:rPr>
              <a:t> VBN </a:t>
            </a:r>
            <a:r>
              <a:rPr sz="1100" b="1">
                <a:solidFill>
                  <a:srgbClr val="0F766E"/>
                </a:solidFill>
                <a:latin typeface="Bebas Neue"/>
              </a:rPr>
              <a:t>also</a:t>
            </a:r>
            <a:r>
              <a:rPr sz="1100">
                <a:solidFill>
                  <a:srgbClr val="111111"/>
                </a:solidFill>
                <a:latin typeface="Inter"/>
              </a:rPr>
              <a:t>.</a:t>
            </a:r>
          </a:p>
        </p:txBody>
      </p:sp>
      <p:sp>
        <p:nvSpPr>
          <p:cNvPr id="18" name="TextBox 17"/>
          <p:cNvSpPr txBox="1"/>
          <p:nvPr/>
        </p:nvSpPr>
        <p:spPr>
          <a:xfrm>
            <a:off x="720547" y="4165686"/>
            <a:ext cx="7087166" cy="176022"/>
          </a:xfrm>
          <a:prstGeom prst="rect">
            <a:avLst/>
          </a:prstGeom>
          <a:noFill/>
        </p:spPr>
        <p:txBody>
          <a:bodyPr wrap="square" lIns="0" rIns="0" tIns="0" bIns="0">
            <a:spAutoFit/>
          </a:bodyPr>
          <a:lstStyle/>
          <a:p>
            <a:r>
              <a:rPr sz="1100">
                <a:solidFill>
                  <a:srgbClr val="111111"/>
                </a:solidFill>
                <a:latin typeface="Inter"/>
              </a:rPr>
              <a:t>1) In grammar rule, VBN is preceded by VBD.</a:t>
            </a:r>
          </a:p>
        </p:txBody>
      </p:sp>
      <p:sp>
        <p:nvSpPr>
          <p:cNvPr id="19" name="TextBox 18"/>
          <p:cNvSpPr txBox="1"/>
          <p:nvPr/>
        </p:nvSpPr>
        <p:spPr>
          <a:xfrm>
            <a:off x="720547" y="4469724"/>
            <a:ext cx="7087166" cy="176022"/>
          </a:xfrm>
          <a:prstGeom prst="rect">
            <a:avLst/>
          </a:prstGeom>
          <a:noFill/>
        </p:spPr>
        <p:txBody>
          <a:bodyPr wrap="square" lIns="0" rIns="0" tIns="0" bIns="0">
            <a:spAutoFit/>
          </a:bodyPr>
          <a:lstStyle/>
          <a:p>
            <a:r>
              <a:rPr sz="680" b="1">
                <a:solidFill>
                  <a:srgbClr val="0F766E"/>
                </a:solidFill>
                <a:latin typeface="Bebas Neue"/>
              </a:rPr>
              <a:t>ALSO   </a:t>
            </a:r>
            <a:r>
              <a:rPr sz="1100">
                <a:solidFill>
                  <a:srgbClr val="111111"/>
                </a:solidFill>
                <a:latin typeface="Inter"/>
              </a:rPr>
              <a:t>2) </a:t>
            </a:r>
            <a:r>
              <a:rPr sz="1100" b="1">
                <a:solidFill>
                  <a:srgbClr val="0F766E"/>
                </a:solidFill>
                <a:latin typeface="Bebas Neue"/>
              </a:rPr>
              <a:t>Also</a:t>
            </a:r>
            <a:r>
              <a:rPr sz="1100">
                <a:solidFill>
                  <a:srgbClr val="111111"/>
                </a:solidFill>
                <a:latin typeface="Inter"/>
              </a:rPr>
              <a:t> in corpus, possibility of “VBD-VBD’ pair is negligible.</a:t>
            </a:r>
          </a:p>
        </p:txBody>
      </p:sp>
      <p:sp>
        <p:nvSpPr>
          <p:cNvPr id="20" name="Rounded Rectangle 19"/>
          <p:cNvSpPr/>
          <p:nvPr/>
        </p:nvSpPr>
        <p:spPr>
          <a:xfrm>
            <a:off x="457200" y="3919198"/>
            <a:ext cx="7883956"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992350"/>
            <a:ext cx="7488935" cy="1219729"/>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Training sets start with most frequent tags and apply transformation rules to fix errors. Grammar constraints and corpus statistics help correctly identify words that can act as multiple parts of speech. For example, replacing an incorrect modal verb tag with a noun tag based on grammar rules.</a:t>
            </a:r>
          </a:p>
        </p:txBody>
      </p:sp>
      <p:sp>
        <p:nvSpPr>
          <p:cNvPr id="23" name="Rounded Rectangle 2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Grammar rules and corpus probabilities resolve ambiguous tags like modal verbs and nouns.</a:t>
            </a:r>
          </a:p>
          <a:p>
            <a:pPr algn="l"/>
            <a:r>
              <a:rPr b="1" sz="1300">
                <a:solidFill>
                  <a:srgbClr val="1365A5"/>
                </a:solidFill>
                <a:latin typeface="Bebas Neue"/>
              </a:rPr>
              <a:t>Key terms:  </a:t>
            </a:r>
            <a:r>
              <a:rPr sz="1300" b="0">
                <a:solidFill>
                  <a:srgbClr val="111111"/>
                </a:solidFill>
                <a:latin typeface="Inter"/>
              </a:rPr>
              <a:t>Training Set — Labeled data used to teach a machine learning model correct tagging.</a:t>
            </a:r>
          </a:p>
        </p:txBody>
      </p:sp>
      <p:sp>
        <p:nvSpPr>
          <p:cNvPr id="24" name="Rectangle 2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The/DT can/MD was/VBD rusted/VBD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 / 229</a:t>
            </a:r>
          </a:p>
        </p:txBody>
      </p:sp>
      <p:sp>
        <p:nvSpPr>
          <p:cNvPr id="7" name="Rounded Rectangle 6"/>
          <p:cNvSpPr/>
          <p:nvPr/>
        </p:nvSpPr>
        <p:spPr>
          <a:xfrm>
            <a:off x="2226003" y="1298448"/>
            <a:ext cx="773694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390595" y="1463040"/>
            <a:ext cx="7407761" cy="4773168"/>
          </a:xfrm>
          <a:prstGeom prst="rect">
            <a:avLst/>
          </a:prstGeom>
        </p:spPr>
      </p:pic>
    </p:spTree>
  </p:cSld>
  <p:clrMapOvr>
    <a:masterClrMapping/>
  </p:clrMapOvr>
  <p:transition spd="med">
    <p:zoom dir="in"/>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POS tagging approaches pick the most likely tag using generative or discriminative models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286133"/>
          </a:xfrm>
          <a:prstGeom prst="roundRect">
            <a:avLst>
              <a:gd name="adj" fmla="val 4921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15805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271436"/>
            <a:ext cx="340156" cy="340156"/>
          </a:xfrm>
          <a:prstGeom prst="rect">
            <a:avLst/>
          </a:prstGeom>
        </p:spPr>
      </p:pic>
      <p:sp>
        <p:nvSpPr>
          <p:cNvPr id="11" name="TextBox 10"/>
          <p:cNvSpPr txBox="1"/>
          <p:nvPr/>
        </p:nvSpPr>
        <p:spPr>
          <a:xfrm>
            <a:off x="1408175" y="1371600"/>
            <a:ext cx="6598919" cy="139829"/>
          </a:xfrm>
          <a:prstGeom prst="rect">
            <a:avLst/>
          </a:prstGeom>
          <a:noFill/>
        </p:spPr>
        <p:txBody>
          <a:bodyPr wrap="square" anchor="ctr" lIns="0" tIns="0" rIns="0" bIns="0">
            <a:spAutoFit/>
          </a:bodyPr>
          <a:lstStyle/>
          <a:p>
            <a:pPr algn="l"/>
            <a:r>
              <a:rPr sz="1050" b="0">
                <a:solidFill>
                  <a:srgbClr val="111111"/>
                </a:solidFill>
                <a:latin typeface="Inter"/>
              </a:rPr>
              <a:t>Approach is to "pick the most-likely tag for this word"</a:t>
            </a:r>
          </a:p>
        </p:txBody>
      </p:sp>
      <p:sp>
        <p:nvSpPr>
          <p:cNvPr id="12" name="Rounded Rectangle 11"/>
          <p:cNvSpPr/>
          <p:nvPr/>
        </p:nvSpPr>
        <p:spPr>
          <a:xfrm>
            <a:off x="457200" y="1785749"/>
            <a:ext cx="7751064" cy="286133"/>
          </a:xfrm>
          <a:prstGeom prst="roundRect">
            <a:avLst>
              <a:gd name="adj" fmla="val 4921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64535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1758737"/>
            <a:ext cx="340156" cy="340156"/>
          </a:xfrm>
          <a:prstGeom prst="rect">
            <a:avLst/>
          </a:prstGeom>
        </p:spPr>
      </p:pic>
      <p:sp>
        <p:nvSpPr>
          <p:cNvPr id="15" name="TextBox 14"/>
          <p:cNvSpPr txBox="1"/>
          <p:nvPr/>
        </p:nvSpPr>
        <p:spPr>
          <a:xfrm>
            <a:off x="1408175" y="1858901"/>
            <a:ext cx="6598919" cy="139829"/>
          </a:xfrm>
          <a:prstGeom prst="rect">
            <a:avLst/>
          </a:prstGeom>
          <a:noFill/>
        </p:spPr>
        <p:txBody>
          <a:bodyPr wrap="square" anchor="ctr" lIns="0" tIns="0" rIns="0" bIns="0">
            <a:spAutoFit/>
          </a:bodyPr>
          <a:lstStyle/>
          <a:p>
            <a:pPr algn="l"/>
            <a:r>
              <a:rPr sz="1050" b="0">
                <a:solidFill>
                  <a:srgbClr val="111111"/>
                </a:solidFill>
                <a:latin typeface="Inter"/>
              </a:rPr>
              <a:t>Two approaches are there whether you generate the data from the class or the</a:t>
            </a:r>
          </a:p>
        </p:txBody>
      </p:sp>
      <p:sp>
        <p:nvSpPr>
          <p:cNvPr id="16" name="Rounded Rectangle 15"/>
          <p:cNvSpPr/>
          <p:nvPr/>
        </p:nvSpPr>
        <p:spPr>
          <a:xfrm>
            <a:off x="457200" y="2273050"/>
            <a:ext cx="7751064" cy="286133"/>
          </a:xfrm>
          <a:prstGeom prst="roundRect">
            <a:avLst>
              <a:gd name="adj" fmla="val 4921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13265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246038"/>
            <a:ext cx="340156" cy="340156"/>
          </a:xfrm>
          <a:prstGeom prst="rect">
            <a:avLst/>
          </a:prstGeom>
        </p:spPr>
      </p:pic>
      <p:sp>
        <p:nvSpPr>
          <p:cNvPr id="19" name="TextBox 18"/>
          <p:cNvSpPr txBox="1"/>
          <p:nvPr/>
        </p:nvSpPr>
        <p:spPr>
          <a:xfrm>
            <a:off x="1408175" y="2346202"/>
            <a:ext cx="6598919" cy="139829"/>
          </a:xfrm>
          <a:prstGeom prst="rect">
            <a:avLst/>
          </a:prstGeom>
          <a:noFill/>
        </p:spPr>
        <p:txBody>
          <a:bodyPr wrap="square" anchor="ctr" lIns="0" tIns="0" rIns="0" bIns="0">
            <a:spAutoFit/>
          </a:bodyPr>
          <a:lstStyle/>
          <a:p>
            <a:pPr algn="l"/>
            <a:r>
              <a:rPr sz="1050" b="0">
                <a:solidFill>
                  <a:srgbClr val="111111"/>
                </a:solidFill>
                <a:latin typeface="Inter"/>
              </a:rPr>
              <a:t>Problem statement: Data available of the form [d, c]</a:t>
            </a:r>
          </a:p>
        </p:txBody>
      </p:sp>
      <p:sp>
        <p:nvSpPr>
          <p:cNvPr id="20" name="Rounded Rectangle 19"/>
          <p:cNvSpPr/>
          <p:nvPr/>
        </p:nvSpPr>
        <p:spPr>
          <a:xfrm>
            <a:off x="457200" y="2760351"/>
            <a:ext cx="7751064" cy="286133"/>
          </a:xfrm>
          <a:prstGeom prst="roundRect">
            <a:avLst>
              <a:gd name="adj" fmla="val 4921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61995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2733340"/>
            <a:ext cx="340156" cy="340156"/>
          </a:xfrm>
          <a:prstGeom prst="rect">
            <a:avLst/>
          </a:prstGeom>
        </p:spPr>
      </p:pic>
      <p:sp>
        <p:nvSpPr>
          <p:cNvPr id="23" name="TextBox 22"/>
          <p:cNvSpPr txBox="1"/>
          <p:nvPr/>
        </p:nvSpPr>
        <p:spPr>
          <a:xfrm>
            <a:off x="1408175" y="2833503"/>
            <a:ext cx="6598919" cy="139829"/>
          </a:xfrm>
          <a:prstGeom prst="rect">
            <a:avLst/>
          </a:prstGeom>
          <a:noFill/>
        </p:spPr>
        <p:txBody>
          <a:bodyPr wrap="square" anchor="ctr" lIns="0" tIns="0" rIns="0" bIns="0">
            <a:spAutoFit/>
          </a:bodyPr>
          <a:lstStyle/>
          <a:p>
            <a:pPr algn="l"/>
            <a:r>
              <a:rPr sz="1050" b="0">
                <a:solidFill>
                  <a:srgbClr val="111111"/>
                </a:solidFill>
                <a:latin typeface="Inter"/>
              </a:rPr>
              <a:t>where d is observations and c is hidden classes</a:t>
            </a:r>
          </a:p>
        </p:txBody>
      </p:sp>
      <p:sp>
        <p:nvSpPr>
          <p:cNvPr id="24" name="Rounded Rectangle 23"/>
          <p:cNvSpPr/>
          <p:nvPr/>
        </p:nvSpPr>
        <p:spPr>
          <a:xfrm>
            <a:off x="457200" y="3247653"/>
            <a:ext cx="7751064" cy="286133"/>
          </a:xfrm>
          <a:prstGeom prst="roundRect">
            <a:avLst>
              <a:gd name="adj" fmla="val 4921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10725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220641"/>
            <a:ext cx="340156" cy="340156"/>
          </a:xfrm>
          <a:prstGeom prst="rect">
            <a:avLst/>
          </a:prstGeom>
        </p:spPr>
      </p:pic>
      <p:sp>
        <p:nvSpPr>
          <p:cNvPr id="27" name="TextBox 26"/>
          <p:cNvSpPr txBox="1"/>
          <p:nvPr/>
        </p:nvSpPr>
        <p:spPr>
          <a:xfrm>
            <a:off x="1408175" y="3320805"/>
            <a:ext cx="6598919" cy="139829"/>
          </a:xfrm>
          <a:prstGeom prst="rect">
            <a:avLst/>
          </a:prstGeom>
          <a:noFill/>
        </p:spPr>
        <p:txBody>
          <a:bodyPr wrap="square" anchor="ctr" lIns="0" tIns="0" rIns="0" bIns="0">
            <a:spAutoFit/>
          </a:bodyPr>
          <a:lstStyle/>
          <a:p>
            <a:pPr algn="l"/>
            <a:r>
              <a:rPr sz="1050" b="0">
                <a:solidFill>
                  <a:srgbClr val="111111"/>
                </a:solidFill>
                <a:latin typeface="Inter"/>
              </a:rPr>
              <a:t>Two types of Model are there</a:t>
            </a:r>
          </a:p>
        </p:txBody>
      </p:sp>
      <p:sp>
        <p:nvSpPr>
          <p:cNvPr id="28" name="Rounded Rectangle 27"/>
          <p:cNvSpPr/>
          <p:nvPr/>
        </p:nvSpPr>
        <p:spPr>
          <a:xfrm>
            <a:off x="457200" y="3734954"/>
            <a:ext cx="7751064" cy="1550277"/>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734954"/>
            <a:ext cx="73152" cy="1550277"/>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3808106"/>
            <a:ext cx="7356043" cy="1403973"/>
          </a:xfrm>
          <a:prstGeom prst="rect">
            <a:avLst/>
          </a:prstGeom>
          <a:noFill/>
        </p:spPr>
        <p:txBody>
          <a:bodyPr wrap="square" anchor="ctr" lIns="0" tIns="0" rIns="0" bIns="0">
            <a:spAutoFit/>
          </a:bodyPr>
          <a:lstStyle/>
          <a:p>
            <a:pPr algn="l"/>
            <a:r>
              <a:rPr sz="940" b="1">
                <a:solidFill>
                  <a:srgbClr val="F76945"/>
                </a:solidFill>
                <a:latin typeface="Bebas Neue"/>
              </a:rPr>
              <a:t>IN PLAIN WORDS</a:t>
            </a:r>
          </a:p>
          <a:p>
            <a:pPr algn="l">
              <a:spcBef>
                <a:spcPts val="300"/>
              </a:spcBef>
            </a:pPr>
            <a:r>
              <a:rPr sz="1300" b="0">
                <a:solidFill>
                  <a:srgbClr val="111111"/>
                </a:solidFill>
                <a:latin typeface="Inter"/>
              </a:rPr>
              <a:t>Tagging approaches aim to find the most likely tag for a given observation. They deal with observable data and hidden classes by utilizing either generative or discriminative models. For example, finding whether a word sequence was generated by a specific class.</a:t>
            </a:r>
          </a:p>
          <a:p>
            <a:pPr algn="l">
              <a:spcBef>
                <a:spcPts val="300"/>
              </a:spcBef>
            </a:pPr>
            <a:r>
              <a:rPr sz="1300" b="0">
                <a:solidFill>
                  <a:srgbClr val="111111"/>
                </a:solidFill>
                <a:latin typeface="Inter"/>
              </a:rPr>
              <a:t>i) Generative Model ii) Discriminative Model</a:t>
            </a:r>
          </a:p>
        </p:txBody>
      </p:sp>
      <p:sp>
        <p:nvSpPr>
          <p:cNvPr id="31" name="Rounded Rectangle 30"/>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POS tagging approaches select the most likely tag using generative or discriminative models.</a:t>
            </a:r>
          </a:p>
          <a:p>
            <a:pPr algn="l"/>
            <a:r>
              <a:rPr b="1" sz="1300">
                <a:solidFill>
                  <a:srgbClr val="1365A5"/>
                </a:solidFill>
                <a:latin typeface="Bebas Neue"/>
              </a:rPr>
              <a:t>Key terms:  </a:t>
            </a:r>
            <a:r>
              <a:rPr sz="1300" b="0">
                <a:solidFill>
                  <a:srgbClr val="111111"/>
                </a:solidFill>
                <a:latin typeface="Inter"/>
              </a:rPr>
              <a:t>Generative Model — A model that assumes classes generate observable data.</a:t>
            </a:r>
          </a:p>
        </p:txBody>
      </p:sp>
      <p:sp>
        <p:nvSpPr>
          <p:cNvPr id="32" name="Rectangle 31"/>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Generative models assume classes generate observable data with downward data flow</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2235338"/>
          </a:xfrm>
          <a:prstGeom prst="roundRect">
            <a:avLst>
              <a:gd name="adj" fmla="val 629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213265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2246038"/>
            <a:ext cx="340156" cy="340156"/>
          </a:xfrm>
          <a:prstGeom prst="rect">
            <a:avLst/>
          </a:prstGeom>
        </p:spPr>
      </p:pic>
      <p:sp>
        <p:nvSpPr>
          <p:cNvPr id="11" name="TextBox 10"/>
          <p:cNvSpPr txBox="1"/>
          <p:nvPr/>
        </p:nvSpPr>
        <p:spPr>
          <a:xfrm>
            <a:off x="1408175" y="1371600"/>
            <a:ext cx="2622804" cy="2089034"/>
          </a:xfrm>
          <a:prstGeom prst="rect">
            <a:avLst/>
          </a:prstGeom>
          <a:noFill/>
        </p:spPr>
        <p:txBody>
          <a:bodyPr wrap="square" anchor="ctr" lIns="0" tIns="0" rIns="0" bIns="0">
            <a:spAutoFit/>
          </a:bodyPr>
          <a:lstStyle/>
          <a:p>
            <a:pPr algn="l"/>
            <a:r>
              <a:rPr sz="2340" b="1">
                <a:solidFill>
                  <a:srgbClr val="1365A5"/>
                </a:solidFill>
                <a:latin typeface="Bebas Neue"/>
              </a:rPr>
              <a:t>Downward Data Flow</a:t>
            </a:r>
          </a:p>
          <a:p>
            <a:pPr algn="l">
              <a:spcBef>
                <a:spcPts val="500"/>
              </a:spcBef>
            </a:pPr>
            <a:r>
              <a:rPr sz="1950" b="0">
                <a:solidFill>
                  <a:srgbClr val="111111"/>
                </a:solidFill>
                <a:latin typeface="Inter"/>
              </a:rPr>
              <a:t>Assumes classes generate observable data (e.g., POS tags generate words).</a:t>
            </a:r>
          </a:p>
        </p:txBody>
      </p:sp>
      <p:sp>
        <p:nvSpPr>
          <p:cNvPr id="12" name="Rounded Rectangle 11"/>
          <p:cNvSpPr/>
          <p:nvPr/>
        </p:nvSpPr>
        <p:spPr>
          <a:xfrm>
            <a:off x="4433315" y="1298448"/>
            <a:ext cx="3774947" cy="2235338"/>
          </a:xfrm>
          <a:prstGeom prst="roundRect">
            <a:avLst>
              <a:gd name="adj" fmla="val 629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213265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2246038"/>
            <a:ext cx="340156" cy="340156"/>
          </a:xfrm>
          <a:prstGeom prst="rect">
            <a:avLst/>
          </a:prstGeom>
        </p:spPr>
      </p:pic>
      <p:sp>
        <p:nvSpPr>
          <p:cNvPr id="15" name="TextBox 14"/>
          <p:cNvSpPr txBox="1"/>
          <p:nvPr/>
        </p:nvSpPr>
        <p:spPr>
          <a:xfrm>
            <a:off x="5384291" y="1371600"/>
            <a:ext cx="2622804" cy="2089034"/>
          </a:xfrm>
          <a:prstGeom prst="rect">
            <a:avLst/>
          </a:prstGeom>
          <a:noFill/>
        </p:spPr>
        <p:txBody>
          <a:bodyPr wrap="square" anchor="ctr" lIns="0" tIns="0" rIns="0" bIns="0">
            <a:spAutoFit/>
          </a:bodyPr>
          <a:lstStyle/>
          <a:p>
            <a:pPr algn="l"/>
            <a:r>
              <a:rPr sz="2340" b="1">
                <a:solidFill>
                  <a:srgbClr val="1365A5"/>
                </a:solidFill>
                <a:latin typeface="Bebas Neue"/>
              </a:rPr>
              <a:t>Examples</a:t>
            </a:r>
          </a:p>
          <a:p>
            <a:pPr algn="l">
              <a:spcBef>
                <a:spcPts val="500"/>
              </a:spcBef>
            </a:pPr>
            <a:r>
              <a:rPr sz="1950" b="0">
                <a:solidFill>
                  <a:srgbClr val="111111"/>
                </a:solidFill>
                <a:latin typeface="Inter"/>
              </a:rPr>
              <a:t>Hidden Markov Model, Naive Bayes Classifier.</a:t>
            </a:r>
          </a:p>
        </p:txBody>
      </p:sp>
      <p:sp>
        <p:nvSpPr>
          <p:cNvPr id="16" name="Rounded Rectangle 15"/>
          <p:cNvSpPr/>
          <p:nvPr/>
        </p:nvSpPr>
        <p:spPr>
          <a:xfrm>
            <a:off x="457200" y="3734954"/>
            <a:ext cx="7751064" cy="1550277"/>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34954"/>
            <a:ext cx="73152" cy="1550277"/>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08106"/>
            <a:ext cx="7356043" cy="1403973"/>
          </a:xfrm>
          <a:prstGeom prst="rect">
            <a:avLst/>
          </a:prstGeom>
          <a:noFill/>
        </p:spPr>
        <p:txBody>
          <a:bodyPr wrap="square" anchor="ctr" lIns="0" tIns="0" rIns="0" bIns="0">
            <a:spAutoFit/>
          </a:bodyPr>
          <a:lstStyle/>
          <a:p>
            <a:pPr algn="l"/>
            <a:r>
              <a:rPr sz="940" b="1">
                <a:solidFill>
                  <a:srgbClr val="F76945"/>
                </a:solidFill>
                <a:latin typeface="Bebas Neue"/>
              </a:rPr>
              <a:t>IN PLAIN WORDS</a:t>
            </a:r>
          </a:p>
          <a:p>
            <a:pPr algn="l">
              <a:spcBef>
                <a:spcPts val="300"/>
              </a:spcBef>
            </a:pPr>
            <a:r>
              <a:rPr sz="1300" b="0">
                <a:solidFill>
                  <a:srgbClr val="111111"/>
                </a:solidFill>
                <a:latin typeface="Inter"/>
              </a:rPr>
              <a:t>In a generative model, you assume that predefined classes generate the observed data. For part of speech tagging, POS tags act as classes that generate the actual words. For example, hidden Markov Models generating words from hidden POS tags.</a:t>
            </a:r>
          </a:p>
          <a:p>
            <a:pPr algn="l">
              <a:spcBef>
                <a:spcPts val="300"/>
              </a:spcBef>
            </a:pPr>
            <a:r>
              <a:rPr sz="1300" b="0">
                <a:solidFill>
                  <a:srgbClr val="111111"/>
                </a:solidFill>
                <a:latin typeface="Inter"/>
              </a:rPr>
              <a:t>In generative model, we assume that class is there and it generates data. For e.g. class is given (subjects), and all words are generated from subject.</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Generative models assume classes generate observable data with a downward flow.</a:t>
            </a:r>
          </a:p>
          <a:p>
            <a:pPr algn="l"/>
            <a:r>
              <a:rPr b="1" sz="1300">
                <a:solidFill>
                  <a:srgbClr val="1365A5"/>
                </a:solidFill>
                <a:latin typeface="Bebas Neue"/>
              </a:rPr>
              <a:t>Key terms:  </a:t>
            </a:r>
            <a:r>
              <a:rPr sz="1300" b="0">
                <a:solidFill>
                  <a:srgbClr val="111111"/>
                </a:solidFill>
                <a:latin typeface="Inter"/>
              </a:rPr>
              <a:t>pos — Parts of Speech Tagging  ·  Generative Model — A statistical model where classes generate the observable data.</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1) Generative Model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 / 229</a:t>
            </a:r>
          </a:p>
        </p:txBody>
      </p:sp>
      <p:sp>
        <p:nvSpPr>
          <p:cNvPr id="7" name="Rounded Rectangle 6"/>
          <p:cNvSpPr/>
          <p:nvPr/>
        </p:nvSpPr>
        <p:spPr>
          <a:xfrm>
            <a:off x="2342052" y="1298448"/>
            <a:ext cx="750484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506644" y="1463040"/>
            <a:ext cx="7175662" cy="4773168"/>
          </a:xfrm>
          <a:prstGeom prst="rect">
            <a:avLst/>
          </a:prstGeom>
        </p:spPr>
      </p:pic>
    </p:spTree>
  </p:cSld>
  <p:clrMapOvr>
    <a:masterClrMapping/>
  </p:clrMapOvr>
  <p:transition spd="med">
    <p:zoom dir="in"/>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Discriminative models assign class probabilities upward from given data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1088633"/>
          </a:xfrm>
          <a:prstGeom prst="roundRect">
            <a:avLst>
              <a:gd name="adj" fmla="val 1293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593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72686"/>
            <a:ext cx="340156" cy="340156"/>
          </a:xfrm>
          <a:prstGeom prst="rect">
            <a:avLst/>
          </a:prstGeom>
        </p:spPr>
      </p:pic>
      <p:sp>
        <p:nvSpPr>
          <p:cNvPr id="11" name="TextBox 10"/>
          <p:cNvSpPr txBox="1"/>
          <p:nvPr/>
        </p:nvSpPr>
        <p:spPr>
          <a:xfrm>
            <a:off x="1408175" y="1371600"/>
            <a:ext cx="6598919" cy="942329"/>
          </a:xfrm>
          <a:prstGeom prst="rect">
            <a:avLst/>
          </a:prstGeom>
          <a:noFill/>
        </p:spPr>
        <p:txBody>
          <a:bodyPr wrap="square" anchor="ctr" lIns="0" tIns="0" rIns="0" bIns="0">
            <a:spAutoFit/>
          </a:bodyPr>
          <a:lstStyle/>
          <a:p>
            <a:pPr algn="l"/>
            <a:r>
              <a:rPr sz="2039" b="1">
                <a:solidFill>
                  <a:srgbClr val="1365A5"/>
                </a:solidFill>
                <a:latin typeface="Bebas Neue"/>
              </a:rPr>
              <a:t>Upward Data Flow</a:t>
            </a:r>
          </a:p>
          <a:p>
            <a:pPr algn="l">
              <a:spcBef>
                <a:spcPts val="500"/>
              </a:spcBef>
            </a:pPr>
            <a:r>
              <a:rPr sz="1700" b="0">
                <a:solidFill>
                  <a:srgbClr val="111111"/>
                </a:solidFill>
                <a:latin typeface="Inter"/>
              </a:rPr>
              <a:t>Data is observed and hidden state/class is determined from it, assigning probabilities based on data nature.</a:t>
            </a:r>
          </a:p>
        </p:txBody>
      </p:sp>
      <p:sp>
        <p:nvSpPr>
          <p:cNvPr id="12" name="Rounded Rectangle 11"/>
          <p:cNvSpPr/>
          <p:nvPr/>
        </p:nvSpPr>
        <p:spPr>
          <a:xfrm>
            <a:off x="457200" y="2588249"/>
            <a:ext cx="7751064" cy="1088633"/>
          </a:xfrm>
          <a:prstGeom prst="roundRect">
            <a:avLst>
              <a:gd name="adj" fmla="val 1293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849102"/>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962487"/>
            <a:ext cx="340156" cy="340156"/>
          </a:xfrm>
          <a:prstGeom prst="rect">
            <a:avLst/>
          </a:prstGeom>
        </p:spPr>
      </p:pic>
      <p:sp>
        <p:nvSpPr>
          <p:cNvPr id="15" name="TextBox 14"/>
          <p:cNvSpPr txBox="1"/>
          <p:nvPr/>
        </p:nvSpPr>
        <p:spPr>
          <a:xfrm>
            <a:off x="1408175" y="2661401"/>
            <a:ext cx="6598919" cy="942329"/>
          </a:xfrm>
          <a:prstGeom prst="rect">
            <a:avLst/>
          </a:prstGeom>
          <a:noFill/>
        </p:spPr>
        <p:txBody>
          <a:bodyPr wrap="square" anchor="ctr" lIns="0" tIns="0" rIns="0" bIns="0">
            <a:spAutoFit/>
          </a:bodyPr>
          <a:lstStyle/>
          <a:p>
            <a:pPr algn="l"/>
            <a:r>
              <a:rPr sz="2039" b="1">
                <a:solidFill>
                  <a:srgbClr val="1365A5"/>
                </a:solidFill>
                <a:latin typeface="Bebas Neue"/>
              </a:rPr>
              <a:t>Examples</a:t>
            </a:r>
          </a:p>
          <a:p>
            <a:pPr algn="l">
              <a:spcBef>
                <a:spcPts val="500"/>
              </a:spcBef>
            </a:pPr>
            <a:r>
              <a:rPr sz="1700" b="0">
                <a:solidFill>
                  <a:srgbClr val="111111"/>
                </a:solidFill>
                <a:latin typeface="Inter"/>
              </a:rPr>
              <a:t>Maximum entropy model, Conditional Random Field.</a:t>
            </a:r>
          </a:p>
        </p:txBody>
      </p:sp>
      <p:sp>
        <p:nvSpPr>
          <p:cNvPr id="16" name="Rounded Rectangle 15"/>
          <p:cNvSpPr/>
          <p:nvPr/>
        </p:nvSpPr>
        <p:spPr>
          <a:xfrm>
            <a:off x="457200" y="3878050"/>
            <a:ext cx="7751064" cy="1407181"/>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78050"/>
            <a:ext cx="73152" cy="1407181"/>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951202"/>
            <a:ext cx="7356043" cy="1260877"/>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keywords are given as data to determine the subject class.</a:t>
            </a:r>
          </a:p>
          <a:p>
            <a:pPr algn="l">
              <a:spcBef>
                <a:spcPts val="300"/>
              </a:spcBef>
            </a:pPr>
            <a:r>
              <a:rPr sz="1400" b="0">
                <a:solidFill>
                  <a:srgbClr val="111111"/>
                </a:solidFill>
                <a:latin typeface="Inter"/>
              </a:rPr>
              <a:t>In the discriminative model, data is there and you assume that hidden state is a generated from the data. (that data identifies class) For e.g. keywords of the subjects are given(data) and from the keywords we determine subject.</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Discriminative models assign upward probabilities assuming hidden states are generated from data.</a:t>
            </a:r>
          </a:p>
          <a:p>
            <a:pPr algn="l"/>
            <a:r>
              <a:rPr b="1" sz="1300">
                <a:solidFill>
                  <a:srgbClr val="1365A5"/>
                </a:solidFill>
                <a:latin typeface="Bebas Neue"/>
              </a:rPr>
              <a:t>Key terms:  </a:t>
            </a:r>
            <a:r>
              <a:rPr sz="1300" b="0">
                <a:solidFill>
                  <a:srgbClr val="111111"/>
                </a:solidFill>
                <a:latin typeface="Inter"/>
              </a:rPr>
              <a:t>Discriminative model — A model where hidden states are generated from observed data.  ·  Maximum entropy model — An example of a discriminative probabilistic model.</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2)Discriminative Model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 / 229</a:t>
            </a:r>
          </a:p>
        </p:txBody>
      </p:sp>
      <p:sp>
        <p:nvSpPr>
          <p:cNvPr id="7" name="Rounded Rectangle 6"/>
          <p:cNvSpPr/>
          <p:nvPr/>
        </p:nvSpPr>
        <p:spPr>
          <a:xfrm>
            <a:off x="2273411" y="1298448"/>
            <a:ext cx="764212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438003" y="1463040"/>
            <a:ext cx="7312944" cy="4773168"/>
          </a:xfrm>
          <a:prstGeom prst="rect">
            <a:avLst/>
          </a:prstGeom>
        </p:spPr>
      </p:pic>
    </p:spTree>
  </p:cSld>
  <p:clrMapOvr>
    <a:masterClrMapping/>
  </p:clrMapOvr>
  <p:transition spd="med">
    <p:zoom dir="in"/>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Stochastic tagging calculates probabilities to assign the best POS tag sequence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23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7751064" cy="1020887"/>
          </a:xfrm>
          <a:prstGeom prst="roundRect">
            <a:avLst>
              <a:gd name="adj" fmla="val 1379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25427"/>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38813"/>
            <a:ext cx="340156" cy="340156"/>
          </a:xfrm>
          <a:prstGeom prst="rect">
            <a:avLst/>
          </a:prstGeom>
        </p:spPr>
      </p:pic>
      <p:sp>
        <p:nvSpPr>
          <p:cNvPr id="11" name="TextBox 10"/>
          <p:cNvSpPr txBox="1"/>
          <p:nvPr/>
        </p:nvSpPr>
        <p:spPr>
          <a:xfrm>
            <a:off x="1408175" y="1371600"/>
            <a:ext cx="6598919" cy="874583"/>
          </a:xfrm>
          <a:prstGeom prst="rect">
            <a:avLst/>
          </a:prstGeom>
          <a:noFill/>
        </p:spPr>
        <p:txBody>
          <a:bodyPr wrap="square" anchor="ctr" lIns="0" tIns="0" rIns="0" bIns="0">
            <a:spAutoFit/>
          </a:bodyPr>
          <a:lstStyle/>
          <a:p>
            <a:pPr algn="l"/>
            <a:r>
              <a:rPr sz="1739" b="1">
                <a:solidFill>
                  <a:srgbClr val="1365A5"/>
                </a:solidFill>
                <a:latin typeface="Bebas Neue"/>
              </a:rPr>
              <a:t>Probabilistic Approach</a:t>
            </a:r>
          </a:p>
          <a:p>
            <a:pPr algn="l">
              <a:spcBef>
                <a:spcPts val="500"/>
              </a:spcBef>
            </a:pPr>
            <a:r>
              <a:rPr sz="1450" b="0">
                <a:solidFill>
                  <a:srgbClr val="111111"/>
                </a:solidFill>
                <a:latin typeface="Inter"/>
              </a:rPr>
              <a:t>Calculates probabilities of various tag sequences for a sentence and assigns POS tags from the sequence with the highest probability.</a:t>
            </a:r>
          </a:p>
        </p:txBody>
      </p:sp>
      <p:sp>
        <p:nvSpPr>
          <p:cNvPr id="12" name="Rounded Rectangle 11"/>
          <p:cNvSpPr/>
          <p:nvPr/>
        </p:nvSpPr>
        <p:spPr>
          <a:xfrm>
            <a:off x="457200" y="2520503"/>
            <a:ext cx="7751064" cy="1020887"/>
          </a:xfrm>
          <a:prstGeom prst="roundRect">
            <a:avLst>
              <a:gd name="adj" fmla="val 1379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74748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860868"/>
            <a:ext cx="340156" cy="340156"/>
          </a:xfrm>
          <a:prstGeom prst="rect">
            <a:avLst/>
          </a:prstGeom>
        </p:spPr>
      </p:pic>
      <p:sp>
        <p:nvSpPr>
          <p:cNvPr id="15" name="TextBox 14"/>
          <p:cNvSpPr txBox="1"/>
          <p:nvPr/>
        </p:nvSpPr>
        <p:spPr>
          <a:xfrm>
            <a:off x="1408175" y="2593655"/>
            <a:ext cx="6598919" cy="874583"/>
          </a:xfrm>
          <a:prstGeom prst="rect">
            <a:avLst/>
          </a:prstGeom>
          <a:noFill/>
        </p:spPr>
        <p:txBody>
          <a:bodyPr wrap="square" anchor="ctr" lIns="0" tIns="0" rIns="0" bIns="0">
            <a:spAutoFit/>
          </a:bodyPr>
          <a:lstStyle/>
          <a:p>
            <a:pPr algn="l"/>
            <a:r>
              <a:rPr sz="1739" b="1">
                <a:solidFill>
                  <a:srgbClr val="1365A5"/>
                </a:solidFill>
                <a:latin typeface="Bebas Neue"/>
              </a:rPr>
              <a:t>Hidden Markov Models</a:t>
            </a:r>
          </a:p>
          <a:p>
            <a:pPr algn="l">
              <a:spcBef>
                <a:spcPts val="500"/>
              </a:spcBef>
            </a:pPr>
            <a:r>
              <a:rPr sz="1450" b="0">
                <a:solidFill>
                  <a:srgbClr val="111111"/>
                </a:solidFill>
                <a:latin typeface="Inter"/>
              </a:rPr>
              <a:t>HMMs are probabilistic approaches used to assign POS tags while accounting for sequence grammar rules.</a:t>
            </a:r>
          </a:p>
        </p:txBody>
      </p:sp>
      <p:sp>
        <p:nvSpPr>
          <p:cNvPr id="16" name="Rounded Rectangle 15"/>
          <p:cNvSpPr/>
          <p:nvPr/>
        </p:nvSpPr>
        <p:spPr>
          <a:xfrm>
            <a:off x="457200" y="3742558"/>
            <a:ext cx="7751064" cy="154267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2558"/>
            <a:ext cx="73152" cy="154267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815710"/>
            <a:ext cx="7356043" cy="1396369"/>
          </a:xfrm>
          <a:prstGeom prst="rect">
            <a:avLst/>
          </a:prstGeom>
          <a:noFill/>
        </p:spPr>
        <p:txBody>
          <a:bodyPr wrap="square" anchor="ctr" lIns="0" tIns="0" rIns="0" bIns="0">
            <a:spAutoFit/>
          </a:bodyPr>
          <a:lstStyle/>
          <a:p>
            <a:pPr algn="l"/>
            <a:r>
              <a:rPr sz="790" b="1">
                <a:solidFill>
                  <a:srgbClr val="F76945"/>
                </a:solidFill>
                <a:latin typeface="Bebas Neue"/>
              </a:rPr>
              <a:t>IN PLAIN WORDS</a:t>
            </a:r>
          </a:p>
          <a:p>
            <a:pPr algn="l">
              <a:spcBef>
                <a:spcPts val="300"/>
              </a:spcBef>
            </a:pPr>
            <a:r>
              <a:rPr sz="1100" b="0">
                <a:solidFill>
                  <a:srgbClr val="111111"/>
                </a:solidFill>
                <a:latin typeface="Inter"/>
              </a:rPr>
              <a:t>For example, calculating probabilities of various tag sequences to select the highest probability.</a:t>
            </a:r>
          </a:p>
          <a:p>
            <a:pPr algn="l">
              <a:spcBef>
                <a:spcPts val="300"/>
              </a:spcBef>
            </a:pPr>
            <a:r>
              <a:rPr sz="1100" b="0">
                <a:solidFill>
                  <a:srgbClr val="111111"/>
                </a:solidFill>
                <a:latin typeface="Inter"/>
              </a:rPr>
              <a:t>Stochastic (Probabilistic) tagging: A stochastic approach includes frequency, probability or statistics. The simplest stochastic approach finds out the most frequently used tag for a specific word in the annotated training data and uses this information to tag that word in the unannotated text. But sometimes this approach comes up with sequences of tags for sentences that are not acceptable according to the grammar rules of a language.</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Stochastic tagging calculates the highest probability sequence of tags for a given sentence.</a:t>
            </a:r>
          </a:p>
          <a:p>
            <a:pPr algn="l"/>
            <a:r>
              <a:rPr b="1" sz="1300">
                <a:solidFill>
                  <a:srgbClr val="1365A5"/>
                </a:solidFill>
                <a:latin typeface="Bebas Neue"/>
              </a:rPr>
              <a:t>Key terms:  </a:t>
            </a:r>
            <a:r>
              <a:rPr sz="1300" b="0">
                <a:solidFill>
                  <a:srgbClr val="111111"/>
                </a:solidFill>
                <a:latin typeface="Inter"/>
              </a:rPr>
              <a:t>Stochastic tagging — An approach using frequency, probability, or statistics to assign tags.  ·  Hidden Markov Models — Probabilistic approaches used to assign part of speech tags.</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24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“An approach using frequency, probability, or statistics to assign tags.”?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Arguments</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N-gram</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Maximum likelihood estimation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Stochastic tagging</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Stochastic tagging: An approach using frequency, probability, or statistics to assign tags.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Hidden Markov Models construct inference based on Markov process assumptions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25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403232"/>
            <a:ext cx="82296" cy="63651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66656"/>
            <a:ext cx="6963576" cy="654801"/>
          </a:xfrm>
          <a:prstGeom prst="rect">
            <a:avLst/>
          </a:prstGeom>
          <a:noFill/>
        </p:spPr>
        <p:txBody>
          <a:bodyPr wrap="square" anchor="t" lIns="0" tIns="0" rIns="0" bIns="0">
            <a:spAutoFit/>
          </a:bodyPr>
          <a:lstStyle/>
          <a:p>
            <a:pPr algn="l"/>
            <a:r>
              <a:rPr sz="1360" b="1">
                <a:solidFill>
                  <a:srgbClr val="1365A5"/>
                </a:solidFill>
                <a:latin typeface="Bebas Neue"/>
              </a:rPr>
              <a:t>The reason it is called a Hidden Markov Model is because an inference model is constructed based on the assumptions of a Markov process.</a:t>
            </a:r>
          </a:p>
        </p:txBody>
      </p:sp>
      <p:sp>
        <p:nvSpPr>
          <p:cNvPr id="10" name="TextBox 9"/>
          <p:cNvSpPr txBox="1"/>
          <p:nvPr/>
        </p:nvSpPr>
        <p:spPr>
          <a:xfrm>
            <a:off x="720547" y="2213482"/>
            <a:ext cx="6963576" cy="352044"/>
          </a:xfrm>
          <a:prstGeom prst="rect">
            <a:avLst/>
          </a:prstGeom>
          <a:noFill/>
        </p:spPr>
        <p:txBody>
          <a:bodyPr wrap="square" lIns="0" rIns="0" tIns="0" bIns="0">
            <a:spAutoFit/>
          </a:bodyPr>
          <a:lstStyle/>
          <a:p>
            <a:r>
              <a:rPr sz="1100">
                <a:solidFill>
                  <a:srgbClr val="111111"/>
                </a:solidFill>
                <a:latin typeface="Inter"/>
              </a:rPr>
              <a:t>The Markov process assumption is simply that the “future is independent of the past given the present”.</a:t>
            </a:r>
          </a:p>
        </p:txBody>
      </p:sp>
      <p:sp>
        <p:nvSpPr>
          <p:cNvPr id="11" name="TextBox 10"/>
          <p:cNvSpPr txBox="1"/>
          <p:nvPr/>
        </p:nvSpPr>
        <p:spPr>
          <a:xfrm>
            <a:off x="720547" y="2693542"/>
            <a:ext cx="6963576" cy="352044"/>
          </a:xfrm>
          <a:prstGeom prst="rect">
            <a:avLst/>
          </a:prstGeom>
          <a:noFill/>
        </p:spPr>
        <p:txBody>
          <a:bodyPr wrap="square" lIns="0" rIns="0" tIns="0" bIns="0">
            <a:spAutoFit/>
          </a:bodyPr>
          <a:lstStyle/>
          <a:p>
            <a:r>
              <a:rPr sz="1100">
                <a:solidFill>
                  <a:srgbClr val="111111"/>
                </a:solidFill>
                <a:latin typeface="Inter"/>
              </a:rPr>
              <a:t>To make this point clear, let us consider the scenario below where the weather, the hidden variable, can be hot, mild or cold and the observed variables are the type of clothing worn.</a:t>
            </a:r>
          </a:p>
        </p:txBody>
      </p:sp>
      <p:sp>
        <p:nvSpPr>
          <p:cNvPr id="12" name="TextBox 11"/>
          <p:cNvSpPr txBox="1"/>
          <p:nvPr/>
        </p:nvSpPr>
        <p:spPr>
          <a:xfrm>
            <a:off x="720547" y="3173602"/>
            <a:ext cx="6963576" cy="352044"/>
          </a:xfrm>
          <a:prstGeom prst="rect">
            <a:avLst/>
          </a:prstGeom>
          <a:noFill/>
        </p:spPr>
        <p:txBody>
          <a:bodyPr wrap="square" lIns="0" rIns="0" tIns="0" bIns="0">
            <a:spAutoFit/>
          </a:bodyPr>
          <a:lstStyle/>
          <a:p>
            <a:r>
              <a:rPr sz="1100">
                <a:solidFill>
                  <a:srgbClr val="111111"/>
                </a:solidFill>
                <a:latin typeface="Inter"/>
              </a:rPr>
              <a:t>The arrows represent transitions from a hidden state to another hidden state or from a hidden state to an observed variable.</a:t>
            </a:r>
          </a:p>
        </p:txBody>
      </p:sp>
      <p:sp>
        <p:nvSpPr>
          <p:cNvPr id="13" name="TextBox 12"/>
          <p:cNvSpPr txBox="1"/>
          <p:nvPr/>
        </p:nvSpPr>
        <p:spPr>
          <a:xfrm>
            <a:off x="720547" y="3653662"/>
            <a:ext cx="6963576" cy="352044"/>
          </a:xfrm>
          <a:prstGeom prst="rect">
            <a:avLst/>
          </a:prstGeom>
          <a:noFill/>
        </p:spPr>
        <p:txBody>
          <a:bodyPr wrap="square" lIns="0" rIns="0" tIns="0" bIns="0">
            <a:spAutoFit/>
          </a:bodyPr>
          <a:lstStyle/>
          <a:p>
            <a:r>
              <a:rPr sz="1100">
                <a:solidFill>
                  <a:srgbClr val="111111"/>
                </a:solidFill>
                <a:latin typeface="Inter"/>
              </a:rPr>
              <a:t>The Markov assumption, each state only depends on the previous state and not on any other prior states.</a:t>
            </a:r>
          </a:p>
        </p:txBody>
      </p:sp>
      <p:sp>
        <p:nvSpPr>
          <p:cNvPr id="14" name="Rounded Rectangle 13"/>
          <p:cNvSpPr/>
          <p:nvPr/>
        </p:nvSpPr>
        <p:spPr>
          <a:xfrm>
            <a:off x="457200" y="4403099"/>
            <a:ext cx="7751064"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476251"/>
            <a:ext cx="7356043" cy="73582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weather is the hidden variable while clothing worn is the observed variable.</a:t>
            </a:r>
          </a:p>
        </p:txBody>
      </p:sp>
      <p:sp>
        <p:nvSpPr>
          <p:cNvPr id="17" name="Rounded Rectangle 1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Hidden Markov Models assume the future is independent of the past given the present.</a:t>
            </a:r>
          </a:p>
          <a:p>
            <a:pPr algn="l"/>
            <a:r>
              <a:rPr b="1" sz="1300">
                <a:solidFill>
                  <a:srgbClr val="1365A5"/>
                </a:solidFill>
                <a:latin typeface="Bebas Neue"/>
              </a:rPr>
              <a:t>Key terms:  </a:t>
            </a:r>
            <a:r>
              <a:rPr sz="1300" b="0">
                <a:solidFill>
                  <a:srgbClr val="111111"/>
                </a:solidFill>
                <a:latin typeface="Inter"/>
              </a:rPr>
              <a:t>Markov process assumption — The assumption that the future is independent of the past given the present.  ·  Hidden variable — A state that cannot be directly observed, such as weather.</a:t>
            </a:r>
          </a:p>
        </p:txBody>
      </p:sp>
      <p:sp>
        <p:nvSpPr>
          <p:cNvPr id="18" name="Rectangle 1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N-gram models and conditional probability define state transition probabilities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26 / 229</a:t>
            </a:r>
          </a:p>
        </p:txBody>
      </p:sp>
      <p:sp>
        <p:nvSpPr>
          <p:cNvPr id="8" name="Rounded Rectangle 7">
            <a:hlinkClick r:id="rId5"/>
          </p:cNvPr>
          <p:cNvSpPr/>
          <p:nvPr/>
        </p:nvSpPr>
        <p:spPr>
          <a:xfrm>
            <a:off x="3642055" y="6455664"/>
            <a:ext cx="4904841"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Bigram Language Model Lab</a:t>
            </a:r>
          </a:p>
        </p:txBody>
      </p:sp>
      <p:sp>
        <p:nvSpPr>
          <p:cNvPr id="9" name="Rounded Rectangle 8"/>
          <p:cNvSpPr/>
          <p:nvPr/>
        </p:nvSpPr>
        <p:spPr>
          <a:xfrm>
            <a:off x="457200" y="1298448"/>
            <a:ext cx="11274552" cy="302679"/>
          </a:xfrm>
          <a:prstGeom prst="roundRect">
            <a:avLst>
              <a:gd name="adj" fmla="val 4652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221187"/>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1" name="TextBox 10"/>
          <p:cNvSpPr txBox="1"/>
          <p:nvPr/>
        </p:nvSpPr>
        <p:spPr>
          <a:xfrm>
            <a:off x="1316736" y="1371600"/>
            <a:ext cx="10213848" cy="156375"/>
          </a:xfrm>
          <a:prstGeom prst="rect">
            <a:avLst/>
          </a:prstGeom>
          <a:noFill/>
        </p:spPr>
        <p:txBody>
          <a:bodyPr wrap="square" anchor="ctr" lIns="0" tIns="0" rIns="0" bIns="0">
            <a:spAutoFit/>
          </a:bodyPr>
          <a:lstStyle/>
          <a:p>
            <a:pPr algn="l"/>
            <a:r>
              <a:rPr sz="1210" b="1">
                <a:solidFill>
                  <a:srgbClr val="1365A5"/>
                </a:solidFill>
                <a:latin typeface="Bebas Neue"/>
              </a:rPr>
              <a:t>State Transition Probability: Based on Markov Model</a:t>
            </a:r>
          </a:p>
        </p:txBody>
      </p:sp>
      <p:sp>
        <p:nvSpPr>
          <p:cNvPr id="12" name="Rounded Rectangle 11"/>
          <p:cNvSpPr/>
          <p:nvPr/>
        </p:nvSpPr>
        <p:spPr>
          <a:xfrm>
            <a:off x="457200" y="1721828"/>
            <a:ext cx="11274552" cy="302679"/>
          </a:xfrm>
          <a:prstGeom prst="roundRect">
            <a:avLst>
              <a:gd name="adj" fmla="val 4652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164456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4" name="TextBox 13"/>
          <p:cNvSpPr txBox="1"/>
          <p:nvPr/>
        </p:nvSpPr>
        <p:spPr>
          <a:xfrm>
            <a:off x="1316736" y="1794980"/>
            <a:ext cx="10213848" cy="156375"/>
          </a:xfrm>
          <a:prstGeom prst="rect">
            <a:avLst/>
          </a:prstGeom>
          <a:noFill/>
        </p:spPr>
        <p:txBody>
          <a:bodyPr wrap="square" anchor="ctr" lIns="0" tIns="0" rIns="0" bIns="0">
            <a:spAutoFit/>
          </a:bodyPr>
          <a:lstStyle/>
          <a:p>
            <a:pPr algn="l"/>
            <a:r>
              <a:rPr sz="1210" b="1">
                <a:solidFill>
                  <a:srgbClr val="1365A5"/>
                </a:solidFill>
                <a:latin typeface="Bebas Neue"/>
              </a:rPr>
              <a:t>N-gram Model: An n-gram is a contiguous sequence of n items from a given</a:t>
            </a:r>
          </a:p>
        </p:txBody>
      </p:sp>
      <p:sp>
        <p:nvSpPr>
          <p:cNvPr id="15" name="Rounded Rectangle 14"/>
          <p:cNvSpPr/>
          <p:nvPr/>
        </p:nvSpPr>
        <p:spPr>
          <a:xfrm>
            <a:off x="457200" y="2145209"/>
            <a:ext cx="11274552" cy="302679"/>
          </a:xfrm>
          <a:prstGeom prst="roundRect">
            <a:avLst>
              <a:gd name="adj" fmla="val 4652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8368" y="206794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7" name="TextBox 16"/>
          <p:cNvSpPr txBox="1"/>
          <p:nvPr/>
        </p:nvSpPr>
        <p:spPr>
          <a:xfrm>
            <a:off x="1316736" y="2218361"/>
            <a:ext cx="10213848" cy="156375"/>
          </a:xfrm>
          <a:prstGeom prst="rect">
            <a:avLst/>
          </a:prstGeom>
          <a:noFill/>
        </p:spPr>
        <p:txBody>
          <a:bodyPr wrap="square" anchor="ctr" lIns="0" tIns="0" rIns="0" bIns="0">
            <a:spAutoFit/>
          </a:bodyPr>
          <a:lstStyle/>
          <a:p>
            <a:pPr algn="l"/>
            <a:r>
              <a:rPr sz="1210" b="1">
                <a:solidFill>
                  <a:srgbClr val="1365A5"/>
                </a:solidFill>
                <a:latin typeface="Bebas Neue"/>
              </a:rPr>
              <a:t>base pairs according to the application. The n-grams typically are collected from a</a:t>
            </a:r>
          </a:p>
        </p:txBody>
      </p:sp>
      <p:sp>
        <p:nvSpPr>
          <p:cNvPr id="18" name="Rounded Rectangle 17"/>
          <p:cNvSpPr/>
          <p:nvPr/>
        </p:nvSpPr>
        <p:spPr>
          <a:xfrm>
            <a:off x="457200" y="2568589"/>
            <a:ext cx="11274552" cy="302679"/>
          </a:xfrm>
          <a:prstGeom prst="roundRect">
            <a:avLst>
              <a:gd name="adj" fmla="val 4652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58368" y="249132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0" name="TextBox 19"/>
          <p:cNvSpPr txBox="1"/>
          <p:nvPr/>
        </p:nvSpPr>
        <p:spPr>
          <a:xfrm>
            <a:off x="1316736" y="2641741"/>
            <a:ext cx="10213848" cy="156375"/>
          </a:xfrm>
          <a:prstGeom prst="rect">
            <a:avLst/>
          </a:prstGeom>
          <a:noFill/>
        </p:spPr>
        <p:txBody>
          <a:bodyPr wrap="square" anchor="ctr" lIns="0" tIns="0" rIns="0" bIns="0">
            <a:spAutoFit/>
          </a:bodyPr>
          <a:lstStyle/>
          <a:p>
            <a:pPr algn="l"/>
            <a:r>
              <a:rPr sz="1210" b="1">
                <a:solidFill>
                  <a:srgbClr val="1365A5"/>
                </a:solidFill>
                <a:latin typeface="Bebas Neue"/>
              </a:rPr>
              <a:t>text or speech corpus.</a:t>
            </a:r>
          </a:p>
        </p:txBody>
      </p:sp>
      <p:sp>
        <p:nvSpPr>
          <p:cNvPr id="21" name="Rounded Rectangle 20"/>
          <p:cNvSpPr/>
          <p:nvPr/>
        </p:nvSpPr>
        <p:spPr>
          <a:xfrm>
            <a:off x="457200" y="2991970"/>
            <a:ext cx="11274552" cy="302679"/>
          </a:xfrm>
          <a:prstGeom prst="roundRect">
            <a:avLst>
              <a:gd name="adj" fmla="val 4652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 y="2914710"/>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3" name="TextBox 22"/>
          <p:cNvSpPr txBox="1"/>
          <p:nvPr/>
        </p:nvSpPr>
        <p:spPr>
          <a:xfrm>
            <a:off x="1316736" y="3065122"/>
            <a:ext cx="10213848" cy="156375"/>
          </a:xfrm>
          <a:prstGeom prst="rect">
            <a:avLst/>
          </a:prstGeom>
          <a:noFill/>
        </p:spPr>
        <p:txBody>
          <a:bodyPr wrap="square" anchor="ctr" lIns="0" tIns="0" rIns="0" bIns="0">
            <a:spAutoFit/>
          </a:bodyPr>
          <a:lstStyle/>
          <a:p>
            <a:pPr algn="l"/>
            <a:r>
              <a:rPr sz="1210" b="1">
                <a:solidFill>
                  <a:srgbClr val="1365A5"/>
                </a:solidFill>
                <a:latin typeface="Bebas Neue"/>
              </a:rPr>
              <a:t>Conditional Probability: P(B|A)= P(A, B) = P(A)P(B| A)</a:t>
            </a:r>
          </a:p>
        </p:txBody>
      </p:sp>
      <p:sp>
        <p:nvSpPr>
          <p:cNvPr id="24" name="Rounded Rectangle 23"/>
          <p:cNvSpPr/>
          <p:nvPr/>
        </p:nvSpPr>
        <p:spPr>
          <a:xfrm>
            <a:off x="457200" y="3415351"/>
            <a:ext cx="11274552" cy="302679"/>
          </a:xfrm>
          <a:prstGeom prst="roundRect">
            <a:avLst>
              <a:gd name="adj" fmla="val 46523"/>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338090"/>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6" name="TextBox 25"/>
          <p:cNvSpPr txBox="1"/>
          <p:nvPr/>
        </p:nvSpPr>
        <p:spPr>
          <a:xfrm>
            <a:off x="1316736" y="3488503"/>
            <a:ext cx="10213848" cy="156375"/>
          </a:xfrm>
          <a:prstGeom prst="rect">
            <a:avLst/>
          </a:prstGeom>
          <a:noFill/>
        </p:spPr>
        <p:txBody>
          <a:bodyPr wrap="square" anchor="ctr" lIns="0" tIns="0" rIns="0" bIns="0">
            <a:spAutoFit/>
          </a:bodyPr>
          <a:lstStyle/>
          <a:p>
            <a:pPr algn="l"/>
            <a:r>
              <a:rPr sz="1210" b="1">
                <a:solidFill>
                  <a:srgbClr val="1365A5"/>
                </a:solidFill>
                <a:latin typeface="Bebas Neue"/>
              </a:rPr>
              <a:t>More variables: P(A,B,C,D) = P(A)P(B| A)P(C| A, B)P(D| A,B,C)</a:t>
            </a:r>
          </a:p>
        </p:txBody>
      </p:sp>
      <p:sp>
        <p:nvSpPr>
          <p:cNvPr id="27" name="Rounded Rectangle 26"/>
          <p:cNvSpPr/>
          <p:nvPr/>
        </p:nvSpPr>
        <p:spPr>
          <a:xfrm>
            <a:off x="457200" y="3919198"/>
            <a:ext cx="11274552"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State transition probabilities rely on n-gram models to collect contiguous sequences from text or speech corpora. Conditional probability formulas help calculate the likelihood of multiple variables occurring together or sequentially. These mathematical foundations allow models to evaluate how items follow one another in a sequence. For example, calculating P(B|A) as the probability of B given A.</a:t>
            </a:r>
          </a:p>
        </p:txBody>
      </p:sp>
      <p:sp>
        <p:nvSpPr>
          <p:cNvPr id="30" name="Rounded Rectangle 2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N-gram models collect contiguous sequences of items to determine state transition probabilities.</a:t>
            </a:r>
          </a:p>
          <a:p>
            <a:pPr algn="l"/>
            <a:r>
              <a:rPr b="1" sz="1300">
                <a:solidFill>
                  <a:srgbClr val="1365A5"/>
                </a:solidFill>
                <a:latin typeface="Bebas Neue"/>
              </a:rPr>
              <a:t>Key terms:  </a:t>
            </a:r>
            <a:r>
              <a:rPr sz="1300" b="0">
                <a:solidFill>
                  <a:srgbClr val="111111"/>
                </a:solidFill>
                <a:latin typeface="Inter"/>
              </a:rPr>
              <a:t>N-gram — A contiguous sequence of n items from a given text or speech corpus.  ·  Conditional Probability — The probability of an event occurring given that another event has already occurred.</a:t>
            </a:r>
          </a:p>
        </p:txBody>
      </p:sp>
      <p:sp>
        <p:nvSpPr>
          <p:cNvPr id="31" name="Rectangle 3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5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50"/>
                                        <p:tgtEl>
                                          <p:spTgt spid="27"/>
                                        </p:tgtEl>
                                      </p:cBhvr>
                                    </p:animEffect>
                                  </p:childTnLst>
                                </p:cTn>
                              </p:par>
                              <p:par>
                                <p:cTn id="59" presetID="10"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5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5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450"/>
                                        <p:tgtEl>
                                          <p:spTgt spid="30"/>
                                        </p:tgtEl>
                                      </p:cBhvr>
                                    </p:animEffect>
                                  </p:childTnLst>
                                </p:cTn>
                              </p:par>
                              <p:par>
                                <p:cTn id="70" presetID="10" presetClass="entr" presetSubtype="0" fill="hold"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sample of text or speech. The items can be phonemes, syllables, letters, words or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27 / 229</a:t>
            </a:r>
          </a:p>
        </p:txBody>
      </p:sp>
      <p:sp>
        <p:nvSpPr>
          <p:cNvPr id="7" name="Rounded Rectangle 6"/>
          <p:cNvSpPr/>
          <p:nvPr/>
        </p:nvSpPr>
        <p:spPr>
          <a:xfrm>
            <a:off x="2533445" y="1298448"/>
            <a:ext cx="712206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698037" y="1463040"/>
            <a:ext cx="6792876" cy="4773168"/>
          </a:xfrm>
          <a:prstGeom prst="rect">
            <a:avLst/>
          </a:prstGeom>
        </p:spPr>
      </p:pic>
    </p:spTree>
  </p:cSld>
  <p:clrMapOvr>
    <a:masterClrMapping/>
  </p:clrMapOvr>
  <p:transition spd="med">
    <p:cover dir="r"/>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sample of text or speech. The items can be phonemes, syllables, letters, words or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28 / 229</a:t>
            </a:r>
          </a:p>
        </p:txBody>
      </p:sp>
      <p:sp>
        <p:nvSpPr>
          <p:cNvPr id="7" name="Rounded Rectangle 6"/>
          <p:cNvSpPr/>
          <p:nvPr/>
        </p:nvSpPr>
        <p:spPr>
          <a:xfrm>
            <a:off x="2455354" y="1298448"/>
            <a:ext cx="727824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619946" y="1463040"/>
            <a:ext cx="6949058" cy="477316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Emission probability derives from Bayes rule of conditional probability</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29 / 229</a:t>
            </a:r>
          </a:p>
        </p:txBody>
      </p:sp>
      <p:sp>
        <p:nvSpPr>
          <p:cNvPr id="8" name="Rectangle 7"/>
          <p:cNvSpPr/>
          <p:nvPr/>
        </p:nvSpPr>
        <p:spPr>
          <a:xfrm>
            <a:off x="457200" y="1325880"/>
            <a:ext cx="73152" cy="7498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841248"/>
          </a:xfrm>
          <a:prstGeom prst="rect">
            <a:avLst/>
          </a:prstGeom>
          <a:noFill/>
        </p:spPr>
        <p:txBody>
          <a:bodyPr wrap="square" anchor="ctr" lIns="0" tIns="0" rIns="0" bIns="0">
            <a:spAutoFit/>
          </a:bodyPr>
          <a:lstStyle/>
          <a:p>
            <a:pPr algn="l"/>
            <a:r>
              <a:rPr sz="2400" b="1">
                <a:solidFill>
                  <a:srgbClr val="1365A5"/>
                </a:solidFill>
                <a:latin typeface="Bebas Neue"/>
              </a:rPr>
              <a:t>Emission Probability: Based on Bayes rule of conditional probability</a:t>
            </a:r>
          </a:p>
        </p:txBody>
      </p:sp>
      <p:sp>
        <p:nvSpPr>
          <p:cNvPr id="10" name="Rounded Rectangle 9"/>
          <p:cNvSpPr/>
          <p:nvPr/>
        </p:nvSpPr>
        <p:spPr>
          <a:xfrm>
            <a:off x="457200" y="2340864"/>
            <a:ext cx="5536692" cy="1377166"/>
          </a:xfrm>
          <a:prstGeom prst="roundRect">
            <a:avLst>
              <a:gd name="adj" fmla="val 1022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1798"/>
            <a:ext cx="5134355" cy="1055298"/>
          </a:xfrm>
          <a:prstGeom prst="rect">
            <a:avLst/>
          </a:prstGeom>
          <a:noFill/>
        </p:spPr>
        <p:txBody>
          <a:bodyPr wrap="square" anchor="t" lIns="0" tIns="0" rIns="0" bIns="0">
            <a:spAutoFit/>
          </a:bodyPr>
          <a:lstStyle/>
          <a:p>
            <a:pPr algn="l"/>
            <a:r>
              <a:rPr sz="1490" b="1">
                <a:solidFill>
                  <a:srgbClr val="1365A5"/>
                </a:solidFill>
                <a:latin typeface="Bebas Neue"/>
              </a:rPr>
              <a:t>Classes Determiner | Noun(NN) | Verb(VBZ) | Adjective(J))</a:t>
            </a:r>
          </a:p>
          <a:p>
            <a:pPr algn="l" marL="256032" indent="-256032" lvl="0">
              <a:spcBef>
                <a:spcPts val="700"/>
              </a:spcBef>
              <a:buClr>
                <a:srgbClr val="F76945"/>
              </a:buClr>
              <a:buFont typeface="Arial"/>
              <a:buChar char="•"/>
            </a:pPr>
            <a:r>
              <a:rPr sz="1190" b="0">
                <a:solidFill>
                  <a:srgbClr val="111111"/>
                </a:solidFill>
                <a:latin typeface="Inter"/>
              </a:rPr>
              <a:t>State transition probability</a:t>
            </a:r>
          </a:p>
          <a:p>
            <a:pPr algn="l" marL="256032" indent="-256032" lvl="0">
              <a:spcBef>
                <a:spcPts val="700"/>
              </a:spcBef>
              <a:buClr>
                <a:srgbClr val="F76945"/>
              </a:buClr>
              <a:buFont typeface="Arial"/>
              <a:buChar char="•"/>
            </a:pPr>
            <a:r>
              <a:rPr sz="1190" b="0">
                <a:solidFill>
                  <a:srgbClr val="111111"/>
                </a:solidFill>
                <a:latin typeface="Inter"/>
              </a:rPr>
              <a:t>Emission probability</a:t>
            </a:r>
          </a:p>
        </p:txBody>
      </p:sp>
      <p:sp>
        <p:nvSpPr>
          <p:cNvPr id="13" name="Rounded Rectangle 12"/>
          <p:cNvSpPr/>
          <p:nvPr/>
        </p:nvSpPr>
        <p:spPr>
          <a:xfrm>
            <a:off x="6195059" y="2340864"/>
            <a:ext cx="5536692" cy="1377166"/>
          </a:xfrm>
          <a:prstGeom prst="roundRect">
            <a:avLst>
              <a:gd name="adj" fmla="val 1022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501798"/>
            <a:ext cx="5134355" cy="1055298"/>
          </a:xfrm>
          <a:prstGeom prst="rect">
            <a:avLst/>
          </a:prstGeom>
          <a:noFill/>
        </p:spPr>
        <p:txBody>
          <a:bodyPr wrap="square" anchor="t" lIns="0" tIns="0" rIns="0" bIns="0">
            <a:spAutoFit/>
          </a:bodyPr>
          <a:lstStyle/>
          <a:p>
            <a:pPr algn="l"/>
            <a:r>
              <a:rPr sz="1490" b="1">
                <a:solidFill>
                  <a:srgbClr val="1365A5"/>
                </a:solidFill>
                <a:latin typeface="Bebas Neue"/>
              </a:rPr>
              <a:t>Data The girl Is Intelligent</a:t>
            </a:r>
          </a:p>
          <a:p>
            <a:pPr algn="l" marL="256032" indent="-256032" lvl="0">
              <a:spcBef>
                <a:spcPts val="700"/>
              </a:spcBef>
              <a:buClr>
                <a:srgbClr val="F76945"/>
              </a:buClr>
              <a:buFont typeface="Arial"/>
              <a:buChar char="•"/>
            </a:pPr>
            <a:r>
              <a:rPr sz="1190" b="0">
                <a:solidFill>
                  <a:srgbClr val="111111"/>
                </a:solidFill>
                <a:latin typeface="Inter"/>
              </a:rPr>
              <a:t>This value, we calculate from Emission Probability Matrix</a:t>
            </a:r>
          </a:p>
        </p:txBody>
      </p:sp>
      <p:sp>
        <p:nvSpPr>
          <p:cNvPr id="16" name="Rounded Rectangle 15"/>
          <p:cNvSpPr/>
          <p:nvPr/>
        </p:nvSpPr>
        <p:spPr>
          <a:xfrm>
            <a:off x="457200" y="3919198"/>
            <a:ext cx="11274552"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Emission probability connects observed data tokens to their corresponding hidden classes using Bayes rule. By organizing parts of speech alongside words, the emission probability matrix supplies the necessary values for calculations. This helps determine the likelihood that a specific word is emitted by a hidden state. Example: Calculating the probability that the word 'intelligent' is an adjective.</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Emission probability matrices connect observed data tokens to hidden classes using Bayes rule.</a:t>
            </a:r>
          </a:p>
          <a:p>
            <a:pPr algn="l"/>
            <a:r>
              <a:rPr b="1" sz="1300">
                <a:solidFill>
                  <a:srgbClr val="1365A5"/>
                </a:solidFill>
                <a:latin typeface="Bebas Neue"/>
              </a:rPr>
              <a:t>Key terms:  </a:t>
            </a:r>
            <a:r>
              <a:rPr sz="1300" b="0">
                <a:solidFill>
                  <a:srgbClr val="111111"/>
                </a:solidFill>
                <a:latin typeface="Inter"/>
              </a:rPr>
              <a:t>Emission Probability — The probability that a specific token is emitted from a hidden state.  ·  Determiner — A part of speech category used in tagging text data.</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Probability: P(B|A)= P(A, B) = P(A)P(B| 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30 / 229</a:t>
            </a:r>
          </a:p>
        </p:txBody>
      </p:sp>
      <p:sp>
        <p:nvSpPr>
          <p:cNvPr id="7" name="Rounded Rectangle 6"/>
          <p:cNvSpPr/>
          <p:nvPr/>
        </p:nvSpPr>
        <p:spPr>
          <a:xfrm>
            <a:off x="457199" y="1306982"/>
            <a:ext cx="11274552" cy="508528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21791" y="1471574"/>
            <a:ext cx="10945368" cy="4756098"/>
          </a:xfrm>
          <a:prstGeom prst="rect">
            <a:avLst/>
          </a:prstGeom>
        </p:spPr>
      </p:pic>
    </p:spTree>
  </p:cSld>
  <p:clrMapOvr>
    <a:masterClrMapping/>
  </p:clrMapOvr>
  <p:transition spd="med">
    <p:cover dir="r"/>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Probability: P(B|A)= P(A, B) = P(A)P(B| 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31 / 229</a:t>
            </a:r>
          </a:p>
        </p:txBody>
      </p:sp>
      <p:sp>
        <p:nvSpPr>
          <p:cNvPr id="7" name="Rounded Rectangle 6"/>
          <p:cNvSpPr/>
          <p:nvPr/>
        </p:nvSpPr>
        <p:spPr>
          <a:xfrm>
            <a:off x="2745176" y="1298448"/>
            <a:ext cx="669859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09768" y="1463040"/>
            <a:ext cx="6369415" cy="477316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Probability: P(B|A)= P(A, B) = P(A)P(B| 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32 / 229</a:t>
            </a:r>
          </a:p>
        </p:txBody>
      </p:sp>
      <p:sp>
        <p:nvSpPr>
          <p:cNvPr id="7" name="Rounded Rectangle 6"/>
          <p:cNvSpPr/>
          <p:nvPr/>
        </p:nvSpPr>
        <p:spPr>
          <a:xfrm>
            <a:off x="2568942" y="1298448"/>
            <a:ext cx="705106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733534" y="1463040"/>
            <a:ext cx="6721882" cy="477316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Probability: P(B|A)= P(A, B) = P(A)P(B| 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33 / 229</a:t>
            </a:r>
          </a:p>
        </p:txBody>
      </p:sp>
      <p:sp>
        <p:nvSpPr>
          <p:cNvPr id="7" name="Rounded Rectangle 6"/>
          <p:cNvSpPr/>
          <p:nvPr/>
        </p:nvSpPr>
        <p:spPr>
          <a:xfrm>
            <a:off x="2471185" y="1298448"/>
            <a:ext cx="724658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635777" y="1463040"/>
            <a:ext cx="6917396" cy="477316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Probability: P(B|A)= P(A, B) = P(A)P(B| 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34 / 229</a:t>
            </a:r>
          </a:p>
        </p:txBody>
      </p:sp>
      <p:sp>
        <p:nvSpPr>
          <p:cNvPr id="7" name="Rounded Rectangle 6"/>
          <p:cNvSpPr/>
          <p:nvPr/>
        </p:nvSpPr>
        <p:spPr>
          <a:xfrm>
            <a:off x="2368949" y="1298448"/>
            <a:ext cx="745105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533541" y="1463040"/>
            <a:ext cx="7121869" cy="477316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Probability: P(B|A)= P(A, B) = P(A)P(B| 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35 / 229</a:t>
            </a:r>
          </a:p>
        </p:txBody>
      </p:sp>
      <p:sp>
        <p:nvSpPr>
          <p:cNvPr id="7" name="Rounded Rectangle 6"/>
          <p:cNvSpPr/>
          <p:nvPr/>
        </p:nvSpPr>
        <p:spPr>
          <a:xfrm>
            <a:off x="2847846" y="1298448"/>
            <a:ext cx="649325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3012438" y="1463040"/>
            <a:ext cx="6164075" cy="477316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3</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36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“An algorithm that returns the state-path assigning maximum likelihood to an observation sequence.”?</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Feature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State Transition Matrix</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Evidence</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Viterbi algorithm</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450" b="0">
                <a:solidFill>
                  <a:srgbClr val="FFFFFF"/>
                </a:solidFill>
                <a:latin typeface="Inter"/>
              </a:rPr>
              <a:t>Viterbi algorithm: An algorithm that returns the state-path assigning maximum likelihood to an observation sequence.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Hidden Markov models utilize emission and state transition matrices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37 / 229</a:t>
            </a:r>
          </a:p>
        </p:txBody>
      </p:sp>
      <p:sp>
        <p:nvSpPr>
          <p:cNvPr id="8" name="Rounded Rectangle 7">
            <a:hlinkClick r:id="rId5"/>
          </p:cNvPr>
          <p:cNvSpPr/>
          <p:nvPr/>
        </p:nvSpPr>
        <p:spPr>
          <a:xfrm>
            <a:off x="3642055" y="6455664"/>
            <a:ext cx="4904841"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Bigram Language Model Lab</a:t>
            </a:r>
          </a:p>
        </p:txBody>
      </p:sp>
      <p:graphicFrame>
        <p:nvGraphicFramePr>
          <p:cNvPr id="9" name="Table 8"/>
          <p:cNvGraphicFramePr>
            <a:graphicFrameLocks noGrp="1"/>
          </p:cNvGraphicFramePr>
          <p:nvPr/>
        </p:nvGraphicFramePr>
        <p:xfrm>
          <a:off x="457200" y="1298448"/>
          <a:ext cx="11274552" cy="3986782"/>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1750" b="1">
                          <a:solidFill>
                            <a:srgbClr val="FFFFFF"/>
                          </a:solidFill>
                          <a:latin typeface="Bebas Neue"/>
                        </a:rPr>
                        <a:t>Hidden</a:t>
                      </a:r>
                    </a:p>
                  </a:txBody>
                  <a:tcPr marL="146304" marR="146304" anchor="ctr">
                    <a:solidFill>
                      <a:srgbClr val="1365A5"/>
                    </a:solidFill>
                  </a:tcPr>
                </a:tc>
                <a:tc>
                  <a:txBody>
                    <a:bodyPr/>
                    <a:lstStyle/>
                    <a:p>
                      <a:pPr algn="l"/>
                      <a:r>
                        <a:rPr sz="1750" b="1">
                          <a:solidFill>
                            <a:srgbClr val="FFFFFF"/>
                          </a:solidFill>
                          <a:latin typeface="Bebas Neue"/>
                        </a:rPr>
                        <a:t>State</a:t>
                      </a:r>
                    </a:p>
                  </a:txBody>
                  <a:tcPr marL="146304" marR="146304" anchor="ctr">
                    <a:solidFill>
                      <a:srgbClr val="1365A5"/>
                    </a:solidFill>
                  </a:tcPr>
                </a:tc>
              </a:tr>
              <a:tr h="802371">
                <a:tc>
                  <a:txBody>
                    <a:bodyPr/>
                    <a:lstStyle/>
                    <a:p>
                      <a:pPr algn="l"/>
                      <a:r>
                        <a:rPr sz="1450" b="1">
                          <a:solidFill>
                            <a:srgbClr val="1365A5"/>
                          </a:solidFill>
                          <a:latin typeface="Bebas Neue"/>
                        </a:rPr>
                        <a:t>Markov models combine states and emitted words using Bayes rule</a:t>
                      </a:r>
                    </a:p>
                  </a:txBody>
                  <a:tcPr marL="146304" marR="146304" anchor="ctr">
                    <a:solidFill>
                      <a:srgbClr val="F5F6F8"/>
                    </a:solidFill>
                  </a:tcPr>
                </a:tc>
                <a:tc>
                  <a:txBody>
                    <a:bodyPr/>
                    <a:lstStyle/>
                    <a:p>
                      <a:pPr algn="l"/>
                      <a:r>
                        <a:rPr sz="1450" b="0">
                          <a:solidFill>
                            <a:srgbClr val="111111"/>
                          </a:solidFill>
                          <a:latin typeface="Inter"/>
                        </a:rPr>
                        <a:t>X2: word emitted from q2 state</a:t>
                      </a:r>
                    </a:p>
                  </a:txBody>
                  <a:tcPr marL="146304" marR="146304" anchor="ctr">
                    <a:solidFill>
                      <a:srgbClr val="F5F6F8"/>
                    </a:solidFill>
                  </a:tcPr>
                </a:tc>
              </a:tr>
              <a:tr h="802371">
                <a:tc>
                  <a:txBody>
                    <a:bodyPr/>
                    <a:lstStyle/>
                    <a:p>
                      <a:pPr algn="l"/>
                      <a:r>
                        <a:rPr sz="1450" b="1">
                          <a:solidFill>
                            <a:srgbClr val="1365A5"/>
                          </a:solidFill>
                          <a:latin typeface="Bebas Neue"/>
                        </a:rPr>
                        <a:t>This structure links hidden classes to observed words</a:t>
                      </a:r>
                    </a:p>
                  </a:txBody>
                  <a:tcPr marL="146304" marR="146304" anchor="ctr">
                    <a:solidFill>
                      <a:srgbClr val="ECF2F7"/>
                    </a:solidFill>
                  </a:tcPr>
                </a:tc>
                <a:tc>
                  <a:txBody>
                    <a:bodyPr/>
                    <a:lstStyle/>
                    <a:p>
                      <a:pPr algn="l"/>
                      <a:r>
                        <a:rPr sz="1450" b="0">
                          <a:solidFill>
                            <a:srgbClr val="111111"/>
                          </a:solidFill>
                          <a:latin typeface="Inter"/>
                        </a:rPr>
                        <a:t>Obtained from State Transition Matrix</a:t>
                      </a:r>
                    </a:p>
                  </a:txBody>
                  <a:tcPr marL="146304" marR="146304" anchor="ctr">
                    <a:solidFill>
                      <a:srgbClr val="ECF2F7"/>
                    </a:solidFill>
                  </a:tcPr>
                </a:tc>
              </a:tr>
              <a:tr h="893869">
                <a:tc>
                  <a:txBody>
                    <a:bodyPr/>
                    <a:lstStyle/>
                    <a:p>
                      <a:pPr algn="l"/>
                    </a:p>
                  </a:txBody>
                  <a:tcPr marL="146304" marR="146304" anchor="ctr">
                    <a:solidFill>
                      <a:srgbClr val="F5F6F8"/>
                    </a:solidFill>
                  </a:tcPr>
                </a:tc>
                <a:tc>
                  <a:txBody>
                    <a:bodyPr/>
                    <a:lstStyle/>
                    <a:p>
                      <a:pPr algn="l"/>
                      <a:r>
                        <a:rPr sz="1450" b="0">
                          <a:solidFill>
                            <a:srgbClr val="111111"/>
                          </a:solidFill>
                          <a:latin typeface="Inter"/>
                        </a:rPr>
                        <a:t>Data for emission comes from the emission probability matrix, whereas bigram data is obtained from the state transition matrix</a:t>
                      </a:r>
                    </a:p>
                  </a:txBody>
                  <a:tcPr marL="146304" marR="146304" anchor="ctr">
                    <a:solidFill>
                      <a:srgbClr val="F5F6F8"/>
                    </a:solidFill>
                  </a:tcPr>
                </a:tc>
              </a:tr>
              <a:tr h="802371">
                <a:tc>
                  <a:txBody>
                    <a:bodyPr/>
                    <a:lstStyle/>
                    <a:p>
                      <a:pPr algn="l"/>
                    </a:p>
                  </a:txBody>
                  <a:tcPr marL="146304" marR="146304" anchor="ctr">
                    <a:solidFill>
                      <a:srgbClr val="ECF2F7"/>
                    </a:solidFill>
                  </a:tcPr>
                </a:tc>
                <a:tc>
                  <a:txBody>
                    <a:bodyPr/>
                    <a:lstStyle/>
                    <a:p>
                      <a:pPr algn="l"/>
                      <a:r>
                        <a:rPr sz="1450" b="0">
                          <a:solidFill>
                            <a:srgbClr val="111111"/>
                          </a:solidFill>
                          <a:latin typeface="Inter"/>
                        </a:rPr>
                        <a:t>Example: Using state q2 to emit word x2 based on Bayes rule</a:t>
                      </a:r>
                    </a:p>
                  </a:txBody>
                  <a:tcPr marL="146304" marR="146304" anchor="ctr">
                    <a:solidFill>
                      <a:srgbClr val="ECF2F7"/>
                    </a:solidFill>
                  </a:tcPr>
                </a:tc>
              </a:tr>
            </a:tbl>
          </a:graphicData>
        </a:graphic>
      </p:graphicFrame>
      <p:sp>
        <p:nvSpPr>
          <p:cNvPr id="10" name="Rounded Rectangle 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Hidden Markov models combine emission matrices and state transition matrices using Bayes rule.</a:t>
            </a:r>
          </a:p>
          <a:p>
            <a:pPr algn="l"/>
            <a:r>
              <a:rPr b="1" sz="1300">
                <a:solidFill>
                  <a:srgbClr val="1365A5"/>
                </a:solidFill>
                <a:latin typeface="Bebas Neue"/>
              </a:rPr>
              <a:t>Key terms:  </a:t>
            </a:r>
            <a:r>
              <a:rPr sz="1300" b="0">
                <a:solidFill>
                  <a:srgbClr val="111111"/>
                </a:solidFill>
                <a:latin typeface="Inter"/>
              </a:rPr>
              <a:t>Emission Probability Matrix — A table providing data obtained for Bayes rule emission probability.  ·  State Transition Matrix — A table providing bigram data for state transition probabilities.</a:t>
            </a:r>
          </a:p>
        </p:txBody>
      </p:sp>
      <p:sp>
        <p:nvSpPr>
          <p:cNvPr id="11" name="Rectangle 1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Emission and transition matrices are constructed from corpus tokens and tags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38 / 229</a:t>
            </a:r>
          </a:p>
        </p:txBody>
      </p:sp>
      <p:graphicFrame>
        <p:nvGraphicFramePr>
          <p:cNvPr id="8" name="Table 7"/>
          <p:cNvGraphicFramePr>
            <a:graphicFrameLocks noGrp="1"/>
          </p:cNvGraphicFramePr>
          <p:nvPr/>
        </p:nvGraphicFramePr>
        <p:xfrm>
          <a:off x="457200" y="1298448"/>
          <a:ext cx="11274552" cy="2620382"/>
        </p:xfrm>
        <a:graphic>
          <a:graphicData uri="http://schemas.openxmlformats.org/drawingml/2006/table">
            <a:tbl>
              <a:tblPr firstRow="1" bandRow="1">
                <a:tableStyleId>{5C22544A-7EE6-4342-B048-85BDC9FD1C3A}</a:tableStyleId>
              </a:tblPr>
              <a:tblGrid>
                <a:gridCol w="5637276"/>
                <a:gridCol w="5637276"/>
              </a:tblGrid>
              <a:tr h="524077">
                <a:tc>
                  <a:txBody>
                    <a:bodyPr/>
                    <a:lstStyle/>
                    <a:p>
                      <a:pPr algn="l"/>
                      <a:r>
                        <a:rPr sz="1500" b="1">
                          <a:solidFill>
                            <a:srgbClr val="FFFFFF"/>
                          </a:solidFill>
                          <a:latin typeface="Bebas Neue"/>
                        </a:rPr>
                        <a:t>Emission</a:t>
                      </a:r>
                    </a:p>
                  </a:txBody>
                  <a:tcPr marL="146304" marR="146304" anchor="ctr">
                    <a:solidFill>
                      <a:srgbClr val="1365A5"/>
                    </a:solidFill>
                  </a:tcPr>
                </a:tc>
                <a:tc>
                  <a:txBody>
                    <a:bodyPr/>
                    <a:lstStyle/>
                    <a:p>
                      <a:pPr algn="l"/>
                      <a:r>
                        <a:rPr sz="1500" b="1">
                          <a:solidFill>
                            <a:srgbClr val="FFFFFF"/>
                          </a:solidFill>
                          <a:latin typeface="Bebas Neue"/>
                        </a:rPr>
                        <a:t>Transition</a:t>
                      </a:r>
                    </a:p>
                  </a:txBody>
                  <a:tcPr marL="146304" marR="146304" anchor="ctr">
                    <a:solidFill>
                      <a:srgbClr val="1365A5"/>
                    </a:solidFill>
                  </a:tcPr>
                </a:tc>
              </a:tr>
              <a:tr h="506363">
                <a:tc>
                  <a:txBody>
                    <a:bodyPr/>
                    <a:lstStyle/>
                    <a:p>
                      <a:pPr algn="l"/>
                      <a:r>
                        <a:rPr sz="1200" b="1">
                          <a:solidFill>
                            <a:srgbClr val="1365A5"/>
                          </a:solidFill>
                          <a:latin typeface="Bebas Neue"/>
                        </a:rPr>
                        <a:t>Probability Matrix</a:t>
                      </a:r>
                    </a:p>
                  </a:txBody>
                  <a:tcPr marL="146304" marR="146304" anchor="ctr">
                    <a:solidFill>
                      <a:srgbClr val="F5F6F8"/>
                    </a:solidFill>
                  </a:tcPr>
                </a:tc>
                <a:tc>
                  <a:txBody>
                    <a:bodyPr/>
                    <a:lstStyle/>
                    <a:p>
                      <a:pPr algn="l"/>
                      <a:r>
                        <a:rPr sz="1200" b="0">
                          <a:solidFill>
                            <a:srgbClr val="111111"/>
                          </a:solidFill>
                          <a:latin typeface="Inter"/>
                        </a:rPr>
                        <a:t>State Transition Probability</a:t>
                      </a:r>
                    </a:p>
                  </a:txBody>
                  <a:tcPr marL="146304" marR="146304" anchor="ctr">
                    <a:solidFill>
                      <a:srgbClr val="F5F6F8"/>
                    </a:solidFill>
                  </a:tcPr>
                </a:tc>
              </a:tr>
              <a:tr h="506363">
                <a:tc>
                  <a:txBody>
                    <a:bodyPr/>
                    <a:lstStyle/>
                    <a:p>
                      <a:pPr algn="l"/>
                      <a:r>
                        <a:rPr sz="1200" b="1">
                          <a:solidFill>
                            <a:srgbClr val="1365A5"/>
                          </a:solidFill>
                          <a:latin typeface="Bebas Neue"/>
                        </a:rPr>
                        <a:t>This will provide data for Bayes rule emission probability</a:t>
                      </a:r>
                    </a:p>
                  </a:txBody>
                  <a:tcPr marL="146304" marR="146304" anchor="ctr">
                    <a:solidFill>
                      <a:srgbClr val="ECF2F7"/>
                    </a:solidFill>
                  </a:tcPr>
                </a:tc>
                <a:tc>
                  <a:txBody>
                    <a:bodyPr/>
                    <a:lstStyle/>
                    <a:p>
                      <a:pPr algn="l"/>
                      <a:r>
                        <a:rPr sz="1200" b="0">
                          <a:solidFill>
                            <a:srgbClr val="111111"/>
                          </a:solidFill>
                          <a:latin typeface="Inter"/>
                        </a:rPr>
                        <a:t>This will provide data for state transition probability</a:t>
                      </a:r>
                    </a:p>
                  </a:txBody>
                  <a:tcPr marL="146304" marR="146304" anchor="ctr">
                    <a:solidFill>
                      <a:srgbClr val="ECF2F7"/>
                    </a:solidFill>
                  </a:tcPr>
                </a:tc>
              </a:tr>
              <a:tr h="577216">
                <a:tc>
                  <a:txBody>
                    <a:bodyPr/>
                    <a:lstStyle/>
                    <a:p>
                      <a:pPr algn="l"/>
                      <a:r>
                        <a:rPr sz="1200" b="1">
                          <a:solidFill>
                            <a:srgbClr val="1365A5"/>
                          </a:solidFill>
                          <a:latin typeface="Bebas Neue"/>
                        </a:rPr>
                        <a:t>For N token, M part of speech tags, size of the emission matrix will be NxM</a:t>
                      </a:r>
                    </a:p>
                  </a:txBody>
                  <a:tcPr marL="146304" marR="146304" anchor="ctr">
                    <a:solidFill>
                      <a:srgbClr val="F5F6F8"/>
                    </a:solidFill>
                  </a:tcPr>
                </a:tc>
                <a:tc>
                  <a:txBody>
                    <a:bodyPr/>
                    <a:lstStyle/>
                    <a:p>
                      <a:pPr algn="l"/>
                    </a:p>
                  </a:txBody>
                  <a:tcPr marL="146304" marR="146304" anchor="ctr">
                    <a:solidFill>
                      <a:srgbClr val="F5F6F8"/>
                    </a:solidFill>
                  </a:tcPr>
                </a:tc>
              </a:tr>
              <a:tr h="506363">
                <a:tc>
                  <a:txBody>
                    <a:bodyPr/>
                    <a:lstStyle/>
                    <a:p>
                      <a:pPr algn="l"/>
                      <a:r>
                        <a:rPr sz="1200" b="1">
                          <a:solidFill>
                            <a:srgbClr val="1365A5"/>
                          </a:solidFill>
                          <a:latin typeface="Bebas Neue"/>
                        </a:rPr>
                        <a:t>Use part of speech tags found from emission probability matrix</a:t>
                      </a:r>
                    </a:p>
                  </a:txBody>
                  <a:tcPr marL="146304" marR="146304" anchor="ctr">
                    <a:solidFill>
                      <a:srgbClr val="ECF2F7"/>
                    </a:solidFill>
                  </a:tcPr>
                </a:tc>
                <a:tc>
                  <a:txBody>
                    <a:bodyPr/>
                    <a:lstStyle/>
                    <a:p>
                      <a:pPr algn="l"/>
                    </a:p>
                  </a:txBody>
                  <a:tcPr marL="146304" marR="146304" anchor="ctr">
                    <a:solidFill>
                      <a:srgbClr val="ECF2F7"/>
                    </a:solidFill>
                  </a:tcPr>
                </a:tc>
              </a:tr>
            </a:tbl>
          </a:graphicData>
        </a:graphic>
      </p:graphicFrame>
      <p:sp>
        <p:nvSpPr>
          <p:cNvPr id="9" name="Rounded Rectangle 8"/>
          <p:cNvSpPr/>
          <p:nvPr/>
        </p:nvSpPr>
        <p:spPr>
          <a:xfrm>
            <a:off x="457200" y="4120001"/>
            <a:ext cx="11274552" cy="1165230"/>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120001"/>
            <a:ext cx="73152" cy="116523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1286" y="4193153"/>
            <a:ext cx="10879531" cy="1018926"/>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arranging N tokens horizontally and M part of speech tags vertically to create an NxM matrix.</a:t>
            </a:r>
          </a:p>
          <a:p>
            <a:pPr algn="l">
              <a:spcBef>
                <a:spcPts val="300"/>
              </a:spcBef>
            </a:pPr>
            <a:r>
              <a:rPr sz="1400" b="0">
                <a:solidFill>
                  <a:srgbClr val="111111"/>
                </a:solidFill>
                <a:latin typeface="Inter"/>
              </a:rPr>
              <a:t>From a given corpus, identify unique tokens. Also identify total part of speech tags present in corpus. Assign correct Part of Speech (POS) tag for every token.</a:t>
            </a:r>
          </a:p>
        </p:txBody>
      </p:sp>
      <p:sp>
        <p:nvSpPr>
          <p:cNvPr id="12" name="Rounded Rectangle 1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4 emissions compared on transition.</a:t>
            </a:r>
          </a:p>
          <a:p>
            <a:pPr algn="l"/>
            <a:r>
              <a:rPr b="1" sz="1300">
                <a:solidFill>
                  <a:srgbClr val="1365A5"/>
                </a:solidFill>
                <a:latin typeface="Bebas Neue"/>
              </a:rPr>
              <a:t>Key terms:  </a:t>
            </a:r>
            <a:r>
              <a:rPr sz="1300" b="0">
                <a:solidFill>
                  <a:srgbClr val="111111"/>
                </a:solidFill>
                <a:latin typeface="Inter"/>
              </a:rPr>
              <a:t>pos — Parts of Speech Tagging  ·  Emission Probability Matrix — An NxM matrix mapping unique tokens to part of speech tags.  ·  Bigram concept — A method using adjacent part of speech tags to fill an MxM transition table.</a:t>
            </a:r>
          </a:p>
        </p:txBody>
      </p:sp>
      <p:sp>
        <p:nvSpPr>
          <p:cNvPr id="13" name="Rectangle 1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5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39 / 229</a:t>
            </a:r>
          </a:p>
        </p:txBody>
      </p:sp>
      <p:sp>
        <p:nvSpPr>
          <p:cNvPr id="7" name="Rounded Rectangle 6">
            <a:hlinkClick r:id="rId3"/>
          </p:cNvPr>
          <p:cNvSpPr/>
          <p:nvPr/>
        </p:nvSpPr>
        <p:spPr>
          <a:xfrm>
            <a:off x="3963924" y="6455664"/>
            <a:ext cx="4261104"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Viterbi / HMM Lab</a:t>
            </a:r>
          </a:p>
        </p:txBody>
      </p:sp>
      <p:sp>
        <p:nvSpPr>
          <p:cNvPr id="8" name="Rounded Rectangle 7"/>
          <p:cNvSpPr/>
          <p:nvPr/>
        </p:nvSpPr>
        <p:spPr>
          <a:xfrm>
            <a:off x="2501381" y="1298448"/>
            <a:ext cx="718618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4"/>
          <a:stretch>
            <a:fillRect/>
          </a:stretch>
        </p:blipFill>
        <p:spPr>
          <a:xfrm>
            <a:off x="2665973" y="1463040"/>
            <a:ext cx="6857005" cy="4773168"/>
          </a:xfrm>
          <a:prstGeom prst="rect">
            <a:avLst/>
          </a:prstGeom>
        </p:spPr>
      </p:pic>
    </p:spTree>
  </p:cSld>
  <p:clrMapOvr>
    <a:masterClrMapping/>
  </p:clrMapOvr>
  <p:transition spd="med">
    <p:cover dir="r"/>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40 / 229</a:t>
            </a:r>
          </a:p>
        </p:txBody>
      </p:sp>
      <p:sp>
        <p:nvSpPr>
          <p:cNvPr id="7" name="Rounded Rectangle 6"/>
          <p:cNvSpPr/>
          <p:nvPr/>
        </p:nvSpPr>
        <p:spPr>
          <a:xfrm>
            <a:off x="1889231" y="1298448"/>
            <a:ext cx="841048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053823" y="1463040"/>
            <a:ext cx="8081304" cy="4773168"/>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41 / 229</a:t>
            </a:r>
          </a:p>
        </p:txBody>
      </p:sp>
      <p:sp>
        <p:nvSpPr>
          <p:cNvPr id="7" name="Rounded Rectangle 6"/>
          <p:cNvSpPr/>
          <p:nvPr/>
        </p:nvSpPr>
        <p:spPr>
          <a:xfrm>
            <a:off x="2198985" y="1298448"/>
            <a:ext cx="779098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363577" y="1463040"/>
            <a:ext cx="7461797" cy="4773168"/>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42 / 229</a:t>
            </a:r>
          </a:p>
        </p:txBody>
      </p:sp>
      <p:sp>
        <p:nvSpPr>
          <p:cNvPr id="7" name="Rounded Rectangle 6"/>
          <p:cNvSpPr/>
          <p:nvPr/>
        </p:nvSpPr>
        <p:spPr>
          <a:xfrm>
            <a:off x="2173802" y="1298448"/>
            <a:ext cx="784134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338394" y="1463040"/>
            <a:ext cx="7512163" cy="477316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43 / 229</a:t>
            </a:r>
          </a:p>
        </p:txBody>
      </p:sp>
      <p:sp>
        <p:nvSpPr>
          <p:cNvPr id="7" name="Rounded Rectangle 6"/>
          <p:cNvSpPr/>
          <p:nvPr/>
        </p:nvSpPr>
        <p:spPr>
          <a:xfrm>
            <a:off x="2384803" y="1298448"/>
            <a:ext cx="741934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49395" y="1463040"/>
            <a:ext cx="7090160" cy="477316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44 / 229</a:t>
            </a:r>
          </a:p>
        </p:txBody>
      </p:sp>
      <p:sp>
        <p:nvSpPr>
          <p:cNvPr id="7" name="Rounded Rectangle 6"/>
          <p:cNvSpPr/>
          <p:nvPr/>
        </p:nvSpPr>
        <p:spPr>
          <a:xfrm>
            <a:off x="2384803" y="1298448"/>
            <a:ext cx="741934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49395" y="1463040"/>
            <a:ext cx="7090160" cy="477316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45 / 229</a:t>
            </a:r>
          </a:p>
        </p:txBody>
      </p:sp>
      <p:sp>
        <p:nvSpPr>
          <p:cNvPr id="7" name="Rounded Rectangle 6"/>
          <p:cNvSpPr/>
          <p:nvPr/>
        </p:nvSpPr>
        <p:spPr>
          <a:xfrm>
            <a:off x="2822120" y="1298447"/>
            <a:ext cx="654471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86712" y="1463039"/>
            <a:ext cx="6215527" cy="477316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46 / 229</a:t>
            </a:r>
          </a:p>
        </p:txBody>
      </p:sp>
      <p:sp>
        <p:nvSpPr>
          <p:cNvPr id="7" name="Rounded Rectangle 6"/>
          <p:cNvSpPr/>
          <p:nvPr/>
        </p:nvSpPr>
        <p:spPr>
          <a:xfrm>
            <a:off x="2822120" y="1298447"/>
            <a:ext cx="654471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86712" y="1463039"/>
            <a:ext cx="6215527" cy="477316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47 / 229</a:t>
            </a:r>
          </a:p>
        </p:txBody>
      </p:sp>
      <p:sp>
        <p:nvSpPr>
          <p:cNvPr id="7" name="Rounded Rectangle 6"/>
          <p:cNvSpPr/>
          <p:nvPr/>
        </p:nvSpPr>
        <p:spPr>
          <a:xfrm>
            <a:off x="2540603" y="1298448"/>
            <a:ext cx="710774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705195" y="1463040"/>
            <a:ext cx="6778561" cy="477316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4</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48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“A classical machine learning task used for predicting categories and outcomes.”?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Discriminative Model</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Stochastic tagging</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MaxEnt classification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Dynamic programming</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C</a:t>
            </a:r>
          </a:p>
          <a:p>
            <a:pPr algn="l">
              <a:spcBef>
                <a:spcPts val="200"/>
              </a:spcBef>
            </a:pPr>
            <a:r>
              <a:rPr sz="1600" b="0">
                <a:solidFill>
                  <a:srgbClr val="FFFFFF"/>
                </a:solidFill>
                <a:latin typeface="Inter"/>
              </a:rPr>
              <a:t>MaxEnt classification: A classical machine learning task used for predicting categories and outcomes.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49 / 229</a:t>
            </a:r>
          </a:p>
        </p:txBody>
      </p:sp>
      <p:sp>
        <p:nvSpPr>
          <p:cNvPr id="7" name="Rounded Rectangle 6"/>
          <p:cNvSpPr/>
          <p:nvPr/>
        </p:nvSpPr>
        <p:spPr>
          <a:xfrm>
            <a:off x="1601672" y="1298448"/>
            <a:ext cx="898560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766264" y="1463040"/>
            <a:ext cx="8656423" cy="4773168"/>
          </a:xfrm>
          <a:prstGeom prst="rect">
            <a:avLst/>
          </a:prstGeom>
        </p:spPr>
      </p:pic>
    </p:spTree>
  </p:cSld>
  <p:clrMapOvr>
    <a:masterClrMapping/>
  </p:clrMapOvr>
  <p:transition spd="med">
    <p:cover dir="r"/>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50 / 229</a:t>
            </a:r>
          </a:p>
        </p:txBody>
      </p:sp>
      <p:sp>
        <p:nvSpPr>
          <p:cNvPr id="7" name="Rounded Rectangle 6"/>
          <p:cNvSpPr/>
          <p:nvPr/>
        </p:nvSpPr>
        <p:spPr>
          <a:xfrm>
            <a:off x="2524971" y="1298448"/>
            <a:ext cx="713900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689563" y="1463040"/>
            <a:ext cx="6809824" cy="477316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51 / 229</a:t>
            </a:r>
          </a:p>
        </p:txBody>
      </p:sp>
      <p:sp>
        <p:nvSpPr>
          <p:cNvPr id="7" name="Rounded Rectangle 6"/>
          <p:cNvSpPr/>
          <p:nvPr/>
        </p:nvSpPr>
        <p:spPr>
          <a:xfrm>
            <a:off x="2681477" y="1298448"/>
            <a:ext cx="682599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846070" y="1463040"/>
            <a:ext cx="6496812" cy="477316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52 / 229</a:t>
            </a:r>
          </a:p>
        </p:txBody>
      </p:sp>
      <p:sp>
        <p:nvSpPr>
          <p:cNvPr id="7" name="Rounded Rectangle 6"/>
          <p:cNvSpPr/>
          <p:nvPr/>
        </p:nvSpPr>
        <p:spPr>
          <a:xfrm>
            <a:off x="2811866" y="1298448"/>
            <a:ext cx="656521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976458" y="1463040"/>
            <a:ext cx="6236034" cy="477316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00" b="1">
                <a:solidFill>
                  <a:srgbClr val="FFFFFF"/>
                </a:solidFill>
              </a:defRPr>
            </a:pPr>
            <a:r>
              <a:rPr>
                <a:latin typeface="Bebas Neue"/>
              </a:rPr>
              <a:t>Generative Model: Hidden Markov Model (HMM)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53 / 229</a:t>
            </a:r>
          </a:p>
        </p:txBody>
      </p:sp>
      <p:sp>
        <p:nvSpPr>
          <p:cNvPr id="7" name="Rounded Rectangle 6"/>
          <p:cNvSpPr/>
          <p:nvPr/>
        </p:nvSpPr>
        <p:spPr>
          <a:xfrm>
            <a:off x="1534491" y="1298448"/>
            <a:ext cx="911996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699083" y="1463040"/>
            <a:ext cx="8790784" cy="477316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Transition and emission probabilities measure the likelihood of sequences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54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10753"/>
            <a:ext cx="82296" cy="94951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74177"/>
            <a:ext cx="7087166" cy="967800"/>
          </a:xfrm>
          <a:prstGeom prst="rect">
            <a:avLst/>
          </a:prstGeom>
          <a:noFill/>
        </p:spPr>
        <p:txBody>
          <a:bodyPr wrap="square" anchor="t" lIns="0" tIns="0" rIns="0" bIns="0">
            <a:spAutoFit/>
          </a:bodyPr>
          <a:lstStyle/>
          <a:p>
            <a:pPr algn="l"/>
            <a:r>
              <a:rPr sz="1510" b="1">
                <a:solidFill>
                  <a:srgbClr val="1365A5"/>
                </a:solidFill>
                <a:latin typeface="Bebas Neue"/>
              </a:rPr>
              <a:t>The transition probability is the likelihood of a particular sequence for example, Eg: “ Ted will spot Will ” how likely is that a noun is followed by a model and a model by a verb and a verb by a noun.</a:t>
            </a:r>
          </a:p>
        </p:txBody>
      </p:sp>
      <p:sp>
        <p:nvSpPr>
          <p:cNvPr id="10" name="TextBox 9"/>
          <p:cNvSpPr txBox="1"/>
          <p:nvPr/>
        </p:nvSpPr>
        <p:spPr>
          <a:xfrm>
            <a:off x="994867" y="2534002"/>
            <a:ext cx="6812846" cy="216027"/>
          </a:xfrm>
          <a:prstGeom prst="rect">
            <a:avLst/>
          </a:prstGeom>
          <a:noFill/>
        </p:spPr>
        <p:txBody>
          <a:bodyPr wrap="square" lIns="0" rIns="0" tIns="0" bIns="0">
            <a:spAutoFit/>
          </a:bodyPr>
          <a:lstStyle/>
          <a:p>
            <a:r>
              <a:rPr sz="1350">
                <a:solidFill>
                  <a:srgbClr val="111111"/>
                </a:solidFill>
                <a:latin typeface="Inter"/>
              </a:rPr>
              <a:t>This probability is known as Transition probability.</a:t>
            </a:r>
          </a:p>
        </p:txBody>
      </p:sp>
      <p:sp>
        <p:nvSpPr>
          <p:cNvPr id="11" name="TextBox 10"/>
          <p:cNvSpPr txBox="1"/>
          <p:nvPr/>
        </p:nvSpPr>
        <p:spPr>
          <a:xfrm>
            <a:off x="994867" y="2878045"/>
            <a:ext cx="6812846" cy="216027"/>
          </a:xfrm>
          <a:prstGeom prst="rect">
            <a:avLst/>
          </a:prstGeom>
          <a:noFill/>
        </p:spPr>
        <p:txBody>
          <a:bodyPr wrap="square" lIns="0" rIns="0" tIns="0" bIns="0">
            <a:spAutoFit/>
          </a:bodyPr>
          <a:lstStyle/>
          <a:p>
            <a:r>
              <a:rPr sz="1350">
                <a:solidFill>
                  <a:srgbClr val="111111"/>
                </a:solidFill>
                <a:latin typeface="Inter"/>
              </a:rPr>
              <a:t>It should be high for a particular sequence to be correct.</a:t>
            </a:r>
          </a:p>
        </p:txBody>
      </p:sp>
      <p:sp>
        <p:nvSpPr>
          <p:cNvPr id="12" name="TextBox 11"/>
          <p:cNvSpPr txBox="1"/>
          <p:nvPr/>
        </p:nvSpPr>
        <p:spPr>
          <a:xfrm>
            <a:off x="720547" y="3222088"/>
            <a:ext cx="7087166" cy="432054"/>
          </a:xfrm>
          <a:prstGeom prst="rect">
            <a:avLst/>
          </a:prstGeom>
          <a:noFill/>
        </p:spPr>
        <p:txBody>
          <a:bodyPr wrap="square" lIns="0" rIns="0" tIns="0" bIns="0">
            <a:spAutoFit/>
          </a:bodyPr>
          <a:lstStyle/>
          <a:p>
            <a:r>
              <a:rPr sz="1350">
                <a:solidFill>
                  <a:srgbClr val="111111"/>
                </a:solidFill>
                <a:latin typeface="Inter"/>
              </a:rPr>
              <a:t>what is the probability that the word Ted is a noun, will is a model, spot is a verb and Will is a noun.</a:t>
            </a:r>
          </a:p>
        </p:txBody>
      </p:sp>
      <p:sp>
        <p:nvSpPr>
          <p:cNvPr id="13" name="TextBox 12"/>
          <p:cNvSpPr txBox="1"/>
          <p:nvPr/>
        </p:nvSpPr>
        <p:spPr>
          <a:xfrm>
            <a:off x="994867" y="3782158"/>
            <a:ext cx="6812846" cy="216027"/>
          </a:xfrm>
          <a:prstGeom prst="rect">
            <a:avLst/>
          </a:prstGeom>
          <a:noFill/>
        </p:spPr>
        <p:txBody>
          <a:bodyPr wrap="square" lIns="0" rIns="0" tIns="0" bIns="0">
            <a:spAutoFit/>
          </a:bodyPr>
          <a:lstStyle/>
          <a:p>
            <a:r>
              <a:rPr sz="1350">
                <a:solidFill>
                  <a:srgbClr val="111111"/>
                </a:solidFill>
                <a:latin typeface="Inter"/>
              </a:rPr>
              <a:t>These sets of probabilities are Emission probabilities and should be high.</a:t>
            </a:r>
          </a:p>
        </p:txBody>
      </p:sp>
      <p:sp>
        <p:nvSpPr>
          <p:cNvPr id="14" name="Rounded Rectangle 13"/>
          <p:cNvSpPr/>
          <p:nvPr/>
        </p:nvSpPr>
        <p:spPr>
          <a:xfrm>
            <a:off x="457200" y="4403099"/>
            <a:ext cx="7883956"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checking how likely a noun is followed by a model in the sentence Ted will spot Will.</a:t>
            </a:r>
          </a:p>
        </p:txBody>
      </p:sp>
      <p:sp>
        <p:nvSpPr>
          <p:cNvPr id="17" name="Rounded Rectangle 1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Transition probability — The likelihood of a particular sequence of part of speech tags.  ·  Emission probability — The likelihood that a specific word corresponds to a specific part of speech.</a:t>
            </a:r>
          </a:p>
        </p:txBody>
      </p:sp>
      <p:sp>
        <p:nvSpPr>
          <p:cNvPr id="18" name="Rectangle 1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par>
                                <p:cTn id="35" presetID="10"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55 / 229</a:t>
            </a:r>
          </a:p>
        </p:txBody>
      </p:sp>
      <p:sp>
        <p:nvSpPr>
          <p:cNvPr id="7" name="Rounded Rectangle 6"/>
          <p:cNvSpPr/>
          <p:nvPr/>
        </p:nvSpPr>
        <p:spPr>
          <a:xfrm>
            <a:off x="1300269" y="1298448"/>
            <a:ext cx="958841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464861" y="1463040"/>
            <a:ext cx="9259228" cy="4773168"/>
          </a:xfrm>
          <a:prstGeom prst="rect">
            <a:avLst/>
          </a:prstGeom>
        </p:spPr>
      </p:pic>
    </p:spTree>
  </p:cSld>
  <p:clrMapOvr>
    <a:masterClrMapping/>
  </p:clrMapOvr>
  <p:transition spd="med">
    <p:cover dir="r"/>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56 / 229</a:t>
            </a:r>
          </a:p>
        </p:txBody>
      </p:sp>
      <p:sp>
        <p:nvSpPr>
          <p:cNvPr id="7" name="Rounded Rectangle 6"/>
          <p:cNvSpPr/>
          <p:nvPr/>
        </p:nvSpPr>
        <p:spPr>
          <a:xfrm>
            <a:off x="1472466" y="1298447"/>
            <a:ext cx="924401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637058" y="1463039"/>
            <a:ext cx="8914834" cy="477316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57 / 229</a:t>
            </a:r>
          </a:p>
        </p:txBody>
      </p:sp>
      <p:sp>
        <p:nvSpPr>
          <p:cNvPr id="7" name="Rounded Rectangle 6"/>
          <p:cNvSpPr/>
          <p:nvPr/>
        </p:nvSpPr>
        <p:spPr>
          <a:xfrm>
            <a:off x="1840843" y="1298448"/>
            <a:ext cx="850726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005435" y="1463040"/>
            <a:ext cx="8178080" cy="477316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58 / 229</a:t>
            </a:r>
          </a:p>
        </p:txBody>
      </p:sp>
      <p:sp>
        <p:nvSpPr>
          <p:cNvPr id="7" name="Rounded Rectangle 6"/>
          <p:cNvSpPr/>
          <p:nvPr/>
        </p:nvSpPr>
        <p:spPr>
          <a:xfrm>
            <a:off x="1614786" y="1298448"/>
            <a:ext cx="895937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779378" y="1463040"/>
            <a:ext cx="8630195" cy="4773168"/>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59 / 229</a:t>
            </a:r>
          </a:p>
        </p:txBody>
      </p:sp>
      <p:sp>
        <p:nvSpPr>
          <p:cNvPr id="7" name="Rounded Rectangle 6"/>
          <p:cNvSpPr/>
          <p:nvPr/>
        </p:nvSpPr>
        <p:spPr>
          <a:xfrm>
            <a:off x="1206350" y="1298448"/>
            <a:ext cx="977625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370942" y="1463040"/>
            <a:ext cx="9447067" cy="4773168"/>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5</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60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“A discriminative probabilistic classifier that uses sentence level normalization.”?</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Noun phrase</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Rule-based tagger</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CFG</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Conditional Random Field (CRF)</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450" b="0">
                <a:solidFill>
                  <a:srgbClr val="FFFFFF"/>
                </a:solidFill>
                <a:latin typeface="Inter"/>
              </a:rPr>
              <a:t>Conditional Random Field (CRF): A discriminative probabilistic classifier that uses sentence level normalization.</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61 / 229</a:t>
            </a:r>
          </a:p>
        </p:txBody>
      </p:sp>
      <p:sp>
        <p:nvSpPr>
          <p:cNvPr id="7" name="Rounded Rectangle 6"/>
          <p:cNvSpPr/>
          <p:nvPr/>
        </p:nvSpPr>
        <p:spPr>
          <a:xfrm>
            <a:off x="1977993" y="1298448"/>
            <a:ext cx="823296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142585" y="1463040"/>
            <a:ext cx="7903780" cy="4773168"/>
          </a:xfrm>
          <a:prstGeom prst="rect">
            <a:avLst/>
          </a:prstGeom>
        </p:spPr>
      </p:pic>
    </p:spTree>
  </p:cSld>
  <p:clrMapOvr>
    <a:masterClrMapping/>
  </p:clrMapOvr>
  <p:transition spd="med">
    <p:cover dir="r"/>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62 / 229</a:t>
            </a:r>
          </a:p>
        </p:txBody>
      </p:sp>
      <p:sp>
        <p:nvSpPr>
          <p:cNvPr id="7" name="Rounded Rectangle 6"/>
          <p:cNvSpPr/>
          <p:nvPr/>
        </p:nvSpPr>
        <p:spPr>
          <a:xfrm>
            <a:off x="726575" y="1298448"/>
            <a:ext cx="1073580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891167" y="1463040"/>
            <a:ext cx="10406616" cy="4773168"/>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63 / 229</a:t>
            </a:r>
          </a:p>
        </p:txBody>
      </p:sp>
      <p:sp>
        <p:nvSpPr>
          <p:cNvPr id="7" name="Rounded Rectangle 6"/>
          <p:cNvSpPr/>
          <p:nvPr/>
        </p:nvSpPr>
        <p:spPr>
          <a:xfrm>
            <a:off x="1651825" y="1298448"/>
            <a:ext cx="888530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16417" y="1463040"/>
            <a:ext cx="8556116" cy="4773168"/>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64 / 229</a:t>
            </a:r>
          </a:p>
        </p:txBody>
      </p:sp>
      <p:sp>
        <p:nvSpPr>
          <p:cNvPr id="7" name="Rounded Rectangle 6"/>
          <p:cNvSpPr/>
          <p:nvPr/>
        </p:nvSpPr>
        <p:spPr>
          <a:xfrm>
            <a:off x="1609412" y="1298448"/>
            <a:ext cx="897012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774004" y="1463040"/>
            <a:ext cx="8640943" cy="4773168"/>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65 / 229</a:t>
            </a:r>
          </a:p>
        </p:txBody>
      </p:sp>
      <p:sp>
        <p:nvSpPr>
          <p:cNvPr id="7" name="Rounded Rectangle 6"/>
          <p:cNvSpPr/>
          <p:nvPr/>
        </p:nvSpPr>
        <p:spPr>
          <a:xfrm>
            <a:off x="1659154" y="1298448"/>
            <a:ext cx="887064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823746" y="1463040"/>
            <a:ext cx="8541458" cy="4773168"/>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Transition probability &amp; emission probability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66 / 229</a:t>
            </a:r>
          </a:p>
        </p:txBody>
      </p:sp>
      <p:sp>
        <p:nvSpPr>
          <p:cNvPr id="7" name="Rounded Rectangle 6"/>
          <p:cNvSpPr/>
          <p:nvPr/>
        </p:nvSpPr>
        <p:spPr>
          <a:xfrm>
            <a:off x="457199" y="1962514"/>
            <a:ext cx="11274552" cy="3774218"/>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2127106"/>
            <a:ext cx="10945368" cy="3445034"/>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Sequence labeling using HMM</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67 / 229</a:t>
            </a:r>
          </a:p>
        </p:txBody>
      </p:sp>
      <p:sp>
        <p:nvSpPr>
          <p:cNvPr id="7" name="Rounded Rectangle 6">
            <a:hlinkClick r:id="rId3"/>
          </p:cNvPr>
          <p:cNvSpPr/>
          <p:nvPr/>
        </p:nvSpPr>
        <p:spPr>
          <a:xfrm>
            <a:off x="3963924" y="6455664"/>
            <a:ext cx="4261104"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Viterbi / HMM Lab</a:t>
            </a:r>
          </a:p>
        </p:txBody>
      </p:sp>
      <p:sp>
        <p:nvSpPr>
          <p:cNvPr id="8" name="Rounded Rectangle 7"/>
          <p:cNvSpPr/>
          <p:nvPr/>
        </p:nvSpPr>
        <p:spPr>
          <a:xfrm>
            <a:off x="758952" y="1298448"/>
            <a:ext cx="1067104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4"/>
          <a:stretch>
            <a:fillRect/>
          </a:stretch>
        </p:blipFill>
        <p:spPr>
          <a:xfrm>
            <a:off x="923544" y="1463040"/>
            <a:ext cx="10341863" cy="4773168"/>
          </a:xfrm>
          <a:prstGeom prst="rect">
            <a:avLst/>
          </a:prstGeom>
        </p:spPr>
      </p:pic>
    </p:spTree>
  </p:cSld>
  <p:clrMapOvr>
    <a:masterClrMapping/>
  </p:clrMapOvr>
  <p:transition spd="med">
    <p:zoom dir="in"/>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Sample sentences provide data for calculating sequence probabilities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68 / 229</a:t>
            </a:r>
          </a:p>
        </p:txBody>
      </p:sp>
      <p:pic>
        <p:nvPicPr>
          <p:cNvPr id="7" name="Picture 6" descr="image.jpg"/>
          <p:cNvPicPr>
            <a:picLocks noChangeAspect="1"/>
          </p:cNvPicPr>
          <p:nvPr/>
        </p:nvPicPr>
        <p:blipFill>
          <a:blip r:embed="rId3"/>
          <a:stretch>
            <a:fillRect/>
          </a:stretch>
        </p:blipFill>
        <p:spPr>
          <a:xfrm>
            <a:off x="7672913" y="1505285"/>
            <a:ext cx="4058838" cy="3573108"/>
          </a:xfrm>
          <a:prstGeom prst="rect">
            <a:avLst/>
          </a:prstGeom>
        </p:spPr>
      </p:pic>
      <p:sp>
        <p:nvSpPr>
          <p:cNvPr id="8" name="Rounded Rectangle 7"/>
          <p:cNvSpPr/>
          <p:nvPr/>
        </p:nvSpPr>
        <p:spPr>
          <a:xfrm>
            <a:off x="457200" y="1460885"/>
            <a:ext cx="7014545" cy="1188720"/>
          </a:xfrm>
          <a:prstGeom prst="roundRect">
            <a:avLst>
              <a:gd name="adj" fmla="val 118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7178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885167"/>
            <a:ext cx="340156" cy="340156"/>
          </a:xfrm>
          <a:prstGeom prst="rect">
            <a:avLst/>
          </a:prstGeom>
        </p:spPr>
      </p:pic>
      <p:sp>
        <p:nvSpPr>
          <p:cNvPr id="11" name="TextBox 10"/>
          <p:cNvSpPr txBox="1"/>
          <p:nvPr/>
        </p:nvSpPr>
        <p:spPr>
          <a:xfrm>
            <a:off x="1408175" y="1534037"/>
            <a:ext cx="5862401" cy="1042416"/>
          </a:xfrm>
          <a:prstGeom prst="rect">
            <a:avLst/>
          </a:prstGeom>
          <a:noFill/>
        </p:spPr>
        <p:txBody>
          <a:bodyPr wrap="square" anchor="ctr" lIns="0" tIns="0" rIns="0" bIns="0">
            <a:spAutoFit/>
          </a:bodyPr>
          <a:lstStyle/>
          <a:p>
            <a:pPr algn="l"/>
            <a:r>
              <a:rPr sz="3120" b="1">
                <a:solidFill>
                  <a:srgbClr val="1365A5"/>
                </a:solidFill>
                <a:latin typeface="Bebas Neue"/>
              </a:rPr>
              <a:t>Mary Jane can see Will</a:t>
            </a:r>
          </a:p>
        </p:txBody>
      </p:sp>
      <p:sp>
        <p:nvSpPr>
          <p:cNvPr id="12" name="Rounded Rectangle 11"/>
          <p:cNvSpPr/>
          <p:nvPr/>
        </p:nvSpPr>
        <p:spPr>
          <a:xfrm>
            <a:off x="457200" y="2850773"/>
            <a:ext cx="7014545" cy="1188720"/>
          </a:xfrm>
          <a:prstGeom prst="roundRect">
            <a:avLst>
              <a:gd name="adj" fmla="val 118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16166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753" y="3275055"/>
            <a:ext cx="340156" cy="340156"/>
          </a:xfrm>
          <a:prstGeom prst="rect">
            <a:avLst/>
          </a:prstGeom>
        </p:spPr>
      </p:pic>
      <p:sp>
        <p:nvSpPr>
          <p:cNvPr id="15" name="TextBox 14"/>
          <p:cNvSpPr txBox="1"/>
          <p:nvPr/>
        </p:nvSpPr>
        <p:spPr>
          <a:xfrm>
            <a:off x="1408175" y="2923925"/>
            <a:ext cx="5862401" cy="1042416"/>
          </a:xfrm>
          <a:prstGeom prst="rect">
            <a:avLst/>
          </a:prstGeom>
          <a:noFill/>
        </p:spPr>
        <p:txBody>
          <a:bodyPr wrap="square" anchor="ctr" lIns="0" tIns="0" rIns="0" bIns="0">
            <a:spAutoFit/>
          </a:bodyPr>
          <a:lstStyle/>
          <a:p>
            <a:pPr algn="l"/>
            <a:r>
              <a:rPr sz="3120" b="1">
                <a:solidFill>
                  <a:srgbClr val="1365A5"/>
                </a:solidFill>
                <a:latin typeface="Bebas Neue"/>
              </a:rPr>
              <a:t>Mary will pat Spot</a:t>
            </a:r>
          </a:p>
        </p:txBody>
      </p:sp>
      <p:sp>
        <p:nvSpPr>
          <p:cNvPr id="16" name="Rounded Rectangle 15"/>
          <p:cNvSpPr/>
          <p:nvPr/>
        </p:nvSpPr>
        <p:spPr>
          <a:xfrm>
            <a:off x="457200" y="4403099"/>
            <a:ext cx="7014545"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476251"/>
            <a:ext cx="6619524" cy="73582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calculating probabilities for the sentence Mary Jane can see Will.</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Sentence set — A collection of sentences used for calculating language probabilities.  ·  Spot — A word used as a verb or noun in the sample sentences.</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Emission probability matrix</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69 / 229</a:t>
            </a:r>
          </a:p>
        </p:txBody>
      </p:sp>
      <p:sp>
        <p:nvSpPr>
          <p:cNvPr id="7" name="Rounded Rectangle 6"/>
          <p:cNvSpPr/>
          <p:nvPr/>
        </p:nvSpPr>
        <p:spPr>
          <a:xfrm>
            <a:off x="759173" y="1298448"/>
            <a:ext cx="10670605" cy="469087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923765" y="1463040"/>
            <a:ext cx="10341421"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Words Noun Model Verb Mary 4 0 o Jane 2 0 o will 1 3 o Spot 2 0 1 can o 1 o see o 0 2 pat o 0 1</a:t>
            </a:r>
          </a:p>
        </p:txBody>
      </p:sp>
    </p:spTree>
  </p:cSld>
  <p:clrMapOvr>
    <a:masterClrMapping/>
  </p:clrMapOvr>
  <p:transition spd="med">
    <p:zoom dir="in"/>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Emission probability matrix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70 / 229</a:t>
            </a:r>
          </a:p>
        </p:txBody>
      </p:sp>
      <p:sp>
        <p:nvSpPr>
          <p:cNvPr id="7" name="Rounded Rectangle 6"/>
          <p:cNvSpPr/>
          <p:nvPr/>
        </p:nvSpPr>
        <p:spPr>
          <a:xfrm>
            <a:off x="574303" y="1298448"/>
            <a:ext cx="11040345" cy="469087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738895" y="1463040"/>
            <a:ext cx="10711161"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Words Noun Model Verb Mary 4/9 O 0 Jane 2/9 O 0 will 9 3/4 0 Spot 2/9 O 4 Can 0 4 0 See (o) O 2/4 pat o 0 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Emission probability matrix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71 / 229</a:t>
            </a:r>
          </a:p>
        </p:txBody>
      </p:sp>
      <p:sp>
        <p:nvSpPr>
          <p:cNvPr id="7" name="Rounded Rectangle 6"/>
          <p:cNvSpPr/>
          <p:nvPr/>
        </p:nvSpPr>
        <p:spPr>
          <a:xfrm>
            <a:off x="2897900" y="1298448"/>
            <a:ext cx="639315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3062492" y="1463040"/>
            <a:ext cx="6063966" cy="4773168"/>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6</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72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“Finding tables and extracting information from text documents.”?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Table extraction</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Sentence structure</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MaxEnt classification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Postmodifier</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Table extraction: Finding tables and extracting information from text documents.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Transition probability matrix</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73 / 229</a:t>
            </a:r>
          </a:p>
        </p:txBody>
      </p:sp>
      <p:sp>
        <p:nvSpPr>
          <p:cNvPr id="7" name="Rounded Rectangle 6"/>
          <p:cNvSpPr/>
          <p:nvPr/>
        </p:nvSpPr>
        <p:spPr>
          <a:xfrm>
            <a:off x="457200" y="2170204"/>
            <a:ext cx="11274551" cy="3358838"/>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21792" y="2334796"/>
            <a:ext cx="10945367" cy="3029654"/>
          </a:xfrm>
          <a:prstGeom prst="rect">
            <a:avLst/>
          </a:prstGeom>
        </p:spPr>
      </p:pic>
    </p:spTree>
  </p:cSld>
  <p:clrMapOvr>
    <a:masterClrMapping/>
  </p:clrMapOvr>
  <p:transition spd="med">
    <p:zoom dir="in"/>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Transition probability matrix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74 / 229</a:t>
            </a:r>
          </a:p>
        </p:txBody>
      </p:sp>
      <p:sp>
        <p:nvSpPr>
          <p:cNvPr id="7" name="Rounded Rectangle 6"/>
          <p:cNvSpPr/>
          <p:nvPr/>
        </p:nvSpPr>
        <p:spPr>
          <a:xfrm>
            <a:off x="457199" y="2187788"/>
            <a:ext cx="11274552" cy="3323671"/>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21791" y="2352380"/>
            <a:ext cx="10945368" cy="2994487"/>
          </a:xfrm>
          <a:prstGeom prst="rect">
            <a:avLst/>
          </a:prstGeom>
        </p:spPr>
      </p:pic>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Hidden Markov models determine appropriate tag sequences using probability tables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7883956" cy="624716"/>
          </a:xfrm>
          <a:prstGeom prst="roundRect">
            <a:avLst>
              <a:gd name="adj" fmla="val 22541"/>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27342"/>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40728"/>
            <a:ext cx="340156" cy="340156"/>
          </a:xfrm>
          <a:prstGeom prst="rect">
            <a:avLst/>
          </a:prstGeom>
        </p:spPr>
      </p:pic>
      <p:sp>
        <p:nvSpPr>
          <p:cNvPr id="11" name="TextBox 10"/>
          <p:cNvSpPr txBox="1"/>
          <p:nvPr/>
        </p:nvSpPr>
        <p:spPr>
          <a:xfrm>
            <a:off x="1408175" y="1371600"/>
            <a:ext cx="6731812" cy="478412"/>
          </a:xfrm>
          <a:prstGeom prst="rect">
            <a:avLst/>
          </a:prstGeom>
          <a:noFill/>
        </p:spPr>
        <p:txBody>
          <a:bodyPr wrap="square" anchor="ctr" lIns="0" tIns="0" rIns="0" bIns="0">
            <a:spAutoFit/>
          </a:bodyPr>
          <a:lstStyle/>
          <a:p>
            <a:pPr algn="l"/>
            <a:r>
              <a:rPr sz="1450" b="0">
                <a:solidFill>
                  <a:srgbClr val="111111"/>
                </a:solidFill>
                <a:latin typeface="Inter"/>
              </a:rPr>
              <a:t>How does the HMM determine the appropriate sequence of tags for a particular sentence from the above tables?</a:t>
            </a:r>
          </a:p>
        </p:txBody>
      </p:sp>
      <p:sp>
        <p:nvSpPr>
          <p:cNvPr id="12" name="Rounded Rectangle 11"/>
          <p:cNvSpPr/>
          <p:nvPr/>
        </p:nvSpPr>
        <p:spPr>
          <a:xfrm>
            <a:off x="457200" y="2124332"/>
            <a:ext cx="7883956" cy="624716"/>
          </a:xfrm>
          <a:prstGeom prst="roundRect">
            <a:avLst>
              <a:gd name="adj" fmla="val 22541"/>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153227"/>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266612"/>
            <a:ext cx="340156" cy="340156"/>
          </a:xfrm>
          <a:prstGeom prst="rect">
            <a:avLst/>
          </a:prstGeom>
        </p:spPr>
      </p:pic>
      <p:sp>
        <p:nvSpPr>
          <p:cNvPr id="15" name="TextBox 14"/>
          <p:cNvSpPr txBox="1"/>
          <p:nvPr/>
        </p:nvSpPr>
        <p:spPr>
          <a:xfrm>
            <a:off x="1408175" y="2197484"/>
            <a:ext cx="6731812" cy="478412"/>
          </a:xfrm>
          <a:prstGeom prst="rect">
            <a:avLst/>
          </a:prstGeom>
          <a:noFill/>
        </p:spPr>
        <p:txBody>
          <a:bodyPr wrap="square" anchor="ctr" lIns="0" tIns="0" rIns="0" bIns="0">
            <a:spAutoFit/>
          </a:bodyPr>
          <a:lstStyle/>
          <a:p>
            <a:pPr algn="l"/>
            <a:r>
              <a:rPr sz="1450" b="0">
                <a:solidFill>
                  <a:srgbClr val="111111"/>
                </a:solidFill>
                <a:latin typeface="Inter"/>
              </a:rPr>
              <a:t>Take a new sentence and tag them with wrong tags</a:t>
            </a:r>
          </a:p>
        </p:txBody>
      </p:sp>
      <p:sp>
        <p:nvSpPr>
          <p:cNvPr id="16" name="Rounded Rectangle 15"/>
          <p:cNvSpPr/>
          <p:nvPr/>
        </p:nvSpPr>
        <p:spPr>
          <a:xfrm>
            <a:off x="457200" y="2950217"/>
            <a:ext cx="7883956" cy="624716"/>
          </a:xfrm>
          <a:prstGeom prst="roundRect">
            <a:avLst>
              <a:gd name="adj" fmla="val 22541"/>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979112"/>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092497"/>
            <a:ext cx="340156" cy="340156"/>
          </a:xfrm>
          <a:prstGeom prst="rect">
            <a:avLst/>
          </a:prstGeom>
        </p:spPr>
      </p:pic>
      <p:sp>
        <p:nvSpPr>
          <p:cNvPr id="19" name="TextBox 18"/>
          <p:cNvSpPr txBox="1"/>
          <p:nvPr/>
        </p:nvSpPr>
        <p:spPr>
          <a:xfrm>
            <a:off x="1408175" y="3023369"/>
            <a:ext cx="6731812" cy="478412"/>
          </a:xfrm>
          <a:prstGeom prst="rect">
            <a:avLst/>
          </a:prstGeom>
          <a:noFill/>
        </p:spPr>
        <p:txBody>
          <a:bodyPr wrap="square" anchor="ctr" lIns="0" tIns="0" rIns="0" bIns="0">
            <a:spAutoFit/>
          </a:bodyPr>
          <a:lstStyle/>
          <a:p>
            <a:pPr algn="l"/>
            <a:r>
              <a:rPr sz="1450" b="0">
                <a:solidFill>
                  <a:srgbClr val="111111"/>
                </a:solidFill>
                <a:latin typeface="Inter"/>
              </a:rPr>
              <a:t>Let the sentence, ‘ Will can spot Mary’ be tagged as-</a:t>
            </a:r>
          </a:p>
        </p:txBody>
      </p:sp>
      <p:sp>
        <p:nvSpPr>
          <p:cNvPr id="20" name="Rounded Rectangle 19"/>
          <p:cNvSpPr/>
          <p:nvPr/>
        </p:nvSpPr>
        <p:spPr>
          <a:xfrm>
            <a:off x="457200" y="3776102"/>
            <a:ext cx="7883956" cy="1509129"/>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776102"/>
            <a:ext cx="73152" cy="150912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F76945"/>
                </a:solidFill>
                <a:latin typeface="Bebas Neue"/>
              </a:rPr>
              <a:t>IN PLAIN WORDS</a:t>
            </a:r>
          </a:p>
          <a:p>
            <a:pPr algn="l">
              <a:spcBef>
                <a:spcPts val="300"/>
              </a:spcBef>
            </a:pPr>
            <a:r>
              <a:rPr sz="1300" b="0">
                <a:solidFill>
                  <a:srgbClr val="111111"/>
                </a:solidFill>
                <a:latin typeface="Inter"/>
              </a:rPr>
              <a:t>Hidden Markov models evaluate alternative tag assignments for a sentence by referencing probability tables. Even when initial tags are incorrect, the model computes scores to find the optimal sequence. This process demonstrates how statistical tables correct and assign proper tags to new text. For example, testing alternative tags for the sentence 'Will can spot Mary'.</a:t>
            </a:r>
          </a:p>
        </p:txBody>
      </p:sp>
      <p:sp>
        <p:nvSpPr>
          <p:cNvPr id="23" name="Rounded Rectangle 2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hmm — Hidden Markov Model  ·  Transition probability matrix — A table used by HMM to determine appropriate tag sequences for a sentence.  ·  Tagging — Assigning parts of speech like nouns or verbs to words in a sentence.</a:t>
            </a:r>
          </a:p>
        </p:txBody>
      </p:sp>
      <p:sp>
        <p:nvSpPr>
          <p:cNvPr id="24" name="Rectangle 2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Transition probability matrix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76 / 229</a:t>
            </a:r>
          </a:p>
        </p:txBody>
      </p:sp>
      <p:sp>
        <p:nvSpPr>
          <p:cNvPr id="7" name="Rounded Rectangle 6"/>
          <p:cNvSpPr/>
          <p:nvPr/>
        </p:nvSpPr>
        <p:spPr>
          <a:xfrm>
            <a:off x="1680034" y="1298448"/>
            <a:ext cx="8828883" cy="469087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844626" y="1463040"/>
            <a:ext cx="8499699" cy="4361688"/>
          </a:xfrm>
          <a:prstGeom prst="rect">
            <a:avLst/>
          </a:prstGeom>
        </p:spPr>
      </p:pic>
      <p:sp>
        <p:nvSpPr>
          <p:cNvPr id="9" name="TextBox 8"/>
          <p:cNvSpPr txBox="1"/>
          <p:nvPr/>
        </p:nvSpPr>
        <p:spPr>
          <a:xfrm>
            <a:off x="457200" y="6035040"/>
            <a:ext cx="11274552" cy="365760"/>
          </a:xfrm>
          <a:prstGeom prst="rect">
            <a:avLst/>
          </a:prstGeom>
          <a:noFill/>
        </p:spPr>
        <p:txBody>
          <a:bodyPr wrap="square" lIns="0" rIns="0">
            <a:spAutoFit/>
          </a:bodyPr>
          <a:lstStyle/>
          <a:p>
            <a:pPr algn="ctr">
              <a:defRPr sz="1300" i="1">
                <a:solidFill>
                  <a:srgbClr val="555555"/>
                </a:solidFill>
              </a:defRPr>
            </a:pPr>
            <a:r>
              <a:rPr>
                <a:latin typeface="Inter"/>
              </a:rPr>
              <a:t>; can y spot Mary ‘i9i@ eee</a:t>
            </a:r>
          </a:p>
        </p:txBody>
      </p:sp>
    </p:spTree>
  </p:cSld>
  <p:clrMapOvr>
    <a:masterClrMapping/>
  </p:clrMapOvr>
  <p:transition spd="med">
    <p:zoom dir="in"/>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850" b="1">
                <a:solidFill>
                  <a:srgbClr val="FFFFFF"/>
                </a:solidFill>
              </a:defRPr>
            </a:pPr>
            <a:r>
              <a:rPr>
                <a:latin typeface="Bebas Neue"/>
              </a:rPr>
              <a:t>Two paths lead to this vertex with known probabilities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77 / 229</a:t>
            </a:r>
          </a:p>
        </p:txBody>
      </p:sp>
      <p:pic>
        <p:nvPicPr>
          <p:cNvPr id="7" name="Picture 6" descr="image.jpg"/>
          <p:cNvPicPr>
            <a:picLocks noChangeAspect="1"/>
          </p:cNvPicPr>
          <p:nvPr/>
        </p:nvPicPr>
        <p:blipFill>
          <a:blip r:embed="rId3"/>
          <a:stretch>
            <a:fillRect/>
          </a:stretch>
        </p:blipFill>
        <p:spPr>
          <a:xfrm>
            <a:off x="7672913" y="2196065"/>
            <a:ext cx="4058838" cy="2191549"/>
          </a:xfrm>
          <a:prstGeom prst="rect">
            <a:avLst/>
          </a:prstGeom>
        </p:spPr>
      </p:pic>
      <p:sp>
        <p:nvSpPr>
          <p:cNvPr id="8" name="Rectangle 7"/>
          <p:cNvSpPr/>
          <p:nvPr/>
        </p:nvSpPr>
        <p:spPr>
          <a:xfrm>
            <a:off x="457200" y="1646925"/>
            <a:ext cx="82296" cy="904387"/>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610349"/>
            <a:ext cx="6278614" cy="922675"/>
          </a:xfrm>
          <a:prstGeom prst="rect">
            <a:avLst/>
          </a:prstGeom>
          <a:noFill/>
        </p:spPr>
        <p:txBody>
          <a:bodyPr wrap="square" anchor="t" lIns="0" tIns="0" rIns="0" bIns="0">
            <a:spAutoFit/>
          </a:bodyPr>
          <a:lstStyle/>
          <a:p>
            <a:pPr algn="l"/>
            <a:r>
              <a:rPr sz="1920" b="1">
                <a:solidFill>
                  <a:srgbClr val="1365A5"/>
                </a:solidFill>
                <a:latin typeface="Bebas Neue"/>
              </a:rPr>
              <a:t>There are two paths leading to this vertex as shown below along with the probabilities of the two mini-paths.</a:t>
            </a:r>
          </a:p>
        </p:txBody>
      </p:sp>
      <p:sp>
        <p:nvSpPr>
          <p:cNvPr id="10" name="TextBox 9"/>
          <p:cNvSpPr txBox="1"/>
          <p:nvPr/>
        </p:nvSpPr>
        <p:spPr>
          <a:xfrm>
            <a:off x="720547" y="2725049"/>
            <a:ext cx="6278614" cy="496062"/>
          </a:xfrm>
          <a:prstGeom prst="rect">
            <a:avLst/>
          </a:prstGeom>
          <a:noFill/>
        </p:spPr>
        <p:txBody>
          <a:bodyPr wrap="square" lIns="0" rIns="0" tIns="0" bIns="0">
            <a:spAutoFit/>
          </a:bodyPr>
          <a:lstStyle/>
          <a:p>
            <a:r>
              <a:rPr sz="1550">
                <a:solidFill>
                  <a:srgbClr val="111111"/>
                </a:solidFill>
                <a:latin typeface="Inter"/>
              </a:rPr>
              <a:t>When multiple paths reach a single vertex, each path carries its own specific probability.</a:t>
            </a:r>
          </a:p>
        </p:txBody>
      </p:sp>
      <p:sp>
        <p:nvSpPr>
          <p:cNvPr id="11" name="TextBox 10"/>
          <p:cNvSpPr txBox="1"/>
          <p:nvPr/>
        </p:nvSpPr>
        <p:spPr>
          <a:xfrm>
            <a:off x="720547" y="3349127"/>
            <a:ext cx="6278614" cy="496062"/>
          </a:xfrm>
          <a:prstGeom prst="rect">
            <a:avLst/>
          </a:prstGeom>
          <a:noFill/>
        </p:spPr>
        <p:txBody>
          <a:bodyPr wrap="square" lIns="0" rIns="0" tIns="0" bIns="0">
            <a:spAutoFit/>
          </a:bodyPr>
          <a:lstStyle/>
          <a:p>
            <a:r>
              <a:rPr sz="1550">
                <a:solidFill>
                  <a:srgbClr val="111111"/>
                </a:solidFill>
                <a:latin typeface="Inter"/>
              </a:rPr>
              <a:t>Understanding these individual mini-path probabilities is essential for calculating the likelihood of larger sequences.</a:t>
            </a:r>
          </a:p>
        </p:txBody>
      </p:sp>
      <p:sp>
        <p:nvSpPr>
          <p:cNvPr id="12" name="TextBox 11"/>
          <p:cNvSpPr txBox="1"/>
          <p:nvPr/>
        </p:nvSpPr>
        <p:spPr>
          <a:xfrm>
            <a:off x="720547" y="3973205"/>
            <a:ext cx="6278614" cy="496062"/>
          </a:xfrm>
          <a:prstGeom prst="rect">
            <a:avLst/>
          </a:prstGeom>
          <a:noFill/>
        </p:spPr>
        <p:txBody>
          <a:bodyPr wrap="square" lIns="0" rIns="0" tIns="0" bIns="0">
            <a:spAutoFit/>
          </a:bodyPr>
          <a:lstStyle/>
          <a:p>
            <a:r>
              <a:rPr sz="1550">
                <a:solidFill>
                  <a:srgbClr val="111111"/>
                </a:solidFill>
                <a:latin typeface="Inter"/>
              </a:rPr>
              <a:t>We use these values to determine how likely each incoming route is.</a:t>
            </a:r>
          </a:p>
        </p:txBody>
      </p:sp>
      <p:sp>
        <p:nvSpPr>
          <p:cNvPr id="13" name="TextBox 12"/>
          <p:cNvSpPr txBox="1"/>
          <p:nvPr/>
        </p:nvSpPr>
        <p:spPr>
          <a:xfrm>
            <a:off x="720547" y="4597283"/>
            <a:ext cx="6278614" cy="248031"/>
          </a:xfrm>
          <a:prstGeom prst="rect">
            <a:avLst/>
          </a:prstGeom>
          <a:noFill/>
        </p:spPr>
        <p:txBody>
          <a:bodyPr wrap="square" lIns="0" rIns="0" tIns="0" bIns="0">
            <a:spAutoFit/>
          </a:bodyPr>
          <a:lstStyle/>
          <a:p>
            <a:r>
              <a:rPr sz="1550">
                <a:solidFill>
                  <a:srgbClr val="111111"/>
                </a:solidFill>
                <a:latin typeface="Inter"/>
              </a:rPr>
              <a:t>Example: Path A has a probability of 0.3 and Path B has 0.7.</a:t>
            </a:r>
          </a:p>
        </p:txBody>
      </p:sp>
      <p:sp>
        <p:nvSpPr>
          <p:cNvPr id="14" name="Rounded Rectangle 13"/>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Transition probability — The likelihood of moving from one specific state to another.</a:t>
            </a:r>
          </a:p>
        </p:txBody>
      </p:sp>
      <p:sp>
        <p:nvSpPr>
          <p:cNvPr id="15" name="Rectangle 14"/>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5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After Computing probabilities of all paths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78 / 229</a:t>
            </a:r>
          </a:p>
        </p:txBody>
      </p:sp>
      <p:sp>
        <p:nvSpPr>
          <p:cNvPr id="7" name="Rounded Rectangle 6"/>
          <p:cNvSpPr/>
          <p:nvPr/>
        </p:nvSpPr>
        <p:spPr>
          <a:xfrm>
            <a:off x="1083994" y="1298448"/>
            <a:ext cx="1002096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248586" y="1463040"/>
            <a:ext cx="9691778" cy="4773168"/>
          </a:xfrm>
          <a:prstGeom prst="rect">
            <a:avLst/>
          </a:prstGeom>
        </p:spPr>
      </p:pic>
    </p:spTree>
  </p:cSld>
  <p:clrMapOvr>
    <a:masterClrMapping/>
  </p:clrMapOvr>
  <p:transition spd="med">
    <p:cover dir="r"/>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FFFFFF"/>
                </a:solidFill>
              </a:defRPr>
            </a:pPr>
            <a:r>
              <a:rPr>
                <a:latin typeface="Bebas Neue"/>
              </a:rPr>
              <a:t>Tracing backward from the end yields an optimal path</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79 / 229</a:t>
            </a:r>
          </a:p>
        </p:txBody>
      </p:sp>
      <p:pic>
        <p:nvPicPr>
          <p:cNvPr id="7" name="Picture 6" descr="image.png"/>
          <p:cNvPicPr>
            <a:picLocks noChangeAspect="1"/>
          </p:cNvPicPr>
          <p:nvPr/>
        </p:nvPicPr>
        <p:blipFill>
          <a:blip r:embed="rId3"/>
          <a:stretch>
            <a:fillRect/>
          </a:stretch>
        </p:blipFill>
        <p:spPr>
          <a:xfrm>
            <a:off x="7672913" y="2469479"/>
            <a:ext cx="4058838" cy="1644721"/>
          </a:xfrm>
          <a:prstGeom prst="rect">
            <a:avLst/>
          </a:prstGeom>
        </p:spPr>
      </p:pic>
      <p:sp>
        <p:nvSpPr>
          <p:cNvPr id="8" name="Rectangle 7"/>
          <p:cNvSpPr/>
          <p:nvPr/>
        </p:nvSpPr>
        <p:spPr>
          <a:xfrm>
            <a:off x="457200" y="1432979"/>
            <a:ext cx="82296" cy="123626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96403"/>
            <a:ext cx="6278614" cy="1254556"/>
          </a:xfrm>
          <a:prstGeom prst="rect">
            <a:avLst/>
          </a:prstGeom>
          <a:noFill/>
        </p:spPr>
        <p:txBody>
          <a:bodyPr wrap="square" anchor="t" lIns="0" tIns="0" rIns="0" bIns="0">
            <a:spAutoFit/>
          </a:bodyPr>
          <a:lstStyle/>
          <a:p>
            <a:pPr algn="l"/>
            <a:r>
              <a:rPr sz="1960" b="1">
                <a:solidFill>
                  <a:srgbClr val="1365A5"/>
                </a:solidFill>
                <a:latin typeface="Bebas Neue"/>
              </a:rPr>
              <a:t>To get an optimal path, start from the end and trace backward, since each state has only one incoming edge, This gives a path as shown below.</a:t>
            </a:r>
          </a:p>
        </p:txBody>
      </p:sp>
      <p:sp>
        <p:nvSpPr>
          <p:cNvPr id="10" name="TextBox 9"/>
          <p:cNvSpPr txBox="1"/>
          <p:nvPr/>
        </p:nvSpPr>
        <p:spPr>
          <a:xfrm>
            <a:off x="720547" y="2842983"/>
            <a:ext cx="6278614" cy="560070"/>
          </a:xfrm>
          <a:prstGeom prst="rect">
            <a:avLst/>
          </a:prstGeom>
          <a:noFill/>
        </p:spPr>
        <p:txBody>
          <a:bodyPr wrap="square" lIns="0" rIns="0" tIns="0" bIns="0">
            <a:spAutoFit/>
          </a:bodyPr>
          <a:lstStyle/>
          <a:p>
            <a:r>
              <a:rPr sz="1750">
                <a:solidFill>
                  <a:srgbClr val="111111"/>
                </a:solidFill>
                <a:latin typeface="Inter"/>
              </a:rPr>
              <a:t>An optimal path is found by starting at the final state and working backward.</a:t>
            </a:r>
          </a:p>
        </p:txBody>
      </p:sp>
      <p:sp>
        <p:nvSpPr>
          <p:cNvPr id="11" name="TextBox 10"/>
          <p:cNvSpPr txBox="1"/>
          <p:nvPr/>
        </p:nvSpPr>
        <p:spPr>
          <a:xfrm>
            <a:off x="720547" y="3531069"/>
            <a:ext cx="6278614" cy="840105"/>
          </a:xfrm>
          <a:prstGeom prst="rect">
            <a:avLst/>
          </a:prstGeom>
          <a:noFill/>
        </p:spPr>
        <p:txBody>
          <a:bodyPr wrap="square" lIns="0" rIns="0" tIns="0" bIns="0">
            <a:spAutoFit/>
          </a:bodyPr>
          <a:lstStyle/>
          <a:p>
            <a:r>
              <a:rPr sz="1080" b="1">
                <a:solidFill>
                  <a:srgbClr val="1D4ED8"/>
                </a:solidFill>
                <a:latin typeface="Bebas Neue"/>
              </a:rPr>
              <a:t>BECAUSE   </a:t>
            </a:r>
            <a:r>
              <a:rPr sz="1750" b="1">
                <a:solidFill>
                  <a:srgbClr val="1D4ED8"/>
                </a:solidFill>
                <a:latin typeface="Bebas Neue"/>
              </a:rPr>
              <a:t>Because</a:t>
            </a:r>
            <a:r>
              <a:rPr sz="1750">
                <a:solidFill>
                  <a:srgbClr val="111111"/>
                </a:solidFill>
                <a:latin typeface="Inter"/>
              </a:rPr>
              <a:t> each state features a single incoming edge, this reverse tracing process clearly reveals the best sequence of states that led to the end.</a:t>
            </a:r>
          </a:p>
        </p:txBody>
      </p:sp>
      <p:sp>
        <p:nvSpPr>
          <p:cNvPr id="12" name="TextBox 11"/>
          <p:cNvSpPr txBox="1"/>
          <p:nvPr/>
        </p:nvSpPr>
        <p:spPr>
          <a:xfrm>
            <a:off x="720547" y="4499190"/>
            <a:ext cx="6278614" cy="560070"/>
          </a:xfrm>
          <a:prstGeom prst="rect">
            <a:avLst/>
          </a:prstGeom>
          <a:noFill/>
        </p:spPr>
        <p:txBody>
          <a:bodyPr wrap="square" lIns="0" rIns="0" tIns="0" bIns="0">
            <a:spAutoFit/>
          </a:bodyPr>
          <a:lstStyle/>
          <a:p>
            <a:r>
              <a:rPr sz="1750">
                <a:solidFill>
                  <a:srgbClr val="111111"/>
                </a:solidFill>
                <a:latin typeface="Inter"/>
              </a:rPr>
              <a:t>Example: Tracing back from the final destination node to the start node.</a:t>
            </a:r>
          </a:p>
        </p:txBody>
      </p:sp>
      <p:sp>
        <p:nvSpPr>
          <p:cNvPr id="13" name="Rounded Rectangle 1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Optimal path — The best or most likely sequence of states through a network.</a:t>
            </a:r>
          </a:p>
        </p:txBody>
      </p:sp>
      <p:sp>
        <p:nvSpPr>
          <p:cNvPr id="14" name="Rectangle 1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Problem in which matrix is GIVEN/ not training data</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80 / 229</a:t>
            </a:r>
          </a:p>
        </p:txBody>
      </p:sp>
      <p:sp>
        <p:nvSpPr>
          <p:cNvPr id="7" name="Rounded Rectangle 6"/>
          <p:cNvSpPr/>
          <p:nvPr/>
        </p:nvSpPr>
        <p:spPr>
          <a:xfrm>
            <a:off x="1446635" y="1298448"/>
            <a:ext cx="929568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611227" y="1463040"/>
            <a:ext cx="8966496" cy="4773168"/>
          </a:xfrm>
          <a:prstGeom prst="rect">
            <a:avLst/>
          </a:prstGeom>
        </p:spPr>
      </p:pic>
    </p:spTree>
  </p:cSld>
  <p:clrMapOvr>
    <a:masterClrMapping/>
  </p:clrMapOvr>
  <p:transition spd="med">
    <p:cover dir="r"/>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81 / 229</a:t>
            </a:r>
          </a:p>
        </p:txBody>
      </p:sp>
      <p:sp>
        <p:nvSpPr>
          <p:cNvPr id="7" name="Rounded Rectangle 6"/>
          <p:cNvSpPr/>
          <p:nvPr/>
        </p:nvSpPr>
        <p:spPr>
          <a:xfrm>
            <a:off x="2341778" y="1298448"/>
            <a:ext cx="750539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506370" y="1463040"/>
            <a:ext cx="7176211" cy="4773168"/>
          </a:xfrm>
          <a:prstGeom prst="rect">
            <a:avLst/>
          </a:prstGeom>
        </p:spPr>
      </p:pic>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82 / 229</a:t>
            </a:r>
          </a:p>
        </p:txBody>
      </p:sp>
      <p:sp>
        <p:nvSpPr>
          <p:cNvPr id="7" name="Rounded Rectangle 6"/>
          <p:cNvSpPr/>
          <p:nvPr/>
        </p:nvSpPr>
        <p:spPr>
          <a:xfrm>
            <a:off x="2016996" y="1298448"/>
            <a:ext cx="815495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181588" y="1463040"/>
            <a:ext cx="7825775" cy="4773168"/>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83 / 229</a:t>
            </a:r>
          </a:p>
        </p:txBody>
      </p:sp>
      <p:sp>
        <p:nvSpPr>
          <p:cNvPr id="7" name="Rounded Rectangle 6"/>
          <p:cNvSpPr/>
          <p:nvPr/>
        </p:nvSpPr>
        <p:spPr>
          <a:xfrm>
            <a:off x="2070648" y="1298448"/>
            <a:ext cx="804765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35240" y="1463040"/>
            <a:ext cx="7718471" cy="4773168"/>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7</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84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“The arrangement of words into bigger units to communicate complex ideas.”?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Transition probability matrix</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N-gram</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Lexicon</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Sentence structure</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D</a:t>
            </a:r>
          </a:p>
          <a:p>
            <a:pPr algn="l">
              <a:spcBef>
                <a:spcPts val="200"/>
              </a:spcBef>
            </a:pPr>
            <a:r>
              <a:rPr sz="1600" b="0">
                <a:solidFill>
                  <a:srgbClr val="FFFFFF"/>
                </a:solidFill>
                <a:latin typeface="Inter"/>
              </a:rPr>
              <a:t>Sentence structure: The arrangement of words into bigger units to communicate complex ideas.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85 / 229</a:t>
            </a:r>
          </a:p>
        </p:txBody>
      </p:sp>
      <p:sp>
        <p:nvSpPr>
          <p:cNvPr id="7" name="Rounded Rectangle 6"/>
          <p:cNvSpPr/>
          <p:nvPr/>
        </p:nvSpPr>
        <p:spPr>
          <a:xfrm>
            <a:off x="1981316" y="1298448"/>
            <a:ext cx="822631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145908" y="1463040"/>
            <a:ext cx="7897135" cy="4773168"/>
          </a:xfrm>
          <a:prstGeom prst="rect">
            <a:avLst/>
          </a:prstGeom>
        </p:spPr>
      </p:pic>
    </p:spTree>
  </p:cSld>
  <p:clrMapOvr>
    <a:masterClrMapping/>
  </p:clrMapOvr>
  <p:transition spd="med">
    <p:cover dir="r"/>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86 / 229</a:t>
            </a:r>
          </a:p>
        </p:txBody>
      </p:sp>
      <p:sp>
        <p:nvSpPr>
          <p:cNvPr id="7" name="Rounded Rectangle 6"/>
          <p:cNvSpPr/>
          <p:nvPr/>
        </p:nvSpPr>
        <p:spPr>
          <a:xfrm>
            <a:off x="1688733" y="1298448"/>
            <a:ext cx="881148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853325" y="1463040"/>
            <a:ext cx="8482301" cy="4773168"/>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87 / 229</a:t>
            </a:r>
          </a:p>
        </p:txBody>
      </p:sp>
      <p:sp>
        <p:nvSpPr>
          <p:cNvPr id="7" name="Rounded Rectangle 6"/>
          <p:cNvSpPr/>
          <p:nvPr/>
        </p:nvSpPr>
        <p:spPr>
          <a:xfrm>
            <a:off x="457199" y="1598283"/>
            <a:ext cx="11274552" cy="4502680"/>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1762875"/>
            <a:ext cx="10945368" cy="4173496"/>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88 / 229</a:t>
            </a:r>
          </a:p>
        </p:txBody>
      </p:sp>
      <p:sp>
        <p:nvSpPr>
          <p:cNvPr id="7" name="Rounded Rectangle 6"/>
          <p:cNvSpPr/>
          <p:nvPr/>
        </p:nvSpPr>
        <p:spPr>
          <a:xfrm>
            <a:off x="2130245" y="1298448"/>
            <a:ext cx="792846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94837" y="1463040"/>
            <a:ext cx="7599277" cy="4773168"/>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89 / 229</a:t>
            </a:r>
          </a:p>
        </p:txBody>
      </p:sp>
      <p:sp>
        <p:nvSpPr>
          <p:cNvPr id="7" name="Rounded Rectangle 6"/>
          <p:cNvSpPr/>
          <p:nvPr/>
        </p:nvSpPr>
        <p:spPr>
          <a:xfrm>
            <a:off x="2043729" y="1298448"/>
            <a:ext cx="810149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08321" y="1463040"/>
            <a:ext cx="7772308" cy="4773168"/>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90 / 229</a:t>
            </a:r>
          </a:p>
        </p:txBody>
      </p:sp>
      <p:sp>
        <p:nvSpPr>
          <p:cNvPr id="7" name="Rounded Rectangle 6"/>
          <p:cNvSpPr/>
          <p:nvPr/>
        </p:nvSpPr>
        <p:spPr>
          <a:xfrm>
            <a:off x="1719473" y="1298448"/>
            <a:ext cx="875000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84065" y="1463040"/>
            <a:ext cx="8420821" cy="4773168"/>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91 / 229</a:t>
            </a:r>
          </a:p>
        </p:txBody>
      </p:sp>
      <p:sp>
        <p:nvSpPr>
          <p:cNvPr id="7" name="Rounded Rectangle 6"/>
          <p:cNvSpPr/>
          <p:nvPr/>
        </p:nvSpPr>
        <p:spPr>
          <a:xfrm>
            <a:off x="2198958" y="1298448"/>
            <a:ext cx="779103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363550" y="1463040"/>
            <a:ext cx="7461851" cy="4773168"/>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92 / 229</a:t>
            </a:r>
          </a:p>
        </p:txBody>
      </p:sp>
      <p:sp>
        <p:nvSpPr>
          <p:cNvPr id="7" name="Rounded Rectangle 6"/>
          <p:cNvSpPr/>
          <p:nvPr/>
        </p:nvSpPr>
        <p:spPr>
          <a:xfrm>
            <a:off x="1719664" y="1298448"/>
            <a:ext cx="874962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84256" y="1463040"/>
            <a:ext cx="8420439" cy="4773168"/>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93 / 229</a:t>
            </a:r>
          </a:p>
        </p:txBody>
      </p:sp>
      <p:sp>
        <p:nvSpPr>
          <p:cNvPr id="7" name="Rounded Rectangle 6"/>
          <p:cNvSpPr/>
          <p:nvPr/>
        </p:nvSpPr>
        <p:spPr>
          <a:xfrm>
            <a:off x="2232032" y="1298448"/>
            <a:ext cx="772488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396624" y="1463040"/>
            <a:ext cx="7395702" cy="4773168"/>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94 / 229</a:t>
            </a:r>
          </a:p>
        </p:txBody>
      </p:sp>
      <p:sp>
        <p:nvSpPr>
          <p:cNvPr id="7" name="Rounded Rectangle 6"/>
          <p:cNvSpPr/>
          <p:nvPr/>
        </p:nvSpPr>
        <p:spPr>
          <a:xfrm>
            <a:off x="2224996" y="1298448"/>
            <a:ext cx="773895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389588" y="1463040"/>
            <a:ext cx="7409775" cy="4773168"/>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95 / 229</a:t>
            </a:r>
          </a:p>
        </p:txBody>
      </p:sp>
      <p:sp>
        <p:nvSpPr>
          <p:cNvPr id="7" name="Rounded Rectangle 6"/>
          <p:cNvSpPr/>
          <p:nvPr/>
        </p:nvSpPr>
        <p:spPr>
          <a:xfrm>
            <a:off x="457199" y="1529766"/>
            <a:ext cx="11274552" cy="4639715"/>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1694358"/>
            <a:ext cx="10945368" cy="4310531"/>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8</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96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1950" b="1">
                <a:solidFill>
                  <a:srgbClr val="1365A5"/>
                </a:solidFill>
                <a:latin typeface="Bebas Neue"/>
              </a:rPr>
              <a:t>Which term matches this description: “Constraints holding among constituents, such as matching number between determiners and head nouns.”?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Nominal</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Agreement</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Spot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Dynamic programming</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450" b="0">
                <a:solidFill>
                  <a:srgbClr val="FFFFFF"/>
                </a:solidFill>
                <a:latin typeface="Inter"/>
              </a:rPr>
              <a:t>Agreement: Constraints holding among constituents, such as matching number between determiners and head nouns.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Problem in which matrix is GIVEN/ not training data: O=4192..-9N a set</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97 / 229</a:t>
            </a:r>
          </a:p>
        </p:txBody>
      </p:sp>
      <p:sp>
        <p:nvSpPr>
          <p:cNvPr id="8" name="Rounded Rectangle 7"/>
          <p:cNvSpPr/>
          <p:nvPr/>
        </p:nvSpPr>
        <p:spPr>
          <a:xfrm>
            <a:off x="457200" y="1298448"/>
            <a:ext cx="11274552" cy="1185062"/>
          </a:xfrm>
          <a:prstGeom prst="roundRect">
            <a:avLst>
              <a:gd name="adj" fmla="val 118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6237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1038758"/>
          </a:xfrm>
          <a:prstGeom prst="rect">
            <a:avLst/>
          </a:prstGeom>
          <a:noFill/>
        </p:spPr>
        <p:txBody>
          <a:bodyPr wrap="square" anchor="ctr" lIns="0" tIns="0" rIns="0" bIns="0">
            <a:spAutoFit/>
          </a:bodyPr>
          <a:lstStyle/>
          <a:p>
            <a:pPr algn="l"/>
            <a:r>
              <a:rPr sz="1610" b="1">
                <a:solidFill>
                  <a:srgbClr val="1365A5"/>
                </a:solidFill>
                <a:latin typeface="Bebas Neue"/>
              </a:rPr>
              <a:t>O=4192..-9N a set of N states</a:t>
            </a:r>
          </a:p>
        </p:txBody>
      </p:sp>
      <p:sp>
        <p:nvSpPr>
          <p:cNvPr id="11" name="Rounded Rectangle 10"/>
          <p:cNvSpPr/>
          <p:nvPr/>
        </p:nvSpPr>
        <p:spPr>
          <a:xfrm>
            <a:off x="457200" y="2604211"/>
            <a:ext cx="11274552" cy="1185062"/>
          </a:xfrm>
          <a:prstGeom prst="roundRect">
            <a:avLst>
              <a:gd name="adj" fmla="val 118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968142"/>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677363"/>
            <a:ext cx="10213848" cy="1038758"/>
          </a:xfrm>
          <a:prstGeom prst="rect">
            <a:avLst/>
          </a:prstGeom>
          <a:noFill/>
        </p:spPr>
        <p:txBody>
          <a:bodyPr wrap="square" anchor="ctr" lIns="0" tIns="0" rIns="0" bIns="0">
            <a:spAutoFit/>
          </a:bodyPr>
          <a:lstStyle/>
          <a:p>
            <a:pPr algn="l"/>
            <a:r>
              <a:rPr sz="1610" b="1">
                <a:solidFill>
                  <a:srgbClr val="1365A5"/>
                </a:solidFill>
                <a:latin typeface="Bebas Neue"/>
              </a:rPr>
              <a:t>a transition probability matrix 4, each a;; rep- resenting the probability of moving from state i to state j, s.t. =1 Vi a sequence of T observations, each one drawn from a vocabulary V = vr.</a:t>
            </a:r>
          </a:p>
        </p:txBody>
      </p:sp>
      <p:sp>
        <p:nvSpPr>
          <p:cNvPr id="14" name="Rounded Rectangle 13"/>
          <p:cNvSpPr/>
          <p:nvPr/>
        </p:nvSpPr>
        <p:spPr>
          <a:xfrm>
            <a:off x="457200" y="3909974"/>
            <a:ext cx="11274552" cy="1185062"/>
          </a:xfrm>
          <a:prstGeom prst="roundRect">
            <a:avLst>
              <a:gd name="adj" fmla="val 118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4273905"/>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3983126"/>
            <a:ext cx="10213848" cy="1038758"/>
          </a:xfrm>
          <a:prstGeom prst="rect">
            <a:avLst/>
          </a:prstGeom>
          <a:noFill/>
        </p:spPr>
        <p:txBody>
          <a:bodyPr wrap="square" anchor="ctr" lIns="0" tIns="0" rIns="0" bIns="0">
            <a:spAutoFit/>
          </a:bodyPr>
          <a:lstStyle/>
          <a:p>
            <a:pPr algn="l"/>
            <a:r>
              <a:rPr sz="1610" b="1">
                <a:solidFill>
                  <a:srgbClr val="1365A5"/>
                </a:solidFill>
                <a:latin typeface="Bebas Neue"/>
              </a:rPr>
              <a:t>B=b5,(0;) a sequence of observation likelihoods:, also</a:t>
            </a:r>
          </a:p>
        </p:txBody>
      </p:sp>
      <p:sp>
        <p:nvSpPr>
          <p:cNvPr id="17" name="Rounded Rectangle 16"/>
          <p:cNvSpPr/>
          <p:nvPr/>
        </p:nvSpPr>
        <p:spPr>
          <a:xfrm>
            <a:off x="457200" y="5215737"/>
            <a:ext cx="11274552" cy="1185062"/>
          </a:xfrm>
          <a:prstGeom prst="roundRect">
            <a:avLst>
              <a:gd name="adj" fmla="val 118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557966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5288889"/>
            <a:ext cx="10213848" cy="1038758"/>
          </a:xfrm>
          <a:prstGeom prst="rect">
            <a:avLst/>
          </a:prstGeom>
          <a:noFill/>
        </p:spPr>
        <p:txBody>
          <a:bodyPr wrap="square" anchor="ctr" lIns="0" tIns="0" rIns="0" bIns="0">
            <a:spAutoFit/>
          </a:bodyPr>
          <a:lstStyle/>
          <a:p>
            <a:pPr algn="l"/>
            <a:r>
              <a:rPr sz="1610" b="1">
                <a:solidFill>
                  <a:srgbClr val="1365A5"/>
                </a:solidFill>
                <a:latin typeface="Bebas Neue"/>
              </a:rPr>
              <a:t>called emission probabilities, each expressing the probability of an observation 0; being gen- erated from a state 7. a special start state and end (final) state which are not associated with observations, together with transition probabilities out of the start state and ito the end state |</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First-order Hidden Markov models rely on two simplifying assumptions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98 / 229</a:t>
            </a:r>
          </a:p>
        </p:txBody>
      </p:sp>
      <p:sp>
        <p:nvSpPr>
          <p:cNvPr id="8" name="Rounded Rectangle 7"/>
          <p:cNvSpPr/>
          <p:nvPr/>
        </p:nvSpPr>
        <p:spPr>
          <a:xfrm>
            <a:off x="457200" y="1298448"/>
            <a:ext cx="11274552" cy="906170"/>
          </a:xfrm>
          <a:prstGeom prst="roundRect">
            <a:avLst>
              <a:gd name="adj" fmla="val 155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2293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759866"/>
          </a:xfrm>
          <a:prstGeom prst="rect">
            <a:avLst/>
          </a:prstGeom>
          <a:noFill/>
        </p:spPr>
        <p:txBody>
          <a:bodyPr wrap="square" anchor="ctr" lIns="0" tIns="0" rIns="0" bIns="0">
            <a:spAutoFit/>
          </a:bodyPr>
          <a:lstStyle/>
          <a:p>
            <a:pPr algn="l"/>
            <a:r>
              <a:rPr sz="1550" b="1">
                <a:solidFill>
                  <a:srgbClr val="1365A5"/>
                </a:solidFill>
                <a:latin typeface="Bebas Neue"/>
              </a:rPr>
              <a:t>A first-order Hidden Markov Model instantiates two simplifying assumptions. First, as with a first-orderMarkov chain, the probability of a particular state is dependent only on the previous state:</a:t>
            </a:r>
          </a:p>
        </p:txBody>
      </p:sp>
      <p:sp>
        <p:nvSpPr>
          <p:cNvPr id="11" name="Rounded Rectangle 10"/>
          <p:cNvSpPr/>
          <p:nvPr/>
        </p:nvSpPr>
        <p:spPr>
          <a:xfrm>
            <a:off x="457200" y="2325319"/>
            <a:ext cx="11274552" cy="906170"/>
          </a:xfrm>
          <a:prstGeom prst="roundRect">
            <a:avLst>
              <a:gd name="adj" fmla="val 155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254980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398471"/>
            <a:ext cx="10213848" cy="759866"/>
          </a:xfrm>
          <a:prstGeom prst="rect">
            <a:avLst/>
          </a:prstGeom>
          <a:noFill/>
        </p:spPr>
        <p:txBody>
          <a:bodyPr wrap="square" anchor="ctr" lIns="0" tIns="0" rIns="0" bIns="0">
            <a:spAutoFit/>
          </a:bodyPr>
          <a:lstStyle/>
          <a:p>
            <a:pPr algn="l"/>
            <a:r>
              <a:rPr sz="1550" b="1">
                <a:solidFill>
                  <a:srgbClr val="1365A5"/>
                </a:solidFill>
                <a:latin typeface="Bebas Neue"/>
              </a:rPr>
              <a:t>Markov Assumption: P(qi|q1..qi−1) = P(qi|qi−1)</a:t>
            </a:r>
          </a:p>
        </p:txBody>
      </p:sp>
      <p:sp>
        <p:nvSpPr>
          <p:cNvPr id="14" name="Rounded Rectangle 13"/>
          <p:cNvSpPr/>
          <p:nvPr/>
        </p:nvSpPr>
        <p:spPr>
          <a:xfrm>
            <a:off x="457200" y="3352190"/>
            <a:ext cx="11274552" cy="906170"/>
          </a:xfrm>
          <a:prstGeom prst="roundRect">
            <a:avLst>
              <a:gd name="adj" fmla="val 155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576675"/>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3425342"/>
            <a:ext cx="10213848" cy="759866"/>
          </a:xfrm>
          <a:prstGeom prst="rect">
            <a:avLst/>
          </a:prstGeom>
          <a:noFill/>
        </p:spPr>
        <p:txBody>
          <a:bodyPr wrap="square" anchor="ctr" lIns="0" tIns="0" rIns="0" bIns="0">
            <a:spAutoFit/>
          </a:bodyPr>
          <a:lstStyle/>
          <a:p>
            <a:pPr algn="l"/>
            <a:r>
              <a:rPr sz="1550" b="1">
                <a:solidFill>
                  <a:srgbClr val="1365A5"/>
                </a:solidFill>
                <a:latin typeface="Bebas Neue"/>
              </a:rPr>
              <a:t>Second, the probability of an output observation oi is dependent only on the state that produced the observation qi, and not on any other states or any other observations:</a:t>
            </a:r>
          </a:p>
        </p:txBody>
      </p:sp>
      <p:sp>
        <p:nvSpPr>
          <p:cNvPr id="17" name="Rounded Rectangle 16"/>
          <p:cNvSpPr/>
          <p:nvPr/>
        </p:nvSpPr>
        <p:spPr>
          <a:xfrm>
            <a:off x="457200" y="4379061"/>
            <a:ext cx="11274552" cy="906170"/>
          </a:xfrm>
          <a:prstGeom prst="roundRect">
            <a:avLst>
              <a:gd name="adj" fmla="val 155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460354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4452213"/>
            <a:ext cx="10213848" cy="759866"/>
          </a:xfrm>
          <a:prstGeom prst="rect">
            <a:avLst/>
          </a:prstGeom>
          <a:noFill/>
        </p:spPr>
        <p:txBody>
          <a:bodyPr wrap="square" anchor="ctr" lIns="0" tIns="0" rIns="0" bIns="0">
            <a:spAutoFit/>
          </a:bodyPr>
          <a:lstStyle/>
          <a:p>
            <a:pPr algn="l"/>
            <a:r>
              <a:rPr sz="1550" b="1">
                <a:solidFill>
                  <a:srgbClr val="1365A5"/>
                </a:solidFill>
                <a:latin typeface="Bebas Neue"/>
              </a:rPr>
              <a:t>Output Independence: P(oi|q1...qi,...,qT,o1,...,oi,...,oT) = P(oi|qi)</a:t>
            </a:r>
          </a:p>
        </p:txBody>
      </p:sp>
      <p:sp>
        <p:nvSpPr>
          <p:cNvPr id="20" name="Rounded Rectangle 1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Markov Assumption — The probability of a state depends only on the immediately preceding state.  ·  Output Independence — The probability of an observation depends only on its corresponding state.</a:t>
            </a:r>
          </a:p>
        </p:txBody>
      </p:sp>
      <p:sp>
        <p:nvSpPr>
          <p:cNvPr id="21" name="Rectangle 2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50"/>
                                        <p:tgtEl>
                                          <p:spTgt spid="17"/>
                                        </p:tgtEl>
                                      </p:cBhvr>
                                    </p:animEffect>
                                  </p:childTnLst>
                                </p:cTn>
                              </p:par>
                              <p:par>
                                <p:cTn id="28" presetID="10" presetClass="entr" presetSubtype="0" fill="hold"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50"/>
                                        <p:tgtEl>
                                          <p:spTgt spid="18"/>
                                        </p:tgtEl>
                                      </p:cBhvr>
                                    </p:animEffect>
                                  </p:childTnLst>
                                </p:cTn>
                              </p:par>
                              <p:par>
                                <p:cTn id="31" presetID="10"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5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99 / 229</a:t>
            </a:r>
          </a:p>
        </p:txBody>
      </p:sp>
      <p:sp>
        <p:nvSpPr>
          <p:cNvPr id="7" name="Rounded Rectangle 6"/>
          <p:cNvSpPr/>
          <p:nvPr/>
        </p:nvSpPr>
        <p:spPr>
          <a:xfrm>
            <a:off x="2390573" y="1298448"/>
            <a:ext cx="740780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55165" y="1463040"/>
            <a:ext cx="7078621" cy="4773168"/>
          </a:xfrm>
          <a:prstGeom prst="rect">
            <a:avLst/>
          </a:prstGeom>
        </p:spPr>
      </p:pic>
    </p:spTree>
  </p:cSld>
  <p:clrMapOvr>
    <a:masterClrMapping/>
  </p:clrMapOvr>
  <p:transition spd="med">
    <p:cover dir="r"/>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100 / 229</a:t>
            </a:r>
          </a:p>
        </p:txBody>
      </p:sp>
      <p:sp>
        <p:nvSpPr>
          <p:cNvPr id="7" name="Rounded Rectangle 6"/>
          <p:cNvSpPr/>
          <p:nvPr/>
        </p:nvSpPr>
        <p:spPr>
          <a:xfrm>
            <a:off x="457199" y="1543883"/>
            <a:ext cx="11274552" cy="4611481"/>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21791" y="1708475"/>
            <a:ext cx="10945368" cy="4282297"/>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101 / 229</a:t>
            </a:r>
          </a:p>
        </p:txBody>
      </p:sp>
      <p:sp>
        <p:nvSpPr>
          <p:cNvPr id="7" name="Rounded Rectangle 6"/>
          <p:cNvSpPr/>
          <p:nvPr/>
        </p:nvSpPr>
        <p:spPr>
          <a:xfrm>
            <a:off x="457199" y="1502064"/>
            <a:ext cx="11274552" cy="4695118"/>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21791" y="1666656"/>
            <a:ext cx="10945368" cy="436593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102 / 229</a:t>
            </a:r>
          </a:p>
        </p:txBody>
      </p:sp>
      <p:sp>
        <p:nvSpPr>
          <p:cNvPr id="7" name="Rounded Rectangle 6"/>
          <p:cNvSpPr/>
          <p:nvPr/>
        </p:nvSpPr>
        <p:spPr>
          <a:xfrm>
            <a:off x="2879335" y="1298448"/>
            <a:ext cx="643028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043927" y="1463040"/>
            <a:ext cx="6101097" cy="4773168"/>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103 / 229</a:t>
            </a:r>
          </a:p>
        </p:txBody>
      </p:sp>
      <p:sp>
        <p:nvSpPr>
          <p:cNvPr id="7" name="Rounded Rectangle 6"/>
          <p:cNvSpPr/>
          <p:nvPr/>
        </p:nvSpPr>
        <p:spPr>
          <a:xfrm>
            <a:off x="2889787" y="1298448"/>
            <a:ext cx="640937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054379" y="1463040"/>
            <a:ext cx="6080192" cy="4773168"/>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50" b="1">
                <a:solidFill>
                  <a:srgbClr val="FFFFFF"/>
                </a:solidFill>
              </a:defRPr>
            </a:pPr>
            <a:r>
              <a:rPr>
                <a:latin typeface="Bebas Neue"/>
              </a:rPr>
              <a:t>Problem in which matrix is GIVEN/ not training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104 / 229</a:t>
            </a:r>
          </a:p>
        </p:txBody>
      </p:sp>
      <p:sp>
        <p:nvSpPr>
          <p:cNvPr id="7" name="Rounded Rectangle 6"/>
          <p:cNvSpPr/>
          <p:nvPr/>
        </p:nvSpPr>
        <p:spPr>
          <a:xfrm>
            <a:off x="2599675" y="1298448"/>
            <a:ext cx="698960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64267" y="1463040"/>
            <a:ext cx="6660417" cy="4773168"/>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Viterbi algorithm finds the optimal sequence of hidden states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21297"/>
            <a:ext cx="82296" cy="4675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4721"/>
            <a:ext cx="7087166" cy="485820"/>
          </a:xfrm>
          <a:prstGeom prst="rect">
            <a:avLst/>
          </a:prstGeom>
          <a:noFill/>
        </p:spPr>
        <p:txBody>
          <a:bodyPr wrap="square" anchor="t" lIns="0" tIns="0" rIns="0" bIns="0">
            <a:spAutoFit/>
          </a:bodyPr>
          <a:lstStyle/>
          <a:p>
            <a:pPr algn="l"/>
            <a:r>
              <a:rPr sz="1520" b="1">
                <a:solidFill>
                  <a:srgbClr val="1365A5"/>
                </a:solidFill>
                <a:latin typeface="Bebas Neue"/>
              </a:rPr>
              <a:t>function VITERBI(observations of len T, state-graph of len N) returns best-path.</a:t>
            </a:r>
          </a:p>
        </p:txBody>
      </p:sp>
      <p:sp>
        <p:nvSpPr>
          <p:cNvPr id="10" name="TextBox 9"/>
          <p:cNvSpPr txBox="1"/>
          <p:nvPr/>
        </p:nvSpPr>
        <p:spPr>
          <a:xfrm>
            <a:off x="720547" y="2062566"/>
            <a:ext cx="7087166" cy="176022"/>
          </a:xfrm>
          <a:prstGeom prst="rect">
            <a:avLst/>
          </a:prstGeom>
          <a:noFill/>
        </p:spPr>
        <p:txBody>
          <a:bodyPr wrap="square" lIns="0" rIns="0" tIns="0" bIns="0">
            <a:spAutoFit/>
          </a:bodyPr>
          <a:lstStyle/>
          <a:p>
            <a:r>
              <a:rPr sz="1100">
                <a:solidFill>
                  <a:srgbClr val="111111"/>
                </a:solidFill>
                <a:latin typeface="Inter"/>
              </a:rPr>
              <a:t>for each state s from 1 to N do sinitialization step.</a:t>
            </a:r>
          </a:p>
        </p:txBody>
      </p:sp>
      <p:sp>
        <p:nvSpPr>
          <p:cNvPr id="11" name="TextBox 10"/>
          <p:cNvSpPr txBox="1"/>
          <p:nvPr/>
        </p:nvSpPr>
        <p:spPr>
          <a:xfrm>
            <a:off x="720547" y="2366604"/>
            <a:ext cx="7087166" cy="352044"/>
          </a:xfrm>
          <a:prstGeom prst="rect">
            <a:avLst/>
          </a:prstGeom>
          <a:noFill/>
        </p:spPr>
        <p:txBody>
          <a:bodyPr wrap="square" lIns="0" rIns="0" tIns="0" bIns="0">
            <a:spAutoFit/>
          </a:bodyPr>
          <a:lstStyle/>
          <a:p>
            <a:r>
              <a:rPr sz="1100">
                <a:solidFill>
                  <a:srgbClr val="111111"/>
                </a:solidFill>
                <a:latin typeface="Inter"/>
              </a:rPr>
              <a:t>backpointer[s,1]— 0 for each time step ¢ from 2 to T do srecursion step for each state s from lto Ndo viterbi[s.t]— max viterbils’ * ay; *.</a:t>
            </a:r>
          </a:p>
        </p:txBody>
      </p:sp>
      <p:sp>
        <p:nvSpPr>
          <p:cNvPr id="12" name="TextBox 11"/>
          <p:cNvSpPr txBox="1"/>
          <p:nvPr/>
        </p:nvSpPr>
        <p:spPr>
          <a:xfrm>
            <a:off x="720547" y="2846664"/>
            <a:ext cx="7087166" cy="176022"/>
          </a:xfrm>
          <a:prstGeom prst="rect">
            <a:avLst/>
          </a:prstGeom>
          <a:noFill/>
        </p:spPr>
        <p:txBody>
          <a:bodyPr wrap="square" lIns="0" rIns="0" tIns="0" bIns="0">
            <a:spAutoFit/>
          </a:bodyPr>
          <a:lstStyle/>
          <a:p>
            <a:r>
              <a:rPr sz="1100">
                <a:solidFill>
                  <a:srgbClr val="111111"/>
                </a:solidFill>
                <a:latin typeface="Inter"/>
              </a:rPr>
              <a:t>backpointer{s,t]—argmax * ays.</a:t>
            </a:r>
          </a:p>
        </p:txBody>
      </p:sp>
      <p:sp>
        <p:nvSpPr>
          <p:cNvPr id="13" name="TextBox 12"/>
          <p:cNvSpPr txBox="1"/>
          <p:nvPr/>
        </p:nvSpPr>
        <p:spPr>
          <a:xfrm>
            <a:off x="720547" y="3150702"/>
            <a:ext cx="7087166" cy="176022"/>
          </a:xfrm>
          <a:prstGeom prst="rect">
            <a:avLst/>
          </a:prstGeom>
          <a:noFill/>
        </p:spPr>
        <p:txBody>
          <a:bodyPr wrap="square" lIns="0" rIns="0" tIns="0" bIns="0">
            <a:spAutoFit/>
          </a:bodyPr>
          <a:lstStyle/>
          <a:p>
            <a:r>
              <a:rPr sz="1100">
                <a:solidFill>
                  <a:srgbClr val="111111"/>
                </a:solidFill>
                <a:latin typeface="Inter"/>
              </a:rPr>
              <a:t>viterbi[gr,T]— max *; termination step.</a:t>
            </a:r>
          </a:p>
        </p:txBody>
      </p:sp>
      <p:sp>
        <p:nvSpPr>
          <p:cNvPr id="14" name="TextBox 13"/>
          <p:cNvSpPr txBox="1"/>
          <p:nvPr/>
        </p:nvSpPr>
        <p:spPr>
          <a:xfrm>
            <a:off x="720547" y="3454740"/>
            <a:ext cx="7087166" cy="176022"/>
          </a:xfrm>
          <a:prstGeom prst="rect">
            <a:avLst/>
          </a:prstGeom>
          <a:noFill/>
        </p:spPr>
        <p:txBody>
          <a:bodyPr wrap="square" lIns="0" rIns="0" tIns="0" bIns="0">
            <a:spAutoFit/>
          </a:bodyPr>
          <a:lstStyle/>
          <a:p>
            <a:r>
              <a:rPr sz="1100">
                <a:solidFill>
                  <a:srgbClr val="111111"/>
                </a:solidFill>
                <a:latin typeface="Inter"/>
              </a:rPr>
              <a:t>backpointer[qr,T]— argmax * ds.g;; termination step.</a:t>
            </a:r>
          </a:p>
        </p:txBody>
      </p:sp>
      <p:sp>
        <p:nvSpPr>
          <p:cNvPr id="15" name="TextBox 14"/>
          <p:cNvSpPr txBox="1"/>
          <p:nvPr/>
        </p:nvSpPr>
        <p:spPr>
          <a:xfrm>
            <a:off x="720547" y="3758778"/>
            <a:ext cx="7087166" cy="352044"/>
          </a:xfrm>
          <a:prstGeom prst="rect">
            <a:avLst/>
          </a:prstGeom>
          <a:noFill/>
        </p:spPr>
        <p:txBody>
          <a:bodyPr wrap="square" lIns="0" rIns="0" tIns="0" bIns="0">
            <a:spAutoFit/>
          </a:bodyPr>
          <a:lstStyle/>
          <a:p>
            <a:r>
              <a:rPr sz="1100">
                <a:solidFill>
                  <a:srgbClr val="111111"/>
                </a:solidFill>
                <a:latin typeface="Inter"/>
              </a:rPr>
              <a:t>return the backtrace path by following backpointers to states back in time from backpointer[qr,T].</a:t>
            </a:r>
          </a:p>
        </p:txBody>
      </p:sp>
      <p:sp>
        <p:nvSpPr>
          <p:cNvPr id="16" name="TextBox 15"/>
          <p:cNvSpPr txBox="1"/>
          <p:nvPr/>
        </p:nvSpPr>
        <p:spPr>
          <a:xfrm>
            <a:off x="720547" y="4238838"/>
            <a:ext cx="7087166" cy="176022"/>
          </a:xfrm>
          <a:prstGeom prst="rect">
            <a:avLst/>
          </a:prstGeom>
          <a:noFill/>
        </p:spPr>
        <p:txBody>
          <a:bodyPr wrap="square" lIns="0" rIns="0" tIns="0" bIns="0">
            <a:spAutoFit/>
          </a:bodyPr>
          <a:lstStyle/>
          <a:p>
            <a:r>
              <a:rPr sz="1100">
                <a:solidFill>
                  <a:srgbClr val="111111"/>
                </a:solidFill>
                <a:latin typeface="Inter"/>
              </a:rPr>
              <a:t>Viterbi algorithm for finding optimal sequence of hidden states. Given an obser-.</a:t>
            </a:r>
          </a:p>
        </p:txBody>
      </p:sp>
      <p:sp>
        <p:nvSpPr>
          <p:cNvPr id="17" name="TextBox 16"/>
          <p:cNvSpPr txBox="1"/>
          <p:nvPr/>
        </p:nvSpPr>
        <p:spPr>
          <a:xfrm>
            <a:off x="720547" y="4542876"/>
            <a:ext cx="7087166" cy="528066"/>
          </a:xfrm>
          <a:prstGeom prst="rect">
            <a:avLst/>
          </a:prstGeom>
          <a:noFill/>
        </p:spPr>
        <p:txBody>
          <a:bodyPr wrap="square" lIns="0" rIns="0" tIns="0" bIns="0">
            <a:spAutoFit/>
          </a:bodyPr>
          <a:lstStyle/>
          <a:p>
            <a:r>
              <a:rPr sz="1100">
                <a:solidFill>
                  <a:srgbClr val="111111"/>
                </a:solidFill>
                <a:latin typeface="Inter"/>
              </a:rPr>
              <a:t>vation sequence and an HMM A = (4,8), the algorithm returns the state-path through the HMM which assigns maximum likelihood to the observation sequence. Note that states 0 and gp are non-emittine.</a:t>
            </a:r>
          </a:p>
        </p:txBody>
      </p:sp>
      <p:sp>
        <p:nvSpPr>
          <p:cNvPr id="18" name="Rounded Rectangle 17"/>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hmm — Hidden Markov Model  ·  Viterbi algorithm — An algorithm that returns the state-path assigning maximum likelihood to an observation sequence.  ·  Backpointer — A pointer stored during recursion to trace back the optimal path.</a:t>
            </a:r>
          </a:p>
        </p:txBody>
      </p:sp>
      <p:sp>
        <p:nvSpPr>
          <p:cNvPr id="19" name="Rectangle 18"/>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00" b="1">
                <a:solidFill>
                  <a:srgbClr val="FFFFFF"/>
                </a:solidFill>
              </a:defRPr>
            </a:pPr>
            <a:r>
              <a:rPr>
                <a:latin typeface="Bebas Neue"/>
              </a:rPr>
              <a:t>create a path probability matrix viterbi{N+2,T]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106 / 229</a:t>
            </a:r>
          </a:p>
        </p:txBody>
      </p:sp>
      <p:sp>
        <p:nvSpPr>
          <p:cNvPr id="7" name="Rounded Rectangle 6"/>
          <p:cNvSpPr/>
          <p:nvPr/>
        </p:nvSpPr>
        <p:spPr>
          <a:xfrm>
            <a:off x="2462861" y="1298448"/>
            <a:ext cx="726322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627453" y="1463040"/>
            <a:ext cx="6934044" cy="4773168"/>
          </a:xfrm>
          <a:prstGeom prst="rect">
            <a:avLst/>
          </a:prstGeom>
        </p:spPr>
      </p:pic>
    </p:spTree>
  </p:cSld>
  <p:clrMapOvr>
    <a:masterClrMapping/>
  </p:clrMapOvr>
  <p:transition spd="med">
    <p:cover dir="r"/>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00" b="1">
                <a:solidFill>
                  <a:srgbClr val="FFFFFF"/>
                </a:solidFill>
              </a:defRPr>
            </a:pPr>
            <a:r>
              <a:rPr>
                <a:latin typeface="Bebas Neue"/>
              </a:rPr>
              <a:t>create a path probability matrix viterbi{N+2,T]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107 / 229</a:t>
            </a:r>
          </a:p>
        </p:txBody>
      </p:sp>
      <p:sp>
        <p:nvSpPr>
          <p:cNvPr id="7" name="Rounded Rectangle 6"/>
          <p:cNvSpPr/>
          <p:nvPr/>
        </p:nvSpPr>
        <p:spPr>
          <a:xfrm>
            <a:off x="2539632" y="1298448"/>
            <a:ext cx="710968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04224" y="1463040"/>
            <a:ext cx="6780503" cy="4773168"/>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9</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108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“The process of analyzing a sentence to determine its grammatical structure.”?</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Syntactic parsing</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Emission Probability</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Tagging</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Dynamic programming</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600" b="0">
                <a:solidFill>
                  <a:srgbClr val="FFFFFF"/>
                </a:solidFill>
                <a:latin typeface="Inter"/>
              </a:rPr>
              <a:t>Syntactic parsing: The process of analyzing a sentence to determine its grammatical structure.</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00" b="1">
                <a:solidFill>
                  <a:srgbClr val="FFFFFF"/>
                </a:solidFill>
              </a:defRPr>
            </a:pPr>
            <a:r>
              <a:rPr>
                <a:latin typeface="Bebas Neue"/>
              </a:rPr>
              <a:t>create a path probability matrix viterbi{N+2,T]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109 / 229</a:t>
            </a:r>
          </a:p>
        </p:txBody>
      </p:sp>
      <p:sp>
        <p:nvSpPr>
          <p:cNvPr id="7" name="Rounded Rectangle 6"/>
          <p:cNvSpPr/>
          <p:nvPr/>
        </p:nvSpPr>
        <p:spPr>
          <a:xfrm>
            <a:off x="3228585" y="1298448"/>
            <a:ext cx="573178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393177" y="1463040"/>
            <a:ext cx="5402596" cy="4773168"/>
          </a:xfrm>
          <a:prstGeom prst="rect">
            <a:avLst/>
          </a:prstGeom>
        </p:spPr>
      </p:pic>
    </p:spTree>
  </p:cSld>
  <p:clrMapOvr>
    <a:masterClrMapping/>
  </p:clrMapOvr>
  <p:transition spd="med">
    <p:cover dir="r"/>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600" b="1">
                <a:solidFill>
                  <a:srgbClr val="FFFFFF"/>
                </a:solidFill>
              </a:defRPr>
            </a:pPr>
            <a:r>
              <a:rPr>
                <a:latin typeface="Bebas Neue"/>
              </a:rPr>
              <a:t>create a path probability matrix viterbi{N+2,T]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110 / 229</a:t>
            </a:r>
          </a:p>
        </p:txBody>
      </p:sp>
      <p:sp>
        <p:nvSpPr>
          <p:cNvPr id="7" name="Rounded Rectangle 6"/>
          <p:cNvSpPr/>
          <p:nvPr/>
        </p:nvSpPr>
        <p:spPr>
          <a:xfrm>
            <a:off x="1151723" y="1298448"/>
            <a:ext cx="988550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316315" y="1463040"/>
            <a:ext cx="9556321" cy="4773168"/>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Hidden Markov Models require known emission and transition probabilities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111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3184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45227"/>
            <a:ext cx="340156" cy="340156"/>
          </a:xfrm>
          <a:prstGeom prst="rect">
            <a:avLst/>
          </a:prstGeom>
        </p:spPr>
      </p:pic>
      <p:sp>
        <p:nvSpPr>
          <p:cNvPr id="11" name="TextBox 10"/>
          <p:cNvSpPr txBox="1"/>
          <p:nvPr/>
        </p:nvSpPr>
        <p:spPr>
          <a:xfrm>
            <a:off x="1408175" y="1371600"/>
            <a:ext cx="2689250" cy="687411"/>
          </a:xfrm>
          <a:prstGeom prst="rect">
            <a:avLst/>
          </a:prstGeom>
          <a:noFill/>
        </p:spPr>
        <p:txBody>
          <a:bodyPr wrap="square" anchor="ctr" lIns="0" tIns="0" rIns="0" bIns="0">
            <a:spAutoFit/>
          </a:bodyPr>
          <a:lstStyle/>
          <a:p>
            <a:pPr algn="l"/>
            <a:r>
              <a:rPr sz="1470" b="0">
                <a:solidFill>
                  <a:srgbClr val="111111"/>
                </a:solidFill>
                <a:latin typeface="Inter"/>
              </a:rPr>
              <a:t>Limitations of HMM POS Tagging</a:t>
            </a:r>
          </a:p>
        </p:txBody>
      </p:sp>
      <p:sp>
        <p:nvSpPr>
          <p:cNvPr id="12" name="Rounded Rectangle 11"/>
          <p:cNvSpPr/>
          <p:nvPr/>
        </p:nvSpPr>
        <p:spPr>
          <a:xfrm>
            <a:off x="4499762" y="1298448"/>
            <a:ext cx="384139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3184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45227"/>
            <a:ext cx="340156" cy="340156"/>
          </a:xfrm>
          <a:prstGeom prst="rect">
            <a:avLst/>
          </a:prstGeom>
        </p:spPr>
      </p:pic>
      <p:sp>
        <p:nvSpPr>
          <p:cNvPr id="15" name="TextBox 14"/>
          <p:cNvSpPr txBox="1"/>
          <p:nvPr/>
        </p:nvSpPr>
        <p:spPr>
          <a:xfrm>
            <a:off x="5450738" y="1371600"/>
            <a:ext cx="2689250" cy="687411"/>
          </a:xfrm>
          <a:prstGeom prst="rect">
            <a:avLst/>
          </a:prstGeom>
          <a:noFill/>
        </p:spPr>
        <p:txBody>
          <a:bodyPr wrap="square" anchor="ctr" lIns="0" tIns="0" rIns="0" bIns="0">
            <a:spAutoFit/>
          </a:bodyPr>
          <a:lstStyle/>
          <a:p>
            <a:pPr algn="l"/>
            <a:r>
              <a:rPr sz="1260" b="1">
                <a:solidFill>
                  <a:srgbClr val="1365A5"/>
                </a:solidFill>
                <a:latin typeface="Bebas Neue"/>
              </a:rPr>
              <a:t>Emission probabilities</a:t>
            </a:r>
          </a:p>
          <a:p>
            <a:pPr algn="l">
              <a:spcBef>
                <a:spcPts val="500"/>
              </a:spcBef>
            </a:pPr>
            <a:r>
              <a:rPr sz="1050" b="0">
                <a:solidFill>
                  <a:srgbClr val="111111"/>
                </a:solidFill>
                <a:latin typeface="Inter"/>
              </a:rPr>
              <a:t>The emission probabilities and state transition probabilities of the corpus are</a:t>
            </a:r>
          </a:p>
        </p:txBody>
      </p:sp>
      <p:sp>
        <p:nvSpPr>
          <p:cNvPr id="16" name="Rounded Rectangle 15"/>
          <p:cNvSpPr/>
          <p:nvPr/>
        </p:nvSpPr>
        <p:spPr>
          <a:xfrm>
            <a:off x="457200" y="2333331"/>
            <a:ext cx="384139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46672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580111"/>
            <a:ext cx="340156" cy="340156"/>
          </a:xfrm>
          <a:prstGeom prst="rect">
            <a:avLst/>
          </a:prstGeom>
        </p:spPr>
      </p:pic>
      <p:sp>
        <p:nvSpPr>
          <p:cNvPr id="19" name="TextBox 18"/>
          <p:cNvSpPr txBox="1"/>
          <p:nvPr/>
        </p:nvSpPr>
        <p:spPr>
          <a:xfrm>
            <a:off x="1408175" y="2406483"/>
            <a:ext cx="2689250" cy="687411"/>
          </a:xfrm>
          <a:prstGeom prst="rect">
            <a:avLst/>
          </a:prstGeom>
          <a:noFill/>
        </p:spPr>
        <p:txBody>
          <a:bodyPr wrap="square" anchor="ctr" lIns="0" tIns="0" rIns="0" bIns="0">
            <a:spAutoFit/>
          </a:bodyPr>
          <a:lstStyle/>
          <a:p>
            <a:pPr algn="l"/>
            <a:r>
              <a:rPr sz="1470" b="0">
                <a:solidFill>
                  <a:srgbClr val="111111"/>
                </a:solidFill>
                <a:latin typeface="Inter"/>
              </a:rPr>
              <a:t>explicitly used in the HMM model</a:t>
            </a:r>
          </a:p>
        </p:txBody>
      </p:sp>
      <p:sp>
        <p:nvSpPr>
          <p:cNvPr id="20" name="Rounded Rectangle 19"/>
          <p:cNvSpPr/>
          <p:nvPr/>
        </p:nvSpPr>
        <p:spPr>
          <a:xfrm>
            <a:off x="4499762" y="2333331"/>
            <a:ext cx="384139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46672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580111"/>
            <a:ext cx="340156" cy="340156"/>
          </a:xfrm>
          <a:prstGeom prst="rect">
            <a:avLst/>
          </a:prstGeom>
        </p:spPr>
      </p:pic>
      <p:sp>
        <p:nvSpPr>
          <p:cNvPr id="23" name="TextBox 22"/>
          <p:cNvSpPr txBox="1"/>
          <p:nvPr/>
        </p:nvSpPr>
        <p:spPr>
          <a:xfrm>
            <a:off x="5450738" y="2406483"/>
            <a:ext cx="2689250" cy="687411"/>
          </a:xfrm>
          <a:prstGeom prst="rect">
            <a:avLst/>
          </a:prstGeom>
          <a:noFill/>
        </p:spPr>
        <p:txBody>
          <a:bodyPr wrap="square" anchor="ctr" lIns="0" tIns="0" rIns="0" bIns="0">
            <a:spAutoFit/>
          </a:bodyPr>
          <a:lstStyle/>
          <a:p>
            <a:pPr algn="l"/>
            <a:r>
              <a:rPr sz="1260" b="1">
                <a:solidFill>
                  <a:srgbClr val="1365A5"/>
                </a:solidFill>
                <a:latin typeface="Bebas Neue"/>
              </a:rPr>
              <a:t>Is, it worked</a:t>
            </a:r>
          </a:p>
          <a:p>
            <a:pPr algn="l">
              <a:spcBef>
                <a:spcPts val="500"/>
              </a:spcBef>
            </a:pPr>
            <a:r>
              <a:rPr sz="1050" b="0">
                <a:solidFill>
                  <a:srgbClr val="111111"/>
                </a:solidFill>
                <a:latin typeface="Inter"/>
              </a:rPr>
              <a:t>That is, it worked with a dataset that was labelled (i.e. whose emission and state transition probabilities known)</a:t>
            </a:r>
          </a:p>
        </p:txBody>
      </p:sp>
      <p:sp>
        <p:nvSpPr>
          <p:cNvPr id="24" name="Rounded Rectangle 23"/>
          <p:cNvSpPr/>
          <p:nvPr/>
        </p:nvSpPr>
        <p:spPr>
          <a:xfrm>
            <a:off x="457200" y="3368215"/>
            <a:ext cx="384139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50160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614995"/>
            <a:ext cx="340156" cy="340156"/>
          </a:xfrm>
          <a:prstGeom prst="rect">
            <a:avLst/>
          </a:prstGeom>
        </p:spPr>
      </p:pic>
      <p:sp>
        <p:nvSpPr>
          <p:cNvPr id="27" name="TextBox 26"/>
          <p:cNvSpPr txBox="1"/>
          <p:nvPr/>
        </p:nvSpPr>
        <p:spPr>
          <a:xfrm>
            <a:off x="1408175" y="3441367"/>
            <a:ext cx="2689250" cy="687411"/>
          </a:xfrm>
          <a:prstGeom prst="rect">
            <a:avLst/>
          </a:prstGeom>
          <a:noFill/>
        </p:spPr>
        <p:txBody>
          <a:bodyPr wrap="square" anchor="ctr" lIns="0" tIns="0" rIns="0" bIns="0">
            <a:spAutoFit/>
          </a:bodyPr>
          <a:lstStyle/>
          <a:p>
            <a:pPr algn="l"/>
            <a:r>
              <a:rPr sz="1400" b="0">
                <a:solidFill>
                  <a:srgbClr val="111111"/>
                </a:solidFill>
                <a:latin typeface="Inter"/>
              </a:rPr>
              <a:t>Baum Welch Algorithm is one way to tackle the challenge of working</a:t>
            </a:r>
          </a:p>
        </p:txBody>
      </p:sp>
      <p:sp>
        <p:nvSpPr>
          <p:cNvPr id="28" name="Rounded Rectangle 27"/>
          <p:cNvSpPr/>
          <p:nvPr/>
        </p:nvSpPr>
        <p:spPr>
          <a:xfrm>
            <a:off x="4499762" y="3368215"/>
            <a:ext cx="384139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350160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3614995"/>
            <a:ext cx="340156" cy="340156"/>
          </a:xfrm>
          <a:prstGeom prst="rect">
            <a:avLst/>
          </a:prstGeom>
        </p:spPr>
      </p:pic>
      <p:sp>
        <p:nvSpPr>
          <p:cNvPr id="31" name="TextBox 30"/>
          <p:cNvSpPr txBox="1"/>
          <p:nvPr/>
        </p:nvSpPr>
        <p:spPr>
          <a:xfrm>
            <a:off x="5450738" y="3441367"/>
            <a:ext cx="2689250" cy="687411"/>
          </a:xfrm>
          <a:prstGeom prst="rect">
            <a:avLst/>
          </a:prstGeom>
          <a:noFill/>
        </p:spPr>
        <p:txBody>
          <a:bodyPr wrap="square" anchor="ctr" lIns="0" tIns="0" rIns="0" bIns="0">
            <a:spAutoFit/>
          </a:bodyPr>
          <a:lstStyle/>
          <a:p>
            <a:pPr algn="l"/>
            <a:r>
              <a:rPr sz="1470" b="0">
                <a:solidFill>
                  <a:srgbClr val="111111"/>
                </a:solidFill>
                <a:latin typeface="Inter"/>
              </a:rPr>
              <a:t>HMM POS tagging for unlabeled data sets</a:t>
            </a:r>
          </a:p>
        </p:txBody>
      </p:sp>
      <p:sp>
        <p:nvSpPr>
          <p:cNvPr id="32" name="Rounded Rectangle 31"/>
          <p:cNvSpPr/>
          <p:nvPr/>
        </p:nvSpPr>
        <p:spPr>
          <a:xfrm>
            <a:off x="457200" y="4403099"/>
            <a:ext cx="7883956"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The EM algorithm, which uses a forward and backward approach to get the maximum likelihood estimate of the parameters of a hidden markov model.</a:t>
            </a:r>
          </a:p>
        </p:txBody>
      </p:sp>
      <p:sp>
        <p:nvSpPr>
          <p:cNvPr id="35" name="Rounded Rectangle 3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pos — Parts of Speech Tagging  ·  Baum Welch Algorithm — An EM algorithm used to estimate parameters of a hidden Markov model for unlabeled data.  ·  Emission probability — The probability of generating a particular observation from a given state.</a:t>
            </a:r>
          </a:p>
        </p:txBody>
      </p:sp>
      <p:sp>
        <p:nvSpPr>
          <p:cNvPr id="36" name="Rectangle 3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Unknown words at runtime prevent standard Viterbi decoding</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112 / 229</a:t>
            </a:r>
          </a:p>
        </p:txBody>
      </p:sp>
      <p:sp>
        <p:nvSpPr>
          <p:cNvPr id="8" name="Rectangle 7"/>
          <p:cNvSpPr/>
          <p:nvPr/>
        </p:nvSpPr>
        <p:spPr>
          <a:xfrm>
            <a:off x="457200" y="1325880"/>
            <a:ext cx="73152" cy="956056"/>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1047496"/>
          </a:xfrm>
          <a:prstGeom prst="rect">
            <a:avLst/>
          </a:prstGeom>
          <a:noFill/>
        </p:spPr>
        <p:txBody>
          <a:bodyPr wrap="square" anchor="ctr" lIns="0" tIns="0" rIns="0" bIns="0">
            <a:spAutoFit/>
          </a:bodyPr>
          <a:lstStyle/>
          <a:p>
            <a:pPr algn="l"/>
            <a:r>
              <a:rPr sz="2400" b="1">
                <a:solidFill>
                  <a:srgbClr val="1365A5"/>
                </a:solidFill>
                <a:latin typeface="Bebas Neue"/>
              </a:rPr>
              <a:t>1) Unknown Words</a:t>
            </a:r>
          </a:p>
          <a:p>
            <a:pPr algn="l">
              <a:spcBef>
                <a:spcPts val="400"/>
              </a:spcBef>
            </a:pPr>
            <a:r>
              <a:rPr sz="1400" b="0">
                <a:solidFill>
                  <a:srgbClr val="111111"/>
                </a:solidFill>
                <a:latin typeface="Inter"/>
              </a:rPr>
              <a:t>We might get some unknown words at runtime that aren't in the corpus.</a:t>
            </a:r>
          </a:p>
          <a:p>
            <a:pPr algn="l">
              <a:spcBef>
                <a:spcPts val="400"/>
              </a:spcBef>
            </a:pPr>
            <a:r>
              <a:rPr sz="1400" b="0">
                <a:solidFill>
                  <a:srgbClr val="111111"/>
                </a:solidFill>
                <a:latin typeface="Inter"/>
              </a:rPr>
              <a:t>If the word has the suffix 'ed,' it could be past tense or past participle.</a:t>
            </a:r>
          </a:p>
        </p:txBody>
      </p:sp>
      <p:sp>
        <p:nvSpPr>
          <p:cNvPr id="10" name="Rounded Rectangle 9"/>
          <p:cNvSpPr/>
          <p:nvPr/>
        </p:nvSpPr>
        <p:spPr>
          <a:xfrm>
            <a:off x="457200" y="2547112"/>
            <a:ext cx="11274552" cy="1129770"/>
          </a:xfrm>
          <a:prstGeom prst="roundRect">
            <a:avLst>
              <a:gd name="adj" fmla="val 12464"/>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711704"/>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708046"/>
            <a:ext cx="10872216" cy="807902"/>
          </a:xfrm>
          <a:prstGeom prst="rect">
            <a:avLst/>
          </a:prstGeom>
          <a:noFill/>
        </p:spPr>
        <p:txBody>
          <a:bodyPr wrap="square" anchor="t" lIns="0" tIns="0" rIns="0" bIns="0">
            <a:spAutoFit/>
          </a:bodyPr>
          <a:lstStyle/>
          <a:p>
            <a:pPr algn="l"/>
            <a:r>
              <a:rPr sz="1440" b="1">
                <a:solidFill>
                  <a:srgbClr val="1365A5"/>
                </a:solidFill>
                <a:latin typeface="Bebas Neue"/>
              </a:rPr>
              <a:t>Asaresult, Viterbi decoding is not possible.</a:t>
            </a:r>
          </a:p>
          <a:p>
            <a:pPr algn="l" marL="512064" indent="-219456" lvl="1">
              <a:spcBef>
                <a:spcPts val="300"/>
              </a:spcBef>
              <a:buClr>
                <a:srgbClr val="F76945"/>
              </a:buClr>
              <a:buFont typeface="Arial"/>
              <a:buChar char="–"/>
            </a:pPr>
            <a:r>
              <a:rPr sz="1030" b="0">
                <a:solidFill>
                  <a:srgbClr val="555555"/>
                </a:solidFill>
                <a:latin typeface="Inter"/>
              </a:rPr>
              <a:t>use morphological signals to determine whether a word is a proper noun if</a:t>
            </a:r>
          </a:p>
          <a:p>
            <a:pPr algn="l" marL="256032" indent="-256032" lvl="0">
              <a:spcBef>
                <a:spcPts val="700"/>
              </a:spcBef>
              <a:buClr>
                <a:srgbClr val="F76945"/>
              </a:buClr>
              <a:buFont typeface="Arial"/>
              <a:buChar char="•"/>
            </a:pPr>
            <a:r>
              <a:rPr sz="1150" b="0">
                <a:solidFill>
                  <a:srgbClr val="111111"/>
                </a:solidFill>
                <a:latin typeface="Inter"/>
              </a:rPr>
              <a:t>the first character is capital.</a:t>
            </a:r>
          </a:p>
        </p:txBody>
      </p:sp>
      <p:sp>
        <p:nvSpPr>
          <p:cNvPr id="13" name="Rounded Rectangle 12"/>
          <p:cNvSpPr/>
          <p:nvPr/>
        </p:nvSpPr>
        <p:spPr>
          <a:xfrm>
            <a:off x="457200" y="3878050"/>
            <a:ext cx="11274552" cy="1407181"/>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78050"/>
            <a:ext cx="73152" cy="1407181"/>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3951202"/>
            <a:ext cx="10879531" cy="1260877"/>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When encountering words not present in the training corpus, the model lacks emission probabilities. Morphological signals like capitalization or suffixes help address this limitation. For example, a capitalized unknown word is guessed to be a proper noun.</a:t>
            </a:r>
          </a:p>
          <a:p>
            <a:pPr algn="l">
              <a:spcBef>
                <a:spcPts val="300"/>
              </a:spcBef>
            </a:pPr>
            <a:r>
              <a:rPr sz="1400" b="0">
                <a:solidFill>
                  <a:srgbClr val="111111"/>
                </a:solidFill>
                <a:latin typeface="Inter"/>
              </a:rPr>
              <a:t>Issues of HUM That word has no emission probability</a:t>
            </a:r>
          </a:p>
        </p:txBody>
      </p:sp>
      <p:sp>
        <p:nvSpPr>
          <p:cNvPr id="16" name="Rounded Rectangle 1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Unknown word — A runtime word missing from the training corpus lacking emission probabilities.  ·  Morphological signal — Word features like prefixes or suffixes used to infer grammatical properties.</a:t>
            </a:r>
          </a:p>
        </p:txBody>
      </p:sp>
      <p:sp>
        <p:nvSpPr>
          <p:cNvPr id="17" name="Rectangle 1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Limited context in first-order Markov models requires higher-order n-grams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113 / 229</a:t>
            </a:r>
          </a:p>
        </p:txBody>
      </p:sp>
      <p:sp>
        <p:nvSpPr>
          <p:cNvPr id="8" name="Rounded Rectangle 7"/>
          <p:cNvSpPr/>
          <p:nvPr/>
        </p:nvSpPr>
        <p:spPr>
          <a:xfrm>
            <a:off x="457200" y="1594542"/>
            <a:ext cx="11274552" cy="1169327"/>
          </a:xfrm>
          <a:prstGeom prst="roundRect">
            <a:avLst>
              <a:gd name="adj" fmla="val 120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950605"/>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667694"/>
            <a:ext cx="10213848" cy="1023023"/>
          </a:xfrm>
          <a:prstGeom prst="rect">
            <a:avLst/>
          </a:prstGeom>
          <a:noFill/>
        </p:spPr>
        <p:txBody>
          <a:bodyPr wrap="square" anchor="ctr" lIns="0" tIns="0" rIns="0" bIns="0">
            <a:spAutoFit/>
          </a:bodyPr>
          <a:lstStyle/>
          <a:p>
            <a:pPr algn="l"/>
            <a:r>
              <a:rPr sz="1950" b="1">
                <a:solidFill>
                  <a:srgbClr val="1365A5"/>
                </a:solidFill>
                <a:latin typeface="Bebas Neue"/>
              </a:rPr>
              <a:t>Identify the Problem</a:t>
            </a:r>
          </a:p>
          <a:p>
            <a:pPr algn="l">
              <a:spcBef>
                <a:spcPts val="300"/>
              </a:spcBef>
            </a:pPr>
            <a:r>
              <a:rPr sz="1700" b="0">
                <a:solidFill>
                  <a:srgbClr val="111111"/>
                </a:solidFill>
                <a:latin typeface="Inter"/>
              </a:rPr>
              <a:t>A standard bigram hidden Markov model (HMM) only considers the immediately preceding tag to predict the current tag.</a:t>
            </a:r>
          </a:p>
        </p:txBody>
      </p:sp>
      <p:sp>
        <p:nvSpPr>
          <p:cNvPr id="11" name="Rounded Rectangle 10"/>
          <p:cNvSpPr/>
          <p:nvPr/>
        </p:nvSpPr>
        <p:spPr>
          <a:xfrm>
            <a:off x="457200" y="2884570"/>
            <a:ext cx="11274552" cy="1169327"/>
          </a:xfrm>
          <a:prstGeom prst="roundRect">
            <a:avLst>
              <a:gd name="adj" fmla="val 120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324063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957722"/>
            <a:ext cx="10213848" cy="1023023"/>
          </a:xfrm>
          <a:prstGeom prst="rect">
            <a:avLst/>
          </a:prstGeom>
          <a:noFill/>
        </p:spPr>
        <p:txBody>
          <a:bodyPr wrap="square" anchor="ctr" lIns="0" tIns="0" rIns="0" bIns="0">
            <a:spAutoFit/>
          </a:bodyPr>
          <a:lstStyle/>
          <a:p>
            <a:pPr algn="l"/>
            <a:r>
              <a:rPr sz="1950" b="1">
                <a:solidFill>
                  <a:srgbClr val="1365A5"/>
                </a:solidFill>
                <a:latin typeface="Bebas Neue"/>
              </a:rPr>
              <a:t>Recognize the Limitation  —  Insufficient context = incorrect POS tagging</a:t>
            </a:r>
          </a:p>
          <a:p>
            <a:pPr algn="l">
              <a:spcBef>
                <a:spcPts val="300"/>
              </a:spcBef>
            </a:pPr>
            <a:r>
              <a:rPr sz="1700" b="0">
                <a:solidFill>
                  <a:srgbClr val="111111"/>
                </a:solidFill>
                <a:latin typeface="Inter"/>
              </a:rPr>
              <a:t>Sometimes looking back at just one word is not enough to understand the correct part of speech for ambiguous words.</a:t>
            </a:r>
          </a:p>
        </p:txBody>
      </p:sp>
      <p:sp>
        <p:nvSpPr>
          <p:cNvPr id="14" name="Rounded Rectangle 13"/>
          <p:cNvSpPr/>
          <p:nvPr/>
        </p:nvSpPr>
        <p:spPr>
          <a:xfrm>
            <a:off x="457200" y="4174597"/>
            <a:ext cx="11274552" cy="1169327"/>
          </a:xfrm>
          <a:prstGeom prst="roundRect">
            <a:avLst>
              <a:gd name="adj" fmla="val 120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453066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4247749"/>
            <a:ext cx="10213848" cy="1023023"/>
          </a:xfrm>
          <a:prstGeom prst="rect">
            <a:avLst/>
          </a:prstGeom>
          <a:noFill/>
        </p:spPr>
        <p:txBody>
          <a:bodyPr wrap="square" anchor="ctr" lIns="0" tIns="0" rIns="0" bIns="0">
            <a:spAutoFit/>
          </a:bodyPr>
          <a:lstStyle/>
          <a:p>
            <a:pPr algn="l"/>
            <a:r>
              <a:rPr sz="1950" b="1">
                <a:solidFill>
                  <a:srgbClr val="1365A5"/>
                </a:solidFill>
                <a:latin typeface="Bebas Neue"/>
              </a:rPr>
              <a:t>Apply the Solution  —  Use higher-order n-grams (e.g., trigrams)</a:t>
            </a:r>
          </a:p>
          <a:p>
            <a:pPr algn="l">
              <a:spcBef>
                <a:spcPts val="300"/>
              </a:spcBef>
            </a:pPr>
            <a:r>
              <a:rPr sz="1700" b="0">
                <a:solidFill>
                  <a:srgbClr val="111111"/>
                </a:solidFill>
                <a:latin typeface="Inter"/>
              </a:rPr>
              <a:t>By looking at two or more previous words, the model gains a wider background context to make the correct POS tag decision.</a:t>
            </a:r>
          </a:p>
        </p:txBody>
      </p:sp>
      <p:sp>
        <p:nvSpPr>
          <p:cNvPr id="17" name="Rounded Rectangle 16"/>
          <p:cNvSpPr/>
          <p:nvPr/>
        </p:nvSpPr>
        <p:spPr>
          <a:xfrm>
            <a:off x="457200" y="5760720"/>
            <a:ext cx="11274552" cy="640080"/>
          </a:xfrm>
          <a:prstGeom prst="roundRect">
            <a:avLst>
              <a:gd name="adj" fmla="val 2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36576" rIns="201168" bIns="36576"/>
          <a:lstStyle/>
          <a:p>
            <a:pPr algn="l"/>
            <a:r>
              <a:rPr sz="1650" b="1">
                <a:solidFill>
                  <a:srgbClr val="FFFFFF"/>
                </a:solidFill>
                <a:latin typeface="Bebas Neue"/>
              </a:rPr>
              <a:t>Answer: Use higher-order n-grams to provide more background context for accurate POS tagging.</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Maximum entropy models address limited features in big sentences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114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3184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45227"/>
            <a:ext cx="340156" cy="340156"/>
          </a:xfrm>
          <a:prstGeom prst="rect">
            <a:avLst/>
          </a:prstGeom>
        </p:spPr>
      </p:pic>
      <p:sp>
        <p:nvSpPr>
          <p:cNvPr id="11" name="TextBox 10"/>
          <p:cNvSpPr txBox="1"/>
          <p:nvPr/>
        </p:nvSpPr>
        <p:spPr>
          <a:xfrm>
            <a:off x="1408175" y="1371600"/>
            <a:ext cx="2622804" cy="687411"/>
          </a:xfrm>
          <a:prstGeom prst="rect">
            <a:avLst/>
          </a:prstGeom>
          <a:noFill/>
        </p:spPr>
        <p:txBody>
          <a:bodyPr wrap="square" anchor="ctr" lIns="0" tIns="0" rIns="0" bIns="0">
            <a:spAutoFit/>
          </a:bodyPr>
          <a:lstStyle/>
          <a:p>
            <a:pPr algn="l"/>
            <a:r>
              <a:rPr sz="1400" b="0">
                <a:solidFill>
                  <a:srgbClr val="111111"/>
                </a:solidFill>
                <a:latin typeface="Inter"/>
              </a:rPr>
              <a:t>4. Word features are limited</a:t>
            </a:r>
          </a:p>
        </p:txBody>
      </p:sp>
      <p:sp>
        <p:nvSpPr>
          <p:cNvPr id="12" name="Rounded Rectangle 11"/>
          <p:cNvSpPr/>
          <p:nvPr/>
        </p:nvSpPr>
        <p:spPr>
          <a:xfrm>
            <a:off x="4433315" y="1298448"/>
            <a:ext cx="3774947"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43184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545227"/>
            <a:ext cx="340156" cy="340156"/>
          </a:xfrm>
          <a:prstGeom prst="rect">
            <a:avLst/>
          </a:prstGeom>
        </p:spPr>
      </p:pic>
      <p:sp>
        <p:nvSpPr>
          <p:cNvPr id="15" name="TextBox 14"/>
          <p:cNvSpPr txBox="1"/>
          <p:nvPr/>
        </p:nvSpPr>
        <p:spPr>
          <a:xfrm>
            <a:off x="5384291" y="1371600"/>
            <a:ext cx="2622804" cy="687411"/>
          </a:xfrm>
          <a:prstGeom prst="rect">
            <a:avLst/>
          </a:prstGeom>
          <a:noFill/>
        </p:spPr>
        <p:txBody>
          <a:bodyPr wrap="square" anchor="ctr" lIns="0" tIns="0" rIns="0" bIns="0">
            <a:spAutoFit/>
          </a:bodyPr>
          <a:lstStyle/>
          <a:p>
            <a:pPr algn="l"/>
            <a:r>
              <a:rPr sz="1400" b="0">
                <a:solidFill>
                  <a:srgbClr val="111111"/>
                </a:solidFill>
                <a:latin typeface="Inter"/>
              </a:rPr>
              <a:t>Use a feature-rich classifier as a solution</a:t>
            </a:r>
          </a:p>
        </p:txBody>
      </p:sp>
      <p:sp>
        <p:nvSpPr>
          <p:cNvPr id="16" name="Rounded Rectangle 15"/>
          <p:cNvSpPr/>
          <p:nvPr/>
        </p:nvSpPr>
        <p:spPr>
          <a:xfrm>
            <a:off x="457200" y="2333331"/>
            <a:ext cx="3774947"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46672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580111"/>
            <a:ext cx="340156" cy="340156"/>
          </a:xfrm>
          <a:prstGeom prst="rect">
            <a:avLst/>
          </a:prstGeom>
        </p:spPr>
      </p:pic>
      <p:sp>
        <p:nvSpPr>
          <p:cNvPr id="19" name="TextBox 18"/>
          <p:cNvSpPr txBox="1"/>
          <p:nvPr/>
        </p:nvSpPr>
        <p:spPr>
          <a:xfrm>
            <a:off x="1408175" y="2406483"/>
            <a:ext cx="2622804" cy="687411"/>
          </a:xfrm>
          <a:prstGeom prst="rect">
            <a:avLst/>
          </a:prstGeom>
          <a:noFill/>
        </p:spPr>
        <p:txBody>
          <a:bodyPr wrap="square" anchor="ctr" lIns="0" tIns="0" rIns="0" bIns="0">
            <a:spAutoFit/>
          </a:bodyPr>
          <a:lstStyle/>
          <a:p>
            <a:pPr algn="l"/>
            <a:r>
              <a:rPr sz="1400" b="0">
                <a:solidFill>
                  <a:srgbClr val="111111"/>
                </a:solidFill>
                <a:latin typeface="Inter"/>
              </a:rPr>
              <a:t>Maximum Entropy Model (MaxEnt)</a:t>
            </a:r>
          </a:p>
        </p:txBody>
      </p:sp>
      <p:sp>
        <p:nvSpPr>
          <p:cNvPr id="20" name="Rounded Rectangle 19"/>
          <p:cNvSpPr/>
          <p:nvPr/>
        </p:nvSpPr>
        <p:spPr>
          <a:xfrm>
            <a:off x="4433315" y="2333331"/>
            <a:ext cx="3774947"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246672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2580111"/>
            <a:ext cx="340156" cy="340156"/>
          </a:xfrm>
          <a:prstGeom prst="rect">
            <a:avLst/>
          </a:prstGeom>
        </p:spPr>
      </p:pic>
      <p:sp>
        <p:nvSpPr>
          <p:cNvPr id="23" name="TextBox 22"/>
          <p:cNvSpPr txBox="1"/>
          <p:nvPr/>
        </p:nvSpPr>
        <p:spPr>
          <a:xfrm>
            <a:off x="5384291" y="2406483"/>
            <a:ext cx="2622804" cy="687411"/>
          </a:xfrm>
          <a:prstGeom prst="rect">
            <a:avLst/>
          </a:prstGeom>
          <a:noFill/>
        </p:spPr>
        <p:txBody>
          <a:bodyPr wrap="square" anchor="ctr" lIns="0" tIns="0" rIns="0" bIns="0">
            <a:spAutoFit/>
          </a:bodyPr>
          <a:lstStyle/>
          <a:p>
            <a:pPr algn="l"/>
            <a:r>
              <a:rPr sz="1400" b="0">
                <a:solidFill>
                  <a:srgbClr val="111111"/>
                </a:solidFill>
                <a:latin typeface="Inter"/>
              </a:rPr>
              <a:t>Standard Markov models have restricted features when handling large sentences</a:t>
            </a:r>
          </a:p>
        </p:txBody>
      </p:sp>
      <p:sp>
        <p:nvSpPr>
          <p:cNvPr id="24" name="Rounded Rectangle 23"/>
          <p:cNvSpPr/>
          <p:nvPr/>
        </p:nvSpPr>
        <p:spPr>
          <a:xfrm>
            <a:off x="457200" y="3368215"/>
            <a:ext cx="7751064" cy="833715"/>
          </a:xfrm>
          <a:prstGeom prst="roundRect">
            <a:avLst>
              <a:gd name="adj" fmla="val 168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50160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614995"/>
            <a:ext cx="340156" cy="340156"/>
          </a:xfrm>
          <a:prstGeom prst="rect">
            <a:avLst/>
          </a:prstGeom>
        </p:spPr>
      </p:pic>
      <p:sp>
        <p:nvSpPr>
          <p:cNvPr id="27" name="TextBox 26"/>
          <p:cNvSpPr txBox="1"/>
          <p:nvPr/>
        </p:nvSpPr>
        <p:spPr>
          <a:xfrm>
            <a:off x="1408175" y="3441367"/>
            <a:ext cx="6598919" cy="687411"/>
          </a:xfrm>
          <a:prstGeom prst="rect">
            <a:avLst/>
          </a:prstGeom>
          <a:noFill/>
        </p:spPr>
        <p:txBody>
          <a:bodyPr wrap="square" anchor="ctr" lIns="0" tIns="0" rIns="0" bIns="0">
            <a:spAutoFit/>
          </a:bodyPr>
          <a:lstStyle/>
          <a:p>
            <a:pPr algn="l"/>
            <a:r>
              <a:rPr sz="1400" b="0">
                <a:solidFill>
                  <a:srgbClr val="111111"/>
                </a:solidFill>
                <a:latin typeface="Inter"/>
              </a:rPr>
              <a:t>Transitioning to a feature-rich classifier like the Maximum Entropy Model provides a better solution for observing word characteristics</a:t>
            </a:r>
          </a:p>
        </p:txBody>
      </p:sp>
      <p:sp>
        <p:nvSpPr>
          <p:cNvPr id="28" name="Rounded Rectangle 27"/>
          <p:cNvSpPr/>
          <p:nvPr/>
        </p:nvSpPr>
        <p:spPr>
          <a:xfrm>
            <a:off x="457200" y="4403099"/>
            <a:ext cx="7751064"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476251"/>
            <a:ext cx="7356043" cy="73582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Example: Using word endings and surrounding context as features in a MaxEnt model.</a:t>
            </a:r>
          </a:p>
        </p:txBody>
      </p:sp>
      <p:sp>
        <p:nvSpPr>
          <p:cNvPr id="31" name="Rounded Rectangle 30"/>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terms:  </a:t>
            </a:r>
            <a:r>
              <a:rPr sz="1300" b="0">
                <a:solidFill>
                  <a:srgbClr val="111111"/>
                </a:solidFill>
                <a:latin typeface="Inter"/>
              </a:rPr>
              <a:t>Feature-rich classifier — A model that incorporates many diverse input properties to make decisions.</a:t>
            </a:r>
          </a:p>
          <a:p>
            <a:pPr algn="l"/>
            <a:r>
              <a:rPr b="1" sz="1300">
                <a:solidFill>
                  <a:srgbClr val="1365A5"/>
                </a:solidFill>
                <a:latin typeface="Bebas Neue"/>
              </a:rPr>
              <a:t>Also in this lecture:  </a:t>
            </a:r>
            <a:r>
              <a:rPr sz="1300" b="0">
                <a:solidFill>
                  <a:srgbClr val="111111"/>
                </a:solidFill>
                <a:latin typeface="Inter"/>
              </a:rPr>
              <a:t>But sometimes this approach comes up with sequences of tags for sentences that are not acceptable according to the grammar rules of a language.</a:t>
            </a:r>
          </a:p>
        </p:txBody>
      </p:sp>
      <p:sp>
        <p:nvSpPr>
          <p:cNvPr id="32" name="Rectangle 31"/>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Maximum Entropy Models combine heterogeneous features in a probabilistic framework</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7"/>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89250" cy="1048512"/>
          </a:xfrm>
          <a:prstGeom prst="rect">
            <a:avLst/>
          </a:prstGeom>
          <a:noFill/>
        </p:spPr>
        <p:txBody>
          <a:bodyPr wrap="square" anchor="ctr" lIns="0" tIns="0" rIns="0" bIns="0">
            <a:spAutoFit/>
          </a:bodyPr>
          <a:lstStyle/>
          <a:p>
            <a:pPr algn="l"/>
            <a:r>
              <a:rPr sz="1300" b="0">
                <a:solidFill>
                  <a:srgbClr val="111111"/>
                </a:solidFill>
                <a:latin typeface="Inter"/>
              </a:rPr>
              <a:t>Maximum Entropy Model (MEM or MaxEnt)</a:t>
            </a:r>
          </a:p>
        </p:txBody>
      </p:sp>
      <p:sp>
        <p:nvSpPr>
          <p:cNvPr id="12" name="Rounded Rectangle 11"/>
          <p:cNvSpPr/>
          <p:nvPr/>
        </p:nvSpPr>
        <p:spPr>
          <a:xfrm>
            <a:off x="4499762" y="1298447"/>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725777"/>
            <a:ext cx="340156" cy="340156"/>
          </a:xfrm>
          <a:prstGeom prst="rect">
            <a:avLst/>
          </a:prstGeom>
        </p:spPr>
      </p:pic>
      <p:sp>
        <p:nvSpPr>
          <p:cNvPr id="15" name="TextBox 14"/>
          <p:cNvSpPr txBox="1"/>
          <p:nvPr/>
        </p:nvSpPr>
        <p:spPr>
          <a:xfrm>
            <a:off x="5450738" y="1371599"/>
            <a:ext cx="2689250" cy="1048512"/>
          </a:xfrm>
          <a:prstGeom prst="rect">
            <a:avLst/>
          </a:prstGeom>
          <a:noFill/>
        </p:spPr>
        <p:txBody>
          <a:bodyPr wrap="square" anchor="ctr" lIns="0" tIns="0" rIns="0" bIns="0">
            <a:spAutoFit/>
          </a:bodyPr>
          <a:lstStyle/>
          <a:p>
            <a:pPr algn="l"/>
            <a:r>
              <a:rPr sz="1560" b="1">
                <a:solidFill>
                  <a:srgbClr val="1365A5"/>
                </a:solidFill>
                <a:latin typeface="Bebas Neue"/>
              </a:rPr>
              <a:t>POS disambiguation, HMM</a:t>
            </a:r>
          </a:p>
          <a:p>
            <a:pPr algn="l">
              <a:spcBef>
                <a:spcPts val="500"/>
              </a:spcBef>
            </a:pPr>
            <a:r>
              <a:rPr sz="1300" b="0">
                <a:solidFill>
                  <a:srgbClr val="111111"/>
                </a:solidFill>
                <a:latin typeface="Inter"/>
              </a:rPr>
              <a:t>For POS disambiguation, HMM POS tagging uses restricted features</a:t>
            </a:r>
          </a:p>
        </p:txBody>
      </p:sp>
      <p:sp>
        <p:nvSpPr>
          <p:cNvPr id="16" name="Rounded Rectangle 15"/>
          <p:cNvSpPr/>
          <p:nvPr/>
        </p:nvSpPr>
        <p:spPr>
          <a:xfrm>
            <a:off x="457200" y="2694431"/>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89250" cy="1048512"/>
          </a:xfrm>
          <a:prstGeom prst="rect">
            <a:avLst/>
          </a:prstGeom>
          <a:noFill/>
        </p:spPr>
        <p:txBody>
          <a:bodyPr wrap="square" anchor="ctr" lIns="0" tIns="0" rIns="0" bIns="0">
            <a:spAutoFit/>
          </a:bodyPr>
          <a:lstStyle/>
          <a:p>
            <a:pPr algn="l"/>
            <a:r>
              <a:rPr sz="1300" b="0">
                <a:solidFill>
                  <a:srgbClr val="111111"/>
                </a:solidFill>
                <a:latin typeface="Inter"/>
              </a:rPr>
              <a:t>Both the tag and the observed word in HMM are dependent on the previous tag</a:t>
            </a:r>
          </a:p>
        </p:txBody>
      </p:sp>
      <p:sp>
        <p:nvSpPr>
          <p:cNvPr id="20" name="Rounded Rectangle 19"/>
          <p:cNvSpPr/>
          <p:nvPr/>
        </p:nvSpPr>
        <p:spPr>
          <a:xfrm>
            <a:off x="4499762" y="2694431"/>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121761"/>
            <a:ext cx="340156" cy="340156"/>
          </a:xfrm>
          <a:prstGeom prst="rect">
            <a:avLst/>
          </a:prstGeom>
        </p:spPr>
      </p:pic>
      <p:sp>
        <p:nvSpPr>
          <p:cNvPr id="23" name="TextBox 22"/>
          <p:cNvSpPr txBox="1"/>
          <p:nvPr/>
        </p:nvSpPr>
        <p:spPr>
          <a:xfrm>
            <a:off x="5450738" y="2767583"/>
            <a:ext cx="2689250" cy="1048512"/>
          </a:xfrm>
          <a:prstGeom prst="rect">
            <a:avLst/>
          </a:prstGeom>
          <a:noFill/>
        </p:spPr>
        <p:txBody>
          <a:bodyPr wrap="square" anchor="ctr" lIns="0" tIns="0" rIns="0" bIns="0">
            <a:spAutoFit/>
          </a:bodyPr>
          <a:lstStyle/>
          <a:p>
            <a:pPr algn="l"/>
            <a:r>
              <a:rPr sz="1560" b="1">
                <a:solidFill>
                  <a:srgbClr val="1365A5"/>
                </a:solidFill>
                <a:latin typeface="Bebas Neue"/>
              </a:rPr>
              <a:t>Establish the POS</a:t>
            </a:r>
          </a:p>
          <a:p>
            <a:pPr algn="l">
              <a:spcBef>
                <a:spcPts val="500"/>
              </a:spcBef>
            </a:pPr>
            <a:r>
              <a:rPr sz="1300" b="0">
                <a:solidFill>
                  <a:srgbClr val="111111"/>
                </a:solidFill>
                <a:latin typeface="Inter"/>
              </a:rPr>
              <a:t>To establish the POS tag for an observed word, further features must</a:t>
            </a:r>
          </a:p>
        </p:txBody>
      </p:sp>
      <p:sp>
        <p:nvSpPr>
          <p:cNvPr id="24" name="Rounded Rectangle 23"/>
          <p:cNvSpPr/>
          <p:nvPr/>
        </p:nvSpPr>
        <p:spPr>
          <a:xfrm>
            <a:off x="457200" y="4090415"/>
            <a:ext cx="7883956"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6731812" cy="1048512"/>
          </a:xfrm>
          <a:prstGeom prst="rect">
            <a:avLst/>
          </a:prstGeom>
          <a:noFill/>
        </p:spPr>
        <p:txBody>
          <a:bodyPr wrap="square" anchor="ctr" lIns="0" tIns="0" rIns="0" bIns="0">
            <a:spAutoFit/>
          </a:bodyPr>
          <a:lstStyle/>
          <a:p>
            <a:pPr algn="l"/>
            <a:r>
              <a:rPr sz="1560" b="1">
                <a:solidFill>
                  <a:srgbClr val="1365A5"/>
                </a:solidFill>
                <a:latin typeface="Bebas Neue"/>
              </a:rPr>
              <a:t>Does POS tagging</a:t>
            </a:r>
          </a:p>
          <a:p>
            <a:pPr algn="l">
              <a:spcBef>
                <a:spcPts val="500"/>
              </a:spcBef>
            </a:pPr>
            <a:r>
              <a:rPr sz="1300" b="0">
                <a:solidFill>
                  <a:srgbClr val="111111"/>
                </a:solidFill>
                <a:latin typeface="Inter"/>
              </a:rPr>
              <a:t>It does POS tagging for a given sentence by combining several heterogeneous features in a probabilistic framework</a:t>
            </a:r>
          </a:p>
        </p:txBody>
      </p:sp>
      <p:sp>
        <p:nvSpPr>
          <p:cNvPr id="28" name="Rounded Rectangle 27"/>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Discriminatory model — A model that performs classification by combining multiple features directly.  ·  POS disambiguation — The process of determining the correct part of speech for a word in context.</a:t>
            </a:r>
          </a:p>
        </p:txBody>
      </p:sp>
      <p:sp>
        <p:nvSpPr>
          <p:cNvPr id="29" name="Rectangle 28"/>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3. For big sentences, go slowly: MaxEnt is based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116 / 229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ectangle 7"/>
          <p:cNvSpPr/>
          <p:nvPr/>
        </p:nvSpPr>
        <p:spPr>
          <a:xfrm>
            <a:off x="457200" y="1525584"/>
            <a:ext cx="82296" cy="71044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89008"/>
            <a:ext cx="6907734" cy="728731"/>
          </a:xfrm>
          <a:prstGeom prst="rect">
            <a:avLst/>
          </a:prstGeom>
          <a:noFill/>
        </p:spPr>
        <p:txBody>
          <a:bodyPr wrap="square" anchor="t" lIns="0" tIns="0" rIns="0" bIns="0">
            <a:spAutoFit/>
          </a:bodyPr>
          <a:lstStyle/>
          <a:p>
            <a:pPr algn="l"/>
            <a:r>
              <a:rPr sz="2280" b="1">
                <a:solidFill>
                  <a:srgbClr val="1365A5"/>
                </a:solidFill>
                <a:latin typeface="Bebas Neue"/>
              </a:rPr>
              <a:t>The MaxEnt is based on the Principle of Maximum Entropy, which states.</a:t>
            </a:r>
          </a:p>
        </p:txBody>
      </p:sp>
      <p:sp>
        <p:nvSpPr>
          <p:cNvPr id="10" name="TextBox 9"/>
          <p:cNvSpPr txBox="1"/>
          <p:nvPr/>
        </p:nvSpPr>
        <p:spPr>
          <a:xfrm>
            <a:off x="720547" y="2409764"/>
            <a:ext cx="6907734" cy="528066"/>
          </a:xfrm>
          <a:prstGeom prst="rect">
            <a:avLst/>
          </a:prstGeom>
          <a:noFill/>
        </p:spPr>
        <p:txBody>
          <a:bodyPr wrap="square" lIns="0" rIns="0" tIns="0" bIns="0">
            <a:spAutoFit/>
          </a:bodyPr>
          <a:lstStyle/>
          <a:p>
            <a:r>
              <a:rPr sz="1650">
                <a:solidFill>
                  <a:srgbClr val="111111"/>
                </a:solidFill>
                <a:latin typeface="Inter"/>
              </a:rPr>
              <a:t>that of all models that match training data, the one with the highest.</a:t>
            </a:r>
          </a:p>
        </p:txBody>
      </p:sp>
      <p:sp>
        <p:nvSpPr>
          <p:cNvPr id="11" name="TextBox 10"/>
          <p:cNvSpPr txBox="1"/>
          <p:nvPr/>
        </p:nvSpPr>
        <p:spPr>
          <a:xfrm>
            <a:off x="720547" y="3065846"/>
            <a:ext cx="6907734" cy="264033"/>
          </a:xfrm>
          <a:prstGeom prst="rect">
            <a:avLst/>
          </a:prstGeom>
          <a:noFill/>
        </p:spPr>
        <p:txBody>
          <a:bodyPr wrap="square" lIns="0" rIns="0" tIns="0" bIns="0">
            <a:spAutoFit/>
          </a:bodyPr>
          <a:lstStyle/>
          <a:p>
            <a:r>
              <a:rPr sz="1650">
                <a:solidFill>
                  <a:srgbClr val="111111"/>
                </a:solidFill>
                <a:latin typeface="Inter"/>
              </a:rPr>
              <a:t>entropy should be chosen.</a:t>
            </a:r>
          </a:p>
        </p:txBody>
      </p:sp>
      <p:sp>
        <p:nvSpPr>
          <p:cNvPr id="12" name="TextBox 11"/>
          <p:cNvSpPr txBox="1"/>
          <p:nvPr/>
        </p:nvSpPr>
        <p:spPr>
          <a:xfrm>
            <a:off x="720547" y="3457895"/>
            <a:ext cx="6907734" cy="528066"/>
          </a:xfrm>
          <a:prstGeom prst="rect">
            <a:avLst/>
          </a:prstGeom>
          <a:noFill/>
        </p:spPr>
        <p:txBody>
          <a:bodyPr wrap="square" lIns="0" rIns="0" tIns="0" bIns="0">
            <a:spAutoFit/>
          </a:bodyPr>
          <a:lstStyle/>
          <a:p>
            <a:r>
              <a:rPr sz="1650">
                <a:solidFill>
                  <a:srgbClr val="111111"/>
                </a:solidFill>
                <a:latin typeface="Inter"/>
              </a:rPr>
              <a:t>When the conditional independence of the features cannot be assumed.</a:t>
            </a:r>
          </a:p>
        </p:txBody>
      </p:sp>
      <p:sp>
        <p:nvSpPr>
          <p:cNvPr id="13" name="TextBox 12"/>
          <p:cNvSpPr txBox="1"/>
          <p:nvPr/>
        </p:nvSpPr>
        <p:spPr>
          <a:xfrm>
            <a:off x="720547" y="4113977"/>
            <a:ext cx="6907734" cy="264033"/>
          </a:xfrm>
          <a:prstGeom prst="rect">
            <a:avLst/>
          </a:prstGeom>
          <a:noFill/>
        </p:spPr>
        <p:txBody>
          <a:bodyPr wrap="square" lIns="0" rIns="0" tIns="0" bIns="0">
            <a:spAutoFit/>
          </a:bodyPr>
          <a:lstStyle/>
          <a:p>
            <a:r>
              <a:rPr sz="1650">
                <a:solidFill>
                  <a:srgbClr val="111111"/>
                </a:solidFill>
                <a:latin typeface="Inter"/>
              </a:rPr>
              <a:t>the Maximum Entropy classifier is utilised.</a:t>
            </a:r>
          </a:p>
        </p:txBody>
      </p:sp>
      <p:sp>
        <p:nvSpPr>
          <p:cNvPr id="14" name="TextBox 13"/>
          <p:cNvSpPr txBox="1"/>
          <p:nvPr/>
        </p:nvSpPr>
        <p:spPr>
          <a:xfrm>
            <a:off x="994867" y="4506026"/>
            <a:ext cx="6633414" cy="264033"/>
          </a:xfrm>
          <a:prstGeom prst="rect">
            <a:avLst/>
          </a:prstGeom>
          <a:noFill/>
        </p:spPr>
        <p:txBody>
          <a:bodyPr wrap="square" lIns="0" rIns="0" tIns="0" bIns="0">
            <a:spAutoFit/>
          </a:bodyPr>
          <a:lstStyle/>
          <a:p>
            <a:r>
              <a:rPr sz="1650">
                <a:solidFill>
                  <a:srgbClr val="111111"/>
                </a:solidFill>
                <a:latin typeface="Inter"/>
              </a:rPr>
              <a:t>This means that features are interdependent.</a:t>
            </a:r>
          </a:p>
        </p:txBody>
      </p:sp>
      <p:sp>
        <p:nvSpPr>
          <p:cNvPr id="15" name="TextBox 14"/>
          <p:cNvSpPr txBox="1"/>
          <p:nvPr/>
        </p:nvSpPr>
        <p:spPr>
          <a:xfrm>
            <a:off x="994867" y="4898075"/>
            <a:ext cx="6633414" cy="528066"/>
          </a:xfrm>
          <a:prstGeom prst="rect">
            <a:avLst/>
          </a:prstGeom>
          <a:noFill/>
        </p:spPr>
        <p:txBody>
          <a:bodyPr wrap="square" lIns="0" rIns="0" tIns="0" bIns="0">
            <a:spAutoFit/>
          </a:bodyPr>
          <a:lstStyle/>
          <a:p>
            <a:r>
              <a:rPr sz="1650">
                <a:solidFill>
                  <a:srgbClr val="111111"/>
                </a:solidFill>
                <a:latin typeface="Inter"/>
              </a:rPr>
              <a:t>This is especially evident in problems involving text categorization.</a:t>
            </a:r>
          </a:p>
        </p:txBody>
      </p:sp>
      <p:sp>
        <p:nvSpPr>
          <p:cNvPr id="16" name="TextBox 15"/>
          <p:cNvSpPr txBox="1"/>
          <p:nvPr/>
        </p:nvSpPr>
        <p:spPr>
          <a:xfrm>
            <a:off x="720547" y="5554157"/>
            <a:ext cx="6907734" cy="528066"/>
          </a:xfrm>
          <a:prstGeom prst="rect">
            <a:avLst/>
          </a:prstGeom>
          <a:noFill/>
        </p:spPr>
        <p:txBody>
          <a:bodyPr wrap="square" lIns="0" rIns="0" tIns="0" bIns="0">
            <a:spAutoFit/>
          </a:bodyPr>
          <a:lstStyle/>
          <a:p>
            <a:r>
              <a:rPr sz="1019" b="1">
                <a:solidFill>
                  <a:srgbClr val="1D4ED8"/>
                </a:solidFill>
                <a:latin typeface="Bebas Neue"/>
              </a:rPr>
              <a:t>BECAUSE   </a:t>
            </a:r>
            <a:r>
              <a:rPr sz="1650" b="1">
                <a:solidFill>
                  <a:srgbClr val="1D4ED8"/>
                </a:solidFill>
                <a:latin typeface="Bebas Neue"/>
              </a:rPr>
              <a:t>because</a:t>
            </a:r>
            <a:r>
              <a:rPr sz="1650">
                <a:solidFill>
                  <a:srgbClr val="111111"/>
                </a:solidFill>
                <a:latin typeface="Inter"/>
              </a:rPr>
              <a:t> the characteristics are words and they are not independent.</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5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Classification is the problem of taking a single observation, extracting some useful</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117 / 229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ounded Rectangle 7"/>
          <p:cNvSpPr/>
          <p:nvPr/>
        </p:nvSpPr>
        <p:spPr>
          <a:xfrm>
            <a:off x="457200" y="1298448"/>
            <a:ext cx="3744925" cy="1124921"/>
          </a:xfrm>
          <a:prstGeom prst="roundRect">
            <a:avLst>
              <a:gd name="adj" fmla="val 1251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44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90830"/>
            <a:ext cx="340156" cy="340156"/>
          </a:xfrm>
          <a:prstGeom prst="rect">
            <a:avLst/>
          </a:prstGeom>
        </p:spPr>
      </p:pic>
      <p:sp>
        <p:nvSpPr>
          <p:cNvPr id="11" name="TextBox 10"/>
          <p:cNvSpPr txBox="1"/>
          <p:nvPr/>
        </p:nvSpPr>
        <p:spPr>
          <a:xfrm>
            <a:off x="1408175" y="1371600"/>
            <a:ext cx="2592781" cy="978617"/>
          </a:xfrm>
          <a:prstGeom prst="rect">
            <a:avLst/>
          </a:prstGeom>
          <a:noFill/>
        </p:spPr>
        <p:txBody>
          <a:bodyPr wrap="square" anchor="ctr" lIns="0" tIns="0" rIns="0" bIns="0">
            <a:spAutoFit/>
          </a:bodyPr>
          <a:lstStyle/>
          <a:p>
            <a:pPr algn="l"/>
            <a:r>
              <a:rPr sz="1350" b="0">
                <a:solidFill>
                  <a:srgbClr val="111111"/>
                </a:solidFill>
                <a:latin typeface="Inter"/>
              </a:rPr>
              <a:t>Maximum Entropy Modeling (MaxEnt) is a machine learning framework</a:t>
            </a:r>
          </a:p>
        </p:txBody>
      </p:sp>
      <p:sp>
        <p:nvSpPr>
          <p:cNvPr id="12" name="Rounded Rectangle 11"/>
          <p:cNvSpPr/>
          <p:nvPr/>
        </p:nvSpPr>
        <p:spPr>
          <a:xfrm>
            <a:off x="4403293" y="1298448"/>
            <a:ext cx="3744925" cy="1124921"/>
          </a:xfrm>
          <a:prstGeom prst="roundRect">
            <a:avLst>
              <a:gd name="adj" fmla="val 1251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57744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690830"/>
            <a:ext cx="340156" cy="340156"/>
          </a:xfrm>
          <a:prstGeom prst="rect">
            <a:avLst/>
          </a:prstGeom>
        </p:spPr>
      </p:pic>
      <p:sp>
        <p:nvSpPr>
          <p:cNvPr id="15" name="TextBox 14"/>
          <p:cNvSpPr txBox="1"/>
          <p:nvPr/>
        </p:nvSpPr>
        <p:spPr>
          <a:xfrm>
            <a:off x="5354269" y="1371600"/>
            <a:ext cx="2592781" cy="978617"/>
          </a:xfrm>
          <a:prstGeom prst="rect">
            <a:avLst/>
          </a:prstGeom>
          <a:noFill/>
        </p:spPr>
        <p:txBody>
          <a:bodyPr wrap="square" anchor="ctr" lIns="0" tIns="0" rIns="0" bIns="0">
            <a:spAutoFit/>
          </a:bodyPr>
          <a:lstStyle/>
          <a:p>
            <a:pPr algn="l"/>
            <a:r>
              <a:rPr sz="1350" b="0">
                <a:solidFill>
                  <a:srgbClr val="111111"/>
                </a:solidFill>
                <a:latin typeface="Inter"/>
              </a:rPr>
              <a:t>features describing the observation, and then classifying the observation into one of a</a:t>
            </a:r>
          </a:p>
        </p:txBody>
      </p:sp>
      <p:sp>
        <p:nvSpPr>
          <p:cNvPr id="16" name="Rounded Rectangle 15"/>
          <p:cNvSpPr/>
          <p:nvPr/>
        </p:nvSpPr>
        <p:spPr>
          <a:xfrm>
            <a:off x="457200" y="2624537"/>
            <a:ext cx="3744925" cy="1124921"/>
          </a:xfrm>
          <a:prstGeom prst="roundRect">
            <a:avLst>
              <a:gd name="adj" fmla="val 1251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90353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016920"/>
            <a:ext cx="340156" cy="340156"/>
          </a:xfrm>
          <a:prstGeom prst="rect">
            <a:avLst/>
          </a:prstGeom>
        </p:spPr>
      </p:pic>
      <p:sp>
        <p:nvSpPr>
          <p:cNvPr id="19" name="TextBox 18"/>
          <p:cNvSpPr txBox="1"/>
          <p:nvPr/>
        </p:nvSpPr>
        <p:spPr>
          <a:xfrm>
            <a:off x="1408175" y="2697689"/>
            <a:ext cx="2592781" cy="978617"/>
          </a:xfrm>
          <a:prstGeom prst="rect">
            <a:avLst/>
          </a:prstGeom>
          <a:noFill/>
        </p:spPr>
        <p:txBody>
          <a:bodyPr wrap="square" anchor="ctr" lIns="0" tIns="0" rIns="0" bIns="0">
            <a:spAutoFit/>
          </a:bodyPr>
          <a:lstStyle/>
          <a:p>
            <a:pPr algn="l"/>
            <a:r>
              <a:rPr sz="1350" b="0">
                <a:solidFill>
                  <a:srgbClr val="111111"/>
                </a:solidFill>
                <a:latin typeface="Inter"/>
              </a:rPr>
              <a:t>set of discrete classes depending on these features</a:t>
            </a:r>
          </a:p>
        </p:txBody>
      </p:sp>
      <p:sp>
        <p:nvSpPr>
          <p:cNvPr id="20" name="Rounded Rectangle 19"/>
          <p:cNvSpPr/>
          <p:nvPr/>
        </p:nvSpPr>
        <p:spPr>
          <a:xfrm>
            <a:off x="4403293" y="2624537"/>
            <a:ext cx="3744925" cy="1124921"/>
          </a:xfrm>
          <a:prstGeom prst="roundRect">
            <a:avLst>
              <a:gd name="adj" fmla="val 1251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290353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3016920"/>
            <a:ext cx="340156" cy="340156"/>
          </a:xfrm>
          <a:prstGeom prst="rect">
            <a:avLst/>
          </a:prstGeom>
        </p:spPr>
      </p:pic>
      <p:sp>
        <p:nvSpPr>
          <p:cNvPr id="23" name="TextBox 22"/>
          <p:cNvSpPr txBox="1"/>
          <p:nvPr/>
        </p:nvSpPr>
        <p:spPr>
          <a:xfrm>
            <a:off x="5354269" y="2697689"/>
            <a:ext cx="2592781" cy="978617"/>
          </a:xfrm>
          <a:prstGeom prst="rect">
            <a:avLst/>
          </a:prstGeom>
          <a:noFill/>
        </p:spPr>
        <p:txBody>
          <a:bodyPr wrap="square" anchor="ctr" lIns="0" tIns="0" rIns="0" bIns="0">
            <a:spAutoFit/>
          </a:bodyPr>
          <a:lstStyle/>
          <a:p>
            <a:pPr algn="l"/>
            <a:r>
              <a:rPr sz="1350" b="0">
                <a:solidFill>
                  <a:srgbClr val="111111"/>
                </a:solidFill>
                <a:latin typeface="Inter"/>
              </a:rPr>
              <a:t>Probabilistic classifier: Indicates the likelihood that the observation belongs to that</a:t>
            </a:r>
          </a:p>
        </p:txBody>
      </p:sp>
      <p:sp>
        <p:nvSpPr>
          <p:cNvPr id="24" name="Rounded Rectangle 23"/>
          <p:cNvSpPr/>
          <p:nvPr/>
        </p:nvSpPr>
        <p:spPr>
          <a:xfrm>
            <a:off x="457200" y="3950627"/>
            <a:ext cx="3744925" cy="1124921"/>
          </a:xfrm>
          <a:prstGeom prst="roundRect">
            <a:avLst>
              <a:gd name="adj" fmla="val 1251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22962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343009"/>
            <a:ext cx="340156" cy="340156"/>
          </a:xfrm>
          <a:prstGeom prst="rect">
            <a:avLst/>
          </a:prstGeom>
        </p:spPr>
      </p:pic>
      <p:sp>
        <p:nvSpPr>
          <p:cNvPr id="27" name="TextBox 26"/>
          <p:cNvSpPr txBox="1"/>
          <p:nvPr/>
        </p:nvSpPr>
        <p:spPr>
          <a:xfrm>
            <a:off x="1408175" y="4023779"/>
            <a:ext cx="2592781" cy="978617"/>
          </a:xfrm>
          <a:prstGeom prst="rect">
            <a:avLst/>
          </a:prstGeom>
          <a:noFill/>
        </p:spPr>
        <p:txBody>
          <a:bodyPr wrap="square" anchor="ctr" lIns="0" tIns="0" rIns="0" bIns="0">
            <a:spAutoFit/>
          </a:bodyPr>
          <a:lstStyle/>
          <a:p>
            <a:pPr algn="l"/>
            <a:r>
              <a:rPr sz="1350" b="0">
                <a:solidFill>
                  <a:srgbClr val="111111"/>
                </a:solidFill>
                <a:latin typeface="Inter"/>
              </a:rPr>
              <a:t>Non-sequential categorization — When it comes to text classification, we may need to</a:t>
            </a:r>
          </a:p>
        </p:txBody>
      </p:sp>
      <p:sp>
        <p:nvSpPr>
          <p:cNvPr id="28" name="Rounded Rectangle 27"/>
          <p:cNvSpPr/>
          <p:nvPr/>
        </p:nvSpPr>
        <p:spPr>
          <a:xfrm>
            <a:off x="4403293" y="3950627"/>
            <a:ext cx="3744925" cy="1124921"/>
          </a:xfrm>
          <a:prstGeom prst="roundRect">
            <a:avLst>
              <a:gd name="adj" fmla="val 1251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04461" y="422962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17846" y="4343009"/>
            <a:ext cx="340156" cy="340156"/>
          </a:xfrm>
          <a:prstGeom prst="rect">
            <a:avLst/>
          </a:prstGeom>
        </p:spPr>
      </p:pic>
      <p:sp>
        <p:nvSpPr>
          <p:cNvPr id="31" name="TextBox 30"/>
          <p:cNvSpPr txBox="1"/>
          <p:nvPr/>
        </p:nvSpPr>
        <p:spPr>
          <a:xfrm>
            <a:off x="5354269" y="4023779"/>
            <a:ext cx="2592781" cy="978617"/>
          </a:xfrm>
          <a:prstGeom prst="rect">
            <a:avLst/>
          </a:prstGeom>
          <a:noFill/>
        </p:spPr>
        <p:txBody>
          <a:bodyPr wrap="square" anchor="ctr" lIns="0" tIns="0" rIns="0" bIns="0">
            <a:spAutoFit/>
          </a:bodyPr>
          <a:lstStyle/>
          <a:p>
            <a:pPr algn="l"/>
            <a:r>
              <a:rPr sz="1350" b="0">
                <a:solidFill>
                  <a:srgbClr val="111111"/>
                </a:solidFill>
                <a:latin typeface="Inter"/>
              </a:rPr>
              <a:t>evaluate whether or not an email should be categorised as spam. We must assess</a:t>
            </a:r>
          </a:p>
        </p:txBody>
      </p:sp>
      <p:sp>
        <p:nvSpPr>
          <p:cNvPr id="32" name="Rounded Rectangle 31"/>
          <p:cNvSpPr/>
          <p:nvPr/>
        </p:nvSpPr>
        <p:spPr>
          <a:xfrm>
            <a:off x="457200" y="5276717"/>
            <a:ext cx="7691018" cy="11240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276717"/>
            <a:ext cx="73152" cy="11240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5349869"/>
            <a:ext cx="7295997" cy="97777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whether a statement or document represents a favourable or negative attitude in sentiment analysis. A period character (V) must be classified as a sentence boundary or</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450"/>
                                        <p:tgtEl>
                                          <p:spTgt spid="33"/>
                                        </p:tgtEl>
                                      </p:cBhvr>
                                    </p:animEffect>
                                  </p:childTnLst>
                                </p:cTn>
                              </p:par>
                              <p:par>
                                <p:cTn id="93" presetID="10" presetClass="entr" presetSubtype="0" fill="hold"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MaxEnt classifiers combine input features linearly using exponents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118 / 229</a:t>
            </a:r>
          </a:p>
        </p:txBody>
      </p:sp>
      <p:sp>
        <p:nvSpPr>
          <p:cNvPr id="8" name="Rectangle 7"/>
          <p:cNvSpPr/>
          <p:nvPr/>
        </p:nvSpPr>
        <p:spPr>
          <a:xfrm>
            <a:off x="457200" y="1325880"/>
            <a:ext cx="73152" cy="7498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841248"/>
          </a:xfrm>
          <a:prstGeom prst="rect">
            <a:avLst/>
          </a:prstGeom>
          <a:noFill/>
        </p:spPr>
        <p:txBody>
          <a:bodyPr wrap="square" anchor="ctr" lIns="0" tIns="0" rIns="0" bIns="0">
            <a:spAutoFit/>
          </a:bodyPr>
          <a:lstStyle/>
          <a:p>
            <a:pPr algn="l"/>
            <a:r>
              <a:rPr sz="2400" b="1">
                <a:solidFill>
                  <a:srgbClr val="1365A5"/>
                </a:solidFill>
                <a:latin typeface="Bebas Neue"/>
              </a:rPr>
              <a:t>MaxEnt belongs to the family of classifiers known as the exponential or log-linear</a:t>
            </a:r>
          </a:p>
        </p:txBody>
      </p:sp>
      <p:sp>
        <p:nvSpPr>
          <p:cNvPr id="10" name="Rounded Rectangle 9"/>
          <p:cNvSpPr/>
          <p:nvPr/>
        </p:nvSpPr>
        <p:spPr>
          <a:xfrm>
            <a:off x="457200" y="2340864"/>
            <a:ext cx="5536692" cy="2944368"/>
          </a:xfrm>
          <a:prstGeom prst="roundRect">
            <a:avLst>
              <a:gd name="adj" fmla="val 47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1798"/>
            <a:ext cx="5134355" cy="2622499"/>
          </a:xfrm>
          <a:prstGeom prst="rect">
            <a:avLst/>
          </a:prstGeom>
          <a:noFill/>
        </p:spPr>
        <p:txBody>
          <a:bodyPr wrap="square" anchor="t" lIns="0" tIns="0" rIns="0" bIns="0">
            <a:spAutoFit/>
          </a:bodyPr>
          <a:lstStyle/>
          <a:p>
            <a:pPr algn="l"/>
            <a:r>
              <a:rPr sz="2380" b="1">
                <a:solidFill>
                  <a:srgbClr val="1365A5"/>
                </a:solidFill>
                <a:latin typeface="Bebas Neue"/>
              </a:rPr>
              <a:t>MaxEnt works by extracting some set of features from the input, combining them</a:t>
            </a:r>
          </a:p>
          <a:p>
            <a:pPr algn="l" marL="256032" indent="-256032" lvl="0">
              <a:spcBef>
                <a:spcPts val="700"/>
              </a:spcBef>
              <a:buClr>
                <a:srgbClr val="F76945"/>
              </a:buClr>
              <a:buFont typeface="Arial"/>
              <a:buChar char="•"/>
            </a:pPr>
            <a:r>
              <a:rPr sz="1900" b="0">
                <a:solidFill>
                  <a:srgbClr val="111111"/>
                </a:solidFill>
                <a:latin typeface="Inter"/>
              </a:rPr>
              <a:t>linearly (multiply each feature by a weight and then add them up), and then using</a:t>
            </a:r>
          </a:p>
          <a:p>
            <a:pPr algn="l" marL="256032" indent="-256032" lvl="0">
              <a:spcBef>
                <a:spcPts val="700"/>
              </a:spcBef>
              <a:buClr>
                <a:srgbClr val="F76945"/>
              </a:buClr>
              <a:buFont typeface="Arial"/>
              <a:buChar char="•"/>
            </a:pPr>
            <a:r>
              <a:rPr sz="1900" b="0">
                <a:solidFill>
                  <a:srgbClr val="111111"/>
                </a:solidFill>
                <a:latin typeface="Inter"/>
              </a:rPr>
              <a:t>this sum as an exponent.</a:t>
            </a:r>
          </a:p>
        </p:txBody>
      </p:sp>
      <p:sp>
        <p:nvSpPr>
          <p:cNvPr id="13" name="Rounded Rectangle 12"/>
          <p:cNvSpPr/>
          <p:nvPr/>
        </p:nvSpPr>
        <p:spPr>
          <a:xfrm>
            <a:off x="6195059" y="2340864"/>
            <a:ext cx="5536692" cy="2944368"/>
          </a:xfrm>
          <a:prstGeom prst="roundRect">
            <a:avLst>
              <a:gd name="adj" fmla="val 47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501798"/>
            <a:ext cx="5134355" cy="2622499"/>
          </a:xfrm>
          <a:prstGeom prst="rect">
            <a:avLst/>
          </a:prstGeom>
          <a:noFill/>
        </p:spPr>
        <p:txBody>
          <a:bodyPr wrap="square" anchor="t" lIns="0" tIns="0" rIns="0" bIns="0">
            <a:spAutoFit/>
          </a:bodyPr>
          <a:lstStyle/>
          <a:p>
            <a:pPr algn="l"/>
            <a:r>
              <a:rPr sz="2380" b="1">
                <a:solidFill>
                  <a:srgbClr val="1365A5"/>
                </a:solidFill>
                <a:latin typeface="Bebas Neue"/>
              </a:rPr>
              <a:t>Example: tagging — A feature for tagging might be this word ends in ed or the</a:t>
            </a:r>
          </a:p>
          <a:p>
            <a:pPr algn="l" marL="256032" indent="-256032" lvl="0">
              <a:spcBef>
                <a:spcPts val="700"/>
              </a:spcBef>
              <a:buClr>
                <a:srgbClr val="F76945"/>
              </a:buClr>
              <a:buFont typeface="Arial"/>
              <a:buChar char="•"/>
            </a:pPr>
            <a:r>
              <a:rPr sz="1900" b="0">
                <a:solidFill>
                  <a:srgbClr val="111111"/>
                </a:solidFill>
                <a:latin typeface="Inter"/>
              </a:rPr>
              <a:t>previous word was adverb</a:t>
            </a:r>
          </a:p>
        </p:txBody>
      </p:sp>
      <p:sp>
        <p:nvSpPr>
          <p:cNvPr id="16" name="Rounded Rectangle 1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1365A5"/>
                </a:solidFill>
                <a:latin typeface="Bebas Neue"/>
              </a:rPr>
              <a:t>Key terms:  </a:t>
            </a:r>
            <a:r>
              <a:rPr sz="1550" b="1">
                <a:solidFill>
                  <a:srgbClr val="111111"/>
                </a:solidFill>
                <a:latin typeface="Bebas Neue"/>
              </a:rPr>
              <a:t>Log-linear — A model family combining input features linearly within an exponential function.  ·  Feature extraction — The process of identifying useful properties from raw input data.</a:t>
            </a:r>
          </a:p>
        </p:txBody>
      </p:sp>
      <p:sp>
        <p:nvSpPr>
          <p:cNvPr id="17" name="Rectangle 1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Applications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119 / 229</a:t>
            </a:r>
          </a:p>
        </p:txBody>
      </p:sp>
      <p:sp>
        <p:nvSpPr>
          <p:cNvPr id="8" name="Rectangle 7"/>
          <p:cNvSpPr/>
          <p:nvPr/>
        </p:nvSpPr>
        <p:spPr>
          <a:xfrm>
            <a:off x="457200" y="1325880"/>
            <a:ext cx="73152" cy="7498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841248"/>
          </a:xfrm>
          <a:prstGeom prst="rect">
            <a:avLst/>
          </a:prstGeom>
          <a:noFill/>
        </p:spPr>
        <p:txBody>
          <a:bodyPr wrap="square" anchor="ctr" lIns="0" tIns="0" rIns="0" bIns="0">
            <a:spAutoFit/>
          </a:bodyPr>
          <a:lstStyle/>
          <a:p>
            <a:pPr algn="l"/>
            <a:r>
              <a:rPr sz="2400" b="1">
                <a:solidFill>
                  <a:srgbClr val="1365A5"/>
                </a:solidFill>
                <a:latin typeface="Bebas Neue"/>
              </a:rPr>
              <a:t>Sentiment analysis (for example, what does a product reviewer like and dislike about the product?)</a:t>
            </a:r>
          </a:p>
        </p:txBody>
      </p:sp>
      <p:sp>
        <p:nvSpPr>
          <p:cNvPr id="10" name="Rounded Rectangle 9"/>
          <p:cNvSpPr/>
          <p:nvPr/>
        </p:nvSpPr>
        <p:spPr>
          <a:xfrm>
            <a:off x="457200" y="2340864"/>
            <a:ext cx="5536692" cy="1336018"/>
          </a:xfrm>
          <a:prstGeom prst="roundRect">
            <a:avLst>
              <a:gd name="adj" fmla="val 1054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1798"/>
            <a:ext cx="5134355" cy="1014150"/>
          </a:xfrm>
          <a:prstGeom prst="rect">
            <a:avLst/>
          </a:prstGeom>
          <a:noFill/>
        </p:spPr>
        <p:txBody>
          <a:bodyPr wrap="square" anchor="t" lIns="0" tIns="0" rIns="0" bIns="0">
            <a:spAutoFit/>
          </a:bodyPr>
          <a:lstStyle/>
          <a:p>
            <a:pPr algn="l"/>
            <a:r>
              <a:rPr sz="1440" b="1">
                <a:solidFill>
                  <a:srgbClr val="1365A5"/>
                </a:solidFill>
                <a:latin typeface="Bebas Neue"/>
              </a:rPr>
              <a:t>Preferences (for example, who will a person vote for based on their demographics?</a:t>
            </a:r>
          </a:p>
          <a:p>
            <a:pPr algn="l" marL="256032" indent="-256032" lvl="0">
              <a:spcBef>
                <a:spcPts val="700"/>
              </a:spcBef>
              <a:buClr>
                <a:srgbClr val="F76945"/>
              </a:buClr>
              <a:buFont typeface="Arial"/>
              <a:buChar char="•"/>
            </a:pPr>
            <a:r>
              <a:rPr sz="1150" b="0">
                <a:solidFill>
                  <a:srgbClr val="111111"/>
                </a:solidFill>
                <a:latin typeface="Inter"/>
              </a:rPr>
              <a:t>Would they rather have Superman, Batman, or the Teenage Mutant Ninja Turtles, for example?</a:t>
            </a:r>
          </a:p>
        </p:txBody>
      </p:sp>
      <p:sp>
        <p:nvSpPr>
          <p:cNvPr id="13" name="Rounded Rectangle 12"/>
          <p:cNvSpPr/>
          <p:nvPr/>
        </p:nvSpPr>
        <p:spPr>
          <a:xfrm>
            <a:off x="6195059" y="2340864"/>
            <a:ext cx="5536692" cy="1336018"/>
          </a:xfrm>
          <a:prstGeom prst="roundRect">
            <a:avLst>
              <a:gd name="adj" fmla="val 1054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501798"/>
            <a:ext cx="5134355" cy="1014150"/>
          </a:xfrm>
          <a:prstGeom prst="rect">
            <a:avLst/>
          </a:prstGeom>
          <a:noFill/>
        </p:spPr>
        <p:txBody>
          <a:bodyPr wrap="square" anchor="t" lIns="0" tIns="0" rIns="0" bIns="0">
            <a:spAutoFit/>
          </a:bodyPr>
          <a:lstStyle/>
          <a:p>
            <a:pPr algn="l"/>
            <a:r>
              <a:rPr sz="1440" b="1">
                <a:solidFill>
                  <a:srgbClr val="1365A5"/>
                </a:solidFill>
                <a:latin typeface="Bebas Neue"/>
              </a:rPr>
              <a:t>Diagnosis (e.g., what medical disease is a person at risk of getting based on the</a:t>
            </a:r>
          </a:p>
          <a:p>
            <a:pPr algn="l" marL="256032" indent="-256032" lvl="0">
              <a:spcBef>
                <a:spcPts val="700"/>
              </a:spcBef>
              <a:buClr>
                <a:srgbClr val="F76945"/>
              </a:buClr>
              <a:buFont typeface="Arial"/>
              <a:buChar char="•"/>
            </a:pPr>
            <a:r>
              <a:rPr sz="1150" b="0">
                <a:solidFill>
                  <a:srgbClr val="111111"/>
                </a:solidFill>
                <a:latin typeface="Inter"/>
              </a:rPr>
              <a:t>characteristics of many medical imaging and the patient's history?)</a:t>
            </a:r>
          </a:p>
        </p:txBody>
      </p:sp>
      <p:sp>
        <p:nvSpPr>
          <p:cNvPr id="16" name="Rounded Rectangle 15"/>
          <p:cNvSpPr/>
          <p:nvPr/>
        </p:nvSpPr>
        <p:spPr>
          <a:xfrm>
            <a:off x="457200" y="3878050"/>
            <a:ext cx="11274552" cy="1407181"/>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878050"/>
            <a:ext cx="73152" cy="1407181"/>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3951202"/>
            <a:ext cx="10879531" cy="1260877"/>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MaxEnt classification is a classical machine learning technique applied to various predictive tasks. It helps determine outcomes such as product review sentiments, voter preferences, or medical disease risks based on specific input characteristics and history. For example, determining if a product reviewer likes an item based on their text.</a:t>
            </a:r>
          </a:p>
          <a:p>
            <a:pPr algn="l">
              <a:spcBef>
                <a:spcPts val="300"/>
              </a:spcBef>
            </a:pPr>
            <a:r>
              <a:rPr sz="1400" b="0">
                <a:solidFill>
                  <a:srgbClr val="111111"/>
                </a:solidFill>
                <a:latin typeface="Inter"/>
              </a:rPr>
              <a:t>MaxEnt classification is one of the classical machine learning tasks.</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MaxEnt classification — A classical machine learning task used for predicting categories and outcomes.  ·  Sentiment analysis — A task determining whether text expresses positive or negative opinions.</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10</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120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“A restricted format where all grammar rules produce either two non-terminals or one terminal.”?</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Chomsky Normal Form</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Emission Probability</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Training Set</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Bigram concept</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A</a:t>
            </a:r>
          </a:p>
          <a:p>
            <a:pPr algn="l">
              <a:spcBef>
                <a:spcPts val="200"/>
              </a:spcBef>
            </a:pPr>
            <a:r>
              <a:rPr sz="1450" b="0">
                <a:solidFill>
                  <a:srgbClr val="FFFFFF"/>
                </a:solidFill>
                <a:latin typeface="Inter"/>
              </a:rPr>
              <a:t>Chomsky Normal Form: A restricted format where all grammar rules produce either two non-terminals or one terminal.</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Email spam detection uses specific features like address details grammar and subject lines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121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1908941"/>
          </a:xfrm>
          <a:prstGeom prst="roundRect">
            <a:avLst>
              <a:gd name="adj" fmla="val 737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96945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2082840"/>
            <a:ext cx="340156" cy="340156"/>
          </a:xfrm>
          <a:prstGeom prst="rect">
            <a:avLst/>
          </a:prstGeom>
        </p:spPr>
      </p:pic>
      <p:sp>
        <p:nvSpPr>
          <p:cNvPr id="11" name="TextBox 10"/>
          <p:cNvSpPr txBox="1"/>
          <p:nvPr/>
        </p:nvSpPr>
        <p:spPr>
          <a:xfrm>
            <a:off x="1408175" y="1371600"/>
            <a:ext cx="2592781" cy="1762637"/>
          </a:xfrm>
          <a:prstGeom prst="rect">
            <a:avLst/>
          </a:prstGeom>
          <a:noFill/>
        </p:spPr>
        <p:txBody>
          <a:bodyPr wrap="square" anchor="ctr" lIns="0" tIns="0" rIns="0" bIns="0">
            <a:spAutoFit/>
          </a:bodyPr>
          <a:lstStyle/>
          <a:p>
            <a:pPr algn="l"/>
            <a:r>
              <a:rPr sz="3000" b="1">
                <a:solidFill>
                  <a:srgbClr val="1365A5"/>
                </a:solidFill>
                <a:latin typeface="Bebas Neue"/>
              </a:rPr>
              <a:t>F1</a:t>
            </a:r>
          </a:p>
          <a:p>
            <a:pPr algn="l">
              <a:spcBef>
                <a:spcPts val="500"/>
              </a:spcBef>
            </a:pPr>
            <a:r>
              <a:rPr sz="2500" b="0">
                <a:solidFill>
                  <a:srgbClr val="111111"/>
                </a:solidFill>
                <a:latin typeface="Bebas Neue"/>
              </a:rPr>
              <a:t>Look at who the email is addressed to</a:t>
            </a:r>
          </a:p>
        </p:txBody>
      </p:sp>
      <p:sp>
        <p:nvSpPr>
          <p:cNvPr id="12" name="Rounded Rectangle 11"/>
          <p:cNvSpPr/>
          <p:nvPr/>
        </p:nvSpPr>
        <p:spPr>
          <a:xfrm>
            <a:off x="4403293" y="1298448"/>
            <a:ext cx="3744925" cy="1908941"/>
          </a:xfrm>
          <a:prstGeom prst="roundRect">
            <a:avLst>
              <a:gd name="adj" fmla="val 737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96945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2082840"/>
            <a:ext cx="340156" cy="340156"/>
          </a:xfrm>
          <a:prstGeom prst="rect">
            <a:avLst/>
          </a:prstGeom>
        </p:spPr>
      </p:pic>
      <p:sp>
        <p:nvSpPr>
          <p:cNvPr id="15" name="TextBox 14"/>
          <p:cNvSpPr txBox="1"/>
          <p:nvPr/>
        </p:nvSpPr>
        <p:spPr>
          <a:xfrm>
            <a:off x="5354269" y="1371600"/>
            <a:ext cx="2592781" cy="1762637"/>
          </a:xfrm>
          <a:prstGeom prst="rect">
            <a:avLst/>
          </a:prstGeom>
          <a:noFill/>
        </p:spPr>
        <p:txBody>
          <a:bodyPr wrap="square" anchor="ctr" lIns="0" tIns="0" rIns="0" bIns="0">
            <a:spAutoFit/>
          </a:bodyPr>
          <a:lstStyle/>
          <a:p>
            <a:pPr algn="l"/>
            <a:r>
              <a:rPr sz="3000" b="1">
                <a:solidFill>
                  <a:srgbClr val="1365A5"/>
                </a:solidFill>
                <a:latin typeface="Bebas Neue"/>
              </a:rPr>
              <a:t>F2</a:t>
            </a:r>
          </a:p>
          <a:p>
            <a:pPr algn="l">
              <a:spcBef>
                <a:spcPts val="500"/>
              </a:spcBef>
            </a:pPr>
            <a:r>
              <a:rPr sz="2500" b="0">
                <a:solidFill>
                  <a:srgbClr val="111111"/>
                </a:solidFill>
                <a:latin typeface="Bebas Neue"/>
              </a:rPr>
              <a:t>Check the “from” email address</a:t>
            </a:r>
          </a:p>
        </p:txBody>
      </p:sp>
      <p:sp>
        <p:nvSpPr>
          <p:cNvPr id="16" name="Rounded Rectangle 15"/>
          <p:cNvSpPr/>
          <p:nvPr/>
        </p:nvSpPr>
        <p:spPr>
          <a:xfrm>
            <a:off x="457200" y="3408557"/>
            <a:ext cx="3744925" cy="1908941"/>
          </a:xfrm>
          <a:prstGeom prst="roundRect">
            <a:avLst>
              <a:gd name="adj" fmla="val 737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07956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192950"/>
            <a:ext cx="340156" cy="340156"/>
          </a:xfrm>
          <a:prstGeom prst="rect">
            <a:avLst/>
          </a:prstGeom>
        </p:spPr>
      </p:pic>
      <p:sp>
        <p:nvSpPr>
          <p:cNvPr id="19" name="TextBox 18"/>
          <p:cNvSpPr txBox="1"/>
          <p:nvPr/>
        </p:nvSpPr>
        <p:spPr>
          <a:xfrm>
            <a:off x="1408175" y="3481709"/>
            <a:ext cx="2592781" cy="1762637"/>
          </a:xfrm>
          <a:prstGeom prst="rect">
            <a:avLst/>
          </a:prstGeom>
          <a:noFill/>
        </p:spPr>
        <p:txBody>
          <a:bodyPr wrap="square" anchor="ctr" lIns="0" tIns="0" rIns="0" bIns="0">
            <a:spAutoFit/>
          </a:bodyPr>
          <a:lstStyle/>
          <a:p>
            <a:pPr algn="l"/>
            <a:r>
              <a:rPr sz="3000" b="1">
                <a:solidFill>
                  <a:srgbClr val="1365A5"/>
                </a:solidFill>
                <a:latin typeface="Bebas Neue"/>
              </a:rPr>
              <a:t>F5</a:t>
            </a:r>
          </a:p>
          <a:p>
            <a:pPr algn="l">
              <a:spcBef>
                <a:spcPts val="500"/>
              </a:spcBef>
            </a:pPr>
            <a:r>
              <a:rPr sz="2500" b="0">
                <a:solidFill>
                  <a:srgbClr val="111111"/>
                </a:solidFill>
                <a:latin typeface="Bebas Neue"/>
              </a:rPr>
              <a:t>Your domain is forwarded to another domain</a:t>
            </a:r>
          </a:p>
        </p:txBody>
      </p:sp>
      <p:sp>
        <p:nvSpPr>
          <p:cNvPr id="20" name="Rounded Rectangle 19"/>
          <p:cNvSpPr/>
          <p:nvPr/>
        </p:nvSpPr>
        <p:spPr>
          <a:xfrm>
            <a:off x="4403293" y="3408557"/>
            <a:ext cx="3744925" cy="1908941"/>
          </a:xfrm>
          <a:prstGeom prst="roundRect">
            <a:avLst>
              <a:gd name="adj" fmla="val 737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407956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4192950"/>
            <a:ext cx="340156" cy="340156"/>
          </a:xfrm>
          <a:prstGeom prst="rect">
            <a:avLst/>
          </a:prstGeom>
        </p:spPr>
      </p:pic>
      <p:sp>
        <p:nvSpPr>
          <p:cNvPr id="23" name="TextBox 22"/>
          <p:cNvSpPr txBox="1"/>
          <p:nvPr/>
        </p:nvSpPr>
        <p:spPr>
          <a:xfrm>
            <a:off x="5354269" y="3481709"/>
            <a:ext cx="2592781" cy="1762637"/>
          </a:xfrm>
          <a:prstGeom prst="rect">
            <a:avLst/>
          </a:prstGeom>
          <a:noFill/>
        </p:spPr>
        <p:txBody>
          <a:bodyPr wrap="square" anchor="ctr" lIns="0" tIns="0" rIns="0" bIns="0">
            <a:spAutoFit/>
          </a:bodyPr>
          <a:lstStyle/>
          <a:p>
            <a:pPr algn="l"/>
            <a:r>
              <a:rPr sz="3000" b="1">
                <a:solidFill>
                  <a:srgbClr val="1365A5"/>
                </a:solidFill>
                <a:latin typeface="Bebas Neue"/>
              </a:rPr>
              <a:t>F6</a:t>
            </a:r>
          </a:p>
          <a:p>
            <a:pPr algn="l">
              <a:spcBef>
                <a:spcPts val="500"/>
              </a:spcBef>
            </a:pPr>
            <a:r>
              <a:rPr sz="2500" b="0">
                <a:solidFill>
                  <a:srgbClr val="111111"/>
                </a:solidFill>
                <a:latin typeface="Bebas Neue"/>
              </a:rPr>
              <a:t>Bad Grammar and Spelling</a:t>
            </a:r>
          </a:p>
        </p:txBody>
      </p:sp>
      <p:sp>
        <p:nvSpPr>
          <p:cNvPr id="24" name="Rounded Rectangle 23"/>
          <p:cNvSpPr/>
          <p:nvPr/>
        </p:nvSpPr>
        <p:spPr>
          <a:xfrm>
            <a:off x="457200" y="5518667"/>
            <a:ext cx="7691018"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518667"/>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5591819"/>
            <a:ext cx="7295997" cy="73582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Some of the features of the emails that might be useful to determine spam or not spam. Features of Spam Mail: F7: No phone number in the signature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Example of Spam/Not Spam Mail Detection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122 / 229</a:t>
            </a:r>
          </a:p>
        </p:txBody>
      </p:sp>
      <p:sp>
        <p:nvSpPr>
          <p:cNvPr id="7" name="Rounded Rectangle 6"/>
          <p:cNvSpPr/>
          <p:nvPr/>
        </p:nvSpPr>
        <p:spPr>
          <a:xfrm>
            <a:off x="1389254" y="1298448"/>
            <a:ext cx="941044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553846" y="1463040"/>
            <a:ext cx="9081258" cy="4773168"/>
          </a:xfrm>
          <a:prstGeom prst="rect">
            <a:avLst/>
          </a:prstGeom>
        </p:spPr>
      </p:pic>
    </p:spTree>
  </p:cSld>
  <p:clrMapOvr>
    <a:masterClrMapping/>
  </p:clrMapOvr>
  <p:transition spd="med">
    <p:cover dir="r"/>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Example of Spam/Not Spam Mail Detection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123 / 229</a:t>
            </a:r>
          </a:p>
        </p:txBody>
      </p:sp>
      <p:sp>
        <p:nvSpPr>
          <p:cNvPr id="7" name="Rounded Rectangle 6"/>
          <p:cNvSpPr/>
          <p:nvPr/>
        </p:nvSpPr>
        <p:spPr>
          <a:xfrm>
            <a:off x="1498779" y="1298448"/>
            <a:ext cx="919139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663371" y="1463040"/>
            <a:ext cx="8862208" cy="4773168"/>
          </a:xfrm>
          <a:prstGeom prst="rect">
            <a:avLst/>
          </a:prstGeom>
        </p:spPr>
      </p:pic>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Calculates probabilities by dividing a decision numerator by the sum of all numerators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124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9832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911705"/>
            <a:ext cx="340156" cy="340156"/>
          </a:xfrm>
          <a:prstGeom prst="rect">
            <a:avLst/>
          </a:prstGeom>
        </p:spPr>
      </p:pic>
      <p:sp>
        <p:nvSpPr>
          <p:cNvPr id="11" name="TextBox 10"/>
          <p:cNvSpPr txBox="1"/>
          <p:nvPr/>
        </p:nvSpPr>
        <p:spPr>
          <a:xfrm>
            <a:off x="1408175" y="1371600"/>
            <a:ext cx="6538874" cy="1420368"/>
          </a:xfrm>
          <a:prstGeom prst="rect">
            <a:avLst/>
          </a:prstGeom>
          <a:noFill/>
        </p:spPr>
        <p:txBody>
          <a:bodyPr wrap="square" anchor="ctr" lIns="0" tIns="0" rIns="0" bIns="0">
            <a:spAutoFit/>
          </a:bodyPr>
          <a:lstStyle/>
          <a:p>
            <a:pPr algn="l"/>
            <a:r>
              <a:rPr sz="2600" b="0">
                <a:solidFill>
                  <a:srgbClr val="111111"/>
                </a:solidFill>
                <a:latin typeface="Bebas Neue"/>
              </a:rPr>
              <a:t>5. Divide the numerator by sum of the numerators for every possible decision d (i.e.for all</a:t>
            </a:r>
          </a:p>
        </p:txBody>
      </p:sp>
      <p:sp>
        <p:nvSpPr>
          <p:cNvPr id="12" name="Rounded Rectangle 11"/>
          <p:cNvSpPr/>
          <p:nvPr/>
        </p:nvSpPr>
        <p:spPr>
          <a:xfrm>
            <a:off x="457200" y="3066287"/>
            <a:ext cx="7691018"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56615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679545"/>
            <a:ext cx="340156" cy="340156"/>
          </a:xfrm>
          <a:prstGeom prst="rect">
            <a:avLst/>
          </a:prstGeom>
        </p:spPr>
      </p:pic>
      <p:sp>
        <p:nvSpPr>
          <p:cNvPr id="15" name="TextBox 14"/>
          <p:cNvSpPr txBox="1"/>
          <p:nvPr/>
        </p:nvSpPr>
        <p:spPr>
          <a:xfrm>
            <a:off x="1408175" y="3139440"/>
            <a:ext cx="6538874" cy="1420368"/>
          </a:xfrm>
          <a:prstGeom prst="rect">
            <a:avLst/>
          </a:prstGeom>
          <a:noFill/>
        </p:spPr>
        <p:txBody>
          <a:bodyPr wrap="square" anchor="ctr" lIns="0" tIns="0" rIns="0" bIns="0">
            <a:spAutoFit/>
          </a:bodyPr>
          <a:lstStyle/>
          <a:p>
            <a:pPr algn="l"/>
            <a:r>
              <a:rPr sz="2600" b="0">
                <a:solidFill>
                  <a:srgbClr val="111111"/>
                </a:solidFill>
                <a:latin typeface="Bebas Neue"/>
              </a:rPr>
              <a:t>_ Numerator</a:t>
            </a:r>
          </a:p>
        </p:txBody>
      </p:sp>
      <p:sp>
        <p:nvSpPr>
          <p:cNvPr id="16" name="Rounded Rectangle 15"/>
          <p:cNvSpPr/>
          <p:nvPr/>
        </p:nvSpPr>
        <p:spPr>
          <a:xfrm>
            <a:off x="457200" y="4834128"/>
            <a:ext cx="7691018"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340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5447385"/>
            <a:ext cx="340156" cy="340156"/>
          </a:xfrm>
          <a:prstGeom prst="rect">
            <a:avLst/>
          </a:prstGeom>
        </p:spPr>
      </p:pic>
      <p:sp>
        <p:nvSpPr>
          <p:cNvPr id="19" name="TextBox 18"/>
          <p:cNvSpPr txBox="1"/>
          <p:nvPr/>
        </p:nvSpPr>
        <p:spPr>
          <a:xfrm>
            <a:off x="1408175" y="4907280"/>
            <a:ext cx="6538874" cy="1420368"/>
          </a:xfrm>
          <a:prstGeom prst="rect">
            <a:avLst/>
          </a:prstGeom>
          <a:noFill/>
        </p:spPr>
        <p:txBody>
          <a:bodyPr wrap="square" anchor="ctr" lIns="0" tIns="0" rIns="0" bIns="0">
            <a:spAutoFit/>
          </a:bodyPr>
          <a:lstStyle/>
          <a:p>
            <a:pPr algn="l"/>
            <a:r>
              <a:rPr sz="2600" b="0">
                <a:solidFill>
                  <a:srgbClr val="111111"/>
                </a:solidFill>
                <a:latin typeface="Bebas Neue"/>
              </a:rPr>
              <a:t>P(clx) = Denominator exp( De, fi(x) x wi(d))</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possible classes)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125 / 229</a:t>
            </a:r>
          </a:p>
        </p:txBody>
      </p:sp>
      <p:sp>
        <p:nvSpPr>
          <p:cNvPr id="7" name="Rounded Rectangle 6"/>
          <p:cNvSpPr/>
          <p:nvPr/>
        </p:nvSpPr>
        <p:spPr>
          <a:xfrm>
            <a:off x="2073708" y="1298448"/>
            <a:ext cx="804153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238300" y="1463040"/>
            <a:ext cx="7712350" cy="4773168"/>
          </a:xfrm>
          <a:prstGeom prst="rect">
            <a:avLst/>
          </a:prstGeom>
        </p:spPr>
      </p:pic>
    </p:spTree>
  </p:cSld>
  <p:clrMapOvr>
    <a:masterClrMapping/>
  </p:clrMapOvr>
  <p:transition spd="med">
    <p:zoom dir="in"/>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Email classification calculates separate scores for spam and non spam classes using weights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126 / 229</a:t>
            </a:r>
          </a:p>
        </p:txBody>
      </p:sp>
      <p:graphicFrame>
        <p:nvGraphicFramePr>
          <p:cNvPr id="8" name="Table 7"/>
          <p:cNvGraphicFramePr>
            <a:graphicFrameLocks noGrp="1"/>
          </p:cNvGraphicFramePr>
          <p:nvPr/>
        </p:nvGraphicFramePr>
        <p:xfrm>
          <a:off x="457200" y="1298448"/>
          <a:ext cx="11274552" cy="3986782"/>
        </p:xfrm>
        <a:graphic>
          <a:graphicData uri="http://schemas.openxmlformats.org/drawingml/2006/table">
            <a:tbl>
              <a:tblPr firstRow="1" bandRow="1">
                <a:tableStyleId>{5C22544A-7EE6-4342-B048-85BDC9FD1C3A}</a:tableStyleId>
              </a:tblPr>
              <a:tblGrid>
                <a:gridCol w="5637276"/>
                <a:gridCol w="5637276"/>
              </a:tblGrid>
              <a:tr h="664464">
                <a:tc>
                  <a:txBody>
                    <a:bodyPr/>
                    <a:lstStyle/>
                    <a:p>
                      <a:pPr algn="l"/>
                      <a:r>
                        <a:rPr sz="1950" b="1">
                          <a:solidFill>
                            <a:srgbClr val="FFFFFF"/>
                          </a:solidFill>
                          <a:latin typeface="Bebas Neue"/>
                        </a:rPr>
                        <a:t>Email</a:t>
                      </a:r>
                    </a:p>
                  </a:txBody>
                  <a:tcPr marL="146304" marR="146304" anchor="ctr">
                    <a:solidFill>
                      <a:srgbClr val="1365A5"/>
                    </a:solidFill>
                  </a:tcPr>
                </a:tc>
                <a:tc>
                  <a:txBody>
                    <a:bodyPr/>
                    <a:lstStyle/>
                    <a:p>
                      <a:pPr algn="l"/>
                      <a:r>
                        <a:rPr sz="1950" b="1">
                          <a:solidFill>
                            <a:srgbClr val="FFFFFF"/>
                          </a:solidFill>
                          <a:latin typeface="Bebas Neue"/>
                        </a:rPr>
                        <a:t>Non</a:t>
                      </a:r>
                    </a:p>
                  </a:txBody>
                  <a:tcPr marL="146304" marR="146304" anchor="ctr">
                    <a:solidFill>
                      <a:srgbClr val="1365A5"/>
                    </a:solidFill>
                  </a:tcPr>
                </a:tc>
              </a:tr>
              <a:tr h="633376">
                <a:tc>
                  <a:txBody>
                    <a:bodyPr/>
                    <a:lstStyle/>
                    <a:p>
                      <a:pPr algn="l"/>
                      <a:r>
                        <a:rPr sz="1650" b="1">
                          <a:solidFill>
                            <a:srgbClr val="1365A5"/>
                          </a:solidFill>
                          <a:latin typeface="Bebas Neue"/>
                        </a:rPr>
                        <a:t>Example: Email as input x, d as two classes Spam</a:t>
                      </a:r>
                    </a:p>
                  </a:txBody>
                  <a:tcPr marL="146304" marR="146304" anchor="ctr">
                    <a:solidFill>
                      <a:srgbClr val="F5F6F8"/>
                    </a:solidFill>
                  </a:tcPr>
                </a:tc>
                <a:tc>
                  <a:txBody>
                    <a:bodyPr/>
                    <a:lstStyle/>
                    <a:p>
                      <a:pPr algn="l"/>
                      <a:r>
                        <a:rPr sz="1650" b="0">
                          <a:solidFill>
                            <a:srgbClr val="111111"/>
                          </a:solidFill>
                          <a:latin typeface="Inter"/>
                        </a:rPr>
                        <a:t>Spam</a:t>
                      </a:r>
                    </a:p>
                  </a:txBody>
                  <a:tcPr marL="146304" marR="146304" anchor="ctr">
                    <a:solidFill>
                      <a:srgbClr val="F5F6F8"/>
                    </a:solidFill>
                  </a:tcPr>
                </a:tc>
              </a:tr>
              <a:tr h="711095">
                <a:tc>
                  <a:txBody>
                    <a:bodyPr/>
                    <a:lstStyle/>
                    <a:p>
                      <a:pPr algn="l"/>
                      <a:r>
                        <a:rPr sz="1650" b="1">
                          <a:solidFill>
                            <a:srgbClr val="1365A5"/>
                          </a:solidFill>
                          <a:latin typeface="Bebas Neue"/>
                        </a:rPr>
                        <a:t>F1: Look at who the email is addressed to F</a:t>
                      </a:r>
                    </a:p>
                  </a:txBody>
                  <a:tcPr marL="146304" marR="146304" anchor="ctr">
                    <a:solidFill>
                      <a:srgbClr val="ECF2F7"/>
                    </a:solidFill>
                  </a:tcPr>
                </a:tc>
                <a:tc>
                  <a:txBody>
                    <a:bodyPr/>
                    <a:lstStyle/>
                    <a:p>
                      <a:pPr algn="l"/>
                      <a:r>
                        <a:rPr sz="1650" b="0">
                          <a:solidFill>
                            <a:srgbClr val="111111"/>
                          </a:solidFill>
                          <a:latin typeface="Inter"/>
                        </a:rPr>
                        <a:t>We will calcuate two scores, one for Spam and other for Non Spam</a:t>
                      </a:r>
                    </a:p>
                  </a:txBody>
                  <a:tcPr marL="146304" marR="146304" anchor="ctr">
                    <a:solidFill>
                      <a:srgbClr val="ECF2F7"/>
                    </a:solidFill>
                  </a:tcPr>
                </a:tc>
              </a:tr>
              <a:tr h="633376">
                <a:tc>
                  <a:txBody>
                    <a:bodyPr/>
                    <a:lstStyle/>
                    <a:p>
                      <a:pPr algn="l"/>
                      <a:r>
                        <a:rPr sz="1650" b="1">
                          <a:solidFill>
                            <a:srgbClr val="1365A5"/>
                          </a:solidFill>
                          <a:latin typeface="Bebas Neue"/>
                        </a:rPr>
                        <a:t>F2: Check the “from” email address F</a:t>
                      </a:r>
                    </a:p>
                  </a:txBody>
                  <a:tcPr marL="146304" marR="146304" anchor="ctr">
                    <a:solidFill>
                      <a:srgbClr val="F5F6F8"/>
                    </a:solidFill>
                  </a:tcPr>
                </a:tc>
                <a:tc>
                  <a:txBody>
                    <a:bodyPr/>
                    <a:lstStyle/>
                    <a:p>
                      <a:pPr algn="l"/>
                    </a:p>
                  </a:txBody>
                  <a:tcPr marL="146304" marR="146304" anchor="ctr">
                    <a:solidFill>
                      <a:srgbClr val="F5F6F8"/>
                    </a:solidFill>
                  </a:tcPr>
                </a:tc>
              </a:tr>
              <a:tr h="633376">
                <a:tc>
                  <a:txBody>
                    <a:bodyPr/>
                    <a:lstStyle/>
                    <a:p>
                      <a:pPr algn="l"/>
                      <a:r>
                        <a:rPr sz="1650" b="1">
                          <a:solidFill>
                            <a:srgbClr val="1365A5"/>
                          </a:solidFill>
                          <a:latin typeface="Bebas Neue"/>
                        </a:rPr>
                        <a:t>F4: Look at the Subject of the Email T 0.6 -0.3</a:t>
                      </a:r>
                    </a:p>
                  </a:txBody>
                  <a:tcPr marL="146304" marR="146304" anchor="ctr">
                    <a:solidFill>
                      <a:srgbClr val="ECF2F7"/>
                    </a:solidFill>
                  </a:tcPr>
                </a:tc>
                <a:tc>
                  <a:txBody>
                    <a:bodyPr/>
                    <a:lstStyle/>
                    <a:p>
                      <a:pPr algn="l"/>
                    </a:p>
                  </a:txBody>
                  <a:tcPr marL="146304" marR="146304" anchor="ctr">
                    <a:solidFill>
                      <a:srgbClr val="ECF2F7"/>
                    </a:solidFill>
                  </a:tcPr>
                </a:tc>
              </a:tr>
              <a:tr h="711095">
                <a:tc>
                  <a:txBody>
                    <a:bodyPr/>
                    <a:lstStyle/>
                    <a:p>
                      <a:pPr algn="l"/>
                      <a:r>
                        <a:rPr sz="1650" b="1">
                          <a:solidFill>
                            <a:srgbClr val="1365A5"/>
                          </a:solidFill>
                          <a:latin typeface="Bebas Neue"/>
                        </a:rPr>
                        <a:t>F5: Email content are money, lottery, win, prizes T 0.7 -0.4</a:t>
                      </a:r>
                    </a:p>
                  </a:txBody>
                  <a:tcPr marL="146304" marR="146304" anchor="ctr">
                    <a:solidFill>
                      <a:srgbClr val="F5F6F8"/>
                    </a:solidFill>
                  </a:tcPr>
                </a:tc>
                <a:tc>
                  <a:txBody>
                    <a:bodyPr/>
                    <a:lstStyle/>
                    <a:p>
                      <a:pPr algn="l"/>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5 emails compared on non.</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127 / 229</a:t>
            </a:r>
          </a:p>
        </p:txBody>
      </p:sp>
      <p:sp>
        <p:nvSpPr>
          <p:cNvPr id="7" name="Rounded Rectangle 6"/>
          <p:cNvSpPr/>
          <p:nvPr/>
        </p:nvSpPr>
        <p:spPr>
          <a:xfrm>
            <a:off x="1287937" y="1298447"/>
            <a:ext cx="961307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452529" y="1463039"/>
            <a:ext cx="9283893" cy="4773168"/>
          </a:xfrm>
          <a:prstGeom prst="rect">
            <a:avLst/>
          </a:prstGeom>
        </p:spPr>
      </p:pic>
    </p:spTree>
  </p:cSld>
  <p:clrMapOvr>
    <a:masterClrMapping/>
  </p:clrMapOvr>
  <p:transition spd="med">
    <p:cover dir="r"/>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128 / 229</a:t>
            </a:r>
          </a:p>
        </p:txBody>
      </p:sp>
      <p:sp>
        <p:nvSpPr>
          <p:cNvPr id="7" name="Rounded Rectangle 6"/>
          <p:cNvSpPr/>
          <p:nvPr/>
        </p:nvSpPr>
        <p:spPr>
          <a:xfrm>
            <a:off x="1083564" y="1298448"/>
            <a:ext cx="1002182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248156" y="1463040"/>
            <a:ext cx="9692640" cy="4773168"/>
          </a:xfrm>
          <a:prstGeom prst="rect">
            <a:avLst/>
          </a:prstGeom>
        </p:spPr>
      </p:pic>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129 / 229</a:t>
            </a:r>
          </a:p>
        </p:txBody>
      </p:sp>
      <p:sp>
        <p:nvSpPr>
          <p:cNvPr id="7" name="Rounded Rectangle 6"/>
          <p:cNvSpPr/>
          <p:nvPr/>
        </p:nvSpPr>
        <p:spPr>
          <a:xfrm>
            <a:off x="1561688" y="1298448"/>
            <a:ext cx="906557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726280" y="1463040"/>
            <a:ext cx="8736391" cy="4773168"/>
          </a:xfrm>
          <a:prstGeom prst="rect">
            <a:avLst/>
          </a:prstGeom>
        </p:spPr>
      </p:pic>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130 / 229</a:t>
            </a:r>
          </a:p>
        </p:txBody>
      </p:sp>
      <p:sp>
        <p:nvSpPr>
          <p:cNvPr id="7" name="Rounded Rectangle 6"/>
          <p:cNvSpPr/>
          <p:nvPr/>
        </p:nvSpPr>
        <p:spPr>
          <a:xfrm>
            <a:off x="1939515" y="1298448"/>
            <a:ext cx="830992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104107" y="1463040"/>
            <a:ext cx="7980736" cy="4773168"/>
          </a:xfrm>
          <a:prstGeom prst="rect">
            <a:avLst/>
          </a:prstGeom>
        </p:spPr>
      </p:pic>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131 / 229</a:t>
            </a:r>
          </a:p>
        </p:txBody>
      </p:sp>
      <p:sp>
        <p:nvSpPr>
          <p:cNvPr id="7" name="Rounded Rectangle 6"/>
          <p:cNvSpPr/>
          <p:nvPr/>
        </p:nvSpPr>
        <p:spPr>
          <a:xfrm>
            <a:off x="1315279" y="1298448"/>
            <a:ext cx="955839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479871" y="1463040"/>
            <a:ext cx="9229208" cy="4773168"/>
          </a:xfrm>
          <a:prstGeom prst="rect">
            <a:avLst/>
          </a:prstGeom>
        </p:spPr>
      </p:pic>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11</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132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UNDERSTAND</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000" b="1">
                <a:solidFill>
                  <a:srgbClr val="1365A5"/>
                </a:solidFill>
                <a:latin typeface="Bebas Neue"/>
              </a:rPr>
              <a:t>Which term matches this description: “Rules specifying how grammar variables can be replaced by sequences of symbols.”?</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Rule-based tagger</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Production rules</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Chomsky Normal Form</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Shallow parsing</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Production rules: Rules specifying how grammar variables can be replaced by sequences of symbols.</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133 / 229</a:t>
            </a:r>
          </a:p>
        </p:txBody>
      </p:sp>
      <p:sp>
        <p:nvSpPr>
          <p:cNvPr id="7" name="Rounded Rectangle 6"/>
          <p:cNvSpPr/>
          <p:nvPr/>
        </p:nvSpPr>
        <p:spPr>
          <a:xfrm>
            <a:off x="1911266" y="1298448"/>
            <a:ext cx="8366418" cy="5102351"/>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075858" y="1463040"/>
            <a:ext cx="8037234" cy="4773167"/>
          </a:xfrm>
          <a:prstGeom prst="rect">
            <a:avLst/>
          </a:prstGeom>
        </p:spPr>
      </p:pic>
    </p:spTree>
  </p:cSld>
  <p:clrMapOvr>
    <a:masterClrMapping/>
  </p:clrMapOvr>
  <p:transition spd="med">
    <p:cover dir="r"/>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Observed word features change depending on the part of speech and context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134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69587"/>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82973"/>
            <a:ext cx="340156" cy="340156"/>
          </a:xfrm>
          <a:prstGeom prst="rect">
            <a:avLst/>
          </a:prstGeom>
        </p:spPr>
      </p:pic>
      <p:sp>
        <p:nvSpPr>
          <p:cNvPr id="11" name="TextBox 10"/>
          <p:cNvSpPr txBox="1"/>
          <p:nvPr/>
        </p:nvSpPr>
        <p:spPr>
          <a:xfrm>
            <a:off x="1408175" y="1371600"/>
            <a:ext cx="2689250" cy="962903"/>
          </a:xfrm>
          <a:prstGeom prst="rect">
            <a:avLst/>
          </a:prstGeom>
          <a:noFill/>
        </p:spPr>
        <p:txBody>
          <a:bodyPr wrap="square" anchor="ctr" lIns="0" tIns="0" rIns="0" bIns="0">
            <a:spAutoFit/>
          </a:bodyPr>
          <a:lstStyle/>
          <a:p>
            <a:pPr algn="l"/>
            <a:r>
              <a:rPr sz="2140" b="1">
                <a:solidFill>
                  <a:srgbClr val="1365A5"/>
                </a:solidFill>
                <a:latin typeface="Bebas Neue"/>
              </a:rPr>
              <a:t>Observed Word is complex Word</a:t>
            </a:r>
          </a:p>
        </p:txBody>
      </p:sp>
      <p:sp>
        <p:nvSpPr>
          <p:cNvPr id="12" name="Rounded Rectangle 11"/>
          <p:cNvSpPr/>
          <p:nvPr/>
        </p:nvSpPr>
        <p:spPr>
          <a:xfrm>
            <a:off x="4499762" y="1298448"/>
            <a:ext cx="3841394"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569587"/>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682973"/>
            <a:ext cx="340156" cy="340156"/>
          </a:xfrm>
          <a:prstGeom prst="rect">
            <a:avLst/>
          </a:prstGeom>
        </p:spPr>
      </p:pic>
      <p:sp>
        <p:nvSpPr>
          <p:cNvPr id="15" name="TextBox 14"/>
          <p:cNvSpPr txBox="1"/>
          <p:nvPr/>
        </p:nvSpPr>
        <p:spPr>
          <a:xfrm>
            <a:off x="5450738" y="1371600"/>
            <a:ext cx="2689250" cy="962903"/>
          </a:xfrm>
          <a:prstGeom prst="rect">
            <a:avLst/>
          </a:prstGeom>
          <a:noFill/>
        </p:spPr>
        <p:txBody>
          <a:bodyPr wrap="square" anchor="ctr" lIns="0" tIns="0" rIns="0" bIns="0">
            <a:spAutoFit/>
          </a:bodyPr>
          <a:lstStyle/>
          <a:p>
            <a:pPr algn="l"/>
            <a:r>
              <a:rPr sz="2140" b="1">
                <a:solidFill>
                  <a:srgbClr val="1365A5"/>
                </a:solidFill>
                <a:latin typeface="Bebas Neue"/>
              </a:rPr>
              <a:t>The(Det)</a:t>
            </a:r>
          </a:p>
          <a:p>
            <a:pPr algn="l">
              <a:spcBef>
                <a:spcPts val="500"/>
              </a:spcBef>
            </a:pPr>
            <a:r>
              <a:rPr sz="1780" b="0">
                <a:solidFill>
                  <a:srgbClr val="111111"/>
                </a:solidFill>
                <a:latin typeface="Inter"/>
              </a:rPr>
              <a:t>For The(Det)</a:t>
            </a:r>
          </a:p>
        </p:txBody>
      </p:sp>
      <p:sp>
        <p:nvSpPr>
          <p:cNvPr id="16" name="Rounded Rectangle 15"/>
          <p:cNvSpPr/>
          <p:nvPr/>
        </p:nvSpPr>
        <p:spPr>
          <a:xfrm>
            <a:off x="457200" y="2608823"/>
            <a:ext cx="3841394"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87996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993348"/>
            <a:ext cx="340156" cy="340156"/>
          </a:xfrm>
          <a:prstGeom prst="rect">
            <a:avLst/>
          </a:prstGeom>
        </p:spPr>
      </p:pic>
      <p:sp>
        <p:nvSpPr>
          <p:cNvPr id="19" name="TextBox 18"/>
          <p:cNvSpPr txBox="1"/>
          <p:nvPr/>
        </p:nvSpPr>
        <p:spPr>
          <a:xfrm>
            <a:off x="1408175" y="2681975"/>
            <a:ext cx="2689250" cy="962903"/>
          </a:xfrm>
          <a:prstGeom prst="rect">
            <a:avLst/>
          </a:prstGeom>
          <a:noFill/>
        </p:spPr>
        <p:txBody>
          <a:bodyPr wrap="square" anchor="ctr" lIns="0" tIns="0" rIns="0" bIns="0">
            <a:spAutoFit/>
          </a:bodyPr>
          <a:lstStyle/>
          <a:p>
            <a:pPr algn="l"/>
            <a:r>
              <a:rPr sz="2039" b="1">
                <a:solidFill>
                  <a:srgbClr val="1365A5"/>
                </a:solidFill>
                <a:latin typeface="Bebas Neue"/>
              </a:rPr>
              <a:t>complex(Verb) No feature is present</a:t>
            </a:r>
          </a:p>
        </p:txBody>
      </p:sp>
      <p:sp>
        <p:nvSpPr>
          <p:cNvPr id="20" name="Rounded Rectangle 19"/>
          <p:cNvSpPr/>
          <p:nvPr/>
        </p:nvSpPr>
        <p:spPr>
          <a:xfrm>
            <a:off x="4499762" y="2608823"/>
            <a:ext cx="3841394"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87996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993348"/>
            <a:ext cx="340156" cy="340156"/>
          </a:xfrm>
          <a:prstGeom prst="rect">
            <a:avLst/>
          </a:prstGeom>
        </p:spPr>
      </p:pic>
      <p:sp>
        <p:nvSpPr>
          <p:cNvPr id="23" name="TextBox 22"/>
          <p:cNvSpPr txBox="1"/>
          <p:nvPr/>
        </p:nvSpPr>
        <p:spPr>
          <a:xfrm>
            <a:off x="5450738" y="2681975"/>
            <a:ext cx="2689250" cy="962903"/>
          </a:xfrm>
          <a:prstGeom prst="rect">
            <a:avLst/>
          </a:prstGeom>
          <a:noFill/>
        </p:spPr>
        <p:txBody>
          <a:bodyPr wrap="square" anchor="ctr" lIns="0" tIns="0" rIns="0" bIns="0">
            <a:spAutoFit/>
          </a:bodyPr>
          <a:lstStyle/>
          <a:p>
            <a:pPr algn="l"/>
            <a:r>
              <a:rPr sz="2140" b="1">
                <a:solidFill>
                  <a:srgbClr val="1365A5"/>
                </a:solidFill>
                <a:latin typeface="Bebas Neue"/>
              </a:rPr>
              <a:t>The(Noun)</a:t>
            </a:r>
          </a:p>
          <a:p>
            <a:pPr algn="l">
              <a:spcBef>
                <a:spcPts val="500"/>
              </a:spcBef>
            </a:pPr>
            <a:r>
              <a:rPr sz="1780" b="0">
                <a:solidFill>
                  <a:srgbClr val="111111"/>
                </a:solidFill>
                <a:latin typeface="Inter"/>
              </a:rPr>
              <a:t>For The(Noun)</a:t>
            </a:r>
          </a:p>
        </p:txBody>
      </p:sp>
      <p:sp>
        <p:nvSpPr>
          <p:cNvPr id="24" name="Rounded Rectangle 23"/>
          <p:cNvSpPr/>
          <p:nvPr/>
        </p:nvSpPr>
        <p:spPr>
          <a:xfrm>
            <a:off x="457200" y="3919198"/>
            <a:ext cx="7883956"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3992350"/>
            <a:ext cx="7488935" cy="1219729"/>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Features change based on whether a word functions as a determiner, verb, noun, or adjective. Different feature sets apply depending on the grammatical role observed in the text. Example: The word complex acts as a noun, verb, or adjective with different features.</a:t>
            </a:r>
          </a:p>
        </p:txBody>
      </p:sp>
      <p:sp>
        <p:nvSpPr>
          <p:cNvPr id="27" name="Rounded Rectangle 2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Observed Word — A specific word identified in the input data text.  ·  Feature — A measurable characteristic used to help classify data instances.</a:t>
            </a:r>
          </a:p>
        </p:txBody>
      </p:sp>
      <p:sp>
        <p:nvSpPr>
          <p:cNvPr id="28" name="Rectangle 2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50"/>
                                        <p:tgtEl>
                                          <p:spTgt spid="27"/>
                                        </p:tgtEl>
                                      </p:cBhvr>
                                    </p:animEffect>
                                  </p:childTnLst>
                                </p:cTn>
                              </p:par>
                              <p:par>
                                <p:cTn id="75" presetID="10" presetClass="entr" presetSubtype="0"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135 / 229</a:t>
            </a:r>
          </a:p>
        </p:txBody>
      </p:sp>
      <p:sp>
        <p:nvSpPr>
          <p:cNvPr id="7" name="Rounded Rectangle 6"/>
          <p:cNvSpPr/>
          <p:nvPr/>
        </p:nvSpPr>
        <p:spPr>
          <a:xfrm>
            <a:off x="457199" y="1314511"/>
            <a:ext cx="11274552" cy="5070225"/>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621791" y="1479103"/>
            <a:ext cx="10945368" cy="4741041"/>
          </a:xfrm>
          <a:prstGeom prst="rect">
            <a:avLst/>
          </a:prstGeom>
        </p:spPr>
      </p:pic>
    </p:spTree>
  </p:cSld>
  <p:clrMapOvr>
    <a:masterClrMapping/>
  </p:clrMapOvr>
  <p:transition spd="med">
    <p:cover dir="r"/>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136 / 229</a:t>
            </a:r>
          </a:p>
        </p:txBody>
      </p:sp>
      <p:sp>
        <p:nvSpPr>
          <p:cNvPr id="7" name="Rounded Rectangle 6"/>
          <p:cNvSpPr/>
          <p:nvPr/>
        </p:nvSpPr>
        <p:spPr>
          <a:xfrm>
            <a:off x="1720404" y="1298448"/>
            <a:ext cx="874814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84996" y="1463040"/>
            <a:ext cx="8418959" cy="4773168"/>
          </a:xfrm>
          <a:prstGeom prst="rect">
            <a:avLst/>
          </a:prstGeom>
        </p:spPr>
      </p:pic>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137 / 229</a:t>
            </a:r>
          </a:p>
        </p:txBody>
      </p:sp>
      <p:sp>
        <p:nvSpPr>
          <p:cNvPr id="7" name="Rounded Rectangle 6"/>
          <p:cNvSpPr/>
          <p:nvPr/>
        </p:nvSpPr>
        <p:spPr>
          <a:xfrm>
            <a:off x="2007875" y="1298448"/>
            <a:ext cx="817320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172467" y="1463040"/>
            <a:ext cx="7844017" cy="4773168"/>
          </a:xfrm>
          <a:prstGeom prst="rect">
            <a:avLst/>
          </a:prstGeom>
        </p:spPr>
      </p:pic>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138 / 229</a:t>
            </a:r>
          </a:p>
        </p:txBody>
      </p:sp>
      <p:sp>
        <p:nvSpPr>
          <p:cNvPr id="7" name="Rounded Rectangle 6"/>
          <p:cNvSpPr/>
          <p:nvPr/>
        </p:nvSpPr>
        <p:spPr>
          <a:xfrm>
            <a:off x="1536669" y="1298448"/>
            <a:ext cx="911561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701261" y="1463040"/>
            <a:ext cx="8786428" cy="4773168"/>
          </a:xfrm>
          <a:prstGeom prst="rect">
            <a:avLst/>
          </a:prstGeom>
        </p:spPr>
      </p:pic>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139 / 229</a:t>
            </a:r>
          </a:p>
        </p:txBody>
      </p:sp>
      <p:sp>
        <p:nvSpPr>
          <p:cNvPr id="7" name="Rounded Rectangle 6"/>
          <p:cNvSpPr/>
          <p:nvPr/>
        </p:nvSpPr>
        <p:spPr>
          <a:xfrm>
            <a:off x="1388462" y="1298448"/>
            <a:ext cx="941202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553054" y="1463040"/>
            <a:ext cx="9082842" cy="4773168"/>
          </a:xfrm>
          <a:prstGeom prst="rect">
            <a:avLst/>
          </a:prstGeom>
        </p:spPr>
      </p:pic>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140 / 229</a:t>
            </a:r>
          </a:p>
        </p:txBody>
      </p:sp>
      <p:sp>
        <p:nvSpPr>
          <p:cNvPr id="7" name="Rounded Rectangle 6"/>
          <p:cNvSpPr/>
          <p:nvPr/>
        </p:nvSpPr>
        <p:spPr>
          <a:xfrm>
            <a:off x="1711457" y="1298448"/>
            <a:ext cx="876603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876049" y="1463040"/>
            <a:ext cx="8436853" cy="4773168"/>
          </a:xfrm>
          <a:prstGeom prst="rect">
            <a:avLst/>
          </a:prstGeom>
        </p:spPr>
      </p:pic>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141 / 229</a:t>
            </a:r>
          </a:p>
        </p:txBody>
      </p:sp>
      <p:sp>
        <p:nvSpPr>
          <p:cNvPr id="7" name="Rounded Rectangle 6"/>
          <p:cNvSpPr/>
          <p:nvPr/>
        </p:nvSpPr>
        <p:spPr>
          <a:xfrm>
            <a:off x="1569117" y="1298448"/>
            <a:ext cx="905071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1733709" y="1463040"/>
            <a:ext cx="8721532" cy="4773168"/>
          </a:xfrm>
          <a:prstGeom prst="rect">
            <a:avLst/>
          </a:prstGeom>
        </p:spPr>
      </p:pic>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Features | Weight (Not Spam)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142 / 229</a:t>
            </a:r>
          </a:p>
        </p:txBody>
      </p:sp>
      <p:sp>
        <p:nvSpPr>
          <p:cNvPr id="7" name="Rounded Rectangle 6"/>
          <p:cNvSpPr/>
          <p:nvPr/>
        </p:nvSpPr>
        <p:spPr>
          <a:xfrm>
            <a:off x="767791" y="1298448"/>
            <a:ext cx="10653369"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932383" y="1463040"/>
            <a:ext cx="10324185" cy="4773168"/>
          </a:xfrm>
          <a:prstGeom prst="rect">
            <a:avLst/>
          </a:prstGeom>
        </p:spPr>
      </p:pic>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Random Fields use sentence level normalization instead of per state normalization</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143 / 229</a:t>
            </a:r>
          </a:p>
        </p:txBody>
      </p:sp>
      <p:sp>
        <p:nvSpPr>
          <p:cNvPr id="8" name="Rounded Rectangle 7"/>
          <p:cNvSpPr/>
          <p:nvPr/>
        </p:nvSpPr>
        <p:spPr>
          <a:xfrm>
            <a:off x="457200" y="1298448"/>
            <a:ext cx="11274552" cy="423654"/>
          </a:xfrm>
          <a:prstGeom prst="roundRect">
            <a:avLst>
              <a:gd name="adj" fmla="val 11655"/>
            </a:avLst>
          </a:prstGeom>
          <a:solidFill>
            <a:srgbClr val="CFE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353312"/>
            <a:ext cx="2958442" cy="313926"/>
          </a:xfrm>
          <a:prstGeom prst="rect">
            <a:avLst/>
          </a:prstGeom>
          <a:noFill/>
        </p:spPr>
        <p:txBody>
          <a:bodyPr wrap="square" anchor="ctr" lIns="0" tIns="0" rIns="0" bIns="0">
            <a:spAutoFit/>
          </a:bodyPr>
          <a:lstStyle/>
          <a:p>
            <a:pPr algn="l"/>
            <a:r>
              <a:rPr sz="1600" b="1">
                <a:solidFill>
                  <a:srgbClr val="101424"/>
                </a:solidFill>
                <a:latin typeface="Bebas Neue"/>
              </a:rPr>
              <a:t>CRF</a:t>
            </a:r>
          </a:p>
        </p:txBody>
      </p:sp>
      <p:sp>
        <p:nvSpPr>
          <p:cNvPr id="10" name="TextBox 9"/>
          <p:cNvSpPr txBox="1"/>
          <p:nvPr/>
        </p:nvSpPr>
        <p:spPr>
          <a:xfrm>
            <a:off x="3817978" y="1353312"/>
            <a:ext cx="7712605" cy="313926"/>
          </a:xfrm>
          <a:prstGeom prst="rect">
            <a:avLst/>
          </a:prstGeom>
          <a:noFill/>
        </p:spPr>
        <p:txBody>
          <a:bodyPr wrap="square" anchor="ctr" lIns="0" tIns="0" rIns="0" bIns="0">
            <a:spAutoFit/>
          </a:bodyPr>
          <a:lstStyle/>
          <a:p>
            <a:pPr algn="l"/>
            <a:r>
              <a:rPr sz="1050" b="0">
                <a:solidFill>
                  <a:srgbClr val="101424"/>
                </a:solidFill>
                <a:latin typeface="Inter"/>
              </a:rPr>
              <a:t>CRF is a Discriminative Probabilistic Classifiers</a:t>
            </a:r>
          </a:p>
        </p:txBody>
      </p:sp>
      <p:sp>
        <p:nvSpPr>
          <p:cNvPr id="11" name="Rounded Rectangle 10"/>
          <p:cNvSpPr/>
          <p:nvPr/>
        </p:nvSpPr>
        <p:spPr>
          <a:xfrm>
            <a:off x="660141" y="1842803"/>
            <a:ext cx="10868668" cy="423654"/>
          </a:xfrm>
          <a:prstGeom prst="roundRect">
            <a:avLst>
              <a:gd name="adj" fmla="val 11655"/>
            </a:avLst>
          </a:prstGeom>
          <a:solidFill>
            <a:srgbClr val="AAC7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1309" y="1897667"/>
            <a:ext cx="2958442" cy="313926"/>
          </a:xfrm>
          <a:prstGeom prst="rect">
            <a:avLst/>
          </a:prstGeom>
          <a:noFill/>
        </p:spPr>
        <p:txBody>
          <a:bodyPr wrap="square" anchor="ctr" lIns="0" tIns="0" rIns="0" bIns="0">
            <a:spAutoFit/>
          </a:bodyPr>
          <a:lstStyle/>
          <a:p>
            <a:pPr algn="l"/>
            <a:r>
              <a:rPr sz="1600" b="1">
                <a:solidFill>
                  <a:srgbClr val="101424"/>
                </a:solidFill>
                <a:latin typeface="Bebas Neue"/>
              </a:rPr>
              <a:t>It</a:t>
            </a:r>
          </a:p>
        </p:txBody>
      </p:sp>
      <p:sp>
        <p:nvSpPr>
          <p:cNvPr id="13" name="TextBox 12"/>
          <p:cNvSpPr txBox="1"/>
          <p:nvPr/>
        </p:nvSpPr>
        <p:spPr>
          <a:xfrm>
            <a:off x="4020920" y="1897667"/>
            <a:ext cx="7306721" cy="313926"/>
          </a:xfrm>
          <a:prstGeom prst="rect">
            <a:avLst/>
          </a:prstGeom>
          <a:noFill/>
        </p:spPr>
        <p:txBody>
          <a:bodyPr wrap="square" anchor="ctr" lIns="0" tIns="0" rIns="0" bIns="0">
            <a:spAutoFit/>
          </a:bodyPr>
          <a:lstStyle/>
          <a:p>
            <a:pPr algn="l"/>
            <a:r>
              <a:rPr sz="1050" b="0">
                <a:solidFill>
                  <a:srgbClr val="101424"/>
                </a:solidFill>
                <a:latin typeface="Inter"/>
              </a:rPr>
              <a:t>It is same as Maximum Entropy model only per</a:t>
            </a:r>
          </a:p>
        </p:txBody>
      </p:sp>
      <p:sp>
        <p:nvSpPr>
          <p:cNvPr id="14" name="Rounded Rectangle 13"/>
          <p:cNvSpPr/>
          <p:nvPr/>
        </p:nvSpPr>
        <p:spPr>
          <a:xfrm>
            <a:off x="863083" y="2387159"/>
            <a:ext cx="10462784" cy="423654"/>
          </a:xfrm>
          <a:prstGeom prst="roundRect">
            <a:avLst>
              <a:gd name="adj" fmla="val 11655"/>
            </a:avLst>
          </a:prstGeom>
          <a:solidFill>
            <a:srgbClr val="84AE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4251" y="2442023"/>
            <a:ext cx="2958442" cy="313926"/>
          </a:xfrm>
          <a:prstGeom prst="rect">
            <a:avLst/>
          </a:prstGeom>
          <a:noFill/>
        </p:spPr>
        <p:txBody>
          <a:bodyPr wrap="square" anchor="ctr" lIns="0" tIns="0" rIns="0" bIns="0">
            <a:spAutoFit/>
          </a:bodyPr>
          <a:lstStyle/>
          <a:p>
            <a:pPr algn="l"/>
            <a:r>
              <a:rPr sz="1600" b="1">
                <a:solidFill>
                  <a:srgbClr val="101424"/>
                </a:solidFill>
                <a:latin typeface="Bebas Neue"/>
              </a:rPr>
              <a:t>State normalization</a:t>
            </a:r>
          </a:p>
        </p:txBody>
      </p:sp>
      <p:sp>
        <p:nvSpPr>
          <p:cNvPr id="16" name="TextBox 15"/>
          <p:cNvSpPr txBox="1"/>
          <p:nvPr/>
        </p:nvSpPr>
        <p:spPr>
          <a:xfrm>
            <a:off x="4223862" y="2442023"/>
            <a:ext cx="6900837" cy="313926"/>
          </a:xfrm>
          <a:prstGeom prst="rect">
            <a:avLst/>
          </a:prstGeom>
          <a:noFill/>
        </p:spPr>
        <p:txBody>
          <a:bodyPr wrap="square" anchor="ctr" lIns="0" tIns="0" rIns="0" bIns="0">
            <a:spAutoFit/>
          </a:bodyPr>
          <a:lstStyle/>
          <a:p>
            <a:pPr algn="l"/>
            <a:r>
              <a:rPr sz="1050" b="0">
                <a:solidFill>
                  <a:srgbClr val="101424"/>
                </a:solidFill>
                <a:latin typeface="Inter"/>
              </a:rPr>
              <a:t>state normalization is not used</a:t>
            </a:r>
          </a:p>
        </p:txBody>
      </p:sp>
      <p:sp>
        <p:nvSpPr>
          <p:cNvPr id="17" name="Rounded Rectangle 16"/>
          <p:cNvSpPr/>
          <p:nvPr/>
        </p:nvSpPr>
        <p:spPr>
          <a:xfrm>
            <a:off x="1066025" y="2931515"/>
            <a:ext cx="10056900" cy="423654"/>
          </a:xfrm>
          <a:prstGeom prst="roundRect">
            <a:avLst>
              <a:gd name="adj" fmla="val 11655"/>
            </a:avLst>
          </a:prstGeom>
          <a:solidFill>
            <a:srgbClr val="5E96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67193" y="2986379"/>
            <a:ext cx="2958442" cy="313926"/>
          </a:xfrm>
          <a:prstGeom prst="rect">
            <a:avLst/>
          </a:prstGeom>
          <a:noFill/>
        </p:spPr>
        <p:txBody>
          <a:bodyPr wrap="square" anchor="ctr" lIns="0" tIns="0" rIns="0" bIns="0">
            <a:spAutoFit/>
          </a:bodyPr>
          <a:lstStyle/>
          <a:p>
            <a:pPr algn="l"/>
            <a:r>
              <a:rPr sz="1600" b="1">
                <a:solidFill>
                  <a:srgbClr val="FFFFFF"/>
                </a:solidFill>
                <a:latin typeface="Bebas Neue"/>
              </a:rPr>
              <a:t>Normalization</a:t>
            </a:r>
          </a:p>
        </p:txBody>
      </p:sp>
      <p:sp>
        <p:nvSpPr>
          <p:cNvPr id="19" name="TextBox 18"/>
          <p:cNvSpPr txBox="1"/>
          <p:nvPr/>
        </p:nvSpPr>
        <p:spPr>
          <a:xfrm>
            <a:off x="4426804" y="2986379"/>
            <a:ext cx="6494953" cy="313926"/>
          </a:xfrm>
          <a:prstGeom prst="rect">
            <a:avLst/>
          </a:prstGeom>
          <a:noFill/>
        </p:spPr>
        <p:txBody>
          <a:bodyPr wrap="square" anchor="ctr" lIns="0" tIns="0" rIns="0" bIns="0">
            <a:spAutoFit/>
          </a:bodyPr>
          <a:lstStyle/>
          <a:p>
            <a:pPr algn="l"/>
            <a:r>
              <a:rPr sz="1050" b="0">
                <a:solidFill>
                  <a:srgbClr val="FFFFFF"/>
                </a:solidFill>
                <a:latin typeface="Inter"/>
              </a:rPr>
              <a:t>Normalization at the sentence level is used</a:t>
            </a:r>
          </a:p>
        </p:txBody>
      </p:sp>
      <p:sp>
        <p:nvSpPr>
          <p:cNvPr id="20" name="Rounded Rectangle 19"/>
          <p:cNvSpPr/>
          <p:nvPr/>
        </p:nvSpPr>
        <p:spPr>
          <a:xfrm>
            <a:off x="1268967" y="3475870"/>
            <a:ext cx="9651016" cy="423654"/>
          </a:xfrm>
          <a:prstGeom prst="roundRect">
            <a:avLst>
              <a:gd name="adj" fmla="val 11655"/>
            </a:avLst>
          </a:prstGeom>
          <a:solidFill>
            <a:srgbClr val="387D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70135" y="3530734"/>
            <a:ext cx="2958442" cy="313926"/>
          </a:xfrm>
          <a:prstGeom prst="rect">
            <a:avLst/>
          </a:prstGeom>
          <a:noFill/>
        </p:spPr>
        <p:txBody>
          <a:bodyPr wrap="square" anchor="ctr" lIns="0" tIns="0" rIns="0" bIns="0">
            <a:spAutoFit/>
          </a:bodyPr>
          <a:lstStyle/>
          <a:p>
            <a:pPr algn="l"/>
            <a:r>
              <a:rPr sz="1600" b="1">
                <a:solidFill>
                  <a:srgbClr val="FFFFFF"/>
                </a:solidFill>
                <a:latin typeface="Bebas Neue"/>
              </a:rPr>
              <a:t>Conditional Random Fields</a:t>
            </a:r>
          </a:p>
        </p:txBody>
      </p:sp>
      <p:sp>
        <p:nvSpPr>
          <p:cNvPr id="22" name="TextBox 21"/>
          <p:cNvSpPr txBox="1"/>
          <p:nvPr/>
        </p:nvSpPr>
        <p:spPr>
          <a:xfrm>
            <a:off x="4629746" y="3530734"/>
            <a:ext cx="6089070" cy="313926"/>
          </a:xfrm>
          <a:prstGeom prst="rect">
            <a:avLst/>
          </a:prstGeom>
          <a:noFill/>
        </p:spPr>
        <p:txBody>
          <a:bodyPr wrap="square" anchor="ctr" lIns="0" tIns="0" rIns="0" bIns="0">
            <a:spAutoFit/>
          </a:bodyPr>
          <a:lstStyle/>
          <a:p>
            <a:pPr algn="l"/>
            <a:r>
              <a:rPr sz="1050" b="0">
                <a:solidFill>
                  <a:srgbClr val="FFFFFF"/>
                </a:solidFill>
                <a:latin typeface="Inter"/>
              </a:rPr>
              <a:t>Conditional Random Fields act as discriminative probabilistic classifiers similar to Maximum Entropy models</a:t>
            </a:r>
          </a:p>
        </p:txBody>
      </p:sp>
      <p:sp>
        <p:nvSpPr>
          <p:cNvPr id="23" name="Rounded Rectangle 22"/>
          <p:cNvSpPr/>
          <p:nvPr/>
        </p:nvSpPr>
        <p:spPr>
          <a:xfrm>
            <a:off x="1471909" y="4020226"/>
            <a:ext cx="9245132" cy="423654"/>
          </a:xfrm>
          <a:prstGeom prst="roundRect">
            <a:avLst>
              <a:gd name="adj" fmla="val 11655"/>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73077" y="4075090"/>
            <a:ext cx="2958442" cy="313926"/>
          </a:xfrm>
          <a:prstGeom prst="rect">
            <a:avLst/>
          </a:prstGeom>
          <a:noFill/>
        </p:spPr>
        <p:txBody>
          <a:bodyPr wrap="square" anchor="ctr" lIns="0" tIns="0" rIns="0" bIns="0">
            <a:spAutoFit/>
          </a:bodyPr>
          <a:lstStyle/>
          <a:p>
            <a:pPr algn="l"/>
            <a:r>
              <a:rPr sz="1600" b="1">
                <a:solidFill>
                  <a:srgbClr val="FFFFFF"/>
                </a:solidFill>
                <a:latin typeface="Bebas Neue"/>
              </a:rPr>
              <a:t>They differ</a:t>
            </a:r>
          </a:p>
        </p:txBody>
      </p:sp>
      <p:sp>
        <p:nvSpPr>
          <p:cNvPr id="25" name="TextBox 24"/>
          <p:cNvSpPr txBox="1"/>
          <p:nvPr/>
        </p:nvSpPr>
        <p:spPr>
          <a:xfrm>
            <a:off x="4832688" y="4075090"/>
            <a:ext cx="5683186" cy="313926"/>
          </a:xfrm>
          <a:prstGeom prst="rect">
            <a:avLst/>
          </a:prstGeom>
          <a:noFill/>
        </p:spPr>
        <p:txBody>
          <a:bodyPr wrap="square" anchor="ctr" lIns="0" tIns="0" rIns="0" bIns="0">
            <a:spAutoFit/>
          </a:bodyPr>
          <a:lstStyle/>
          <a:p>
            <a:pPr algn="l"/>
            <a:r>
              <a:rPr sz="1050" b="0">
                <a:solidFill>
                  <a:srgbClr val="FFFFFF"/>
                </a:solidFill>
                <a:latin typeface="Inter"/>
              </a:rPr>
              <a:t>They differ by normalizing at the entire sentence level rather than per individual state</a:t>
            </a:r>
          </a:p>
        </p:txBody>
      </p:sp>
      <p:sp>
        <p:nvSpPr>
          <p:cNvPr id="26" name="Rounded Rectangle 25"/>
          <p:cNvSpPr/>
          <p:nvPr/>
        </p:nvSpPr>
        <p:spPr>
          <a:xfrm>
            <a:off x="457200" y="4645049"/>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Solution is Conditional Random Field (CRF)</a:t>
            </a:r>
          </a:p>
        </p:txBody>
      </p:sp>
      <p:sp>
        <p:nvSpPr>
          <p:cNvPr id="29" name="Rounded Rectangle 2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050">
                <a:solidFill>
                  <a:srgbClr val="1365A5"/>
                </a:solidFill>
                <a:latin typeface="Bebas Neue"/>
              </a:rPr>
              <a:t>Key takeaway:  </a:t>
            </a:r>
            <a:r>
              <a:rPr sz="1050" b="0">
                <a:solidFill>
                  <a:srgbClr val="111111"/>
                </a:solidFill>
                <a:latin typeface="Inter"/>
              </a:rPr>
              <a:t>6 levels, from crf to they differ.</a:t>
            </a:r>
          </a:p>
          <a:p>
            <a:pPr algn="l"/>
            <a:r>
              <a:rPr b="1" sz="1050">
                <a:solidFill>
                  <a:srgbClr val="1365A5"/>
                </a:solidFill>
                <a:latin typeface="Bebas Neue"/>
              </a:rPr>
              <a:t>Key terms:  </a:t>
            </a:r>
            <a:r>
              <a:rPr sz="1050" b="0">
                <a:solidFill>
                  <a:srgbClr val="111111"/>
                </a:solidFill>
                <a:latin typeface="Inter"/>
              </a:rPr>
              <a:t>crf — Conditional Random Field  ·  Conditional Random Field (CRF) — A discriminative probabilistic classifier that uses sentence level normalization.  ·  Discriminative Probabilistic Classifiers — Models that directly learn the conditional probability for classification tasks.</a:t>
            </a:r>
          </a:p>
        </p:txBody>
      </p:sp>
      <p:sp>
        <p:nvSpPr>
          <p:cNvPr id="30" name="Rectangle 2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par>
                                <p:cTn id="36" presetID="10" presetClass="entr" presetSubtype="0" fill="hold"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450"/>
                                        <p:tgtEl>
                                          <p:spTgt spid="20"/>
                                        </p:tgtEl>
                                      </p:cBhvr>
                                    </p:animEffect>
                                  </p:childTnLst>
                                </p:cTn>
                              </p:par>
                              <p:par>
                                <p:cTn id="39" presetID="10"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50"/>
                                        <p:tgtEl>
                                          <p:spTgt spid="21"/>
                                        </p:tgtEl>
                                      </p:cBhvr>
                                    </p:animEffect>
                                  </p:childTnLst>
                                </p:cTn>
                              </p:par>
                              <p:par>
                                <p:cTn id="42" presetID="10" presetClass="entr" presetSubtype="0" fill="hold"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45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5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par>
                                <p:cTn id="64" presetID="10" presetClass="entr" presetSubtype="0"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45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Checkpoint 12</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144 / 229</a:t>
            </a:r>
          </a:p>
        </p:txBody>
      </p:sp>
      <p:sp>
        <p:nvSpPr>
          <p:cNvPr id="7" name="Rounded Rectangle 6"/>
          <p:cNvSpPr/>
          <p:nvPr/>
        </p:nvSpPr>
        <p:spPr>
          <a:xfrm>
            <a:off x="457200" y="1298448"/>
            <a:ext cx="11274552" cy="1326611"/>
          </a:xfrm>
          <a:prstGeom prst="roundRect">
            <a:avLst>
              <a:gd name="adj" fmla="val 10614"/>
            </a:avLst>
          </a:prstGeom>
          <a:solidFill>
            <a:srgbClr val="E7EFF6"/>
          </a:solidFill>
          <a:ln w="1270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449324"/>
            <a:ext cx="2468880" cy="329184"/>
          </a:xfrm>
          <a:prstGeom prst="roundRect">
            <a:avLst>
              <a:gd name="adj" fmla="val 50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0" rIns="45720" bIns="0"/>
          <a:lstStyle/>
          <a:p>
            <a:pPr algn="ctr"/>
            <a:r>
              <a:rPr sz="1050" b="1">
                <a:solidFill>
                  <a:srgbClr val="FFFFFF"/>
                </a:solidFill>
                <a:latin typeface="Bebas Neue"/>
              </a:rPr>
              <a:t>QUESTION  ·  APPLY</a:t>
            </a:r>
          </a:p>
        </p:txBody>
      </p:sp>
      <p:sp>
        <p:nvSpPr>
          <p:cNvPr id="9" name="TextBox 8"/>
          <p:cNvSpPr txBox="1"/>
          <p:nvPr/>
        </p:nvSpPr>
        <p:spPr>
          <a:xfrm>
            <a:off x="658368" y="1851660"/>
            <a:ext cx="10872216" cy="652698"/>
          </a:xfrm>
          <a:prstGeom prst="rect">
            <a:avLst/>
          </a:prstGeom>
          <a:noFill/>
        </p:spPr>
        <p:txBody>
          <a:bodyPr wrap="square" anchor="ctr" lIns="0" tIns="0" rIns="0" bIns="0">
            <a:spAutoFit/>
          </a:bodyPr>
          <a:lstStyle/>
          <a:p>
            <a:pPr algn="l"/>
            <a:r>
              <a:rPr sz="2800" b="1">
                <a:solidFill>
                  <a:srgbClr val="1365A5"/>
                </a:solidFill>
                <a:latin typeface="Bebas Neue"/>
              </a:rPr>
              <a:t>Which statement describes Ø?</a:t>
            </a:r>
          </a:p>
        </p:txBody>
      </p:sp>
      <p:sp>
        <p:nvSpPr>
          <p:cNvPr id="10" name="Rounded Rectangle 9"/>
          <p:cNvSpPr/>
          <p:nvPr/>
        </p:nvSpPr>
        <p:spPr>
          <a:xfrm>
            <a:off x="457200"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58368"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A</a:t>
            </a:r>
          </a:p>
        </p:txBody>
      </p:sp>
      <p:sp>
        <p:nvSpPr>
          <p:cNvPr id="12" name="TextBox 11"/>
          <p:cNvSpPr txBox="1"/>
          <p:nvPr/>
        </p:nvSpPr>
        <p:spPr>
          <a:xfrm>
            <a:off x="139747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{A, C}</a:t>
            </a:r>
          </a:p>
        </p:txBody>
      </p:sp>
      <p:sp>
        <p:nvSpPr>
          <p:cNvPr id="13" name="Rounded Rectangle 12"/>
          <p:cNvSpPr/>
          <p:nvPr/>
        </p:nvSpPr>
        <p:spPr>
          <a:xfrm>
            <a:off x="6195059" y="2826227"/>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96227" y="3095198"/>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B</a:t>
            </a:r>
          </a:p>
        </p:txBody>
      </p:sp>
      <p:sp>
        <p:nvSpPr>
          <p:cNvPr id="15" name="TextBox 14"/>
          <p:cNvSpPr txBox="1"/>
          <p:nvPr/>
        </p:nvSpPr>
        <p:spPr>
          <a:xfrm>
            <a:off x="7135337" y="2899379"/>
            <a:ext cx="4395246" cy="929579"/>
          </a:xfrm>
          <a:prstGeom prst="rect">
            <a:avLst/>
          </a:prstGeom>
          <a:noFill/>
        </p:spPr>
        <p:txBody>
          <a:bodyPr wrap="square" anchor="ctr" lIns="0" tIns="0" rIns="0" bIns="0">
            <a:spAutoFit/>
          </a:bodyPr>
          <a:lstStyle/>
          <a:p>
            <a:pPr algn="l"/>
            <a:r>
              <a:rPr sz="2200" b="0">
                <a:solidFill>
                  <a:srgbClr val="111111"/>
                </a:solidFill>
                <a:latin typeface="Inter"/>
              </a:rPr>
              <a:t>{S, A}</a:t>
            </a:r>
          </a:p>
        </p:txBody>
      </p:sp>
      <p:sp>
        <p:nvSpPr>
          <p:cNvPr id="16" name="Rounded Rectangle 15"/>
          <p:cNvSpPr/>
          <p:nvPr/>
        </p:nvSpPr>
        <p:spPr>
          <a:xfrm>
            <a:off x="457200"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C</a:t>
            </a:r>
          </a:p>
        </p:txBody>
      </p:sp>
      <p:sp>
        <p:nvSpPr>
          <p:cNvPr id="18" name="TextBox 17"/>
          <p:cNvSpPr txBox="1"/>
          <p:nvPr/>
        </p:nvSpPr>
        <p:spPr>
          <a:xfrm>
            <a:off x="139747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RULE BASED POS TAGGING (POS)</a:t>
            </a:r>
          </a:p>
        </p:txBody>
      </p:sp>
      <p:sp>
        <p:nvSpPr>
          <p:cNvPr id="19" name="Rounded Rectangle 18"/>
          <p:cNvSpPr/>
          <p:nvPr/>
        </p:nvSpPr>
        <p:spPr>
          <a:xfrm>
            <a:off x="6195059" y="4103278"/>
            <a:ext cx="5536692" cy="1075883"/>
          </a:xfrm>
          <a:prstGeom prst="roundRect">
            <a:avLst>
              <a:gd name="adj" fmla="val 130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96227" y="4372249"/>
            <a:ext cx="537941" cy="537941"/>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530" b="1">
                <a:solidFill>
                  <a:srgbClr val="FFFFFF"/>
                </a:solidFill>
                <a:latin typeface="Bebas Neue"/>
              </a:rPr>
              <a:t>D</a:t>
            </a:r>
          </a:p>
        </p:txBody>
      </p:sp>
      <p:sp>
        <p:nvSpPr>
          <p:cNvPr id="21" name="TextBox 20"/>
          <p:cNvSpPr txBox="1"/>
          <p:nvPr/>
        </p:nvSpPr>
        <p:spPr>
          <a:xfrm>
            <a:off x="7135337" y="4176430"/>
            <a:ext cx="4395246" cy="929579"/>
          </a:xfrm>
          <a:prstGeom prst="rect">
            <a:avLst/>
          </a:prstGeom>
          <a:noFill/>
        </p:spPr>
        <p:txBody>
          <a:bodyPr wrap="square" anchor="ctr" lIns="0" tIns="0" rIns="0" bIns="0">
            <a:spAutoFit/>
          </a:bodyPr>
          <a:lstStyle/>
          <a:p>
            <a:pPr algn="l"/>
            <a:r>
              <a:rPr sz="2200" b="0">
                <a:solidFill>
                  <a:srgbClr val="111111"/>
                </a:solidFill>
                <a:latin typeface="Inter"/>
              </a:rPr>
              <a:t>{B}</a:t>
            </a:r>
          </a:p>
        </p:txBody>
      </p:sp>
      <p:sp>
        <p:nvSpPr>
          <p:cNvPr id="22" name="Rounded Rectangle 21"/>
          <p:cNvSpPr/>
          <p:nvPr/>
        </p:nvSpPr>
        <p:spPr>
          <a:xfrm>
            <a:off x="457200" y="5380329"/>
            <a:ext cx="11274552" cy="1020470"/>
          </a:xfrm>
          <a:prstGeom prst="roundRect">
            <a:avLst>
              <a:gd name="adj" fmla="val 12000"/>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54864" rIns="201168" bIns="54864"/>
          <a:lstStyle/>
          <a:p>
            <a:pPr algn="l"/>
            <a:r>
              <a:rPr sz="2000" b="1">
                <a:solidFill>
                  <a:srgbClr val="FFFFFF"/>
                </a:solidFill>
                <a:latin typeface="Bebas Neue"/>
              </a:rPr>
              <a:t>Answer: B</a:t>
            </a:r>
          </a:p>
          <a:p>
            <a:pPr algn="l">
              <a:spcBef>
                <a:spcPts val="200"/>
              </a:spcBef>
            </a:pPr>
            <a:r>
              <a:rPr sz="1600" b="0">
                <a:solidFill>
                  <a:srgbClr val="FFFFFF"/>
                </a:solidFill>
                <a:latin typeface="Inter"/>
              </a:rPr>
              <a:t>Ø: {S, A}. {B}: {B}.</a:t>
            </a:r>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50"/>
                                        <p:tgtEl>
                                          <p:spTgt spid="14"/>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450"/>
                                        <p:tgtEl>
                                          <p:spTgt spid="15"/>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45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4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Conditional random fields (CRF)</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Oval 7"/>
          <p:cNvSpPr/>
          <p:nvPr/>
        </p:nvSpPr>
        <p:spPr>
          <a:xfrm>
            <a:off x="457200" y="1715048"/>
            <a:ext cx="3153582" cy="3153582"/>
          </a:xfrm>
          <a:prstGeom prst="ellipse">
            <a:avLst/>
          </a:prstGeom>
          <a:solidFill>
            <a:srgbClr val="B8D0E4"/>
          </a:solidFill>
          <a:ln w="19050">
            <a:solidFill>
              <a:srgbClr val="136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86277" y="1715048"/>
            <a:ext cx="3153582" cy="3153582"/>
          </a:xfrm>
          <a:prstGeom prst="ellipse">
            <a:avLst/>
          </a:prstGeom>
          <a:solidFill>
            <a:srgbClr val="FCD2C7"/>
          </a:solidFill>
          <a:ln w="19050">
            <a:solidFill>
              <a:srgbClr val="F76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41028" y="1298448"/>
            <a:ext cx="2700128" cy="3986784"/>
          </a:xfrm>
          <a:prstGeom prst="roundRect">
            <a:avLst>
              <a:gd name="adj" fmla="val 521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42196" y="1499616"/>
            <a:ext cx="2297792" cy="3584448"/>
          </a:xfrm>
          <a:prstGeom prst="rect">
            <a:avLst/>
          </a:prstGeom>
          <a:noFill/>
        </p:spPr>
        <p:txBody>
          <a:bodyPr wrap="square" anchor="ctr" lIns="0" tIns="0" rIns="0" bIns="0">
            <a:spAutoFit/>
          </a:bodyPr>
          <a:lstStyle/>
          <a:p>
            <a:pPr algn="l" marL="256032" indent="-256032" lvl="0">
              <a:buClr>
                <a:srgbClr val="F76945"/>
              </a:buClr>
              <a:buFont typeface="Arial"/>
              <a:buChar char="•"/>
            </a:pPr>
            <a:r>
              <a:rPr sz="1350" b="0">
                <a:solidFill>
                  <a:srgbClr val="111111"/>
                </a:solidFill>
                <a:latin typeface="Inter"/>
              </a:rPr>
              <a:t>This is also a sequence modelling algorithm</a:t>
            </a:r>
          </a:p>
          <a:p>
            <a:pPr algn="l" marL="256032" indent="-256032" lvl="0">
              <a:spcBef>
                <a:spcPts val="800"/>
              </a:spcBef>
              <a:buClr>
                <a:srgbClr val="F76945"/>
              </a:buClr>
              <a:buFont typeface="Arial"/>
              <a:buChar char="•"/>
            </a:pPr>
            <a:r>
              <a:rPr sz="1350" b="0">
                <a:solidFill>
                  <a:srgbClr val="111111"/>
                </a:solidFill>
                <a:latin typeface="Inter"/>
              </a:rPr>
              <a:t>This not only assumes that features are dependent on each other, but also considers the future observations while learning a pattern</a:t>
            </a:r>
          </a:p>
          <a:p>
            <a:pPr algn="l" marL="256032" indent="-256032" lvl="0">
              <a:spcBef>
                <a:spcPts val="800"/>
              </a:spcBef>
              <a:buClr>
                <a:srgbClr val="F76945"/>
              </a:buClr>
              <a:buFont typeface="Arial"/>
              <a:buChar char="•"/>
            </a:pPr>
            <a:r>
              <a:rPr sz="1350" b="0">
                <a:solidFill>
                  <a:srgbClr val="111111"/>
                </a:solidFill>
                <a:latin typeface="Inter"/>
              </a:rPr>
              <a:t>This combines the best of both HMM and MEMM</a:t>
            </a:r>
          </a:p>
          <a:p>
            <a:pPr algn="l" marL="256032" indent="-256032" lvl="0">
              <a:spcBef>
                <a:spcPts val="800"/>
              </a:spcBef>
              <a:buClr>
                <a:srgbClr val="F76945"/>
              </a:buClr>
              <a:buFont typeface="Arial"/>
              <a:buChar char="•"/>
            </a:pPr>
            <a:r>
              <a:rPr sz="1350" b="0">
                <a:solidFill>
                  <a:srgbClr val="111111"/>
                </a:solidFill>
                <a:latin typeface="Inter"/>
              </a:rPr>
              <a:t>In terms of performance, it is considered to be the best method for entity recognition problem</a:t>
            </a:r>
          </a:p>
        </p:txBody>
      </p:sp>
      <p:sp>
        <p:nvSpPr>
          <p:cNvPr id="12" name="Rounded Rectangle 1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What the two sets share — and what is unique to each.</a:t>
            </a:r>
          </a:p>
          <a:p>
            <a:pPr algn="l"/>
            <a:r>
              <a:rPr b="1" sz="1300">
                <a:solidFill>
                  <a:srgbClr val="1365A5"/>
                </a:solidFill>
                <a:latin typeface="Bebas Neue"/>
              </a:rPr>
              <a:t>Key terms:  </a:t>
            </a:r>
            <a:r>
              <a:rPr sz="1300" b="0">
                <a:solidFill>
                  <a:srgbClr val="111111"/>
                </a:solidFill>
                <a:latin typeface="Inter"/>
              </a:rPr>
              <a:t>hmm — Hidden Markov Model</a:t>
            </a:r>
          </a:p>
        </p:txBody>
      </p:sp>
      <p:sp>
        <p:nvSpPr>
          <p:cNvPr id="13" name="Rectangle 1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Conditional random fields (CRF)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146 / 229</a:t>
            </a:r>
          </a:p>
        </p:txBody>
      </p:sp>
      <p:sp>
        <p:nvSpPr>
          <p:cNvPr id="7" name="Rounded Rectangle 6"/>
          <p:cNvSpPr/>
          <p:nvPr/>
        </p:nvSpPr>
        <p:spPr>
          <a:xfrm>
            <a:off x="457199" y="1652748"/>
            <a:ext cx="11274552" cy="4393750"/>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621791" y="1817340"/>
            <a:ext cx="10945368" cy="4064566"/>
          </a:xfrm>
          <a:prstGeom prst="rect">
            <a:avLst/>
          </a:prstGeom>
        </p:spPr>
      </p:pic>
    </p:spTree>
  </p:cSld>
  <p:clrMapOvr>
    <a:masterClrMapping/>
  </p:clrMapOvr>
  <p:transition spd="med">
    <p:zoom dir="in"/>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Classification of ML Methods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147 / 229</a:t>
            </a:r>
          </a:p>
        </p:txBody>
      </p:sp>
      <p:sp>
        <p:nvSpPr>
          <p:cNvPr id="8" name="Rounded Rectangle 7">
            <a:hlinkClick r:id="rId5"/>
          </p:cNvPr>
          <p:cNvSpPr/>
          <p:nvPr/>
        </p:nvSpPr>
        <p:spPr>
          <a:xfrm>
            <a:off x="3360420" y="6455664"/>
            <a:ext cx="5468112"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Classification of ML Methods Lab</a:t>
            </a:r>
          </a:p>
        </p:txBody>
      </p:sp>
      <p:sp>
        <p:nvSpPr>
          <p:cNvPr id="9" name="Rounded Rectangle 8"/>
          <p:cNvSpPr/>
          <p:nvPr/>
        </p:nvSpPr>
        <p:spPr>
          <a:xfrm>
            <a:off x="457200" y="1298448"/>
            <a:ext cx="5536692" cy="5102352"/>
          </a:xfrm>
          <a:prstGeom prst="roundRect">
            <a:avLst>
              <a:gd name="adj" fmla="val 275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459382"/>
            <a:ext cx="5134355" cy="4780483"/>
          </a:xfrm>
          <a:prstGeom prst="rect">
            <a:avLst/>
          </a:prstGeom>
          <a:noFill/>
        </p:spPr>
        <p:txBody>
          <a:bodyPr wrap="square" anchor="t" lIns="0" tIns="0" rIns="0" bIns="0">
            <a:spAutoFit/>
          </a:bodyPr>
          <a:lstStyle/>
          <a:p>
            <a:pPr algn="l"/>
            <a:r>
              <a:rPr sz="2500" b="1">
                <a:solidFill>
                  <a:srgbClr val="1365A5"/>
                </a:solidFill>
                <a:latin typeface="Bebas Neue"/>
              </a:rPr>
              <a:t>Generative Methods</a:t>
            </a:r>
          </a:p>
          <a:p>
            <a:pPr algn="l" marL="256032" indent="-256032" lvl="0">
              <a:spcBef>
                <a:spcPts val="700"/>
              </a:spcBef>
              <a:buClr>
                <a:srgbClr val="F76945"/>
              </a:buClr>
              <a:buFont typeface="Arial"/>
              <a:buChar char="•"/>
            </a:pPr>
            <a:r>
              <a:rPr sz="2000" b="0">
                <a:solidFill>
                  <a:srgbClr val="111111"/>
                </a:solidFill>
                <a:latin typeface="Inter"/>
              </a:rPr>
              <a:t>“Generative” since sampling can generate synthetic data points</a:t>
            </a:r>
          </a:p>
          <a:p>
            <a:pPr algn="l" marL="256032" indent="-256032" lvl="0">
              <a:spcBef>
                <a:spcPts val="700"/>
              </a:spcBef>
              <a:buClr>
                <a:srgbClr val="F76945"/>
              </a:buClr>
              <a:buFont typeface="Arial"/>
              <a:buChar char="•"/>
            </a:pPr>
            <a:r>
              <a:rPr sz="2000" b="0">
                <a:solidFill>
                  <a:srgbClr val="111111"/>
                </a:solidFill>
                <a:latin typeface="Inter"/>
              </a:rPr>
              <a:t>Popular models</a:t>
            </a:r>
          </a:p>
          <a:p>
            <a:pPr algn="l" marL="512064" indent="-219456" lvl="1">
              <a:spcBef>
                <a:spcPts val="300"/>
              </a:spcBef>
              <a:buClr>
                <a:srgbClr val="F76945"/>
              </a:buClr>
              <a:buFont typeface="Arial"/>
              <a:buChar char="–"/>
            </a:pPr>
            <a:r>
              <a:rPr sz="1800" b="0">
                <a:solidFill>
                  <a:srgbClr val="555555"/>
                </a:solidFill>
                <a:latin typeface="Inter"/>
              </a:rPr>
              <a:t>Naive Bayes, Mixtures of multinomials</a:t>
            </a:r>
          </a:p>
          <a:p>
            <a:pPr algn="l" marL="512064" indent="-219456" lvl="1">
              <a:spcBef>
                <a:spcPts val="300"/>
              </a:spcBef>
              <a:buClr>
                <a:srgbClr val="F76945"/>
              </a:buClr>
              <a:buFont typeface="Arial"/>
              <a:buChar char="–"/>
            </a:pPr>
            <a:r>
              <a:rPr sz="1800" b="0">
                <a:solidFill>
                  <a:srgbClr val="555555"/>
                </a:solidFill>
                <a:latin typeface="Inter"/>
              </a:rPr>
              <a:t>Mixtures of Gaussians, Hidden Markov Models Bayesian networks, Markov random fields</a:t>
            </a:r>
          </a:p>
        </p:txBody>
      </p:sp>
      <p:sp>
        <p:nvSpPr>
          <p:cNvPr id="12" name="Rounded Rectangle 11"/>
          <p:cNvSpPr/>
          <p:nvPr/>
        </p:nvSpPr>
        <p:spPr>
          <a:xfrm>
            <a:off x="6195059" y="1298448"/>
            <a:ext cx="5536692" cy="5102352"/>
          </a:xfrm>
          <a:prstGeom prst="roundRect">
            <a:avLst>
              <a:gd name="adj" fmla="val 275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5059"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7" y="1459382"/>
            <a:ext cx="5134355" cy="4780483"/>
          </a:xfrm>
          <a:prstGeom prst="rect">
            <a:avLst/>
          </a:prstGeom>
          <a:noFill/>
        </p:spPr>
        <p:txBody>
          <a:bodyPr wrap="square" anchor="t" lIns="0" tIns="0" rIns="0" bIns="0">
            <a:spAutoFit/>
          </a:bodyPr>
          <a:lstStyle/>
          <a:p>
            <a:pPr algn="l"/>
            <a:r>
              <a:rPr sz="2500" b="1">
                <a:solidFill>
                  <a:srgbClr val="1365A5"/>
                </a:solidFill>
                <a:latin typeface="Bebas Neue"/>
              </a:rPr>
              <a:t>Discriminative Methods</a:t>
            </a:r>
          </a:p>
          <a:p>
            <a:pPr algn="l" marL="256032" indent="-256032" lvl="0">
              <a:spcBef>
                <a:spcPts val="700"/>
              </a:spcBef>
              <a:buClr>
                <a:srgbClr val="F76945"/>
              </a:buClr>
              <a:buFont typeface="Arial"/>
              <a:buChar char="•"/>
            </a:pPr>
            <a:r>
              <a:rPr sz="2000" b="0">
                <a:solidFill>
                  <a:srgbClr val="111111"/>
                </a:solidFill>
                <a:latin typeface="Inter"/>
              </a:rPr>
              <a:t>Focus on given task— better performance</a:t>
            </a:r>
          </a:p>
          <a:p>
            <a:pPr algn="l" marL="512064" indent="-219456" lvl="1">
              <a:spcBef>
                <a:spcPts val="300"/>
              </a:spcBef>
              <a:buClr>
                <a:srgbClr val="F76945"/>
              </a:buClr>
              <a:buFont typeface="Arial"/>
              <a:buChar char="–"/>
            </a:pPr>
            <a:r>
              <a:rPr sz="1800" b="0">
                <a:solidFill>
                  <a:srgbClr val="555555"/>
                </a:solidFill>
                <a:latin typeface="Inter"/>
              </a:rPr>
              <a:t>Logistic regression, SVMs</a:t>
            </a:r>
          </a:p>
          <a:p>
            <a:pPr algn="l" marL="512064" indent="-219456" lvl="1">
              <a:spcBef>
                <a:spcPts val="300"/>
              </a:spcBef>
              <a:buClr>
                <a:srgbClr val="F76945"/>
              </a:buClr>
              <a:buFont typeface="Arial"/>
              <a:buChar char="–"/>
            </a:pPr>
            <a:r>
              <a:rPr sz="1800" b="0">
                <a:solidFill>
                  <a:srgbClr val="555555"/>
                </a:solidFill>
                <a:latin typeface="Inter"/>
              </a:rPr>
              <a:t>Traditional neural networks, Nearest neighbor</a:t>
            </a:r>
          </a:p>
          <a:p>
            <a:pPr algn="l" marL="512064" indent="-219456" lvl="1">
              <a:spcBef>
                <a:spcPts val="300"/>
              </a:spcBef>
              <a:buClr>
                <a:srgbClr val="F76945"/>
              </a:buClr>
              <a:buFont typeface="Arial"/>
              <a:buChar char="–"/>
            </a:pPr>
            <a:r>
              <a:rPr sz="1800" b="0">
                <a:solidFill>
                  <a:srgbClr val="555555"/>
                </a:solidFill>
                <a:latin typeface="Inter"/>
              </a:rPr>
              <a:t>Conditional Random Fields (CRF)</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Hidden Markov models use structured networks to model joint distributions of observed sequences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148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859536"/>
          </a:xfrm>
          <a:prstGeom prst="roundRect">
            <a:avLst>
              <a:gd name="adj" fmla="val 163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44752"/>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58137"/>
            <a:ext cx="340156" cy="340156"/>
          </a:xfrm>
          <a:prstGeom prst="rect">
            <a:avLst/>
          </a:prstGeom>
        </p:spPr>
      </p:pic>
      <p:sp>
        <p:nvSpPr>
          <p:cNvPr id="11" name="TextBox 10"/>
          <p:cNvSpPr txBox="1"/>
          <p:nvPr/>
        </p:nvSpPr>
        <p:spPr>
          <a:xfrm>
            <a:off x="1408175" y="1371600"/>
            <a:ext cx="6538874" cy="713232"/>
          </a:xfrm>
          <a:prstGeom prst="rect">
            <a:avLst/>
          </a:prstGeom>
          <a:noFill/>
        </p:spPr>
        <p:txBody>
          <a:bodyPr wrap="square" anchor="ctr" lIns="0" tIns="0" rIns="0" bIns="0">
            <a:spAutoFit/>
          </a:bodyPr>
          <a:lstStyle/>
          <a:p>
            <a:pPr algn="l"/>
            <a:r>
              <a:rPr sz="1450" b="0">
                <a:solidFill>
                  <a:srgbClr val="111111"/>
                </a:solidFill>
                <a:latin typeface="Inter"/>
              </a:rPr>
              <a:t>X is observed data sequence to be labeled, y y Y is the random variable over the label sequences HMM is a distribution that models p(Y X) Joint distribution is po</a:t>
            </a:r>
          </a:p>
        </p:txBody>
      </p:sp>
      <p:sp>
        <p:nvSpPr>
          <p:cNvPr id="12" name="Rounded Rectangle 11"/>
          <p:cNvSpPr/>
          <p:nvPr/>
        </p:nvSpPr>
        <p:spPr>
          <a:xfrm>
            <a:off x="457200" y="2359152"/>
            <a:ext cx="7691018" cy="859536"/>
          </a:xfrm>
          <a:prstGeom prst="roundRect">
            <a:avLst>
              <a:gd name="adj" fmla="val 163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50545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2618841"/>
            <a:ext cx="340156" cy="340156"/>
          </a:xfrm>
          <a:prstGeom prst="rect">
            <a:avLst/>
          </a:prstGeom>
        </p:spPr>
      </p:pic>
      <p:sp>
        <p:nvSpPr>
          <p:cNvPr id="15" name="TextBox 14"/>
          <p:cNvSpPr txBox="1"/>
          <p:nvPr/>
        </p:nvSpPr>
        <p:spPr>
          <a:xfrm>
            <a:off x="1408175" y="2432304"/>
            <a:ext cx="6538874" cy="713232"/>
          </a:xfrm>
          <a:prstGeom prst="rect">
            <a:avLst/>
          </a:prstGeom>
          <a:noFill/>
        </p:spPr>
        <p:txBody>
          <a:bodyPr wrap="square" anchor="ctr" lIns="0" tIns="0" rIns="0" bIns="0">
            <a:spAutoFit/>
          </a:bodyPr>
          <a:lstStyle/>
          <a:p>
            <a:pPr algn="l"/>
            <a:r>
              <a:rPr sz="1710" b="0">
                <a:solidFill>
                  <a:srgbClr val="111111"/>
                </a:solidFill>
                <a:latin typeface="Inter"/>
              </a:rPr>
              <a:t>Highly structured network indicates conditional independences</a:t>
            </a:r>
          </a:p>
        </p:txBody>
      </p:sp>
      <p:sp>
        <p:nvSpPr>
          <p:cNvPr id="16" name="Rounded Rectangle 15"/>
          <p:cNvSpPr/>
          <p:nvPr/>
        </p:nvSpPr>
        <p:spPr>
          <a:xfrm>
            <a:off x="457200" y="3419856"/>
            <a:ext cx="7691018" cy="859536"/>
          </a:xfrm>
          <a:prstGeom prst="roundRect">
            <a:avLst>
              <a:gd name="adj" fmla="val 163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5661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679545"/>
            <a:ext cx="340156" cy="340156"/>
          </a:xfrm>
          <a:prstGeom prst="rect">
            <a:avLst/>
          </a:prstGeom>
        </p:spPr>
      </p:pic>
      <p:sp>
        <p:nvSpPr>
          <p:cNvPr id="19" name="TextBox 18"/>
          <p:cNvSpPr txBox="1"/>
          <p:nvPr/>
        </p:nvSpPr>
        <p:spPr>
          <a:xfrm>
            <a:off x="1408175" y="3493008"/>
            <a:ext cx="6538874" cy="713232"/>
          </a:xfrm>
          <a:prstGeom prst="rect">
            <a:avLst/>
          </a:prstGeom>
          <a:noFill/>
        </p:spPr>
        <p:txBody>
          <a:bodyPr wrap="square" anchor="ctr" lIns="0" tIns="0" rIns="0" bIns="0">
            <a:spAutoFit/>
          </a:bodyPr>
          <a:lstStyle/>
          <a:p>
            <a:pPr algn="l"/>
            <a:r>
              <a:rPr sz="1710" b="0">
                <a:solidFill>
                  <a:srgbClr val="111111"/>
                </a:solidFill>
                <a:latin typeface="Inter"/>
              </a:rPr>
              <a:t>past states independent of future states</a:t>
            </a:r>
          </a:p>
        </p:txBody>
      </p:sp>
      <p:sp>
        <p:nvSpPr>
          <p:cNvPr id="20" name="Rounded Rectangle 19"/>
          <p:cNvSpPr/>
          <p:nvPr/>
        </p:nvSpPr>
        <p:spPr>
          <a:xfrm>
            <a:off x="457200" y="4480560"/>
            <a:ext cx="7691018" cy="859536"/>
          </a:xfrm>
          <a:prstGeom prst="roundRect">
            <a:avLst>
              <a:gd name="adj" fmla="val 163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62686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4740249"/>
            <a:ext cx="340156" cy="340156"/>
          </a:xfrm>
          <a:prstGeom prst="rect">
            <a:avLst/>
          </a:prstGeom>
        </p:spPr>
      </p:pic>
      <p:sp>
        <p:nvSpPr>
          <p:cNvPr id="23" name="TextBox 22"/>
          <p:cNvSpPr txBox="1"/>
          <p:nvPr/>
        </p:nvSpPr>
        <p:spPr>
          <a:xfrm>
            <a:off x="1408175" y="4553712"/>
            <a:ext cx="6538874" cy="713232"/>
          </a:xfrm>
          <a:prstGeom prst="rect">
            <a:avLst/>
          </a:prstGeom>
          <a:noFill/>
        </p:spPr>
        <p:txBody>
          <a:bodyPr wrap="square" anchor="ctr" lIns="0" tIns="0" rIns="0" bIns="0">
            <a:spAutoFit/>
          </a:bodyPr>
          <a:lstStyle/>
          <a:p>
            <a:pPr algn="l"/>
            <a:r>
              <a:rPr sz="1710" b="0">
                <a:solidFill>
                  <a:srgbClr val="111111"/>
                </a:solidFill>
                <a:latin typeface="Inter"/>
              </a:rPr>
              <a:t>Conditional independence of observed</a:t>
            </a:r>
          </a:p>
        </p:txBody>
      </p:sp>
      <p:sp>
        <p:nvSpPr>
          <p:cNvPr id="24" name="Rounded Rectangle 23"/>
          <p:cNvSpPr/>
          <p:nvPr/>
        </p:nvSpPr>
        <p:spPr>
          <a:xfrm>
            <a:off x="457200" y="5541264"/>
            <a:ext cx="7691018" cy="859536"/>
          </a:xfrm>
          <a:prstGeom prst="roundRect">
            <a:avLst>
              <a:gd name="adj" fmla="val 1638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5687568"/>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5800953"/>
            <a:ext cx="340156" cy="340156"/>
          </a:xfrm>
          <a:prstGeom prst="rect">
            <a:avLst/>
          </a:prstGeom>
        </p:spPr>
      </p:pic>
      <p:sp>
        <p:nvSpPr>
          <p:cNvPr id="27" name="TextBox 26"/>
          <p:cNvSpPr txBox="1"/>
          <p:nvPr/>
        </p:nvSpPr>
        <p:spPr>
          <a:xfrm>
            <a:off x="1408175" y="5614416"/>
            <a:ext cx="6538874" cy="713232"/>
          </a:xfrm>
          <a:prstGeom prst="rect">
            <a:avLst/>
          </a:prstGeom>
          <a:noFill/>
        </p:spPr>
        <p:txBody>
          <a:bodyPr wrap="square" anchor="ctr" lIns="0" tIns="0" rIns="0" bIns="0">
            <a:spAutoFit/>
          </a:bodyPr>
          <a:lstStyle/>
          <a:p>
            <a:pPr algn="l"/>
            <a:r>
              <a:rPr sz="1710" b="0">
                <a:solidFill>
                  <a:srgbClr val="111111"/>
                </a:solidFill>
                <a:latin typeface="Inter"/>
              </a:rPr>
              <a:t>given its state</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random fields model conditional distributions globally conditioned on observations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149 / 229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ounded Rectangle 7"/>
          <p:cNvSpPr/>
          <p:nvPr/>
        </p:nvSpPr>
        <p:spPr>
          <a:xfrm>
            <a:off x="457200" y="1298448"/>
            <a:ext cx="7691018"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9832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911705"/>
            <a:ext cx="340156" cy="340156"/>
          </a:xfrm>
          <a:prstGeom prst="rect">
            <a:avLst/>
          </a:prstGeom>
        </p:spPr>
      </p:pic>
      <p:sp>
        <p:nvSpPr>
          <p:cNvPr id="11" name="TextBox 10"/>
          <p:cNvSpPr txBox="1"/>
          <p:nvPr/>
        </p:nvSpPr>
        <p:spPr>
          <a:xfrm>
            <a:off x="1408175" y="1371600"/>
            <a:ext cx="6538874" cy="1420368"/>
          </a:xfrm>
          <a:prstGeom prst="rect">
            <a:avLst/>
          </a:prstGeom>
          <a:noFill/>
        </p:spPr>
        <p:txBody>
          <a:bodyPr wrap="square" anchor="ctr" lIns="0" tIns="0" rIns="0" bIns="0">
            <a:spAutoFit/>
          </a:bodyPr>
          <a:lstStyle/>
          <a:p>
            <a:pPr algn="l"/>
            <a:r>
              <a:rPr sz="2000" b="0">
                <a:solidFill>
                  <a:srgbClr val="111111"/>
                </a:solidFill>
                <a:latin typeface="Inter"/>
              </a:rPr>
              <a:t>CRF models the conditional distribution p(Y/X)</a:t>
            </a:r>
          </a:p>
        </p:txBody>
      </p:sp>
      <p:sp>
        <p:nvSpPr>
          <p:cNvPr id="12" name="Rounded Rectangle 11"/>
          <p:cNvSpPr/>
          <p:nvPr/>
        </p:nvSpPr>
        <p:spPr>
          <a:xfrm>
            <a:off x="457200" y="3066287"/>
            <a:ext cx="7691018"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56615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679545"/>
            <a:ext cx="340156" cy="340156"/>
          </a:xfrm>
          <a:prstGeom prst="rect">
            <a:avLst/>
          </a:prstGeom>
        </p:spPr>
      </p:pic>
      <p:sp>
        <p:nvSpPr>
          <p:cNvPr id="15" name="TextBox 14"/>
          <p:cNvSpPr txBox="1"/>
          <p:nvPr/>
        </p:nvSpPr>
        <p:spPr>
          <a:xfrm>
            <a:off x="1408175" y="3139440"/>
            <a:ext cx="6538874" cy="1420368"/>
          </a:xfrm>
          <a:prstGeom prst="rect">
            <a:avLst/>
          </a:prstGeom>
          <a:noFill/>
        </p:spPr>
        <p:txBody>
          <a:bodyPr wrap="square" anchor="ctr" lIns="0" tIns="0" rIns="0" bIns="0">
            <a:spAutoFit/>
          </a:bodyPr>
          <a:lstStyle/>
          <a:p>
            <a:pPr algn="l"/>
            <a:r>
              <a:rPr sz="2000" b="0">
                <a:solidFill>
                  <a:srgbClr val="111111"/>
                </a:solidFill>
                <a:latin typeface="Inter"/>
              </a:rPr>
              <a:t>CREF is a random field globally conditioned observation X</a:t>
            </a:r>
          </a:p>
        </p:txBody>
      </p:sp>
      <p:sp>
        <p:nvSpPr>
          <p:cNvPr id="16" name="Rounded Rectangle 15"/>
          <p:cNvSpPr/>
          <p:nvPr/>
        </p:nvSpPr>
        <p:spPr>
          <a:xfrm>
            <a:off x="457200" y="4834128"/>
            <a:ext cx="7691018"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53340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5447385"/>
            <a:ext cx="340156" cy="340156"/>
          </a:xfrm>
          <a:prstGeom prst="rect">
            <a:avLst/>
          </a:prstGeom>
        </p:spPr>
      </p:pic>
      <p:sp>
        <p:nvSpPr>
          <p:cNvPr id="19" name="TextBox 18"/>
          <p:cNvSpPr txBox="1"/>
          <p:nvPr/>
        </p:nvSpPr>
        <p:spPr>
          <a:xfrm>
            <a:off x="1408175" y="4907280"/>
            <a:ext cx="6538874" cy="1420368"/>
          </a:xfrm>
          <a:prstGeom prst="rect">
            <a:avLst/>
          </a:prstGeom>
          <a:noFill/>
        </p:spPr>
        <p:txBody>
          <a:bodyPr wrap="square" anchor="ctr" lIns="0" tIns="0" rIns="0" bIns="0">
            <a:spAutoFit/>
          </a:bodyPr>
          <a:lstStyle/>
          <a:p>
            <a:pPr algn="l"/>
            <a:r>
              <a:rPr sz="2400" b="1">
                <a:solidFill>
                  <a:srgbClr val="1365A5"/>
                </a:solidFill>
                <a:latin typeface="Bebas Neue"/>
              </a:rPr>
              <a:t>Conditional distribution P(Y|X)</a:t>
            </a:r>
          </a:p>
          <a:p>
            <a:pPr algn="l">
              <a:spcBef>
                <a:spcPts val="500"/>
              </a:spcBef>
            </a:pPr>
            <a:r>
              <a:rPr sz="2000" b="0">
                <a:solidFill>
                  <a:srgbClr val="111111"/>
                </a:solidFill>
                <a:latin typeface="Inter"/>
              </a:rPr>
              <a:t>The conditional distribution P(Y|X) that follows from the joint distribution p(Y,X) can be rewritten as a Markov Random Field 20</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FFFFFF"/>
                </a:solidFill>
              </a:defRPr>
            </a:pPr>
            <a:r>
              <a:rPr>
                <a:latin typeface="Bebas Neue"/>
              </a:rPr>
              <a:t>Discriminative Model for Sequential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150 / 229</a:t>
            </a:r>
          </a:p>
        </p:txBody>
      </p:sp>
      <p:sp>
        <p:nvSpPr>
          <p:cNvPr id="7" name="Rounded Rectangle 6"/>
          <p:cNvSpPr/>
          <p:nvPr/>
        </p:nvSpPr>
        <p:spPr>
          <a:xfrm>
            <a:off x="2340332" y="1298448"/>
            <a:ext cx="7508286"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04924" y="1463040"/>
            <a:ext cx="7179102" cy="4773168"/>
          </a:xfrm>
          <a:prstGeom prst="rect">
            <a:avLst/>
          </a:prstGeom>
        </p:spPr>
      </p:pic>
    </p:spTree>
  </p:cSld>
  <p:clrMapOvr>
    <a:masterClrMapping/>
  </p:clrMapOvr>
  <p:transition spd="med">
    <p:cover dir="r"/>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950" b="1">
                <a:solidFill>
                  <a:srgbClr val="FFFFFF"/>
                </a:solidFill>
              </a:defRPr>
            </a:pPr>
            <a:r>
              <a:rPr>
                <a:latin typeface="Bebas Neue"/>
              </a:rPr>
              <a:t>Discriminative Model for Sequential Data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151 / 229</a:t>
            </a:r>
          </a:p>
        </p:txBody>
      </p:sp>
      <p:sp>
        <p:nvSpPr>
          <p:cNvPr id="7" name="Rounded Rectangle 6"/>
          <p:cNvSpPr/>
          <p:nvPr/>
        </p:nvSpPr>
        <p:spPr>
          <a:xfrm>
            <a:off x="2515430" y="1298448"/>
            <a:ext cx="7158090"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680022" y="1463040"/>
            <a:ext cx="6828906" cy="4773168"/>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Conditional random fields flexibly incorporate arbitrary non-independent observation features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152 / 229</a:t>
            </a:r>
          </a:p>
        </p:txBody>
      </p:sp>
      <p:sp>
        <p:nvSpPr>
          <p:cNvPr id="8" name="Rectangle 7"/>
          <p:cNvSpPr/>
          <p:nvPr/>
        </p:nvSpPr>
        <p:spPr>
          <a:xfrm>
            <a:off x="457200" y="1325880"/>
            <a:ext cx="73152" cy="7498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841248"/>
          </a:xfrm>
          <a:prstGeom prst="rect">
            <a:avLst/>
          </a:prstGeom>
          <a:noFill/>
        </p:spPr>
        <p:txBody>
          <a:bodyPr wrap="square" anchor="ctr" lIns="0" tIns="0" rIns="0" bIns="0">
            <a:spAutoFit/>
          </a:bodyPr>
          <a:lstStyle/>
          <a:p>
            <a:pPr algn="l"/>
            <a:r>
              <a:rPr sz="2400" b="1">
                <a:solidFill>
                  <a:srgbClr val="1365A5"/>
                </a:solidFill>
                <a:latin typeface="Bebas Neue"/>
              </a:rPr>
              <a:t>Include a wide variety of arbitrary, non-independent features of the observations.</a:t>
            </a:r>
          </a:p>
        </p:txBody>
      </p:sp>
      <p:sp>
        <p:nvSpPr>
          <p:cNvPr id="10" name="Rounded Rectangle 9"/>
          <p:cNvSpPr/>
          <p:nvPr/>
        </p:nvSpPr>
        <p:spPr>
          <a:xfrm>
            <a:off x="457200" y="2340864"/>
            <a:ext cx="3624072" cy="1377166"/>
          </a:xfrm>
          <a:prstGeom prst="roundRect">
            <a:avLst>
              <a:gd name="adj" fmla="val 1022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01798"/>
            <a:ext cx="3221736" cy="1055298"/>
          </a:xfrm>
          <a:prstGeom prst="rect">
            <a:avLst/>
          </a:prstGeom>
          <a:noFill/>
        </p:spPr>
        <p:txBody>
          <a:bodyPr wrap="square" anchor="t" lIns="0" tIns="0" rIns="0" bIns="0">
            <a:spAutoFit/>
          </a:bodyPr>
          <a:lstStyle/>
          <a:p>
            <a:pPr algn="l"/>
            <a:r>
              <a:rPr sz="1689" b="1">
                <a:solidFill>
                  <a:srgbClr val="1365A5"/>
                </a:solidFill>
                <a:latin typeface="Bebas Neue"/>
              </a:rPr>
              <a:t>Hidden Markov Model (HMM)</a:t>
            </a:r>
          </a:p>
          <a:p>
            <a:pPr algn="l" marL="256032" indent="-256032" lvl="0">
              <a:spcBef>
                <a:spcPts val="700"/>
              </a:spcBef>
              <a:buClr>
                <a:srgbClr val="F76945"/>
              </a:buClr>
              <a:buFont typeface="Arial"/>
              <a:buChar char="•"/>
            </a:pPr>
            <a:r>
              <a:rPr sz="1350" b="0">
                <a:solidFill>
                  <a:srgbClr val="111111"/>
                </a:solidFill>
                <a:latin typeface="Inter"/>
              </a:rPr>
              <a:t>HMMs</a:t>
            </a:r>
          </a:p>
        </p:txBody>
      </p:sp>
      <p:sp>
        <p:nvSpPr>
          <p:cNvPr id="13" name="Rounded Rectangle 12"/>
          <p:cNvSpPr/>
          <p:nvPr/>
        </p:nvSpPr>
        <p:spPr>
          <a:xfrm>
            <a:off x="4282440" y="2340864"/>
            <a:ext cx="3624072" cy="1377166"/>
          </a:xfrm>
          <a:prstGeom prst="roundRect">
            <a:avLst>
              <a:gd name="adj" fmla="val 1022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608" y="2501798"/>
            <a:ext cx="3221736" cy="1055298"/>
          </a:xfrm>
          <a:prstGeom prst="rect">
            <a:avLst/>
          </a:prstGeom>
          <a:noFill/>
        </p:spPr>
        <p:txBody>
          <a:bodyPr wrap="square" anchor="t" lIns="0" tIns="0" rIns="0" bIns="0">
            <a:spAutoFit/>
          </a:bodyPr>
          <a:lstStyle/>
          <a:p>
            <a:pPr algn="l"/>
            <a:r>
              <a:rPr sz="1689" b="1">
                <a:solidFill>
                  <a:srgbClr val="1365A5"/>
                </a:solidFill>
                <a:latin typeface="Bebas Neue"/>
              </a:rPr>
              <a:t>Conditional Random Fields (CRF) CONDITIDNAL</a:t>
            </a:r>
          </a:p>
          <a:p>
            <a:pPr algn="l" marL="256032" indent="-256032" lvl="0">
              <a:spcBef>
                <a:spcPts val="700"/>
              </a:spcBef>
              <a:buClr>
                <a:srgbClr val="F76945"/>
              </a:buClr>
              <a:buFont typeface="Arial"/>
              <a:buChar char="•"/>
            </a:pPr>
            <a:r>
              <a:rPr sz="1350" b="0">
                <a:solidFill>
                  <a:srgbClr val="111111"/>
                </a:solidFill>
                <a:latin typeface="Inter"/>
              </a:rPr>
              <a:t>ply|x exp 2. Yt-1, Xt Cy</a:t>
            </a:r>
          </a:p>
        </p:txBody>
      </p:sp>
      <p:sp>
        <p:nvSpPr>
          <p:cNvPr id="16" name="Rounded Rectangle 15"/>
          <p:cNvSpPr/>
          <p:nvPr/>
        </p:nvSpPr>
        <p:spPr>
          <a:xfrm>
            <a:off x="8107680" y="2340864"/>
            <a:ext cx="3624072" cy="1377166"/>
          </a:xfrm>
          <a:prstGeom prst="roundRect">
            <a:avLst>
              <a:gd name="adj" fmla="val 1022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680" y="250545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2501798"/>
            <a:ext cx="3221736" cy="1055298"/>
          </a:xfrm>
          <a:prstGeom prst="rect">
            <a:avLst/>
          </a:prstGeom>
          <a:noFill/>
        </p:spPr>
        <p:txBody>
          <a:bodyPr wrap="square" anchor="t" lIns="0" tIns="0" rIns="0" bIns="0">
            <a:spAutoFit/>
          </a:bodyPr>
          <a:lstStyle/>
          <a:p>
            <a:pPr algn="l"/>
            <a:r>
              <a:rPr sz="1689" b="1">
                <a:solidFill>
                  <a:srgbClr val="1365A5"/>
                </a:solidFill>
                <a:latin typeface="Bebas Neue"/>
              </a:rPr>
              <a:t>A key advantage of CRF is their great flexibility to</a:t>
            </a:r>
          </a:p>
          <a:p>
            <a:pPr algn="l" marL="256032" indent="-256032" lvl="0">
              <a:spcBef>
                <a:spcPts val="700"/>
              </a:spcBef>
              <a:buClr>
                <a:srgbClr val="F76945"/>
              </a:buClr>
              <a:buFont typeface="Arial"/>
              <a:buChar char="•"/>
            </a:pPr>
            <a:r>
              <a:rPr sz="1350" b="0">
                <a:solidFill>
                  <a:srgbClr val="111111"/>
                </a:solidFill>
                <a:latin typeface="Inter"/>
              </a:rPr>
              <a:t>Linear-chain CRFs</a:t>
            </a:r>
          </a:p>
        </p:txBody>
      </p:sp>
      <p:sp>
        <p:nvSpPr>
          <p:cNvPr id="19" name="Rounded Rectangle 18"/>
          <p:cNvSpPr/>
          <p:nvPr/>
        </p:nvSpPr>
        <p:spPr>
          <a:xfrm>
            <a:off x="457200" y="3919198"/>
            <a:ext cx="11274552"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Sequence Models Conditional Random Fields are flexible sequence models that handle arbitrary, non-independent features of observations. They improve upon models like Hidden Markov Models by allowing overlapping features without strict independence assumptions. Example: A CRF can look at capitalization, surrounding words, and suffixes simultaneously to label text.</a:t>
            </a:r>
          </a:p>
        </p:txBody>
      </p:sp>
      <p:sp>
        <p:nvSpPr>
          <p:cNvPr id="22" name="Rounded Rectangle 2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Hmms — Hidden Markov Models  ·  Conditional Random Field — A sequence model that includes a wide variety of arbitrary, non-independent observation features.  ·  Linear-chain CRF — A specific CRF architecture used for sequential data labeling tasks.</a:t>
            </a:r>
          </a:p>
        </p:txBody>
      </p:sp>
      <p:sp>
        <p:nvSpPr>
          <p:cNvPr id="23" name="Rectangle 2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 TTY Y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153 / 229</a:t>
            </a:r>
          </a:p>
        </p:txBody>
      </p:sp>
      <p:sp>
        <p:nvSpPr>
          <p:cNvPr id="7" name="Rounded Rectangle 6"/>
          <p:cNvSpPr/>
          <p:nvPr/>
        </p:nvSpPr>
        <p:spPr>
          <a:xfrm>
            <a:off x="2902543" y="1298448"/>
            <a:ext cx="6383864"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067135" y="1463040"/>
            <a:ext cx="6054680" cy="4773168"/>
          </a:xfrm>
          <a:prstGeom prst="rect">
            <a:avLst/>
          </a:prstGeom>
        </p:spPr>
      </p:pic>
    </p:spTree>
  </p:cSld>
  <p:clrMapOvr>
    <a:masterClrMapping/>
  </p:clrMapOvr>
  <p:transition spd="med">
    <p:zoom dir="in"/>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Part of speech tagging assigns syntactic labels to a sequence of words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154 / 229</a:t>
            </a:r>
          </a:p>
        </p:txBody>
      </p:sp>
      <p:sp>
        <p:nvSpPr>
          <p:cNvPr id="8" name="Rectangle 7"/>
          <p:cNvSpPr/>
          <p:nvPr/>
        </p:nvSpPr>
        <p:spPr>
          <a:xfrm>
            <a:off x="457200" y="1325880"/>
            <a:ext cx="73152" cy="36576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1365A5"/>
                </a:solidFill>
                <a:latin typeface="Bebas Neue"/>
              </a:rPr>
              <a:t>W= The quick brown fox jumped over the lazy dog</a:t>
            </a:r>
          </a:p>
        </p:txBody>
      </p:sp>
      <p:sp>
        <p:nvSpPr>
          <p:cNvPr id="10" name="Rounded Rectangle 9"/>
          <p:cNvSpPr/>
          <p:nvPr/>
        </p:nvSpPr>
        <p:spPr>
          <a:xfrm>
            <a:off x="457200" y="1956815"/>
            <a:ext cx="5536692" cy="2203967"/>
          </a:xfrm>
          <a:prstGeom prst="roundRect">
            <a:avLst>
              <a:gd name="adj" fmla="val 638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17750"/>
            <a:ext cx="5134355" cy="1882098"/>
          </a:xfrm>
          <a:prstGeom prst="rect">
            <a:avLst/>
          </a:prstGeom>
          <a:noFill/>
        </p:spPr>
        <p:txBody>
          <a:bodyPr wrap="square" anchor="t" lIns="0" tIns="0" rIns="0" bIns="0">
            <a:spAutoFit/>
          </a:bodyPr>
          <a:lstStyle/>
          <a:p>
            <a:pPr algn="l"/>
            <a:r>
              <a:rPr sz="2250" b="1">
                <a:solidFill>
                  <a:srgbClr val="1365A5"/>
                </a:solidFill>
                <a:latin typeface="Bebas Neue"/>
              </a:rPr>
              <a:t>DET VERB ADJ NOUN-S VERB-P PREP DET ADJ NOUN-S</a:t>
            </a:r>
          </a:p>
          <a:p>
            <a:pPr algn="l" marL="256032" indent="-256032" lvl="0">
              <a:spcBef>
                <a:spcPts val="700"/>
              </a:spcBef>
              <a:buClr>
                <a:srgbClr val="F76945"/>
              </a:buClr>
              <a:buFont typeface="Arial"/>
              <a:buChar char="•"/>
            </a:pPr>
            <a:r>
              <a:rPr sz="1800" b="0">
                <a:solidFill>
                  <a:srgbClr val="111111"/>
                </a:solidFill>
                <a:latin typeface="Inter"/>
              </a:rPr>
              <a:t>Baseline is already 90%</a:t>
            </a:r>
          </a:p>
        </p:txBody>
      </p:sp>
      <p:sp>
        <p:nvSpPr>
          <p:cNvPr id="13" name="Rounded Rectangle 12"/>
          <p:cNvSpPr/>
          <p:nvPr/>
        </p:nvSpPr>
        <p:spPr>
          <a:xfrm>
            <a:off x="6195059" y="1956815"/>
            <a:ext cx="5536692" cy="2203967"/>
          </a:xfrm>
          <a:prstGeom prst="roundRect">
            <a:avLst>
              <a:gd name="adj" fmla="val 638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5059"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6227" y="2117750"/>
            <a:ext cx="5134355" cy="1882098"/>
          </a:xfrm>
          <a:prstGeom prst="rect">
            <a:avLst/>
          </a:prstGeom>
          <a:noFill/>
        </p:spPr>
        <p:txBody>
          <a:bodyPr wrap="square" anchor="t" lIns="0" tIns="0" rIns="0" bIns="0">
            <a:spAutoFit/>
          </a:bodyPr>
          <a:lstStyle/>
          <a:p>
            <a:pPr algn="l"/>
            <a:r>
              <a:rPr sz="2250" b="1">
                <a:solidFill>
                  <a:srgbClr val="1365A5"/>
                </a:solidFill>
                <a:latin typeface="Bebas Neue"/>
              </a:rPr>
              <a:t>Model | Error</a:t>
            </a:r>
          </a:p>
          <a:p>
            <a:pPr algn="l" marL="256032" indent="-256032" lvl="0">
              <a:spcBef>
                <a:spcPts val="700"/>
              </a:spcBef>
              <a:buClr>
                <a:srgbClr val="F76945"/>
              </a:buClr>
              <a:buFont typeface="Arial"/>
              <a:buChar char="•"/>
            </a:pPr>
            <a:r>
              <a:rPr sz="1800" b="0">
                <a:solidFill>
                  <a:srgbClr val="111111"/>
                </a:solidFill>
                <a:latin typeface="Inter"/>
              </a:rPr>
              <a:t>Tag every word with its most frequent tag</a:t>
            </a:r>
          </a:p>
          <a:p>
            <a:pPr algn="l" marL="256032" indent="-256032" lvl="0">
              <a:spcBef>
                <a:spcPts val="700"/>
              </a:spcBef>
              <a:buClr>
                <a:srgbClr val="F76945"/>
              </a:buClr>
              <a:buFont typeface="Arial"/>
              <a:buChar char="•"/>
            </a:pPr>
            <a:r>
              <a:rPr sz="1800" b="0">
                <a:solidFill>
                  <a:srgbClr val="111111"/>
                </a:solidFill>
                <a:latin typeface="Inter"/>
              </a:rPr>
              <a:t>5.69% * Tag unknown words as nouns</a:t>
            </a:r>
          </a:p>
          <a:p>
            <a:pPr algn="l" marL="256032" indent="-256032" lvl="0">
              <a:spcBef>
                <a:spcPts val="700"/>
              </a:spcBef>
              <a:buClr>
                <a:srgbClr val="F76945"/>
              </a:buClr>
              <a:buFont typeface="Arial"/>
              <a:buChar char="•"/>
            </a:pPr>
            <a:r>
              <a:rPr sz="1800" b="0">
                <a:solidFill>
                  <a:srgbClr val="111111"/>
                </a:solidFill>
                <a:latin typeface="Inter"/>
              </a:rPr>
              <a:t>Per-word error rates for POS tagging on the Penn treebank</a:t>
            </a:r>
          </a:p>
        </p:txBody>
      </p:sp>
      <p:sp>
        <p:nvSpPr>
          <p:cNvPr id="16" name="Rounded Rectangle 15"/>
          <p:cNvSpPr/>
          <p:nvPr/>
        </p:nvSpPr>
        <p:spPr>
          <a:xfrm>
            <a:off x="457200" y="4361951"/>
            <a:ext cx="11274552" cy="923280"/>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61951"/>
            <a:ext cx="73152" cy="92328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435103"/>
            <a:ext cx="10879531" cy="776976"/>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mapping 'The quick brown fox' to 'DET ADJ ADJ NOUN'.</a:t>
            </a:r>
          </a:p>
          <a:p>
            <a:pPr algn="l">
              <a:spcBef>
                <a:spcPts val="300"/>
              </a:spcBef>
            </a:pPr>
            <a:r>
              <a:rPr sz="1400" b="0">
                <a:solidFill>
                  <a:srgbClr val="111111"/>
                </a:solidFill>
                <a:latin typeface="Inter"/>
              </a:rPr>
              <a:t>For a sequence of words w = {W,,W&gt;,..W,} find syntactic labels s for each word:</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pos — Parts of Speech Tagging  ·  POS Tagging — Finding syntactic labels for each word in a sequence of words.  ·  Baseline model — Tagging every word with its most frequent tag to achieve basic accuracy.</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Table extraction identifies table lines and roles for data mining and IR</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155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7"/>
            <a:ext cx="3774947"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22804" cy="1048512"/>
          </a:xfrm>
          <a:prstGeom prst="rect">
            <a:avLst/>
          </a:prstGeom>
          <a:noFill/>
        </p:spPr>
        <p:txBody>
          <a:bodyPr wrap="square" anchor="ctr" lIns="0" tIns="0" rIns="0" bIns="0">
            <a:spAutoFit/>
          </a:bodyPr>
          <a:lstStyle/>
          <a:p>
            <a:pPr algn="l"/>
            <a:r>
              <a:rPr sz="1600" b="1">
                <a:solidFill>
                  <a:srgbClr val="1365A5"/>
                </a:solidFill>
                <a:latin typeface="Bebas Neue"/>
              </a:rPr>
              <a:t>Label lines</a:t>
            </a:r>
          </a:p>
          <a:p>
            <a:pPr algn="l">
              <a:spcBef>
                <a:spcPts val="500"/>
              </a:spcBef>
            </a:pPr>
            <a:r>
              <a:rPr sz="1330" b="0">
                <a:solidFill>
                  <a:srgbClr val="111111"/>
                </a:solidFill>
                <a:latin typeface="Inter"/>
              </a:rPr>
              <a:t>To label lines of text document</a:t>
            </a:r>
          </a:p>
        </p:txBody>
      </p:sp>
      <p:sp>
        <p:nvSpPr>
          <p:cNvPr id="12" name="Rounded Rectangle 11"/>
          <p:cNvSpPr/>
          <p:nvPr/>
        </p:nvSpPr>
        <p:spPr>
          <a:xfrm>
            <a:off x="4433315" y="1298447"/>
            <a:ext cx="3774947"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725777"/>
            <a:ext cx="340156" cy="340156"/>
          </a:xfrm>
          <a:prstGeom prst="rect">
            <a:avLst/>
          </a:prstGeom>
        </p:spPr>
      </p:pic>
      <p:sp>
        <p:nvSpPr>
          <p:cNvPr id="15" name="TextBox 14"/>
          <p:cNvSpPr txBox="1"/>
          <p:nvPr/>
        </p:nvSpPr>
        <p:spPr>
          <a:xfrm>
            <a:off x="5384291" y="1371599"/>
            <a:ext cx="2622804" cy="1048512"/>
          </a:xfrm>
          <a:prstGeom prst="rect">
            <a:avLst/>
          </a:prstGeom>
          <a:noFill/>
        </p:spPr>
        <p:txBody>
          <a:bodyPr wrap="square" anchor="ctr" lIns="0" tIns="0" rIns="0" bIns="0">
            <a:spAutoFit/>
          </a:bodyPr>
          <a:lstStyle/>
          <a:p>
            <a:pPr algn="l"/>
            <a:r>
              <a:rPr sz="1330" b="0">
                <a:solidFill>
                  <a:srgbClr val="111111"/>
                </a:solidFill>
                <a:latin typeface="Inter"/>
              </a:rPr>
              <a:t>Whether part of table and its role in table</a:t>
            </a:r>
          </a:p>
        </p:txBody>
      </p:sp>
      <p:sp>
        <p:nvSpPr>
          <p:cNvPr id="16" name="Rounded Rectangle 15"/>
          <p:cNvSpPr/>
          <p:nvPr/>
        </p:nvSpPr>
        <p:spPr>
          <a:xfrm>
            <a:off x="457200" y="2694431"/>
            <a:ext cx="3774947"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22804" cy="1048512"/>
          </a:xfrm>
          <a:prstGeom prst="rect">
            <a:avLst/>
          </a:prstGeom>
          <a:noFill/>
        </p:spPr>
        <p:txBody>
          <a:bodyPr wrap="square" anchor="ctr" lIns="0" tIns="0" rIns="0" bIns="0">
            <a:spAutoFit/>
          </a:bodyPr>
          <a:lstStyle/>
          <a:p>
            <a:pPr algn="l"/>
            <a:r>
              <a:rPr sz="1300" b="0">
                <a:solidFill>
                  <a:srgbClr val="111111"/>
                </a:solidFill>
                <a:latin typeface="Inter"/>
              </a:rPr>
              <a:t>Finding tables and extracting information is necessary component of data mining, question- answering and IR tasks</a:t>
            </a:r>
          </a:p>
        </p:txBody>
      </p:sp>
      <p:sp>
        <p:nvSpPr>
          <p:cNvPr id="20" name="Rounded Rectangle 19"/>
          <p:cNvSpPr/>
          <p:nvPr/>
        </p:nvSpPr>
        <p:spPr>
          <a:xfrm>
            <a:off x="4433315" y="2694431"/>
            <a:ext cx="3774947"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34483"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47869" y="3121761"/>
            <a:ext cx="340156" cy="340156"/>
          </a:xfrm>
          <a:prstGeom prst="rect">
            <a:avLst/>
          </a:prstGeom>
        </p:spPr>
      </p:pic>
      <p:sp>
        <p:nvSpPr>
          <p:cNvPr id="23" name="TextBox 22"/>
          <p:cNvSpPr txBox="1"/>
          <p:nvPr/>
        </p:nvSpPr>
        <p:spPr>
          <a:xfrm>
            <a:off x="5384291" y="2767583"/>
            <a:ext cx="2622804" cy="1048512"/>
          </a:xfrm>
          <a:prstGeom prst="rect">
            <a:avLst/>
          </a:prstGeom>
          <a:noFill/>
        </p:spPr>
        <p:txBody>
          <a:bodyPr wrap="square" anchor="ctr" lIns="0" tIns="0" rIns="0" bIns="0">
            <a:spAutoFit/>
          </a:bodyPr>
          <a:lstStyle/>
          <a:p>
            <a:pPr algn="l"/>
            <a:r>
              <a:rPr sz="1330" b="0">
                <a:solidFill>
                  <a:srgbClr val="111111"/>
                </a:solidFill>
                <a:latin typeface="Inter"/>
              </a:rPr>
              <a:t>Table extraction determines whether text lines belong to a table and defines their roles</a:t>
            </a:r>
          </a:p>
        </p:txBody>
      </p:sp>
      <p:sp>
        <p:nvSpPr>
          <p:cNvPr id="24" name="Rounded Rectangle 23"/>
          <p:cNvSpPr/>
          <p:nvPr/>
        </p:nvSpPr>
        <p:spPr>
          <a:xfrm>
            <a:off x="457200" y="4090415"/>
            <a:ext cx="775106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6598919" cy="1048512"/>
          </a:xfrm>
          <a:prstGeom prst="rect">
            <a:avLst/>
          </a:prstGeom>
          <a:noFill/>
        </p:spPr>
        <p:txBody>
          <a:bodyPr wrap="square" anchor="ctr" lIns="0" tIns="0" rIns="0" bIns="0">
            <a:spAutoFit/>
          </a:bodyPr>
          <a:lstStyle/>
          <a:p>
            <a:pPr algn="l"/>
            <a:r>
              <a:rPr sz="1330" b="0">
                <a:solidFill>
                  <a:srgbClr val="111111"/>
                </a:solidFill>
                <a:latin typeface="Inter"/>
              </a:rPr>
              <a:t>Example: Extracting financial figures from an annual report PDF table</a:t>
            </a:r>
          </a:p>
        </p:txBody>
      </p:sp>
      <p:sp>
        <p:nvSpPr>
          <p:cNvPr id="28" name="Rounded Rectangle 27"/>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Table extraction — Finding tables and extracting information from text documents.  ·  Data mining — The practice of examining large datasets to discover patterns.</a:t>
            </a:r>
          </a:p>
        </p:txBody>
      </p:sp>
      <p:sp>
        <p:nvSpPr>
          <p:cNvPr id="29" name="Rectangle 28"/>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Shallow parsing identifies non-recursive phrase cores using BIO labeling</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156 / 229</a:t>
            </a:r>
          </a:p>
        </p:txBody>
      </p:sp>
      <p:sp>
        <p:nvSpPr>
          <p:cNvPr id="8" name="Rectangle 7"/>
          <p:cNvSpPr/>
          <p:nvPr/>
        </p:nvSpPr>
        <p:spPr>
          <a:xfrm>
            <a:off x="457200" y="1325880"/>
            <a:ext cx="73152" cy="905255"/>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996695"/>
          </a:xfrm>
          <a:prstGeom prst="rect">
            <a:avLst/>
          </a:prstGeom>
          <a:noFill/>
        </p:spPr>
        <p:txBody>
          <a:bodyPr wrap="square" anchor="ctr" lIns="0" tIns="0" rIns="0" bIns="0">
            <a:spAutoFit/>
          </a:bodyPr>
          <a:lstStyle/>
          <a:p>
            <a:pPr algn="l"/>
            <a:r>
              <a:rPr sz="2400" b="1">
                <a:solidFill>
                  <a:srgbClr val="1365A5"/>
                </a:solidFill>
                <a:latin typeface="Bebas Neue"/>
              </a:rPr>
              <a:t>Input: words in a sentence annotated automatically with POS tags</a:t>
            </a:r>
          </a:p>
          <a:p>
            <a:pPr algn="l">
              <a:spcBef>
                <a:spcPts val="400"/>
              </a:spcBef>
            </a:pPr>
            <a:r>
              <a:rPr sz="1400" b="0">
                <a:solidFill>
                  <a:srgbClr val="111111"/>
                </a:solidFill>
                <a:latin typeface="Inter"/>
              </a:rPr>
              <a:t>Rockwell International Corp. |’s Tulsa unit] — said it] signed agreement] extending its contract with] Boeing Co. to provide } structural parts | for] Boeing |} ’s 747 jetliners</a:t>
            </a:r>
          </a:p>
        </p:txBody>
      </p:sp>
      <p:sp>
        <p:nvSpPr>
          <p:cNvPr id="10" name="Rounded Rectangle 9"/>
          <p:cNvSpPr/>
          <p:nvPr/>
        </p:nvSpPr>
        <p:spPr>
          <a:xfrm>
            <a:off x="457200" y="2496311"/>
            <a:ext cx="3624072" cy="1947569"/>
          </a:xfrm>
          <a:prstGeom prst="roundRect">
            <a:avLst>
              <a:gd name="adj" fmla="val 723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660903"/>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57246"/>
            <a:ext cx="3221736" cy="1625700"/>
          </a:xfrm>
          <a:prstGeom prst="rect">
            <a:avLst/>
          </a:prstGeom>
          <a:noFill/>
        </p:spPr>
        <p:txBody>
          <a:bodyPr wrap="square" anchor="t" lIns="0" tIns="0" rIns="0" bIns="0">
            <a:spAutoFit/>
          </a:bodyPr>
          <a:lstStyle/>
          <a:p>
            <a:pPr algn="l"/>
            <a:r>
              <a:rPr sz="1560" b="1">
                <a:solidFill>
                  <a:srgbClr val="1365A5"/>
                </a:solidFill>
                <a:latin typeface="Bebas Neue"/>
              </a:rPr>
              <a:t>Precursor to full parsing or information extraction</a:t>
            </a:r>
          </a:p>
          <a:p>
            <a:pPr algn="l" marL="256032" indent="-256032" lvl="0">
              <a:spcBef>
                <a:spcPts val="700"/>
              </a:spcBef>
              <a:buClr>
                <a:srgbClr val="F76945"/>
              </a:buClr>
              <a:buFont typeface="Arial"/>
              <a:buChar char="•"/>
            </a:pPr>
            <a:r>
              <a:rPr sz="1250" b="0">
                <a:solidFill>
                  <a:srgbClr val="111111"/>
                </a:solidFill>
                <a:latin typeface="Inter"/>
              </a:rPr>
              <a:t>Identifies non-recursive cores of various phrase types in text</a:t>
            </a:r>
          </a:p>
        </p:txBody>
      </p:sp>
      <p:sp>
        <p:nvSpPr>
          <p:cNvPr id="13" name="Rounded Rectangle 12"/>
          <p:cNvSpPr/>
          <p:nvPr/>
        </p:nvSpPr>
        <p:spPr>
          <a:xfrm>
            <a:off x="4282440" y="2496311"/>
            <a:ext cx="3624072" cy="1947569"/>
          </a:xfrm>
          <a:prstGeom prst="roundRect">
            <a:avLst>
              <a:gd name="adj" fmla="val 723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660903"/>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608" y="2657246"/>
            <a:ext cx="3221736" cy="1625700"/>
          </a:xfrm>
          <a:prstGeom prst="rect">
            <a:avLst/>
          </a:prstGeom>
          <a:noFill/>
        </p:spPr>
        <p:txBody>
          <a:bodyPr wrap="square" anchor="t" lIns="0" tIns="0" rIns="0" bIns="0">
            <a:spAutoFit/>
          </a:bodyPr>
          <a:lstStyle/>
          <a:p>
            <a:pPr algn="l"/>
            <a:r>
              <a:rPr sz="1560" b="1">
                <a:solidFill>
                  <a:srgbClr val="1365A5"/>
                </a:solidFill>
                <a:latin typeface="Bebas Neue"/>
              </a:rPr>
              <a:t>Task: label each word with a label indicating</a:t>
            </a:r>
          </a:p>
          <a:p>
            <a:pPr algn="l" marL="256032" indent="-256032" lvl="0">
              <a:spcBef>
                <a:spcPts val="700"/>
              </a:spcBef>
              <a:buClr>
                <a:srgbClr val="F76945"/>
              </a:buClr>
              <a:buFont typeface="Arial"/>
              <a:buChar char="•"/>
            </a:pPr>
            <a:r>
              <a:rPr sz="1250" b="0">
                <a:solidFill>
                  <a:srgbClr val="111111"/>
                </a:solidFill>
                <a:latin typeface="Inter"/>
              </a:rPr>
              <a:t>word is outside a chunk (O), starts a chunk (B), continues a chunk (1) NP chunks</a:t>
            </a:r>
          </a:p>
        </p:txBody>
      </p:sp>
      <p:sp>
        <p:nvSpPr>
          <p:cNvPr id="16" name="Rounded Rectangle 15"/>
          <p:cNvSpPr/>
          <p:nvPr/>
        </p:nvSpPr>
        <p:spPr>
          <a:xfrm>
            <a:off x="8107680" y="2496311"/>
            <a:ext cx="3624072" cy="1947569"/>
          </a:xfrm>
          <a:prstGeom prst="roundRect">
            <a:avLst>
              <a:gd name="adj" fmla="val 723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680" y="2660903"/>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2657246"/>
            <a:ext cx="3221736" cy="1625700"/>
          </a:xfrm>
          <a:prstGeom prst="rect">
            <a:avLst/>
          </a:prstGeom>
          <a:noFill/>
        </p:spPr>
        <p:txBody>
          <a:bodyPr wrap="square" anchor="t" lIns="0" tIns="0" rIns="0" bIns="0">
            <a:spAutoFit/>
          </a:bodyPr>
          <a:lstStyle/>
          <a:p>
            <a:pPr algn="l"/>
            <a:r>
              <a:rPr sz="1560" b="1">
                <a:solidFill>
                  <a:srgbClr val="1365A5"/>
                </a:solidFill>
                <a:latin typeface="Bebas Neue"/>
              </a:rPr>
              <a:t>CRFs beat all reported single-model NP chunking results on standard evaluation dataset</a:t>
            </a:r>
          </a:p>
          <a:p>
            <a:pPr algn="l" marL="512064" indent="-219456" lvl="1">
              <a:spcBef>
                <a:spcPts val="300"/>
              </a:spcBef>
              <a:buClr>
                <a:srgbClr val="F76945"/>
              </a:buClr>
              <a:buFont typeface="Arial"/>
              <a:buChar char="–"/>
            </a:pPr>
            <a:r>
              <a:rPr sz="1120" b="0">
                <a:solidFill>
                  <a:srgbClr val="555555"/>
                </a:solidFill>
                <a:latin typeface="Inter"/>
              </a:rPr>
              <a:t>Model</a:t>
            </a:r>
          </a:p>
          <a:p>
            <a:pPr algn="l" marL="256032" indent="-256032" lvl="0">
              <a:spcBef>
                <a:spcPts val="700"/>
              </a:spcBef>
              <a:buClr>
                <a:srgbClr val="F76945"/>
              </a:buClr>
              <a:buFont typeface="Arial"/>
              <a:buChar char="•"/>
            </a:pPr>
            <a:r>
              <a:rPr sz="1250" b="0">
                <a:solidFill>
                  <a:srgbClr val="111111"/>
                </a:solidFill>
                <a:latin typeface="Inter"/>
              </a:rPr>
              <a:t>Voted perceptron 94.09%</a:t>
            </a:r>
          </a:p>
        </p:txBody>
      </p:sp>
      <p:sp>
        <p:nvSpPr>
          <p:cNvPr id="19" name="Rounded Rectangle 18"/>
          <p:cNvSpPr/>
          <p:nvPr/>
        </p:nvSpPr>
        <p:spPr>
          <a:xfrm>
            <a:off x="457200" y="4645049"/>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labeling 'Rockwell International Corp.' as a noun phrase chunk using B and I tags.</a:t>
            </a:r>
          </a:p>
        </p:txBody>
      </p:sp>
      <p:sp>
        <p:nvSpPr>
          <p:cNvPr id="22" name="Rounded Rectangle 2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Shallow parsing — Precursor to full parsing that identifies non-recursive cores of phrase types.  ·  BIO labeling — Labeling words as outside a chunk, starting a chunk, or continuing a chunk.</a:t>
            </a:r>
          </a:p>
        </p:txBody>
      </p:sp>
      <p:sp>
        <p:nvSpPr>
          <p:cNvPr id="23" name="Rectangle 2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Handwritten word recognition maximizes lexical and segment grouping probabilities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157 / 229</a:t>
            </a:r>
          </a:p>
        </p:txBody>
      </p:sp>
      <p:sp>
        <p:nvSpPr>
          <p:cNvPr id="8" name="Rounded Rectangle 7"/>
          <p:cNvSpPr/>
          <p:nvPr/>
        </p:nvSpPr>
        <p:spPr>
          <a:xfrm>
            <a:off x="457200" y="1298448"/>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13630"/>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141261"/>
          </a:xfrm>
          <a:prstGeom prst="rect">
            <a:avLst/>
          </a:prstGeom>
          <a:noFill/>
        </p:spPr>
        <p:txBody>
          <a:bodyPr wrap="square" anchor="ctr" lIns="0" tIns="0" rIns="0" bIns="0">
            <a:spAutoFit/>
          </a:bodyPr>
          <a:lstStyle/>
          <a:p>
            <a:pPr algn="l"/>
            <a:r>
              <a:rPr sz="1210" b="1">
                <a:solidFill>
                  <a:srgbClr val="1365A5"/>
                </a:solidFill>
                <a:latin typeface="Bebas Neue"/>
              </a:rPr>
              <a:t>Given word image and lexicon, find most probable lexical entry Algorithm Outline</a:t>
            </a:r>
          </a:p>
        </p:txBody>
      </p:sp>
      <p:sp>
        <p:nvSpPr>
          <p:cNvPr id="11" name="Rounded Rectangle 10"/>
          <p:cNvSpPr/>
          <p:nvPr/>
        </p:nvSpPr>
        <p:spPr>
          <a:xfrm>
            <a:off x="457200" y="1706714"/>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621897"/>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779866"/>
            <a:ext cx="10213848" cy="141261"/>
          </a:xfrm>
          <a:prstGeom prst="rect">
            <a:avLst/>
          </a:prstGeom>
          <a:noFill/>
        </p:spPr>
        <p:txBody>
          <a:bodyPr wrap="square" anchor="ctr" lIns="0" tIns="0" rIns="0" bIns="0">
            <a:spAutoFit/>
          </a:bodyPr>
          <a:lstStyle/>
          <a:p>
            <a:pPr algn="l"/>
            <a:r>
              <a:rPr sz="1210" b="1">
                <a:solidFill>
                  <a:srgbClr val="1365A5"/>
                </a:solidFill>
                <a:latin typeface="Bebas Neue"/>
              </a:rPr>
              <a:t>Oversegment image</a:t>
            </a:r>
          </a:p>
        </p:txBody>
      </p:sp>
      <p:sp>
        <p:nvSpPr>
          <p:cNvPr id="14" name="Rounded Rectangle 13"/>
          <p:cNvSpPr/>
          <p:nvPr/>
        </p:nvSpPr>
        <p:spPr>
          <a:xfrm>
            <a:off x="457200" y="2114981"/>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0301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188133"/>
            <a:ext cx="10213848" cy="141261"/>
          </a:xfrm>
          <a:prstGeom prst="rect">
            <a:avLst/>
          </a:prstGeom>
          <a:noFill/>
        </p:spPr>
        <p:txBody>
          <a:bodyPr wrap="square" anchor="ctr" lIns="0" tIns="0" rIns="0" bIns="0">
            <a:spAutoFit/>
          </a:bodyPr>
          <a:lstStyle/>
          <a:p>
            <a:pPr algn="l"/>
            <a:r>
              <a:rPr sz="1210" b="1">
                <a:solidFill>
                  <a:srgbClr val="1365A5"/>
                </a:solidFill>
                <a:latin typeface="Bebas Neue"/>
              </a:rPr>
              <a:t>segment combinations are potential characters</a:t>
            </a:r>
          </a:p>
        </p:txBody>
      </p:sp>
      <p:sp>
        <p:nvSpPr>
          <p:cNvPr id="17" name="Rounded Rectangle 16"/>
          <p:cNvSpPr/>
          <p:nvPr/>
        </p:nvSpPr>
        <p:spPr>
          <a:xfrm>
            <a:off x="457200" y="2523248"/>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43843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2596400"/>
            <a:ext cx="10213848" cy="141261"/>
          </a:xfrm>
          <a:prstGeom prst="rect">
            <a:avLst/>
          </a:prstGeom>
          <a:noFill/>
        </p:spPr>
        <p:txBody>
          <a:bodyPr wrap="square" anchor="ctr" lIns="0" tIns="0" rIns="0" bIns="0">
            <a:spAutoFit/>
          </a:bodyPr>
          <a:lstStyle/>
          <a:p>
            <a:pPr algn="l"/>
            <a:r>
              <a:rPr sz="1210" b="1">
                <a:solidFill>
                  <a:srgbClr val="1365A5"/>
                </a:solidFill>
                <a:latin typeface="Bebas Neue"/>
              </a:rPr>
              <a:t>Given y = a word in lexicon, s = grouping of segments,</a:t>
            </a:r>
          </a:p>
        </p:txBody>
      </p:sp>
      <p:sp>
        <p:nvSpPr>
          <p:cNvPr id="20" name="Rounded Rectangle 19"/>
          <p:cNvSpPr/>
          <p:nvPr/>
        </p:nvSpPr>
        <p:spPr>
          <a:xfrm>
            <a:off x="457200" y="2931515"/>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84669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004667"/>
            <a:ext cx="10213848" cy="141261"/>
          </a:xfrm>
          <a:prstGeom prst="rect">
            <a:avLst/>
          </a:prstGeom>
          <a:noFill/>
        </p:spPr>
        <p:txBody>
          <a:bodyPr wrap="square" anchor="ctr" lIns="0" tIns="0" rIns="0" bIns="0">
            <a:spAutoFit/>
          </a:bodyPr>
          <a:lstStyle/>
          <a:p>
            <a:pPr algn="l"/>
            <a:r>
              <a:rPr sz="1210" b="1">
                <a:solidFill>
                  <a:srgbClr val="1365A5"/>
                </a:solidFill>
                <a:latin typeface="Bebas Neue"/>
              </a:rPr>
              <a:t>x = input word image features</a:t>
            </a:r>
          </a:p>
        </p:txBody>
      </p:sp>
      <p:sp>
        <p:nvSpPr>
          <p:cNvPr id="23" name="Rounded Rectangle 22"/>
          <p:cNvSpPr/>
          <p:nvPr/>
        </p:nvSpPr>
        <p:spPr>
          <a:xfrm>
            <a:off x="457200" y="3339781"/>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32549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3412933"/>
            <a:ext cx="10213848" cy="141261"/>
          </a:xfrm>
          <a:prstGeom prst="rect">
            <a:avLst/>
          </a:prstGeom>
          <a:noFill/>
        </p:spPr>
        <p:txBody>
          <a:bodyPr wrap="square" anchor="ctr" lIns="0" tIns="0" rIns="0" bIns="0">
            <a:spAutoFit/>
          </a:bodyPr>
          <a:lstStyle/>
          <a:p>
            <a:pPr algn="l"/>
            <a:r>
              <a:rPr sz="1210" b="1">
                <a:solidFill>
                  <a:srgbClr val="1365A5"/>
                </a:solidFill>
                <a:latin typeface="Bebas Neue"/>
              </a:rPr>
              <a:t>Find word in lexicon and segment grouping that maximizes</a:t>
            </a:r>
          </a:p>
        </p:txBody>
      </p:sp>
      <p:sp>
        <p:nvSpPr>
          <p:cNvPr id="26" name="Rounded Rectangle 25"/>
          <p:cNvSpPr/>
          <p:nvPr/>
        </p:nvSpPr>
        <p:spPr>
          <a:xfrm>
            <a:off x="457200" y="3748048"/>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366323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3821200"/>
            <a:ext cx="10213848" cy="141261"/>
          </a:xfrm>
          <a:prstGeom prst="rect">
            <a:avLst/>
          </a:prstGeom>
          <a:noFill/>
        </p:spPr>
        <p:txBody>
          <a:bodyPr wrap="square" anchor="ctr" lIns="0" tIns="0" rIns="0" bIns="0">
            <a:spAutoFit/>
          </a:bodyPr>
          <a:lstStyle/>
          <a:p>
            <a:pPr algn="l"/>
            <a:r>
              <a:rPr sz="1210" b="1">
                <a:solidFill>
                  <a:srgbClr val="1365A5"/>
                </a:solidFill>
                <a:latin typeface="Bebas Neue"/>
              </a:rPr>
              <a:t>x),</a:t>
            </a:r>
          </a:p>
          <a:p>
            <a:pPr algn="l">
              <a:spcBef>
                <a:spcPts val="300"/>
              </a:spcBef>
            </a:pPr>
            <a:r>
              <a:rPr sz="1050" b="0">
                <a:solidFill>
                  <a:srgbClr val="111111"/>
                </a:solidFill>
                <a:latin typeface="Inter"/>
              </a:rPr>
              <a:t>Description</a:t>
            </a:r>
          </a:p>
        </p:txBody>
      </p:sp>
      <p:sp>
        <p:nvSpPr>
          <p:cNvPr id="29" name="Rounded Rectangle 28"/>
          <p:cNvSpPr/>
          <p:nvPr/>
        </p:nvSpPr>
        <p:spPr>
          <a:xfrm>
            <a:off x="457200" y="4156315"/>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407149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4229467"/>
            <a:ext cx="10213848" cy="141261"/>
          </a:xfrm>
          <a:prstGeom prst="rect">
            <a:avLst/>
          </a:prstGeom>
          <a:noFill/>
        </p:spPr>
        <p:txBody>
          <a:bodyPr wrap="square" anchor="ctr" lIns="0" tIns="0" rIns="0" bIns="0">
            <a:spAutoFit/>
          </a:bodyPr>
          <a:lstStyle/>
          <a:p>
            <a:pPr algn="l"/>
            <a:r>
              <a:rPr sz="1210" b="1">
                <a:solidFill>
                  <a:srgbClr val="1365A5"/>
                </a:solidFill>
                <a:latin typeface="Bebas Neue"/>
              </a:rPr>
              <a:t>CRF Model</a:t>
            </a:r>
          </a:p>
        </p:txBody>
      </p:sp>
      <p:sp>
        <p:nvSpPr>
          <p:cNvPr id="32" name="Rounded Rectangle 31"/>
          <p:cNvSpPr/>
          <p:nvPr/>
        </p:nvSpPr>
        <p:spPr>
          <a:xfrm>
            <a:off x="457200" y="4645049"/>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matching messy cursive strokes to the correct dictionary word 'cat'.</a:t>
            </a:r>
          </a:p>
        </p:txBody>
      </p:sp>
      <p:sp>
        <p:nvSpPr>
          <p:cNvPr id="35" name="Rounded Rectangle 3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crf — Conditional Random Field  ·  Lexicon — A vocabulary or list of valid words used during recognition.  ·  Interaction Potential — A component evaluating relationships between states in a model.</a:t>
            </a:r>
          </a:p>
        </p:txBody>
      </p:sp>
      <p:sp>
        <p:nvSpPr>
          <p:cNvPr id="36" name="Rectangle 3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5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450"/>
                                        <p:tgtEl>
                                          <p:spTgt spid="35"/>
                                        </p:tgtEl>
                                      </p:cBhvr>
                                    </p:animEffect>
                                  </p:childTnLst>
                                </p:cTn>
                              </p:par>
                              <p:par>
                                <p:cTn id="96" presetID="10" presetClass="entr" presetSubtype="0" fill="hold" nodeType="with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Handwritten Word Recognition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158 / 229</a:t>
            </a:r>
          </a:p>
        </p:txBody>
      </p:sp>
      <p:sp>
        <p:nvSpPr>
          <p:cNvPr id="7" name="Rounded Rectangle 6"/>
          <p:cNvSpPr/>
          <p:nvPr/>
        </p:nvSpPr>
        <p:spPr>
          <a:xfrm>
            <a:off x="2839301" y="1298448"/>
            <a:ext cx="651034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003893" y="1463040"/>
            <a:ext cx="6181164" cy="4773168"/>
          </a:xfrm>
          <a:prstGeom prst="rect">
            <a:avLst/>
          </a:prstGeom>
        </p:spPr>
      </p:pic>
    </p:spTree>
  </p:cSld>
  <p:clrMapOvr>
    <a:masterClrMapping/>
  </p:clrMapOvr>
  <p:transition spd="med">
    <p:zoom dir="in"/>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Normalization uses a partition function to ensure outputs represent probabilities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159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ectangle 7"/>
          <p:cNvSpPr/>
          <p:nvPr/>
        </p:nvSpPr>
        <p:spPr>
          <a:xfrm>
            <a:off x="457200" y="1335024"/>
            <a:ext cx="82296" cy="63651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6963576" cy="654801"/>
          </a:xfrm>
          <a:prstGeom prst="rect">
            <a:avLst/>
          </a:prstGeom>
          <a:noFill/>
        </p:spPr>
        <p:txBody>
          <a:bodyPr wrap="square" anchor="t" lIns="0" tIns="0" rIns="0" bIns="0">
            <a:spAutoFit/>
          </a:bodyPr>
          <a:lstStyle/>
          <a:p>
            <a:pPr algn="l"/>
            <a:r>
              <a:rPr sz="1360" b="1">
                <a:solidFill>
                  <a:srgbClr val="1365A5"/>
                </a:solidFill>
                <a:latin typeface="Bebas Neue"/>
              </a:rPr>
              <a:t>You may have observed that there are no probabilities on the right side of the equation where we have the weights and features.</a:t>
            </a:r>
          </a:p>
        </p:txBody>
      </p:sp>
      <p:sp>
        <p:nvSpPr>
          <p:cNvPr id="10" name="TextBox 9"/>
          <p:cNvSpPr txBox="1"/>
          <p:nvPr/>
        </p:nvSpPr>
        <p:spPr>
          <a:xfrm>
            <a:off x="720547" y="2145273"/>
            <a:ext cx="6963576" cy="352044"/>
          </a:xfrm>
          <a:prstGeom prst="rect">
            <a:avLst/>
          </a:prstGeom>
          <a:noFill/>
        </p:spPr>
        <p:txBody>
          <a:bodyPr wrap="square" lIns="0" rIns="0" tIns="0" bIns="0">
            <a:spAutoFit/>
          </a:bodyPr>
          <a:lstStyle/>
          <a:p>
            <a:r>
              <a:rPr sz="680" b="1">
                <a:solidFill>
                  <a:srgbClr val="C2410C"/>
                </a:solidFill>
                <a:latin typeface="Bebas Neue"/>
              </a:rPr>
              <a:t>BUT   </a:t>
            </a:r>
            <a:r>
              <a:rPr sz="1100" b="1">
                <a:solidFill>
                  <a:srgbClr val="C2410C"/>
                </a:solidFill>
                <a:latin typeface="Bebas Neue"/>
              </a:rPr>
              <a:t>However</a:t>
            </a:r>
            <a:r>
              <a:rPr sz="1100">
                <a:solidFill>
                  <a:srgbClr val="111111"/>
                </a:solidFill>
                <a:latin typeface="Inter"/>
              </a:rPr>
              <a:t>, the output is expected to be a probability and </a:t>
            </a:r>
            <a:r>
              <a:rPr sz="1100" b="1">
                <a:solidFill>
                  <a:srgbClr val="1D4ED8"/>
                </a:solidFill>
                <a:latin typeface="Bebas Neue"/>
              </a:rPr>
              <a:t>hence</a:t>
            </a:r>
            <a:r>
              <a:rPr sz="1100">
                <a:solidFill>
                  <a:srgbClr val="111111"/>
                </a:solidFill>
                <a:latin typeface="Inter"/>
              </a:rPr>
              <a:t> there is a need for normalization.</a:t>
            </a:r>
          </a:p>
        </p:txBody>
      </p:sp>
      <p:sp>
        <p:nvSpPr>
          <p:cNvPr id="11" name="TextBox 10"/>
          <p:cNvSpPr txBox="1"/>
          <p:nvPr/>
        </p:nvSpPr>
        <p:spPr>
          <a:xfrm>
            <a:off x="720547" y="2625333"/>
            <a:ext cx="6963576" cy="352044"/>
          </a:xfrm>
          <a:prstGeom prst="rect">
            <a:avLst/>
          </a:prstGeom>
          <a:noFill/>
        </p:spPr>
        <p:txBody>
          <a:bodyPr wrap="square" lIns="0" rIns="0" tIns="0" bIns="0">
            <a:spAutoFit/>
          </a:bodyPr>
          <a:lstStyle/>
          <a:p>
            <a:r>
              <a:rPr sz="1100">
                <a:solidFill>
                  <a:srgbClr val="111111"/>
                </a:solidFill>
                <a:latin typeface="Inter"/>
              </a:rPr>
              <a:t>The normalization constant Z(x) is a sum of all possible state sequences such that the total becomes 1.</a:t>
            </a:r>
          </a:p>
        </p:txBody>
      </p:sp>
      <p:sp>
        <p:nvSpPr>
          <p:cNvPr id="12" name="TextBox 11"/>
          <p:cNvSpPr txBox="1"/>
          <p:nvPr/>
        </p:nvSpPr>
        <p:spPr>
          <a:xfrm>
            <a:off x="720547" y="3105393"/>
            <a:ext cx="6963576" cy="176022"/>
          </a:xfrm>
          <a:prstGeom prst="rect">
            <a:avLst/>
          </a:prstGeom>
          <a:noFill/>
        </p:spPr>
        <p:txBody>
          <a:bodyPr wrap="square" lIns="0" rIns="0" tIns="0" bIns="0">
            <a:spAutoFit/>
          </a:bodyPr>
          <a:lstStyle/>
          <a:p>
            <a:r>
              <a:rPr sz="1100">
                <a:solidFill>
                  <a:srgbClr val="111111"/>
                </a:solidFill>
                <a:latin typeface="Inter"/>
              </a:rPr>
              <a:t>2.Weights and Features.</a:t>
            </a:r>
          </a:p>
        </p:txBody>
      </p:sp>
      <p:sp>
        <p:nvSpPr>
          <p:cNvPr id="13" name="TextBox 12"/>
          <p:cNvSpPr txBox="1"/>
          <p:nvPr/>
        </p:nvSpPr>
        <p:spPr>
          <a:xfrm>
            <a:off x="994867" y="3409431"/>
            <a:ext cx="6689256" cy="352044"/>
          </a:xfrm>
          <a:prstGeom prst="rect">
            <a:avLst/>
          </a:prstGeom>
          <a:noFill/>
        </p:spPr>
        <p:txBody>
          <a:bodyPr wrap="square" lIns="0" rIns="0" tIns="0" bIns="0">
            <a:spAutoFit/>
          </a:bodyPr>
          <a:lstStyle/>
          <a:p>
            <a:r>
              <a:rPr sz="1100">
                <a:solidFill>
                  <a:srgbClr val="111111"/>
                </a:solidFill>
                <a:latin typeface="Inter"/>
              </a:rPr>
              <a:t>This component can be thought of as the logistic regression formula with weights and the corresponding features.</a:t>
            </a:r>
          </a:p>
        </p:txBody>
      </p:sp>
      <p:sp>
        <p:nvSpPr>
          <p:cNvPr id="14" name="TextBox 13"/>
          <p:cNvSpPr txBox="1"/>
          <p:nvPr/>
        </p:nvSpPr>
        <p:spPr>
          <a:xfrm>
            <a:off x="720547" y="3889491"/>
            <a:ext cx="6963576" cy="352044"/>
          </a:xfrm>
          <a:prstGeom prst="rect">
            <a:avLst/>
          </a:prstGeom>
          <a:noFill/>
        </p:spPr>
        <p:txBody>
          <a:bodyPr wrap="square" lIns="0" rIns="0" tIns="0" bIns="0">
            <a:spAutoFit/>
          </a:bodyPr>
          <a:lstStyle/>
          <a:p>
            <a:r>
              <a:rPr sz="1100">
                <a:solidFill>
                  <a:srgbClr val="111111"/>
                </a:solidFill>
                <a:latin typeface="Inter"/>
              </a:rPr>
              <a:t>The weight estimation is performed by maximum likelihood estimation and the features are defined by us.</a:t>
            </a:r>
          </a:p>
        </p:txBody>
      </p:sp>
      <p:sp>
        <p:nvSpPr>
          <p:cNvPr id="15" name="Rounded Rectangle 14"/>
          <p:cNvSpPr/>
          <p:nvPr/>
        </p:nvSpPr>
        <p:spPr>
          <a:xfrm>
            <a:off x="457200" y="3919198"/>
            <a:ext cx="7751064"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3992350"/>
            <a:ext cx="7356043" cy="1219729"/>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Raw feature weights do not naturally sum to one, so normalization is required. The normalization constant Z(x) sums all possible state sequences to ensure valid probabilities. For example, dividing individual exponentiated scores by the total sum of all possible sequence scores.</a:t>
            </a:r>
          </a:p>
        </p:txBody>
      </p:sp>
      <p:sp>
        <p:nvSpPr>
          <p:cNvPr id="18" name="Rounded Rectangle 17"/>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Normalization constant — A sum of all possible state sequences ensuring total probability equals one.  ·  Maximum likelihood estimation — A method used for weight estimation in models.</a:t>
            </a:r>
          </a:p>
        </p:txBody>
      </p:sp>
      <p:sp>
        <p:nvSpPr>
          <p:cNvPr id="19" name="Rectangle 18"/>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Constituency groups word sequences into single functional units like phrases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160 / 229</a:t>
            </a:r>
          </a:p>
        </p:txBody>
      </p:sp>
      <p:sp>
        <p:nvSpPr>
          <p:cNvPr id="8" name="Rounded Rectangle 7"/>
          <p:cNvSpPr/>
          <p:nvPr/>
        </p:nvSpPr>
        <p:spPr>
          <a:xfrm>
            <a:off x="457200" y="1298448"/>
            <a:ext cx="5536692" cy="3986784"/>
          </a:xfrm>
          <a:prstGeom prst="roundRect">
            <a:avLst>
              <a:gd name="adj" fmla="val 353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3664915"/>
          </a:xfrm>
          <a:prstGeom prst="rect">
            <a:avLst/>
          </a:prstGeom>
          <a:noFill/>
        </p:spPr>
        <p:txBody>
          <a:bodyPr wrap="square" anchor="t" lIns="0" tIns="0" rIns="0" bIns="0">
            <a:spAutoFit/>
          </a:bodyPr>
          <a:lstStyle/>
          <a:p>
            <a:pPr algn="l"/>
            <a:r>
              <a:rPr sz="2500" b="1">
                <a:solidFill>
                  <a:srgbClr val="1365A5"/>
                </a:solidFill>
                <a:latin typeface="Bebas Neue"/>
              </a:rPr>
              <a:t>A sequence of words that acts as a single unit</a:t>
            </a:r>
          </a:p>
          <a:p>
            <a:pPr algn="l" marL="256032" indent="-256032" lvl="0">
              <a:spcBef>
                <a:spcPts val="700"/>
              </a:spcBef>
              <a:buClr>
                <a:srgbClr val="F76945"/>
              </a:buClr>
              <a:buFont typeface="Arial"/>
              <a:buChar char="•"/>
            </a:pPr>
            <a:r>
              <a:rPr sz="2000" b="0">
                <a:solidFill>
                  <a:srgbClr val="111111"/>
                </a:solidFill>
                <a:latin typeface="Inter"/>
              </a:rPr>
              <a:t>Noun phrases</a:t>
            </a:r>
          </a:p>
          <a:p>
            <a:pPr algn="l" marL="256032" indent="-256032" lvl="0">
              <a:spcBef>
                <a:spcPts val="700"/>
              </a:spcBef>
              <a:buClr>
                <a:srgbClr val="F76945"/>
              </a:buClr>
              <a:buFont typeface="Arial"/>
              <a:buChar char="•"/>
            </a:pPr>
            <a:r>
              <a:rPr sz="2000" b="0">
                <a:solidFill>
                  <a:srgbClr val="111111"/>
                </a:solidFill>
                <a:latin typeface="Inter"/>
              </a:rPr>
              <a:t>Verb phrases</a:t>
            </a:r>
          </a:p>
        </p:txBody>
      </p:sp>
      <p:sp>
        <p:nvSpPr>
          <p:cNvPr id="11" name="Rounded Rectangle 10"/>
          <p:cNvSpPr/>
          <p:nvPr/>
        </p:nvSpPr>
        <p:spPr>
          <a:xfrm>
            <a:off x="6195059" y="1298448"/>
            <a:ext cx="5536692" cy="3986784"/>
          </a:xfrm>
          <a:prstGeom prst="roundRect">
            <a:avLst>
              <a:gd name="adj" fmla="val 353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3664915"/>
          </a:xfrm>
          <a:prstGeom prst="rect">
            <a:avLst/>
          </a:prstGeom>
          <a:noFill/>
        </p:spPr>
        <p:txBody>
          <a:bodyPr wrap="square" anchor="t" lIns="0" tIns="0" rIns="0" bIns="0">
            <a:spAutoFit/>
          </a:bodyPr>
          <a:lstStyle/>
          <a:p>
            <a:pPr algn="l"/>
            <a:r>
              <a:rPr sz="2500" b="1">
                <a:solidFill>
                  <a:srgbClr val="1365A5"/>
                </a:solidFill>
                <a:latin typeface="Bebas Neue"/>
              </a:rPr>
              <a:t>These units form coherent classes that behave in similar ways</a:t>
            </a:r>
          </a:p>
          <a:p>
            <a:pPr algn="l" marL="256032" indent="-256032" lvl="0">
              <a:spcBef>
                <a:spcPts val="700"/>
              </a:spcBef>
              <a:buClr>
                <a:srgbClr val="F76945"/>
              </a:buClr>
              <a:buFont typeface="Arial"/>
              <a:buChar char="•"/>
            </a:pPr>
            <a:r>
              <a:rPr sz="2000" b="0">
                <a:solidFill>
                  <a:srgbClr val="111111"/>
                </a:solidFill>
                <a:latin typeface="Inter"/>
              </a:rPr>
              <a:t>For example, we can say that noun phrases can come before verbs</a:t>
            </a:r>
          </a:p>
        </p:txBody>
      </p:sp>
      <p:sp>
        <p:nvSpPr>
          <p:cNvPr id="14" name="Rounded Rectangle 13"/>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Constituency — A sequence of words that acts as a single unit.  ·  Noun phrase — A phrase that functions as a noun, often coming before verbs.</a:t>
            </a:r>
          </a:p>
        </p:txBody>
      </p:sp>
      <p:sp>
        <p:nvSpPr>
          <p:cNvPr id="15" name="Rectangle 14"/>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English noun phrases demonstrate constituency through shared grammatical behavior</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161 / 229</a:t>
            </a:r>
          </a:p>
        </p:txBody>
      </p:sp>
      <p:sp>
        <p:nvSpPr>
          <p:cNvPr id="7" name="Rectangle 6"/>
          <p:cNvSpPr/>
          <p:nvPr/>
        </p:nvSpPr>
        <p:spPr>
          <a:xfrm>
            <a:off x="457200" y="1453621"/>
            <a:ext cx="82296" cy="84293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547" y="1417045"/>
            <a:ext cx="10240420" cy="861227"/>
          </a:xfrm>
          <a:prstGeom prst="rect">
            <a:avLst/>
          </a:prstGeom>
          <a:noFill/>
        </p:spPr>
        <p:txBody>
          <a:bodyPr wrap="square" anchor="t" lIns="0" tIns="0" rIns="0" bIns="0">
            <a:spAutoFit/>
          </a:bodyPr>
          <a:lstStyle/>
          <a:p>
            <a:pPr algn="l"/>
            <a:r>
              <a:rPr sz="2690" b="1">
                <a:solidFill>
                  <a:srgbClr val="1365A5"/>
                </a:solidFill>
                <a:latin typeface="Bebas Neue"/>
              </a:rPr>
              <a:t>For example, following are all noun phrases in English.</a:t>
            </a:r>
          </a:p>
        </p:txBody>
      </p:sp>
      <p:sp>
        <p:nvSpPr>
          <p:cNvPr id="9" name="TextBox 8"/>
          <p:cNvSpPr txBox="1"/>
          <p:nvPr/>
        </p:nvSpPr>
        <p:spPr>
          <a:xfrm>
            <a:off x="720547" y="2470297"/>
            <a:ext cx="10240420" cy="312039"/>
          </a:xfrm>
          <a:prstGeom prst="rect">
            <a:avLst/>
          </a:prstGeom>
          <a:noFill/>
        </p:spPr>
        <p:txBody>
          <a:bodyPr wrap="square" lIns="0" rIns="0" tIns="0" bIns="0">
            <a:spAutoFit/>
          </a:bodyPr>
          <a:lstStyle/>
          <a:p>
            <a:r>
              <a:rPr sz="1950">
                <a:solidFill>
                  <a:srgbClr val="111111"/>
                </a:solidFill>
                <a:latin typeface="Inter"/>
              </a:rPr>
              <a:t>Why? One piece of evidence is that they can all.</a:t>
            </a:r>
          </a:p>
        </p:txBody>
      </p:sp>
      <p:sp>
        <p:nvSpPr>
          <p:cNvPr id="10" name="TextBox 9"/>
          <p:cNvSpPr txBox="1"/>
          <p:nvPr/>
        </p:nvSpPr>
        <p:spPr>
          <a:xfrm>
            <a:off x="720547" y="2910352"/>
            <a:ext cx="10240420" cy="624078"/>
          </a:xfrm>
          <a:prstGeom prst="rect">
            <a:avLst/>
          </a:prstGeom>
          <a:noFill/>
        </p:spPr>
        <p:txBody>
          <a:bodyPr wrap="square" lIns="0" rIns="0" tIns="0" bIns="0">
            <a:spAutoFit/>
          </a:bodyPr>
          <a:lstStyle/>
          <a:p>
            <a:r>
              <a:rPr sz="1210" b="1">
                <a:solidFill>
                  <a:srgbClr val="1D4ED8"/>
                </a:solidFill>
                <a:latin typeface="Bebas Neue"/>
              </a:rPr>
              <a:t>BECAUSE   </a:t>
            </a:r>
            <a:r>
              <a:rPr sz="1950">
                <a:solidFill>
                  <a:srgbClr val="111111"/>
                </a:solidFill>
                <a:latin typeface="Inter"/>
              </a:rPr>
              <a:t>Specific word sequences in English act as noun phrases </a:t>
            </a:r>
            <a:r>
              <a:rPr sz="1950" b="1">
                <a:solidFill>
                  <a:srgbClr val="1D4ED8"/>
                </a:solidFill>
                <a:latin typeface="Bebas Neue"/>
              </a:rPr>
              <a:t>because</a:t>
            </a:r>
            <a:r>
              <a:rPr sz="1950">
                <a:solidFill>
                  <a:srgbClr val="111111"/>
                </a:solidFill>
                <a:latin typeface="Inter"/>
              </a:rPr>
              <a:t> they share common distributional behaviors and syntactic roles.</a:t>
            </a:r>
          </a:p>
        </p:txBody>
      </p:sp>
      <p:sp>
        <p:nvSpPr>
          <p:cNvPr id="11" name="TextBox 10"/>
          <p:cNvSpPr txBox="1"/>
          <p:nvPr/>
        </p:nvSpPr>
        <p:spPr>
          <a:xfrm>
            <a:off x="994867" y="3662446"/>
            <a:ext cx="9966100" cy="624078"/>
          </a:xfrm>
          <a:prstGeom prst="rect">
            <a:avLst/>
          </a:prstGeom>
          <a:noFill/>
        </p:spPr>
        <p:txBody>
          <a:bodyPr wrap="square" lIns="0" rIns="0" tIns="0" bIns="0">
            <a:spAutoFit/>
          </a:bodyPr>
          <a:lstStyle/>
          <a:p>
            <a:r>
              <a:rPr sz="1950">
                <a:solidFill>
                  <a:srgbClr val="111111"/>
                </a:solidFill>
                <a:latin typeface="Inter"/>
              </a:rPr>
              <a:t>They serve as concrete examples of constituency principles in natural language.</a:t>
            </a:r>
          </a:p>
        </p:txBody>
      </p:sp>
      <p:sp>
        <p:nvSpPr>
          <p:cNvPr id="12" name="TextBox 11"/>
          <p:cNvSpPr txBox="1"/>
          <p:nvPr/>
        </p:nvSpPr>
        <p:spPr>
          <a:xfrm>
            <a:off x="720547" y="4414540"/>
            <a:ext cx="10240420" cy="624078"/>
          </a:xfrm>
          <a:prstGeom prst="rect">
            <a:avLst/>
          </a:prstGeom>
          <a:noFill/>
        </p:spPr>
        <p:txBody>
          <a:bodyPr wrap="square" lIns="0" rIns="0" tIns="0" bIns="0">
            <a:spAutoFit/>
          </a:bodyPr>
          <a:lstStyle/>
          <a:p>
            <a:r>
              <a:rPr sz="1950">
                <a:solidFill>
                  <a:srgbClr val="111111"/>
                </a:solidFill>
                <a:latin typeface="Inter"/>
              </a:rPr>
              <a:t>Example: Phrases </a:t>
            </a:r>
            <a:r>
              <a:rPr sz="1950" b="1">
                <a:solidFill>
                  <a:srgbClr val="0F766E"/>
                </a:solidFill>
                <a:latin typeface="Bebas Neue"/>
              </a:rPr>
              <a:t>like</a:t>
            </a:r>
            <a:r>
              <a:rPr sz="1950">
                <a:solidFill>
                  <a:srgbClr val="111111"/>
                </a:solidFill>
                <a:latin typeface="Inter"/>
              </a:rPr>
              <a:t> 'the book' and 'a very clever student' functioning as noun phrases.</a:t>
            </a:r>
          </a:p>
        </p:txBody>
      </p:sp>
      <p:sp>
        <p:nvSpPr>
          <p:cNvPr id="13" name="Rounded Rectangle 1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Noun phrases — Constituents that act as single noun units in English.  ·  Evidence — Proof that phrases share similar grammatical behaviors.</a:t>
            </a:r>
          </a:p>
        </p:txBody>
      </p:sp>
      <p:sp>
        <p:nvSpPr>
          <p:cNvPr id="14" name="Rectangle 1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5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5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5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Constituents consist of heads and dependents which form various phrase types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162 / 229</a:t>
            </a:r>
          </a:p>
        </p:txBody>
      </p:sp>
      <p:pic>
        <p:nvPicPr>
          <p:cNvPr id="7" name="Picture 6" descr="image.png">
            <a:hlinkClick r:id="rId4"/>
          </p:cNvPr>
          <p:cNvPicPr>
            <a:picLocks noChangeAspect="1"/>
          </p:cNvPicPr>
          <p:nvPr/>
        </p:nvPicPr>
        <p:blipFill>
          <a:blip r:embed="rId3"/>
          <a:stretch>
            <a:fillRect/>
          </a:stretch>
        </p:blipFill>
        <p:spPr>
          <a:xfrm>
            <a:off x="8409432" y="1298448"/>
            <a:ext cx="3322320" cy="3986784"/>
          </a:xfrm>
          <a:prstGeom prst="rect">
            <a:avLst/>
          </a:prstGeom>
        </p:spPr>
      </p:pic>
      <p:sp>
        <p:nvSpPr>
          <p:cNvPr id="8" name="Rounded Rectangle 7"/>
          <p:cNvSpPr/>
          <p:nvPr/>
        </p:nvSpPr>
        <p:spPr>
          <a:xfrm>
            <a:off x="457200" y="1298448"/>
            <a:ext cx="3774947" cy="1115939"/>
          </a:xfrm>
          <a:prstGeom prst="roundRect">
            <a:avLst>
              <a:gd name="adj" fmla="val 1261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295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86339"/>
            <a:ext cx="340156" cy="340156"/>
          </a:xfrm>
          <a:prstGeom prst="rect">
            <a:avLst/>
          </a:prstGeom>
        </p:spPr>
      </p:pic>
      <p:sp>
        <p:nvSpPr>
          <p:cNvPr id="11" name="TextBox 10"/>
          <p:cNvSpPr txBox="1"/>
          <p:nvPr/>
        </p:nvSpPr>
        <p:spPr>
          <a:xfrm>
            <a:off x="1408175" y="1371600"/>
            <a:ext cx="2622804" cy="969635"/>
          </a:xfrm>
          <a:prstGeom prst="rect">
            <a:avLst/>
          </a:prstGeom>
          <a:noFill/>
        </p:spPr>
        <p:txBody>
          <a:bodyPr wrap="square" anchor="ctr" lIns="0" tIns="0" rIns="0" bIns="0">
            <a:spAutoFit/>
          </a:bodyPr>
          <a:lstStyle/>
          <a:p>
            <a:pPr algn="l"/>
            <a:r>
              <a:rPr sz="1739" b="1">
                <a:solidFill>
                  <a:srgbClr val="1365A5"/>
                </a:solidFill>
                <a:latin typeface="Bebas Neue"/>
              </a:rPr>
              <a:t>Noun phrases</a:t>
            </a:r>
          </a:p>
          <a:p>
            <a:pPr algn="l">
              <a:spcBef>
                <a:spcPts val="500"/>
              </a:spcBef>
            </a:pPr>
            <a:r>
              <a:rPr sz="1450" b="0">
                <a:solidFill>
                  <a:srgbClr val="111111"/>
                </a:solidFill>
                <a:latin typeface="Inter"/>
              </a:rPr>
              <a:t>the man, a girl with glasses, Illinois</a:t>
            </a:r>
          </a:p>
        </p:txBody>
      </p:sp>
      <p:sp>
        <p:nvSpPr>
          <p:cNvPr id="12" name="Rounded Rectangle 11"/>
          <p:cNvSpPr/>
          <p:nvPr/>
        </p:nvSpPr>
        <p:spPr>
          <a:xfrm>
            <a:off x="4433315" y="1298448"/>
            <a:ext cx="3774947" cy="1115939"/>
          </a:xfrm>
          <a:prstGeom prst="roundRect">
            <a:avLst>
              <a:gd name="adj" fmla="val 1261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34483" y="157295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47869" y="1686339"/>
            <a:ext cx="340156" cy="340156"/>
          </a:xfrm>
          <a:prstGeom prst="rect">
            <a:avLst/>
          </a:prstGeom>
        </p:spPr>
      </p:pic>
      <p:sp>
        <p:nvSpPr>
          <p:cNvPr id="15" name="TextBox 14"/>
          <p:cNvSpPr txBox="1"/>
          <p:nvPr/>
        </p:nvSpPr>
        <p:spPr>
          <a:xfrm>
            <a:off x="5384291" y="1371600"/>
            <a:ext cx="2622804" cy="969635"/>
          </a:xfrm>
          <a:prstGeom prst="rect">
            <a:avLst/>
          </a:prstGeom>
          <a:noFill/>
        </p:spPr>
        <p:txBody>
          <a:bodyPr wrap="square" anchor="ctr" lIns="0" tIns="0" rIns="0" bIns="0">
            <a:spAutoFit/>
          </a:bodyPr>
          <a:lstStyle/>
          <a:p>
            <a:pPr algn="l"/>
            <a:r>
              <a:rPr sz="1739" b="1">
                <a:solidFill>
                  <a:srgbClr val="1365A5"/>
                </a:solidFill>
                <a:latin typeface="Bebas Neue"/>
              </a:rPr>
              <a:t>Prepositional phrases</a:t>
            </a:r>
          </a:p>
          <a:p>
            <a:pPr algn="l">
              <a:spcBef>
                <a:spcPts val="500"/>
              </a:spcBef>
            </a:pPr>
            <a:r>
              <a:rPr sz="1450" b="0">
                <a:solidFill>
                  <a:srgbClr val="111111"/>
                </a:solidFill>
                <a:latin typeface="Inter"/>
              </a:rPr>
              <a:t>with glasses, in the garden</a:t>
            </a:r>
          </a:p>
        </p:txBody>
      </p:sp>
      <p:sp>
        <p:nvSpPr>
          <p:cNvPr id="16" name="Rounded Rectangle 15"/>
          <p:cNvSpPr/>
          <p:nvPr/>
        </p:nvSpPr>
        <p:spPr>
          <a:xfrm>
            <a:off x="457200" y="2615555"/>
            <a:ext cx="7751064" cy="1115939"/>
          </a:xfrm>
          <a:prstGeom prst="roundRect">
            <a:avLst>
              <a:gd name="adj" fmla="val 1261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8900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003446"/>
            <a:ext cx="340156" cy="340156"/>
          </a:xfrm>
          <a:prstGeom prst="rect">
            <a:avLst/>
          </a:prstGeom>
        </p:spPr>
      </p:pic>
      <p:sp>
        <p:nvSpPr>
          <p:cNvPr id="19" name="TextBox 18"/>
          <p:cNvSpPr txBox="1"/>
          <p:nvPr/>
        </p:nvSpPr>
        <p:spPr>
          <a:xfrm>
            <a:off x="1408175" y="2688707"/>
            <a:ext cx="6598919" cy="969635"/>
          </a:xfrm>
          <a:prstGeom prst="rect">
            <a:avLst/>
          </a:prstGeom>
          <a:noFill/>
        </p:spPr>
        <p:txBody>
          <a:bodyPr wrap="square" anchor="ctr" lIns="0" tIns="0" rIns="0" bIns="0">
            <a:spAutoFit/>
          </a:bodyPr>
          <a:lstStyle/>
          <a:p>
            <a:pPr algn="l"/>
            <a:r>
              <a:rPr sz="1739" b="1">
                <a:solidFill>
                  <a:srgbClr val="1365A5"/>
                </a:solidFill>
                <a:latin typeface="Bebas Neue"/>
              </a:rPr>
              <a:t>Verb phrases</a:t>
            </a:r>
          </a:p>
          <a:p>
            <a:pPr algn="l">
              <a:spcBef>
                <a:spcPts val="500"/>
              </a:spcBef>
            </a:pPr>
            <a:r>
              <a:rPr sz="1450" b="0">
                <a:solidFill>
                  <a:srgbClr val="111111"/>
                </a:solidFill>
                <a:latin typeface="Inter"/>
              </a:rPr>
              <a:t>eat sushi, sleep, sleep soundly</a:t>
            </a:r>
          </a:p>
        </p:txBody>
      </p:sp>
      <p:sp>
        <p:nvSpPr>
          <p:cNvPr id="20" name="Rounded Rectangle 19"/>
          <p:cNvSpPr/>
          <p:nvPr/>
        </p:nvSpPr>
        <p:spPr>
          <a:xfrm>
            <a:off x="457200" y="3932662"/>
            <a:ext cx="7751064" cy="1352569"/>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32662"/>
            <a:ext cx="73152" cy="135256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005814"/>
            <a:ext cx="7356043" cy="1206265"/>
          </a:xfrm>
          <a:prstGeom prst="rect">
            <a:avLst/>
          </a:prstGeom>
          <a:noFill/>
        </p:spPr>
        <p:txBody>
          <a:bodyPr wrap="square" anchor="ctr" lIns="0" tIns="0" rIns="0" bIns="0">
            <a:spAutoFit/>
          </a:bodyPr>
          <a:lstStyle/>
          <a:p>
            <a:pPr algn="l"/>
            <a:r>
              <a:rPr sz="790" b="1">
                <a:solidFill>
                  <a:srgbClr val="F76945"/>
                </a:solidFill>
                <a:latin typeface="Bebas Neue"/>
              </a:rPr>
              <a:t>IN PLAIN WORDS</a:t>
            </a:r>
          </a:p>
          <a:p>
            <a:pPr algn="l">
              <a:spcBef>
                <a:spcPts val="300"/>
              </a:spcBef>
            </a:pPr>
            <a:r>
              <a:rPr sz="1100" b="0">
                <a:solidFill>
                  <a:srgbClr val="111111"/>
                </a:solidFill>
                <a:latin typeface="Inter"/>
              </a:rPr>
              <a:t>Constituents come in different types like noun phrases, prepositional phrases, and verb phrases. Every phrase contains a head word along with other parts called dependents, which are split into arguments or adjuncts. For example, in 'eat sushi', 'eat' is the head and 'sushi' is the dependent.</a:t>
            </a:r>
          </a:p>
          <a:p>
            <a:pPr algn="l">
              <a:spcBef>
                <a:spcPts val="300"/>
              </a:spcBef>
            </a:pPr>
            <a:r>
              <a:rPr sz="1100" b="0">
                <a:solidFill>
                  <a:srgbClr val="111111"/>
                </a:solidFill>
                <a:latin typeface="Inter"/>
              </a:rPr>
              <a:t>There are different kinds of constituents: Every phrase has a head: The other parts are its dependents. Dependents are either arguments or adjuncts</a:t>
            </a:r>
          </a:p>
        </p:txBody>
      </p:sp>
      <p:sp>
        <p:nvSpPr>
          <p:cNvPr id="23" name="Rounded Rectangle 2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Head — The core element of a phrase that determines its category.  ·  Dependents — The other parts of a phrase that are either arguments or adjuncts.</a:t>
            </a:r>
          </a:p>
        </p:txBody>
      </p:sp>
      <p:sp>
        <p:nvSpPr>
          <p:cNvPr id="24" name="Rectangle 2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Constituency structure organizes words into nested recursive phrase categories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163 / 229</a:t>
            </a:r>
          </a:p>
        </p:txBody>
      </p:sp>
      <p:sp>
        <p:nvSpPr>
          <p:cNvPr id="8" name="Rectangle 7"/>
          <p:cNvSpPr/>
          <p:nvPr/>
        </p:nvSpPr>
        <p:spPr>
          <a:xfrm>
            <a:off x="457200" y="1325880"/>
            <a:ext cx="73152" cy="36576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1365A5"/>
                </a:solidFill>
                <a:latin typeface="Bebas Neue"/>
              </a:rPr>
              <a:t>Phrase structure organizes words into nested constituents</a:t>
            </a:r>
          </a:p>
        </p:txBody>
      </p:sp>
      <p:sp>
        <p:nvSpPr>
          <p:cNvPr id="10" name="Rounded Rectangle 9"/>
          <p:cNvSpPr/>
          <p:nvPr/>
        </p:nvSpPr>
        <p:spPr>
          <a:xfrm>
            <a:off x="457200" y="1956815"/>
            <a:ext cx="3624072" cy="2003165"/>
          </a:xfrm>
          <a:prstGeom prst="roundRect">
            <a:avLst>
              <a:gd name="adj" fmla="val 702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117750"/>
            <a:ext cx="3221736" cy="1681296"/>
          </a:xfrm>
          <a:prstGeom prst="rect">
            <a:avLst/>
          </a:prstGeom>
          <a:noFill/>
        </p:spPr>
        <p:txBody>
          <a:bodyPr wrap="square" anchor="t" lIns="0" tIns="0" rIns="0" bIns="0">
            <a:spAutoFit/>
          </a:bodyPr>
          <a:lstStyle/>
          <a:p>
            <a:pPr algn="l"/>
            <a:r>
              <a:rPr sz="2000" b="1">
                <a:solidFill>
                  <a:srgbClr val="1365A5"/>
                </a:solidFill>
                <a:latin typeface="Bebas Neue"/>
              </a:rPr>
              <a:t>Starting units: words are given a category: part-of-speech tags</a:t>
            </a:r>
          </a:p>
          <a:p>
            <a:pPr algn="l" marL="256032" indent="-256032" lvl="0">
              <a:spcBef>
                <a:spcPts val="700"/>
              </a:spcBef>
              <a:buClr>
                <a:srgbClr val="F76945"/>
              </a:buClr>
              <a:buFont typeface="Arial"/>
              <a:buChar char="•"/>
            </a:pPr>
            <a:r>
              <a:rPr sz="1600" b="0">
                <a:solidFill>
                  <a:srgbClr val="111111"/>
                </a:solidFill>
                <a:latin typeface="Inter"/>
              </a:rPr>
              <a:t>the, cuddly, cat, by, the, door Det, Adj, N, P, Det, N</a:t>
            </a:r>
          </a:p>
        </p:txBody>
      </p:sp>
      <p:sp>
        <p:nvSpPr>
          <p:cNvPr id="13" name="Rounded Rectangle 12"/>
          <p:cNvSpPr/>
          <p:nvPr/>
        </p:nvSpPr>
        <p:spPr>
          <a:xfrm>
            <a:off x="4282440" y="1956815"/>
            <a:ext cx="3624072" cy="2003165"/>
          </a:xfrm>
          <a:prstGeom prst="roundRect">
            <a:avLst>
              <a:gd name="adj" fmla="val 702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2440"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608" y="2117750"/>
            <a:ext cx="3221736" cy="1681296"/>
          </a:xfrm>
          <a:prstGeom prst="rect">
            <a:avLst/>
          </a:prstGeom>
          <a:noFill/>
        </p:spPr>
        <p:txBody>
          <a:bodyPr wrap="square" anchor="t" lIns="0" tIns="0" rIns="0" bIns="0">
            <a:spAutoFit/>
          </a:bodyPr>
          <a:lstStyle/>
          <a:p>
            <a:pPr algn="l"/>
            <a:r>
              <a:rPr sz="2000" b="1">
                <a:solidFill>
                  <a:srgbClr val="1365A5"/>
                </a:solidFill>
                <a:latin typeface="Bebas Neue"/>
              </a:rPr>
              <a:t>Words combine into phrases with categories</a:t>
            </a:r>
          </a:p>
          <a:p>
            <a:pPr algn="l" marL="256032" indent="-256032" lvl="0">
              <a:spcBef>
                <a:spcPts val="700"/>
              </a:spcBef>
              <a:buClr>
                <a:srgbClr val="F76945"/>
              </a:buClr>
              <a:buFont typeface="Arial"/>
              <a:buChar char="•"/>
            </a:pPr>
            <a:r>
              <a:rPr sz="1600" b="0">
                <a:solidFill>
                  <a:srgbClr val="111111"/>
                </a:solidFill>
                <a:latin typeface="Inter"/>
              </a:rPr>
              <a:t>the cuddly cat, by the door NP—Det NP</a:t>
            </a:r>
          </a:p>
        </p:txBody>
      </p:sp>
      <p:sp>
        <p:nvSpPr>
          <p:cNvPr id="16" name="Rounded Rectangle 15"/>
          <p:cNvSpPr/>
          <p:nvPr/>
        </p:nvSpPr>
        <p:spPr>
          <a:xfrm>
            <a:off x="8107680" y="1956815"/>
            <a:ext cx="3624072" cy="2003165"/>
          </a:xfrm>
          <a:prstGeom prst="roundRect">
            <a:avLst>
              <a:gd name="adj" fmla="val 702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7680"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8" y="2117750"/>
            <a:ext cx="3221736" cy="1681296"/>
          </a:xfrm>
          <a:prstGeom prst="rect">
            <a:avLst/>
          </a:prstGeom>
          <a:noFill/>
        </p:spPr>
        <p:txBody>
          <a:bodyPr wrap="square" anchor="t" lIns="0" tIns="0" rIns="0" bIns="0">
            <a:spAutoFit/>
          </a:bodyPr>
          <a:lstStyle/>
          <a:p>
            <a:pPr algn="l"/>
            <a:r>
              <a:rPr sz="2000" b="1">
                <a:solidFill>
                  <a:srgbClr val="1365A5"/>
                </a:solidFill>
                <a:latin typeface="Bebas Neue"/>
              </a:rPr>
              <a:t>Phrases can combine into bigger phrases recursively</a:t>
            </a:r>
          </a:p>
          <a:p>
            <a:pPr algn="l" marL="256032" indent="-256032" lvl="0">
              <a:spcBef>
                <a:spcPts val="700"/>
              </a:spcBef>
              <a:buClr>
                <a:srgbClr val="F76945"/>
              </a:buClr>
              <a:buFont typeface="Arial"/>
              <a:buChar char="•"/>
            </a:pPr>
            <a:r>
              <a:rPr sz="1600" b="0">
                <a:solidFill>
                  <a:srgbClr val="111111"/>
                </a:solidFill>
                <a:latin typeface="Inter"/>
              </a:rPr>
              <a:t>the cuddly cat by the door NP— NP PP</a:t>
            </a:r>
          </a:p>
        </p:txBody>
      </p:sp>
      <p:sp>
        <p:nvSpPr>
          <p:cNvPr id="19" name="Rounded Rectangle 18"/>
          <p:cNvSpPr/>
          <p:nvPr/>
        </p:nvSpPr>
        <p:spPr>
          <a:xfrm>
            <a:off x="457200" y="4161149"/>
            <a:ext cx="11274552" cy="11240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161149"/>
            <a:ext cx="73152" cy="11240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Phrase structure builds sentences by organizing words into part-of-speech categories and combining them into phrases. These phrases can then combine recursively into larger structures like noun phrases containing prepositional phrases. For example, combining Det, Adj, and N into 'the cuddly cat' and adding a PP.</a:t>
            </a:r>
          </a:p>
        </p:txBody>
      </p:sp>
      <p:sp>
        <p:nvSpPr>
          <p:cNvPr id="22" name="Rounded Rectangle 2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1365A5"/>
                </a:solidFill>
                <a:latin typeface="Bebas Neue"/>
              </a:rPr>
              <a:t>Key terms:  </a:t>
            </a:r>
            <a:r>
              <a:rPr sz="1550" b="1">
                <a:solidFill>
                  <a:srgbClr val="111111"/>
                </a:solidFill>
                <a:latin typeface="Bebas Neue"/>
              </a:rPr>
              <a:t>Constituency structure — The organization of words into nested constituents and phrase categories.  ·  Recursive — The ability of phrases to combine into bigger phrases repeatedly.</a:t>
            </a:r>
          </a:p>
        </p:txBody>
      </p:sp>
      <p:sp>
        <p:nvSpPr>
          <p:cNvPr id="23" name="Rectangle 2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5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50"/>
                                        <p:tgtEl>
                                          <p:spTgt spid="19"/>
                                        </p:tgtEl>
                                      </p:cBhvr>
                                    </p:animEffect>
                                  </p:childTnLst>
                                </p:cTn>
                              </p:par>
                              <p:par>
                                <p:cTn id="41"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50"/>
                                        <p:tgtEl>
                                          <p:spTgt spid="20"/>
                                        </p:tgtEl>
                                      </p:cBhvr>
                                    </p:animEffect>
                                  </p:childTnLst>
                                </p:cTn>
                              </p:par>
                              <p:par>
                                <p:cTn id="44" presetID="10" presetClass="entr" presetSubtype="0" fill="hold"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45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par>
                                <p:cTn id="52"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Is string Α a CONSTITUENT?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164 / 229</a:t>
            </a:r>
          </a:p>
        </p:txBody>
      </p:sp>
      <p:sp>
        <p:nvSpPr>
          <p:cNvPr id="7" name="Rounded Rectangle 6"/>
          <p:cNvSpPr/>
          <p:nvPr/>
        </p:nvSpPr>
        <p:spPr>
          <a:xfrm>
            <a:off x="2971994" y="1298448"/>
            <a:ext cx="624496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136586" y="1463040"/>
            <a:ext cx="5915779" cy="4773168"/>
          </a:xfrm>
          <a:prstGeom prst="rect">
            <a:avLst/>
          </a:prstGeom>
        </p:spPr>
      </p:pic>
    </p:spTree>
  </p:cSld>
  <p:clrMapOvr>
    <a:masterClrMapping/>
  </p:clrMapOvr>
  <p:transition spd="med">
    <p:zoom dir="in"/>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Is string Α a CONSTITUENT?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165 / 229</a:t>
            </a:r>
          </a:p>
        </p:txBody>
      </p:sp>
      <p:sp>
        <p:nvSpPr>
          <p:cNvPr id="7" name="Rounded Rectangle 6"/>
          <p:cNvSpPr/>
          <p:nvPr/>
        </p:nvSpPr>
        <p:spPr>
          <a:xfrm>
            <a:off x="2704028" y="1298448"/>
            <a:ext cx="678089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jpg"/>
          <p:cNvPicPr>
            <a:picLocks noChangeAspect="1"/>
          </p:cNvPicPr>
          <p:nvPr/>
        </p:nvPicPr>
        <p:blipFill>
          <a:blip r:embed="rId3"/>
          <a:stretch>
            <a:fillRect/>
          </a:stretch>
        </p:blipFill>
        <p:spPr>
          <a:xfrm>
            <a:off x="2868620" y="1463040"/>
            <a:ext cx="6451711" cy="4773168"/>
          </a:xfrm>
          <a:prstGeom prst="rect">
            <a:avLst/>
          </a:prstGeom>
        </p:spPr>
      </p:pic>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Sentence structure is necessary to interpret language correctly and understand connections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166 / 229</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1900" b="1">
                          <a:solidFill>
                            <a:srgbClr val="FFFFFF"/>
                          </a:solidFill>
                          <a:latin typeface="Bebas Neue"/>
                        </a:rPr>
                        <a:t>Sentence</a:t>
                      </a:r>
                    </a:p>
                  </a:txBody>
                  <a:tcPr marL="146304" marR="146304" anchor="ctr">
                    <a:solidFill>
                      <a:srgbClr val="1365A5"/>
                    </a:solidFill>
                  </a:tcPr>
                </a:tc>
                <a:tc>
                  <a:txBody>
                    <a:bodyPr/>
                    <a:lstStyle/>
                    <a:p>
                      <a:pPr algn="l"/>
                      <a:r>
                        <a:rPr sz="1900" b="1">
                          <a:solidFill>
                            <a:srgbClr val="FFFFFF"/>
                          </a:solidFill>
                          <a:latin typeface="Bebas Neue"/>
                        </a:rPr>
                        <a:t>Understand</a:t>
                      </a:r>
                    </a:p>
                  </a:txBody>
                  <a:tcPr marL="146304" marR="146304" anchor="ctr">
                    <a:solidFill>
                      <a:srgbClr val="1365A5"/>
                    </a:solidFill>
                  </a:tcPr>
                </a:tc>
              </a:tr>
              <a:tr h="1051560">
                <a:tc>
                  <a:txBody>
                    <a:bodyPr/>
                    <a:lstStyle/>
                    <a:p>
                      <a:pPr algn="l"/>
                      <a:r>
                        <a:rPr sz="1600" b="1">
                          <a:solidFill>
                            <a:srgbClr val="1365A5"/>
                          </a:solidFill>
                          <a:latin typeface="Bebas Neue"/>
                        </a:rPr>
                        <a:t>Structure in order to be able to interpret language correctly</a:t>
                      </a:r>
                    </a:p>
                  </a:txBody>
                  <a:tcPr marL="146304" marR="146304" anchor="ctr">
                    <a:solidFill>
                      <a:srgbClr val="F5F6F8"/>
                    </a:solidFill>
                  </a:tcPr>
                </a:tc>
                <a:tc>
                  <a:txBody>
                    <a:bodyPr/>
                    <a:lstStyle/>
                    <a:p>
                      <a:pPr algn="l"/>
                      <a:r>
                        <a:rPr sz="1600" b="0">
                          <a:solidFill>
                            <a:srgbClr val="111111"/>
                          </a:solidFill>
                          <a:latin typeface="Inter"/>
                        </a:rPr>
                        <a:t>We need to understand</a:t>
                      </a:r>
                    </a:p>
                  </a:txBody>
                  <a:tcPr marL="146304" marR="146304" anchor="ctr">
                    <a:solidFill>
                      <a:srgbClr val="F5F6F8"/>
                    </a:solidFill>
                  </a:tcPr>
                </a:tc>
              </a:tr>
              <a:tr h="1051560">
                <a:tc>
                  <a:txBody>
                    <a:bodyPr/>
                    <a:lstStyle/>
                    <a:p>
                      <a:pPr algn="l"/>
                      <a:r>
                        <a:rPr sz="1600" b="1">
                          <a:solidFill>
                            <a:srgbClr val="1365A5"/>
                          </a:solidFill>
                          <a:latin typeface="Bebas Neue"/>
                        </a:rPr>
                        <a:t>Structure is necessary to interpret language correctly because humans communicate complex ideas by composing words together into bigger units</a:t>
                      </a:r>
                    </a:p>
                  </a:txBody>
                  <a:tcPr marL="146304" marR="146304" anchor="ctr">
                    <a:solidFill>
                      <a:srgbClr val="ECF2F7"/>
                    </a:solidFill>
                  </a:tcPr>
                </a:tc>
                <a:tc>
                  <a:txBody>
                    <a:bodyPr/>
                    <a:lstStyle/>
                    <a:p>
                      <a:pPr algn="l"/>
                      <a:r>
                        <a:rPr sz="1600" b="0">
                          <a:solidFill>
                            <a:srgbClr val="111111"/>
                          </a:solidFill>
                          <a:latin typeface="Inter"/>
                        </a:rPr>
                        <a:t>We need to know what is connected to what to properly understand the intended meaning</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Key difference — Sentence: Structure in order to be able to interpret language correctly  |  Understand: We need to understand</a:t>
            </a:r>
          </a:p>
          <a:p>
            <a:pPr algn="l"/>
            <a:r>
              <a:rPr b="1" sz="1300">
                <a:solidFill>
                  <a:srgbClr val="1365A5"/>
                </a:solidFill>
                <a:latin typeface="Bebas Neue"/>
              </a:rPr>
              <a:t>Key terms:  </a:t>
            </a:r>
            <a:r>
              <a:rPr sz="1300" b="0">
                <a:solidFill>
                  <a:srgbClr val="111111"/>
                </a:solidFill>
                <a:latin typeface="Inter"/>
              </a:rPr>
              <a:t>Sentence structure — The arrangement of words into bigger units to communicate complex ideas.</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 context-free grammar defines a formal language of grammatical sentences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167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58902"/>
            <a:ext cx="82296" cy="904387"/>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22326"/>
            <a:ext cx="7087166" cy="922675"/>
          </a:xfrm>
          <a:prstGeom prst="rect">
            <a:avLst/>
          </a:prstGeom>
          <a:noFill/>
        </p:spPr>
        <p:txBody>
          <a:bodyPr wrap="square" anchor="t" lIns="0" tIns="0" rIns="0" bIns="0">
            <a:spAutoFit/>
          </a:bodyPr>
          <a:lstStyle/>
          <a:p>
            <a:pPr algn="l"/>
            <a:r>
              <a:rPr sz="1920" b="1">
                <a:solidFill>
                  <a:srgbClr val="1365A5"/>
                </a:solidFill>
                <a:latin typeface="Bebas Neue"/>
              </a:rPr>
              <a:t>A CFG defines a formal language = the set of all sentences (strings of words) that can be derived by the grammar.</a:t>
            </a:r>
          </a:p>
        </p:txBody>
      </p:sp>
      <p:sp>
        <p:nvSpPr>
          <p:cNvPr id="10" name="TextBox 9"/>
          <p:cNvSpPr txBox="1"/>
          <p:nvPr/>
        </p:nvSpPr>
        <p:spPr>
          <a:xfrm>
            <a:off x="720547" y="2537025"/>
            <a:ext cx="7087166" cy="248031"/>
          </a:xfrm>
          <a:prstGeom prst="rect">
            <a:avLst/>
          </a:prstGeom>
          <a:noFill/>
        </p:spPr>
        <p:txBody>
          <a:bodyPr wrap="square" lIns="0" rIns="0" tIns="0" bIns="0">
            <a:spAutoFit/>
          </a:bodyPr>
          <a:lstStyle/>
          <a:p>
            <a:r>
              <a:rPr sz="1550">
                <a:solidFill>
                  <a:srgbClr val="111111"/>
                </a:solidFill>
                <a:latin typeface="Inter"/>
              </a:rPr>
              <a:t>Sentences in this set said to be grammatical.</a:t>
            </a:r>
          </a:p>
        </p:txBody>
      </p:sp>
      <p:sp>
        <p:nvSpPr>
          <p:cNvPr id="11" name="TextBox 10"/>
          <p:cNvSpPr txBox="1"/>
          <p:nvPr/>
        </p:nvSpPr>
        <p:spPr>
          <a:xfrm>
            <a:off x="720547" y="2913072"/>
            <a:ext cx="7087166" cy="248031"/>
          </a:xfrm>
          <a:prstGeom prst="rect">
            <a:avLst/>
          </a:prstGeom>
          <a:noFill/>
        </p:spPr>
        <p:txBody>
          <a:bodyPr wrap="square" lIns="0" rIns="0" tIns="0" bIns="0">
            <a:spAutoFit/>
          </a:bodyPr>
          <a:lstStyle/>
          <a:p>
            <a:r>
              <a:rPr sz="1550">
                <a:solidFill>
                  <a:srgbClr val="111111"/>
                </a:solidFill>
                <a:latin typeface="Inter"/>
              </a:rPr>
              <a:t>Sentences outside this set said to be ungrammatical.</a:t>
            </a:r>
          </a:p>
        </p:txBody>
      </p:sp>
      <p:sp>
        <p:nvSpPr>
          <p:cNvPr id="12" name="TextBox 11"/>
          <p:cNvSpPr txBox="1"/>
          <p:nvPr/>
        </p:nvSpPr>
        <p:spPr>
          <a:xfrm>
            <a:off x="720547" y="3289119"/>
            <a:ext cx="7087166" cy="496062"/>
          </a:xfrm>
          <a:prstGeom prst="rect">
            <a:avLst/>
          </a:prstGeom>
          <a:noFill/>
        </p:spPr>
        <p:txBody>
          <a:bodyPr wrap="square" lIns="0" rIns="0" tIns="0" bIns="0">
            <a:spAutoFit/>
          </a:bodyPr>
          <a:lstStyle/>
          <a:p>
            <a:r>
              <a:rPr sz="1550">
                <a:solidFill>
                  <a:srgbClr val="111111"/>
                </a:solidFill>
                <a:latin typeface="Inter"/>
              </a:rPr>
              <a:t>A context-free grammar defines a formal language by establishing the set of all sentences that can be derived by the grammar.</a:t>
            </a:r>
          </a:p>
        </p:txBody>
      </p:sp>
      <p:sp>
        <p:nvSpPr>
          <p:cNvPr id="13" name="TextBox 12"/>
          <p:cNvSpPr txBox="1"/>
          <p:nvPr/>
        </p:nvSpPr>
        <p:spPr>
          <a:xfrm>
            <a:off x="720547" y="3913197"/>
            <a:ext cx="7087166" cy="496062"/>
          </a:xfrm>
          <a:prstGeom prst="rect">
            <a:avLst/>
          </a:prstGeom>
          <a:noFill/>
        </p:spPr>
        <p:txBody>
          <a:bodyPr wrap="square" lIns="0" rIns="0" tIns="0" bIns="0">
            <a:spAutoFit/>
          </a:bodyPr>
          <a:lstStyle/>
          <a:p>
            <a:r>
              <a:rPr sz="960" b="1">
                <a:solidFill>
                  <a:srgbClr val="C2410C"/>
                </a:solidFill>
                <a:latin typeface="Bebas Neue"/>
              </a:rPr>
              <a:t>BUT   </a:t>
            </a:r>
            <a:r>
              <a:rPr sz="1550">
                <a:solidFill>
                  <a:srgbClr val="111111"/>
                </a:solidFill>
                <a:latin typeface="Inter"/>
              </a:rPr>
              <a:t>Sentences generated within this set are grammatical, </a:t>
            </a:r>
            <a:r>
              <a:rPr sz="1550" b="1">
                <a:solidFill>
                  <a:srgbClr val="C2410C"/>
                </a:solidFill>
                <a:latin typeface="Bebas Neue"/>
              </a:rPr>
              <a:t>while</a:t>
            </a:r>
            <a:r>
              <a:rPr sz="1550">
                <a:solidFill>
                  <a:srgbClr val="111111"/>
                </a:solidFill>
                <a:latin typeface="Inter"/>
              </a:rPr>
              <a:t> sentences outside of it are ungrammatical.</a:t>
            </a:r>
          </a:p>
        </p:txBody>
      </p:sp>
      <p:sp>
        <p:nvSpPr>
          <p:cNvPr id="14" name="TextBox 13"/>
          <p:cNvSpPr txBox="1"/>
          <p:nvPr/>
        </p:nvSpPr>
        <p:spPr>
          <a:xfrm>
            <a:off x="720547" y="4537275"/>
            <a:ext cx="7087166" cy="496062"/>
          </a:xfrm>
          <a:prstGeom prst="rect">
            <a:avLst/>
          </a:prstGeom>
          <a:noFill/>
        </p:spPr>
        <p:txBody>
          <a:bodyPr wrap="square" lIns="0" rIns="0" tIns="0" bIns="0">
            <a:spAutoFit/>
          </a:bodyPr>
          <a:lstStyle/>
          <a:p>
            <a:r>
              <a:rPr sz="960" b="1">
                <a:solidFill>
                  <a:srgbClr val="C2410C"/>
                </a:solidFill>
                <a:latin typeface="Bebas Neue"/>
              </a:rPr>
              <a:t>BUT   </a:t>
            </a:r>
            <a:r>
              <a:rPr sz="1550">
                <a:solidFill>
                  <a:srgbClr val="111111"/>
                </a:solidFill>
                <a:latin typeface="Inter"/>
              </a:rPr>
              <a:t>Example: Valid word combinations form grammatical sentences, </a:t>
            </a:r>
            <a:r>
              <a:rPr sz="1550" b="1">
                <a:solidFill>
                  <a:srgbClr val="C2410C"/>
                </a:solidFill>
                <a:latin typeface="Bebas Neue"/>
              </a:rPr>
              <a:t>while</a:t>
            </a:r>
            <a:r>
              <a:rPr sz="1550">
                <a:solidFill>
                  <a:srgbClr val="111111"/>
                </a:solidFill>
                <a:latin typeface="Inter"/>
              </a:rPr>
              <a:t> random sequences are ungrammatical.</a:t>
            </a:r>
          </a:p>
        </p:txBody>
      </p:sp>
      <p:sp>
        <p:nvSpPr>
          <p:cNvPr id="15" name="Rounded Rectangle 1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CFG — A grammar that defines a formal language through a set of derivable sentences.</a:t>
            </a:r>
          </a:p>
        </p:txBody>
      </p:sp>
      <p:sp>
        <p:nvSpPr>
          <p:cNvPr id="16" name="Rectangle 1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Why do we need sentence structure?: T is set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168 / 229</a:t>
            </a:r>
          </a:p>
        </p:txBody>
      </p:sp>
      <p:pic>
        <p:nvPicPr>
          <p:cNvPr id="7" name="Picture 6" descr="image.png">
            <a:hlinkClick r:id="rId4"/>
          </p:cNvPr>
          <p:cNvPicPr>
            <a:picLocks noChangeAspect="1"/>
          </p:cNvPicPr>
          <p:nvPr/>
        </p:nvPicPr>
        <p:blipFill>
          <a:blip r:embed="rId3"/>
          <a:stretch>
            <a:fillRect/>
          </a:stretch>
        </p:blipFill>
        <p:spPr>
          <a:xfrm>
            <a:off x="8349386" y="1820204"/>
            <a:ext cx="3382365" cy="4058838"/>
          </a:xfrm>
          <a:prstGeom prst="rect">
            <a:avLst/>
          </a:prstGeom>
        </p:spPr>
      </p:pic>
      <p:sp>
        <p:nvSpPr>
          <p:cNvPr id="8" name="Rectangle 7"/>
          <p:cNvSpPr/>
          <p:nvPr/>
        </p:nvSpPr>
        <p:spPr>
          <a:xfrm>
            <a:off x="457200" y="1554068"/>
            <a:ext cx="82296" cy="99751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17492"/>
            <a:ext cx="6907734" cy="1015806"/>
          </a:xfrm>
          <a:prstGeom prst="rect">
            <a:avLst/>
          </a:prstGeom>
          <a:noFill/>
        </p:spPr>
        <p:txBody>
          <a:bodyPr wrap="square" anchor="t" lIns="0" tIns="0" rIns="0" bIns="0">
            <a:spAutoFit/>
          </a:bodyPr>
          <a:lstStyle/>
          <a:p>
            <a:pPr algn="l"/>
            <a:r>
              <a:rPr sz="3170" b="1">
                <a:solidFill>
                  <a:srgbClr val="1365A5"/>
                </a:solidFill>
                <a:latin typeface="Bebas Neue"/>
              </a:rPr>
              <a:t>T is set of terminals (lexicon).</a:t>
            </a:r>
          </a:p>
        </p:txBody>
      </p:sp>
      <p:sp>
        <p:nvSpPr>
          <p:cNvPr id="10" name="TextBox 9"/>
          <p:cNvSpPr txBox="1"/>
          <p:nvPr/>
        </p:nvSpPr>
        <p:spPr>
          <a:xfrm>
            <a:off x="720547" y="2725323"/>
            <a:ext cx="6907734" cy="1104138"/>
          </a:xfrm>
          <a:prstGeom prst="rect">
            <a:avLst/>
          </a:prstGeom>
          <a:noFill/>
        </p:spPr>
        <p:txBody>
          <a:bodyPr wrap="square" lIns="0" rIns="0" tIns="0" bIns="0">
            <a:spAutoFit/>
          </a:bodyPr>
          <a:lstStyle/>
          <a:p>
            <a:r>
              <a:rPr sz="2300">
                <a:solidFill>
                  <a:srgbClr val="111111"/>
                </a:solidFill>
                <a:latin typeface="Inter"/>
              </a:rPr>
              <a:t>N is set of non-terminals For NLP, we usually distinguish out a set P CN of preterminals which always rewrite as terminals.</a:t>
            </a:r>
          </a:p>
        </p:txBody>
      </p:sp>
      <p:sp>
        <p:nvSpPr>
          <p:cNvPr id="11" name="TextBox 10"/>
          <p:cNvSpPr txBox="1"/>
          <p:nvPr/>
        </p:nvSpPr>
        <p:spPr>
          <a:xfrm>
            <a:off x="720547" y="3957477"/>
            <a:ext cx="6907734" cy="368046"/>
          </a:xfrm>
          <a:prstGeom prst="rect">
            <a:avLst/>
          </a:prstGeom>
          <a:noFill/>
        </p:spPr>
        <p:txBody>
          <a:bodyPr wrap="square" lIns="0" rIns="0" tIns="0" bIns="0">
            <a:spAutoFit/>
          </a:bodyPr>
          <a:lstStyle/>
          <a:p>
            <a:r>
              <a:rPr sz="2300">
                <a:solidFill>
                  <a:srgbClr val="111111"/>
                </a:solidFill>
                <a:latin typeface="Inter"/>
              </a:rPr>
              <a:t>S is start symbol (one of the nonterminals).</a:t>
            </a:r>
          </a:p>
        </p:txBody>
      </p:sp>
      <p:sp>
        <p:nvSpPr>
          <p:cNvPr id="12" name="TextBox 11"/>
          <p:cNvSpPr txBox="1"/>
          <p:nvPr/>
        </p:nvSpPr>
        <p:spPr>
          <a:xfrm>
            <a:off x="720547" y="4453539"/>
            <a:ext cx="6907734" cy="1104138"/>
          </a:xfrm>
          <a:prstGeom prst="rect">
            <a:avLst/>
          </a:prstGeom>
          <a:noFill/>
        </p:spPr>
        <p:txBody>
          <a:bodyPr wrap="square" lIns="0" rIns="0" tIns="0" bIns="0">
            <a:spAutoFit/>
          </a:bodyPr>
          <a:lstStyle/>
          <a:p>
            <a:r>
              <a:rPr sz="2300">
                <a:solidFill>
                  <a:srgbClr val="111111"/>
                </a:solidFill>
                <a:latin typeface="Inter"/>
              </a:rPr>
              <a:t>R is rules/productions of the form X — where X is a nonterminal and 7 is a sequence of terminals and nonterminals (may be empty).</a:t>
            </a:r>
          </a:p>
        </p:txBody>
      </p:sp>
      <p:sp>
        <p:nvSpPr>
          <p:cNvPr id="13" name="TextBox 12"/>
          <p:cNvSpPr txBox="1"/>
          <p:nvPr/>
        </p:nvSpPr>
        <p:spPr>
          <a:xfrm>
            <a:off x="720547" y="5685693"/>
            <a:ext cx="6907734" cy="368046"/>
          </a:xfrm>
          <a:prstGeom prst="rect">
            <a:avLst/>
          </a:prstGeom>
          <a:noFill/>
        </p:spPr>
        <p:txBody>
          <a:bodyPr wrap="square" lIns="0" rIns="0" tIns="0" bIns="0">
            <a:spAutoFit/>
          </a:bodyPr>
          <a:lstStyle/>
          <a:p>
            <a:r>
              <a:rPr sz="2300">
                <a:solidFill>
                  <a:srgbClr val="111111"/>
                </a:solidFill>
                <a:latin typeface="Inter"/>
              </a:rPr>
              <a:t>A grammar G generates a language L.</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An example CONTEXT-FREE grammar</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169 / 229</a:t>
            </a:r>
          </a:p>
        </p:txBody>
      </p:sp>
      <p:sp>
        <p:nvSpPr>
          <p:cNvPr id="7" name="Rounded Rectangle 6"/>
          <p:cNvSpPr/>
          <p:nvPr/>
        </p:nvSpPr>
        <p:spPr>
          <a:xfrm>
            <a:off x="2747772" y="1298448"/>
            <a:ext cx="669340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12364" y="1463040"/>
            <a:ext cx="6364223" cy="4773168"/>
          </a:xfrm>
          <a:prstGeom prst="rect">
            <a:avLst/>
          </a:prstGeom>
        </p:spPr>
      </p:pic>
    </p:spTree>
  </p:cSld>
  <p:clrMapOvr>
    <a:masterClrMapping/>
  </p:clrMapOvr>
  <p:transition spd="med">
    <p:zoom dir="in"/>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An example CONTEXT-FREE grammar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170 / 229</a:t>
            </a:r>
          </a:p>
        </p:txBody>
      </p:sp>
      <p:sp>
        <p:nvSpPr>
          <p:cNvPr id="7" name="Rounded Rectangle 6"/>
          <p:cNvSpPr/>
          <p:nvPr/>
        </p:nvSpPr>
        <p:spPr>
          <a:xfrm>
            <a:off x="2790563" y="1298448"/>
            <a:ext cx="6607825"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55155" y="1463040"/>
            <a:ext cx="6278641" cy="4773168"/>
          </a:xfrm>
          <a:prstGeom prst="rect">
            <a:avLst/>
          </a:prstGeom>
        </p:spPr>
      </p:pic>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Application of grammar rewrite rules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171 / 229</a:t>
            </a:r>
          </a:p>
        </p:txBody>
      </p:sp>
      <p:sp>
        <p:nvSpPr>
          <p:cNvPr id="7" name="Rounded Rectangle 6"/>
          <p:cNvSpPr/>
          <p:nvPr/>
        </p:nvSpPr>
        <p:spPr>
          <a:xfrm>
            <a:off x="3490157" y="1298448"/>
            <a:ext cx="5208637"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654749" y="1463040"/>
            <a:ext cx="4879453" cy="4773168"/>
          </a:xfrm>
          <a:prstGeom prst="rect">
            <a:avLst/>
          </a:prstGeom>
        </p:spPr>
      </p:pic>
    </p:spTree>
  </p:cSld>
  <p:clrMapOvr>
    <a:masterClrMapping/>
  </p:clrMapOvr>
  <p:transition spd="med">
    <p:zoom dir="in"/>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L0 grammar</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172 / 229</a:t>
            </a:r>
          </a:p>
        </p:txBody>
      </p:sp>
      <p:sp>
        <p:nvSpPr>
          <p:cNvPr id="7" name="Rounded Rectangle 6"/>
          <p:cNvSpPr/>
          <p:nvPr/>
        </p:nvSpPr>
        <p:spPr>
          <a:xfrm>
            <a:off x="2274455" y="1298448"/>
            <a:ext cx="764004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439047" y="1463040"/>
            <a:ext cx="7310857" cy="4773168"/>
          </a:xfrm>
          <a:prstGeom prst="rect">
            <a:avLst/>
          </a:prstGeom>
        </p:spPr>
      </p:pic>
    </p:spTree>
  </p:cSld>
  <p:clrMapOvr>
    <a:masterClrMapping/>
  </p:clrMapOvr>
  <p:transition spd="med">
    <p:push dir="l"/>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Noun phrase structure centers around a head noun with surrounding modifiers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173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89175"/>
            <a:ext cx="82296" cy="776691"/>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552599"/>
            <a:ext cx="7087166" cy="794979"/>
          </a:xfrm>
          <a:prstGeom prst="rect">
            <a:avLst/>
          </a:prstGeom>
          <a:noFill/>
        </p:spPr>
        <p:txBody>
          <a:bodyPr wrap="square" anchor="t" lIns="0" tIns="0" rIns="0" bIns="0">
            <a:spAutoFit/>
          </a:bodyPr>
          <a:lstStyle/>
          <a:p>
            <a:pPr algn="l"/>
            <a:r>
              <a:rPr sz="2480" b="1">
                <a:solidFill>
                  <a:srgbClr val="1365A5"/>
                </a:solidFill>
                <a:latin typeface="Bebas Neue"/>
              </a:rPr>
              <a:t>All the morning flights from Denver to Tampa leaving before 10.</a:t>
            </a:r>
          </a:p>
        </p:txBody>
      </p:sp>
      <p:sp>
        <p:nvSpPr>
          <p:cNvPr id="10" name="TextBox 9"/>
          <p:cNvSpPr txBox="1"/>
          <p:nvPr/>
        </p:nvSpPr>
        <p:spPr>
          <a:xfrm>
            <a:off x="720547" y="2539603"/>
            <a:ext cx="7087166" cy="576072"/>
          </a:xfrm>
          <a:prstGeom prst="rect">
            <a:avLst/>
          </a:prstGeom>
          <a:noFill/>
        </p:spPr>
        <p:txBody>
          <a:bodyPr wrap="square" lIns="0" rIns="0" tIns="0" bIns="0">
            <a:spAutoFit/>
          </a:bodyPr>
          <a:lstStyle/>
          <a:p>
            <a:r>
              <a:rPr sz="1800">
                <a:solidFill>
                  <a:srgbClr val="111111"/>
                </a:solidFill>
                <a:latin typeface="Inter"/>
              </a:rPr>
              <a:t>Clearly this NP is really about flights. That’s the central critical noun in this NP. Such word is called as the head.</a:t>
            </a:r>
          </a:p>
        </p:txBody>
      </p:sp>
      <p:sp>
        <p:nvSpPr>
          <p:cNvPr id="11" name="TextBox 10"/>
          <p:cNvSpPr txBox="1"/>
          <p:nvPr/>
        </p:nvSpPr>
        <p:spPr>
          <a:xfrm>
            <a:off x="720547" y="3243691"/>
            <a:ext cx="7087166" cy="576072"/>
          </a:xfrm>
          <a:prstGeom prst="rect">
            <a:avLst/>
          </a:prstGeom>
          <a:noFill/>
        </p:spPr>
        <p:txBody>
          <a:bodyPr wrap="square" lIns="0" rIns="0" tIns="0" bIns="0">
            <a:spAutoFit/>
          </a:bodyPr>
          <a:lstStyle/>
          <a:p>
            <a:r>
              <a:rPr sz="1800">
                <a:solidFill>
                  <a:srgbClr val="111111"/>
                </a:solidFill>
                <a:latin typeface="Inter"/>
              </a:rPr>
              <a:t>We can dissect this kind of NP into the stuff that can come </a:t>
            </a:r>
            <a:r>
              <a:rPr sz="1800" b="1">
                <a:solidFill>
                  <a:srgbClr val="6D28D9"/>
                </a:solidFill>
                <a:latin typeface="Bebas Neue"/>
              </a:rPr>
              <a:t>before</a:t>
            </a:r>
            <a:r>
              <a:rPr sz="1800">
                <a:solidFill>
                  <a:srgbClr val="111111"/>
                </a:solidFill>
                <a:latin typeface="Inter"/>
              </a:rPr>
              <a:t> the head, and the stuff that can come after it.</a:t>
            </a:r>
          </a:p>
        </p:txBody>
      </p:sp>
      <p:sp>
        <p:nvSpPr>
          <p:cNvPr id="12" name="Rounded Rectangle 11"/>
          <p:cNvSpPr/>
          <p:nvPr/>
        </p:nvSpPr>
        <p:spPr>
          <a:xfrm>
            <a:off x="457200" y="4403099"/>
            <a:ext cx="7883956"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the phrase 'flights from Denver' centers on the head noun 'flights'.</a:t>
            </a:r>
          </a:p>
        </p:txBody>
      </p:sp>
      <p:sp>
        <p:nvSpPr>
          <p:cNvPr id="15" name="Rounded Rectangle 1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Head — The central critical noun that an entire noun phrase is really about.  ·  NP — A noun phrase that can be dissected into material coming before and after the head.</a:t>
            </a:r>
          </a:p>
        </p:txBody>
      </p:sp>
      <p:sp>
        <p:nvSpPr>
          <p:cNvPr id="16" name="Rectangle 1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par>
                                <p:cTn id="25" presetID="10"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Determiners start noun phrases as simple items, possessives, or recursive versions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174 / 229</a:t>
            </a:r>
          </a:p>
        </p:txBody>
      </p:sp>
      <p:graphicFrame>
        <p:nvGraphicFramePr>
          <p:cNvPr id="8" name="Table 7"/>
          <p:cNvGraphicFramePr>
            <a:graphicFrameLocks noGrp="1"/>
          </p:cNvGraphicFramePr>
          <p:nvPr/>
        </p:nvGraphicFramePr>
        <p:xfrm>
          <a:off x="457200" y="1363408"/>
          <a:ext cx="11274552" cy="3856863"/>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Determiners</a:t>
                      </a:r>
                    </a:p>
                  </a:txBody>
                  <a:tcPr marL="146304" marR="146304" anchor="ctr">
                    <a:solidFill>
                      <a:srgbClr val="1365A5"/>
                    </a:solidFill>
                  </a:tcPr>
                </a:tc>
                <a:tc>
                  <a:txBody>
                    <a:bodyPr/>
                    <a:lstStyle/>
                    <a:p>
                      <a:pPr algn="l"/>
                      <a:r>
                        <a:rPr sz="2000" b="1">
                          <a:solidFill>
                            <a:srgbClr val="FFFFFF"/>
                          </a:solidFill>
                          <a:latin typeface="Bebas Neue"/>
                        </a:rPr>
                        <a:t>Recursive</a:t>
                      </a:r>
                    </a:p>
                  </a:txBody>
                  <a:tcPr marL="146304" marR="146304" anchor="ctr">
                    <a:solidFill>
                      <a:srgbClr val="1365A5"/>
                    </a:solidFill>
                  </a:tcPr>
                </a:tc>
              </a:tr>
              <a:tr h="1051560">
                <a:tc>
                  <a:txBody>
                    <a:bodyPr/>
                    <a:lstStyle/>
                    <a:p>
                      <a:pPr algn="l"/>
                      <a:r>
                        <a:rPr sz="1750" b="1">
                          <a:solidFill>
                            <a:srgbClr val="1365A5"/>
                          </a:solidFill>
                          <a:latin typeface="Bebas Neue"/>
                        </a:rPr>
                        <a:t>Noun phrases can start with determiners</a:t>
                      </a:r>
                    </a:p>
                  </a:txBody>
                  <a:tcPr marL="146304" marR="146304" anchor="ctr">
                    <a:solidFill>
                      <a:srgbClr val="F5F6F8"/>
                    </a:solidFill>
                  </a:tcPr>
                </a:tc>
                <a:tc>
                  <a:txBody>
                    <a:bodyPr/>
                    <a:lstStyle/>
                    <a:p>
                      <a:pPr algn="l"/>
                      <a:r>
                        <a:rPr sz="1750" b="0">
                          <a:solidFill>
                            <a:srgbClr val="111111"/>
                          </a:solidFill>
                          <a:latin typeface="Inter"/>
                        </a:rPr>
                        <a:t>Or complex recursive versions of that</a:t>
                      </a:r>
                    </a:p>
                  </a:txBody>
                  <a:tcPr marL="146304" marR="146304" anchor="ctr">
                    <a:solidFill>
                      <a:srgbClr val="F5F6F8"/>
                    </a:solidFill>
                  </a:tcPr>
                </a:tc>
              </a:tr>
              <a:tr h="1067943">
                <a:tc>
                  <a:txBody>
                    <a:bodyPr/>
                    <a:lstStyle/>
                    <a:p>
                      <a:pPr algn="l"/>
                      <a:r>
                        <a:rPr sz="1750" b="1">
                          <a:solidFill>
                            <a:srgbClr val="1365A5"/>
                          </a:solidFill>
                          <a:latin typeface="Bebas Neue"/>
                        </a:rPr>
                        <a:t>Noun phrases can start with determiners, which range from simple lexical items like 'the' and 'a' to simple possessives or complex</a:t>
                      </a:r>
                    </a:p>
                  </a:txBody>
                  <a:tcPr marL="146304" marR="146304" anchor="ctr">
                    <a:solidFill>
                      <a:srgbClr val="ECF2F7"/>
                    </a:solidFill>
                  </a:tcPr>
                </a:tc>
                <a:tc>
                  <a:txBody>
                    <a:bodyPr/>
                    <a:lstStyle/>
                    <a:p>
                      <a:pPr algn="l"/>
                      <a:r>
                        <a:rPr sz="1750" b="0">
                          <a:solidFill>
                            <a:srgbClr val="111111"/>
                          </a:solidFill>
                          <a:latin typeface="Inter"/>
                        </a:rPr>
                        <a:t>Versions</a:t>
                      </a:r>
                    </a:p>
                  </a:txBody>
                  <a:tcPr marL="146304" marR="146304" anchor="ctr">
                    <a:solidFill>
                      <a:srgbClr val="ECF2F7"/>
                    </a:solidFill>
                  </a:tcPr>
                </a:tc>
              </a:tr>
              <a:tr h="1051560">
                <a:tc>
                  <a:txBody>
                    <a:bodyPr/>
                    <a:lstStyle/>
                    <a:p>
                      <a:pPr algn="l"/>
                    </a:p>
                  </a:txBody>
                  <a:tcPr marL="146304" marR="146304" anchor="ctr">
                    <a:solidFill>
                      <a:srgbClr val="F5F6F8"/>
                    </a:solidFill>
                  </a:tcPr>
                </a:tc>
                <a:tc>
                  <a:txBody>
                    <a:bodyPr/>
                    <a:lstStyle/>
                    <a:p>
                      <a:pPr algn="l"/>
                      <a:r>
                        <a:rPr sz="1750" b="0">
                          <a:solidFill>
                            <a:srgbClr val="111111"/>
                          </a:solidFill>
                          <a:latin typeface="Inter"/>
                        </a:rPr>
                        <a:t>Example: John's sister's car features a complex recursive possessive determiner</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3 determiners compared on recursive.</a:t>
            </a:r>
          </a:p>
          <a:p>
            <a:pPr algn="l"/>
            <a:r>
              <a:rPr b="1" sz="1300">
                <a:solidFill>
                  <a:srgbClr val="1365A5"/>
                </a:solidFill>
                <a:latin typeface="Bebas Neue"/>
              </a:rPr>
              <a:t>Key terms:  </a:t>
            </a:r>
            <a:r>
              <a:rPr sz="1300" b="0">
                <a:solidFill>
                  <a:srgbClr val="111111"/>
                </a:solidFill>
                <a:latin typeface="Inter"/>
              </a:rPr>
              <a:t>Determiner — An introductory element of a noun phrase like an article or possessive.</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Nominals contain the head noun and its various pre- and post-modifiers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672415"/>
          </a:xfrm>
          <a:prstGeom prst="roundRect">
            <a:avLst>
              <a:gd name="adj" fmla="val 209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511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464577"/>
            <a:ext cx="340156" cy="340156"/>
          </a:xfrm>
          <a:prstGeom prst="rect">
            <a:avLst/>
          </a:prstGeom>
        </p:spPr>
      </p:pic>
      <p:sp>
        <p:nvSpPr>
          <p:cNvPr id="11" name="TextBox 10"/>
          <p:cNvSpPr txBox="1"/>
          <p:nvPr/>
        </p:nvSpPr>
        <p:spPr>
          <a:xfrm>
            <a:off x="1408175" y="1371600"/>
            <a:ext cx="2689250" cy="526111"/>
          </a:xfrm>
          <a:prstGeom prst="rect">
            <a:avLst/>
          </a:prstGeom>
          <a:noFill/>
        </p:spPr>
        <p:txBody>
          <a:bodyPr wrap="square" anchor="ctr" lIns="0" tIns="0" rIns="0" bIns="0">
            <a:spAutoFit/>
          </a:bodyPr>
          <a:lstStyle/>
          <a:p>
            <a:pPr algn="l"/>
            <a:r>
              <a:rPr sz="1300" b="0">
                <a:solidFill>
                  <a:srgbClr val="111111"/>
                </a:solidFill>
                <a:latin typeface="Inter"/>
              </a:rPr>
              <a:t>Contains the head and any pre- and post- modifiers of the head</a:t>
            </a:r>
          </a:p>
        </p:txBody>
      </p:sp>
      <p:sp>
        <p:nvSpPr>
          <p:cNvPr id="12" name="Rounded Rectangle 11"/>
          <p:cNvSpPr/>
          <p:nvPr/>
        </p:nvSpPr>
        <p:spPr>
          <a:xfrm>
            <a:off x="4499762" y="1298448"/>
            <a:ext cx="3841394" cy="672415"/>
          </a:xfrm>
          <a:prstGeom prst="roundRect">
            <a:avLst>
              <a:gd name="adj" fmla="val 209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3511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464577"/>
            <a:ext cx="340156" cy="340156"/>
          </a:xfrm>
          <a:prstGeom prst="rect">
            <a:avLst/>
          </a:prstGeom>
        </p:spPr>
      </p:pic>
      <p:sp>
        <p:nvSpPr>
          <p:cNvPr id="15" name="TextBox 14"/>
          <p:cNvSpPr txBox="1"/>
          <p:nvPr/>
        </p:nvSpPr>
        <p:spPr>
          <a:xfrm>
            <a:off x="5450738" y="1371600"/>
            <a:ext cx="2689250" cy="526111"/>
          </a:xfrm>
          <a:prstGeom prst="rect">
            <a:avLst/>
          </a:prstGeom>
          <a:noFill/>
        </p:spPr>
        <p:txBody>
          <a:bodyPr wrap="square" anchor="ctr" lIns="0" tIns="0" rIns="0" bIns="0">
            <a:spAutoFit/>
          </a:bodyPr>
          <a:lstStyle/>
          <a:p>
            <a:pPr algn="l"/>
            <a:r>
              <a:rPr sz="1570" b="0">
                <a:solidFill>
                  <a:srgbClr val="111111"/>
                </a:solidFill>
                <a:latin typeface="Inter"/>
              </a:rPr>
              <a:t>Quantifiers, cardinals, ordinals</a:t>
            </a:r>
          </a:p>
        </p:txBody>
      </p:sp>
      <p:sp>
        <p:nvSpPr>
          <p:cNvPr id="16" name="Rounded Rectangle 15"/>
          <p:cNvSpPr/>
          <p:nvPr/>
        </p:nvSpPr>
        <p:spPr>
          <a:xfrm>
            <a:off x="457200" y="2172031"/>
            <a:ext cx="3841394" cy="672415"/>
          </a:xfrm>
          <a:prstGeom prst="roundRect">
            <a:avLst>
              <a:gd name="adj" fmla="val 209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2247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338161"/>
            <a:ext cx="340156" cy="340156"/>
          </a:xfrm>
          <a:prstGeom prst="rect">
            <a:avLst/>
          </a:prstGeom>
        </p:spPr>
      </p:pic>
      <p:sp>
        <p:nvSpPr>
          <p:cNvPr id="19" name="TextBox 18"/>
          <p:cNvSpPr txBox="1"/>
          <p:nvPr/>
        </p:nvSpPr>
        <p:spPr>
          <a:xfrm>
            <a:off x="1408175" y="2245183"/>
            <a:ext cx="2689250" cy="526111"/>
          </a:xfrm>
          <a:prstGeom prst="rect">
            <a:avLst/>
          </a:prstGeom>
          <a:noFill/>
        </p:spPr>
        <p:txBody>
          <a:bodyPr wrap="square" anchor="ctr" lIns="0" tIns="0" rIns="0" bIns="0">
            <a:spAutoFit/>
          </a:bodyPr>
          <a:lstStyle/>
          <a:p>
            <a:pPr algn="l"/>
            <a:r>
              <a:rPr sz="1570" b="0">
                <a:solidFill>
                  <a:srgbClr val="111111"/>
                </a:solidFill>
                <a:latin typeface="Inter"/>
              </a:rPr>
              <a:t>Three cars</a:t>
            </a:r>
          </a:p>
        </p:txBody>
      </p:sp>
      <p:sp>
        <p:nvSpPr>
          <p:cNvPr id="20" name="Rounded Rectangle 19"/>
          <p:cNvSpPr/>
          <p:nvPr/>
        </p:nvSpPr>
        <p:spPr>
          <a:xfrm>
            <a:off x="4499762" y="2172031"/>
            <a:ext cx="3841394" cy="672415"/>
          </a:xfrm>
          <a:prstGeom prst="roundRect">
            <a:avLst>
              <a:gd name="adj" fmla="val 209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2247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338161"/>
            <a:ext cx="340156" cy="340156"/>
          </a:xfrm>
          <a:prstGeom prst="rect">
            <a:avLst/>
          </a:prstGeom>
        </p:spPr>
      </p:pic>
      <p:sp>
        <p:nvSpPr>
          <p:cNvPr id="23" name="TextBox 22"/>
          <p:cNvSpPr txBox="1"/>
          <p:nvPr/>
        </p:nvSpPr>
        <p:spPr>
          <a:xfrm>
            <a:off x="5450738" y="2245183"/>
            <a:ext cx="2689250" cy="526111"/>
          </a:xfrm>
          <a:prstGeom prst="rect">
            <a:avLst/>
          </a:prstGeom>
          <a:noFill/>
        </p:spPr>
        <p:txBody>
          <a:bodyPr wrap="square" anchor="ctr" lIns="0" tIns="0" rIns="0" bIns="0">
            <a:spAutoFit/>
          </a:bodyPr>
          <a:lstStyle/>
          <a:p>
            <a:pPr algn="l"/>
            <a:r>
              <a:rPr sz="1570" b="0">
                <a:solidFill>
                  <a:srgbClr val="111111"/>
                </a:solidFill>
                <a:latin typeface="Inter"/>
              </a:rPr>
              <a:t>Adjectives and Aps</a:t>
            </a:r>
          </a:p>
        </p:txBody>
      </p:sp>
      <p:sp>
        <p:nvSpPr>
          <p:cNvPr id="24" name="Rounded Rectangle 23"/>
          <p:cNvSpPr/>
          <p:nvPr/>
        </p:nvSpPr>
        <p:spPr>
          <a:xfrm>
            <a:off x="457200" y="3045615"/>
            <a:ext cx="7883956" cy="672415"/>
          </a:xfrm>
          <a:prstGeom prst="roundRect">
            <a:avLst>
              <a:gd name="adj" fmla="val 2094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09835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211744"/>
            <a:ext cx="340156" cy="340156"/>
          </a:xfrm>
          <a:prstGeom prst="rect">
            <a:avLst/>
          </a:prstGeom>
        </p:spPr>
      </p:pic>
      <p:sp>
        <p:nvSpPr>
          <p:cNvPr id="27" name="TextBox 26"/>
          <p:cNvSpPr txBox="1"/>
          <p:nvPr/>
        </p:nvSpPr>
        <p:spPr>
          <a:xfrm>
            <a:off x="1408175" y="3118767"/>
            <a:ext cx="6731812" cy="526111"/>
          </a:xfrm>
          <a:prstGeom prst="rect">
            <a:avLst/>
          </a:prstGeom>
          <a:noFill/>
        </p:spPr>
        <p:txBody>
          <a:bodyPr wrap="square" anchor="ctr" lIns="0" tIns="0" rIns="0" bIns="0">
            <a:spAutoFit/>
          </a:bodyPr>
          <a:lstStyle/>
          <a:p>
            <a:pPr algn="l"/>
            <a:r>
              <a:rPr sz="1570" b="0">
                <a:solidFill>
                  <a:srgbClr val="111111"/>
                </a:solidFill>
                <a:latin typeface="Inter"/>
              </a:rPr>
              <a:t>Ordering constraints</a:t>
            </a:r>
          </a:p>
        </p:txBody>
      </p:sp>
      <p:sp>
        <p:nvSpPr>
          <p:cNvPr id="28" name="Rounded Rectangle 27"/>
          <p:cNvSpPr/>
          <p:nvPr/>
        </p:nvSpPr>
        <p:spPr>
          <a:xfrm>
            <a:off x="457200" y="3919198"/>
            <a:ext cx="7883956"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3992350"/>
            <a:ext cx="7488935" cy="1219729"/>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Nominals contain the head along with any pre- and post-modifiers. Pre-modifiers include quantifiers, cardinals, ordinals, and adjectives, and they must follow strict ordering constraints. Example: Saying 'three large cars' works, but '?large three cars' violates ordering constraints.</a:t>
            </a:r>
          </a:p>
        </p:txBody>
      </p:sp>
      <p:sp>
        <p:nvSpPr>
          <p:cNvPr id="31" name="Rounded Rectangle 30"/>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Nominal — The part of a noun phrase containing the head and its modifiers.</a:t>
            </a:r>
          </a:p>
        </p:txBody>
      </p:sp>
      <p:sp>
        <p:nvSpPr>
          <p:cNvPr id="32" name="Rectangle 31"/>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Postmodifiers expand nominals using prepositional phrases, non-finite clauses, or relative clauses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176 / 229</a:t>
            </a:r>
          </a:p>
        </p:txBody>
      </p:sp>
      <p:sp>
        <p:nvSpPr>
          <p:cNvPr id="8" name="Rounded Rectangle 7"/>
          <p:cNvSpPr/>
          <p:nvPr/>
        </p:nvSpPr>
        <p:spPr>
          <a:xfrm>
            <a:off x="457200" y="1298448"/>
            <a:ext cx="5536692" cy="2661533"/>
          </a:xfrm>
          <a:prstGeom prst="roundRect">
            <a:avLst>
              <a:gd name="adj" fmla="val 52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339664"/>
          </a:xfrm>
          <a:prstGeom prst="rect">
            <a:avLst/>
          </a:prstGeom>
          <a:noFill/>
        </p:spPr>
        <p:txBody>
          <a:bodyPr wrap="square" anchor="t" lIns="0" tIns="0" rIns="0" bIns="0">
            <a:spAutoFit/>
          </a:bodyPr>
          <a:lstStyle/>
          <a:p>
            <a:pPr algn="l"/>
            <a:r>
              <a:rPr sz="2060" b="1">
                <a:solidFill>
                  <a:srgbClr val="1365A5"/>
                </a:solidFill>
                <a:latin typeface="Bebas Neue"/>
              </a:rPr>
              <a:t>Three kinds</a:t>
            </a:r>
          </a:p>
          <a:p>
            <a:pPr algn="l" marL="256032" indent="-256032" lvl="0">
              <a:spcBef>
                <a:spcPts val="700"/>
              </a:spcBef>
              <a:buClr>
                <a:srgbClr val="F76945"/>
              </a:buClr>
              <a:buFont typeface="Arial"/>
              <a:buChar char="•"/>
            </a:pPr>
            <a:r>
              <a:rPr sz="1650" b="0">
                <a:solidFill>
                  <a:srgbClr val="111111"/>
                </a:solidFill>
                <a:latin typeface="Inter"/>
              </a:rPr>
              <a:t>Prepositional phrases</a:t>
            </a:r>
          </a:p>
          <a:p>
            <a:pPr algn="l" marL="512064" indent="-219456" lvl="1">
              <a:spcBef>
                <a:spcPts val="300"/>
              </a:spcBef>
              <a:buClr>
                <a:srgbClr val="F76945"/>
              </a:buClr>
              <a:buFont typeface="Arial"/>
              <a:buChar char="–"/>
            </a:pPr>
            <a:r>
              <a:rPr sz="1480" b="0">
                <a:solidFill>
                  <a:srgbClr val="555555"/>
                </a:solidFill>
                <a:latin typeface="Inter"/>
              </a:rPr>
              <a:t>Flights from Seattle</a:t>
            </a:r>
          </a:p>
          <a:p>
            <a:pPr algn="l" marL="256032" indent="-256032" lvl="0">
              <a:spcBef>
                <a:spcPts val="700"/>
              </a:spcBef>
              <a:buClr>
                <a:srgbClr val="F76945"/>
              </a:buClr>
              <a:buFont typeface="Arial"/>
              <a:buChar char="•"/>
            </a:pPr>
            <a:r>
              <a:rPr sz="1650" b="0">
                <a:solidFill>
                  <a:srgbClr val="111111"/>
                </a:solidFill>
                <a:latin typeface="Inter"/>
              </a:rPr>
              <a:t>Non-finite clauses</a:t>
            </a:r>
          </a:p>
          <a:p>
            <a:pPr algn="l" marL="512064" indent="-219456" lvl="1">
              <a:spcBef>
                <a:spcPts val="300"/>
              </a:spcBef>
              <a:buClr>
                <a:srgbClr val="F76945"/>
              </a:buClr>
              <a:buFont typeface="Arial"/>
              <a:buChar char="–"/>
            </a:pPr>
            <a:r>
              <a:rPr sz="1480" b="0">
                <a:solidFill>
                  <a:srgbClr val="555555"/>
                </a:solidFill>
                <a:latin typeface="Inter"/>
              </a:rPr>
              <a:t>Flights arriving before noon</a:t>
            </a:r>
          </a:p>
          <a:p>
            <a:pPr algn="l" marL="256032" indent="-256032" lvl="0">
              <a:spcBef>
                <a:spcPts val="700"/>
              </a:spcBef>
              <a:buClr>
                <a:srgbClr val="F76945"/>
              </a:buClr>
              <a:buFont typeface="Arial"/>
              <a:buChar char="•"/>
            </a:pPr>
            <a:r>
              <a:rPr sz="1650" b="0">
                <a:solidFill>
                  <a:srgbClr val="111111"/>
                </a:solidFill>
                <a:latin typeface="Inter"/>
              </a:rPr>
              <a:t>Relative clauses</a:t>
            </a:r>
          </a:p>
          <a:p>
            <a:pPr algn="l" marL="512064" indent="-219456" lvl="1">
              <a:spcBef>
                <a:spcPts val="300"/>
              </a:spcBef>
              <a:buClr>
                <a:srgbClr val="F76945"/>
              </a:buClr>
              <a:buFont typeface="Arial"/>
              <a:buChar char="–"/>
            </a:pPr>
            <a:r>
              <a:rPr sz="1480" b="0">
                <a:solidFill>
                  <a:srgbClr val="555555"/>
                </a:solidFill>
                <a:latin typeface="Inter"/>
              </a:rPr>
              <a:t>Flights that serve breakfast</a:t>
            </a:r>
          </a:p>
        </p:txBody>
      </p:sp>
      <p:sp>
        <p:nvSpPr>
          <p:cNvPr id="11" name="Rounded Rectangle 10"/>
          <p:cNvSpPr/>
          <p:nvPr/>
        </p:nvSpPr>
        <p:spPr>
          <a:xfrm>
            <a:off x="6195059" y="1298448"/>
            <a:ext cx="5536692" cy="2661533"/>
          </a:xfrm>
          <a:prstGeom prst="roundRect">
            <a:avLst>
              <a:gd name="adj" fmla="val 52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339664"/>
          </a:xfrm>
          <a:prstGeom prst="rect">
            <a:avLst/>
          </a:prstGeom>
          <a:noFill/>
        </p:spPr>
        <p:txBody>
          <a:bodyPr wrap="square" anchor="t" lIns="0" tIns="0" rIns="0" bIns="0">
            <a:spAutoFit/>
          </a:bodyPr>
          <a:lstStyle/>
          <a:p>
            <a:pPr algn="l"/>
            <a:r>
              <a:rPr sz="2060" b="1">
                <a:solidFill>
                  <a:srgbClr val="1365A5"/>
                </a:solidFill>
                <a:latin typeface="Bebas Neue"/>
              </a:rPr>
              <a:t>Same general (recursive) rule to handle these</a:t>
            </a:r>
          </a:p>
          <a:p>
            <a:pPr algn="l" marL="256032" indent="-256032" lvl="0">
              <a:spcBef>
                <a:spcPts val="700"/>
              </a:spcBef>
              <a:buClr>
                <a:srgbClr val="F76945"/>
              </a:buClr>
              <a:buFont typeface="Arial"/>
              <a:buChar char="•"/>
            </a:pPr>
            <a:r>
              <a:rPr sz="1650" b="0">
                <a:solidFill>
                  <a:srgbClr val="111111"/>
                </a:solidFill>
                <a:latin typeface="Inter"/>
              </a:rPr>
              <a:t>Nominal →Nominal PP</a:t>
            </a:r>
          </a:p>
          <a:p>
            <a:pPr algn="l" marL="256032" indent="-256032" lvl="0">
              <a:spcBef>
                <a:spcPts val="700"/>
              </a:spcBef>
              <a:buClr>
                <a:srgbClr val="F76945"/>
              </a:buClr>
              <a:buFont typeface="Arial"/>
              <a:buChar char="•"/>
            </a:pPr>
            <a:r>
              <a:rPr sz="1650" b="0">
                <a:solidFill>
                  <a:srgbClr val="111111"/>
                </a:solidFill>
                <a:latin typeface="Inter"/>
              </a:rPr>
              <a:t>Nominal →Nominal GerundVP</a:t>
            </a:r>
          </a:p>
          <a:p>
            <a:pPr algn="l" marL="256032" indent="-256032" lvl="0">
              <a:spcBef>
                <a:spcPts val="700"/>
              </a:spcBef>
              <a:buClr>
                <a:srgbClr val="F76945"/>
              </a:buClr>
              <a:buFont typeface="Arial"/>
              <a:buChar char="•"/>
            </a:pPr>
            <a:r>
              <a:rPr sz="1650" b="0">
                <a:solidFill>
                  <a:srgbClr val="111111"/>
                </a:solidFill>
                <a:latin typeface="Inter"/>
              </a:rPr>
              <a:t>Nominal →Nominal RelClause</a:t>
            </a:r>
          </a:p>
        </p:txBody>
      </p:sp>
      <p:sp>
        <p:nvSpPr>
          <p:cNvPr id="14" name="Rounded Rectangle 13"/>
          <p:cNvSpPr/>
          <p:nvPr/>
        </p:nvSpPr>
        <p:spPr>
          <a:xfrm>
            <a:off x="457200" y="4161149"/>
            <a:ext cx="11274552" cy="11240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61149"/>
            <a:ext cx="73152" cy="11240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Postmodifiers come after the head and add more detail using prepositional phrases, non-finite clauses, or relative clauses. A general recursive rule allows nominals to expand into larger nominal structures. Example: The phrase 'flights that serve breakfast' uses a relative clause postmodifier.</a:t>
            </a:r>
          </a:p>
        </p:txBody>
      </p:sp>
      <p:sp>
        <p:nvSpPr>
          <p:cNvPr id="17" name="Rounded Rectangle 1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Postmodifier — A phrase or clause that follows the head noun inside a nominal.</a:t>
            </a:r>
          </a:p>
        </p:txBody>
      </p:sp>
      <p:sp>
        <p:nvSpPr>
          <p:cNvPr id="18" name="Rectangle 1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Basic NP rules fail because determiners and head nouns require number agreement</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177 / 229</a:t>
            </a:r>
          </a:p>
        </p:txBody>
      </p:sp>
      <p:sp>
        <p:nvSpPr>
          <p:cNvPr id="8" name="Rectangle 7"/>
          <p:cNvSpPr/>
          <p:nvPr/>
        </p:nvSpPr>
        <p:spPr>
          <a:xfrm>
            <a:off x="457200" y="1325880"/>
            <a:ext cx="73152" cy="68122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98448"/>
            <a:ext cx="11045952" cy="772668"/>
          </a:xfrm>
          <a:prstGeom prst="rect">
            <a:avLst/>
          </a:prstGeom>
          <a:noFill/>
        </p:spPr>
        <p:txBody>
          <a:bodyPr wrap="square" anchor="ctr" lIns="0" tIns="0" rIns="0" bIns="0">
            <a:spAutoFit/>
          </a:bodyPr>
          <a:lstStyle/>
          <a:p>
            <a:pPr algn="l"/>
            <a:r>
              <a:rPr sz="2400" b="1">
                <a:solidFill>
                  <a:srgbClr val="1365A5"/>
                </a:solidFill>
                <a:latin typeface="Bebas Neue"/>
              </a:rPr>
              <a:t>Constraints that hold among various constituents.</a:t>
            </a:r>
          </a:p>
          <a:p>
            <a:pPr algn="l">
              <a:spcBef>
                <a:spcPts val="400"/>
              </a:spcBef>
            </a:pPr>
            <a:r>
              <a:rPr sz="1400" b="0">
                <a:solidFill>
                  <a:srgbClr val="111111"/>
                </a:solidFill>
                <a:latin typeface="Inter"/>
              </a:rPr>
              <a:t>For example, in English, determiners and the head nouns in NPs have to agree in their number.</a:t>
            </a:r>
          </a:p>
        </p:txBody>
      </p:sp>
      <p:sp>
        <p:nvSpPr>
          <p:cNvPr id="10" name="Rounded Rectangle 9"/>
          <p:cNvSpPr/>
          <p:nvPr/>
        </p:nvSpPr>
        <p:spPr>
          <a:xfrm>
            <a:off x="457200" y="2272284"/>
            <a:ext cx="11274552" cy="1888499"/>
          </a:xfrm>
          <a:prstGeom prst="roundRect">
            <a:avLst>
              <a:gd name="adj" fmla="val 745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436876"/>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33218"/>
            <a:ext cx="10872216" cy="1566630"/>
          </a:xfrm>
          <a:prstGeom prst="rect">
            <a:avLst/>
          </a:prstGeom>
          <a:noFill/>
        </p:spPr>
        <p:txBody>
          <a:bodyPr wrap="square" anchor="t" lIns="0" tIns="0" rIns="0" bIns="0">
            <a:spAutoFit/>
          </a:bodyPr>
          <a:lstStyle/>
          <a:p>
            <a:pPr algn="l"/>
            <a:r>
              <a:rPr sz="1500" b="1">
                <a:solidFill>
                  <a:srgbClr val="1365A5"/>
                </a:solidFill>
                <a:latin typeface="Bebas Neue"/>
              </a:rPr>
              <a:t>This rule does not handle agreement! (The rule does not detect whether the agreement is correct or not.)</a:t>
            </a:r>
          </a:p>
          <a:p>
            <a:pPr algn="l" marL="256032" indent="-256032" lvl="0">
              <a:spcBef>
                <a:spcPts val="700"/>
              </a:spcBef>
              <a:buClr>
                <a:srgbClr val="F76945"/>
              </a:buClr>
              <a:buFont typeface="Arial"/>
              <a:buChar char="•"/>
            </a:pPr>
            <a:r>
              <a:rPr sz="1200" b="0">
                <a:solidFill>
                  <a:srgbClr val="111111"/>
                </a:solidFill>
                <a:latin typeface="Inter"/>
              </a:rPr>
              <a:t>(O) This flight</a:t>
            </a:r>
          </a:p>
          <a:p>
            <a:pPr algn="l" marL="512064" indent="-219456" lvl="1">
              <a:spcBef>
                <a:spcPts val="300"/>
              </a:spcBef>
              <a:buClr>
                <a:srgbClr val="F76945"/>
              </a:buClr>
              <a:buFont typeface="Arial"/>
              <a:buChar char="–"/>
            </a:pPr>
            <a:r>
              <a:rPr sz="1080" b="0">
                <a:solidFill>
                  <a:srgbClr val="555555"/>
                </a:solidFill>
                <a:latin typeface="Inter"/>
              </a:rPr>
              <a:t>(X) This flights</a:t>
            </a:r>
          </a:p>
          <a:p>
            <a:pPr algn="l" marL="256032" indent="-256032" lvl="0">
              <a:spcBef>
                <a:spcPts val="700"/>
              </a:spcBef>
              <a:buClr>
                <a:srgbClr val="F76945"/>
              </a:buClr>
              <a:buFont typeface="Arial"/>
              <a:buChar char="•"/>
            </a:pPr>
            <a:r>
              <a:rPr sz="1200" b="0">
                <a:solidFill>
                  <a:srgbClr val="111111"/>
                </a:solidFill>
                <a:latin typeface="Inter"/>
              </a:rPr>
              <a:t>(O) Those flights</a:t>
            </a:r>
          </a:p>
          <a:p>
            <a:pPr algn="l" marL="512064" indent="-219456" lvl="1">
              <a:spcBef>
                <a:spcPts val="300"/>
              </a:spcBef>
              <a:buClr>
                <a:srgbClr val="F76945"/>
              </a:buClr>
              <a:buFont typeface="Arial"/>
              <a:buChar char="–"/>
            </a:pPr>
            <a:r>
              <a:rPr sz="1080" b="0">
                <a:solidFill>
                  <a:srgbClr val="555555"/>
                </a:solidFill>
                <a:latin typeface="Inter"/>
              </a:rPr>
              <a:t>(X) Those flight</a:t>
            </a:r>
          </a:p>
        </p:txBody>
      </p:sp>
      <p:sp>
        <p:nvSpPr>
          <p:cNvPr id="13" name="Rounded Rectangle 12"/>
          <p:cNvSpPr/>
          <p:nvPr/>
        </p:nvSpPr>
        <p:spPr>
          <a:xfrm>
            <a:off x="457200" y="4361951"/>
            <a:ext cx="11274552" cy="923280"/>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361951"/>
            <a:ext cx="73152" cy="92328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4435103"/>
            <a:ext cx="10879531" cy="776976"/>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'This flight' matches in number, whereas 'this flights' fails agreement constraints.</a:t>
            </a:r>
          </a:p>
          <a:p>
            <a:pPr algn="l">
              <a:spcBef>
                <a:spcPts val="300"/>
              </a:spcBef>
            </a:pPr>
            <a:r>
              <a:rPr sz="1400" b="0">
                <a:solidFill>
                  <a:srgbClr val="111111"/>
                </a:solidFill>
                <a:latin typeface="Inter"/>
              </a:rPr>
              <a:t>Which of the following cannot be parsed by the rule NP →Det Nominal?</a:t>
            </a:r>
          </a:p>
        </p:txBody>
      </p:sp>
      <p:sp>
        <p:nvSpPr>
          <p:cNvPr id="16" name="Rounded Rectangle 1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Agreement — Constraints holding among constituents, such as matching number between determiners and head nouns.</a:t>
            </a:r>
          </a:p>
        </p:txBody>
      </p:sp>
      <p:sp>
        <p:nvSpPr>
          <p:cNvPr id="17" name="Rectangle 1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5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5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5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Early noun phrase rules overgenerate by accepting incorrect number agreement examples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178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20034"/>
            <a:ext cx="82296" cy="84293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3458"/>
            <a:ext cx="7087166" cy="861227"/>
          </a:xfrm>
          <a:prstGeom prst="rect">
            <a:avLst/>
          </a:prstGeom>
          <a:noFill/>
        </p:spPr>
        <p:txBody>
          <a:bodyPr wrap="square" anchor="t" lIns="0" tIns="0" rIns="0" bIns="0">
            <a:spAutoFit/>
          </a:bodyPr>
          <a:lstStyle/>
          <a:p>
            <a:pPr algn="l"/>
            <a:r>
              <a:rPr sz="1789" b="1">
                <a:solidFill>
                  <a:srgbClr val="1365A5"/>
                </a:solidFill>
                <a:latin typeface="Bebas Neue"/>
              </a:rPr>
              <a:t>Our earlier NP rules are clearly deficient since they don’t capture the agreement constraint.</a:t>
            </a:r>
          </a:p>
        </p:txBody>
      </p:sp>
      <p:sp>
        <p:nvSpPr>
          <p:cNvPr id="10" name="TextBox 9"/>
          <p:cNvSpPr txBox="1"/>
          <p:nvPr/>
        </p:nvSpPr>
        <p:spPr>
          <a:xfrm>
            <a:off x="720547" y="2436710"/>
            <a:ext cx="7087166" cy="208025"/>
          </a:xfrm>
          <a:prstGeom prst="rect">
            <a:avLst/>
          </a:prstGeom>
          <a:noFill/>
        </p:spPr>
        <p:txBody>
          <a:bodyPr wrap="square" lIns="0" rIns="0" tIns="0" bIns="0">
            <a:spAutoFit/>
          </a:bodyPr>
          <a:lstStyle/>
          <a:p>
            <a:r>
              <a:rPr sz="1300">
                <a:solidFill>
                  <a:srgbClr val="111111"/>
                </a:solidFill>
                <a:latin typeface="Inter"/>
              </a:rPr>
              <a:t>NP →Det Nominal.</a:t>
            </a:r>
          </a:p>
        </p:txBody>
      </p:sp>
      <p:sp>
        <p:nvSpPr>
          <p:cNvPr id="11" name="TextBox 10"/>
          <p:cNvSpPr txBox="1"/>
          <p:nvPr/>
        </p:nvSpPr>
        <p:spPr>
          <a:xfrm>
            <a:off x="720547" y="2772752"/>
            <a:ext cx="7087166" cy="208025"/>
          </a:xfrm>
          <a:prstGeom prst="rect">
            <a:avLst/>
          </a:prstGeom>
          <a:noFill/>
        </p:spPr>
        <p:txBody>
          <a:bodyPr wrap="square" lIns="0" rIns="0" tIns="0" bIns="0">
            <a:spAutoFit/>
          </a:bodyPr>
          <a:lstStyle/>
          <a:p>
            <a:r>
              <a:rPr sz="1300">
                <a:solidFill>
                  <a:srgbClr val="111111"/>
                </a:solidFill>
                <a:latin typeface="Inter"/>
              </a:rPr>
              <a:t>Accepts, and assigns correct structures, to grammatical examples (this flight).</a:t>
            </a:r>
          </a:p>
        </p:txBody>
      </p:sp>
      <p:sp>
        <p:nvSpPr>
          <p:cNvPr id="12" name="TextBox 11"/>
          <p:cNvSpPr txBox="1"/>
          <p:nvPr/>
        </p:nvSpPr>
        <p:spPr>
          <a:xfrm>
            <a:off x="720547" y="3108794"/>
            <a:ext cx="7087166" cy="208025"/>
          </a:xfrm>
          <a:prstGeom prst="rect">
            <a:avLst/>
          </a:prstGeom>
          <a:noFill/>
        </p:spPr>
        <p:txBody>
          <a:bodyPr wrap="square" lIns="0" rIns="0" tIns="0" bIns="0">
            <a:spAutoFit/>
          </a:bodyPr>
          <a:lstStyle/>
          <a:p>
            <a:r>
              <a:rPr sz="810" b="1">
                <a:solidFill>
                  <a:srgbClr val="C2410C"/>
                </a:solidFill>
                <a:latin typeface="Bebas Neue"/>
              </a:rPr>
              <a:t>BUT   </a:t>
            </a:r>
            <a:r>
              <a:rPr sz="1300" b="1">
                <a:solidFill>
                  <a:srgbClr val="C2410C"/>
                </a:solidFill>
                <a:latin typeface="Bebas Neue"/>
              </a:rPr>
              <a:t>But</a:t>
            </a:r>
            <a:r>
              <a:rPr sz="1300">
                <a:solidFill>
                  <a:srgbClr val="111111"/>
                </a:solidFill>
                <a:latin typeface="Inter"/>
              </a:rPr>
              <a:t> its </a:t>
            </a:r>
            <a:r>
              <a:rPr sz="1300" b="1">
                <a:solidFill>
                  <a:srgbClr val="0F766E"/>
                </a:solidFill>
                <a:latin typeface="Bebas Neue"/>
              </a:rPr>
              <a:t>also</a:t>
            </a:r>
            <a:r>
              <a:rPr sz="1300">
                <a:solidFill>
                  <a:srgbClr val="111111"/>
                </a:solidFill>
                <a:latin typeface="Inter"/>
              </a:rPr>
              <a:t> happy with incorrect examples (*these flight).</a:t>
            </a:r>
          </a:p>
        </p:txBody>
      </p:sp>
      <p:sp>
        <p:nvSpPr>
          <p:cNvPr id="13" name="TextBox 12"/>
          <p:cNvSpPr txBox="1"/>
          <p:nvPr/>
        </p:nvSpPr>
        <p:spPr>
          <a:xfrm>
            <a:off x="994867" y="3444836"/>
            <a:ext cx="6812846" cy="208025"/>
          </a:xfrm>
          <a:prstGeom prst="rect">
            <a:avLst/>
          </a:prstGeom>
          <a:noFill/>
        </p:spPr>
        <p:txBody>
          <a:bodyPr wrap="square" lIns="0" rIns="0" tIns="0" bIns="0">
            <a:spAutoFit/>
          </a:bodyPr>
          <a:lstStyle/>
          <a:p>
            <a:r>
              <a:rPr sz="1300">
                <a:solidFill>
                  <a:srgbClr val="111111"/>
                </a:solidFill>
                <a:latin typeface="Inter"/>
              </a:rPr>
              <a:t>Such a rule is said to overgenerate.</a:t>
            </a:r>
          </a:p>
        </p:txBody>
      </p:sp>
      <p:sp>
        <p:nvSpPr>
          <p:cNvPr id="14" name="TextBox 13"/>
          <p:cNvSpPr txBox="1"/>
          <p:nvPr/>
        </p:nvSpPr>
        <p:spPr>
          <a:xfrm>
            <a:off x="720547" y="3780878"/>
            <a:ext cx="7087166" cy="208025"/>
          </a:xfrm>
          <a:prstGeom prst="rect">
            <a:avLst/>
          </a:prstGeom>
          <a:noFill/>
        </p:spPr>
        <p:txBody>
          <a:bodyPr wrap="square" lIns="0" rIns="0" tIns="0" bIns="0">
            <a:spAutoFit/>
          </a:bodyPr>
          <a:lstStyle/>
          <a:p>
            <a:r>
              <a:rPr sz="1300">
                <a:solidFill>
                  <a:srgbClr val="111111"/>
                </a:solidFill>
                <a:latin typeface="Inter"/>
              </a:rPr>
              <a:t>We’ll come back to this in a bit.</a:t>
            </a:r>
          </a:p>
        </p:txBody>
      </p:sp>
      <p:sp>
        <p:nvSpPr>
          <p:cNvPr id="15" name="Rounded Rectangle 14"/>
          <p:cNvSpPr/>
          <p:nvPr/>
        </p:nvSpPr>
        <p:spPr>
          <a:xfrm>
            <a:off x="457200" y="4403099"/>
            <a:ext cx="7883956" cy="88213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403099"/>
            <a:ext cx="73152" cy="8821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1286" y="4476251"/>
            <a:ext cx="7488935" cy="73582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accepting 'these flight' demonstrates how a rule improperly overgenerates incorrect examples.</a:t>
            </a:r>
          </a:p>
        </p:txBody>
      </p:sp>
      <p:sp>
        <p:nvSpPr>
          <p:cNvPr id="18" name="Rounded Rectangle 17"/>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Overgeneration — The property of a grammar rule accepting incorrect examples alongside grammatical ones.</a:t>
            </a:r>
          </a:p>
        </p:txBody>
      </p:sp>
      <p:sp>
        <p:nvSpPr>
          <p:cNvPr id="19" name="Rectangle 18"/>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English verb phrases consist of a head verb and following arguments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179 / 229</a:t>
            </a:r>
          </a:p>
        </p:txBody>
      </p:sp>
      <p:pic>
        <p:nvPicPr>
          <p:cNvPr id="7" name="Picture 6" descr="image.png"/>
          <p:cNvPicPr>
            <a:picLocks noChangeAspect="1"/>
          </p:cNvPicPr>
          <p:nvPr/>
        </p:nvPicPr>
        <p:blipFill>
          <a:blip r:embed="rId3"/>
          <a:stretch>
            <a:fillRect/>
          </a:stretch>
        </p:blipFill>
        <p:spPr>
          <a:xfrm>
            <a:off x="7672913" y="2828176"/>
            <a:ext cx="4058838" cy="927326"/>
          </a:xfrm>
          <a:prstGeom prst="rect">
            <a:avLst/>
          </a:prstGeom>
        </p:spPr>
      </p:pic>
      <p:sp>
        <p:nvSpPr>
          <p:cNvPr id="8" name="Rectangle 7"/>
          <p:cNvSpPr/>
          <p:nvPr/>
        </p:nvSpPr>
        <p:spPr>
          <a:xfrm>
            <a:off x="457200" y="1418097"/>
            <a:ext cx="82296" cy="1450055"/>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1521"/>
            <a:ext cx="6278614" cy="1468343"/>
          </a:xfrm>
          <a:prstGeom prst="rect">
            <a:avLst/>
          </a:prstGeom>
          <a:noFill/>
        </p:spPr>
        <p:txBody>
          <a:bodyPr wrap="square" anchor="t" lIns="0" tIns="0" rIns="0" bIns="0">
            <a:spAutoFit/>
          </a:bodyPr>
          <a:lstStyle/>
          <a:p>
            <a:pPr algn="l"/>
            <a:r>
              <a:rPr sz="2290" b="1">
                <a:solidFill>
                  <a:srgbClr val="1365A5"/>
                </a:solidFill>
                <a:latin typeface="Bebas Neue"/>
              </a:rPr>
              <a:t>English VPs consist of a head verb along with 0 or more following constituents which we’ll call arguments.</a:t>
            </a:r>
          </a:p>
        </p:txBody>
      </p:sp>
      <p:sp>
        <p:nvSpPr>
          <p:cNvPr id="10" name="TextBox 9"/>
          <p:cNvSpPr txBox="1"/>
          <p:nvPr/>
        </p:nvSpPr>
        <p:spPr>
          <a:xfrm>
            <a:off x="720547" y="3041888"/>
            <a:ext cx="6278614" cy="592074"/>
          </a:xfrm>
          <a:prstGeom prst="rect">
            <a:avLst/>
          </a:prstGeom>
          <a:noFill/>
        </p:spPr>
        <p:txBody>
          <a:bodyPr wrap="square" lIns="0" rIns="0" tIns="0" bIns="0">
            <a:spAutoFit/>
          </a:bodyPr>
          <a:lstStyle/>
          <a:p>
            <a:r>
              <a:rPr sz="1850">
                <a:solidFill>
                  <a:srgbClr val="111111"/>
                </a:solidFill>
                <a:latin typeface="Inter"/>
              </a:rPr>
              <a:t>English VPs consist of a head verb along with zero or more following constituents called arguments.</a:t>
            </a:r>
          </a:p>
        </p:txBody>
      </p:sp>
      <p:sp>
        <p:nvSpPr>
          <p:cNvPr id="11" name="TextBox 10"/>
          <p:cNvSpPr txBox="1"/>
          <p:nvPr/>
        </p:nvSpPr>
        <p:spPr>
          <a:xfrm>
            <a:off x="994867" y="3761978"/>
            <a:ext cx="6004294" cy="592074"/>
          </a:xfrm>
          <a:prstGeom prst="rect">
            <a:avLst/>
          </a:prstGeom>
          <a:noFill/>
        </p:spPr>
        <p:txBody>
          <a:bodyPr wrap="square" lIns="0" rIns="0" tIns="0" bIns="0">
            <a:spAutoFit/>
          </a:bodyPr>
          <a:lstStyle/>
          <a:p>
            <a:r>
              <a:rPr sz="1850">
                <a:solidFill>
                  <a:srgbClr val="111111"/>
                </a:solidFill>
                <a:latin typeface="Inter"/>
              </a:rPr>
              <a:t>These arguments complete or modify the action expressed by the verb.</a:t>
            </a:r>
          </a:p>
        </p:txBody>
      </p:sp>
      <p:sp>
        <p:nvSpPr>
          <p:cNvPr id="12" name="TextBox 11"/>
          <p:cNvSpPr txBox="1"/>
          <p:nvPr/>
        </p:nvSpPr>
        <p:spPr>
          <a:xfrm>
            <a:off x="720547" y="4482068"/>
            <a:ext cx="6278614" cy="592074"/>
          </a:xfrm>
          <a:prstGeom prst="rect">
            <a:avLst/>
          </a:prstGeom>
          <a:noFill/>
        </p:spPr>
        <p:txBody>
          <a:bodyPr wrap="square" lIns="0" rIns="0" tIns="0" bIns="0">
            <a:spAutoFit/>
          </a:bodyPr>
          <a:lstStyle/>
          <a:p>
            <a:r>
              <a:rPr sz="1850">
                <a:solidFill>
                  <a:srgbClr val="111111"/>
                </a:solidFill>
                <a:latin typeface="Inter"/>
              </a:rPr>
              <a:t>Example: A verb followed by a direct object forms a verb phrase with an argument.</a:t>
            </a:r>
          </a:p>
        </p:txBody>
      </p:sp>
      <p:sp>
        <p:nvSpPr>
          <p:cNvPr id="13" name="Rounded Rectangle 1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Arguments — Constituents that follow the head verb in a verb phrase.</a:t>
            </a:r>
          </a:p>
        </p:txBody>
      </p:sp>
      <p:sp>
        <p:nvSpPr>
          <p:cNvPr id="14" name="Rectangle 1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Verbs are subcategorized based on the specific verb phrase rules they follow</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180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422915"/>
            <a:ext cx="82296" cy="78533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386339"/>
            <a:ext cx="7087166" cy="803620"/>
          </a:xfrm>
          <a:prstGeom prst="rect">
            <a:avLst/>
          </a:prstGeom>
          <a:noFill/>
        </p:spPr>
        <p:txBody>
          <a:bodyPr wrap="square" anchor="t" lIns="0" tIns="0" rIns="0" bIns="0">
            <a:spAutoFit/>
          </a:bodyPr>
          <a:lstStyle/>
          <a:p>
            <a:pPr algn="l"/>
            <a:r>
              <a:rPr sz="1670" b="1">
                <a:solidFill>
                  <a:srgbClr val="1365A5"/>
                </a:solidFill>
                <a:latin typeface="Bebas Neue"/>
              </a:rPr>
              <a:t>But, even though there are many valid VP rules in English, not all verbs are allowed to participate in all those VP rules.</a:t>
            </a:r>
          </a:p>
        </p:txBody>
      </p:sp>
      <p:sp>
        <p:nvSpPr>
          <p:cNvPr id="10" name="TextBox 9"/>
          <p:cNvSpPr txBox="1"/>
          <p:nvPr/>
        </p:nvSpPr>
        <p:spPr>
          <a:xfrm>
            <a:off x="720547" y="2381983"/>
            <a:ext cx="7087166" cy="432054"/>
          </a:xfrm>
          <a:prstGeom prst="rect">
            <a:avLst/>
          </a:prstGeom>
          <a:noFill/>
        </p:spPr>
        <p:txBody>
          <a:bodyPr wrap="square" lIns="0" rIns="0" tIns="0" bIns="0">
            <a:spAutoFit/>
          </a:bodyPr>
          <a:lstStyle/>
          <a:p>
            <a:r>
              <a:rPr sz="1350">
                <a:solidFill>
                  <a:srgbClr val="111111"/>
                </a:solidFill>
                <a:latin typeface="Inter"/>
              </a:rPr>
              <a:t>We can subcategorize the verbs in a language according to the sets of VP rules that they participate in.</a:t>
            </a:r>
          </a:p>
        </p:txBody>
      </p:sp>
      <p:sp>
        <p:nvSpPr>
          <p:cNvPr id="11" name="TextBox 10"/>
          <p:cNvSpPr txBox="1"/>
          <p:nvPr/>
        </p:nvSpPr>
        <p:spPr>
          <a:xfrm>
            <a:off x="994867" y="2942053"/>
            <a:ext cx="6812846" cy="216027"/>
          </a:xfrm>
          <a:prstGeom prst="rect">
            <a:avLst/>
          </a:prstGeom>
          <a:noFill/>
        </p:spPr>
        <p:txBody>
          <a:bodyPr wrap="square" lIns="0" rIns="0" tIns="0" bIns="0">
            <a:spAutoFit/>
          </a:bodyPr>
          <a:lstStyle/>
          <a:p>
            <a:r>
              <a:rPr sz="1350">
                <a:solidFill>
                  <a:srgbClr val="111111"/>
                </a:solidFill>
                <a:latin typeface="Inter"/>
              </a:rPr>
              <a:t>This is a modern take on the traditional notion of transitive/intransitive.</a:t>
            </a:r>
          </a:p>
        </p:txBody>
      </p:sp>
      <p:sp>
        <p:nvSpPr>
          <p:cNvPr id="12" name="TextBox 11"/>
          <p:cNvSpPr txBox="1"/>
          <p:nvPr/>
        </p:nvSpPr>
        <p:spPr>
          <a:xfrm>
            <a:off x="720547" y="3286096"/>
            <a:ext cx="7087166" cy="216027"/>
          </a:xfrm>
          <a:prstGeom prst="rect">
            <a:avLst/>
          </a:prstGeom>
          <a:noFill/>
        </p:spPr>
        <p:txBody>
          <a:bodyPr wrap="square" lIns="0" rIns="0" tIns="0" bIns="0">
            <a:spAutoFit/>
          </a:bodyPr>
          <a:lstStyle/>
          <a:p>
            <a:r>
              <a:rPr sz="1350">
                <a:solidFill>
                  <a:srgbClr val="111111"/>
                </a:solidFill>
                <a:latin typeface="Inter"/>
              </a:rPr>
              <a:t>Modern grammars may have 100s or such classes.</a:t>
            </a:r>
          </a:p>
        </p:txBody>
      </p:sp>
      <p:sp>
        <p:nvSpPr>
          <p:cNvPr id="13" name="Rounded Rectangle 12"/>
          <p:cNvSpPr/>
          <p:nvPr/>
        </p:nvSpPr>
        <p:spPr>
          <a:xfrm>
            <a:off x="457200" y="3919198"/>
            <a:ext cx="7883956"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1286" y="3992350"/>
            <a:ext cx="7488935" cy="1219729"/>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Not all verbs are allowed to participate in all verb phrase rules, even though many valid rules exist. Modern grammars group verbs into hundreds of classes based on the sets of VP rules they follow. For example, transitive verbs take a direct object argument, while intransitive verbs do not.</a:t>
            </a:r>
          </a:p>
        </p:txBody>
      </p:sp>
      <p:sp>
        <p:nvSpPr>
          <p:cNvPr id="16" name="Rounded Rectangle 1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Subcategorization — Classifying verbs according to the sets of verb phrase rules they participate in.</a:t>
            </a:r>
          </a:p>
        </p:txBody>
      </p:sp>
      <p:sp>
        <p:nvSpPr>
          <p:cNvPr id="17" name="Rectangle 1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50"/>
                                        <p:tgtEl>
                                          <p:spTgt spid="13"/>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5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Subcategorization: Sneeze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181 / 229</a:t>
            </a:r>
          </a:p>
        </p:txBody>
      </p:sp>
      <p:sp>
        <p:nvSpPr>
          <p:cNvPr id="7" name="Rounded Rectangle 6">
            <a:hlinkClick r:id="rId3"/>
          </p:cNvPr>
          <p:cNvSpPr/>
          <p:nvPr/>
        </p:nvSpPr>
        <p:spPr>
          <a:xfrm>
            <a:off x="3038551" y="6455664"/>
            <a:ext cx="6111849"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Subcategorization: Sneeze — step-through</a:t>
            </a:r>
          </a:p>
        </p:txBody>
      </p:sp>
      <p:pic>
        <p:nvPicPr>
          <p:cNvPr id="8" name="Picture 7" descr="image.png">
            <a:hlinkClick r:id="rId5"/>
          </p:cNvPr>
          <p:cNvPicPr>
            <a:picLocks noChangeAspect="1"/>
          </p:cNvPicPr>
          <p:nvPr/>
        </p:nvPicPr>
        <p:blipFill>
          <a:blip r:embed="rId4"/>
          <a:stretch>
            <a:fillRect/>
          </a:stretch>
        </p:blipFill>
        <p:spPr>
          <a:xfrm>
            <a:off x="8542324" y="1298448"/>
            <a:ext cx="3189427" cy="3986784"/>
          </a:xfrm>
          <a:prstGeom prst="rect">
            <a:avLst/>
          </a:prstGeom>
        </p:spPr>
      </p:pic>
      <p:sp>
        <p:nvSpPr>
          <p:cNvPr id="9" name="Rounded Rectangle 8"/>
          <p:cNvSpPr/>
          <p:nvPr/>
        </p:nvSpPr>
        <p:spPr>
          <a:xfrm>
            <a:off x="457200" y="1298448"/>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47216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6"/>
          <a:stretch>
            <a:fillRect/>
          </a:stretch>
        </p:blipFill>
        <p:spPr>
          <a:xfrm>
            <a:off x="771753" y="1585552"/>
            <a:ext cx="340156" cy="340156"/>
          </a:xfrm>
          <a:prstGeom prst="rect">
            <a:avLst/>
          </a:prstGeom>
        </p:spPr>
      </p:pic>
      <p:sp>
        <p:nvSpPr>
          <p:cNvPr id="12" name="TextBox 11"/>
          <p:cNvSpPr txBox="1"/>
          <p:nvPr/>
        </p:nvSpPr>
        <p:spPr>
          <a:xfrm>
            <a:off x="1408175" y="1371600"/>
            <a:ext cx="2689250" cy="768061"/>
          </a:xfrm>
          <a:prstGeom prst="rect">
            <a:avLst/>
          </a:prstGeom>
          <a:noFill/>
        </p:spPr>
        <p:txBody>
          <a:bodyPr wrap="square" anchor="ctr" lIns="0" tIns="0" rIns="0" bIns="0">
            <a:spAutoFit/>
          </a:bodyPr>
          <a:lstStyle/>
          <a:p>
            <a:pPr algn="l"/>
            <a:r>
              <a:rPr sz="1620" b="1">
                <a:solidFill>
                  <a:srgbClr val="1365A5"/>
                </a:solidFill>
                <a:latin typeface="Bebas Neue"/>
              </a:rPr>
              <a:t>Sneeze</a:t>
            </a:r>
          </a:p>
          <a:p>
            <a:pPr algn="l">
              <a:spcBef>
                <a:spcPts val="500"/>
              </a:spcBef>
            </a:pPr>
            <a:r>
              <a:rPr sz="1350" b="0">
                <a:solidFill>
                  <a:srgbClr val="111111"/>
                </a:solidFill>
                <a:latin typeface="Inter"/>
              </a:rPr>
              <a:t>John sneezed</a:t>
            </a:r>
          </a:p>
        </p:txBody>
      </p:sp>
      <p:sp>
        <p:nvSpPr>
          <p:cNvPr id="13" name="Rounded Rectangle 12"/>
          <p:cNvSpPr/>
          <p:nvPr/>
        </p:nvSpPr>
        <p:spPr>
          <a:xfrm>
            <a:off x="4499762" y="1298448"/>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700930" y="147216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7"/>
          <a:stretch>
            <a:fillRect/>
          </a:stretch>
        </p:blipFill>
        <p:spPr>
          <a:xfrm>
            <a:off x="4814315" y="1585552"/>
            <a:ext cx="340156" cy="340156"/>
          </a:xfrm>
          <a:prstGeom prst="rect">
            <a:avLst/>
          </a:prstGeom>
        </p:spPr>
      </p:pic>
      <p:sp>
        <p:nvSpPr>
          <p:cNvPr id="16" name="TextBox 15"/>
          <p:cNvSpPr txBox="1"/>
          <p:nvPr/>
        </p:nvSpPr>
        <p:spPr>
          <a:xfrm>
            <a:off x="5450738" y="1371600"/>
            <a:ext cx="2689250" cy="768061"/>
          </a:xfrm>
          <a:prstGeom prst="rect">
            <a:avLst/>
          </a:prstGeom>
          <a:noFill/>
        </p:spPr>
        <p:txBody>
          <a:bodyPr wrap="square" anchor="ctr" lIns="0" tIns="0" rIns="0" bIns="0">
            <a:spAutoFit/>
          </a:bodyPr>
          <a:lstStyle/>
          <a:p>
            <a:pPr algn="l"/>
            <a:r>
              <a:rPr sz="1620" b="1">
                <a:solidFill>
                  <a:srgbClr val="1365A5"/>
                </a:solidFill>
                <a:latin typeface="Bebas Neue"/>
              </a:rPr>
              <a:t>Find</a:t>
            </a:r>
          </a:p>
          <a:p>
            <a:pPr algn="l">
              <a:spcBef>
                <a:spcPts val="500"/>
              </a:spcBef>
            </a:pPr>
            <a:r>
              <a:rPr sz="1350" b="0">
                <a:solidFill>
                  <a:srgbClr val="111111"/>
                </a:solidFill>
                <a:latin typeface="Inter"/>
              </a:rPr>
              <a:t>Please find [a flight to NY]NP</a:t>
            </a:r>
          </a:p>
        </p:txBody>
      </p:sp>
      <p:sp>
        <p:nvSpPr>
          <p:cNvPr id="17" name="Rounded Rectangle 16"/>
          <p:cNvSpPr/>
          <p:nvPr/>
        </p:nvSpPr>
        <p:spPr>
          <a:xfrm>
            <a:off x="457200" y="2413981"/>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5877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mage.png"/>
          <p:cNvPicPr>
            <a:picLocks noChangeAspect="1"/>
          </p:cNvPicPr>
          <p:nvPr/>
        </p:nvPicPr>
        <p:blipFill>
          <a:blip r:embed="rId8"/>
          <a:stretch>
            <a:fillRect/>
          </a:stretch>
        </p:blipFill>
        <p:spPr>
          <a:xfrm>
            <a:off x="771753" y="2701086"/>
            <a:ext cx="340156" cy="340156"/>
          </a:xfrm>
          <a:prstGeom prst="rect">
            <a:avLst/>
          </a:prstGeom>
        </p:spPr>
      </p:pic>
      <p:sp>
        <p:nvSpPr>
          <p:cNvPr id="20" name="TextBox 19"/>
          <p:cNvSpPr txBox="1"/>
          <p:nvPr/>
        </p:nvSpPr>
        <p:spPr>
          <a:xfrm>
            <a:off x="1408175" y="2487133"/>
            <a:ext cx="2689250" cy="768061"/>
          </a:xfrm>
          <a:prstGeom prst="rect">
            <a:avLst/>
          </a:prstGeom>
          <a:noFill/>
        </p:spPr>
        <p:txBody>
          <a:bodyPr wrap="square" anchor="ctr" lIns="0" tIns="0" rIns="0" bIns="0">
            <a:spAutoFit/>
          </a:bodyPr>
          <a:lstStyle/>
          <a:p>
            <a:pPr algn="l"/>
            <a:r>
              <a:rPr sz="1620" b="1">
                <a:solidFill>
                  <a:srgbClr val="1365A5"/>
                </a:solidFill>
                <a:latin typeface="Bebas Neue"/>
              </a:rPr>
              <a:t>Give [me]NP[a cheaper fare]NP</a:t>
            </a:r>
          </a:p>
        </p:txBody>
      </p:sp>
      <p:sp>
        <p:nvSpPr>
          <p:cNvPr id="21" name="Rounded Rectangle 20"/>
          <p:cNvSpPr/>
          <p:nvPr/>
        </p:nvSpPr>
        <p:spPr>
          <a:xfrm>
            <a:off x="4499762" y="2413981"/>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700930" y="25877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9"/>
          <a:stretch>
            <a:fillRect/>
          </a:stretch>
        </p:blipFill>
        <p:spPr>
          <a:xfrm>
            <a:off x="4814315" y="2701086"/>
            <a:ext cx="340156" cy="340156"/>
          </a:xfrm>
          <a:prstGeom prst="rect">
            <a:avLst/>
          </a:prstGeom>
        </p:spPr>
      </p:pic>
      <p:sp>
        <p:nvSpPr>
          <p:cNvPr id="24" name="TextBox 23"/>
          <p:cNvSpPr txBox="1"/>
          <p:nvPr/>
        </p:nvSpPr>
        <p:spPr>
          <a:xfrm>
            <a:off x="5450738" y="2487133"/>
            <a:ext cx="2689250" cy="768061"/>
          </a:xfrm>
          <a:prstGeom prst="rect">
            <a:avLst/>
          </a:prstGeom>
          <a:noFill/>
        </p:spPr>
        <p:txBody>
          <a:bodyPr wrap="square" anchor="ctr" lIns="0" tIns="0" rIns="0" bIns="0">
            <a:spAutoFit/>
          </a:bodyPr>
          <a:lstStyle/>
          <a:p>
            <a:pPr algn="l"/>
            <a:r>
              <a:rPr sz="1620" b="1">
                <a:solidFill>
                  <a:srgbClr val="1365A5"/>
                </a:solidFill>
                <a:latin typeface="Bebas Neue"/>
              </a:rPr>
              <a:t>Help</a:t>
            </a:r>
          </a:p>
          <a:p>
            <a:pPr algn="l">
              <a:spcBef>
                <a:spcPts val="500"/>
              </a:spcBef>
            </a:pPr>
            <a:r>
              <a:rPr sz="1350" b="0">
                <a:solidFill>
                  <a:srgbClr val="111111"/>
                </a:solidFill>
                <a:latin typeface="Inter"/>
              </a:rPr>
              <a:t>Can you help [me]NP[with a flight]PP</a:t>
            </a:r>
          </a:p>
        </p:txBody>
      </p:sp>
      <p:sp>
        <p:nvSpPr>
          <p:cNvPr id="25" name="Rounded Rectangle 24"/>
          <p:cNvSpPr/>
          <p:nvPr/>
        </p:nvSpPr>
        <p:spPr>
          <a:xfrm>
            <a:off x="457200" y="3529515"/>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368" y="370323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10"/>
          <a:stretch>
            <a:fillRect/>
          </a:stretch>
        </p:blipFill>
        <p:spPr>
          <a:xfrm>
            <a:off x="771753" y="3816620"/>
            <a:ext cx="340156" cy="340156"/>
          </a:xfrm>
          <a:prstGeom prst="rect">
            <a:avLst/>
          </a:prstGeom>
        </p:spPr>
      </p:pic>
      <p:sp>
        <p:nvSpPr>
          <p:cNvPr id="28" name="TextBox 27"/>
          <p:cNvSpPr txBox="1"/>
          <p:nvPr/>
        </p:nvSpPr>
        <p:spPr>
          <a:xfrm>
            <a:off x="1408175" y="3602667"/>
            <a:ext cx="2689250" cy="768061"/>
          </a:xfrm>
          <a:prstGeom prst="rect">
            <a:avLst/>
          </a:prstGeom>
          <a:noFill/>
        </p:spPr>
        <p:txBody>
          <a:bodyPr wrap="square" anchor="ctr" lIns="0" tIns="0" rIns="0" bIns="0">
            <a:spAutoFit/>
          </a:bodyPr>
          <a:lstStyle/>
          <a:p>
            <a:pPr algn="l"/>
            <a:r>
              <a:rPr sz="1620" b="1">
                <a:solidFill>
                  <a:srgbClr val="1365A5"/>
                </a:solidFill>
                <a:latin typeface="Bebas Neue"/>
              </a:rPr>
              <a:t>Prefer</a:t>
            </a:r>
          </a:p>
          <a:p>
            <a:pPr algn="l">
              <a:spcBef>
                <a:spcPts val="500"/>
              </a:spcBef>
            </a:pPr>
            <a:r>
              <a:rPr sz="1350" b="0">
                <a:solidFill>
                  <a:srgbClr val="111111"/>
                </a:solidFill>
                <a:latin typeface="Inter"/>
              </a:rPr>
              <a:t>I prefer [to leave earlier]TO-VP</a:t>
            </a:r>
          </a:p>
        </p:txBody>
      </p:sp>
      <p:sp>
        <p:nvSpPr>
          <p:cNvPr id="29" name="Rounded Rectangle 28"/>
          <p:cNvSpPr/>
          <p:nvPr/>
        </p:nvSpPr>
        <p:spPr>
          <a:xfrm>
            <a:off x="4499762" y="3529515"/>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700930" y="370323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11"/>
          <a:stretch>
            <a:fillRect/>
          </a:stretch>
        </p:blipFill>
        <p:spPr>
          <a:xfrm>
            <a:off x="4814315" y="3816620"/>
            <a:ext cx="340156" cy="340156"/>
          </a:xfrm>
          <a:prstGeom prst="rect">
            <a:avLst/>
          </a:prstGeom>
        </p:spPr>
      </p:pic>
      <p:sp>
        <p:nvSpPr>
          <p:cNvPr id="32" name="TextBox 31"/>
          <p:cNvSpPr txBox="1"/>
          <p:nvPr/>
        </p:nvSpPr>
        <p:spPr>
          <a:xfrm>
            <a:off x="5450738" y="3602667"/>
            <a:ext cx="2689250" cy="768061"/>
          </a:xfrm>
          <a:prstGeom prst="rect">
            <a:avLst/>
          </a:prstGeom>
          <a:noFill/>
        </p:spPr>
        <p:txBody>
          <a:bodyPr wrap="square" anchor="ctr" lIns="0" tIns="0" rIns="0" bIns="0">
            <a:spAutoFit/>
          </a:bodyPr>
          <a:lstStyle/>
          <a:p>
            <a:pPr algn="l"/>
            <a:r>
              <a:rPr sz="1620" b="1">
                <a:solidFill>
                  <a:srgbClr val="1365A5"/>
                </a:solidFill>
                <a:latin typeface="Bebas Neue"/>
              </a:rPr>
              <a:t>Told</a:t>
            </a:r>
          </a:p>
          <a:p>
            <a:pPr algn="l">
              <a:spcBef>
                <a:spcPts val="500"/>
              </a:spcBef>
            </a:pPr>
            <a:r>
              <a:rPr sz="1350" b="0">
                <a:solidFill>
                  <a:srgbClr val="111111"/>
                </a:solidFill>
                <a:latin typeface="Inter"/>
              </a:rPr>
              <a:t>I was told [United has a flight]S</a:t>
            </a:r>
          </a:p>
        </p:txBody>
      </p:sp>
      <p:sp>
        <p:nvSpPr>
          <p:cNvPr id="33" name="Rounded Rectangle 32"/>
          <p:cNvSpPr/>
          <p:nvPr/>
        </p:nvSpPr>
        <p:spPr>
          <a:xfrm>
            <a:off x="457200" y="4645049"/>
            <a:ext cx="7883956"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1286" y="4718201"/>
            <a:ext cx="7488935" cy="4938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give requires a noun phrase and another noun phrase.</a:t>
            </a:r>
          </a:p>
        </p:txBody>
      </p:sp>
      <p:sp>
        <p:nvSpPr>
          <p:cNvPr id="36" name="Rounded Rectangle 3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Subcategorization — The classification of verbs based on the specific types of syntactic arguments they require.</a:t>
            </a:r>
          </a:p>
        </p:txBody>
      </p:sp>
      <p:sp>
        <p:nvSpPr>
          <p:cNvPr id="37" name="Rectangle 3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5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5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50"/>
                                        <p:tgtEl>
                                          <p:spTgt spid="18"/>
                                        </p:tgtEl>
                                      </p:cBhvr>
                                    </p:animEffect>
                                  </p:childTnLst>
                                </p:cTn>
                              </p:par>
                              <p:par>
                                <p:cTn id="37" presetID="10"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450"/>
                                        <p:tgtEl>
                                          <p:spTgt spid="19"/>
                                        </p:tgtEl>
                                      </p:cBhvr>
                                    </p:animEffect>
                                  </p:childTnLst>
                                </p:cTn>
                              </p:par>
                              <p:par>
                                <p:cTn id="40" presetID="10" presetClass="entr" presetSubtype="0" fill="hold"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45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450"/>
                                        <p:tgtEl>
                                          <p:spTgt spid="21"/>
                                        </p:tgtEl>
                                      </p:cBhvr>
                                    </p:animEffect>
                                  </p:childTnLst>
                                </p:cTn>
                              </p:par>
                              <p:par>
                                <p:cTn id="48" presetID="10" presetClass="entr" presetSubtype="0" fill="hold"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450"/>
                                        <p:tgtEl>
                                          <p:spTgt spid="22"/>
                                        </p:tgtEl>
                                      </p:cBhvr>
                                    </p:animEffect>
                                  </p:childTnLst>
                                </p:cTn>
                              </p:par>
                              <p:par>
                                <p:cTn id="51" presetID="10" presetClass="entr" presetSubtype="0" fill="hold"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450"/>
                                        <p:tgtEl>
                                          <p:spTgt spid="23"/>
                                        </p:tgtEl>
                                      </p:cBhvr>
                                    </p:animEffect>
                                  </p:childTnLst>
                                </p:cTn>
                              </p:par>
                              <p:par>
                                <p:cTn id="54" presetID="10" presetClass="entr" presetSubtype="0"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450"/>
                                        <p:tgtEl>
                                          <p:spTgt spid="24"/>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50"/>
                                        <p:tgtEl>
                                          <p:spTgt spid="25"/>
                                        </p:tgtEl>
                                      </p:cBhvr>
                                    </p:animEffect>
                                  </p:childTnLst>
                                </p:cTn>
                              </p:par>
                              <p:par>
                                <p:cTn id="62" presetID="10" presetClass="entr" presetSubtype="0" fill="hold"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450"/>
                                        <p:tgtEl>
                                          <p:spTgt spid="26"/>
                                        </p:tgtEl>
                                      </p:cBhvr>
                                    </p:animEffect>
                                  </p:childTnLst>
                                </p:cTn>
                              </p:par>
                              <p:par>
                                <p:cTn id="65" presetID="10"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450"/>
                                        <p:tgtEl>
                                          <p:spTgt spid="27"/>
                                        </p:tgtEl>
                                      </p:cBhvr>
                                    </p:animEffect>
                                  </p:childTnLst>
                                </p:cTn>
                              </p:par>
                              <p:par>
                                <p:cTn id="68" presetID="10" presetClass="entr" presetSubtype="0"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45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450"/>
                                        <p:tgtEl>
                                          <p:spTgt spid="29"/>
                                        </p:tgtEl>
                                      </p:cBhvr>
                                    </p:animEffect>
                                  </p:childTnLst>
                                </p:cTn>
                              </p:par>
                              <p:par>
                                <p:cTn id="76" presetID="10"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450"/>
                                        <p:tgtEl>
                                          <p:spTgt spid="30"/>
                                        </p:tgtEl>
                                      </p:cBhvr>
                                    </p:animEffect>
                                  </p:childTnLst>
                                </p:cTn>
                              </p:par>
                              <p:par>
                                <p:cTn id="79" presetID="10"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450"/>
                                        <p:tgtEl>
                                          <p:spTgt spid="31"/>
                                        </p:tgtEl>
                                      </p:cBhvr>
                                    </p:animEffect>
                                  </p:childTnLst>
                                </p:cTn>
                              </p:par>
                              <p:par>
                                <p:cTn id="82" presetID="10" presetClass="entr" presetSubtype="0" fill="hold"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50"/>
                                        <p:tgtEl>
                                          <p:spTgt spid="34"/>
                                        </p:tgtEl>
                                      </p:cBhvr>
                                    </p:animEffect>
                                  </p:childTnLst>
                                </p:cTn>
                              </p:par>
                              <p:par>
                                <p:cTn id="91" presetID="10" presetClass="entr" presetSubtype="0" fill="hold"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50"/>
                                        <p:tgtEl>
                                          <p:spTgt spid="35"/>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450"/>
                                        <p:tgtEl>
                                          <p:spTgt spid="36"/>
                                        </p:tgtEl>
                                      </p:cBhvr>
                                    </p:animEffect>
                                  </p:childTnLst>
                                </p:cTn>
                              </p:par>
                              <p:par>
                                <p:cTn id="99" presetID="10" presetClass="entr" presetSubtype="0" fill="hold" nodeType="with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Grammars require formal constraints to prevent ungrammatical verb combinations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182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500987"/>
            <a:ext cx="82296" cy="644194"/>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464411"/>
            <a:ext cx="7087166" cy="662482"/>
          </a:xfrm>
          <a:prstGeom prst="rect">
            <a:avLst/>
          </a:prstGeom>
          <a:noFill/>
        </p:spPr>
        <p:txBody>
          <a:bodyPr wrap="square" anchor="t" lIns="0" tIns="0" rIns="0" bIns="0">
            <a:spAutoFit/>
          </a:bodyPr>
          <a:lstStyle/>
          <a:p>
            <a:pPr algn="l"/>
            <a:r>
              <a:rPr sz="2070" b="1">
                <a:solidFill>
                  <a:srgbClr val="1365A5"/>
                </a:solidFill>
                <a:latin typeface="Bebas Neue"/>
              </a:rPr>
              <a:t>⚫*John sneezed the book ⚫*I prefer United has a flight ⚫*Give with a flight.</a:t>
            </a:r>
          </a:p>
        </p:txBody>
      </p:sp>
      <p:sp>
        <p:nvSpPr>
          <p:cNvPr id="10" name="TextBox 9"/>
          <p:cNvSpPr txBox="1"/>
          <p:nvPr/>
        </p:nvSpPr>
        <p:spPr>
          <a:xfrm>
            <a:off x="720547" y="2318918"/>
            <a:ext cx="7087166" cy="480059"/>
          </a:xfrm>
          <a:prstGeom prst="rect">
            <a:avLst/>
          </a:prstGeom>
          <a:noFill/>
        </p:spPr>
        <p:txBody>
          <a:bodyPr wrap="square" lIns="0" rIns="0" tIns="0" bIns="0">
            <a:spAutoFit/>
          </a:bodyPr>
          <a:lstStyle/>
          <a:p>
            <a:r>
              <a:rPr sz="1500">
                <a:solidFill>
                  <a:srgbClr val="111111"/>
                </a:solidFill>
                <a:latin typeface="Inter"/>
              </a:rPr>
              <a:t>As with agreement phenomena, we need a way to formally express the constraints!</a:t>
            </a:r>
          </a:p>
        </p:txBody>
      </p:sp>
      <p:sp>
        <p:nvSpPr>
          <p:cNvPr id="11" name="TextBox 10"/>
          <p:cNvSpPr txBox="1"/>
          <p:nvPr/>
        </p:nvSpPr>
        <p:spPr>
          <a:xfrm>
            <a:off x="720547" y="2926994"/>
            <a:ext cx="7087166" cy="480059"/>
          </a:xfrm>
          <a:prstGeom prst="rect">
            <a:avLst/>
          </a:prstGeom>
          <a:noFill/>
        </p:spPr>
        <p:txBody>
          <a:bodyPr wrap="square" lIns="0" rIns="0" tIns="0" bIns="0">
            <a:spAutoFit/>
          </a:bodyPr>
          <a:lstStyle/>
          <a:p>
            <a:r>
              <a:rPr sz="1500">
                <a:solidFill>
                  <a:srgbClr val="111111"/>
                </a:solidFill>
                <a:latin typeface="Inter"/>
              </a:rPr>
              <a:t>Certain verb and argument combinations are ungrammatical and must be restricted by formal constraints.</a:t>
            </a:r>
          </a:p>
        </p:txBody>
      </p:sp>
      <p:sp>
        <p:nvSpPr>
          <p:cNvPr id="12" name="TextBox 11"/>
          <p:cNvSpPr txBox="1"/>
          <p:nvPr/>
        </p:nvSpPr>
        <p:spPr>
          <a:xfrm>
            <a:off x="994867" y="3535070"/>
            <a:ext cx="6812846" cy="480059"/>
          </a:xfrm>
          <a:prstGeom prst="rect">
            <a:avLst/>
          </a:prstGeom>
          <a:noFill/>
        </p:spPr>
        <p:txBody>
          <a:bodyPr wrap="square" lIns="0" rIns="0" tIns="0" bIns="0">
            <a:spAutoFit/>
          </a:bodyPr>
          <a:lstStyle/>
          <a:p>
            <a:r>
              <a:rPr sz="930" b="1">
                <a:solidFill>
                  <a:srgbClr val="0F766E"/>
                </a:solidFill>
                <a:latin typeface="Bebas Neue"/>
              </a:rPr>
              <a:t>E.G.   </a:t>
            </a:r>
            <a:r>
              <a:rPr sz="1500">
                <a:solidFill>
                  <a:srgbClr val="111111"/>
                </a:solidFill>
                <a:latin typeface="Inter"/>
              </a:rPr>
              <a:t>Just </a:t>
            </a:r>
            <a:r>
              <a:rPr sz="1500" b="1">
                <a:solidFill>
                  <a:srgbClr val="0F766E"/>
                </a:solidFill>
                <a:latin typeface="Bebas Neue"/>
              </a:rPr>
              <a:t>like</a:t>
            </a:r>
            <a:r>
              <a:rPr sz="1500">
                <a:solidFill>
                  <a:srgbClr val="111111"/>
                </a:solidFill>
                <a:latin typeface="Inter"/>
              </a:rPr>
              <a:t> agreement phenomena, language systems need rules to rule out invalid structures.</a:t>
            </a:r>
          </a:p>
        </p:txBody>
      </p:sp>
      <p:sp>
        <p:nvSpPr>
          <p:cNvPr id="13" name="TextBox 12"/>
          <p:cNvSpPr txBox="1"/>
          <p:nvPr/>
        </p:nvSpPr>
        <p:spPr>
          <a:xfrm>
            <a:off x="994867" y="4143146"/>
            <a:ext cx="6812846" cy="240029"/>
          </a:xfrm>
          <a:prstGeom prst="rect">
            <a:avLst/>
          </a:prstGeom>
          <a:noFill/>
        </p:spPr>
        <p:txBody>
          <a:bodyPr wrap="square" lIns="0" rIns="0" tIns="0" bIns="0">
            <a:spAutoFit/>
          </a:bodyPr>
          <a:lstStyle/>
          <a:p>
            <a:r>
              <a:rPr sz="1500">
                <a:solidFill>
                  <a:srgbClr val="111111"/>
                </a:solidFill>
                <a:latin typeface="Inter"/>
              </a:rPr>
              <a:t>This prevents verbs from pairing with incompatible phrases.</a:t>
            </a:r>
          </a:p>
        </p:txBody>
      </p:sp>
      <p:sp>
        <p:nvSpPr>
          <p:cNvPr id="14" name="TextBox 13"/>
          <p:cNvSpPr txBox="1"/>
          <p:nvPr/>
        </p:nvSpPr>
        <p:spPr>
          <a:xfrm>
            <a:off x="720547" y="4511192"/>
            <a:ext cx="7087166" cy="480059"/>
          </a:xfrm>
          <a:prstGeom prst="rect">
            <a:avLst/>
          </a:prstGeom>
          <a:noFill/>
        </p:spPr>
        <p:txBody>
          <a:bodyPr wrap="square" lIns="0" rIns="0" tIns="0" bIns="0">
            <a:spAutoFit/>
          </a:bodyPr>
          <a:lstStyle/>
          <a:p>
            <a:r>
              <a:rPr sz="1500">
                <a:solidFill>
                  <a:srgbClr val="111111"/>
                </a:solidFill>
                <a:latin typeface="Inter"/>
              </a:rPr>
              <a:t>Example: Writing *John sneezed the book violates the verb's subcategorization frame.</a:t>
            </a:r>
          </a:p>
        </p:txBody>
      </p:sp>
      <p:sp>
        <p:nvSpPr>
          <p:cNvPr id="15" name="Rounded Rectangle 1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Constraint — A formal rule that restricts allowable combinations in a grammar to ensure grammaticality.</a:t>
            </a:r>
          </a:p>
        </p:txBody>
      </p:sp>
      <p:sp>
        <p:nvSpPr>
          <p:cNvPr id="16" name="Rectangle 1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5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5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5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Basic verb phrase rules overgenerate invalid argument combinations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183 / 229</a:t>
            </a:r>
          </a:p>
        </p:txBody>
      </p:sp>
      <p:sp>
        <p:nvSpPr>
          <p:cNvPr id="8" name="Rounded Rectangle 7">
            <a:hlinkClick r:id="rId5"/>
          </p:cNvPr>
          <p:cNvSpPr/>
          <p:nvPr/>
        </p:nvSpPr>
        <p:spPr>
          <a:xfrm>
            <a:off x="2894076" y="6455664"/>
            <a:ext cx="6400800"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Basic verb phrase rules overgenerate invalid argument combinations — step-through</a:t>
            </a:r>
          </a:p>
        </p:txBody>
      </p:sp>
      <p:sp>
        <p:nvSpPr>
          <p:cNvPr id="9" name="Rounded Rectangle 8"/>
          <p:cNvSpPr/>
          <p:nvPr/>
        </p:nvSpPr>
        <p:spPr>
          <a:xfrm>
            <a:off x="457200" y="1298448"/>
            <a:ext cx="3502152"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62445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1" name="TextBox 10"/>
          <p:cNvSpPr txBox="1"/>
          <p:nvPr/>
        </p:nvSpPr>
        <p:spPr>
          <a:xfrm>
            <a:off x="1280160" y="1499616"/>
            <a:ext cx="2478024" cy="706871"/>
          </a:xfrm>
          <a:prstGeom prst="rect">
            <a:avLst/>
          </a:prstGeom>
          <a:noFill/>
        </p:spPr>
        <p:txBody>
          <a:bodyPr wrap="square" anchor="ctr" lIns="0" tIns="0" rIns="0" bIns="0">
            <a:spAutoFit/>
          </a:bodyPr>
          <a:lstStyle/>
          <a:p>
            <a:pPr algn="l"/>
            <a:r>
              <a:rPr sz="1260" b="1">
                <a:solidFill>
                  <a:srgbClr val="1365A5"/>
                </a:solidFill>
                <a:latin typeface="Bebas Neue"/>
              </a:rPr>
              <a:t>WHY?</a:t>
            </a:r>
          </a:p>
        </p:txBody>
      </p:sp>
      <p:sp>
        <p:nvSpPr>
          <p:cNvPr id="12" name="Right Arrow 11"/>
          <p:cNvSpPr/>
          <p:nvPr/>
        </p:nvSpPr>
        <p:spPr>
          <a:xfrm>
            <a:off x="4014215" y="1697603"/>
            <a:ext cx="274320" cy="310896"/>
          </a:xfrm>
          <a:prstGeom prst="rightArrow">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298448"/>
            <a:ext cx="3502152"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4568" y="162445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5" name="TextBox 14"/>
          <p:cNvSpPr txBox="1"/>
          <p:nvPr/>
        </p:nvSpPr>
        <p:spPr>
          <a:xfrm>
            <a:off x="5166359" y="1499616"/>
            <a:ext cx="2478024" cy="706871"/>
          </a:xfrm>
          <a:prstGeom prst="rect">
            <a:avLst/>
          </a:prstGeom>
          <a:noFill/>
        </p:spPr>
        <p:txBody>
          <a:bodyPr wrap="square" anchor="ctr" lIns="0" tIns="0" rIns="0" bIns="0">
            <a:spAutoFit/>
          </a:bodyPr>
          <a:lstStyle/>
          <a:p>
            <a:pPr algn="l"/>
            <a:r>
              <a:rPr sz="1260" b="1">
                <a:solidFill>
                  <a:srgbClr val="1365A5"/>
                </a:solidFill>
                <a:latin typeface="Bebas Neue"/>
              </a:rPr>
              <a:t>Right now</a:t>
            </a:r>
          </a:p>
          <a:p>
            <a:pPr algn="l">
              <a:spcBef>
                <a:spcPts val="500"/>
              </a:spcBef>
            </a:pPr>
            <a:r>
              <a:rPr sz="1050" b="0">
                <a:solidFill>
                  <a:srgbClr val="111111"/>
                </a:solidFill>
                <a:latin typeface="Inter"/>
              </a:rPr>
              <a:t>the various rules for VPs overgenerate</a:t>
            </a:r>
          </a:p>
        </p:txBody>
      </p:sp>
      <p:sp>
        <p:nvSpPr>
          <p:cNvPr id="16" name="Right Arrow 15"/>
          <p:cNvSpPr/>
          <p:nvPr/>
        </p:nvSpPr>
        <p:spPr>
          <a:xfrm>
            <a:off x="7900416" y="1697603"/>
            <a:ext cx="274320" cy="310896"/>
          </a:xfrm>
          <a:prstGeom prst="rightArrow">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1298448"/>
            <a:ext cx="3502152"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162445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9" name="TextBox 18"/>
          <p:cNvSpPr txBox="1"/>
          <p:nvPr/>
        </p:nvSpPr>
        <p:spPr>
          <a:xfrm>
            <a:off x="9052560" y="1499616"/>
            <a:ext cx="2478024" cy="706871"/>
          </a:xfrm>
          <a:prstGeom prst="rect">
            <a:avLst/>
          </a:prstGeom>
          <a:noFill/>
        </p:spPr>
        <p:txBody>
          <a:bodyPr wrap="square" anchor="ctr" lIns="0" tIns="0" rIns="0" bIns="0">
            <a:spAutoFit/>
          </a:bodyPr>
          <a:lstStyle/>
          <a:p>
            <a:pPr algn="l"/>
            <a:r>
              <a:rPr sz="1260" b="1">
                <a:solidFill>
                  <a:srgbClr val="1365A5"/>
                </a:solidFill>
                <a:latin typeface="Bebas Neue"/>
              </a:rPr>
              <a:t>They permit the presence</a:t>
            </a:r>
          </a:p>
          <a:p>
            <a:pPr algn="l">
              <a:spcBef>
                <a:spcPts val="500"/>
              </a:spcBef>
            </a:pPr>
            <a:r>
              <a:rPr sz="1050" b="0">
                <a:solidFill>
                  <a:srgbClr val="111111"/>
                </a:solidFill>
                <a:latin typeface="Inter"/>
              </a:rPr>
              <a:t>of strings containing verbs and arguments that don’t go together</a:t>
            </a:r>
          </a:p>
        </p:txBody>
      </p:sp>
      <p:sp>
        <p:nvSpPr>
          <p:cNvPr id="20" name="Rounded Rectangle 19"/>
          <p:cNvSpPr/>
          <p:nvPr/>
        </p:nvSpPr>
        <p:spPr>
          <a:xfrm>
            <a:off x="457200" y="2608823"/>
            <a:ext cx="3502152"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934827"/>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2" name="TextBox 21"/>
          <p:cNvSpPr txBox="1"/>
          <p:nvPr/>
        </p:nvSpPr>
        <p:spPr>
          <a:xfrm>
            <a:off x="1280160" y="2809991"/>
            <a:ext cx="2478024" cy="706871"/>
          </a:xfrm>
          <a:prstGeom prst="rect">
            <a:avLst/>
          </a:prstGeom>
          <a:noFill/>
        </p:spPr>
        <p:txBody>
          <a:bodyPr wrap="square" anchor="ctr" lIns="0" tIns="0" rIns="0" bIns="0">
            <a:spAutoFit/>
          </a:bodyPr>
          <a:lstStyle/>
          <a:p>
            <a:pPr algn="l"/>
            <a:r>
              <a:rPr sz="1260" b="1">
                <a:solidFill>
                  <a:srgbClr val="1365A5"/>
                </a:solidFill>
                <a:latin typeface="Bebas Neue"/>
              </a:rPr>
              <a:t>For example</a:t>
            </a:r>
          </a:p>
        </p:txBody>
      </p:sp>
      <p:sp>
        <p:nvSpPr>
          <p:cNvPr id="23" name="Right Arrow 22"/>
          <p:cNvSpPr/>
          <p:nvPr/>
        </p:nvSpPr>
        <p:spPr>
          <a:xfrm>
            <a:off x="4014215" y="3007979"/>
            <a:ext cx="274320" cy="310896"/>
          </a:xfrm>
          <a:prstGeom prst="rightArrow">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43400" y="2608823"/>
            <a:ext cx="3502152" cy="1109207"/>
          </a:xfrm>
          <a:prstGeom prst="roundRect">
            <a:avLst>
              <a:gd name="adj" fmla="val 1269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44568" y="2934827"/>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6" name="TextBox 25"/>
          <p:cNvSpPr txBox="1"/>
          <p:nvPr/>
        </p:nvSpPr>
        <p:spPr>
          <a:xfrm>
            <a:off x="5166359" y="2809991"/>
            <a:ext cx="2478024" cy="706871"/>
          </a:xfrm>
          <a:prstGeom prst="rect">
            <a:avLst/>
          </a:prstGeom>
          <a:noFill/>
        </p:spPr>
        <p:txBody>
          <a:bodyPr wrap="square" anchor="ctr" lIns="0" tIns="0" rIns="0" bIns="0">
            <a:spAutoFit/>
          </a:bodyPr>
          <a:lstStyle/>
          <a:p>
            <a:pPr algn="l"/>
            <a:r>
              <a:rPr sz="1260" b="1">
                <a:solidFill>
                  <a:srgbClr val="1365A5"/>
                </a:solidFill>
                <a:latin typeface="Bebas Neue"/>
              </a:rPr>
              <a:t>VP -&gt; V NP therefore</a:t>
            </a:r>
          </a:p>
          <a:p>
            <a:pPr algn="l">
              <a:spcBef>
                <a:spcPts val="500"/>
              </a:spcBef>
            </a:pPr>
            <a:r>
              <a:rPr sz="1050" b="0">
                <a:solidFill>
                  <a:srgbClr val="111111"/>
                </a:solidFill>
                <a:latin typeface="Inter"/>
              </a:rPr>
              <a:t>Sneezed the book is a VP since “sneeze” is a verb and “the book” is a valid NP</a:t>
            </a:r>
          </a:p>
        </p:txBody>
      </p:sp>
      <p:sp>
        <p:nvSpPr>
          <p:cNvPr id="27" name="Rounded Rectangle 26"/>
          <p:cNvSpPr/>
          <p:nvPr/>
        </p:nvSpPr>
        <p:spPr>
          <a:xfrm>
            <a:off x="457200" y="3919198"/>
            <a:ext cx="11274552"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919198"/>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1286" y="3992350"/>
            <a:ext cx="10879531" cy="1219729"/>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Standard context-free rules overgenerate by permitting verbs and arguments that do not belong together. For example, a general rule allowing a verb and noun phrase creates incorrect structures for intransitive verbs. This happens because the rule does not check specific verb classes. For example, sneezed the book is incorrectly parsed as a VP because the rule ignores verb types.</a:t>
            </a:r>
          </a:p>
        </p:txBody>
      </p:sp>
      <p:sp>
        <p:nvSpPr>
          <p:cNvPr id="30" name="Rounded Rectangle 2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One trigger sets off a chain of 5 effects.</a:t>
            </a:r>
          </a:p>
          <a:p>
            <a:pPr algn="l"/>
            <a:r>
              <a:rPr b="1" sz="1300">
                <a:solidFill>
                  <a:srgbClr val="1365A5"/>
                </a:solidFill>
                <a:latin typeface="Bebas Neue"/>
              </a:rPr>
              <a:t>Key terms:  </a:t>
            </a:r>
            <a:r>
              <a:rPr sz="1300" b="0">
                <a:solidFill>
                  <a:srgbClr val="111111"/>
                </a:solidFill>
                <a:latin typeface="Inter"/>
              </a:rPr>
              <a:t>Overgeneration — When a grammar incorrectly produces ungrammatical sentences or invalid structures.</a:t>
            </a:r>
          </a:p>
        </p:txBody>
      </p:sp>
      <p:sp>
        <p:nvSpPr>
          <p:cNvPr id="31" name="Rectangle 3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5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5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45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45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4" presetID="10" presetClass="entr" presetSubtype="0" fill="hold"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par>
                                <p:cTn id="57" presetID="10"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50"/>
                                        <p:tgtEl>
                                          <p:spTgt spid="28"/>
                                        </p:tgtEl>
                                      </p:cBhvr>
                                    </p:animEffect>
                                  </p:childTnLst>
                                </p:cTn>
                              </p:par>
                              <p:par>
                                <p:cTn id="60" presetID="10" presetClass="entr" presetSubtype="0" fill="hold"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5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5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Context-free grammar rules can enforce agreement and verb classes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184 / 229</a:t>
            </a:r>
          </a:p>
        </p:txBody>
      </p:sp>
      <p:sp>
        <p:nvSpPr>
          <p:cNvPr id="8" name="Rounded Rectangle 7"/>
          <p:cNvSpPr/>
          <p:nvPr/>
        </p:nvSpPr>
        <p:spPr>
          <a:xfrm>
            <a:off x="457200" y="1298448"/>
            <a:ext cx="5536692" cy="2661533"/>
          </a:xfrm>
          <a:prstGeom prst="roundRect">
            <a:avLst>
              <a:gd name="adj" fmla="val 52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459382"/>
            <a:ext cx="5134355" cy="2339664"/>
          </a:xfrm>
          <a:prstGeom prst="rect">
            <a:avLst/>
          </a:prstGeom>
          <a:noFill/>
        </p:spPr>
        <p:txBody>
          <a:bodyPr wrap="square" anchor="t" lIns="0" tIns="0" rIns="0" bIns="0">
            <a:spAutoFit/>
          </a:bodyPr>
          <a:lstStyle/>
          <a:p>
            <a:pPr algn="l"/>
            <a:r>
              <a:rPr sz="2500" b="1">
                <a:solidFill>
                  <a:srgbClr val="1365A5"/>
                </a:solidFill>
                <a:latin typeface="Bebas Neue"/>
              </a:rPr>
              <a:t>Possible solution for</a:t>
            </a:r>
          </a:p>
          <a:p>
            <a:pPr algn="l" marL="512064" indent="-219456" lvl="1">
              <a:spcBef>
                <a:spcPts val="300"/>
              </a:spcBef>
              <a:buClr>
                <a:srgbClr val="F76945"/>
              </a:buClr>
              <a:buFont typeface="Arial"/>
              <a:buChar char="–"/>
            </a:pPr>
            <a:r>
              <a:rPr sz="1800" b="0">
                <a:solidFill>
                  <a:srgbClr val="555555"/>
                </a:solidFill>
                <a:latin typeface="Inter"/>
              </a:rPr>
              <a:t>PlS -&gt; PlNp PlVP</a:t>
            </a:r>
          </a:p>
          <a:p>
            <a:pPr algn="l" marL="256032" indent="-256032" lvl="0">
              <a:spcBef>
                <a:spcPts val="700"/>
              </a:spcBef>
              <a:buClr>
                <a:srgbClr val="F76945"/>
              </a:buClr>
              <a:buFont typeface="Arial"/>
              <a:buChar char="•"/>
            </a:pPr>
            <a:r>
              <a:rPr sz="2000" b="0">
                <a:solidFill>
                  <a:srgbClr val="111111"/>
                </a:solidFill>
                <a:latin typeface="Inter"/>
              </a:rPr>
              <a:t>agreement.</a:t>
            </a:r>
          </a:p>
          <a:p>
            <a:pPr algn="l" marL="512064" indent="-219456" lvl="1">
              <a:spcBef>
                <a:spcPts val="300"/>
              </a:spcBef>
              <a:buClr>
                <a:srgbClr val="F76945"/>
              </a:buClr>
              <a:buFont typeface="Arial"/>
              <a:buChar char="–"/>
            </a:pPr>
            <a:r>
              <a:rPr sz="1800" b="0">
                <a:solidFill>
                  <a:srgbClr val="555555"/>
                </a:solidFill>
                <a:latin typeface="Inter"/>
              </a:rPr>
              <a:t>SgNP -&gt; SgDet SgNom</a:t>
            </a:r>
          </a:p>
        </p:txBody>
      </p:sp>
      <p:sp>
        <p:nvSpPr>
          <p:cNvPr id="11" name="Rounded Rectangle 10"/>
          <p:cNvSpPr/>
          <p:nvPr/>
        </p:nvSpPr>
        <p:spPr>
          <a:xfrm>
            <a:off x="6195059" y="1298448"/>
            <a:ext cx="5536692" cy="2661533"/>
          </a:xfrm>
          <a:prstGeom prst="roundRect">
            <a:avLst>
              <a:gd name="adj" fmla="val 529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5059" y="1463039"/>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7" y="1459382"/>
            <a:ext cx="5134355" cy="2339664"/>
          </a:xfrm>
          <a:prstGeom prst="rect">
            <a:avLst/>
          </a:prstGeom>
          <a:noFill/>
        </p:spPr>
        <p:txBody>
          <a:bodyPr wrap="square" anchor="t" lIns="0" tIns="0" rIns="0" bIns="0">
            <a:spAutoFit/>
          </a:bodyPr>
          <a:lstStyle/>
          <a:p>
            <a:pPr algn="l"/>
            <a:r>
              <a:rPr sz="2500" b="1">
                <a:solidFill>
                  <a:srgbClr val="1365A5"/>
                </a:solidFill>
                <a:latin typeface="Bebas Neue"/>
              </a:rPr>
              <a:t>Can use the same trick for</a:t>
            </a:r>
          </a:p>
          <a:p>
            <a:pPr algn="l" marL="512064" indent="-219456" lvl="1">
              <a:spcBef>
                <a:spcPts val="300"/>
              </a:spcBef>
              <a:buClr>
                <a:srgbClr val="F76945"/>
              </a:buClr>
              <a:buFont typeface="Arial"/>
              <a:buChar char="–"/>
            </a:pPr>
            <a:r>
              <a:rPr sz="1800" b="0">
                <a:solidFill>
                  <a:srgbClr val="555555"/>
                </a:solidFill>
                <a:latin typeface="Inter"/>
              </a:rPr>
              <a:t>PlNP -&gt; PlDet PlNom</a:t>
            </a:r>
          </a:p>
          <a:p>
            <a:pPr algn="l" marL="256032" indent="-256032" lvl="0">
              <a:spcBef>
                <a:spcPts val="700"/>
              </a:spcBef>
              <a:buClr>
                <a:srgbClr val="F76945"/>
              </a:buClr>
              <a:buFont typeface="Arial"/>
              <a:buChar char="•"/>
            </a:pPr>
            <a:r>
              <a:rPr sz="2000" b="0">
                <a:solidFill>
                  <a:srgbClr val="111111"/>
                </a:solidFill>
                <a:latin typeface="Inter"/>
              </a:rPr>
              <a:t>all the verb/VP classes.</a:t>
            </a:r>
          </a:p>
          <a:p>
            <a:pPr algn="l" marL="512064" indent="-219456" lvl="1">
              <a:spcBef>
                <a:spcPts val="300"/>
              </a:spcBef>
              <a:buClr>
                <a:srgbClr val="F76945"/>
              </a:buClr>
              <a:buFont typeface="Arial"/>
              <a:buChar char="–"/>
            </a:pPr>
            <a:r>
              <a:rPr sz="1800" b="0">
                <a:solidFill>
                  <a:srgbClr val="555555"/>
                </a:solidFill>
                <a:latin typeface="Inter"/>
              </a:rPr>
              <a:t>PlVP -&gt; PlV NP</a:t>
            </a:r>
          </a:p>
          <a:p>
            <a:pPr algn="l" marL="512064" indent="-219456" lvl="1">
              <a:spcBef>
                <a:spcPts val="300"/>
              </a:spcBef>
              <a:buClr>
                <a:srgbClr val="F76945"/>
              </a:buClr>
              <a:buFont typeface="Arial"/>
              <a:buChar char="–"/>
            </a:pPr>
            <a:r>
              <a:rPr sz="1800" b="0">
                <a:solidFill>
                  <a:srgbClr val="555555"/>
                </a:solidFill>
                <a:latin typeface="Inter"/>
              </a:rPr>
              <a:t>SgVP -&gt;SgV Np</a:t>
            </a:r>
          </a:p>
          <a:p>
            <a:pPr algn="l" marL="512064" indent="-219456" lvl="1">
              <a:spcBef>
                <a:spcPts val="300"/>
              </a:spcBef>
              <a:buClr>
                <a:srgbClr val="F76945"/>
              </a:buClr>
              <a:buFont typeface="Arial"/>
              <a:buChar char="–"/>
            </a:pPr>
            <a:r>
              <a:rPr sz="1800" b="0">
                <a:solidFill>
                  <a:srgbClr val="555555"/>
                </a:solidFill>
                <a:latin typeface="Inter"/>
              </a:rPr>
              <a:t>⚫…</a:t>
            </a:r>
          </a:p>
        </p:txBody>
      </p:sp>
      <p:sp>
        <p:nvSpPr>
          <p:cNvPr id="14" name="Rounded Rectangle 13"/>
          <p:cNvSpPr/>
          <p:nvPr/>
        </p:nvSpPr>
        <p:spPr>
          <a:xfrm>
            <a:off x="457200" y="4161149"/>
            <a:ext cx="11274552" cy="11240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4161149"/>
            <a:ext cx="73152" cy="11240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234301"/>
            <a:ext cx="10879531" cy="97777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We can expand context-free grammar rules to encode agreement features and specific verb classes. By splitting non-terminals into singular and plural categories, the grammar tracks constraints. This same indexing trick applies to all verb and verb phrase classes. Example: SgNP combines with SgVP to maintain proper singular agreement.</a:t>
            </a:r>
          </a:p>
        </p:txBody>
      </p:sp>
      <p:sp>
        <p:nvSpPr>
          <p:cNvPr id="17" name="Rounded Rectangle 1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Context-Free Grammar — A set of recursive rules used to generate possible phrase structures in a language.</a:t>
            </a:r>
          </a:p>
        </p:txBody>
      </p:sp>
      <p:sp>
        <p:nvSpPr>
          <p:cNvPr id="18" name="Rectangle 1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Multiplying context-free grammar rules causes severe scalability issues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185 / 229</a:t>
            </a:r>
          </a:p>
        </p:txBody>
      </p:sp>
      <p:sp>
        <p:nvSpPr>
          <p:cNvPr id="8" name="Rounded Rectangle 7">
            <a:hlinkClick r:id="rId5"/>
          </p:cNvPr>
          <p:cNvSpPr/>
          <p:nvPr/>
        </p:nvSpPr>
        <p:spPr>
          <a:xfrm>
            <a:off x="2894076" y="6455664"/>
            <a:ext cx="6400800"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Multiplying context-free grammar rules causes severe scalability issues — step-through</a:t>
            </a:r>
          </a:p>
        </p:txBody>
      </p:sp>
      <p:sp>
        <p:nvSpPr>
          <p:cNvPr id="9" name="Rounded Rectangle 8"/>
          <p:cNvSpPr/>
          <p:nvPr/>
        </p:nvSpPr>
        <p:spPr>
          <a:xfrm>
            <a:off x="457200" y="1298448"/>
            <a:ext cx="3502152"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2016252"/>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1" name="TextBox 10"/>
          <p:cNvSpPr txBox="1"/>
          <p:nvPr/>
        </p:nvSpPr>
        <p:spPr>
          <a:xfrm>
            <a:off x="1280160" y="1499616"/>
            <a:ext cx="2478024" cy="1490472"/>
          </a:xfrm>
          <a:prstGeom prst="rect">
            <a:avLst/>
          </a:prstGeom>
          <a:noFill/>
        </p:spPr>
        <p:txBody>
          <a:bodyPr wrap="square" anchor="ctr" lIns="0" tIns="0" rIns="0" bIns="0">
            <a:spAutoFit/>
          </a:bodyPr>
          <a:lstStyle/>
          <a:p>
            <a:pPr algn="l"/>
            <a:r>
              <a:rPr sz="1500" b="1">
                <a:solidFill>
                  <a:srgbClr val="1365A5"/>
                </a:solidFill>
                <a:latin typeface="Bebas Neue"/>
              </a:rPr>
              <a:t>It works and stays within</a:t>
            </a:r>
          </a:p>
          <a:p>
            <a:pPr algn="l">
              <a:spcBef>
                <a:spcPts val="500"/>
              </a:spcBef>
            </a:pPr>
            <a:r>
              <a:rPr sz="1250" b="0">
                <a:solidFill>
                  <a:srgbClr val="111111"/>
                </a:solidFill>
                <a:latin typeface="Inter"/>
              </a:rPr>
              <a:t>the power of CFGs</a:t>
            </a:r>
          </a:p>
        </p:txBody>
      </p:sp>
      <p:sp>
        <p:nvSpPr>
          <p:cNvPr id="12" name="Right Arrow 11"/>
          <p:cNvSpPr/>
          <p:nvPr/>
        </p:nvSpPr>
        <p:spPr>
          <a:xfrm>
            <a:off x="4014215" y="2089404"/>
            <a:ext cx="274320" cy="310896"/>
          </a:xfrm>
          <a:prstGeom prst="rightArrow">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43400" y="1298448"/>
            <a:ext cx="3502152"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4568" y="2016252"/>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5" name="TextBox 14"/>
          <p:cNvSpPr txBox="1"/>
          <p:nvPr/>
        </p:nvSpPr>
        <p:spPr>
          <a:xfrm>
            <a:off x="5166359" y="1499616"/>
            <a:ext cx="2478024" cy="1490472"/>
          </a:xfrm>
          <a:prstGeom prst="rect">
            <a:avLst/>
          </a:prstGeom>
          <a:noFill/>
        </p:spPr>
        <p:txBody>
          <a:bodyPr wrap="square" anchor="ctr" lIns="0" tIns="0" rIns="0" bIns="0">
            <a:spAutoFit/>
          </a:bodyPr>
          <a:lstStyle/>
          <a:p>
            <a:pPr algn="l"/>
            <a:r>
              <a:rPr sz="1500" b="1">
                <a:solidFill>
                  <a:srgbClr val="1365A5"/>
                </a:solidFill>
                <a:latin typeface="Bebas Neue"/>
              </a:rPr>
              <a:t>And it doesn’t scale all</a:t>
            </a:r>
          </a:p>
          <a:p>
            <a:pPr algn="l">
              <a:spcBef>
                <a:spcPts val="500"/>
              </a:spcBef>
            </a:pPr>
            <a:r>
              <a:rPr sz="1250" b="0">
                <a:solidFill>
                  <a:srgbClr val="111111"/>
                </a:solidFill>
                <a:latin typeface="Inter"/>
              </a:rPr>
              <a:t>that well because of the interaction among the various constraints explodes the number of rules in our grammar</a:t>
            </a:r>
          </a:p>
        </p:txBody>
      </p:sp>
      <p:sp>
        <p:nvSpPr>
          <p:cNvPr id="16" name="Right Arrow 15"/>
          <p:cNvSpPr/>
          <p:nvPr/>
        </p:nvSpPr>
        <p:spPr>
          <a:xfrm>
            <a:off x="7900416" y="2089404"/>
            <a:ext cx="274320" cy="310896"/>
          </a:xfrm>
          <a:prstGeom prst="rightArrow">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0" y="1298448"/>
            <a:ext cx="3502152"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30768" y="2016252"/>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9" name="TextBox 18"/>
          <p:cNvSpPr txBox="1"/>
          <p:nvPr/>
        </p:nvSpPr>
        <p:spPr>
          <a:xfrm>
            <a:off x="9052560" y="1499616"/>
            <a:ext cx="2478024" cy="1490472"/>
          </a:xfrm>
          <a:prstGeom prst="rect">
            <a:avLst/>
          </a:prstGeom>
          <a:noFill/>
        </p:spPr>
        <p:txBody>
          <a:bodyPr wrap="square" anchor="ctr" lIns="0" tIns="0" rIns="0" bIns="0">
            <a:spAutoFit/>
          </a:bodyPr>
          <a:lstStyle/>
          <a:p>
            <a:pPr algn="l"/>
            <a:r>
              <a:rPr sz="1500" b="1">
                <a:solidFill>
                  <a:srgbClr val="1365A5"/>
                </a:solidFill>
                <a:latin typeface="Bebas Neue"/>
              </a:rPr>
              <a:t>While splitting non-terminals works within</a:t>
            </a:r>
          </a:p>
          <a:p>
            <a:pPr algn="l">
              <a:spcBef>
                <a:spcPts val="500"/>
              </a:spcBef>
            </a:pPr>
            <a:r>
              <a:rPr sz="1250" b="0">
                <a:solidFill>
                  <a:srgbClr val="111111"/>
                </a:solidFill>
                <a:latin typeface="Inter"/>
              </a:rPr>
              <a:t>the power of context-free grammars, it does not scale well</a:t>
            </a:r>
          </a:p>
        </p:txBody>
      </p:sp>
      <p:sp>
        <p:nvSpPr>
          <p:cNvPr id="20" name="Rounded Rectangle 19"/>
          <p:cNvSpPr/>
          <p:nvPr/>
        </p:nvSpPr>
        <p:spPr>
          <a:xfrm>
            <a:off x="457200" y="3392424"/>
            <a:ext cx="3502152"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4110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22" name="TextBox 21"/>
          <p:cNvSpPr txBox="1"/>
          <p:nvPr/>
        </p:nvSpPr>
        <p:spPr>
          <a:xfrm>
            <a:off x="1280160" y="3593592"/>
            <a:ext cx="2478024" cy="1490472"/>
          </a:xfrm>
          <a:prstGeom prst="rect">
            <a:avLst/>
          </a:prstGeom>
          <a:noFill/>
        </p:spPr>
        <p:txBody>
          <a:bodyPr wrap="square" anchor="ctr" lIns="0" tIns="0" rIns="0" bIns="0">
            <a:spAutoFit/>
          </a:bodyPr>
          <a:lstStyle/>
          <a:p>
            <a:pPr algn="l"/>
            <a:r>
              <a:rPr sz="1500" b="1">
                <a:solidFill>
                  <a:srgbClr val="1365A5"/>
                </a:solidFill>
                <a:latin typeface="Bebas Neue"/>
              </a:rPr>
              <a:t>The grammar becomes too large</a:t>
            </a:r>
          </a:p>
          <a:p>
            <a:pPr algn="l">
              <a:spcBef>
                <a:spcPts val="500"/>
              </a:spcBef>
            </a:pPr>
            <a:r>
              <a:rPr sz="1250" b="0">
                <a:solidFill>
                  <a:srgbClr val="111111"/>
                </a:solidFill>
                <a:latin typeface="Inter"/>
              </a:rPr>
              <a:t>and complex to manage easily</a:t>
            </a:r>
          </a:p>
        </p:txBody>
      </p:sp>
      <p:sp>
        <p:nvSpPr>
          <p:cNvPr id="23" name="Right Arrow 22"/>
          <p:cNvSpPr/>
          <p:nvPr/>
        </p:nvSpPr>
        <p:spPr>
          <a:xfrm>
            <a:off x="4014215" y="4183380"/>
            <a:ext cx="274320" cy="310896"/>
          </a:xfrm>
          <a:prstGeom prst="rightArrow">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43400" y="3392424"/>
            <a:ext cx="3502152" cy="1892808"/>
          </a:xfrm>
          <a:prstGeom prst="roundRect">
            <a:avLst>
              <a:gd name="adj" fmla="val 7439"/>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44568" y="4110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6" name="TextBox 25"/>
          <p:cNvSpPr txBox="1"/>
          <p:nvPr/>
        </p:nvSpPr>
        <p:spPr>
          <a:xfrm>
            <a:off x="5166359" y="3593592"/>
            <a:ext cx="2478024" cy="1490472"/>
          </a:xfrm>
          <a:prstGeom prst="rect">
            <a:avLst/>
          </a:prstGeom>
          <a:noFill/>
        </p:spPr>
        <p:txBody>
          <a:bodyPr wrap="square" anchor="ctr" lIns="0" tIns="0" rIns="0" bIns="0">
            <a:spAutoFit/>
          </a:bodyPr>
          <a:lstStyle/>
          <a:p>
            <a:pPr algn="l"/>
            <a:r>
              <a:rPr sz="1500" b="1">
                <a:solidFill>
                  <a:srgbClr val="1365A5"/>
                </a:solidFill>
                <a:latin typeface="Bebas Neue"/>
              </a:rPr>
              <a:t>Example</a:t>
            </a:r>
          </a:p>
          <a:p>
            <a:pPr algn="l">
              <a:spcBef>
                <a:spcPts val="500"/>
              </a:spcBef>
            </a:pPr>
            <a:r>
              <a:rPr sz="1250" b="0">
                <a:solidFill>
                  <a:srgbClr val="111111"/>
                </a:solidFill>
                <a:latin typeface="Inter"/>
              </a:rPr>
              <a:t>Example: Adding every feature combination multiplies grammar rules into the thousands</a:t>
            </a:r>
          </a:p>
        </p:txBody>
      </p:sp>
      <p:sp>
        <p:nvSpPr>
          <p:cNvPr id="27" name="Rounded Rectangle 2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One trigger sets off a chain of 6 effects.</a:t>
            </a:r>
          </a:p>
          <a:p>
            <a:pPr algn="l"/>
            <a:r>
              <a:rPr b="1" sz="1300">
                <a:solidFill>
                  <a:srgbClr val="1365A5"/>
                </a:solidFill>
                <a:latin typeface="Bebas Neue"/>
              </a:rPr>
              <a:t>Key terms:  </a:t>
            </a:r>
            <a:r>
              <a:rPr sz="1300" b="0">
                <a:solidFill>
                  <a:srgbClr val="111111"/>
                </a:solidFill>
                <a:latin typeface="Inter"/>
              </a:rPr>
              <a:t>Scalability — The ability of a grammar system to handle growing complexity without exploding in size.</a:t>
            </a:r>
          </a:p>
        </p:txBody>
      </p:sp>
      <p:sp>
        <p:nvSpPr>
          <p:cNvPr id="28" name="Rectangle 2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45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5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45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450"/>
                                        <p:tgtEl>
                                          <p:spTgt spid="17"/>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5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CFG solution for agreement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186 / 229</a:t>
            </a:r>
          </a:p>
        </p:txBody>
      </p:sp>
      <p:sp>
        <p:nvSpPr>
          <p:cNvPr id="7" name="Rounded Rectangle 6"/>
          <p:cNvSpPr/>
          <p:nvPr/>
        </p:nvSpPr>
        <p:spPr>
          <a:xfrm>
            <a:off x="2557336" y="1298448"/>
            <a:ext cx="7074278"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721928" y="1463040"/>
            <a:ext cx="6745094" cy="4773168"/>
          </a:xfrm>
          <a:prstGeom prst="rect">
            <a:avLst/>
          </a:prstGeom>
        </p:spPr>
      </p:pic>
    </p:spTree>
  </p:cSld>
  <p:clrMapOvr>
    <a:masterClrMapping/>
  </p:clrMapOvr>
  <p:transition spd="med">
    <p:zoom dir="in"/>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Syntactic parsing serves as an intermediate representation for downstream applications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187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ectangle 7"/>
          <p:cNvSpPr/>
          <p:nvPr/>
        </p:nvSpPr>
        <p:spPr>
          <a:xfrm>
            <a:off x="457200" y="1335024"/>
            <a:ext cx="82296" cy="71044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1298448"/>
            <a:ext cx="4263865" cy="728731"/>
          </a:xfrm>
          <a:prstGeom prst="rect">
            <a:avLst/>
          </a:prstGeom>
          <a:noFill/>
        </p:spPr>
        <p:txBody>
          <a:bodyPr wrap="square" anchor="t" lIns="0" tIns="0" rIns="0" bIns="0">
            <a:spAutoFit/>
          </a:bodyPr>
          <a:lstStyle/>
          <a:p>
            <a:pPr algn="l"/>
            <a:r>
              <a:rPr sz="1520" b="1">
                <a:solidFill>
                  <a:srgbClr val="1365A5"/>
                </a:solidFill>
                <a:latin typeface="Bebas Neue"/>
              </a:rPr>
              <a:t>Used as intermediate representation for downstream applications.</a:t>
            </a:r>
          </a:p>
        </p:txBody>
      </p:sp>
      <p:sp>
        <p:nvSpPr>
          <p:cNvPr id="10" name="TextBox 9"/>
          <p:cNvSpPr txBox="1"/>
          <p:nvPr/>
        </p:nvSpPr>
        <p:spPr>
          <a:xfrm>
            <a:off x="994867" y="2219203"/>
            <a:ext cx="3989545" cy="2640330"/>
          </a:xfrm>
          <a:prstGeom prst="rect">
            <a:avLst/>
          </a:prstGeom>
          <a:noFill/>
        </p:spPr>
        <p:txBody>
          <a:bodyPr wrap="square" lIns="0" rIns="0" tIns="0" bIns="0">
            <a:spAutoFit/>
          </a:bodyPr>
          <a:lstStyle/>
          <a:p>
            <a:r>
              <a:rPr sz="680" b="1">
                <a:solidFill>
                  <a:srgbClr val="0F766E"/>
                </a:solidFill>
                <a:latin typeface="Bebas Neue"/>
              </a:rPr>
              <a:t>E.G.   </a:t>
            </a:r>
            <a:r>
              <a:rPr sz="1100">
                <a:solidFill>
                  <a:srgbClr val="111111"/>
                </a:solidFill>
                <a:latin typeface="Inter"/>
              </a:rPr>
              <a:t>Relation: per:city_of death Relation: per:employee_of Relation: org:founded_by Benoit B. Mandelbrot, a maverick In a career that spanned seven decades, Ginzburg Anil Kumar, a former director at the consulting mathematician who developed an innovative authored several groundbreaking studies in various firm McKinsey &amp; Co, pleaded guilty on theory of roughness and applied it to physics, fields -- </a:t>
            </a:r>
            <a:r>
              <a:rPr sz="1100" b="1">
                <a:solidFill>
                  <a:srgbClr val="0F766E"/>
                </a:solidFill>
                <a:latin typeface="Bebas Neue"/>
              </a:rPr>
              <a:t>such as</a:t>
            </a:r>
            <a:r>
              <a:rPr sz="1100">
                <a:solidFill>
                  <a:srgbClr val="111111"/>
                </a:solidFill>
                <a:latin typeface="Inter"/>
              </a:rPr>
              <a:t> quantum theory, astrophysics, Thursday to providing inside information to Raj biology, finance and many other fields, died radio-astronomy and diffusion of cosmic radiation Rajaratnam, the founder of the Galleon Group, Thursday in Cambridge, Mass. in the Earth's atmosphere -- that were of “Nobel in exchange for payments of at least 175.</a:t>
            </a:r>
          </a:p>
        </p:txBody>
      </p:sp>
      <p:sp>
        <p:nvSpPr>
          <p:cNvPr id="11" name="TextBox 10"/>
          <p:cNvSpPr txBox="1"/>
          <p:nvPr/>
        </p:nvSpPr>
        <p:spPr>
          <a:xfrm>
            <a:off x="720547" y="4987549"/>
            <a:ext cx="4263865" cy="528066"/>
          </a:xfrm>
          <a:prstGeom prst="rect">
            <a:avLst/>
          </a:prstGeom>
          <a:noFill/>
        </p:spPr>
        <p:txBody>
          <a:bodyPr wrap="square" lIns="0" rIns="0" tIns="0" bIns="0">
            <a:spAutoFit/>
          </a:bodyPr>
          <a:lstStyle/>
          <a:p>
            <a:r>
              <a:rPr sz="1100">
                <a:solidFill>
                  <a:srgbClr val="111111"/>
                </a:solidFill>
                <a:latin typeface="Inter"/>
              </a:rPr>
              <a:t>Prize calib id Gennady Mesyats, the director million from 2004 through 2009. of the Lebedev Physics Institute in Moscow, where.</a:t>
            </a:r>
          </a:p>
        </p:txBody>
      </p:sp>
      <p:sp>
        <p:nvSpPr>
          <p:cNvPr id="12" name="TextBox 11"/>
          <p:cNvSpPr txBox="1"/>
          <p:nvPr/>
        </p:nvSpPr>
        <p:spPr>
          <a:xfrm>
            <a:off x="720547" y="5643631"/>
            <a:ext cx="4263865" cy="176022"/>
          </a:xfrm>
          <a:prstGeom prst="rect">
            <a:avLst/>
          </a:prstGeom>
          <a:noFill/>
        </p:spPr>
        <p:txBody>
          <a:bodyPr wrap="square" lIns="0" rIns="0" tIns="0" bIns="0">
            <a:spAutoFit/>
          </a:bodyPr>
          <a:lstStyle/>
          <a:p>
            <a:r>
              <a:rPr sz="1100">
                <a:solidFill>
                  <a:srgbClr val="111111"/>
                </a:solidFill>
                <a:latin typeface="Inter"/>
              </a:rPr>
              <a:t>died Ginzburg worked. Rajaratnam.</a:t>
            </a:r>
          </a:p>
        </p:txBody>
      </p:sp>
      <p:sp>
        <p:nvSpPr>
          <p:cNvPr id="13" name="TextBox 12"/>
          <p:cNvSpPr txBox="1"/>
          <p:nvPr/>
        </p:nvSpPr>
        <p:spPr>
          <a:xfrm>
            <a:off x="720547" y="5947669"/>
            <a:ext cx="4263865" cy="176022"/>
          </a:xfrm>
          <a:prstGeom prst="rect">
            <a:avLst/>
          </a:prstGeom>
          <a:noFill/>
        </p:spPr>
        <p:txBody>
          <a:bodyPr wrap="square" lIns="0" rIns="0" tIns="0" bIns="0">
            <a:spAutoFit/>
          </a:bodyPr>
          <a:lstStyle/>
          <a:p>
            <a:r>
              <a:rPr sz="1100">
                <a:solidFill>
                  <a:srgbClr val="111111"/>
                </a:solidFill>
                <a:latin typeface="Inter"/>
              </a:rPr>
              <a:t>Institute ma.</a:t>
            </a:r>
          </a:p>
        </p:txBody>
      </p:sp>
      <p:sp>
        <p:nvSpPr>
          <p:cNvPr id="14" name="TextBox 13"/>
          <p:cNvSpPr txBox="1"/>
          <p:nvPr/>
        </p:nvSpPr>
        <p:spPr>
          <a:xfrm>
            <a:off x="720547" y="6251707"/>
            <a:ext cx="4263865" cy="176022"/>
          </a:xfrm>
          <a:prstGeom prst="rect">
            <a:avLst/>
          </a:prstGeom>
          <a:noFill/>
        </p:spPr>
        <p:txBody>
          <a:bodyPr wrap="square" lIns="0" rIns="0" tIns="0" bIns="0">
            <a:spAutoFit/>
          </a:bodyPr>
          <a:lstStyle/>
          <a:p>
            <a:r>
              <a:rPr sz="1100">
                <a:solidFill>
                  <a:srgbClr val="111111"/>
                </a:solidFill>
                <a:latin typeface="Inter"/>
              </a:rPr>
              <a:t>Thursday Cambridge = a ¥ es.</a:t>
            </a:r>
          </a:p>
        </p:txBody>
      </p:sp>
      <p:sp>
        <p:nvSpPr>
          <p:cNvPr id="15" name="TextBox 14"/>
          <p:cNvSpPr txBox="1"/>
          <p:nvPr/>
        </p:nvSpPr>
        <p:spPr>
          <a:xfrm>
            <a:off x="720547" y="6555745"/>
            <a:ext cx="4263865" cy="176022"/>
          </a:xfrm>
          <a:prstGeom prst="rect">
            <a:avLst/>
          </a:prstGeom>
          <a:noFill/>
        </p:spPr>
        <p:txBody>
          <a:bodyPr wrap="square" lIns="0" rIns="0" tIns="0" bIns="0">
            <a:spAutoFit/>
          </a:bodyPr>
          <a:lstStyle/>
          <a:p>
            <a:r>
              <a:rPr sz="1100">
                <a:solidFill>
                  <a:srgbClr val="111111"/>
                </a:solidFill>
                <a:latin typeface="Inter"/>
              </a:rPr>
              <a:t>the Lebedev Physics Moscow worked the Group.</a:t>
            </a:r>
          </a:p>
        </p:txBody>
      </p:sp>
      <p:sp>
        <p:nvSpPr>
          <p:cNvPr id="16" name="TextBox 15"/>
          <p:cNvSpPr txBox="1"/>
          <p:nvPr/>
        </p:nvSpPr>
        <p:spPr>
          <a:xfrm>
            <a:off x="720547" y="6859783"/>
            <a:ext cx="4263865" cy="176022"/>
          </a:xfrm>
          <a:prstGeom prst="rect">
            <a:avLst/>
          </a:prstGeom>
          <a:noFill/>
        </p:spPr>
        <p:txBody>
          <a:bodyPr wrap="square" lIns="0" rIns="0" tIns="0" bIns="0">
            <a:spAutoFit/>
          </a:bodyPr>
          <a:lstStyle/>
          <a:p>
            <a:r>
              <a:rPr sz="1100">
                <a:solidFill>
                  <a:srgbClr val="111111"/>
                </a:solidFill>
                <a:latin typeface="Inter"/>
              </a:rPr>
              <a:t>Benoit B. in Mass where Ginzburg of the Galleon.</a:t>
            </a:r>
          </a:p>
        </p:txBody>
      </p:sp>
      <p:sp>
        <p:nvSpPr>
          <p:cNvPr id="17" name="TextBox 16"/>
          <p:cNvSpPr txBox="1"/>
          <p:nvPr/>
        </p:nvSpPr>
        <p:spPr>
          <a:xfrm>
            <a:off x="5506516" y="1467427"/>
            <a:ext cx="2834640" cy="310896"/>
          </a:xfrm>
          <a:prstGeom prst="rect">
            <a:avLst/>
          </a:prstGeom>
          <a:noFill/>
        </p:spPr>
        <p:txBody>
          <a:bodyPr wrap="square" anchor="ctr" lIns="0" tIns="0" rIns="0" bIns="0">
            <a:spAutoFit/>
          </a:bodyPr>
          <a:lstStyle/>
          <a:p>
            <a:pPr algn="l"/>
            <a:r>
              <a:rPr sz="1100" b="1">
                <a:solidFill>
                  <a:srgbClr val="555555"/>
                </a:solidFill>
                <a:latin typeface="Bebas Neue"/>
              </a:rPr>
              <a:t>AT A GLANCE</a:t>
            </a:r>
          </a:p>
        </p:txBody>
      </p:sp>
      <p:sp>
        <p:nvSpPr>
          <p:cNvPr id="18" name="Rounded Rectangle 17"/>
          <p:cNvSpPr/>
          <p:nvPr/>
        </p:nvSpPr>
        <p:spPr>
          <a:xfrm>
            <a:off x="5506516" y="1942915"/>
            <a:ext cx="2834640" cy="1463040"/>
          </a:xfrm>
          <a:prstGeom prst="roundRect">
            <a:avLst>
              <a:gd name="adj" fmla="val 9625"/>
            </a:avLst>
          </a:prstGeom>
          <a:solidFill>
            <a:srgbClr val="ECF2F7"/>
          </a:solidFill>
          <a:ln w="12700">
            <a:solidFill>
              <a:srgbClr val="B8D0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16244" y="2107507"/>
            <a:ext cx="64008" cy="1133856"/>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80836" y="2016067"/>
            <a:ext cx="2423160" cy="1316736"/>
          </a:xfrm>
          <a:prstGeom prst="rect">
            <a:avLst/>
          </a:prstGeom>
          <a:noFill/>
        </p:spPr>
        <p:txBody>
          <a:bodyPr wrap="square" anchor="ctr" lIns="0" tIns="0" rIns="0" bIns="0">
            <a:spAutoFit/>
          </a:bodyPr>
          <a:lstStyle/>
          <a:p>
            <a:pPr algn="l"/>
            <a:r>
              <a:rPr sz="3600" b="1">
                <a:solidFill>
                  <a:srgbClr val="1365A5"/>
                </a:solidFill>
                <a:latin typeface="Bebas Neue"/>
              </a:rPr>
              <a:t>175</a:t>
            </a:r>
          </a:p>
          <a:p>
            <a:pPr algn="l">
              <a:spcBef>
                <a:spcPts val="200"/>
              </a:spcBef>
            </a:pPr>
            <a:r>
              <a:rPr sz="1400" b="0">
                <a:solidFill>
                  <a:srgbClr val="555555"/>
                </a:solidFill>
                <a:latin typeface="Inter"/>
              </a:rPr>
              <a:t>Payments of at least</a:t>
            </a:r>
          </a:p>
        </p:txBody>
      </p:sp>
      <p:sp>
        <p:nvSpPr>
          <p:cNvPr id="21" name="Rounded Rectangle 20"/>
          <p:cNvSpPr/>
          <p:nvPr/>
        </p:nvSpPr>
        <p:spPr>
          <a:xfrm>
            <a:off x="457200" y="3776102"/>
            <a:ext cx="7883956" cy="1509129"/>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776102"/>
            <a:ext cx="73152" cy="150912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1286" y="3849254"/>
            <a:ext cx="7488935" cy="1362825"/>
          </a:xfrm>
          <a:prstGeom prst="rect">
            <a:avLst/>
          </a:prstGeom>
          <a:noFill/>
        </p:spPr>
        <p:txBody>
          <a:bodyPr wrap="square" anchor="ctr" lIns="0" tIns="0" rIns="0" bIns="0">
            <a:spAutoFit/>
          </a:bodyPr>
          <a:lstStyle/>
          <a:p>
            <a:pPr algn="l"/>
            <a:r>
              <a:rPr sz="940" b="1">
                <a:solidFill>
                  <a:srgbClr val="F76945"/>
                </a:solidFill>
                <a:latin typeface="Bebas Neue"/>
              </a:rPr>
              <a:t>IN PLAIN WORDS</a:t>
            </a:r>
          </a:p>
          <a:p>
            <a:pPr algn="l">
              <a:spcBef>
                <a:spcPts val="300"/>
              </a:spcBef>
            </a:pPr>
            <a:r>
              <a:rPr sz="1300" b="0">
                <a:solidFill>
                  <a:srgbClr val="111111"/>
                </a:solidFill>
                <a:latin typeface="Inter"/>
              </a:rPr>
              <a:t>Syntactic parsing analyzes the grammatical structure of a sentence to help downstream text processing applications. These parsed trees reveal relationships like organizational founding or employment. This structural insight is crucial for advanced information extraction tasks. For example, extracting that someone is a former director of a consulting firm.</a:t>
            </a:r>
          </a:p>
        </p:txBody>
      </p:sp>
      <p:sp>
        <p:nvSpPr>
          <p:cNvPr id="24" name="Rounded Rectangle 23"/>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Syntactic parsing — The process of analyzing a sentence to determine its grammatical structure.</a:t>
            </a:r>
          </a:p>
        </p:txBody>
      </p:sp>
      <p:sp>
        <p:nvSpPr>
          <p:cNvPr id="25" name="Rectangle 24"/>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5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5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5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5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5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45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5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Syntactic parsing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188 / 229</a:t>
            </a:r>
          </a:p>
        </p:txBody>
      </p:sp>
      <p:sp>
        <p:nvSpPr>
          <p:cNvPr id="7" name="Rounded Rectangle 6"/>
          <p:cNvSpPr/>
          <p:nvPr/>
        </p:nvSpPr>
        <p:spPr>
          <a:xfrm>
            <a:off x="2745734" y="1298448"/>
            <a:ext cx="669748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10326" y="1463040"/>
            <a:ext cx="6368298" cy="4773168"/>
          </a:xfrm>
          <a:prstGeom prst="rect">
            <a:avLst/>
          </a:prstGeom>
        </p:spPr>
      </p:pic>
    </p:spTree>
  </p:cSld>
  <p:clrMapOvr>
    <a:masterClrMapping/>
  </p:clrMapOvr>
  <p:transition spd="med">
    <p:zoom dir="in"/>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700" b="1">
                <a:solidFill>
                  <a:srgbClr val="FFFFFF"/>
                </a:solidFill>
              </a:defRPr>
            </a:pPr>
            <a:r>
              <a:rPr>
                <a:latin typeface="Bebas Neue"/>
              </a:rPr>
              <a:t>Noun phrases contain a single central most important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189 / 229</a:t>
            </a:r>
          </a:p>
        </p:txBody>
      </p:sp>
      <p:pic>
        <p:nvPicPr>
          <p:cNvPr id="7" name="Picture 6" descr="image.png"/>
          <p:cNvPicPr>
            <a:picLocks noChangeAspect="1"/>
          </p:cNvPicPr>
          <p:nvPr/>
        </p:nvPicPr>
        <p:blipFill>
          <a:blip r:embed="rId3"/>
          <a:stretch>
            <a:fillRect/>
          </a:stretch>
        </p:blipFill>
        <p:spPr>
          <a:xfrm>
            <a:off x="7672913" y="1453687"/>
            <a:ext cx="4058838" cy="3676304"/>
          </a:xfrm>
          <a:prstGeom prst="rect">
            <a:avLst/>
          </a:prstGeom>
        </p:spPr>
      </p:pic>
      <p:sp>
        <p:nvSpPr>
          <p:cNvPr id="8" name="Rounded Rectangle 7"/>
          <p:cNvSpPr/>
          <p:nvPr/>
        </p:nvSpPr>
        <p:spPr>
          <a:xfrm>
            <a:off x="457200" y="1298447"/>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725777"/>
            <a:ext cx="340156" cy="340156"/>
          </a:xfrm>
          <a:prstGeom prst="rect">
            <a:avLst/>
          </a:prstGeom>
        </p:spPr>
      </p:pic>
      <p:sp>
        <p:nvSpPr>
          <p:cNvPr id="11" name="TextBox 10"/>
          <p:cNvSpPr txBox="1"/>
          <p:nvPr/>
        </p:nvSpPr>
        <p:spPr>
          <a:xfrm>
            <a:off x="1408175" y="1371599"/>
            <a:ext cx="2254544" cy="1048512"/>
          </a:xfrm>
          <a:prstGeom prst="rect">
            <a:avLst/>
          </a:prstGeom>
          <a:noFill/>
        </p:spPr>
        <p:txBody>
          <a:bodyPr wrap="square" anchor="ctr" lIns="0" tIns="0" rIns="0" bIns="0">
            <a:spAutoFit/>
          </a:bodyPr>
          <a:lstStyle/>
          <a:p>
            <a:pPr algn="l"/>
            <a:r>
              <a:rPr sz="1200" b="0">
                <a:solidFill>
                  <a:srgbClr val="111111"/>
                </a:solidFill>
                <a:latin typeface="Inter"/>
              </a:rPr>
              <a:t>ALL THE MORNING FLIGHTS FROM DENVER TO TAMPA</a:t>
            </a:r>
          </a:p>
        </p:txBody>
      </p:sp>
      <p:sp>
        <p:nvSpPr>
          <p:cNvPr id="12" name="Rounded Rectangle 11"/>
          <p:cNvSpPr/>
          <p:nvPr/>
        </p:nvSpPr>
        <p:spPr>
          <a:xfrm>
            <a:off x="4065056" y="1298447"/>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725777"/>
            <a:ext cx="340156" cy="340156"/>
          </a:xfrm>
          <a:prstGeom prst="rect">
            <a:avLst/>
          </a:prstGeom>
        </p:spPr>
      </p:pic>
      <p:sp>
        <p:nvSpPr>
          <p:cNvPr id="15" name="TextBox 14"/>
          <p:cNvSpPr txBox="1"/>
          <p:nvPr/>
        </p:nvSpPr>
        <p:spPr>
          <a:xfrm>
            <a:off x="5016032" y="1371599"/>
            <a:ext cx="2254544" cy="1048512"/>
          </a:xfrm>
          <a:prstGeom prst="rect">
            <a:avLst/>
          </a:prstGeom>
          <a:noFill/>
        </p:spPr>
        <p:txBody>
          <a:bodyPr wrap="square" anchor="ctr" lIns="0" tIns="0" rIns="0" bIns="0">
            <a:spAutoFit/>
          </a:bodyPr>
          <a:lstStyle/>
          <a:p>
            <a:pPr algn="l"/>
            <a:r>
              <a:rPr sz="1440" b="1">
                <a:solidFill>
                  <a:srgbClr val="1365A5"/>
                </a:solidFill>
                <a:latin typeface="Bebas Neue"/>
              </a:rPr>
              <a:t>Word is central</a:t>
            </a:r>
          </a:p>
          <a:p>
            <a:pPr algn="l">
              <a:spcBef>
                <a:spcPts val="500"/>
              </a:spcBef>
            </a:pPr>
            <a:r>
              <a:rPr sz="1200" b="0">
                <a:solidFill>
                  <a:srgbClr val="111111"/>
                </a:solidFill>
                <a:latin typeface="Inter"/>
              </a:rPr>
              <a:t>Which word is central (most important)?</a:t>
            </a:r>
          </a:p>
        </p:txBody>
      </p:sp>
      <p:sp>
        <p:nvSpPr>
          <p:cNvPr id="16" name="Rounded Rectangle 15"/>
          <p:cNvSpPr/>
          <p:nvPr/>
        </p:nvSpPr>
        <p:spPr>
          <a:xfrm>
            <a:off x="457200" y="2694431"/>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3121761"/>
            <a:ext cx="340156" cy="340156"/>
          </a:xfrm>
          <a:prstGeom prst="rect">
            <a:avLst/>
          </a:prstGeom>
        </p:spPr>
      </p:pic>
      <p:sp>
        <p:nvSpPr>
          <p:cNvPr id="19" name="TextBox 18"/>
          <p:cNvSpPr txBox="1"/>
          <p:nvPr/>
        </p:nvSpPr>
        <p:spPr>
          <a:xfrm>
            <a:off x="1408175" y="2767583"/>
            <a:ext cx="2254544" cy="1048512"/>
          </a:xfrm>
          <a:prstGeom prst="rect">
            <a:avLst/>
          </a:prstGeom>
          <a:noFill/>
        </p:spPr>
        <p:txBody>
          <a:bodyPr wrap="square" anchor="ctr" lIns="0" tIns="0" rIns="0" bIns="0">
            <a:spAutoFit/>
          </a:bodyPr>
          <a:lstStyle/>
          <a:p>
            <a:pPr algn="l"/>
            <a:r>
              <a:rPr sz="1200" b="0">
                <a:solidFill>
                  <a:srgbClr val="111111"/>
                </a:solidFill>
                <a:latin typeface="Inter"/>
              </a:rPr>
              <a:t>Complex noun phrases contain modifiers and specifiers surrounding a central word that determines the phrase's core meaning</a:t>
            </a:r>
          </a:p>
        </p:txBody>
      </p:sp>
      <p:sp>
        <p:nvSpPr>
          <p:cNvPr id="20" name="Rounded Rectangle 19"/>
          <p:cNvSpPr/>
          <p:nvPr/>
        </p:nvSpPr>
        <p:spPr>
          <a:xfrm>
            <a:off x="4065056" y="2694431"/>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6224"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4379610" y="3121761"/>
            <a:ext cx="340156" cy="340156"/>
          </a:xfrm>
          <a:prstGeom prst="rect">
            <a:avLst/>
          </a:prstGeom>
        </p:spPr>
      </p:pic>
      <p:sp>
        <p:nvSpPr>
          <p:cNvPr id="23" name="TextBox 22"/>
          <p:cNvSpPr txBox="1"/>
          <p:nvPr/>
        </p:nvSpPr>
        <p:spPr>
          <a:xfrm>
            <a:off x="5016032" y="2767583"/>
            <a:ext cx="2254544" cy="1048512"/>
          </a:xfrm>
          <a:prstGeom prst="rect">
            <a:avLst/>
          </a:prstGeom>
          <a:noFill/>
        </p:spPr>
        <p:txBody>
          <a:bodyPr wrap="square" anchor="ctr" lIns="0" tIns="0" rIns="0" bIns="0">
            <a:spAutoFit/>
          </a:bodyPr>
          <a:lstStyle/>
          <a:p>
            <a:pPr algn="l"/>
            <a:r>
              <a:rPr sz="1200" b="0">
                <a:solidFill>
                  <a:srgbClr val="111111"/>
                </a:solidFill>
                <a:latin typeface="Inter"/>
              </a:rPr>
              <a:t>Identifying this central word helps understand the phrase's primary category and reference</a:t>
            </a:r>
          </a:p>
        </p:txBody>
      </p:sp>
      <p:sp>
        <p:nvSpPr>
          <p:cNvPr id="24" name="Rounded Rectangle 23"/>
          <p:cNvSpPr/>
          <p:nvPr/>
        </p:nvSpPr>
        <p:spPr>
          <a:xfrm>
            <a:off x="457200" y="4090415"/>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771753" y="4517745"/>
            <a:ext cx="340156" cy="340156"/>
          </a:xfrm>
          <a:prstGeom prst="rect">
            <a:avLst/>
          </a:prstGeom>
        </p:spPr>
      </p:pic>
      <p:sp>
        <p:nvSpPr>
          <p:cNvPr id="27" name="TextBox 26"/>
          <p:cNvSpPr txBox="1"/>
          <p:nvPr/>
        </p:nvSpPr>
        <p:spPr>
          <a:xfrm>
            <a:off x="1408175" y="4163567"/>
            <a:ext cx="2254544" cy="1048512"/>
          </a:xfrm>
          <a:prstGeom prst="rect">
            <a:avLst/>
          </a:prstGeom>
          <a:noFill/>
        </p:spPr>
        <p:txBody>
          <a:bodyPr wrap="square" anchor="ctr" lIns="0" tIns="0" rIns="0" bIns="0">
            <a:spAutoFit/>
          </a:bodyPr>
          <a:lstStyle/>
          <a:p>
            <a:pPr algn="l"/>
            <a:r>
              <a:rPr sz="1200" b="0">
                <a:solidFill>
                  <a:srgbClr val="111111"/>
                </a:solidFill>
                <a:latin typeface="Inter"/>
              </a:rPr>
              <a:t>Every phrase relies on this main lexical anchor</a:t>
            </a:r>
          </a:p>
        </p:txBody>
      </p:sp>
      <p:sp>
        <p:nvSpPr>
          <p:cNvPr id="28" name="Rounded Rectangle 27"/>
          <p:cNvSpPr/>
          <p:nvPr/>
        </p:nvSpPr>
        <p:spPr>
          <a:xfrm>
            <a:off x="4065056" y="4090415"/>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66224"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9"/>
          <a:stretch>
            <a:fillRect/>
          </a:stretch>
        </p:blipFill>
        <p:spPr>
          <a:xfrm>
            <a:off x="4379610" y="4517745"/>
            <a:ext cx="340156" cy="340156"/>
          </a:xfrm>
          <a:prstGeom prst="rect">
            <a:avLst/>
          </a:prstGeom>
        </p:spPr>
      </p:pic>
      <p:sp>
        <p:nvSpPr>
          <p:cNvPr id="31" name="TextBox 30"/>
          <p:cNvSpPr txBox="1"/>
          <p:nvPr/>
        </p:nvSpPr>
        <p:spPr>
          <a:xfrm>
            <a:off x="5016032" y="4163567"/>
            <a:ext cx="2254544" cy="1048512"/>
          </a:xfrm>
          <a:prstGeom prst="rect">
            <a:avLst/>
          </a:prstGeom>
          <a:noFill/>
        </p:spPr>
        <p:txBody>
          <a:bodyPr wrap="square" anchor="ctr" lIns="0" tIns="0" rIns="0" bIns="0">
            <a:spAutoFit/>
          </a:bodyPr>
          <a:lstStyle/>
          <a:p>
            <a:pPr algn="l"/>
            <a:r>
              <a:rPr sz="1200" b="0">
                <a:solidFill>
                  <a:srgbClr val="111111"/>
                </a:solidFill>
                <a:latin typeface="Inter"/>
              </a:rPr>
              <a:t>Example: In a flight to NY, flight is the central word</a:t>
            </a:r>
          </a:p>
        </p:txBody>
      </p:sp>
      <p:sp>
        <p:nvSpPr>
          <p:cNvPr id="32" name="Rounded Rectangle 3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Central word — The primary head word that determines the core meaning and category of a phrase.</a:t>
            </a:r>
          </a:p>
        </p:txBody>
      </p:sp>
      <p:sp>
        <p:nvSpPr>
          <p:cNvPr id="33" name="Rectangle 3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Noun phrase elements include determiners and modifiers around a central head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190 / 229</a:t>
            </a:r>
          </a:p>
        </p:txBody>
      </p:sp>
      <p:pic>
        <p:nvPicPr>
          <p:cNvPr id="7" name="Picture 6" descr="image.png"/>
          <p:cNvPicPr>
            <a:picLocks noChangeAspect="1"/>
          </p:cNvPicPr>
          <p:nvPr/>
        </p:nvPicPr>
        <p:blipFill>
          <a:blip r:embed="rId3"/>
          <a:stretch>
            <a:fillRect/>
          </a:stretch>
        </p:blipFill>
        <p:spPr>
          <a:xfrm>
            <a:off x="7672913" y="1453687"/>
            <a:ext cx="4058838" cy="3676304"/>
          </a:xfrm>
          <a:prstGeom prst="rect">
            <a:avLst/>
          </a:prstGeom>
        </p:spPr>
      </p:pic>
      <p:sp>
        <p:nvSpPr>
          <p:cNvPr id="8" name="Rounded Rectangle 7"/>
          <p:cNvSpPr/>
          <p:nvPr/>
        </p:nvSpPr>
        <p:spPr>
          <a:xfrm>
            <a:off x="457200" y="1298447"/>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725777"/>
            <a:ext cx="340156" cy="340156"/>
          </a:xfrm>
          <a:prstGeom prst="rect">
            <a:avLst/>
          </a:prstGeom>
        </p:spPr>
      </p:pic>
      <p:sp>
        <p:nvSpPr>
          <p:cNvPr id="11" name="TextBox 10"/>
          <p:cNvSpPr txBox="1"/>
          <p:nvPr/>
        </p:nvSpPr>
        <p:spPr>
          <a:xfrm>
            <a:off x="1408175" y="1371599"/>
            <a:ext cx="2254544" cy="1048512"/>
          </a:xfrm>
          <a:prstGeom prst="rect">
            <a:avLst/>
          </a:prstGeom>
          <a:noFill/>
        </p:spPr>
        <p:txBody>
          <a:bodyPr wrap="square" anchor="ctr" lIns="0" tIns="0" rIns="0" bIns="0">
            <a:spAutoFit/>
          </a:bodyPr>
          <a:lstStyle/>
          <a:p>
            <a:pPr algn="l"/>
            <a:r>
              <a:rPr sz="1120" b="0">
                <a:solidFill>
                  <a:srgbClr val="111111"/>
                </a:solidFill>
                <a:latin typeface="Inter"/>
              </a:rPr>
              <a:t>ALL THE MORNING FLIGHTS FROM DENVER TO TAMPA</a:t>
            </a:r>
          </a:p>
        </p:txBody>
      </p:sp>
      <p:sp>
        <p:nvSpPr>
          <p:cNvPr id="12" name="Rounded Rectangle 11"/>
          <p:cNvSpPr/>
          <p:nvPr/>
        </p:nvSpPr>
        <p:spPr>
          <a:xfrm>
            <a:off x="4065056" y="1298447"/>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66224"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4379610" y="1725777"/>
            <a:ext cx="340156" cy="340156"/>
          </a:xfrm>
          <a:prstGeom prst="rect">
            <a:avLst/>
          </a:prstGeom>
        </p:spPr>
      </p:pic>
      <p:sp>
        <p:nvSpPr>
          <p:cNvPr id="15" name="TextBox 14"/>
          <p:cNvSpPr txBox="1"/>
          <p:nvPr/>
        </p:nvSpPr>
        <p:spPr>
          <a:xfrm>
            <a:off x="5016032" y="1371599"/>
            <a:ext cx="2254544" cy="1048512"/>
          </a:xfrm>
          <a:prstGeom prst="rect">
            <a:avLst/>
          </a:prstGeom>
          <a:noFill/>
        </p:spPr>
        <p:txBody>
          <a:bodyPr wrap="square" anchor="ctr" lIns="0" tIns="0" rIns="0" bIns="0">
            <a:spAutoFit/>
          </a:bodyPr>
          <a:lstStyle/>
          <a:p>
            <a:pPr algn="l"/>
            <a:r>
              <a:rPr sz="1340" b="1">
                <a:solidFill>
                  <a:srgbClr val="1365A5"/>
                </a:solidFill>
                <a:latin typeface="Bebas Neue"/>
              </a:rPr>
              <a:t>Word is central</a:t>
            </a:r>
          </a:p>
          <a:p>
            <a:pPr algn="l">
              <a:spcBef>
                <a:spcPts val="500"/>
              </a:spcBef>
            </a:pPr>
            <a:r>
              <a:rPr sz="1120" b="0">
                <a:solidFill>
                  <a:srgbClr val="111111"/>
                </a:solidFill>
                <a:latin typeface="Inter"/>
              </a:rPr>
              <a:t>Which word is central (most important)?</a:t>
            </a:r>
          </a:p>
        </p:txBody>
      </p:sp>
      <p:sp>
        <p:nvSpPr>
          <p:cNvPr id="16" name="Rounded Rectangle 15"/>
          <p:cNvSpPr/>
          <p:nvPr/>
        </p:nvSpPr>
        <p:spPr>
          <a:xfrm>
            <a:off x="457200" y="2694431"/>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71753" y="3121761"/>
            <a:ext cx="340156" cy="340156"/>
          </a:xfrm>
          <a:prstGeom prst="rect">
            <a:avLst/>
          </a:prstGeom>
        </p:spPr>
      </p:pic>
      <p:sp>
        <p:nvSpPr>
          <p:cNvPr id="19" name="TextBox 18"/>
          <p:cNvSpPr txBox="1"/>
          <p:nvPr/>
        </p:nvSpPr>
        <p:spPr>
          <a:xfrm>
            <a:off x="1408175" y="2767583"/>
            <a:ext cx="2254544" cy="1048512"/>
          </a:xfrm>
          <a:prstGeom prst="rect">
            <a:avLst/>
          </a:prstGeom>
          <a:noFill/>
        </p:spPr>
        <p:txBody>
          <a:bodyPr wrap="square" anchor="ctr" lIns="0" tIns="0" rIns="0" bIns="0">
            <a:spAutoFit/>
          </a:bodyPr>
          <a:lstStyle/>
          <a:p>
            <a:pPr algn="l"/>
            <a:r>
              <a:rPr sz="1120" b="0">
                <a:solidFill>
                  <a:srgbClr val="111111"/>
                </a:solidFill>
                <a:latin typeface="Inter"/>
              </a:rPr>
              <a:t>Noun phrases bundle determiners, adjectives, and modifiers together around a central head noun</a:t>
            </a:r>
          </a:p>
        </p:txBody>
      </p:sp>
      <p:sp>
        <p:nvSpPr>
          <p:cNvPr id="20" name="Rounded Rectangle 19"/>
          <p:cNvSpPr/>
          <p:nvPr/>
        </p:nvSpPr>
        <p:spPr>
          <a:xfrm>
            <a:off x="4065056" y="2694431"/>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266224"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7"/>
          <a:stretch>
            <a:fillRect/>
          </a:stretch>
        </p:blipFill>
        <p:spPr>
          <a:xfrm>
            <a:off x="4379610" y="3121761"/>
            <a:ext cx="340156" cy="340156"/>
          </a:xfrm>
          <a:prstGeom prst="rect">
            <a:avLst/>
          </a:prstGeom>
        </p:spPr>
      </p:pic>
      <p:sp>
        <p:nvSpPr>
          <p:cNvPr id="23" name="TextBox 22"/>
          <p:cNvSpPr txBox="1"/>
          <p:nvPr/>
        </p:nvSpPr>
        <p:spPr>
          <a:xfrm>
            <a:off x="5016032" y="2767583"/>
            <a:ext cx="2254544" cy="1048512"/>
          </a:xfrm>
          <a:prstGeom prst="rect">
            <a:avLst/>
          </a:prstGeom>
          <a:noFill/>
        </p:spPr>
        <p:txBody>
          <a:bodyPr wrap="square" anchor="ctr" lIns="0" tIns="0" rIns="0" bIns="0">
            <a:spAutoFit/>
          </a:bodyPr>
          <a:lstStyle/>
          <a:p>
            <a:pPr algn="l"/>
            <a:r>
              <a:rPr sz="1120" b="0">
                <a:solidFill>
                  <a:srgbClr val="111111"/>
                </a:solidFill>
                <a:latin typeface="Inter"/>
              </a:rPr>
              <a:t>Identifying the central word reveals what entity the entire phrase refers to</a:t>
            </a:r>
          </a:p>
        </p:txBody>
      </p:sp>
      <p:sp>
        <p:nvSpPr>
          <p:cNvPr id="24" name="Rounded Rectangle 23"/>
          <p:cNvSpPr/>
          <p:nvPr/>
        </p:nvSpPr>
        <p:spPr>
          <a:xfrm>
            <a:off x="457200" y="4090415"/>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8"/>
          <a:stretch>
            <a:fillRect/>
          </a:stretch>
        </p:blipFill>
        <p:spPr>
          <a:xfrm>
            <a:off x="771753" y="4517745"/>
            <a:ext cx="340156" cy="340156"/>
          </a:xfrm>
          <a:prstGeom prst="rect">
            <a:avLst/>
          </a:prstGeom>
        </p:spPr>
      </p:pic>
      <p:sp>
        <p:nvSpPr>
          <p:cNvPr id="27" name="TextBox 26"/>
          <p:cNvSpPr txBox="1"/>
          <p:nvPr/>
        </p:nvSpPr>
        <p:spPr>
          <a:xfrm>
            <a:off x="1408175" y="4163567"/>
            <a:ext cx="2254544" cy="1048512"/>
          </a:xfrm>
          <a:prstGeom prst="rect">
            <a:avLst/>
          </a:prstGeom>
          <a:noFill/>
        </p:spPr>
        <p:txBody>
          <a:bodyPr wrap="square" anchor="ctr" lIns="0" tIns="0" rIns="0" bIns="0">
            <a:spAutoFit/>
          </a:bodyPr>
          <a:lstStyle/>
          <a:p>
            <a:pPr algn="l"/>
            <a:r>
              <a:rPr sz="1320" b="1">
                <a:solidFill>
                  <a:srgbClr val="1365A5"/>
                </a:solidFill>
                <a:latin typeface="Bebas Neue"/>
              </a:rPr>
              <a:t>Surrounding modifiers provide</a:t>
            </a:r>
          </a:p>
          <a:p>
            <a:pPr algn="l">
              <a:spcBef>
                <a:spcPts val="500"/>
              </a:spcBef>
            </a:pPr>
            <a:r>
              <a:rPr sz="1100" b="0">
                <a:solidFill>
                  <a:srgbClr val="111111"/>
                </a:solidFill>
                <a:latin typeface="Inter"/>
              </a:rPr>
              <a:t>The surrounding modifiers provide descriptive details about that central element</a:t>
            </a:r>
          </a:p>
        </p:txBody>
      </p:sp>
      <p:sp>
        <p:nvSpPr>
          <p:cNvPr id="28" name="Rounded Rectangle 27"/>
          <p:cNvSpPr/>
          <p:nvPr/>
        </p:nvSpPr>
        <p:spPr>
          <a:xfrm>
            <a:off x="4065056" y="4090415"/>
            <a:ext cx="3406688"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66224"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9"/>
          <a:stretch>
            <a:fillRect/>
          </a:stretch>
        </p:blipFill>
        <p:spPr>
          <a:xfrm>
            <a:off x="4379610" y="4517745"/>
            <a:ext cx="340156" cy="340156"/>
          </a:xfrm>
          <a:prstGeom prst="rect">
            <a:avLst/>
          </a:prstGeom>
        </p:spPr>
      </p:pic>
      <p:sp>
        <p:nvSpPr>
          <p:cNvPr id="31" name="TextBox 30"/>
          <p:cNvSpPr txBox="1"/>
          <p:nvPr/>
        </p:nvSpPr>
        <p:spPr>
          <a:xfrm>
            <a:off x="5016032" y="4163567"/>
            <a:ext cx="2254544" cy="1048512"/>
          </a:xfrm>
          <a:prstGeom prst="rect">
            <a:avLst/>
          </a:prstGeom>
          <a:noFill/>
        </p:spPr>
        <p:txBody>
          <a:bodyPr wrap="square" anchor="ctr" lIns="0" tIns="0" rIns="0" bIns="0">
            <a:spAutoFit/>
          </a:bodyPr>
          <a:lstStyle/>
          <a:p>
            <a:pPr algn="l"/>
            <a:r>
              <a:rPr sz="1120" b="0">
                <a:solidFill>
                  <a:srgbClr val="111111"/>
                </a:solidFill>
                <a:latin typeface="Inter"/>
              </a:rPr>
              <a:t>Example: In morning flights, flights is the central word modified by morning</a:t>
            </a:r>
          </a:p>
        </p:txBody>
      </p:sp>
      <p:sp>
        <p:nvSpPr>
          <p:cNvPr id="32" name="Rounded Rectangle 3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Head word — The central word of a phrase that dictates its grammatical properties.</a:t>
            </a:r>
          </a:p>
        </p:txBody>
      </p:sp>
      <p:sp>
        <p:nvSpPr>
          <p:cNvPr id="33" name="Rectangle 3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Parse tree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191 / 229</a:t>
            </a:r>
          </a:p>
        </p:txBody>
      </p:sp>
      <p:sp>
        <p:nvSpPr>
          <p:cNvPr id="7" name="Rounded Rectangle 6"/>
          <p:cNvSpPr/>
          <p:nvPr/>
        </p:nvSpPr>
        <p:spPr>
          <a:xfrm>
            <a:off x="3008050" y="1298448"/>
            <a:ext cx="617285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3172642" y="1463040"/>
            <a:ext cx="5843667" cy="4773168"/>
          </a:xfrm>
          <a:prstGeom prst="rect">
            <a:avLst/>
          </a:prstGeom>
        </p:spPr>
      </p:pic>
    </p:spTree>
  </p:cSld>
  <p:clrMapOvr>
    <a:masterClrMapping/>
  </p:clrMapOvr>
  <p:transition spd="med">
    <p:zoom dir="in"/>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Parse tree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192 / 229</a:t>
            </a:r>
          </a:p>
        </p:txBody>
      </p:sp>
      <p:sp>
        <p:nvSpPr>
          <p:cNvPr id="7" name="Rounded Rectangle 6"/>
          <p:cNvSpPr/>
          <p:nvPr/>
        </p:nvSpPr>
        <p:spPr>
          <a:xfrm>
            <a:off x="2733040" y="1298448"/>
            <a:ext cx="672287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897632" y="1463040"/>
            <a:ext cx="6393688" cy="4773168"/>
          </a:xfrm>
          <a:prstGeom prst="rect">
            <a:avLst/>
          </a:prstGeom>
        </p:spPr>
      </p:pic>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Parse tree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193 / 229</a:t>
            </a:r>
          </a:p>
        </p:txBody>
      </p:sp>
      <p:sp>
        <p:nvSpPr>
          <p:cNvPr id="7" name="Rounded Rectangle 6"/>
          <p:cNvSpPr/>
          <p:nvPr/>
        </p:nvSpPr>
        <p:spPr>
          <a:xfrm>
            <a:off x="2212124" y="1298448"/>
            <a:ext cx="776470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376716" y="1463040"/>
            <a:ext cx="7435519" cy="4773168"/>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Parse tree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194 / 229</a:t>
            </a:r>
          </a:p>
        </p:txBody>
      </p:sp>
      <p:sp>
        <p:nvSpPr>
          <p:cNvPr id="7" name="Rounded Rectangle 6"/>
          <p:cNvSpPr/>
          <p:nvPr/>
        </p:nvSpPr>
        <p:spPr>
          <a:xfrm>
            <a:off x="2643440" y="1298448"/>
            <a:ext cx="6902071"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808032" y="1463040"/>
            <a:ext cx="6572887" cy="4773168"/>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Parse tree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195 / 229</a:t>
            </a:r>
          </a:p>
        </p:txBody>
      </p:sp>
      <p:sp>
        <p:nvSpPr>
          <p:cNvPr id="7" name="Rounded Rectangle 6"/>
          <p:cNvSpPr/>
          <p:nvPr/>
        </p:nvSpPr>
        <p:spPr>
          <a:xfrm>
            <a:off x="2743809" y="1298448"/>
            <a:ext cx="670133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908401" y="1463040"/>
            <a:ext cx="6372149" cy="4773168"/>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Parse tree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196 / 229</a:t>
            </a:r>
          </a:p>
        </p:txBody>
      </p:sp>
      <p:sp>
        <p:nvSpPr>
          <p:cNvPr id="7" name="Rounded Rectangle 6"/>
          <p:cNvSpPr/>
          <p:nvPr/>
        </p:nvSpPr>
        <p:spPr>
          <a:xfrm>
            <a:off x="2673284" y="1298448"/>
            <a:ext cx="6842383"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837876" y="1463040"/>
            <a:ext cx="6513199" cy="4773168"/>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Maximum likelihood estimation derives probabilistic rules from treebanks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197 / 229</a:t>
            </a:r>
          </a:p>
        </p:txBody>
      </p:sp>
      <p:sp>
        <p:nvSpPr>
          <p:cNvPr id="8" name="Rounded Rectangle 7">
            <a:hlinkClick r:id="rId5"/>
          </p:cNvPr>
          <p:cNvSpPr/>
          <p:nvPr/>
        </p:nvSpPr>
        <p:spPr>
          <a:xfrm>
            <a:off x="2894076" y="6455664"/>
            <a:ext cx="6400800"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Maximum Likelihood Estimation for Probabilistic Context-Free Grammars</a:t>
            </a:r>
          </a:p>
        </p:txBody>
      </p:sp>
      <p:sp>
        <p:nvSpPr>
          <p:cNvPr id="9" name="Rectangle 8"/>
          <p:cNvSpPr/>
          <p:nvPr/>
        </p:nvSpPr>
        <p:spPr>
          <a:xfrm>
            <a:off x="457200" y="1325880"/>
            <a:ext cx="73152" cy="956056"/>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1047496"/>
          </a:xfrm>
          <a:prstGeom prst="rect">
            <a:avLst/>
          </a:prstGeom>
          <a:noFill/>
        </p:spPr>
        <p:txBody>
          <a:bodyPr wrap="square" anchor="ctr" lIns="0" tIns="0" rIns="0" bIns="0">
            <a:spAutoFit/>
          </a:bodyPr>
          <a:lstStyle/>
          <a:p>
            <a:pPr algn="l"/>
            <a:r>
              <a:rPr sz="2400" b="1">
                <a:solidFill>
                  <a:srgbClr val="1365A5"/>
                </a:solidFill>
                <a:latin typeface="Bebas Neue"/>
              </a:rPr>
              <a:t>Training data: a set of parse trees ft),....t,,</a:t>
            </a:r>
          </a:p>
          <a:p>
            <a:pPr algn="l">
              <a:spcBef>
                <a:spcPts val="400"/>
              </a:spcBef>
            </a:pPr>
            <a:r>
              <a:rPr sz="1400" b="0">
                <a:solidFill>
                  <a:srgbClr val="111111"/>
                </a:solidFill>
                <a:latin typeface="Inter"/>
              </a:rPr>
              <a:t>Nis the set of all non-terminals seen in the trees</a:t>
            </a:r>
          </a:p>
          <a:p>
            <a:pPr algn="l">
              <a:spcBef>
                <a:spcPts val="400"/>
              </a:spcBef>
            </a:pPr>
            <a:r>
              <a:rPr sz="1400" b="0">
                <a:solidFill>
                  <a:srgbClr val="111111"/>
                </a:solidFill>
                <a:latin typeface="Inter"/>
              </a:rPr>
              <a:t>Is the set of all words seen in the trees</a:t>
            </a:r>
          </a:p>
        </p:txBody>
      </p:sp>
      <p:sp>
        <p:nvSpPr>
          <p:cNvPr id="11" name="Rounded Rectangle 10"/>
          <p:cNvSpPr/>
          <p:nvPr/>
        </p:nvSpPr>
        <p:spPr>
          <a:xfrm>
            <a:off x="457200" y="2547112"/>
            <a:ext cx="11274552" cy="1211342"/>
          </a:xfrm>
          <a:prstGeom prst="roundRect">
            <a:avLst>
              <a:gd name="adj" fmla="val 11624"/>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711704"/>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708046"/>
            <a:ext cx="10872216" cy="889473"/>
          </a:xfrm>
          <a:prstGeom prst="rect">
            <a:avLst/>
          </a:prstGeom>
          <a:noFill/>
        </p:spPr>
        <p:txBody>
          <a:bodyPr wrap="square" anchor="t" lIns="0" tIns="0" rIns="0" bIns="0">
            <a:spAutoFit/>
          </a:bodyPr>
          <a:lstStyle/>
          <a:p>
            <a:pPr algn="l"/>
            <a:r>
              <a:rPr sz="1880" b="1">
                <a:solidFill>
                  <a:srgbClr val="1365A5"/>
                </a:solidFill>
                <a:latin typeface="Bebas Neue"/>
              </a:rPr>
              <a:t>The maximum-likelihood parameter estimates are</a:t>
            </a:r>
          </a:p>
          <a:p>
            <a:pPr algn="l" marL="256032" indent="-256032" lvl="0">
              <a:spcBef>
                <a:spcPts val="700"/>
              </a:spcBef>
              <a:buClr>
                <a:srgbClr val="F76945"/>
              </a:buClr>
              <a:buFont typeface="Arial"/>
              <a:buChar char="•"/>
            </a:pPr>
            <a:r>
              <a:rPr sz="1500" b="0">
                <a:solidFill>
                  <a:srgbClr val="111111"/>
                </a:solidFill>
                <a:latin typeface="Inter"/>
              </a:rPr>
              <a:t>If we have seen the rule VP — Vt NP 105 times, and the the non-terminal VP 1000 times, g(VP — Vt NP) = 0.105</a:t>
            </a:r>
          </a:p>
        </p:txBody>
      </p:sp>
      <p:sp>
        <p:nvSpPr>
          <p:cNvPr id="14" name="Rounded Rectangle 13"/>
          <p:cNvSpPr/>
          <p:nvPr/>
        </p:nvSpPr>
        <p:spPr>
          <a:xfrm>
            <a:off x="457200" y="3959622"/>
            <a:ext cx="11274552" cy="1325609"/>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59622"/>
            <a:ext cx="73152" cy="1325609"/>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4032774"/>
            <a:ext cx="10879531" cy="1179305"/>
          </a:xfrm>
          <a:prstGeom prst="rect">
            <a:avLst/>
          </a:prstGeom>
          <a:noFill/>
        </p:spPr>
        <p:txBody>
          <a:bodyPr wrap="square" anchor="ctr" lIns="0" tIns="0" rIns="0" bIns="0">
            <a:spAutoFit/>
          </a:bodyPr>
          <a:lstStyle/>
          <a:p>
            <a:pPr algn="l"/>
            <a:r>
              <a:rPr sz="940" b="1">
                <a:solidFill>
                  <a:srgbClr val="F76945"/>
                </a:solidFill>
                <a:latin typeface="Bebas Neue"/>
              </a:rPr>
              <a:t>IN PLAIN WORDS</a:t>
            </a:r>
          </a:p>
          <a:p>
            <a:pPr algn="l">
              <a:spcBef>
                <a:spcPts val="300"/>
              </a:spcBef>
            </a:pPr>
            <a:r>
              <a:rPr sz="1300" b="0">
                <a:solidFill>
                  <a:srgbClr val="111111"/>
                </a:solidFill>
                <a:latin typeface="Inter"/>
              </a:rPr>
              <a:t>We can derive a probabilistic context-free grammar directly from a set of parsed training data trees. The process counts how often specific rules appear relative to their parent non-terminal. Maximum likelihood estimation then computes the probability for each grammar rule. For example, if VP expands to a verb and NP 105 out of 1000 times, its probability is 0.105.</a:t>
            </a:r>
          </a:p>
          <a:p>
            <a:pPr algn="l">
              <a:spcBef>
                <a:spcPts val="300"/>
              </a:spcBef>
            </a:pPr>
            <a:r>
              <a:rPr sz="1300" b="0">
                <a:solidFill>
                  <a:srgbClr val="111111"/>
                </a:solidFill>
                <a:latin typeface="Inter"/>
              </a:rPr>
              <a:t>Sis taken to be S. R is taken to be the set of all rules a &gt; seen in the trees</a:t>
            </a:r>
          </a:p>
        </p:txBody>
      </p:sp>
      <p:sp>
        <p:nvSpPr>
          <p:cNvPr id="17" name="Rounded Rectangle 1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Treebank — A parsed corpus of text containing annotated syntactic trees used as training data.</a:t>
            </a:r>
          </a:p>
        </p:txBody>
      </p:sp>
      <p:sp>
        <p:nvSpPr>
          <p:cNvPr id="18" name="Rectangle 1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CKY algorithm finds the highest scoring parse tree in Chomsky normal form</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198 / 229</a:t>
            </a:r>
          </a:p>
        </p:txBody>
      </p:sp>
      <p:sp>
        <p:nvSpPr>
          <p:cNvPr id="8" name="Rounded Rectangle 7">
            <a:hlinkClick r:id="rId5"/>
          </p:cNvPr>
          <p:cNvSpPr/>
          <p:nvPr/>
        </p:nvSpPr>
        <p:spPr>
          <a:xfrm>
            <a:off x="4044391" y="6455664"/>
            <a:ext cx="4100169"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CYK Parsing Lab</a:t>
            </a:r>
          </a:p>
        </p:txBody>
      </p:sp>
      <p:sp>
        <p:nvSpPr>
          <p:cNvPr id="9" name="Rectangle 8"/>
          <p:cNvSpPr/>
          <p:nvPr/>
        </p:nvSpPr>
        <p:spPr>
          <a:xfrm>
            <a:off x="457200" y="1325880"/>
            <a:ext cx="73152" cy="1340104"/>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1431544"/>
          </a:xfrm>
          <a:prstGeom prst="rect">
            <a:avLst/>
          </a:prstGeom>
          <a:noFill/>
        </p:spPr>
        <p:txBody>
          <a:bodyPr wrap="square" anchor="ctr" lIns="0" tIns="0" rIns="0" bIns="0">
            <a:spAutoFit/>
          </a:bodyPr>
          <a:lstStyle/>
          <a:p>
            <a:pPr algn="l"/>
            <a:r>
              <a:rPr sz="2400" b="1">
                <a:solidFill>
                  <a:srgbClr val="1365A5"/>
                </a:solidFill>
                <a:latin typeface="Bebas Neue"/>
              </a:rPr>
              <a:t>Given a sentence s and a PCFG, how to find the highest scoring parse tree for s?</a:t>
            </a:r>
          </a:p>
          <a:p>
            <a:pPr algn="l">
              <a:spcBef>
                <a:spcPts val="400"/>
              </a:spcBef>
            </a:pPr>
            <a:r>
              <a:rPr sz="1400" b="0">
                <a:solidFill>
                  <a:srgbClr val="111111"/>
                </a:solidFill>
                <a:latin typeface="Inter"/>
              </a:rPr>
              <a:t>The CKY algorithm: applies to a PCFG in Chomsky normal form (CNF)</a:t>
            </a:r>
          </a:p>
          <a:p>
            <a:pPr algn="l">
              <a:spcBef>
                <a:spcPts val="400"/>
              </a:spcBef>
            </a:pPr>
            <a:r>
              <a:rPr sz="1400" b="0">
                <a:solidFill>
                  <a:srgbClr val="111111"/>
                </a:solidFill>
                <a:latin typeface="Inter"/>
              </a:rPr>
              <a:t>It is possible to convert any PCFG into an equivalent grammar in CNF!</a:t>
            </a:r>
          </a:p>
        </p:txBody>
      </p:sp>
      <p:sp>
        <p:nvSpPr>
          <p:cNvPr id="11" name="Rounded Rectangle 10"/>
          <p:cNvSpPr/>
          <p:nvPr/>
        </p:nvSpPr>
        <p:spPr>
          <a:xfrm>
            <a:off x="457200" y="2931160"/>
            <a:ext cx="11274552" cy="602626"/>
          </a:xfrm>
          <a:prstGeom prst="roundRect">
            <a:avLst>
              <a:gd name="adj" fmla="val 2336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095752"/>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092094"/>
            <a:ext cx="10872216" cy="280757"/>
          </a:xfrm>
          <a:prstGeom prst="rect">
            <a:avLst/>
          </a:prstGeom>
          <a:noFill/>
        </p:spPr>
        <p:txBody>
          <a:bodyPr wrap="square" anchor="t" lIns="0" tIns="0" rIns="0" bIns="0">
            <a:spAutoFit/>
          </a:bodyPr>
          <a:lstStyle/>
          <a:p>
            <a:pPr algn="l"/>
            <a:r>
              <a:rPr sz="1250" b="1">
                <a:solidFill>
                  <a:srgbClr val="1365A5"/>
                </a:solidFill>
                <a:latin typeface="Bebas Neue"/>
              </a:rPr>
              <a:t>Chomsky Normal Form (CNF): all the rules take one of the two following forms</a:t>
            </a:r>
          </a:p>
          <a:p>
            <a:pPr algn="l" marL="256032" indent="-256032" lvl="0">
              <a:spcBef>
                <a:spcPts val="700"/>
              </a:spcBef>
              <a:buClr>
                <a:srgbClr val="F76945"/>
              </a:buClr>
              <a:buFont typeface="Arial"/>
              <a:buChar char="•"/>
            </a:pPr>
            <a:r>
              <a:rPr sz="1000" b="0">
                <a:solidFill>
                  <a:srgbClr val="111111"/>
                </a:solidFill>
                <a:latin typeface="Inter"/>
              </a:rPr>
              <a:t>X—&gt; YwhereX ENYEX</a:t>
            </a:r>
          </a:p>
        </p:txBody>
      </p:sp>
      <p:sp>
        <p:nvSpPr>
          <p:cNvPr id="14" name="Rounded Rectangle 13"/>
          <p:cNvSpPr/>
          <p:nvPr/>
        </p:nvSpPr>
        <p:spPr>
          <a:xfrm>
            <a:off x="457200" y="3734954"/>
            <a:ext cx="11274552" cy="1550277"/>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734954"/>
            <a:ext cx="73152" cy="1550277"/>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1286" y="3808106"/>
            <a:ext cx="10879531" cy="1403973"/>
          </a:xfrm>
          <a:prstGeom prst="rect">
            <a:avLst/>
          </a:prstGeom>
          <a:noFill/>
        </p:spPr>
        <p:txBody>
          <a:bodyPr wrap="square" anchor="ctr" lIns="0" tIns="0" rIns="0" bIns="0">
            <a:spAutoFit/>
          </a:bodyPr>
          <a:lstStyle/>
          <a:p>
            <a:pPr algn="l"/>
            <a:r>
              <a:rPr sz="940" b="1">
                <a:solidFill>
                  <a:srgbClr val="F76945"/>
                </a:solidFill>
                <a:latin typeface="Bebas Neue"/>
              </a:rPr>
              <a:t>IN PLAIN WORDS</a:t>
            </a:r>
          </a:p>
          <a:p>
            <a:pPr algn="l">
              <a:spcBef>
                <a:spcPts val="300"/>
              </a:spcBef>
            </a:pPr>
            <a:r>
              <a:rPr sz="1300" b="0">
                <a:solidFill>
                  <a:srgbClr val="111111"/>
                </a:solidFill>
                <a:latin typeface="Inter"/>
              </a:rPr>
              <a:t>The CKY algorithm efficiently finds the highest scoring parse tree for a sentence using a probabilistic context-free grammar. It requires the grammar to be in Chomsky normal form, where rules split into two non-terminals or a terminal. Any grammar can be converted into this form and later reversed. For example, parsing a sentence by filling a chart with valid binary constituent spans.</a:t>
            </a:r>
          </a:p>
          <a:p>
            <a:pPr algn="l">
              <a:spcBef>
                <a:spcPts val="300"/>
              </a:spcBef>
            </a:pPr>
            <a:r>
              <a:rPr sz="1300" b="0">
                <a:solidFill>
                  <a:srgbClr val="111111"/>
                </a:solidFill>
                <a:latin typeface="Inter"/>
              </a:rPr>
              <a:t>However, the trees will look differently; It is possible to do “reverse transformation”</a:t>
            </a:r>
          </a:p>
        </p:txBody>
      </p:sp>
      <p:sp>
        <p:nvSpPr>
          <p:cNvPr id="17" name="Rounded Rectangle 16"/>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Chomsky Normal Form — A restricted format where all grammar rules produce either two non-terminals or one terminal.</a:t>
            </a:r>
          </a:p>
        </p:txBody>
      </p:sp>
      <p:sp>
        <p:nvSpPr>
          <p:cNvPr id="18" name="Rectangle 17"/>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Parsing with PCFGs (continued)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199 / 229</a:t>
            </a:r>
          </a:p>
        </p:txBody>
      </p:sp>
      <p:sp>
        <p:nvSpPr>
          <p:cNvPr id="7" name="Rounded Rectangle 6"/>
          <p:cNvSpPr/>
          <p:nvPr/>
        </p:nvSpPr>
        <p:spPr>
          <a:xfrm>
            <a:off x="2369049" y="1298448"/>
            <a:ext cx="7450852" cy="5102352"/>
          </a:xfrm>
          <a:prstGeom prst="roundRect">
            <a:avLst>
              <a:gd name="adj" fmla="val 3000"/>
            </a:avLst>
          </a:prstGeom>
          <a:solidFill>
            <a:srgbClr val="FFFFFF"/>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2533641" y="1463040"/>
            <a:ext cx="7121668" cy="4773168"/>
          </a:xfrm>
          <a:prstGeom prst="rect">
            <a:avLst/>
          </a:prstGeom>
        </p:spPr>
      </p:pic>
    </p:spTree>
  </p:cSld>
  <p:clrMapOvr>
    <a:masterClrMapping/>
  </p:clrMapOvr>
  <p:transition spd="med">
    <p:zoom dir="in"/>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CYK algorithm determines if a given string belongs to a language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200 / 229</a:t>
            </a:r>
          </a:p>
        </p:txBody>
      </p:sp>
      <p:sp>
        <p:nvSpPr>
          <p:cNvPr id="8" name="Rounded Rectangle 7">
            <a:hlinkClick r:id="rId5"/>
          </p:cNvPr>
          <p:cNvSpPr/>
          <p:nvPr/>
        </p:nvSpPr>
        <p:spPr>
          <a:xfrm>
            <a:off x="4044391" y="6455664"/>
            <a:ext cx="4100169" cy="310896"/>
          </a:xfrm>
          <a:prstGeom prst="round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111111"/>
                </a:solidFill>
                <a:latin typeface="Bebas Neue"/>
              </a:rPr>
              <a:t>▶ Open the interactive lab: CYK Parsing Lab</a:t>
            </a:r>
          </a:p>
        </p:txBody>
      </p:sp>
      <p:sp>
        <p:nvSpPr>
          <p:cNvPr id="9" name="Rectangle 8"/>
          <p:cNvSpPr/>
          <p:nvPr/>
        </p:nvSpPr>
        <p:spPr>
          <a:xfrm>
            <a:off x="457200" y="1325880"/>
            <a:ext cx="73152" cy="36576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98448"/>
            <a:ext cx="11045952" cy="457200"/>
          </a:xfrm>
          <a:prstGeom prst="rect">
            <a:avLst/>
          </a:prstGeom>
          <a:noFill/>
        </p:spPr>
        <p:txBody>
          <a:bodyPr wrap="square" anchor="ctr" lIns="0" tIns="0" rIns="0" bIns="0">
            <a:spAutoFit/>
          </a:bodyPr>
          <a:lstStyle/>
          <a:p>
            <a:pPr algn="l"/>
            <a:r>
              <a:rPr sz="2400" b="1">
                <a:solidFill>
                  <a:srgbClr val="1365A5"/>
                </a:solidFill>
                <a:latin typeface="Bebas Neue"/>
              </a:rPr>
              <a:t>The membership problem</a:t>
            </a:r>
          </a:p>
        </p:txBody>
      </p:sp>
      <p:sp>
        <p:nvSpPr>
          <p:cNvPr id="11" name="Rounded Rectangle 10"/>
          <p:cNvSpPr/>
          <p:nvPr/>
        </p:nvSpPr>
        <p:spPr>
          <a:xfrm>
            <a:off x="457200" y="1956815"/>
            <a:ext cx="5536692" cy="2487065"/>
          </a:xfrm>
          <a:prstGeom prst="roundRect">
            <a:avLst>
              <a:gd name="adj" fmla="val 5661"/>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117750"/>
            <a:ext cx="5134355" cy="2165196"/>
          </a:xfrm>
          <a:prstGeom prst="rect">
            <a:avLst/>
          </a:prstGeom>
          <a:noFill/>
        </p:spPr>
        <p:txBody>
          <a:bodyPr wrap="square" anchor="t" lIns="0" tIns="0" rIns="0" bIns="0">
            <a:spAutoFit/>
          </a:bodyPr>
          <a:lstStyle/>
          <a:p>
            <a:pPr algn="l"/>
            <a:r>
              <a:rPr sz="1750" b="1">
                <a:solidFill>
                  <a:srgbClr val="1365A5"/>
                </a:solidFill>
                <a:latin typeface="Bebas Neue"/>
              </a:rPr>
              <a:t>Problem</a:t>
            </a:r>
          </a:p>
          <a:p>
            <a:pPr algn="l" marL="256032" indent="-256032" lvl="0">
              <a:spcBef>
                <a:spcPts val="700"/>
              </a:spcBef>
              <a:buClr>
                <a:srgbClr val="F76945"/>
              </a:buClr>
              <a:buFont typeface="Arial"/>
              <a:buChar char="•"/>
            </a:pPr>
            <a:r>
              <a:rPr sz="1400" b="0">
                <a:solidFill>
                  <a:srgbClr val="111111"/>
                </a:solidFill>
                <a:latin typeface="Inter"/>
              </a:rPr>
              <a:t>Given a context-free grammar G and a string w</a:t>
            </a:r>
          </a:p>
          <a:p>
            <a:pPr algn="l" marL="512064" indent="-219456" lvl="1">
              <a:spcBef>
                <a:spcPts val="300"/>
              </a:spcBef>
              <a:buClr>
                <a:srgbClr val="F76945"/>
              </a:buClr>
              <a:buFont typeface="Arial"/>
              <a:buChar char="–"/>
            </a:pPr>
            <a:r>
              <a:rPr sz="1260" b="0">
                <a:solidFill>
                  <a:srgbClr val="555555"/>
                </a:solidFill>
                <a:latin typeface="Inter"/>
              </a:rPr>
              <a:t>G = (V, ∑,P, S) where</a:t>
            </a:r>
          </a:p>
          <a:p>
            <a:pPr algn="l" marL="512064" indent="-219456" lvl="1">
              <a:spcBef>
                <a:spcPts val="300"/>
              </a:spcBef>
              <a:buClr>
                <a:srgbClr val="F76945"/>
              </a:buClr>
              <a:buFont typeface="Arial"/>
              <a:buChar char="–"/>
            </a:pPr>
            <a:r>
              <a:rPr sz="1260" b="0">
                <a:solidFill>
                  <a:srgbClr val="555555"/>
                </a:solidFill>
                <a:latin typeface="Inter"/>
              </a:rPr>
              <a:t>V finite set of variables</a:t>
            </a:r>
          </a:p>
          <a:p>
            <a:pPr algn="l" marL="512064" indent="-219456" lvl="1">
              <a:spcBef>
                <a:spcPts val="300"/>
              </a:spcBef>
              <a:buClr>
                <a:srgbClr val="F76945"/>
              </a:buClr>
              <a:buFont typeface="Arial"/>
              <a:buChar char="–"/>
            </a:pPr>
            <a:r>
              <a:rPr sz="1260" b="0">
                <a:solidFill>
                  <a:srgbClr val="555555"/>
                </a:solidFill>
                <a:latin typeface="Inter"/>
              </a:rPr>
              <a:t>» ∑(the alphabet) finite set of terminal symbols</a:t>
            </a:r>
          </a:p>
          <a:p>
            <a:pPr algn="l" marL="512064" indent="-219456" lvl="1">
              <a:spcBef>
                <a:spcPts val="300"/>
              </a:spcBef>
              <a:buClr>
                <a:srgbClr val="F76945"/>
              </a:buClr>
              <a:buFont typeface="Arial"/>
              <a:buChar char="–"/>
            </a:pPr>
            <a:r>
              <a:rPr sz="1260" b="0">
                <a:solidFill>
                  <a:srgbClr val="555555"/>
                </a:solidFill>
                <a:latin typeface="Inter"/>
              </a:rPr>
              <a:t>P finite set of rules</a:t>
            </a:r>
          </a:p>
          <a:p>
            <a:pPr algn="l" marL="512064" indent="-219456" lvl="1">
              <a:spcBef>
                <a:spcPts val="300"/>
              </a:spcBef>
              <a:buClr>
                <a:srgbClr val="F76945"/>
              </a:buClr>
              <a:buFont typeface="Arial"/>
              <a:buChar char="–"/>
            </a:pPr>
            <a:r>
              <a:rPr sz="1260" b="0">
                <a:solidFill>
                  <a:srgbClr val="555555"/>
                </a:solidFill>
                <a:latin typeface="Inter"/>
              </a:rPr>
              <a:t>S start symbol (distinguished element of V)</a:t>
            </a:r>
          </a:p>
          <a:p>
            <a:pPr algn="l" marL="256032" indent="-256032" lvl="0">
              <a:spcBef>
                <a:spcPts val="700"/>
              </a:spcBef>
              <a:buClr>
                <a:srgbClr val="F76945"/>
              </a:buClr>
              <a:buFont typeface="Arial"/>
              <a:buChar char="•"/>
            </a:pPr>
            <a:r>
              <a:rPr sz="1400" b="0">
                <a:solidFill>
                  <a:srgbClr val="111111"/>
                </a:solidFill>
                <a:latin typeface="Inter"/>
              </a:rPr>
              <a:t>+2 more</a:t>
            </a:r>
          </a:p>
        </p:txBody>
      </p:sp>
      <p:sp>
        <p:nvSpPr>
          <p:cNvPr id="14" name="Rounded Rectangle 13"/>
          <p:cNvSpPr/>
          <p:nvPr/>
        </p:nvSpPr>
        <p:spPr>
          <a:xfrm>
            <a:off x="6195059" y="1956815"/>
            <a:ext cx="5536692" cy="2487065"/>
          </a:xfrm>
          <a:prstGeom prst="roundRect">
            <a:avLst>
              <a:gd name="adj" fmla="val 5661"/>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5059" y="2121408"/>
            <a:ext cx="64008" cy="50292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96227" y="2117750"/>
            <a:ext cx="5134355" cy="2165196"/>
          </a:xfrm>
          <a:prstGeom prst="rect">
            <a:avLst/>
          </a:prstGeom>
          <a:noFill/>
        </p:spPr>
        <p:txBody>
          <a:bodyPr wrap="square" anchor="t" lIns="0" tIns="0" rIns="0" bIns="0">
            <a:spAutoFit/>
          </a:bodyPr>
          <a:lstStyle/>
          <a:p>
            <a:pPr algn="l"/>
            <a:r>
              <a:rPr sz="1750" b="1">
                <a:solidFill>
                  <a:srgbClr val="1365A5"/>
                </a:solidFill>
                <a:latin typeface="Bebas Neue"/>
              </a:rPr>
              <a:t>Question</a:t>
            </a:r>
          </a:p>
          <a:p>
            <a:pPr algn="l" marL="256032" indent="-256032" lvl="0">
              <a:spcBef>
                <a:spcPts val="700"/>
              </a:spcBef>
              <a:buClr>
                <a:srgbClr val="F76945"/>
              </a:buClr>
              <a:buFont typeface="Arial"/>
              <a:buChar char="•"/>
            </a:pPr>
            <a:r>
              <a:rPr sz="1400" b="0">
                <a:solidFill>
                  <a:srgbClr val="111111"/>
                </a:solidFill>
                <a:latin typeface="Inter"/>
              </a:rPr>
              <a:t>Is w in L(G)?</a:t>
            </a:r>
          </a:p>
        </p:txBody>
      </p:sp>
      <p:sp>
        <p:nvSpPr>
          <p:cNvPr id="17" name="Rounded Rectangle 16"/>
          <p:cNvSpPr/>
          <p:nvPr/>
        </p:nvSpPr>
        <p:spPr>
          <a:xfrm>
            <a:off x="457200" y="4645049"/>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checking if the string w can be generated by grammar G.</a:t>
            </a:r>
          </a:p>
        </p:txBody>
      </p:sp>
      <p:sp>
        <p:nvSpPr>
          <p:cNvPr id="20" name="Rounded Rectangle 19"/>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00">
                <a:solidFill>
                  <a:srgbClr val="1365A5"/>
                </a:solidFill>
                <a:latin typeface="Bebas Neue"/>
              </a:rPr>
              <a:t>Key terms:  </a:t>
            </a:r>
            <a:r>
              <a:rPr sz="1500" b="1">
                <a:solidFill>
                  <a:srgbClr val="111111"/>
                </a:solidFill>
                <a:latin typeface="Bebas Neue"/>
              </a:rPr>
              <a:t>Membership problem — Determining whether a specific string can be generated by a given context-free grammar.  ·  Context-free grammar — A formal grammar defined by variables, terminals, production rules, and a start symbol.</a:t>
            </a:r>
          </a:p>
        </p:txBody>
      </p:sp>
      <p:sp>
        <p:nvSpPr>
          <p:cNvPr id="21" name="Rectangle 20"/>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Cocke Younger and Kasami independently developed the CYK algorithm</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201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7216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85552"/>
            <a:ext cx="340156" cy="340156"/>
          </a:xfrm>
          <a:prstGeom prst="rect">
            <a:avLst/>
          </a:prstGeom>
        </p:spPr>
      </p:pic>
      <p:sp>
        <p:nvSpPr>
          <p:cNvPr id="11" name="TextBox 10"/>
          <p:cNvSpPr txBox="1"/>
          <p:nvPr/>
        </p:nvSpPr>
        <p:spPr>
          <a:xfrm>
            <a:off x="1408175" y="1371600"/>
            <a:ext cx="2689250" cy="768061"/>
          </a:xfrm>
          <a:prstGeom prst="rect">
            <a:avLst/>
          </a:prstGeom>
          <a:noFill/>
        </p:spPr>
        <p:txBody>
          <a:bodyPr wrap="square" anchor="ctr" lIns="0" tIns="0" rIns="0" bIns="0">
            <a:spAutoFit/>
          </a:bodyPr>
          <a:lstStyle/>
          <a:p>
            <a:pPr algn="l"/>
            <a:r>
              <a:rPr sz="1820" b="0">
                <a:solidFill>
                  <a:srgbClr val="111111"/>
                </a:solidFill>
                <a:latin typeface="Inter"/>
              </a:rPr>
              <a:t>J. Cocke</a:t>
            </a:r>
          </a:p>
        </p:txBody>
      </p:sp>
      <p:sp>
        <p:nvSpPr>
          <p:cNvPr id="12" name="Rounded Rectangle 11"/>
          <p:cNvSpPr/>
          <p:nvPr/>
        </p:nvSpPr>
        <p:spPr>
          <a:xfrm>
            <a:off x="4499762" y="1298448"/>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7216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85552"/>
            <a:ext cx="340156" cy="340156"/>
          </a:xfrm>
          <a:prstGeom prst="rect">
            <a:avLst/>
          </a:prstGeom>
        </p:spPr>
      </p:pic>
      <p:sp>
        <p:nvSpPr>
          <p:cNvPr id="15" name="TextBox 14"/>
          <p:cNvSpPr txBox="1"/>
          <p:nvPr/>
        </p:nvSpPr>
        <p:spPr>
          <a:xfrm>
            <a:off x="5450738" y="1371600"/>
            <a:ext cx="2689250" cy="768061"/>
          </a:xfrm>
          <a:prstGeom prst="rect">
            <a:avLst/>
          </a:prstGeom>
          <a:noFill/>
        </p:spPr>
        <p:txBody>
          <a:bodyPr wrap="square" anchor="ctr" lIns="0" tIns="0" rIns="0" bIns="0">
            <a:spAutoFit/>
          </a:bodyPr>
          <a:lstStyle/>
          <a:p>
            <a:pPr algn="l"/>
            <a:r>
              <a:rPr sz="1820" b="0">
                <a:solidFill>
                  <a:srgbClr val="111111"/>
                </a:solidFill>
                <a:latin typeface="Inter"/>
              </a:rPr>
              <a:t>D. Younger</a:t>
            </a:r>
          </a:p>
        </p:txBody>
      </p:sp>
      <p:sp>
        <p:nvSpPr>
          <p:cNvPr id="16" name="Rounded Rectangle 15"/>
          <p:cNvSpPr/>
          <p:nvPr/>
        </p:nvSpPr>
        <p:spPr>
          <a:xfrm>
            <a:off x="457200" y="2413981"/>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5877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701086"/>
            <a:ext cx="340156" cy="340156"/>
          </a:xfrm>
          <a:prstGeom prst="rect">
            <a:avLst/>
          </a:prstGeom>
        </p:spPr>
      </p:pic>
      <p:sp>
        <p:nvSpPr>
          <p:cNvPr id="19" name="TextBox 18"/>
          <p:cNvSpPr txBox="1"/>
          <p:nvPr/>
        </p:nvSpPr>
        <p:spPr>
          <a:xfrm>
            <a:off x="1408175" y="2487133"/>
            <a:ext cx="2689250" cy="768061"/>
          </a:xfrm>
          <a:prstGeom prst="rect">
            <a:avLst/>
          </a:prstGeom>
          <a:noFill/>
        </p:spPr>
        <p:txBody>
          <a:bodyPr wrap="square" anchor="ctr" lIns="0" tIns="0" rIns="0" bIns="0">
            <a:spAutoFit/>
          </a:bodyPr>
          <a:lstStyle/>
          <a:p>
            <a:pPr algn="l"/>
            <a:r>
              <a:rPr sz="1820" b="0">
                <a:solidFill>
                  <a:srgbClr val="111111"/>
                </a:solidFill>
                <a:latin typeface="Inter"/>
              </a:rPr>
              <a:t>T. Kasami</a:t>
            </a:r>
          </a:p>
        </p:txBody>
      </p:sp>
      <p:sp>
        <p:nvSpPr>
          <p:cNvPr id="20" name="Rounded Rectangle 19"/>
          <p:cNvSpPr/>
          <p:nvPr/>
        </p:nvSpPr>
        <p:spPr>
          <a:xfrm>
            <a:off x="4499762" y="2413981"/>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5877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701086"/>
            <a:ext cx="340156" cy="340156"/>
          </a:xfrm>
          <a:prstGeom prst="rect">
            <a:avLst/>
          </a:prstGeom>
        </p:spPr>
      </p:pic>
      <p:sp>
        <p:nvSpPr>
          <p:cNvPr id="23" name="TextBox 22"/>
          <p:cNvSpPr txBox="1"/>
          <p:nvPr/>
        </p:nvSpPr>
        <p:spPr>
          <a:xfrm>
            <a:off x="5450738" y="2487133"/>
            <a:ext cx="2689250" cy="768061"/>
          </a:xfrm>
          <a:prstGeom prst="rect">
            <a:avLst/>
          </a:prstGeom>
          <a:noFill/>
        </p:spPr>
        <p:txBody>
          <a:bodyPr wrap="square" anchor="ctr" lIns="0" tIns="0" rIns="0" bIns="0">
            <a:spAutoFit/>
          </a:bodyPr>
          <a:lstStyle/>
          <a:p>
            <a:pPr algn="l"/>
            <a:r>
              <a:rPr sz="1550" b="0">
                <a:solidFill>
                  <a:srgbClr val="111111"/>
                </a:solidFill>
                <a:latin typeface="Inter"/>
              </a:rPr>
              <a:t>Independently developed an algorithm to answer this question</a:t>
            </a:r>
          </a:p>
        </p:txBody>
      </p:sp>
      <p:sp>
        <p:nvSpPr>
          <p:cNvPr id="24" name="Rounded Rectangle 23"/>
          <p:cNvSpPr/>
          <p:nvPr/>
        </p:nvSpPr>
        <p:spPr>
          <a:xfrm>
            <a:off x="457200" y="3529515"/>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70323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816620"/>
            <a:ext cx="340156" cy="340156"/>
          </a:xfrm>
          <a:prstGeom prst="rect">
            <a:avLst/>
          </a:prstGeom>
        </p:spPr>
      </p:pic>
      <p:sp>
        <p:nvSpPr>
          <p:cNvPr id="27" name="TextBox 26"/>
          <p:cNvSpPr txBox="1"/>
          <p:nvPr/>
        </p:nvSpPr>
        <p:spPr>
          <a:xfrm>
            <a:off x="1408175" y="3602667"/>
            <a:ext cx="2689250" cy="768061"/>
          </a:xfrm>
          <a:prstGeom prst="rect">
            <a:avLst/>
          </a:prstGeom>
          <a:noFill/>
        </p:spPr>
        <p:txBody>
          <a:bodyPr wrap="square" anchor="ctr" lIns="0" tIns="0" rIns="0" bIns="0">
            <a:spAutoFit/>
          </a:bodyPr>
          <a:lstStyle/>
          <a:p>
            <a:pPr algn="l"/>
            <a:r>
              <a:rPr sz="1820" b="0">
                <a:solidFill>
                  <a:srgbClr val="111111"/>
                </a:solidFill>
                <a:latin typeface="Inter"/>
              </a:rPr>
              <a:t>Kasami independently created this method</a:t>
            </a:r>
          </a:p>
        </p:txBody>
      </p:sp>
      <p:sp>
        <p:nvSpPr>
          <p:cNvPr id="28" name="Rounded Rectangle 27"/>
          <p:cNvSpPr/>
          <p:nvPr/>
        </p:nvSpPr>
        <p:spPr>
          <a:xfrm>
            <a:off x="4499762" y="3529515"/>
            <a:ext cx="3841394" cy="914365"/>
          </a:xfrm>
          <a:prstGeom prst="roundRect">
            <a:avLst>
              <a:gd name="adj" fmla="val 1540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3703234"/>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3816620"/>
            <a:ext cx="340156" cy="340156"/>
          </a:xfrm>
          <a:prstGeom prst="rect">
            <a:avLst/>
          </a:prstGeom>
        </p:spPr>
      </p:pic>
      <p:sp>
        <p:nvSpPr>
          <p:cNvPr id="31" name="TextBox 30"/>
          <p:cNvSpPr txBox="1"/>
          <p:nvPr/>
        </p:nvSpPr>
        <p:spPr>
          <a:xfrm>
            <a:off x="5450738" y="3602667"/>
            <a:ext cx="2689250" cy="768061"/>
          </a:xfrm>
          <a:prstGeom prst="rect">
            <a:avLst/>
          </a:prstGeom>
          <a:noFill/>
        </p:spPr>
        <p:txBody>
          <a:bodyPr wrap="square" anchor="ctr" lIns="0" tIns="0" rIns="0" bIns="0">
            <a:spAutoFit/>
          </a:bodyPr>
          <a:lstStyle/>
          <a:p>
            <a:pPr algn="l"/>
            <a:r>
              <a:rPr sz="1380" b="1">
                <a:solidFill>
                  <a:srgbClr val="1365A5"/>
                </a:solidFill>
                <a:latin typeface="Bebas Neue"/>
              </a:rPr>
              <a:t>Answers whether</a:t>
            </a:r>
          </a:p>
          <a:p>
            <a:pPr algn="l">
              <a:spcBef>
                <a:spcPts val="500"/>
              </a:spcBef>
            </a:pPr>
            <a:r>
              <a:rPr sz="1150" b="0">
                <a:solidFill>
                  <a:srgbClr val="111111"/>
                </a:solidFill>
                <a:latin typeface="Inter"/>
              </a:rPr>
              <a:t>It answers whether a string belongs to a specific grammar language</a:t>
            </a:r>
          </a:p>
        </p:txBody>
      </p:sp>
      <p:sp>
        <p:nvSpPr>
          <p:cNvPr id="32" name="Rounded Rectangle 31"/>
          <p:cNvSpPr/>
          <p:nvPr/>
        </p:nvSpPr>
        <p:spPr>
          <a:xfrm>
            <a:off x="457200" y="4645049"/>
            <a:ext cx="7883956"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718201"/>
            <a:ext cx="7488935" cy="49387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Example: Three researchers independently solved the same parsing problem.</a:t>
            </a:r>
          </a:p>
        </p:txBody>
      </p:sp>
      <p:sp>
        <p:nvSpPr>
          <p:cNvPr id="35" name="Rounded Rectangle 3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CYK algorithm — An algorithm named after its creators to solve the membership problem.</a:t>
            </a:r>
          </a:p>
        </p:txBody>
      </p:sp>
      <p:sp>
        <p:nvSpPr>
          <p:cNvPr id="36" name="Rectangle 3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par>
                                <p:cTn id="85" presetID="10" presetClass="entr" presetSubtype="0" fill="hold"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par>
                                <p:cTn id="91" presetID="10" presetClass="entr" presetSubtype="0" fill="hold"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450"/>
                                        <p:tgtEl>
                                          <p:spTgt spid="34"/>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450"/>
                                        <p:tgtEl>
                                          <p:spTgt spid="35"/>
                                        </p:tgtEl>
                                      </p:cBhvr>
                                    </p:animEffect>
                                  </p:childTnLst>
                                </p:cTn>
                              </p:par>
                              <p:par>
                                <p:cTn id="99" presetID="10" presetClass="entr" presetSubtype="0" fill="hold"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CYK algorithm uses dynamic programming and Chomsky Normal Form rules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202 / 229</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5637276"/>
                <a:gridCol w="5637276"/>
              </a:tblGrid>
              <a:tr h="685800">
                <a:tc>
                  <a:txBody>
                    <a:bodyPr/>
                    <a:lstStyle/>
                    <a:p>
                      <a:pPr algn="l"/>
                      <a:r>
                        <a:rPr sz="2000" b="1">
                          <a:solidFill>
                            <a:srgbClr val="FFFFFF"/>
                          </a:solidFill>
                          <a:latin typeface="Bebas Neue"/>
                        </a:rPr>
                        <a:t>The</a:t>
                      </a:r>
                    </a:p>
                  </a:txBody>
                  <a:tcPr marL="146304" marR="146304" anchor="ctr">
                    <a:solidFill>
                      <a:srgbClr val="1365A5"/>
                    </a:solidFill>
                  </a:tcPr>
                </a:tc>
                <a:tc>
                  <a:txBody>
                    <a:bodyPr/>
                    <a:lstStyle/>
                    <a:p>
                      <a:pPr algn="l"/>
                      <a:r>
                        <a:rPr sz="2000" b="1">
                          <a:solidFill>
                            <a:srgbClr val="FFFFFF"/>
                          </a:solidFill>
                          <a:latin typeface="Bebas Neue"/>
                        </a:rPr>
                        <a:t>Chomsky</a:t>
                      </a:r>
                    </a:p>
                  </a:txBody>
                  <a:tcPr marL="146304" marR="146304" anchor="ctr">
                    <a:solidFill>
                      <a:srgbClr val="1365A5"/>
                    </a:solidFill>
                  </a:tcPr>
                </a:tc>
              </a:tr>
              <a:tr h="1051560">
                <a:tc>
                  <a:txBody>
                    <a:bodyPr/>
                    <a:lstStyle/>
                    <a:p>
                      <a:pPr algn="l"/>
                      <a:r>
                        <a:rPr sz="2000" b="1">
                          <a:solidFill>
                            <a:srgbClr val="1365A5"/>
                          </a:solidFill>
                          <a:latin typeface="Bebas Neue"/>
                        </a:rPr>
                        <a:t>Structure of the rules in a</a:t>
                      </a:r>
                    </a:p>
                  </a:txBody>
                  <a:tcPr marL="146304" marR="146304" anchor="ctr">
                    <a:solidFill>
                      <a:srgbClr val="F5F6F8"/>
                    </a:solidFill>
                  </a:tcPr>
                </a:tc>
                <a:tc>
                  <a:txBody>
                    <a:bodyPr/>
                    <a:lstStyle/>
                    <a:p>
                      <a:pPr algn="l"/>
                      <a:r>
                        <a:rPr sz="2000" b="0">
                          <a:solidFill>
                            <a:srgbClr val="111111"/>
                          </a:solidFill>
                          <a:latin typeface="Inter"/>
                        </a:rPr>
                        <a:t>Normal Form grammar</a:t>
                      </a:r>
                    </a:p>
                  </a:txBody>
                  <a:tcPr marL="146304" marR="146304" anchor="ctr">
                    <a:solidFill>
                      <a:srgbClr val="F5F6F8"/>
                    </a:solidFill>
                  </a:tcPr>
                </a:tc>
              </a:tr>
              <a:tr h="1051560">
                <a:tc>
                  <a:txBody>
                    <a:bodyPr/>
                    <a:lstStyle/>
                    <a:p>
                      <a:pPr algn="l"/>
                      <a:r>
                        <a:rPr sz="2000" b="1">
                          <a:solidFill>
                            <a:srgbClr val="1365A5"/>
                          </a:solidFill>
                          <a:latin typeface="Bebas Neue"/>
                        </a:rPr>
                        <a:t>It requires the grammar rules to follow a very specific structure known as</a:t>
                      </a:r>
                    </a:p>
                  </a:txBody>
                  <a:tcPr marL="146304" marR="146304" anchor="ctr">
                    <a:solidFill>
                      <a:srgbClr val="ECF2F7"/>
                    </a:solidFill>
                  </a:tcPr>
                </a:tc>
                <a:tc>
                  <a:txBody>
                    <a:bodyPr/>
                    <a:lstStyle/>
                    <a:p>
                      <a:pPr algn="l"/>
                      <a:r>
                        <a:rPr sz="2000" b="0">
                          <a:solidFill>
                            <a:srgbClr val="111111"/>
                          </a:solidFill>
                          <a:latin typeface="Inter"/>
                        </a:rPr>
                        <a:t>Normal Form</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050">
                <a:solidFill>
                  <a:srgbClr val="1365A5"/>
                </a:solidFill>
                <a:latin typeface="Bebas Neue"/>
              </a:rPr>
              <a:t>Key takeaway:  </a:t>
            </a:r>
            <a:r>
              <a:rPr sz="1050" b="0">
                <a:solidFill>
                  <a:srgbClr val="111111"/>
                </a:solidFill>
                <a:latin typeface="Inter"/>
              </a:rPr>
              <a:t>Key difference — The: Structure of the rules in a  |  Chomsky: Normal Form grammar</a:t>
            </a:r>
          </a:p>
          <a:p>
            <a:pPr algn="l"/>
            <a:r>
              <a:rPr b="1" sz="1050">
                <a:solidFill>
                  <a:srgbClr val="1365A5"/>
                </a:solidFill>
                <a:latin typeface="Bebas Neue"/>
              </a:rPr>
              <a:t>Key terms:  </a:t>
            </a:r>
            <a:r>
              <a:rPr sz="1050" b="0">
                <a:solidFill>
                  <a:srgbClr val="111111"/>
                </a:solidFill>
                <a:latin typeface="Inter"/>
              </a:rPr>
              <a:t>Dynamic programming — An algorithmic technique that solves complex problems by breaking them down into simpler subproblems.  ·  Chomsky Normal Form — A standardized format for context-free grammar rules.</a:t>
            </a:r>
          </a:p>
          <a:p>
            <a:pPr algn="l"/>
            <a:r>
              <a:rPr b="1" sz="1050">
                <a:solidFill>
                  <a:srgbClr val="1365A5"/>
                </a:solidFill>
                <a:latin typeface="Bebas Neue"/>
              </a:rPr>
              <a:t>Also in this lecture:  </a:t>
            </a:r>
            <a:r>
              <a:rPr sz="1050" b="0">
                <a:solidFill>
                  <a:srgbClr val="111111"/>
                </a:solidFill>
                <a:latin typeface="Inter"/>
              </a:rPr>
              <a:t>The CYK Algorithm correctly computes X i jfor all i and j; thus w is in L(G) if and only if S is in X1n.</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Chomsky normal form restricts grammar rules to specific production types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203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3841394" cy="819999"/>
          </a:xfrm>
          <a:prstGeom prst="roundRect">
            <a:avLst>
              <a:gd name="adj" fmla="val 1717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2498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538369"/>
            <a:ext cx="340156" cy="340156"/>
          </a:xfrm>
          <a:prstGeom prst="rect">
            <a:avLst/>
          </a:prstGeom>
        </p:spPr>
      </p:pic>
      <p:sp>
        <p:nvSpPr>
          <p:cNvPr id="11" name="TextBox 10"/>
          <p:cNvSpPr txBox="1"/>
          <p:nvPr/>
        </p:nvSpPr>
        <p:spPr>
          <a:xfrm>
            <a:off x="1408175" y="1371600"/>
            <a:ext cx="2689250" cy="673695"/>
          </a:xfrm>
          <a:prstGeom prst="rect">
            <a:avLst/>
          </a:prstGeom>
          <a:noFill/>
        </p:spPr>
        <p:txBody>
          <a:bodyPr wrap="square" anchor="ctr" lIns="0" tIns="0" rIns="0" bIns="0">
            <a:spAutoFit/>
          </a:bodyPr>
          <a:lstStyle/>
          <a:p>
            <a:pPr algn="l"/>
            <a:r>
              <a:rPr sz="1250" b="0">
                <a:solidFill>
                  <a:srgbClr val="111111"/>
                </a:solidFill>
                <a:latin typeface="Inter"/>
              </a:rPr>
              <a:t>Normal Form is described by a set of conditions that each rule in the grammar must satisfy</a:t>
            </a:r>
          </a:p>
        </p:txBody>
      </p:sp>
      <p:sp>
        <p:nvSpPr>
          <p:cNvPr id="12" name="Rounded Rectangle 11"/>
          <p:cNvSpPr/>
          <p:nvPr/>
        </p:nvSpPr>
        <p:spPr>
          <a:xfrm>
            <a:off x="4499762" y="1298448"/>
            <a:ext cx="3841394" cy="819999"/>
          </a:xfrm>
          <a:prstGeom prst="roundRect">
            <a:avLst>
              <a:gd name="adj" fmla="val 1717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424983"/>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538369"/>
            <a:ext cx="340156" cy="340156"/>
          </a:xfrm>
          <a:prstGeom prst="rect">
            <a:avLst/>
          </a:prstGeom>
        </p:spPr>
      </p:pic>
      <p:sp>
        <p:nvSpPr>
          <p:cNvPr id="15" name="TextBox 14"/>
          <p:cNvSpPr txBox="1"/>
          <p:nvPr/>
        </p:nvSpPr>
        <p:spPr>
          <a:xfrm>
            <a:off x="5450738" y="1371600"/>
            <a:ext cx="2689250" cy="673695"/>
          </a:xfrm>
          <a:prstGeom prst="rect">
            <a:avLst/>
          </a:prstGeom>
          <a:noFill/>
        </p:spPr>
        <p:txBody>
          <a:bodyPr wrap="square" anchor="ctr" lIns="0" tIns="0" rIns="0" bIns="0">
            <a:spAutoFit/>
          </a:bodyPr>
          <a:lstStyle/>
          <a:p>
            <a:pPr algn="l"/>
            <a:r>
              <a:rPr sz="1250" b="0">
                <a:solidFill>
                  <a:srgbClr val="111111"/>
                </a:solidFill>
                <a:latin typeface="Inter"/>
              </a:rPr>
              <a:t>Context-free grammar is in CNF if each rule has one of the following forms</a:t>
            </a:r>
          </a:p>
        </p:txBody>
      </p:sp>
      <p:sp>
        <p:nvSpPr>
          <p:cNvPr id="16" name="Rounded Rectangle 15"/>
          <p:cNvSpPr/>
          <p:nvPr/>
        </p:nvSpPr>
        <p:spPr>
          <a:xfrm>
            <a:off x="457200" y="2319615"/>
            <a:ext cx="3841394" cy="819999"/>
          </a:xfrm>
          <a:prstGeom prst="roundRect">
            <a:avLst>
              <a:gd name="adj" fmla="val 1717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244615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2559537"/>
            <a:ext cx="340156" cy="340156"/>
          </a:xfrm>
          <a:prstGeom prst="rect">
            <a:avLst/>
          </a:prstGeom>
        </p:spPr>
      </p:pic>
      <p:sp>
        <p:nvSpPr>
          <p:cNvPr id="19" name="TextBox 18"/>
          <p:cNvSpPr txBox="1"/>
          <p:nvPr/>
        </p:nvSpPr>
        <p:spPr>
          <a:xfrm>
            <a:off x="1408175" y="2392767"/>
            <a:ext cx="2689250" cy="673695"/>
          </a:xfrm>
          <a:prstGeom prst="rect">
            <a:avLst/>
          </a:prstGeom>
          <a:noFill/>
        </p:spPr>
        <p:txBody>
          <a:bodyPr wrap="square" anchor="ctr" lIns="0" tIns="0" rIns="0" bIns="0">
            <a:spAutoFit/>
          </a:bodyPr>
          <a:lstStyle/>
          <a:p>
            <a:pPr algn="l"/>
            <a:r>
              <a:rPr sz="1500" b="1">
                <a:solidFill>
                  <a:srgbClr val="1365A5"/>
                </a:solidFill>
                <a:latin typeface="Bebas Neue"/>
              </a:rPr>
              <a:t>→ BC</a:t>
            </a:r>
          </a:p>
          <a:p>
            <a:pPr algn="l">
              <a:spcBef>
                <a:spcPts val="500"/>
              </a:spcBef>
            </a:pPr>
            <a:r>
              <a:rPr sz="1250" b="0">
                <a:solidFill>
                  <a:srgbClr val="111111"/>
                </a:solidFill>
                <a:latin typeface="Inter"/>
              </a:rPr>
              <a:t>A → BC</a:t>
            </a:r>
          </a:p>
        </p:txBody>
      </p:sp>
      <p:sp>
        <p:nvSpPr>
          <p:cNvPr id="20" name="Rounded Rectangle 19"/>
          <p:cNvSpPr/>
          <p:nvPr/>
        </p:nvSpPr>
        <p:spPr>
          <a:xfrm>
            <a:off x="4499762" y="2319615"/>
            <a:ext cx="3841394" cy="819999"/>
          </a:xfrm>
          <a:prstGeom prst="roundRect">
            <a:avLst>
              <a:gd name="adj" fmla="val 1717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244615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2559537"/>
            <a:ext cx="340156" cy="340156"/>
          </a:xfrm>
          <a:prstGeom prst="rect">
            <a:avLst/>
          </a:prstGeom>
        </p:spPr>
      </p:pic>
      <p:sp>
        <p:nvSpPr>
          <p:cNvPr id="23" name="TextBox 22"/>
          <p:cNvSpPr txBox="1"/>
          <p:nvPr/>
        </p:nvSpPr>
        <p:spPr>
          <a:xfrm>
            <a:off x="5450738" y="2392767"/>
            <a:ext cx="2689250" cy="673695"/>
          </a:xfrm>
          <a:prstGeom prst="rect">
            <a:avLst/>
          </a:prstGeom>
          <a:noFill/>
        </p:spPr>
        <p:txBody>
          <a:bodyPr wrap="square" anchor="ctr" lIns="0" tIns="0" rIns="0" bIns="0">
            <a:spAutoFit/>
          </a:bodyPr>
          <a:lstStyle/>
          <a:p>
            <a:pPr algn="l"/>
            <a:r>
              <a:rPr sz="1500" b="1">
                <a:solidFill>
                  <a:srgbClr val="1365A5"/>
                </a:solidFill>
                <a:latin typeface="Bebas Neue"/>
              </a:rPr>
              <a:t>Most 2 symbols</a:t>
            </a:r>
          </a:p>
          <a:p>
            <a:pPr algn="l">
              <a:spcBef>
                <a:spcPts val="500"/>
              </a:spcBef>
            </a:pPr>
            <a:r>
              <a:rPr sz="1250" b="0">
                <a:solidFill>
                  <a:srgbClr val="111111"/>
                </a:solidFill>
                <a:latin typeface="Inter"/>
              </a:rPr>
              <a:t>at most 2 symbols on right side</a:t>
            </a:r>
          </a:p>
        </p:txBody>
      </p:sp>
      <p:sp>
        <p:nvSpPr>
          <p:cNvPr id="24" name="Rounded Rectangle 23"/>
          <p:cNvSpPr/>
          <p:nvPr/>
        </p:nvSpPr>
        <p:spPr>
          <a:xfrm>
            <a:off x="457200" y="3340783"/>
            <a:ext cx="7883956" cy="819999"/>
          </a:xfrm>
          <a:prstGeom prst="roundRect">
            <a:avLst>
              <a:gd name="adj" fmla="val 17172"/>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346731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3580705"/>
            <a:ext cx="340156" cy="340156"/>
          </a:xfrm>
          <a:prstGeom prst="rect">
            <a:avLst/>
          </a:prstGeom>
        </p:spPr>
      </p:pic>
      <p:sp>
        <p:nvSpPr>
          <p:cNvPr id="27" name="TextBox 26"/>
          <p:cNvSpPr txBox="1"/>
          <p:nvPr/>
        </p:nvSpPr>
        <p:spPr>
          <a:xfrm>
            <a:off x="1408175" y="3413935"/>
            <a:ext cx="6731812" cy="673695"/>
          </a:xfrm>
          <a:prstGeom prst="rect">
            <a:avLst/>
          </a:prstGeom>
          <a:noFill/>
        </p:spPr>
        <p:txBody>
          <a:bodyPr wrap="square" anchor="ctr" lIns="0" tIns="0" rIns="0" bIns="0">
            <a:spAutoFit/>
          </a:bodyPr>
          <a:lstStyle/>
          <a:p>
            <a:pPr algn="l"/>
            <a:r>
              <a:rPr sz="1250" b="0">
                <a:solidFill>
                  <a:srgbClr val="111111"/>
                </a:solidFill>
                <a:latin typeface="Inter"/>
              </a:rPr>
              <a:t>terminal symbol</a:t>
            </a:r>
          </a:p>
        </p:txBody>
      </p:sp>
      <p:sp>
        <p:nvSpPr>
          <p:cNvPr id="28" name="Rounded Rectangle 27"/>
          <p:cNvSpPr/>
          <p:nvPr/>
        </p:nvSpPr>
        <p:spPr>
          <a:xfrm>
            <a:off x="457200" y="4361951"/>
            <a:ext cx="7883956" cy="923280"/>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361951"/>
            <a:ext cx="73152" cy="92328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1286" y="4435103"/>
            <a:ext cx="7488935" cy="776976"/>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rule A -&gt; BC converts a variable into two other variables.</a:t>
            </a:r>
          </a:p>
          <a:p>
            <a:pPr algn="l">
              <a:spcBef>
                <a:spcPts val="300"/>
              </a:spcBef>
            </a:pPr>
            <a:r>
              <a:rPr sz="1400" b="0">
                <a:solidFill>
                  <a:srgbClr val="111111"/>
                </a:solidFill>
                <a:latin typeface="Inter"/>
              </a:rPr>
              <a:t>null string where B, C Є V – {S}</a:t>
            </a:r>
          </a:p>
        </p:txBody>
      </p:sp>
      <p:sp>
        <p:nvSpPr>
          <p:cNvPr id="31" name="Rounded Rectangle 30"/>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550">
                <a:solidFill>
                  <a:srgbClr val="1365A5"/>
                </a:solidFill>
                <a:latin typeface="Bebas Neue"/>
              </a:rPr>
              <a:t>Key terms:  </a:t>
            </a:r>
            <a:r>
              <a:rPr sz="1550" b="1">
                <a:solidFill>
                  <a:srgbClr val="111111"/>
                </a:solidFill>
                <a:latin typeface="Bebas Neue"/>
              </a:rPr>
              <a:t>cnf — PCFG in Chomsky normal form  ·  Terminal symbol — An elementary symbol of a language that cannot be changed by production rules.  ·  Null string — The empty string represented by lambda.</a:t>
            </a:r>
          </a:p>
        </p:txBody>
      </p:sp>
      <p:sp>
        <p:nvSpPr>
          <p:cNvPr id="32" name="Rectangle 31"/>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50"/>
                                        <p:tgtEl>
                                          <p:spTgt spid="31"/>
                                        </p:tgtEl>
                                      </p:cBhvr>
                                    </p:animEffect>
                                  </p:childTnLst>
                                </p:cTn>
                              </p:par>
                              <p:par>
                                <p:cTn id="87" presetID="10" presetClass="entr" presetSubtype="0" fill="hold"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CYK algorithm builds a triangular table where each row represents substring lengths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204 / 229</a:t>
            </a:r>
          </a:p>
        </p:txBody>
      </p:sp>
      <p:sp>
        <p:nvSpPr>
          <p:cNvPr id="8" name="Rounded Rectangle 7"/>
          <p:cNvSpPr/>
          <p:nvPr/>
        </p:nvSpPr>
        <p:spPr>
          <a:xfrm>
            <a:off x="457200" y="1298448"/>
            <a:ext cx="11274552" cy="532526"/>
          </a:xfrm>
          <a:prstGeom prst="roundRect">
            <a:avLst>
              <a:gd name="adj" fmla="val 9272"/>
            </a:avLst>
          </a:prstGeom>
          <a:solidFill>
            <a:srgbClr val="CFE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353312"/>
            <a:ext cx="2958442" cy="422798"/>
          </a:xfrm>
          <a:prstGeom prst="rect">
            <a:avLst/>
          </a:prstGeom>
          <a:noFill/>
        </p:spPr>
        <p:txBody>
          <a:bodyPr wrap="square" anchor="ctr" lIns="0" tIns="0" rIns="0" bIns="0">
            <a:spAutoFit/>
          </a:bodyPr>
          <a:lstStyle/>
          <a:p>
            <a:pPr algn="l"/>
            <a:r>
              <a:rPr sz="2100" b="1">
                <a:solidFill>
                  <a:srgbClr val="101424"/>
                </a:solidFill>
                <a:latin typeface="Bebas Neue"/>
              </a:rPr>
              <a:t>Bottom Row –</a:t>
            </a:r>
          </a:p>
        </p:txBody>
      </p:sp>
      <p:sp>
        <p:nvSpPr>
          <p:cNvPr id="10" name="TextBox 9"/>
          <p:cNvSpPr txBox="1"/>
          <p:nvPr/>
        </p:nvSpPr>
        <p:spPr>
          <a:xfrm>
            <a:off x="3817978" y="1353312"/>
            <a:ext cx="7712605" cy="422798"/>
          </a:xfrm>
          <a:prstGeom prst="rect">
            <a:avLst/>
          </a:prstGeom>
          <a:noFill/>
        </p:spPr>
        <p:txBody>
          <a:bodyPr wrap="square" anchor="ctr" lIns="0" tIns="0" rIns="0" bIns="0">
            <a:spAutoFit/>
          </a:bodyPr>
          <a:lstStyle/>
          <a:p>
            <a:pPr algn="l"/>
            <a:r>
              <a:rPr sz="1200" b="0">
                <a:solidFill>
                  <a:srgbClr val="101424"/>
                </a:solidFill>
                <a:latin typeface="Inter"/>
              </a:rPr>
              <a:t>Bottom Row – Strings of length 1</a:t>
            </a:r>
          </a:p>
        </p:txBody>
      </p:sp>
      <p:sp>
        <p:nvSpPr>
          <p:cNvPr id="11" name="Rounded Rectangle 10"/>
          <p:cNvSpPr/>
          <p:nvPr/>
        </p:nvSpPr>
        <p:spPr>
          <a:xfrm>
            <a:off x="710877" y="1951674"/>
            <a:ext cx="10767197" cy="532526"/>
          </a:xfrm>
          <a:prstGeom prst="roundRect">
            <a:avLst>
              <a:gd name="adj" fmla="val 9272"/>
            </a:avLst>
          </a:prstGeom>
          <a:solidFill>
            <a:srgbClr val="A0C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2045" y="2006538"/>
            <a:ext cx="2958442" cy="422798"/>
          </a:xfrm>
          <a:prstGeom prst="rect">
            <a:avLst/>
          </a:prstGeom>
          <a:noFill/>
        </p:spPr>
        <p:txBody>
          <a:bodyPr wrap="square" anchor="ctr" lIns="0" tIns="0" rIns="0" bIns="0">
            <a:spAutoFit/>
          </a:bodyPr>
          <a:lstStyle/>
          <a:p>
            <a:pPr algn="l"/>
            <a:r>
              <a:rPr sz="2100" b="1">
                <a:solidFill>
                  <a:srgbClr val="101424"/>
                </a:solidFill>
                <a:latin typeface="Bebas Neue"/>
              </a:rPr>
              <a:t>Top Row –</a:t>
            </a:r>
          </a:p>
        </p:txBody>
      </p:sp>
      <p:sp>
        <p:nvSpPr>
          <p:cNvPr id="13" name="TextBox 12"/>
          <p:cNvSpPr txBox="1"/>
          <p:nvPr/>
        </p:nvSpPr>
        <p:spPr>
          <a:xfrm>
            <a:off x="4071655" y="2006538"/>
            <a:ext cx="7205250" cy="422798"/>
          </a:xfrm>
          <a:prstGeom prst="rect">
            <a:avLst/>
          </a:prstGeom>
          <a:noFill/>
        </p:spPr>
        <p:txBody>
          <a:bodyPr wrap="square" anchor="ctr" lIns="0" tIns="0" rIns="0" bIns="0">
            <a:spAutoFit/>
          </a:bodyPr>
          <a:lstStyle/>
          <a:p>
            <a:pPr algn="l"/>
            <a:r>
              <a:rPr sz="1200" b="0">
                <a:solidFill>
                  <a:srgbClr val="101424"/>
                </a:solidFill>
                <a:latin typeface="Inter"/>
              </a:rPr>
              <a:t>Top Row – string ‘w’</a:t>
            </a:r>
          </a:p>
        </p:txBody>
      </p:sp>
      <p:sp>
        <p:nvSpPr>
          <p:cNvPr id="14" name="Rounded Rectangle 13"/>
          <p:cNvSpPr/>
          <p:nvPr/>
        </p:nvSpPr>
        <p:spPr>
          <a:xfrm>
            <a:off x="964554" y="2604901"/>
            <a:ext cx="10259842" cy="532526"/>
          </a:xfrm>
          <a:prstGeom prst="roundRect">
            <a:avLst>
              <a:gd name="adj" fmla="val 9272"/>
            </a:avLst>
          </a:prstGeom>
          <a:solidFill>
            <a:srgbClr val="71A2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5722" y="2659765"/>
            <a:ext cx="2958442" cy="422798"/>
          </a:xfrm>
          <a:prstGeom prst="rect">
            <a:avLst/>
          </a:prstGeom>
          <a:noFill/>
        </p:spPr>
        <p:txBody>
          <a:bodyPr wrap="square" anchor="ctr" lIns="0" tIns="0" rIns="0" bIns="0">
            <a:spAutoFit/>
          </a:bodyPr>
          <a:lstStyle/>
          <a:p>
            <a:pPr algn="l"/>
            <a:r>
              <a:rPr sz="2100" b="1">
                <a:solidFill>
                  <a:srgbClr val="101424"/>
                </a:solidFill>
                <a:latin typeface="Bebas Neue"/>
              </a:rPr>
              <a:t>The table organizes</a:t>
            </a:r>
          </a:p>
        </p:txBody>
      </p:sp>
      <p:sp>
        <p:nvSpPr>
          <p:cNvPr id="16" name="TextBox 15"/>
          <p:cNvSpPr txBox="1"/>
          <p:nvPr/>
        </p:nvSpPr>
        <p:spPr>
          <a:xfrm>
            <a:off x="4325333" y="2659765"/>
            <a:ext cx="6697895" cy="422798"/>
          </a:xfrm>
          <a:prstGeom prst="rect">
            <a:avLst/>
          </a:prstGeom>
          <a:noFill/>
        </p:spPr>
        <p:txBody>
          <a:bodyPr wrap="square" anchor="ctr" lIns="0" tIns="0" rIns="0" bIns="0">
            <a:spAutoFit/>
          </a:bodyPr>
          <a:lstStyle/>
          <a:p>
            <a:pPr algn="l"/>
            <a:r>
              <a:rPr sz="1200" b="0">
                <a:solidFill>
                  <a:srgbClr val="101424"/>
                </a:solidFill>
                <a:latin typeface="Inter"/>
              </a:rPr>
              <a:t>The table organizes intermediate results systematically</a:t>
            </a:r>
          </a:p>
        </p:txBody>
      </p:sp>
      <p:sp>
        <p:nvSpPr>
          <p:cNvPr id="17" name="Rounded Rectangle 16"/>
          <p:cNvSpPr/>
          <p:nvPr/>
        </p:nvSpPr>
        <p:spPr>
          <a:xfrm>
            <a:off x="1218232" y="3258128"/>
            <a:ext cx="9752487" cy="532526"/>
          </a:xfrm>
          <a:prstGeom prst="roundRect">
            <a:avLst>
              <a:gd name="adj" fmla="val 9272"/>
            </a:avLst>
          </a:prstGeom>
          <a:solidFill>
            <a:srgbClr val="4283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19400" y="3312992"/>
            <a:ext cx="2958442" cy="422798"/>
          </a:xfrm>
          <a:prstGeom prst="rect">
            <a:avLst/>
          </a:prstGeom>
          <a:noFill/>
        </p:spPr>
        <p:txBody>
          <a:bodyPr wrap="square" anchor="ctr" lIns="0" tIns="0" rIns="0" bIns="0">
            <a:spAutoFit/>
          </a:bodyPr>
          <a:lstStyle/>
          <a:p>
            <a:pPr algn="l"/>
            <a:r>
              <a:rPr sz="2100" b="1">
                <a:solidFill>
                  <a:srgbClr val="FFFFFF"/>
                </a:solidFill>
                <a:latin typeface="Bebas Neue"/>
              </a:rPr>
              <a:t>The bottom row</a:t>
            </a:r>
          </a:p>
        </p:txBody>
      </p:sp>
      <p:sp>
        <p:nvSpPr>
          <p:cNvPr id="19" name="TextBox 18"/>
          <p:cNvSpPr txBox="1"/>
          <p:nvPr/>
        </p:nvSpPr>
        <p:spPr>
          <a:xfrm>
            <a:off x="4579010" y="3312992"/>
            <a:ext cx="6190541" cy="422798"/>
          </a:xfrm>
          <a:prstGeom prst="rect">
            <a:avLst/>
          </a:prstGeom>
          <a:noFill/>
        </p:spPr>
        <p:txBody>
          <a:bodyPr wrap="square" anchor="ctr" lIns="0" tIns="0" rIns="0" bIns="0">
            <a:spAutoFit/>
          </a:bodyPr>
          <a:lstStyle/>
          <a:p>
            <a:pPr algn="l"/>
            <a:r>
              <a:rPr sz="1200" b="0">
                <a:solidFill>
                  <a:srgbClr val="FFFFFF"/>
                </a:solidFill>
                <a:latin typeface="Inter"/>
              </a:rPr>
              <a:t>The bottom row handles length-one substrings, while the top row tests the full string</a:t>
            </a:r>
          </a:p>
        </p:txBody>
      </p:sp>
      <p:sp>
        <p:nvSpPr>
          <p:cNvPr id="20" name="Rounded Rectangle 19"/>
          <p:cNvSpPr/>
          <p:nvPr/>
        </p:nvSpPr>
        <p:spPr>
          <a:xfrm>
            <a:off x="1471909" y="3911355"/>
            <a:ext cx="9245132" cy="532526"/>
          </a:xfrm>
          <a:prstGeom prst="roundRect">
            <a:avLst>
              <a:gd name="adj" fmla="val 9272"/>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73077" y="3966219"/>
            <a:ext cx="2958442" cy="422798"/>
          </a:xfrm>
          <a:prstGeom prst="rect">
            <a:avLst/>
          </a:prstGeom>
          <a:noFill/>
        </p:spPr>
        <p:txBody>
          <a:bodyPr wrap="square" anchor="ctr" lIns="0" tIns="0" rIns="0" bIns="0">
            <a:spAutoFit/>
          </a:bodyPr>
          <a:lstStyle/>
          <a:p>
            <a:pPr algn="l"/>
            <a:r>
              <a:rPr sz="2100" b="1">
                <a:solidFill>
                  <a:srgbClr val="FFFFFF"/>
                </a:solidFill>
                <a:latin typeface="Bebas Neue"/>
              </a:rPr>
              <a:t>Example</a:t>
            </a:r>
          </a:p>
        </p:txBody>
      </p:sp>
      <p:sp>
        <p:nvSpPr>
          <p:cNvPr id="22" name="TextBox 21"/>
          <p:cNvSpPr txBox="1"/>
          <p:nvPr/>
        </p:nvSpPr>
        <p:spPr>
          <a:xfrm>
            <a:off x="4832688" y="3966219"/>
            <a:ext cx="5683186" cy="422798"/>
          </a:xfrm>
          <a:prstGeom prst="rect">
            <a:avLst/>
          </a:prstGeom>
          <a:noFill/>
        </p:spPr>
        <p:txBody>
          <a:bodyPr wrap="square" anchor="ctr" lIns="0" tIns="0" rIns="0" bIns="0">
            <a:spAutoFit/>
          </a:bodyPr>
          <a:lstStyle/>
          <a:p>
            <a:pPr algn="l"/>
            <a:r>
              <a:rPr sz="1200" b="0">
                <a:solidFill>
                  <a:srgbClr val="FFFFFF"/>
                </a:solidFill>
                <a:latin typeface="Inter"/>
              </a:rPr>
              <a:t>Example: A pyramid-shaped table where the peak represents the full input string</a:t>
            </a:r>
          </a:p>
        </p:txBody>
      </p:sp>
      <p:sp>
        <p:nvSpPr>
          <p:cNvPr id="23" name="Rounded Rectangle 22"/>
          <p:cNvSpPr/>
          <p:nvPr/>
        </p:nvSpPr>
        <p:spPr>
          <a:xfrm>
            <a:off x="457200" y="4645049"/>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Each row corresponds to one length of substrings</a:t>
            </a:r>
          </a:p>
        </p:txBody>
      </p:sp>
      <p:sp>
        <p:nvSpPr>
          <p:cNvPr id="26" name="Rounded Rectangle 25"/>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300">
                <a:solidFill>
                  <a:srgbClr val="1365A5"/>
                </a:solidFill>
                <a:latin typeface="Bebas Neue"/>
              </a:rPr>
              <a:t>Key takeaway:  </a:t>
            </a:r>
            <a:r>
              <a:rPr sz="1300" b="0">
                <a:solidFill>
                  <a:srgbClr val="111111"/>
                </a:solidFill>
                <a:latin typeface="Inter"/>
              </a:rPr>
              <a:t>5 levels, from bottom row – to example.</a:t>
            </a:r>
          </a:p>
          <a:p>
            <a:pPr algn="l"/>
            <a:r>
              <a:rPr b="1" sz="1300">
                <a:solidFill>
                  <a:srgbClr val="1365A5"/>
                </a:solidFill>
                <a:latin typeface="Bebas Neue"/>
              </a:rPr>
              <a:t>Key terms:  </a:t>
            </a:r>
            <a:r>
              <a:rPr sz="1300" b="0">
                <a:solidFill>
                  <a:srgbClr val="111111"/>
                </a:solidFill>
                <a:latin typeface="Inter"/>
              </a:rPr>
              <a:t>Triangular table — A tabular structure used in CYK parsing to store sets of variables for substrings.</a:t>
            </a:r>
          </a:p>
        </p:txBody>
      </p:sp>
      <p:sp>
        <p:nvSpPr>
          <p:cNvPr id="27" name="Rectangle 26"/>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Table construction compares pairs of previously computed sets using grammar productions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205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7"/>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725777"/>
            <a:ext cx="340156" cy="340156"/>
          </a:xfrm>
          <a:prstGeom prst="rect">
            <a:avLst/>
          </a:prstGeom>
        </p:spPr>
      </p:pic>
      <p:sp>
        <p:nvSpPr>
          <p:cNvPr id="11" name="TextBox 10"/>
          <p:cNvSpPr txBox="1"/>
          <p:nvPr/>
        </p:nvSpPr>
        <p:spPr>
          <a:xfrm>
            <a:off x="1408175" y="1371599"/>
            <a:ext cx="2689250" cy="1048512"/>
          </a:xfrm>
          <a:prstGeom prst="rect">
            <a:avLst/>
          </a:prstGeom>
          <a:noFill/>
        </p:spPr>
        <p:txBody>
          <a:bodyPr wrap="square" anchor="ctr" lIns="0" tIns="0" rIns="0" bIns="0">
            <a:spAutoFit/>
          </a:bodyPr>
          <a:lstStyle/>
          <a:p>
            <a:pPr algn="l"/>
            <a:r>
              <a:rPr sz="1250" b="0">
                <a:solidFill>
                  <a:srgbClr val="111111"/>
                </a:solidFill>
                <a:latin typeface="Inter"/>
              </a:rPr>
              <a:t>CONSTRUCT A TRIANGULAR TABLE</a:t>
            </a:r>
          </a:p>
        </p:txBody>
      </p:sp>
      <p:sp>
        <p:nvSpPr>
          <p:cNvPr id="12" name="Rounded Rectangle 11"/>
          <p:cNvSpPr/>
          <p:nvPr/>
        </p:nvSpPr>
        <p:spPr>
          <a:xfrm>
            <a:off x="4499762" y="1298447"/>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0930" y="1612391"/>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814315" y="1725777"/>
            <a:ext cx="340156" cy="340156"/>
          </a:xfrm>
          <a:prstGeom prst="rect">
            <a:avLst/>
          </a:prstGeom>
        </p:spPr>
      </p:pic>
      <p:sp>
        <p:nvSpPr>
          <p:cNvPr id="15" name="TextBox 14"/>
          <p:cNvSpPr txBox="1"/>
          <p:nvPr/>
        </p:nvSpPr>
        <p:spPr>
          <a:xfrm>
            <a:off x="5450738" y="1371599"/>
            <a:ext cx="2689250" cy="1048512"/>
          </a:xfrm>
          <a:prstGeom prst="rect">
            <a:avLst/>
          </a:prstGeom>
          <a:noFill/>
        </p:spPr>
        <p:txBody>
          <a:bodyPr wrap="square" anchor="ctr" lIns="0" tIns="0" rIns="0" bIns="0">
            <a:spAutoFit/>
          </a:bodyPr>
          <a:lstStyle/>
          <a:p>
            <a:pPr algn="l"/>
            <a:r>
              <a:rPr sz="1250" b="0">
                <a:solidFill>
                  <a:srgbClr val="111111"/>
                </a:solidFill>
                <a:latin typeface="Inter"/>
              </a:rPr>
              <a:t>Xi, i is the set of variables A such that</a:t>
            </a:r>
          </a:p>
        </p:txBody>
      </p:sp>
      <p:sp>
        <p:nvSpPr>
          <p:cNvPr id="16" name="Rounded Rectangle 15"/>
          <p:cNvSpPr/>
          <p:nvPr/>
        </p:nvSpPr>
        <p:spPr>
          <a:xfrm>
            <a:off x="457200" y="2694431"/>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121761"/>
            <a:ext cx="340156" cy="340156"/>
          </a:xfrm>
          <a:prstGeom prst="rect">
            <a:avLst/>
          </a:prstGeom>
        </p:spPr>
      </p:pic>
      <p:sp>
        <p:nvSpPr>
          <p:cNvPr id="19" name="TextBox 18"/>
          <p:cNvSpPr txBox="1"/>
          <p:nvPr/>
        </p:nvSpPr>
        <p:spPr>
          <a:xfrm>
            <a:off x="1408175" y="2767583"/>
            <a:ext cx="2689250" cy="1048512"/>
          </a:xfrm>
          <a:prstGeom prst="rect">
            <a:avLst/>
          </a:prstGeom>
          <a:noFill/>
        </p:spPr>
        <p:txBody>
          <a:bodyPr wrap="square" anchor="ctr" lIns="0" tIns="0" rIns="0" bIns="0">
            <a:spAutoFit/>
          </a:bodyPr>
          <a:lstStyle/>
          <a:p>
            <a:pPr algn="l"/>
            <a:r>
              <a:rPr sz="1250" b="0">
                <a:solidFill>
                  <a:srgbClr val="111111"/>
                </a:solidFill>
                <a:latin typeface="Inter"/>
              </a:rPr>
              <a:t>Compare at most n pairs of previously computed sets: (Xi, i, Xi+1, j), (Xi, i+1, Xi+2, j) … (Xi, j-1, Xj, j)</a:t>
            </a:r>
          </a:p>
        </p:txBody>
      </p:sp>
      <p:sp>
        <p:nvSpPr>
          <p:cNvPr id="20" name="Rounded Rectangle 19"/>
          <p:cNvSpPr/>
          <p:nvPr/>
        </p:nvSpPr>
        <p:spPr>
          <a:xfrm>
            <a:off x="4499762" y="2694431"/>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700930" y="300837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814315" y="3121761"/>
            <a:ext cx="340156" cy="340156"/>
          </a:xfrm>
          <a:prstGeom prst="rect">
            <a:avLst/>
          </a:prstGeom>
        </p:spPr>
      </p:pic>
      <p:sp>
        <p:nvSpPr>
          <p:cNvPr id="23" name="TextBox 22"/>
          <p:cNvSpPr txBox="1"/>
          <p:nvPr/>
        </p:nvSpPr>
        <p:spPr>
          <a:xfrm>
            <a:off x="5450738" y="2767583"/>
            <a:ext cx="2689250" cy="1048512"/>
          </a:xfrm>
          <a:prstGeom prst="rect">
            <a:avLst/>
          </a:prstGeom>
          <a:noFill/>
        </p:spPr>
        <p:txBody>
          <a:bodyPr wrap="square" anchor="ctr" lIns="0" tIns="0" rIns="0" bIns="0">
            <a:spAutoFit/>
          </a:bodyPr>
          <a:lstStyle/>
          <a:p>
            <a:pPr algn="l"/>
            <a:r>
              <a:rPr sz="1250" b="0">
                <a:solidFill>
                  <a:srgbClr val="111111"/>
                </a:solidFill>
                <a:latin typeface="Inter"/>
              </a:rPr>
              <a:t>Each table entry stores variables that generate specific substrings</a:t>
            </a:r>
          </a:p>
        </p:txBody>
      </p:sp>
      <p:sp>
        <p:nvSpPr>
          <p:cNvPr id="24" name="Rounded Rectangle 23"/>
          <p:cNvSpPr/>
          <p:nvPr/>
        </p:nvSpPr>
        <p:spPr>
          <a:xfrm>
            <a:off x="457200" y="4090415"/>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4517745"/>
            <a:ext cx="340156" cy="340156"/>
          </a:xfrm>
          <a:prstGeom prst="rect">
            <a:avLst/>
          </a:prstGeom>
        </p:spPr>
      </p:pic>
      <p:sp>
        <p:nvSpPr>
          <p:cNvPr id="27" name="TextBox 26"/>
          <p:cNvSpPr txBox="1"/>
          <p:nvPr/>
        </p:nvSpPr>
        <p:spPr>
          <a:xfrm>
            <a:off x="1408175" y="4163567"/>
            <a:ext cx="2689250" cy="1048512"/>
          </a:xfrm>
          <a:prstGeom prst="rect">
            <a:avLst/>
          </a:prstGeom>
          <a:noFill/>
        </p:spPr>
        <p:txBody>
          <a:bodyPr wrap="square" anchor="ctr" lIns="0" tIns="0" rIns="0" bIns="0">
            <a:spAutoFit/>
          </a:bodyPr>
          <a:lstStyle/>
          <a:p>
            <a:pPr algn="l"/>
            <a:r>
              <a:rPr sz="1500" b="1">
                <a:solidFill>
                  <a:srgbClr val="1365A5"/>
                </a:solidFill>
                <a:latin typeface="Bebas Neue"/>
              </a:rPr>
              <a:t>Algorithm compares pairs</a:t>
            </a:r>
          </a:p>
          <a:p>
            <a:pPr algn="l">
              <a:spcBef>
                <a:spcPts val="500"/>
              </a:spcBef>
            </a:pPr>
            <a:r>
              <a:rPr sz="1250" b="0">
                <a:solidFill>
                  <a:srgbClr val="111111"/>
                </a:solidFill>
                <a:latin typeface="Inter"/>
              </a:rPr>
              <a:t>The algorithm compares pairs of earlier sets to find matching production rules</a:t>
            </a:r>
          </a:p>
        </p:txBody>
      </p:sp>
      <p:sp>
        <p:nvSpPr>
          <p:cNvPr id="28" name="Rounded Rectangle 27"/>
          <p:cNvSpPr/>
          <p:nvPr/>
        </p:nvSpPr>
        <p:spPr>
          <a:xfrm>
            <a:off x="4499762" y="4090415"/>
            <a:ext cx="3841394" cy="1194816"/>
          </a:xfrm>
          <a:prstGeom prst="roundRect">
            <a:avLst>
              <a:gd name="adj" fmla="val 11785"/>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700930" y="440436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814315" y="4517745"/>
            <a:ext cx="340156" cy="340156"/>
          </a:xfrm>
          <a:prstGeom prst="rect">
            <a:avLst/>
          </a:prstGeom>
        </p:spPr>
      </p:pic>
      <p:sp>
        <p:nvSpPr>
          <p:cNvPr id="31" name="TextBox 30"/>
          <p:cNvSpPr txBox="1"/>
          <p:nvPr/>
        </p:nvSpPr>
        <p:spPr>
          <a:xfrm>
            <a:off x="5450738" y="4163567"/>
            <a:ext cx="2689250" cy="1048512"/>
          </a:xfrm>
          <a:prstGeom prst="rect">
            <a:avLst/>
          </a:prstGeom>
          <a:noFill/>
        </p:spPr>
        <p:txBody>
          <a:bodyPr wrap="square" anchor="ctr" lIns="0" tIns="0" rIns="0" bIns="0">
            <a:spAutoFit/>
          </a:bodyPr>
          <a:lstStyle/>
          <a:p>
            <a:pPr algn="l"/>
            <a:r>
              <a:rPr sz="1250" b="0">
                <a:solidFill>
                  <a:srgbClr val="111111"/>
                </a:solidFill>
                <a:latin typeface="Inter"/>
              </a:rPr>
              <a:t>Example: Combining sets from smaller adjacent spans to test a larger span</a:t>
            </a:r>
          </a:p>
        </p:txBody>
      </p:sp>
      <p:sp>
        <p:nvSpPr>
          <p:cNvPr id="32" name="Rounded Rectangle 31"/>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Production — A rewrite rule in a formal grammar that replaces variables with other symbols.</a:t>
            </a:r>
          </a:p>
        </p:txBody>
      </p:sp>
      <p:sp>
        <p:nvSpPr>
          <p:cNvPr id="33" name="Rectangle 32"/>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par>
                                <p:cTn id="71" presetID="10"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450"/>
                                        <p:tgtEl>
                                          <p:spTgt spid="32"/>
                                        </p:tgtEl>
                                      </p:cBhvr>
                                    </p:animEffect>
                                  </p:childTnLst>
                                </p:cTn>
                              </p:par>
                              <p:par>
                                <p:cTn id="88" presetID="10"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4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 A TRIANGULAR TABLE (1/2)</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206 / 229</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X 1, 5</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825246">
                <a:tc>
                  <a:txBody>
                    <a:bodyPr/>
                    <a:lstStyle/>
                    <a:p>
                      <a:pPr algn="l"/>
                      <a:r>
                        <a:rPr sz="2000" b="1">
                          <a:solidFill>
                            <a:srgbClr val="1365A5"/>
                          </a:solidFill>
                          <a:latin typeface="Bebas Neue"/>
                        </a:rPr>
                        <a:t>X 1, 4</a:t>
                      </a:r>
                    </a:p>
                  </a:txBody>
                  <a:tcPr marL="146304" marR="146304" anchor="ctr">
                    <a:solidFill>
                      <a:srgbClr val="F5F6F8"/>
                    </a:solidFill>
                  </a:tcPr>
                </a:tc>
                <a:tc>
                  <a:txBody>
                    <a:bodyPr/>
                    <a:lstStyle/>
                    <a:p>
                      <a:pPr algn="l"/>
                      <a:r>
                        <a:rPr sz="2000" b="0">
                          <a:solidFill>
                            <a:srgbClr val="111111"/>
                          </a:solidFill>
                          <a:latin typeface="Inter"/>
                        </a:rPr>
                        <a:t>X 2, 5</a:t>
                      </a:r>
                    </a:p>
                  </a:txBody>
                  <a:tcPr marL="146304" marR="146304" anchor="ctr">
                    <a:solidFill>
                      <a:srgbClr val="F5F6F8"/>
                    </a:solidFill>
                  </a:tcPr>
                </a:tc>
                <a:tc>
                  <a:txBody>
                    <a:bodyPr/>
                    <a:lstStyle/>
                    <a:p>
                      <a:pPr algn="l"/>
                    </a:p>
                  </a:txBody>
                  <a:tcPr marL="146304" marR="146304" anchor="ctr">
                    <a:solidFill>
                      <a:srgbClr val="F5F6F8"/>
                    </a:solidFill>
                  </a:tcPr>
                </a:tc>
                <a:tc>
                  <a:txBody>
                    <a:bodyPr/>
                    <a:lstStyle/>
                    <a:p>
                      <a:pPr algn="l"/>
                    </a:p>
                  </a:txBody>
                  <a:tcPr marL="146304" marR="146304" anchor="ctr">
                    <a:solidFill>
                      <a:srgbClr val="F5F6F8"/>
                    </a:solidFill>
                  </a:tcPr>
                </a:tc>
                <a:tc>
                  <a:txBody>
                    <a:bodyPr/>
                    <a:lstStyle/>
                    <a:p>
                      <a:pPr algn="l"/>
                    </a:p>
                  </a:txBody>
                  <a:tcPr marL="146304" marR="146304" anchor="ctr">
                    <a:solidFill>
                      <a:srgbClr val="F5F6F8"/>
                    </a:solidFill>
                  </a:tcPr>
                </a:tc>
              </a:tr>
              <a:tr h="825246">
                <a:tc>
                  <a:txBody>
                    <a:bodyPr/>
                    <a:lstStyle/>
                    <a:p>
                      <a:pPr algn="l"/>
                      <a:r>
                        <a:rPr sz="2000" b="1">
                          <a:solidFill>
                            <a:srgbClr val="1365A5"/>
                          </a:solidFill>
                          <a:latin typeface="Bebas Neue"/>
                        </a:rPr>
                        <a:t>X 1, 3</a:t>
                      </a:r>
                    </a:p>
                  </a:txBody>
                  <a:tcPr marL="146304" marR="146304" anchor="ctr">
                    <a:solidFill>
                      <a:srgbClr val="ECF2F7"/>
                    </a:solidFill>
                  </a:tcPr>
                </a:tc>
                <a:tc>
                  <a:txBody>
                    <a:bodyPr/>
                    <a:lstStyle/>
                    <a:p>
                      <a:pPr algn="l"/>
                      <a:r>
                        <a:rPr sz="2000" b="0">
                          <a:solidFill>
                            <a:srgbClr val="111111"/>
                          </a:solidFill>
                          <a:latin typeface="Inter"/>
                        </a:rPr>
                        <a:t>X 2, 4</a:t>
                      </a:r>
                    </a:p>
                  </a:txBody>
                  <a:tcPr marL="146304" marR="146304" anchor="ctr">
                    <a:solidFill>
                      <a:srgbClr val="ECF2F7"/>
                    </a:solidFill>
                  </a:tcPr>
                </a:tc>
                <a:tc>
                  <a:txBody>
                    <a:bodyPr/>
                    <a:lstStyle/>
                    <a:p>
                      <a:pPr algn="l"/>
                      <a:r>
                        <a:rPr sz="2000" b="0">
                          <a:solidFill>
                            <a:srgbClr val="111111"/>
                          </a:solidFill>
                          <a:latin typeface="Inter"/>
                        </a:rPr>
                        <a:t>X 3, 5</a:t>
                      </a:r>
                    </a:p>
                  </a:txBody>
                  <a:tcPr marL="146304" marR="146304" anchor="ctr">
                    <a:solidFill>
                      <a:srgbClr val="ECF2F7"/>
                    </a:solidFill>
                  </a:tcPr>
                </a:tc>
                <a:tc>
                  <a:txBody>
                    <a:bodyPr/>
                    <a:lstStyle/>
                    <a:p>
                      <a:pPr algn="l"/>
                    </a:p>
                  </a:txBody>
                  <a:tcPr marL="146304" marR="146304" anchor="ctr">
                    <a:solidFill>
                      <a:srgbClr val="ECF2F7"/>
                    </a:solidFill>
                  </a:tcPr>
                </a:tc>
                <a:tc>
                  <a:txBody>
                    <a:bodyPr/>
                    <a:lstStyle/>
                    <a:p>
                      <a:pPr algn="l"/>
                    </a:p>
                  </a:txBody>
                  <a:tcPr marL="146304" marR="146304" anchor="ctr">
                    <a:solidFill>
                      <a:srgbClr val="ECF2F7"/>
                    </a:solidFill>
                  </a:tcPr>
                </a:tc>
              </a:tr>
              <a:tr h="825246">
                <a:tc>
                  <a:txBody>
                    <a:bodyPr/>
                    <a:lstStyle/>
                    <a:p>
                      <a:pPr algn="l"/>
                      <a:r>
                        <a:rPr sz="2000" b="1">
                          <a:solidFill>
                            <a:srgbClr val="1365A5"/>
                          </a:solidFill>
                          <a:latin typeface="Bebas Neue"/>
                        </a:rPr>
                        <a:t>X 1, 2</a:t>
                      </a:r>
                    </a:p>
                  </a:txBody>
                  <a:tcPr marL="146304" marR="146304" anchor="ctr">
                    <a:solidFill>
                      <a:srgbClr val="F5F6F8"/>
                    </a:solidFill>
                  </a:tcPr>
                </a:tc>
                <a:tc>
                  <a:txBody>
                    <a:bodyPr/>
                    <a:lstStyle/>
                    <a:p>
                      <a:pPr algn="l"/>
                      <a:r>
                        <a:rPr sz="2000" b="0">
                          <a:solidFill>
                            <a:srgbClr val="111111"/>
                          </a:solidFill>
                          <a:latin typeface="Inter"/>
                        </a:rPr>
                        <a:t>X 2, 3</a:t>
                      </a:r>
                    </a:p>
                  </a:txBody>
                  <a:tcPr marL="146304" marR="146304" anchor="ctr">
                    <a:solidFill>
                      <a:srgbClr val="F5F6F8"/>
                    </a:solidFill>
                  </a:tcPr>
                </a:tc>
                <a:tc>
                  <a:txBody>
                    <a:bodyPr/>
                    <a:lstStyle/>
                    <a:p>
                      <a:pPr algn="l"/>
                      <a:r>
                        <a:rPr sz="2000" b="0">
                          <a:solidFill>
                            <a:srgbClr val="111111"/>
                          </a:solidFill>
                          <a:latin typeface="Inter"/>
                        </a:rPr>
                        <a:t>X 3, 4</a:t>
                      </a:r>
                    </a:p>
                  </a:txBody>
                  <a:tcPr marL="146304" marR="146304" anchor="ctr">
                    <a:solidFill>
                      <a:srgbClr val="F5F6F8"/>
                    </a:solidFill>
                  </a:tcPr>
                </a:tc>
                <a:tc>
                  <a:txBody>
                    <a:bodyPr/>
                    <a:lstStyle/>
                    <a:p>
                      <a:pPr algn="l"/>
                      <a:r>
                        <a:rPr sz="2000" b="0">
                          <a:solidFill>
                            <a:srgbClr val="111111"/>
                          </a:solidFill>
                          <a:latin typeface="Inter"/>
                        </a:rPr>
                        <a:t>X 4, 5</a:t>
                      </a:r>
                    </a:p>
                  </a:txBody>
                  <a:tcPr marL="146304" marR="146304" anchor="ctr">
                    <a:solidFill>
                      <a:srgbClr val="F5F6F8"/>
                    </a:solidFill>
                  </a:tcPr>
                </a:tc>
                <a:tc>
                  <a:txBody>
                    <a:bodyPr/>
                    <a:lstStyle/>
                    <a:p>
                      <a:pPr algn="l"/>
                    </a:p>
                  </a:txBody>
                  <a:tcPr marL="146304" marR="146304" anchor="ctr">
                    <a:solidFill>
                      <a:srgbClr val="F5F6F8"/>
                    </a:solidFill>
                  </a:tcPr>
                </a:tc>
              </a:tr>
              <a:tr h="825246">
                <a:tc>
                  <a:txBody>
                    <a:bodyPr/>
                    <a:lstStyle/>
                    <a:p>
                      <a:pPr algn="l"/>
                      <a:r>
                        <a:rPr sz="2000" b="1">
                          <a:solidFill>
                            <a:srgbClr val="1365A5"/>
                          </a:solidFill>
                          <a:latin typeface="Bebas Neue"/>
                        </a:rPr>
                        <a:t>X 1, 1</a:t>
                      </a:r>
                    </a:p>
                  </a:txBody>
                  <a:tcPr marL="146304" marR="146304" anchor="ctr">
                    <a:solidFill>
                      <a:srgbClr val="ECF2F7"/>
                    </a:solidFill>
                  </a:tcPr>
                </a:tc>
                <a:tc>
                  <a:txBody>
                    <a:bodyPr/>
                    <a:lstStyle/>
                    <a:p>
                      <a:pPr algn="l"/>
                      <a:r>
                        <a:rPr sz="2000" b="0">
                          <a:solidFill>
                            <a:srgbClr val="111111"/>
                          </a:solidFill>
                          <a:latin typeface="Inter"/>
                        </a:rPr>
                        <a:t>X 2, 2</a:t>
                      </a:r>
                    </a:p>
                  </a:txBody>
                  <a:tcPr marL="146304" marR="146304" anchor="ctr">
                    <a:solidFill>
                      <a:srgbClr val="ECF2F7"/>
                    </a:solidFill>
                  </a:tcPr>
                </a:tc>
                <a:tc>
                  <a:txBody>
                    <a:bodyPr/>
                    <a:lstStyle/>
                    <a:p>
                      <a:pPr algn="l"/>
                      <a:r>
                        <a:rPr sz="2000" b="0">
                          <a:solidFill>
                            <a:srgbClr val="111111"/>
                          </a:solidFill>
                          <a:latin typeface="Inter"/>
                        </a:rPr>
                        <a:t>X 3, 3</a:t>
                      </a:r>
                    </a:p>
                  </a:txBody>
                  <a:tcPr marL="146304" marR="146304" anchor="ctr">
                    <a:solidFill>
                      <a:srgbClr val="ECF2F7"/>
                    </a:solidFill>
                  </a:tcPr>
                </a:tc>
                <a:tc>
                  <a:txBody>
                    <a:bodyPr/>
                    <a:lstStyle/>
                    <a:p>
                      <a:pPr algn="l"/>
                      <a:r>
                        <a:rPr sz="2000" b="0">
                          <a:solidFill>
                            <a:srgbClr val="111111"/>
                          </a:solidFill>
                          <a:latin typeface="Inter"/>
                        </a:rPr>
                        <a:t>X 4, 4</a:t>
                      </a:r>
                    </a:p>
                  </a:txBody>
                  <a:tcPr marL="146304" marR="146304" anchor="ctr">
                    <a:solidFill>
                      <a:srgbClr val="ECF2F7"/>
                    </a:solidFill>
                  </a:tcPr>
                </a:tc>
                <a:tc>
                  <a:txBody>
                    <a:bodyPr/>
                    <a:lstStyle/>
                    <a:p>
                      <a:pPr algn="l"/>
                      <a:r>
                        <a:rPr sz="2000" b="0">
                          <a:solidFill>
                            <a:srgbClr val="111111"/>
                          </a:solidFill>
                          <a:latin typeface="Inter"/>
                        </a:rPr>
                        <a:t>X 5, 5</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4 rows · X 1, 5</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 A TRIANGULAR TABLE (2/2)</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207 / 229</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1879092"/>
                <a:gridCol w="1879092"/>
                <a:gridCol w="1879092"/>
                <a:gridCol w="1879092"/>
                <a:gridCol w="1879092"/>
                <a:gridCol w="1879092"/>
              </a:tblGrid>
              <a:tr h="685800">
                <a:tc>
                  <a:txBody>
                    <a:bodyPr/>
                    <a:lstStyle/>
                    <a:p>
                      <a:pPr algn="l"/>
                      <a:r>
                        <a:rPr sz="2000" b="1">
                          <a:solidFill>
                            <a:srgbClr val="FFFFFF"/>
                          </a:solidFill>
                          <a:latin typeface="Bebas Neue"/>
                        </a:rPr>
                        <a:t>X 1, 5</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825246">
                <a:tc>
                  <a:txBody>
                    <a:bodyPr/>
                    <a:lstStyle/>
                    <a:p>
                      <a:pPr algn="l"/>
                      <a:r>
                        <a:rPr sz="2000" b="1">
                          <a:solidFill>
                            <a:srgbClr val="1365A5"/>
                          </a:solidFill>
                          <a:latin typeface="Bebas Neue"/>
                        </a:rPr>
                        <a:t>X 1,</a:t>
                      </a:r>
                    </a:p>
                  </a:txBody>
                  <a:tcPr marL="146304" marR="146304" anchor="ctr">
                    <a:solidFill>
                      <a:srgbClr val="F5F6F8"/>
                    </a:solidFill>
                  </a:tcPr>
                </a:tc>
                <a:tc>
                  <a:txBody>
                    <a:bodyPr/>
                    <a:lstStyle/>
                    <a:p>
                      <a:pPr algn="l"/>
                      <a:r>
                        <a:rPr sz="2000" b="0">
                          <a:solidFill>
                            <a:srgbClr val="111111"/>
                          </a:solidFill>
                          <a:latin typeface="Inter"/>
                        </a:rPr>
                        <a:t>4</a:t>
                      </a:r>
                    </a:p>
                  </a:txBody>
                  <a:tcPr marL="146304" marR="146304" anchor="ctr">
                    <a:solidFill>
                      <a:srgbClr val="F5F6F8"/>
                    </a:solidFill>
                  </a:tcPr>
                </a:tc>
                <a:tc>
                  <a:txBody>
                    <a:bodyPr/>
                    <a:lstStyle/>
                    <a:p>
                      <a:pPr algn="l"/>
                      <a:r>
                        <a:rPr sz="2000" b="0">
                          <a:solidFill>
                            <a:srgbClr val="111111"/>
                          </a:solidFill>
                          <a:latin typeface="Inter"/>
                        </a:rPr>
                        <a:t>X 2, 5</a:t>
                      </a:r>
                    </a:p>
                  </a:txBody>
                  <a:tcPr marL="146304" marR="146304" anchor="ctr">
                    <a:solidFill>
                      <a:srgbClr val="F5F6F8"/>
                    </a:solidFill>
                  </a:tcPr>
                </a:tc>
                <a:tc>
                  <a:txBody>
                    <a:bodyPr/>
                    <a:lstStyle/>
                    <a:p>
                      <a:pPr algn="l"/>
                    </a:p>
                  </a:txBody>
                  <a:tcPr marL="146304" marR="146304" anchor="ctr">
                    <a:solidFill>
                      <a:srgbClr val="F5F6F8"/>
                    </a:solidFill>
                  </a:tcPr>
                </a:tc>
                <a:tc>
                  <a:txBody>
                    <a:bodyPr/>
                    <a:lstStyle/>
                    <a:p>
                      <a:pPr algn="l"/>
                    </a:p>
                  </a:txBody>
                  <a:tcPr marL="146304" marR="146304" anchor="ctr">
                    <a:solidFill>
                      <a:srgbClr val="F5F6F8"/>
                    </a:solidFill>
                  </a:tcPr>
                </a:tc>
                <a:tc>
                  <a:txBody>
                    <a:bodyPr/>
                    <a:lstStyle/>
                    <a:p>
                      <a:pPr algn="l"/>
                    </a:p>
                  </a:txBody>
                  <a:tcPr marL="146304" marR="146304" anchor="ctr">
                    <a:solidFill>
                      <a:srgbClr val="F5F6F8"/>
                    </a:solidFill>
                  </a:tcPr>
                </a:tc>
              </a:tr>
              <a:tr h="825246">
                <a:tc>
                  <a:txBody>
                    <a:bodyPr/>
                    <a:lstStyle/>
                    <a:p>
                      <a:pPr algn="l"/>
                      <a:r>
                        <a:rPr sz="2000" b="1">
                          <a:solidFill>
                            <a:srgbClr val="1365A5"/>
                          </a:solidFill>
                          <a:latin typeface="Bebas Neue"/>
                        </a:rPr>
                        <a:t>X 1,</a:t>
                      </a:r>
                    </a:p>
                  </a:txBody>
                  <a:tcPr marL="146304" marR="146304" anchor="ctr">
                    <a:solidFill>
                      <a:srgbClr val="ECF2F7"/>
                    </a:solidFill>
                  </a:tcPr>
                </a:tc>
                <a:tc>
                  <a:txBody>
                    <a:bodyPr/>
                    <a:lstStyle/>
                    <a:p>
                      <a:pPr algn="l"/>
                      <a:r>
                        <a:rPr sz="2000" b="0">
                          <a:solidFill>
                            <a:srgbClr val="111111"/>
                          </a:solidFill>
                          <a:latin typeface="Inter"/>
                        </a:rPr>
                        <a:t>3</a:t>
                      </a:r>
                    </a:p>
                  </a:txBody>
                  <a:tcPr marL="146304" marR="146304" anchor="ctr">
                    <a:solidFill>
                      <a:srgbClr val="ECF2F7"/>
                    </a:solidFill>
                  </a:tcPr>
                </a:tc>
                <a:tc>
                  <a:txBody>
                    <a:bodyPr/>
                    <a:lstStyle/>
                    <a:p>
                      <a:pPr algn="l"/>
                      <a:r>
                        <a:rPr sz="2000" b="0">
                          <a:solidFill>
                            <a:srgbClr val="111111"/>
                          </a:solidFill>
                          <a:latin typeface="Inter"/>
                        </a:rPr>
                        <a:t>X 2, 4</a:t>
                      </a:r>
                    </a:p>
                  </a:txBody>
                  <a:tcPr marL="146304" marR="146304" anchor="ctr">
                    <a:solidFill>
                      <a:srgbClr val="ECF2F7"/>
                    </a:solidFill>
                  </a:tcPr>
                </a:tc>
                <a:tc>
                  <a:txBody>
                    <a:bodyPr/>
                    <a:lstStyle/>
                    <a:p>
                      <a:pPr algn="l"/>
                      <a:r>
                        <a:rPr sz="2000" b="0">
                          <a:solidFill>
                            <a:srgbClr val="111111"/>
                          </a:solidFill>
                          <a:latin typeface="Inter"/>
                        </a:rPr>
                        <a:t>X 3, 5</a:t>
                      </a:r>
                    </a:p>
                  </a:txBody>
                  <a:tcPr marL="146304" marR="146304" anchor="ctr">
                    <a:solidFill>
                      <a:srgbClr val="ECF2F7"/>
                    </a:solidFill>
                  </a:tcPr>
                </a:tc>
                <a:tc>
                  <a:txBody>
                    <a:bodyPr/>
                    <a:lstStyle/>
                    <a:p>
                      <a:pPr algn="l"/>
                    </a:p>
                  </a:txBody>
                  <a:tcPr marL="146304" marR="146304" anchor="ctr">
                    <a:solidFill>
                      <a:srgbClr val="ECF2F7"/>
                    </a:solidFill>
                  </a:tcPr>
                </a:tc>
                <a:tc>
                  <a:txBody>
                    <a:bodyPr/>
                    <a:lstStyle/>
                    <a:p>
                      <a:pPr algn="l"/>
                    </a:p>
                  </a:txBody>
                  <a:tcPr marL="146304" marR="146304" anchor="ctr">
                    <a:solidFill>
                      <a:srgbClr val="ECF2F7"/>
                    </a:solidFill>
                  </a:tcPr>
                </a:tc>
              </a:tr>
              <a:tr h="825246">
                <a:tc>
                  <a:txBody>
                    <a:bodyPr/>
                    <a:lstStyle/>
                    <a:p>
                      <a:pPr algn="l"/>
                      <a:r>
                        <a:rPr sz="2000" b="1">
                          <a:solidFill>
                            <a:srgbClr val="1365A5"/>
                          </a:solidFill>
                          <a:latin typeface="Bebas Neue"/>
                        </a:rPr>
                        <a:t>X 1,</a:t>
                      </a:r>
                    </a:p>
                  </a:txBody>
                  <a:tcPr marL="146304" marR="146304" anchor="ctr">
                    <a:solidFill>
                      <a:srgbClr val="F5F6F8"/>
                    </a:solidFill>
                  </a:tcPr>
                </a:tc>
                <a:tc>
                  <a:txBody>
                    <a:bodyPr/>
                    <a:lstStyle/>
                    <a:p>
                      <a:pPr algn="l"/>
                      <a:r>
                        <a:rPr sz="2000" b="0">
                          <a:solidFill>
                            <a:srgbClr val="111111"/>
                          </a:solidFill>
                          <a:latin typeface="Inter"/>
                        </a:rPr>
                        <a:t>2</a:t>
                      </a:r>
                    </a:p>
                  </a:txBody>
                  <a:tcPr marL="146304" marR="146304" anchor="ctr">
                    <a:solidFill>
                      <a:srgbClr val="F5F6F8"/>
                    </a:solidFill>
                  </a:tcPr>
                </a:tc>
                <a:tc>
                  <a:txBody>
                    <a:bodyPr/>
                    <a:lstStyle/>
                    <a:p>
                      <a:pPr algn="l"/>
                      <a:r>
                        <a:rPr sz="2000" b="0">
                          <a:solidFill>
                            <a:srgbClr val="111111"/>
                          </a:solidFill>
                          <a:latin typeface="Inter"/>
                        </a:rPr>
                        <a:t>X 2, 3</a:t>
                      </a:r>
                    </a:p>
                  </a:txBody>
                  <a:tcPr marL="146304" marR="146304" anchor="ctr">
                    <a:solidFill>
                      <a:srgbClr val="F5F6F8"/>
                    </a:solidFill>
                  </a:tcPr>
                </a:tc>
                <a:tc>
                  <a:txBody>
                    <a:bodyPr/>
                    <a:lstStyle/>
                    <a:p>
                      <a:pPr algn="l"/>
                      <a:r>
                        <a:rPr sz="2000" b="0">
                          <a:solidFill>
                            <a:srgbClr val="111111"/>
                          </a:solidFill>
                          <a:latin typeface="Inter"/>
                        </a:rPr>
                        <a:t>X 3, 4</a:t>
                      </a:r>
                    </a:p>
                  </a:txBody>
                  <a:tcPr marL="146304" marR="146304" anchor="ctr">
                    <a:solidFill>
                      <a:srgbClr val="F5F6F8"/>
                    </a:solidFill>
                  </a:tcPr>
                </a:tc>
                <a:tc>
                  <a:txBody>
                    <a:bodyPr/>
                    <a:lstStyle/>
                    <a:p>
                      <a:pPr algn="l"/>
                      <a:r>
                        <a:rPr sz="2000" b="0">
                          <a:solidFill>
                            <a:srgbClr val="111111"/>
                          </a:solidFill>
                          <a:latin typeface="Inter"/>
                        </a:rPr>
                        <a:t>X 4, 5</a:t>
                      </a:r>
                    </a:p>
                  </a:txBody>
                  <a:tcPr marL="146304" marR="146304" anchor="ctr">
                    <a:solidFill>
                      <a:srgbClr val="F5F6F8"/>
                    </a:solidFill>
                  </a:tcPr>
                </a:tc>
                <a:tc>
                  <a:txBody>
                    <a:bodyPr/>
                    <a:lstStyle/>
                    <a:p>
                      <a:pPr algn="l"/>
                    </a:p>
                  </a:txBody>
                  <a:tcPr marL="146304" marR="146304" anchor="ctr">
                    <a:solidFill>
                      <a:srgbClr val="F5F6F8"/>
                    </a:solidFill>
                  </a:tcPr>
                </a:tc>
              </a:tr>
              <a:tr h="825246">
                <a:tc>
                  <a:txBody>
                    <a:bodyPr/>
                    <a:lstStyle/>
                    <a:p>
                      <a:pPr algn="l"/>
                      <a:r>
                        <a:rPr sz="2000" b="1">
                          <a:solidFill>
                            <a:srgbClr val="1365A5"/>
                          </a:solidFill>
                          <a:latin typeface="Bebas Neue"/>
                        </a:rPr>
                        <a:t>X 1, 1</a:t>
                      </a:r>
                    </a:p>
                  </a:txBody>
                  <a:tcPr marL="146304" marR="146304" anchor="ctr">
                    <a:solidFill>
                      <a:srgbClr val="ECF2F7"/>
                    </a:solidFill>
                  </a:tcPr>
                </a:tc>
                <a:tc>
                  <a:txBody>
                    <a:bodyPr/>
                    <a:lstStyle/>
                    <a:p>
                      <a:pPr algn="l"/>
                    </a:p>
                  </a:txBody>
                  <a:tcPr marL="146304" marR="146304" anchor="ctr">
                    <a:solidFill>
                      <a:srgbClr val="ECF2F7"/>
                    </a:solidFill>
                  </a:tcPr>
                </a:tc>
                <a:tc>
                  <a:txBody>
                    <a:bodyPr/>
                    <a:lstStyle/>
                    <a:p>
                      <a:pPr algn="l"/>
                      <a:r>
                        <a:rPr sz="2000" b="0">
                          <a:solidFill>
                            <a:srgbClr val="111111"/>
                          </a:solidFill>
                          <a:latin typeface="Inter"/>
                        </a:rPr>
                        <a:t>X 2, 2</a:t>
                      </a:r>
                    </a:p>
                  </a:txBody>
                  <a:tcPr marL="146304" marR="146304" anchor="ctr">
                    <a:solidFill>
                      <a:srgbClr val="ECF2F7"/>
                    </a:solidFill>
                  </a:tcPr>
                </a:tc>
                <a:tc>
                  <a:txBody>
                    <a:bodyPr/>
                    <a:lstStyle/>
                    <a:p>
                      <a:pPr algn="l"/>
                      <a:r>
                        <a:rPr sz="2000" b="0">
                          <a:solidFill>
                            <a:srgbClr val="111111"/>
                          </a:solidFill>
                          <a:latin typeface="Inter"/>
                        </a:rPr>
                        <a:t>X 3, 3</a:t>
                      </a:r>
                    </a:p>
                  </a:txBody>
                  <a:tcPr marL="146304" marR="146304" anchor="ctr">
                    <a:solidFill>
                      <a:srgbClr val="ECF2F7"/>
                    </a:solidFill>
                  </a:tcPr>
                </a:tc>
                <a:tc>
                  <a:txBody>
                    <a:bodyPr/>
                    <a:lstStyle/>
                    <a:p>
                      <a:pPr algn="l"/>
                      <a:r>
                        <a:rPr sz="2000" b="0">
                          <a:solidFill>
                            <a:srgbClr val="111111"/>
                          </a:solidFill>
                          <a:latin typeface="Inter"/>
                        </a:rPr>
                        <a:t>X 4, 4</a:t>
                      </a:r>
                    </a:p>
                  </a:txBody>
                  <a:tcPr marL="146304" marR="146304" anchor="ctr">
                    <a:solidFill>
                      <a:srgbClr val="ECF2F7"/>
                    </a:solidFill>
                  </a:tcPr>
                </a:tc>
                <a:tc>
                  <a:txBody>
                    <a:bodyPr/>
                    <a:lstStyle/>
                    <a:p>
                      <a:pPr algn="l"/>
                      <a:r>
                        <a:rPr sz="2000" b="0">
                          <a:solidFill>
                            <a:srgbClr val="111111"/>
                          </a:solidFill>
                          <a:latin typeface="Inter"/>
                        </a:rPr>
                        <a:t>X 5, 5</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4 rows · X 1, 5</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An example grammar tests whether the string baaba belongs to the language</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208 / 229</a:t>
            </a:r>
          </a:p>
        </p:txBody>
      </p:sp>
      <p:pic>
        <p:nvPicPr>
          <p:cNvPr id="7" name="Picture 6" descr="image.png">
            <a:hlinkClick r:id="rId4"/>
          </p:cNvPr>
          <p:cNvPicPr>
            <a:picLocks noChangeAspect="1"/>
          </p:cNvPicPr>
          <p:nvPr/>
        </p:nvPicPr>
        <p:blipFill>
          <a:blip r:embed="rId3"/>
          <a:stretch>
            <a:fillRect/>
          </a:stretch>
        </p:blipFill>
        <p:spPr>
          <a:xfrm>
            <a:off x="8542324" y="1298448"/>
            <a:ext cx="3189427" cy="3986784"/>
          </a:xfrm>
          <a:prstGeom prst="rect">
            <a:avLst/>
          </a:prstGeom>
        </p:spPr>
      </p:pic>
      <p:sp>
        <p:nvSpPr>
          <p:cNvPr id="8" name="Rounded Rectangle 7"/>
          <p:cNvSpPr/>
          <p:nvPr/>
        </p:nvSpPr>
        <p:spPr>
          <a:xfrm>
            <a:off x="457200" y="1298448"/>
            <a:ext cx="2493873" cy="2862335"/>
          </a:xfrm>
          <a:prstGeom prst="roundRect">
            <a:avLst>
              <a:gd name="adj" fmla="val 56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49961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13001"/>
            <a:ext cx="340156" cy="340156"/>
          </a:xfrm>
          <a:prstGeom prst="rect">
            <a:avLst/>
          </a:prstGeom>
        </p:spPr>
      </p:pic>
      <p:sp>
        <p:nvSpPr>
          <p:cNvPr id="11" name="TextBox 10"/>
          <p:cNvSpPr txBox="1"/>
          <p:nvPr/>
        </p:nvSpPr>
        <p:spPr>
          <a:xfrm>
            <a:off x="658368" y="2212848"/>
            <a:ext cx="2091537" cy="1746767"/>
          </a:xfrm>
          <a:prstGeom prst="rect">
            <a:avLst/>
          </a:prstGeom>
          <a:noFill/>
        </p:spPr>
        <p:txBody>
          <a:bodyPr wrap="square" anchor="t" lIns="0" tIns="0" rIns="0" bIns="0">
            <a:spAutoFit/>
          </a:bodyPr>
          <a:lstStyle/>
          <a:p>
            <a:pPr algn="l"/>
            <a:r>
              <a:rPr sz="2250" b="0">
                <a:solidFill>
                  <a:srgbClr val="111111"/>
                </a:solidFill>
                <a:latin typeface="Inter"/>
              </a:rPr>
              <a:t>Show the CYK Algorithm with the following example</a:t>
            </a:r>
          </a:p>
        </p:txBody>
      </p:sp>
      <p:sp>
        <p:nvSpPr>
          <p:cNvPr id="12" name="Rounded Rectangle 11"/>
          <p:cNvSpPr/>
          <p:nvPr/>
        </p:nvSpPr>
        <p:spPr>
          <a:xfrm>
            <a:off x="3152241" y="1298448"/>
            <a:ext cx="2493873" cy="2862335"/>
          </a:xfrm>
          <a:prstGeom prst="roundRect">
            <a:avLst>
              <a:gd name="adj" fmla="val 56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353409" y="149961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3466795" y="1613001"/>
            <a:ext cx="340156" cy="340156"/>
          </a:xfrm>
          <a:prstGeom prst="rect">
            <a:avLst/>
          </a:prstGeom>
        </p:spPr>
      </p:pic>
      <p:sp>
        <p:nvSpPr>
          <p:cNvPr id="15" name="TextBox 14"/>
          <p:cNvSpPr txBox="1"/>
          <p:nvPr/>
        </p:nvSpPr>
        <p:spPr>
          <a:xfrm>
            <a:off x="3353409" y="2212848"/>
            <a:ext cx="2091537" cy="1746767"/>
          </a:xfrm>
          <a:prstGeom prst="rect">
            <a:avLst/>
          </a:prstGeom>
          <a:noFill/>
        </p:spPr>
        <p:txBody>
          <a:bodyPr wrap="square" anchor="t" lIns="0" tIns="0" rIns="0" bIns="0">
            <a:spAutoFit/>
          </a:bodyPr>
          <a:lstStyle/>
          <a:p>
            <a:pPr algn="l"/>
            <a:r>
              <a:rPr sz="2250" b="0">
                <a:solidFill>
                  <a:srgbClr val="111111"/>
                </a:solidFill>
                <a:latin typeface="Inter"/>
              </a:rPr>
              <a:t>CNF grammar G</a:t>
            </a:r>
          </a:p>
        </p:txBody>
      </p:sp>
      <p:sp>
        <p:nvSpPr>
          <p:cNvPr id="16" name="Rounded Rectangle 15"/>
          <p:cNvSpPr/>
          <p:nvPr/>
        </p:nvSpPr>
        <p:spPr>
          <a:xfrm>
            <a:off x="5847283" y="1298448"/>
            <a:ext cx="2493873" cy="2862335"/>
          </a:xfrm>
          <a:prstGeom prst="roundRect">
            <a:avLst>
              <a:gd name="adj" fmla="val 56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048451" y="1499616"/>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6161836" y="1613001"/>
            <a:ext cx="340156" cy="340156"/>
          </a:xfrm>
          <a:prstGeom prst="rect">
            <a:avLst/>
          </a:prstGeom>
        </p:spPr>
      </p:pic>
      <p:sp>
        <p:nvSpPr>
          <p:cNvPr id="19" name="TextBox 18"/>
          <p:cNvSpPr txBox="1"/>
          <p:nvPr/>
        </p:nvSpPr>
        <p:spPr>
          <a:xfrm>
            <a:off x="6048451" y="2212848"/>
            <a:ext cx="2091537" cy="1746767"/>
          </a:xfrm>
          <a:prstGeom prst="rect">
            <a:avLst/>
          </a:prstGeom>
          <a:noFill/>
        </p:spPr>
        <p:txBody>
          <a:bodyPr wrap="square" anchor="t" lIns="0" tIns="0" rIns="0" bIns="0">
            <a:spAutoFit/>
          </a:bodyPr>
          <a:lstStyle/>
          <a:p>
            <a:pPr algn="l"/>
            <a:r>
              <a:rPr sz="2250" b="0">
                <a:solidFill>
                  <a:srgbClr val="111111"/>
                </a:solidFill>
                <a:latin typeface="Inter"/>
              </a:rPr>
              <a:t>S → AB | BC</a:t>
            </a:r>
          </a:p>
        </p:txBody>
      </p:sp>
      <p:sp>
        <p:nvSpPr>
          <p:cNvPr id="20" name="Rounded Rectangle 19"/>
          <p:cNvSpPr/>
          <p:nvPr/>
        </p:nvSpPr>
        <p:spPr>
          <a:xfrm>
            <a:off x="457200" y="4361951"/>
            <a:ext cx="7883956" cy="923280"/>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361951"/>
            <a:ext cx="73152" cy="92328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1286" y="4435103"/>
            <a:ext cx="7488935" cy="776976"/>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testing if 'baaba' can be formed using grammar rules S -&gt; AB | BC.</a:t>
            </a:r>
          </a:p>
          <a:p>
            <a:pPr algn="l">
              <a:spcBef>
                <a:spcPts val="300"/>
              </a:spcBef>
            </a:pPr>
            <a:r>
              <a:rPr sz="1400" b="0">
                <a:solidFill>
                  <a:srgbClr val="111111"/>
                </a:solidFill>
                <a:latin typeface="Inter"/>
              </a:rPr>
              <a:t>w is baaba Question Is baaba in L(G)?</a:t>
            </a:r>
          </a:p>
        </p:txBody>
      </p:sp>
      <p:sp>
        <p:nvSpPr>
          <p:cNvPr id="23" name="Rounded Rectangle 22"/>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Grammar — A set of production rules that define valid sentences in a language.</a:t>
            </a:r>
          </a:p>
        </p:txBody>
      </p:sp>
      <p:sp>
        <p:nvSpPr>
          <p:cNvPr id="24" name="Rectangle 23"/>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450"/>
                                        <p:tgtEl>
                                          <p:spTgt spid="23"/>
                                        </p:tgtEl>
                                      </p:cBhvr>
                                    </p:animEffect>
                                  </p:childTnLst>
                                </p:cTn>
                              </p:par>
                              <p:par>
                                <p:cTn id="61" presetID="10"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The bottom row of the triangular table evaluates single character terminals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209 / 229</a:t>
            </a:r>
          </a:p>
        </p:txBody>
      </p:sp>
      <p:pic>
        <p:nvPicPr>
          <p:cNvPr id="7" name="Picture 6" descr="image.png"/>
          <p:cNvPicPr>
            <a:picLocks noChangeAspect="1"/>
          </p:cNvPicPr>
          <p:nvPr/>
        </p:nvPicPr>
        <p:blipFill>
          <a:blip r:embed="rId3"/>
          <a:stretch>
            <a:fillRect/>
          </a:stretch>
        </p:blipFill>
        <p:spPr>
          <a:xfrm>
            <a:off x="7672913" y="2385711"/>
            <a:ext cx="4058838" cy="1812256"/>
          </a:xfrm>
          <a:prstGeom prst="rect">
            <a:avLst/>
          </a:prstGeom>
        </p:spPr>
      </p:pic>
      <p:sp>
        <p:nvSpPr>
          <p:cNvPr id="8" name="Rounded Rectangle 7"/>
          <p:cNvSpPr/>
          <p:nvPr/>
        </p:nvSpPr>
        <p:spPr>
          <a:xfrm>
            <a:off x="457200" y="1440311"/>
            <a:ext cx="7014545" cy="1188720"/>
          </a:xfrm>
          <a:prstGeom prst="roundRect">
            <a:avLst>
              <a:gd name="adj" fmla="val 118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51207"/>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4"/>
          <a:stretch>
            <a:fillRect/>
          </a:stretch>
        </p:blipFill>
        <p:spPr>
          <a:xfrm>
            <a:off x="771753" y="1864593"/>
            <a:ext cx="340156" cy="340156"/>
          </a:xfrm>
          <a:prstGeom prst="rect">
            <a:avLst/>
          </a:prstGeom>
        </p:spPr>
      </p:pic>
      <p:sp>
        <p:nvSpPr>
          <p:cNvPr id="11" name="TextBox 10"/>
          <p:cNvSpPr txBox="1"/>
          <p:nvPr/>
        </p:nvSpPr>
        <p:spPr>
          <a:xfrm>
            <a:off x="1408175" y="1513463"/>
            <a:ext cx="5862401" cy="1042416"/>
          </a:xfrm>
          <a:prstGeom prst="rect">
            <a:avLst/>
          </a:prstGeom>
          <a:noFill/>
        </p:spPr>
        <p:txBody>
          <a:bodyPr wrap="square" anchor="ctr" lIns="0" tIns="0" rIns="0" bIns="0">
            <a:spAutoFit/>
          </a:bodyPr>
          <a:lstStyle/>
          <a:p>
            <a:pPr algn="l"/>
            <a:r>
              <a:rPr sz="3120" b="1">
                <a:solidFill>
                  <a:srgbClr val="1365A5"/>
                </a:solidFill>
                <a:latin typeface="Bebas Neue"/>
              </a:rPr>
              <a:t>S → AB</a:t>
            </a:r>
          </a:p>
        </p:txBody>
      </p:sp>
      <p:sp>
        <p:nvSpPr>
          <p:cNvPr id="12" name="Rounded Rectangle 11"/>
          <p:cNvSpPr/>
          <p:nvPr/>
        </p:nvSpPr>
        <p:spPr>
          <a:xfrm>
            <a:off x="457200" y="2830199"/>
            <a:ext cx="7014545" cy="1188720"/>
          </a:xfrm>
          <a:prstGeom prst="roundRect">
            <a:avLst>
              <a:gd name="adj" fmla="val 11846"/>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3141095"/>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5"/>
          <a:stretch>
            <a:fillRect/>
          </a:stretch>
        </p:blipFill>
        <p:spPr>
          <a:xfrm>
            <a:off x="771753" y="3254481"/>
            <a:ext cx="340156" cy="340156"/>
          </a:xfrm>
          <a:prstGeom prst="rect">
            <a:avLst/>
          </a:prstGeom>
        </p:spPr>
      </p:pic>
      <p:sp>
        <p:nvSpPr>
          <p:cNvPr id="15" name="TextBox 14"/>
          <p:cNvSpPr txBox="1"/>
          <p:nvPr/>
        </p:nvSpPr>
        <p:spPr>
          <a:xfrm>
            <a:off x="1408175" y="2903351"/>
            <a:ext cx="5862401" cy="1042416"/>
          </a:xfrm>
          <a:prstGeom prst="rect">
            <a:avLst/>
          </a:prstGeom>
          <a:noFill/>
        </p:spPr>
        <p:txBody>
          <a:bodyPr wrap="square" anchor="ctr" lIns="0" tIns="0" rIns="0" bIns="0">
            <a:spAutoFit/>
          </a:bodyPr>
          <a:lstStyle/>
          <a:p>
            <a:pPr algn="l"/>
            <a:r>
              <a:rPr sz="3120" b="1">
                <a:solidFill>
                  <a:srgbClr val="1365A5"/>
                </a:solidFill>
                <a:latin typeface="Bebas Neue"/>
              </a:rPr>
              <a:t>S → AB | BC</a:t>
            </a:r>
          </a:p>
        </p:txBody>
      </p:sp>
      <p:sp>
        <p:nvSpPr>
          <p:cNvPr id="16" name="Rounded Rectangle 15"/>
          <p:cNvSpPr/>
          <p:nvPr/>
        </p:nvSpPr>
        <p:spPr>
          <a:xfrm>
            <a:off x="457200" y="4361951"/>
            <a:ext cx="7014545" cy="923280"/>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361951"/>
            <a:ext cx="73152" cy="923280"/>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286" y="4435103"/>
            <a:ext cx="6619524" cy="776976"/>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matching terminal 'b' to variable set {B}.</a:t>
            </a:r>
          </a:p>
          <a:p>
            <a:pPr algn="l">
              <a:spcBef>
                <a:spcPts val="300"/>
              </a:spcBef>
            </a:pPr>
            <a:r>
              <a:rPr sz="1400" b="0">
                <a:solidFill>
                  <a:srgbClr val="111111"/>
                </a:solidFill>
                <a:latin typeface="Inter"/>
              </a:rPr>
              <a:t>Calculating the Bottom ROW</a:t>
            </a:r>
          </a:p>
        </p:txBody>
      </p:sp>
      <p:sp>
        <p:nvSpPr>
          <p:cNvPr id="19" name="Rounded Rectangle 1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Bottom row — The base layer of the CYK table representing substrings of length one.</a:t>
            </a:r>
          </a:p>
        </p:txBody>
      </p:sp>
      <p:sp>
        <p:nvSpPr>
          <p:cNvPr id="20" name="Rectangle 1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Combining adjacent table sets identifies higher level production rule matches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210 / 229</a:t>
            </a:r>
          </a:p>
        </p:txBody>
      </p:sp>
      <p:sp>
        <p:nvSpPr>
          <p:cNvPr id="8" name="Rounded Rectangle 7"/>
          <p:cNvSpPr/>
          <p:nvPr/>
        </p:nvSpPr>
        <p:spPr>
          <a:xfrm>
            <a:off x="457200" y="1298448"/>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13630"/>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141261"/>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706714"/>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621897"/>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779866"/>
            <a:ext cx="10213848" cy="141261"/>
          </a:xfrm>
          <a:prstGeom prst="rect">
            <a:avLst/>
          </a:prstGeom>
          <a:noFill/>
        </p:spPr>
        <p:txBody>
          <a:bodyPr wrap="square" anchor="ctr" lIns="0" tIns="0" rIns="0" bIns="0">
            <a:spAutoFit/>
          </a:bodyPr>
          <a:lstStyle/>
          <a:p>
            <a:pPr algn="l"/>
            <a:r>
              <a:rPr sz="1210" b="1">
                <a:solidFill>
                  <a:srgbClr val="1365A5"/>
                </a:solidFill>
                <a:latin typeface="Bebas Neue"/>
              </a:rPr>
              <a:t>X1, 2 = (Xi, i,Xi+1, j) = (X1, 1</a:t>
            </a:r>
          </a:p>
        </p:txBody>
      </p:sp>
      <p:sp>
        <p:nvSpPr>
          <p:cNvPr id="14" name="Rounded Rectangle 13"/>
          <p:cNvSpPr/>
          <p:nvPr/>
        </p:nvSpPr>
        <p:spPr>
          <a:xfrm>
            <a:off x="457200" y="2114981"/>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0301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188133"/>
            <a:ext cx="10213848" cy="141261"/>
          </a:xfrm>
          <a:prstGeom prst="rect">
            <a:avLst/>
          </a:prstGeom>
          <a:noFill/>
        </p:spPr>
        <p:txBody>
          <a:bodyPr wrap="square" anchor="ctr" lIns="0" tIns="0" rIns="0" bIns="0">
            <a:spAutoFit/>
          </a:bodyPr>
          <a:lstStyle/>
          <a:p>
            <a:pPr algn="l"/>
            <a:r>
              <a:rPr sz="1210" b="1">
                <a:solidFill>
                  <a:srgbClr val="1365A5"/>
                </a:solidFill>
                <a:latin typeface="Bebas Neue"/>
              </a:rPr>
              <a:t>X2, 2)</a:t>
            </a:r>
          </a:p>
        </p:txBody>
      </p:sp>
      <p:sp>
        <p:nvSpPr>
          <p:cNvPr id="17" name="Rounded Rectangle 16"/>
          <p:cNvSpPr/>
          <p:nvPr/>
        </p:nvSpPr>
        <p:spPr>
          <a:xfrm>
            <a:off x="457200" y="2523248"/>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43843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2596400"/>
            <a:ext cx="10213848" cy="141261"/>
          </a:xfrm>
          <a:prstGeom prst="rect">
            <a:avLst/>
          </a:prstGeom>
          <a:noFill/>
        </p:spPr>
        <p:txBody>
          <a:bodyPr wrap="square" anchor="ctr" lIns="0" tIns="0" rIns="0" bIns="0">
            <a:spAutoFit/>
          </a:bodyPr>
          <a:lstStyle/>
          <a:p>
            <a:pPr algn="l"/>
            <a:r>
              <a:rPr sz="1210" b="1">
                <a:solidFill>
                  <a:srgbClr val="1365A5"/>
                </a:solidFill>
                <a:latin typeface="Bebas Neue"/>
              </a:rPr>
              <a:t>➔ {B}{A,C} = {BA, BC}</a:t>
            </a:r>
          </a:p>
        </p:txBody>
      </p:sp>
      <p:sp>
        <p:nvSpPr>
          <p:cNvPr id="20" name="Rounded Rectangle 19"/>
          <p:cNvSpPr/>
          <p:nvPr/>
        </p:nvSpPr>
        <p:spPr>
          <a:xfrm>
            <a:off x="457200" y="2931515"/>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84669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004667"/>
            <a:ext cx="10213848" cy="141261"/>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3" name="Rounded Rectangle 22"/>
          <p:cNvSpPr/>
          <p:nvPr/>
        </p:nvSpPr>
        <p:spPr>
          <a:xfrm>
            <a:off x="457200" y="3339781"/>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32549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3412933"/>
            <a:ext cx="10213848" cy="141261"/>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BA or BC</a:t>
            </a:r>
          </a:p>
        </p:txBody>
      </p:sp>
      <p:sp>
        <p:nvSpPr>
          <p:cNvPr id="26" name="Rounded Rectangle 25"/>
          <p:cNvSpPr/>
          <p:nvPr/>
        </p:nvSpPr>
        <p:spPr>
          <a:xfrm>
            <a:off x="457200" y="3748048"/>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366323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3821200"/>
            <a:ext cx="10213848" cy="141261"/>
          </a:xfrm>
          <a:prstGeom prst="rect">
            <a:avLst/>
          </a:prstGeom>
          <a:noFill/>
        </p:spPr>
        <p:txBody>
          <a:bodyPr wrap="square" anchor="ctr" lIns="0" tIns="0" rIns="0" bIns="0">
            <a:spAutoFit/>
          </a:bodyPr>
          <a:lstStyle/>
          <a:p>
            <a:pPr algn="l"/>
            <a:r>
              <a:rPr sz="1210" b="1">
                <a:solidFill>
                  <a:srgbClr val="1365A5"/>
                </a:solidFill>
                <a:latin typeface="Bebas Neue"/>
              </a:rPr>
              <a:t>There are two: S and A</a:t>
            </a:r>
          </a:p>
        </p:txBody>
      </p:sp>
      <p:sp>
        <p:nvSpPr>
          <p:cNvPr id="29" name="Rounded Rectangle 28"/>
          <p:cNvSpPr/>
          <p:nvPr/>
        </p:nvSpPr>
        <p:spPr>
          <a:xfrm>
            <a:off x="457200" y="4156315"/>
            <a:ext cx="11274552" cy="287565"/>
          </a:xfrm>
          <a:prstGeom prst="roundRect">
            <a:avLst>
              <a:gd name="adj" fmla="val 4896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407149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4229467"/>
            <a:ext cx="10213848" cy="141261"/>
          </a:xfrm>
          <a:prstGeom prst="rect">
            <a:avLst/>
          </a:prstGeom>
          <a:noFill/>
        </p:spPr>
        <p:txBody>
          <a:bodyPr wrap="square" anchor="ctr" lIns="0" tIns="0" rIns="0" bIns="0">
            <a:spAutoFit/>
          </a:bodyPr>
          <a:lstStyle/>
          <a:p>
            <a:pPr algn="l"/>
            <a:r>
              <a:rPr sz="1210" b="1">
                <a:solidFill>
                  <a:srgbClr val="1365A5"/>
                </a:solidFill>
                <a:latin typeface="Bebas Neue"/>
              </a:rPr>
              <a:t>X1, 2= {S, A}</a:t>
            </a:r>
          </a:p>
        </p:txBody>
      </p:sp>
      <p:sp>
        <p:nvSpPr>
          <p:cNvPr id="32" name="Rounded Rectangle 31"/>
          <p:cNvSpPr/>
          <p:nvPr/>
        </p:nvSpPr>
        <p:spPr>
          <a:xfrm>
            <a:off x="457200" y="4645049"/>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4645049"/>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4718201"/>
            <a:ext cx="10879531" cy="4938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combining sets {B} and {A,C} to search for rules generating BA or BC.</a:t>
            </a:r>
          </a:p>
        </p:txBody>
      </p:sp>
      <p:sp>
        <p:nvSpPr>
          <p:cNvPr id="35" name="Rounded Rectangle 34"/>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terms:  </a:t>
            </a:r>
            <a:r>
              <a:rPr sz="1600" b="1">
                <a:solidFill>
                  <a:srgbClr val="111111"/>
                </a:solidFill>
                <a:latin typeface="Bebas Neue"/>
              </a:rPr>
              <a:t>Production rules — Rules specifying how grammar variables can be replaced by sequences of symbols.</a:t>
            </a:r>
          </a:p>
        </p:txBody>
      </p:sp>
      <p:sp>
        <p:nvSpPr>
          <p:cNvPr id="36" name="Rectangle 35"/>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par>
                                <p:cTn id="47" presetID="10"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childTnLst>
                                </p:cTn>
                              </p:par>
                              <p:par>
                                <p:cTn id="50" presetID="10" presetClass="entr" presetSubtype="0" fill="hold"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50"/>
                                        <p:tgtEl>
                                          <p:spTgt spid="24"/>
                                        </p:tgtEl>
                                      </p:cBhvr>
                                    </p:animEffect>
                                  </p:childTnLst>
                                </p:cTn>
                              </p:par>
                              <p:par>
                                <p:cTn id="53" presetID="10"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5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childTnLst>
                                </p:cTn>
                              </p:par>
                              <p:par>
                                <p:cTn id="61" presetID="10"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450"/>
                                        <p:tgtEl>
                                          <p:spTgt spid="27"/>
                                        </p:tgtEl>
                                      </p:cBhvr>
                                    </p:animEffect>
                                  </p:childTnLst>
                                </p:cTn>
                              </p:par>
                              <p:par>
                                <p:cTn id="64" presetID="10" presetClass="entr" presetSubtype="0" fill="hold"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45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450"/>
                                        <p:tgtEl>
                                          <p:spTgt spid="29"/>
                                        </p:tgtEl>
                                      </p:cBhvr>
                                    </p:animEffect>
                                  </p:childTnLst>
                                </p:cTn>
                              </p:par>
                              <p:par>
                                <p:cTn id="72" presetID="10" presetClass="entr" presetSubtype="0" fill="hold"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fade">
                                      <p:cBhvr>
                                        <p:cTn id="74" dur="450"/>
                                        <p:tgtEl>
                                          <p:spTgt spid="30"/>
                                        </p:tgtEl>
                                      </p:cBhvr>
                                    </p:animEffect>
                                  </p:childTnLst>
                                </p:cTn>
                              </p:par>
                              <p:par>
                                <p:cTn id="75" presetID="10" presetClass="entr" presetSubtype="0" fill="hold"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45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450"/>
                                        <p:tgtEl>
                                          <p:spTgt spid="32"/>
                                        </p:tgtEl>
                                      </p:cBhvr>
                                    </p:animEffect>
                                  </p:childTnLst>
                                </p:cTn>
                              </p:par>
                              <p:par>
                                <p:cTn id="83" presetID="10" presetClass="entr" presetSubtype="0" fill="hold" nodeType="with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450"/>
                                        <p:tgtEl>
                                          <p:spTgt spid="33"/>
                                        </p:tgtEl>
                                      </p:cBhvr>
                                    </p:animEffect>
                                  </p:childTnLst>
                                </p:cTn>
                              </p:par>
                              <p:par>
                                <p:cTn id="86" presetID="10" presetClass="entr" presetSubtype="0" fill="hold" nodeType="withEffect">
                                  <p:stCondLst>
                                    <p:cond delay="0"/>
                                  </p:stCondLst>
                                  <p:childTnLst>
                                    <p:set>
                                      <p:cBhvr>
                                        <p:cTn id="87" dur="1" fill="hold">
                                          <p:stCondLst>
                                            <p:cond delay="0"/>
                                          </p:stCondLst>
                                        </p:cTn>
                                        <p:tgtEl>
                                          <p:spTgt spid="34"/>
                                        </p:tgtEl>
                                        <p:attrNameLst>
                                          <p:attrName>style.visibility</p:attrName>
                                        </p:attrNameLst>
                                      </p:cBhvr>
                                      <p:to>
                                        <p:strVal val="visible"/>
                                      </p:to>
                                    </p:set>
                                    <p:animEffect transition="in" filter="fade">
                                      <p:cBhvr>
                                        <p:cTn id="88" dur="450"/>
                                        <p:tgtEl>
                                          <p:spTgt spid="34"/>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450"/>
                                        <p:tgtEl>
                                          <p:spTgt spid="35"/>
                                        </p:tgtEl>
                                      </p:cBhvr>
                                    </p:animEffect>
                                  </p:childTnLst>
                                </p:cTn>
                              </p:par>
                              <p:par>
                                <p:cTn id="94" presetID="10" presetClass="entr" presetSubtype="0" fill="hold"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(3/15)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211 / 229</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{S, A}</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1 rows · {S, A}</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2400" b="1">
                <a:solidFill>
                  <a:srgbClr val="FFFFFF"/>
                </a:solidFill>
              </a:defRPr>
            </a:pPr>
            <a:r>
              <a:rPr>
                <a:latin typeface="Bebas Neue"/>
              </a:rPr>
              <a:t>Subsequent table entries combine adjacent sets to find matching grammar productions</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212 / 229</a:t>
            </a:r>
          </a:p>
        </p:txBody>
      </p:sp>
      <p:sp>
        <p:nvSpPr>
          <p:cNvPr id="8" name="Rounded Rectangle 7"/>
          <p:cNvSpPr/>
          <p:nvPr/>
        </p:nvSpPr>
        <p:spPr>
          <a:xfrm>
            <a:off x="457200" y="1298448"/>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28335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280707"/>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846160"/>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83106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1919312"/>
            <a:ext cx="10213848" cy="280707"/>
          </a:xfrm>
          <a:prstGeom prst="rect">
            <a:avLst/>
          </a:prstGeom>
          <a:noFill/>
        </p:spPr>
        <p:txBody>
          <a:bodyPr wrap="square" anchor="ctr" lIns="0" tIns="0" rIns="0" bIns="0">
            <a:spAutoFit/>
          </a:bodyPr>
          <a:lstStyle/>
          <a:p>
            <a:pPr algn="l"/>
            <a:r>
              <a:rPr sz="1210" b="1">
                <a:solidFill>
                  <a:srgbClr val="1365A5"/>
                </a:solidFill>
                <a:latin typeface="Bebas Neue"/>
              </a:rPr>
              <a:t>X2, 3 = (Xi, i,Xi+1, j) = (X2, 2, X3, 3)</a:t>
            </a:r>
          </a:p>
        </p:txBody>
      </p:sp>
      <p:sp>
        <p:nvSpPr>
          <p:cNvPr id="14" name="Rounded Rectangle 13"/>
          <p:cNvSpPr/>
          <p:nvPr/>
        </p:nvSpPr>
        <p:spPr>
          <a:xfrm>
            <a:off x="457200" y="2393873"/>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37877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467025"/>
            <a:ext cx="10213848" cy="280707"/>
          </a:xfrm>
          <a:prstGeom prst="rect">
            <a:avLst/>
          </a:prstGeom>
          <a:noFill/>
        </p:spPr>
        <p:txBody>
          <a:bodyPr wrap="square" anchor="ctr" lIns="0" tIns="0" rIns="0" bIns="0">
            <a:spAutoFit/>
          </a:bodyPr>
          <a:lstStyle/>
          <a:p>
            <a:pPr algn="l"/>
            <a:r>
              <a:rPr sz="1210" b="1">
                <a:solidFill>
                  <a:srgbClr val="1365A5"/>
                </a:solidFill>
                <a:latin typeface="Bebas Neue"/>
              </a:rPr>
              <a:t>➔ {A, C}{A,C} = {AA, AC, CA, CC} = Y</a:t>
            </a:r>
          </a:p>
        </p:txBody>
      </p:sp>
      <p:sp>
        <p:nvSpPr>
          <p:cNvPr id="17" name="Rounded Rectangle 16"/>
          <p:cNvSpPr/>
          <p:nvPr/>
        </p:nvSpPr>
        <p:spPr>
          <a:xfrm>
            <a:off x="457200" y="2941586"/>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2926492"/>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014738"/>
            <a:ext cx="10213848" cy="280707"/>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0" name="Rounded Rectangle 19"/>
          <p:cNvSpPr/>
          <p:nvPr/>
        </p:nvSpPr>
        <p:spPr>
          <a:xfrm>
            <a:off x="457200" y="3489299"/>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474205"/>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562451"/>
            <a:ext cx="10213848" cy="280707"/>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Y</a:t>
            </a:r>
          </a:p>
        </p:txBody>
      </p:sp>
      <p:sp>
        <p:nvSpPr>
          <p:cNvPr id="23" name="Rounded Rectangle 22"/>
          <p:cNvSpPr/>
          <p:nvPr/>
        </p:nvSpPr>
        <p:spPr>
          <a:xfrm>
            <a:off x="457200" y="4037011"/>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021917"/>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110163"/>
            <a:ext cx="10213848" cy="280707"/>
          </a:xfrm>
          <a:prstGeom prst="rect">
            <a:avLst/>
          </a:prstGeom>
          <a:noFill/>
        </p:spPr>
        <p:txBody>
          <a:bodyPr wrap="square" anchor="ctr" lIns="0" tIns="0" rIns="0" bIns="0">
            <a:spAutoFit/>
          </a:bodyPr>
          <a:lstStyle/>
          <a:p>
            <a:pPr algn="l"/>
            <a:r>
              <a:rPr sz="1210" b="1">
                <a:solidFill>
                  <a:srgbClr val="1365A5"/>
                </a:solidFill>
                <a:latin typeface="Bebas Neue"/>
              </a:rPr>
              <a:t>There is one: B</a:t>
            </a:r>
          </a:p>
        </p:txBody>
      </p:sp>
      <p:sp>
        <p:nvSpPr>
          <p:cNvPr id="26" name="Rounded Rectangle 25"/>
          <p:cNvSpPr/>
          <p:nvPr/>
        </p:nvSpPr>
        <p:spPr>
          <a:xfrm>
            <a:off x="457200" y="4584724"/>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4569630"/>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4657876"/>
            <a:ext cx="10213848" cy="280707"/>
          </a:xfrm>
          <a:prstGeom prst="rect">
            <a:avLst/>
          </a:prstGeom>
          <a:noFill/>
        </p:spPr>
        <p:txBody>
          <a:bodyPr wrap="square" anchor="ctr" lIns="0" tIns="0" rIns="0" bIns="0">
            <a:spAutoFit/>
          </a:bodyPr>
          <a:lstStyle/>
          <a:p>
            <a:pPr algn="l"/>
            <a:r>
              <a:rPr sz="1210" b="1">
                <a:solidFill>
                  <a:srgbClr val="1365A5"/>
                </a:solidFill>
                <a:latin typeface="Bebas Neue"/>
              </a:rPr>
              <a:t>S → AB</a:t>
            </a:r>
          </a:p>
          <a:p>
            <a:pPr algn="l">
              <a:spcBef>
                <a:spcPts val="300"/>
              </a:spcBef>
            </a:pPr>
            <a:r>
              <a:rPr sz="1050" b="0">
                <a:solidFill>
                  <a:srgbClr val="111111"/>
                </a:solidFill>
                <a:latin typeface="Inter"/>
              </a:rPr>
              <a:t>BC</a:t>
            </a:r>
          </a:p>
        </p:txBody>
      </p:sp>
      <p:sp>
        <p:nvSpPr>
          <p:cNvPr id="29" name="Rounded Rectangle 28"/>
          <p:cNvSpPr/>
          <p:nvPr/>
        </p:nvSpPr>
        <p:spPr>
          <a:xfrm>
            <a:off x="457200" y="5132437"/>
            <a:ext cx="11274552" cy="427011"/>
          </a:xfrm>
          <a:prstGeom prst="roundRect">
            <a:avLst>
              <a:gd name="adj" fmla="val 3297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11734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5205589"/>
            <a:ext cx="10213848" cy="280707"/>
          </a:xfrm>
          <a:prstGeom prst="rect">
            <a:avLst/>
          </a:prstGeom>
          <a:noFill/>
        </p:spPr>
        <p:txBody>
          <a:bodyPr wrap="square" anchor="ctr" lIns="0" tIns="0" rIns="0" bIns="0">
            <a:spAutoFit/>
          </a:bodyPr>
          <a:lstStyle/>
          <a:p>
            <a:pPr algn="l"/>
            <a:r>
              <a:rPr sz="1210" b="1">
                <a:solidFill>
                  <a:srgbClr val="1365A5"/>
                </a:solidFill>
                <a:latin typeface="Bebas Neue"/>
              </a:rPr>
              <a:t>= {B}</a:t>
            </a:r>
          </a:p>
        </p:txBody>
      </p:sp>
      <p:sp>
        <p:nvSpPr>
          <p:cNvPr id="32" name="Rounded Rectangle 31"/>
          <p:cNvSpPr/>
          <p:nvPr/>
        </p:nvSpPr>
        <p:spPr>
          <a:xfrm>
            <a:off x="457200" y="5760617"/>
            <a:ext cx="11274552" cy="640182"/>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5760617"/>
            <a:ext cx="73152" cy="640182"/>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1286" y="5833769"/>
            <a:ext cx="10879531" cy="493878"/>
          </a:xfrm>
          <a:prstGeom prst="rect">
            <a:avLst/>
          </a:prstGeom>
          <a:noFill/>
        </p:spPr>
        <p:txBody>
          <a:bodyPr wrap="square" anchor="ctr" lIns="0" tIns="0" rIns="0" bIns="0">
            <a:spAutoFit/>
          </a:bodyPr>
          <a:lstStyle/>
          <a:p>
            <a:pPr algn="l"/>
            <a:r>
              <a:rPr sz="1010" b="1">
                <a:solidFill>
                  <a:srgbClr val="F76945"/>
                </a:solidFill>
                <a:latin typeface="Bebas Neue"/>
              </a:rPr>
              <a:t>IN PLAIN WORDS</a:t>
            </a:r>
          </a:p>
          <a:p>
            <a:pPr algn="l">
              <a:spcBef>
                <a:spcPts val="300"/>
              </a:spcBef>
            </a:pPr>
            <a:r>
              <a:rPr sz="1400" b="0">
                <a:solidFill>
                  <a:srgbClr val="111111"/>
                </a:solidFill>
                <a:latin typeface="Inter"/>
              </a:rPr>
              <a:t>For example, combining {A, C} and {A, C} to check for matching production rules.</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450"/>
                                        <p:tgtEl>
                                          <p:spTgt spid="32"/>
                                        </p:tgtEl>
                                      </p:cBhvr>
                                    </p:animEffect>
                                  </p:childTnLst>
                                </p:cTn>
                              </p:par>
                              <p:par>
                                <p:cTn id="85" presetID="10" presetClass="entr" presetSubtype="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450"/>
                                        <p:tgtEl>
                                          <p:spTgt spid="33"/>
                                        </p:tgtEl>
                                      </p:cBhvr>
                                    </p:animEffect>
                                  </p:childTnLst>
                                </p:cTn>
                              </p:par>
                              <p:par>
                                <p:cTn id="88" presetID="10" presetClass="entr" presetSubtype="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(5/15)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213 / 229</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{S, A}</a:t>
                      </a:r>
                    </a:p>
                  </a:txBody>
                  <a:tcPr marL="146304" marR="146304" anchor="ctr">
                    <a:solidFill>
                      <a:srgbClr val="1365A5"/>
                    </a:solidFill>
                  </a:tcPr>
                </a:tc>
                <a:tc>
                  <a:txBody>
                    <a:bodyPr/>
                    <a:lstStyle/>
                    <a:p>
                      <a:pPr algn="l"/>
                      <a:r>
                        <a:rPr sz="2000" b="1">
                          <a:solidFill>
                            <a:srgbClr val="FFFFFF"/>
                          </a:solidFill>
                          <a:latin typeface="Bebas Neue"/>
                        </a:rPr>
                        <a:t>{B}</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1 rows · {S, A}, {B}</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zoom dir="in"/>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X3, 4 =</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214 / 229</a:t>
            </a:r>
          </a:p>
        </p:txBody>
      </p:sp>
      <p:sp>
        <p:nvSpPr>
          <p:cNvPr id="8" name="Rounded Rectangle 7"/>
          <p:cNvSpPr/>
          <p:nvPr/>
        </p:nvSpPr>
        <p:spPr>
          <a:xfrm>
            <a:off x="457200" y="1298448"/>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3593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385876"/>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95132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98881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024481"/>
            <a:ext cx="10213848" cy="385876"/>
          </a:xfrm>
          <a:prstGeom prst="rect">
            <a:avLst/>
          </a:prstGeom>
          <a:noFill/>
        </p:spPr>
        <p:txBody>
          <a:bodyPr wrap="square" anchor="ctr" lIns="0" tIns="0" rIns="0" bIns="0">
            <a:spAutoFit/>
          </a:bodyPr>
          <a:lstStyle/>
          <a:p>
            <a:pPr algn="l"/>
            <a:r>
              <a:rPr sz="1210" b="1">
                <a:solidFill>
                  <a:srgbClr val="1365A5"/>
                </a:solidFill>
                <a:latin typeface="Bebas Neue"/>
              </a:rPr>
              <a:t>X3, 4 = (Xi, i,Xi+1, j) = (X3, 3</a:t>
            </a:r>
          </a:p>
        </p:txBody>
      </p:sp>
      <p:sp>
        <p:nvSpPr>
          <p:cNvPr id="14" name="Rounded Rectangle 13"/>
          <p:cNvSpPr/>
          <p:nvPr/>
        </p:nvSpPr>
        <p:spPr>
          <a:xfrm>
            <a:off x="457200" y="2604211"/>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64170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677363"/>
            <a:ext cx="10213848" cy="385876"/>
          </a:xfrm>
          <a:prstGeom prst="rect">
            <a:avLst/>
          </a:prstGeom>
          <a:noFill/>
        </p:spPr>
        <p:txBody>
          <a:bodyPr wrap="square" anchor="ctr" lIns="0" tIns="0" rIns="0" bIns="0">
            <a:spAutoFit/>
          </a:bodyPr>
          <a:lstStyle/>
          <a:p>
            <a:pPr algn="l"/>
            <a:r>
              <a:rPr sz="1210" b="1">
                <a:solidFill>
                  <a:srgbClr val="1365A5"/>
                </a:solidFill>
                <a:latin typeface="Bebas Neue"/>
              </a:rPr>
              <a:t>X4, 4)</a:t>
            </a:r>
          </a:p>
        </p:txBody>
      </p:sp>
      <p:sp>
        <p:nvSpPr>
          <p:cNvPr id="17" name="Rounded Rectangle 16"/>
          <p:cNvSpPr/>
          <p:nvPr/>
        </p:nvSpPr>
        <p:spPr>
          <a:xfrm>
            <a:off x="457200" y="3257092"/>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29458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330244"/>
            <a:ext cx="10213848" cy="385876"/>
          </a:xfrm>
          <a:prstGeom prst="rect">
            <a:avLst/>
          </a:prstGeom>
          <a:noFill/>
        </p:spPr>
        <p:txBody>
          <a:bodyPr wrap="square" anchor="ctr" lIns="0" tIns="0" rIns="0" bIns="0">
            <a:spAutoFit/>
          </a:bodyPr>
          <a:lstStyle/>
          <a:p>
            <a:pPr algn="l"/>
            <a:r>
              <a:rPr sz="1210" b="1">
                <a:solidFill>
                  <a:srgbClr val="1365A5"/>
                </a:solidFill>
                <a:latin typeface="Bebas Neue"/>
              </a:rPr>
              <a:t>➔ {A, C}{B} = {AB, CB} = Y</a:t>
            </a:r>
          </a:p>
        </p:txBody>
      </p:sp>
      <p:sp>
        <p:nvSpPr>
          <p:cNvPr id="20" name="Rounded Rectangle 19"/>
          <p:cNvSpPr/>
          <p:nvPr/>
        </p:nvSpPr>
        <p:spPr>
          <a:xfrm>
            <a:off x="457200" y="3909974"/>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9474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983126"/>
            <a:ext cx="10213848" cy="385876"/>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3" name="Rounded Rectangle 22"/>
          <p:cNvSpPr/>
          <p:nvPr/>
        </p:nvSpPr>
        <p:spPr>
          <a:xfrm>
            <a:off x="457200" y="4562856"/>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60034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636008"/>
            <a:ext cx="10213848" cy="385876"/>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Y</a:t>
            </a:r>
          </a:p>
        </p:txBody>
      </p:sp>
      <p:sp>
        <p:nvSpPr>
          <p:cNvPr id="26" name="Rounded Rectangle 25"/>
          <p:cNvSpPr/>
          <p:nvPr/>
        </p:nvSpPr>
        <p:spPr>
          <a:xfrm>
            <a:off x="457200" y="5215737"/>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253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5288889"/>
            <a:ext cx="10213848" cy="385876"/>
          </a:xfrm>
          <a:prstGeom prst="rect">
            <a:avLst/>
          </a:prstGeom>
          <a:noFill/>
        </p:spPr>
        <p:txBody>
          <a:bodyPr wrap="square" anchor="ctr" lIns="0" tIns="0" rIns="0" bIns="0">
            <a:spAutoFit/>
          </a:bodyPr>
          <a:lstStyle/>
          <a:p>
            <a:pPr algn="l"/>
            <a:r>
              <a:rPr sz="1210" b="1">
                <a:solidFill>
                  <a:srgbClr val="1365A5"/>
                </a:solidFill>
                <a:latin typeface="Bebas Neue"/>
              </a:rPr>
              <a:t>There are two: S and C</a:t>
            </a:r>
          </a:p>
        </p:txBody>
      </p:sp>
      <p:sp>
        <p:nvSpPr>
          <p:cNvPr id="29" name="Rounded Rectangle 28"/>
          <p:cNvSpPr/>
          <p:nvPr/>
        </p:nvSpPr>
        <p:spPr>
          <a:xfrm>
            <a:off x="457200" y="586861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90610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5941771"/>
            <a:ext cx="10213848" cy="385876"/>
          </a:xfrm>
          <a:prstGeom prst="rect">
            <a:avLst/>
          </a:prstGeom>
          <a:noFill/>
        </p:spPr>
        <p:txBody>
          <a:bodyPr wrap="square" anchor="ctr" lIns="0" tIns="0" rIns="0" bIns="0">
            <a:spAutoFit/>
          </a:bodyPr>
          <a:lstStyle/>
          <a:p>
            <a:pPr algn="l"/>
            <a:r>
              <a:rPr sz="1210" b="1">
                <a:solidFill>
                  <a:srgbClr val="1365A5"/>
                </a:solidFill>
                <a:latin typeface="Bebas Neue"/>
              </a:rPr>
              <a:t>S → AB</a:t>
            </a:r>
          </a:p>
          <a:p>
            <a:pPr algn="l">
              <a:spcBef>
                <a:spcPts val="300"/>
              </a:spcBef>
            </a:pPr>
            <a:r>
              <a:rPr sz="1050" b="0">
                <a:solidFill>
                  <a:srgbClr val="111111"/>
                </a:solidFill>
                <a:latin typeface="Inter"/>
              </a:rPr>
              <a:t>BC</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(7/15)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215 / 229</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{S, A}</a:t>
                      </a:r>
                    </a:p>
                  </a:txBody>
                  <a:tcPr marL="146304" marR="146304" anchor="ctr">
                    <a:solidFill>
                      <a:srgbClr val="1365A5"/>
                    </a:solidFill>
                  </a:tcPr>
                </a:tc>
                <a:tc>
                  <a:txBody>
                    <a:bodyPr/>
                    <a:lstStyle/>
                    <a:p>
                      <a:pPr algn="l"/>
                      <a:r>
                        <a:rPr sz="2000" b="1">
                          <a:solidFill>
                            <a:srgbClr val="FFFFFF"/>
                          </a:solidFill>
                          <a:latin typeface="Bebas Neue"/>
                        </a:rPr>
                        <a:t>{B}</a:t>
                      </a:r>
                    </a:p>
                  </a:txBody>
                  <a:tcPr marL="146304" marR="146304" anchor="ctr">
                    <a:solidFill>
                      <a:srgbClr val="1365A5"/>
                    </a:solidFill>
                  </a:tcPr>
                </a:tc>
                <a:tc>
                  <a:txBody>
                    <a:bodyPr/>
                    <a:lstStyle/>
                    <a:p>
                      <a:pPr algn="l"/>
                      <a:r>
                        <a:rPr sz="2000" b="1">
                          <a:solidFill>
                            <a:srgbClr val="FFFFFF"/>
                          </a:solidFill>
                          <a:latin typeface="Bebas Neue"/>
                        </a:rPr>
                        <a:t>{S, C}</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1 rows · {S, A}, {B}, {S, C}</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X4, 5 =</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216 / 229</a:t>
            </a:r>
          </a:p>
        </p:txBody>
      </p:sp>
      <p:sp>
        <p:nvSpPr>
          <p:cNvPr id="8" name="Rounded Rectangle 7"/>
          <p:cNvSpPr/>
          <p:nvPr/>
        </p:nvSpPr>
        <p:spPr>
          <a:xfrm>
            <a:off x="457200" y="1298448"/>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3593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385876"/>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95132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98881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024481"/>
            <a:ext cx="10213848" cy="385876"/>
          </a:xfrm>
          <a:prstGeom prst="rect">
            <a:avLst/>
          </a:prstGeom>
          <a:noFill/>
        </p:spPr>
        <p:txBody>
          <a:bodyPr wrap="square" anchor="ctr" lIns="0" tIns="0" rIns="0" bIns="0">
            <a:spAutoFit/>
          </a:bodyPr>
          <a:lstStyle/>
          <a:p>
            <a:pPr algn="l"/>
            <a:r>
              <a:rPr sz="1210" b="1">
                <a:solidFill>
                  <a:srgbClr val="1365A5"/>
                </a:solidFill>
                <a:latin typeface="Bebas Neue"/>
              </a:rPr>
              <a:t>X4, 5 = (Xi, i,Xi+1, j) = (X4, 4</a:t>
            </a:r>
          </a:p>
        </p:txBody>
      </p:sp>
      <p:sp>
        <p:nvSpPr>
          <p:cNvPr id="14" name="Rounded Rectangle 13"/>
          <p:cNvSpPr/>
          <p:nvPr/>
        </p:nvSpPr>
        <p:spPr>
          <a:xfrm>
            <a:off x="457200" y="2604211"/>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64170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677363"/>
            <a:ext cx="10213848" cy="385876"/>
          </a:xfrm>
          <a:prstGeom prst="rect">
            <a:avLst/>
          </a:prstGeom>
          <a:noFill/>
        </p:spPr>
        <p:txBody>
          <a:bodyPr wrap="square" anchor="ctr" lIns="0" tIns="0" rIns="0" bIns="0">
            <a:spAutoFit/>
          </a:bodyPr>
          <a:lstStyle/>
          <a:p>
            <a:pPr algn="l"/>
            <a:r>
              <a:rPr sz="1210" b="1">
                <a:solidFill>
                  <a:srgbClr val="1365A5"/>
                </a:solidFill>
                <a:latin typeface="Bebas Neue"/>
              </a:rPr>
              <a:t>X5, 5)</a:t>
            </a:r>
          </a:p>
        </p:txBody>
      </p:sp>
      <p:sp>
        <p:nvSpPr>
          <p:cNvPr id="17" name="Rounded Rectangle 16"/>
          <p:cNvSpPr/>
          <p:nvPr/>
        </p:nvSpPr>
        <p:spPr>
          <a:xfrm>
            <a:off x="457200" y="3257092"/>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29458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330244"/>
            <a:ext cx="10213848" cy="385876"/>
          </a:xfrm>
          <a:prstGeom prst="rect">
            <a:avLst/>
          </a:prstGeom>
          <a:noFill/>
        </p:spPr>
        <p:txBody>
          <a:bodyPr wrap="square" anchor="ctr" lIns="0" tIns="0" rIns="0" bIns="0">
            <a:spAutoFit/>
          </a:bodyPr>
          <a:lstStyle/>
          <a:p>
            <a:pPr algn="l"/>
            <a:r>
              <a:rPr sz="1210" b="1">
                <a:solidFill>
                  <a:srgbClr val="1365A5"/>
                </a:solidFill>
                <a:latin typeface="Bebas Neue"/>
              </a:rPr>
              <a:t>➔ {B}{A, C} = {BA, BC} = Y</a:t>
            </a:r>
          </a:p>
        </p:txBody>
      </p:sp>
      <p:sp>
        <p:nvSpPr>
          <p:cNvPr id="20" name="Rounded Rectangle 19"/>
          <p:cNvSpPr/>
          <p:nvPr/>
        </p:nvSpPr>
        <p:spPr>
          <a:xfrm>
            <a:off x="457200" y="3909974"/>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9474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983126"/>
            <a:ext cx="10213848" cy="385876"/>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3" name="Rounded Rectangle 22"/>
          <p:cNvSpPr/>
          <p:nvPr/>
        </p:nvSpPr>
        <p:spPr>
          <a:xfrm>
            <a:off x="457200" y="4562856"/>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60034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636008"/>
            <a:ext cx="10213848" cy="385876"/>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Y</a:t>
            </a:r>
          </a:p>
        </p:txBody>
      </p:sp>
      <p:sp>
        <p:nvSpPr>
          <p:cNvPr id="26" name="Rounded Rectangle 25"/>
          <p:cNvSpPr/>
          <p:nvPr/>
        </p:nvSpPr>
        <p:spPr>
          <a:xfrm>
            <a:off x="457200" y="5215737"/>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253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5288889"/>
            <a:ext cx="10213848" cy="385876"/>
          </a:xfrm>
          <a:prstGeom prst="rect">
            <a:avLst/>
          </a:prstGeom>
          <a:noFill/>
        </p:spPr>
        <p:txBody>
          <a:bodyPr wrap="square" anchor="ctr" lIns="0" tIns="0" rIns="0" bIns="0">
            <a:spAutoFit/>
          </a:bodyPr>
          <a:lstStyle/>
          <a:p>
            <a:pPr algn="l"/>
            <a:r>
              <a:rPr sz="1210" b="1">
                <a:solidFill>
                  <a:srgbClr val="1365A5"/>
                </a:solidFill>
                <a:latin typeface="Bebas Neue"/>
              </a:rPr>
              <a:t>There are two: S and A</a:t>
            </a:r>
          </a:p>
        </p:txBody>
      </p:sp>
      <p:sp>
        <p:nvSpPr>
          <p:cNvPr id="29" name="Rounded Rectangle 28"/>
          <p:cNvSpPr/>
          <p:nvPr/>
        </p:nvSpPr>
        <p:spPr>
          <a:xfrm>
            <a:off x="457200" y="586861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90610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5941771"/>
            <a:ext cx="10213848" cy="385876"/>
          </a:xfrm>
          <a:prstGeom prst="rect">
            <a:avLst/>
          </a:prstGeom>
          <a:noFill/>
        </p:spPr>
        <p:txBody>
          <a:bodyPr wrap="square" anchor="ctr" lIns="0" tIns="0" rIns="0" bIns="0">
            <a:spAutoFit/>
          </a:bodyPr>
          <a:lstStyle/>
          <a:p>
            <a:pPr algn="l"/>
            <a:r>
              <a:rPr sz="1210" b="1">
                <a:solidFill>
                  <a:srgbClr val="1365A5"/>
                </a:solidFill>
                <a:latin typeface="Bebas Neue"/>
              </a:rPr>
              <a:t>S → AB</a:t>
            </a:r>
          </a:p>
          <a:p>
            <a:pPr algn="l">
              <a:spcBef>
                <a:spcPts val="300"/>
              </a:spcBef>
            </a:pPr>
            <a:r>
              <a:rPr sz="1050" b="0">
                <a:solidFill>
                  <a:srgbClr val="111111"/>
                </a:solidFill>
                <a:latin typeface="Inter"/>
              </a:rPr>
              <a:t>BC</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(9/15)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217 / 229</a:t>
            </a:r>
          </a:p>
        </p:txBody>
      </p:sp>
      <p:graphicFrame>
        <p:nvGraphicFramePr>
          <p:cNvPr id="8" name="Table 7"/>
          <p:cNvGraphicFramePr>
            <a:graphicFrameLocks noGrp="1"/>
          </p:cNvGraphicFramePr>
          <p:nvPr/>
        </p:nvGraphicFramePr>
        <p:xfrm>
          <a:off x="457200" y="2423160"/>
          <a:ext cx="11274552" cy="173736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{S, A}</a:t>
                      </a:r>
                    </a:p>
                  </a:txBody>
                  <a:tcPr marL="146304" marR="146304" anchor="ctr">
                    <a:solidFill>
                      <a:srgbClr val="1365A5"/>
                    </a:solidFill>
                  </a:tcPr>
                </a:tc>
                <a:tc>
                  <a:txBody>
                    <a:bodyPr/>
                    <a:lstStyle/>
                    <a:p>
                      <a:pPr algn="l"/>
                      <a:r>
                        <a:rPr sz="2000" b="1">
                          <a:solidFill>
                            <a:srgbClr val="FFFFFF"/>
                          </a:solidFill>
                          <a:latin typeface="Bebas Neue"/>
                        </a:rPr>
                        <a:t>{B}</a:t>
                      </a:r>
                    </a:p>
                  </a:txBody>
                  <a:tcPr marL="146304" marR="146304" anchor="ctr">
                    <a:solidFill>
                      <a:srgbClr val="1365A5"/>
                    </a:solidFill>
                  </a:tcPr>
                </a:tc>
                <a:tc>
                  <a:txBody>
                    <a:bodyPr/>
                    <a:lstStyle/>
                    <a:p>
                      <a:pPr algn="l"/>
                      <a:r>
                        <a:rPr sz="2000" b="1">
                          <a:solidFill>
                            <a:srgbClr val="FFFFFF"/>
                          </a:solidFill>
                          <a:latin typeface="Bebas Neue"/>
                        </a:rPr>
                        <a:t>{S, C}</a:t>
                      </a:r>
                    </a:p>
                  </a:txBody>
                  <a:tcPr marL="146304" marR="146304" anchor="ctr">
                    <a:solidFill>
                      <a:srgbClr val="1365A5"/>
                    </a:solidFill>
                  </a:tcPr>
                </a:tc>
                <a:tc>
                  <a:txBody>
                    <a:bodyPr/>
                    <a:lstStyle/>
                    <a:p>
                      <a:pPr algn="l"/>
                      <a:r>
                        <a:rPr sz="2000" b="1">
                          <a:solidFill>
                            <a:srgbClr val="FFFFFF"/>
                          </a:solidFill>
                          <a:latin typeface="Bebas Neue"/>
                        </a:rPr>
                        <a:t>{S, A}</a:t>
                      </a:r>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{A, C}</a:t>
                      </a:r>
                    </a:p>
                  </a:txBody>
                  <a:tcPr marL="146304" marR="146304" anchor="ctr">
                    <a:solidFill>
                      <a:srgbClr val="F5F6F8"/>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1 rows · {S, A}, {B}, {S, C}, {S, A}</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X1, 3</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218 / 229</a:t>
            </a:r>
          </a:p>
        </p:txBody>
      </p:sp>
      <p:sp>
        <p:nvSpPr>
          <p:cNvPr id="8" name="Rounded Rectangle 7"/>
          <p:cNvSpPr/>
          <p:nvPr/>
        </p:nvSpPr>
        <p:spPr>
          <a:xfrm>
            <a:off x="457200" y="1298448"/>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3593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385876"/>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95132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98881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024481"/>
            <a:ext cx="10213848" cy="385876"/>
          </a:xfrm>
          <a:prstGeom prst="rect">
            <a:avLst/>
          </a:prstGeom>
          <a:noFill/>
        </p:spPr>
        <p:txBody>
          <a:bodyPr wrap="square" anchor="ctr" lIns="0" tIns="0" rIns="0" bIns="0">
            <a:spAutoFit/>
          </a:bodyPr>
          <a:lstStyle/>
          <a:p>
            <a:pPr algn="l"/>
            <a:r>
              <a:rPr sz="1210" b="1">
                <a:solidFill>
                  <a:srgbClr val="1365A5"/>
                </a:solidFill>
                <a:latin typeface="Bebas Neue"/>
              </a:rPr>
              <a:t>X1, 3</a:t>
            </a:r>
          </a:p>
        </p:txBody>
      </p:sp>
      <p:sp>
        <p:nvSpPr>
          <p:cNvPr id="14" name="Rounded Rectangle 13"/>
          <p:cNvSpPr/>
          <p:nvPr/>
        </p:nvSpPr>
        <p:spPr>
          <a:xfrm>
            <a:off x="457200" y="2604211"/>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64170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677363"/>
            <a:ext cx="10213848" cy="385876"/>
          </a:xfrm>
          <a:prstGeom prst="rect">
            <a:avLst/>
          </a:prstGeom>
          <a:noFill/>
        </p:spPr>
        <p:txBody>
          <a:bodyPr wrap="square" anchor="ctr" lIns="0" tIns="0" rIns="0" bIns="0">
            <a:spAutoFit/>
          </a:bodyPr>
          <a:lstStyle/>
          <a:p>
            <a:pPr algn="l"/>
            <a:r>
              <a:rPr sz="1210" b="1">
                <a:solidFill>
                  <a:srgbClr val="1365A5"/>
                </a:solidFill>
                <a:latin typeface="Bebas Neue"/>
              </a:rPr>
              <a:t>= (Xi, i,Xi+1, j) (Xi, i+1,Xi+2, j) = (X1, 1, X2, 3), (X1, 2, X3, 3)</a:t>
            </a:r>
          </a:p>
        </p:txBody>
      </p:sp>
      <p:sp>
        <p:nvSpPr>
          <p:cNvPr id="17" name="Rounded Rectangle 16"/>
          <p:cNvSpPr/>
          <p:nvPr/>
        </p:nvSpPr>
        <p:spPr>
          <a:xfrm>
            <a:off x="457200" y="3257092"/>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29458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330244"/>
            <a:ext cx="10213848" cy="385876"/>
          </a:xfrm>
          <a:prstGeom prst="rect">
            <a:avLst/>
          </a:prstGeom>
          <a:noFill/>
        </p:spPr>
        <p:txBody>
          <a:bodyPr wrap="square" anchor="ctr" lIns="0" tIns="0" rIns="0" bIns="0">
            <a:spAutoFit/>
          </a:bodyPr>
          <a:lstStyle/>
          <a:p>
            <a:pPr algn="l"/>
            <a:r>
              <a:rPr sz="1210" b="1">
                <a:solidFill>
                  <a:srgbClr val="1365A5"/>
                </a:solidFill>
                <a:latin typeface="Bebas Neue"/>
              </a:rPr>
              <a:t>➔ {B}{B} U {S, A}{A, C}= {BB, SA, SC, AA, AC} = Y</a:t>
            </a:r>
          </a:p>
        </p:txBody>
      </p:sp>
      <p:sp>
        <p:nvSpPr>
          <p:cNvPr id="20" name="Rounded Rectangle 19"/>
          <p:cNvSpPr/>
          <p:nvPr/>
        </p:nvSpPr>
        <p:spPr>
          <a:xfrm>
            <a:off x="457200" y="3909974"/>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9474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983126"/>
            <a:ext cx="10213848" cy="385876"/>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3" name="Rounded Rectangle 22"/>
          <p:cNvSpPr/>
          <p:nvPr/>
        </p:nvSpPr>
        <p:spPr>
          <a:xfrm>
            <a:off x="457200" y="4562856"/>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60034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636008"/>
            <a:ext cx="10213848" cy="385876"/>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Y</a:t>
            </a:r>
          </a:p>
        </p:txBody>
      </p:sp>
      <p:sp>
        <p:nvSpPr>
          <p:cNvPr id="26" name="Rounded Rectangle 25"/>
          <p:cNvSpPr/>
          <p:nvPr/>
        </p:nvSpPr>
        <p:spPr>
          <a:xfrm>
            <a:off x="457200" y="5215737"/>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253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5288889"/>
            <a:ext cx="10213848" cy="385876"/>
          </a:xfrm>
          <a:prstGeom prst="rect">
            <a:avLst/>
          </a:prstGeom>
          <a:noFill/>
        </p:spPr>
        <p:txBody>
          <a:bodyPr wrap="square" anchor="ctr" lIns="0" tIns="0" rIns="0" bIns="0">
            <a:spAutoFit/>
          </a:bodyPr>
          <a:lstStyle/>
          <a:p>
            <a:pPr algn="l"/>
            <a:r>
              <a:rPr sz="1210" b="1">
                <a:solidFill>
                  <a:srgbClr val="1365A5"/>
                </a:solidFill>
                <a:latin typeface="Bebas Neue"/>
              </a:rPr>
              <a:t>S → AB</a:t>
            </a:r>
          </a:p>
          <a:p>
            <a:pPr algn="l">
              <a:spcBef>
                <a:spcPts val="300"/>
              </a:spcBef>
            </a:pPr>
            <a:r>
              <a:rPr sz="1050" b="0">
                <a:solidFill>
                  <a:srgbClr val="111111"/>
                </a:solidFill>
                <a:latin typeface="Inter"/>
              </a:rPr>
              <a:t>BC</a:t>
            </a:r>
          </a:p>
        </p:txBody>
      </p:sp>
      <p:sp>
        <p:nvSpPr>
          <p:cNvPr id="29" name="Rounded Rectangle 28"/>
          <p:cNvSpPr/>
          <p:nvPr/>
        </p:nvSpPr>
        <p:spPr>
          <a:xfrm>
            <a:off x="457200" y="586861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90610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5941771"/>
            <a:ext cx="10213848" cy="385876"/>
          </a:xfrm>
          <a:prstGeom prst="rect">
            <a:avLst/>
          </a:prstGeom>
          <a:noFill/>
        </p:spPr>
        <p:txBody>
          <a:bodyPr wrap="square" anchor="ctr" lIns="0" tIns="0" rIns="0" bIns="0">
            <a:spAutoFit/>
          </a:bodyPr>
          <a:lstStyle/>
          <a:p>
            <a:pPr algn="l"/>
            <a:r>
              <a:rPr sz="1210" b="1">
                <a:solidFill>
                  <a:srgbClr val="1365A5"/>
                </a:solidFill>
                <a:latin typeface="Bebas Neue"/>
              </a:rPr>
              <a:t>There are NONE: S and A</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(11/15)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219 / 229</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Ø</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{S, A}</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{S, C}</a:t>
                      </a:r>
                    </a:p>
                  </a:txBody>
                  <a:tcPr marL="146304" marR="146304" anchor="ctr">
                    <a:solidFill>
                      <a:srgbClr val="F5F6F8"/>
                    </a:solidFill>
                  </a:tcPr>
                </a:tc>
                <a:tc>
                  <a:txBody>
                    <a:bodyPr/>
                    <a:lstStyle/>
                    <a:p>
                      <a:pPr algn="l"/>
                      <a:r>
                        <a:rPr sz="2000" b="0">
                          <a:solidFill>
                            <a:srgbClr val="111111"/>
                          </a:solidFill>
                          <a:latin typeface="Inter"/>
                        </a:rPr>
                        <a:t>{S, A}</a:t>
                      </a:r>
                    </a:p>
                  </a:txBody>
                  <a:tcPr marL="146304" marR="146304" anchor="ctr">
                    <a:solidFill>
                      <a:srgbClr val="F5F6F8"/>
                    </a:solidFill>
                  </a:tcPr>
                </a:tc>
                <a:tc>
                  <a:txBody>
                    <a:bodyPr/>
                    <a:lstStyle/>
                    <a:p>
                      <a:pPr algn="l"/>
                    </a:p>
                  </a:txBody>
                  <a:tcPr marL="146304" marR="146304" anchor="ctr">
                    <a:solidFill>
                      <a:srgbClr val="F5F6F8"/>
                    </a:solidFill>
                  </a:tcPr>
                </a:tc>
              </a:tr>
              <a:tr h="1051560">
                <a:tc>
                  <a:txBody>
                    <a:bodyPr/>
                    <a:lstStyle/>
                    <a:p>
                      <a:pPr algn="l"/>
                      <a:r>
                        <a:rPr sz="2000" b="1">
                          <a:solidFill>
                            <a:srgbClr val="1365A5"/>
                          </a:solidFill>
                          <a:latin typeface="Bebas Neue"/>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2 rows · Ø</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X2, 4</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220 / 229</a:t>
            </a:r>
          </a:p>
        </p:txBody>
      </p:sp>
      <p:sp>
        <p:nvSpPr>
          <p:cNvPr id="8" name="Rounded Rectangle 7"/>
          <p:cNvSpPr/>
          <p:nvPr/>
        </p:nvSpPr>
        <p:spPr>
          <a:xfrm>
            <a:off x="457200" y="1298448"/>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3593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385876"/>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95132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98881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024481"/>
            <a:ext cx="10213848" cy="385876"/>
          </a:xfrm>
          <a:prstGeom prst="rect">
            <a:avLst/>
          </a:prstGeom>
          <a:noFill/>
        </p:spPr>
        <p:txBody>
          <a:bodyPr wrap="square" anchor="ctr" lIns="0" tIns="0" rIns="0" bIns="0">
            <a:spAutoFit/>
          </a:bodyPr>
          <a:lstStyle/>
          <a:p>
            <a:pPr algn="l"/>
            <a:r>
              <a:rPr sz="1210" b="1">
                <a:solidFill>
                  <a:srgbClr val="1365A5"/>
                </a:solidFill>
                <a:latin typeface="Bebas Neue"/>
              </a:rPr>
              <a:t>X2, 4</a:t>
            </a:r>
          </a:p>
        </p:txBody>
      </p:sp>
      <p:sp>
        <p:nvSpPr>
          <p:cNvPr id="14" name="Rounded Rectangle 13"/>
          <p:cNvSpPr/>
          <p:nvPr/>
        </p:nvSpPr>
        <p:spPr>
          <a:xfrm>
            <a:off x="457200" y="2604211"/>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64170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677363"/>
            <a:ext cx="10213848" cy="385876"/>
          </a:xfrm>
          <a:prstGeom prst="rect">
            <a:avLst/>
          </a:prstGeom>
          <a:noFill/>
        </p:spPr>
        <p:txBody>
          <a:bodyPr wrap="square" anchor="ctr" lIns="0" tIns="0" rIns="0" bIns="0">
            <a:spAutoFit/>
          </a:bodyPr>
          <a:lstStyle/>
          <a:p>
            <a:pPr algn="l"/>
            <a:r>
              <a:rPr sz="1210" b="1">
                <a:solidFill>
                  <a:srgbClr val="1365A5"/>
                </a:solidFill>
                <a:latin typeface="Bebas Neue"/>
              </a:rPr>
              <a:t>= (Xi, i,Xi+1, j) (Xi, i+1,Xi+2, j) = (X2, 2, X3, 4), (X2, 3, X4, 4)</a:t>
            </a:r>
          </a:p>
        </p:txBody>
      </p:sp>
      <p:sp>
        <p:nvSpPr>
          <p:cNvPr id="17" name="Rounded Rectangle 16"/>
          <p:cNvSpPr/>
          <p:nvPr/>
        </p:nvSpPr>
        <p:spPr>
          <a:xfrm>
            <a:off x="457200" y="3257092"/>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29458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330244"/>
            <a:ext cx="10213848" cy="385876"/>
          </a:xfrm>
          <a:prstGeom prst="rect">
            <a:avLst/>
          </a:prstGeom>
          <a:noFill/>
        </p:spPr>
        <p:txBody>
          <a:bodyPr wrap="square" anchor="ctr" lIns="0" tIns="0" rIns="0" bIns="0">
            <a:spAutoFit/>
          </a:bodyPr>
          <a:lstStyle/>
          <a:p>
            <a:pPr algn="l"/>
            <a:r>
              <a:rPr sz="1210" b="1">
                <a:solidFill>
                  <a:srgbClr val="1365A5"/>
                </a:solidFill>
                <a:latin typeface="Bebas Neue"/>
              </a:rPr>
              <a:t>➔ {A, C}{S, C} U {B}{B}= {AS, AC, CS, CC, BB} = Y</a:t>
            </a:r>
          </a:p>
        </p:txBody>
      </p:sp>
      <p:sp>
        <p:nvSpPr>
          <p:cNvPr id="20" name="Rounded Rectangle 19"/>
          <p:cNvSpPr/>
          <p:nvPr/>
        </p:nvSpPr>
        <p:spPr>
          <a:xfrm>
            <a:off x="457200" y="3909974"/>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9474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983126"/>
            <a:ext cx="10213848" cy="385876"/>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3" name="Rounded Rectangle 22"/>
          <p:cNvSpPr/>
          <p:nvPr/>
        </p:nvSpPr>
        <p:spPr>
          <a:xfrm>
            <a:off x="457200" y="4562856"/>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60034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636008"/>
            <a:ext cx="10213848" cy="385876"/>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Y</a:t>
            </a:r>
          </a:p>
        </p:txBody>
      </p:sp>
      <p:sp>
        <p:nvSpPr>
          <p:cNvPr id="26" name="Rounded Rectangle 25"/>
          <p:cNvSpPr/>
          <p:nvPr/>
        </p:nvSpPr>
        <p:spPr>
          <a:xfrm>
            <a:off x="457200" y="5215737"/>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253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5288889"/>
            <a:ext cx="10213848" cy="385876"/>
          </a:xfrm>
          <a:prstGeom prst="rect">
            <a:avLst/>
          </a:prstGeom>
          <a:noFill/>
        </p:spPr>
        <p:txBody>
          <a:bodyPr wrap="square" anchor="ctr" lIns="0" tIns="0" rIns="0" bIns="0">
            <a:spAutoFit/>
          </a:bodyPr>
          <a:lstStyle/>
          <a:p>
            <a:pPr algn="l"/>
            <a:r>
              <a:rPr sz="1210" b="1">
                <a:solidFill>
                  <a:srgbClr val="1365A5"/>
                </a:solidFill>
                <a:latin typeface="Bebas Neue"/>
              </a:rPr>
              <a:t>S → AB</a:t>
            </a:r>
          </a:p>
          <a:p>
            <a:pPr algn="l">
              <a:spcBef>
                <a:spcPts val="300"/>
              </a:spcBef>
            </a:pPr>
            <a:r>
              <a:rPr sz="1050" b="0">
                <a:solidFill>
                  <a:srgbClr val="111111"/>
                </a:solidFill>
                <a:latin typeface="Inter"/>
              </a:rPr>
              <a:t>BC</a:t>
            </a:r>
          </a:p>
        </p:txBody>
      </p:sp>
      <p:sp>
        <p:nvSpPr>
          <p:cNvPr id="29" name="Rounded Rectangle 28"/>
          <p:cNvSpPr/>
          <p:nvPr/>
        </p:nvSpPr>
        <p:spPr>
          <a:xfrm>
            <a:off x="457200" y="586861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90610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5941771"/>
            <a:ext cx="10213848" cy="385876"/>
          </a:xfrm>
          <a:prstGeom prst="rect">
            <a:avLst/>
          </a:prstGeom>
          <a:noFill/>
        </p:spPr>
        <p:txBody>
          <a:bodyPr wrap="square" anchor="ctr" lIns="0" tIns="0" rIns="0" bIns="0">
            <a:spAutoFit/>
          </a:bodyPr>
          <a:lstStyle/>
          <a:p>
            <a:pPr algn="l"/>
            <a:r>
              <a:rPr sz="1210" b="1">
                <a:solidFill>
                  <a:srgbClr val="1365A5"/>
                </a:solidFill>
                <a:latin typeface="Bebas Neue"/>
              </a:rPr>
              <a:t>There is one: B</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(13/15)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221 / 229</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Ø</a:t>
                      </a:r>
                    </a:p>
                  </a:txBody>
                  <a:tcPr marL="146304" marR="146304" anchor="ctr">
                    <a:solidFill>
                      <a:srgbClr val="1365A5"/>
                    </a:solidFill>
                  </a:tcPr>
                </a:tc>
                <a:tc>
                  <a:txBody>
                    <a:bodyPr/>
                    <a:lstStyle/>
                    <a:p>
                      <a:pPr algn="l"/>
                      <a:r>
                        <a:rPr sz="2000" b="1">
                          <a:solidFill>
                            <a:srgbClr val="FFFFFF"/>
                          </a:solidFill>
                          <a:latin typeface="Bebas Neue"/>
                        </a:rPr>
                        <a:t>{B}</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{S, A}</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{S, C}</a:t>
                      </a:r>
                    </a:p>
                  </a:txBody>
                  <a:tcPr marL="146304" marR="146304" anchor="ctr">
                    <a:solidFill>
                      <a:srgbClr val="F5F6F8"/>
                    </a:solidFill>
                  </a:tcPr>
                </a:tc>
                <a:tc>
                  <a:txBody>
                    <a:bodyPr/>
                    <a:lstStyle/>
                    <a:p>
                      <a:pPr algn="l"/>
                      <a:r>
                        <a:rPr sz="2000" b="0">
                          <a:solidFill>
                            <a:srgbClr val="111111"/>
                          </a:solidFill>
                          <a:latin typeface="Inter"/>
                        </a:rPr>
                        <a:t>{S, A}</a:t>
                      </a:r>
                    </a:p>
                  </a:txBody>
                  <a:tcPr marL="146304" marR="146304" anchor="ctr">
                    <a:solidFill>
                      <a:srgbClr val="F5F6F8"/>
                    </a:solidFill>
                  </a:tcPr>
                </a:tc>
                <a:tc>
                  <a:txBody>
                    <a:bodyPr/>
                    <a:lstStyle/>
                    <a:p>
                      <a:pPr algn="l"/>
                    </a:p>
                  </a:txBody>
                  <a:tcPr marL="146304" marR="146304" anchor="ctr">
                    <a:solidFill>
                      <a:srgbClr val="F5F6F8"/>
                    </a:solidFill>
                  </a:tcPr>
                </a:tc>
              </a:tr>
              <a:tr h="1051560">
                <a:tc>
                  <a:txBody>
                    <a:bodyPr/>
                    <a:lstStyle/>
                    <a:p>
                      <a:pPr algn="l"/>
                      <a:r>
                        <a:rPr sz="2000" b="1">
                          <a:solidFill>
                            <a:srgbClr val="1365A5"/>
                          </a:solidFill>
                          <a:latin typeface="Bebas Neue"/>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2 rows · Ø, {B}</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X3, 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222 / 229</a:t>
            </a:r>
          </a:p>
        </p:txBody>
      </p:sp>
      <p:sp>
        <p:nvSpPr>
          <p:cNvPr id="8" name="Rounded Rectangle 7"/>
          <p:cNvSpPr/>
          <p:nvPr/>
        </p:nvSpPr>
        <p:spPr>
          <a:xfrm>
            <a:off x="457200" y="1298448"/>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33593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1</a:t>
            </a:r>
          </a:p>
        </p:txBody>
      </p:sp>
      <p:sp>
        <p:nvSpPr>
          <p:cNvPr id="10" name="TextBox 9"/>
          <p:cNvSpPr txBox="1"/>
          <p:nvPr/>
        </p:nvSpPr>
        <p:spPr>
          <a:xfrm>
            <a:off x="1316736" y="1371600"/>
            <a:ext cx="10213848" cy="385876"/>
          </a:xfrm>
          <a:prstGeom prst="rect">
            <a:avLst/>
          </a:prstGeom>
          <a:noFill/>
        </p:spPr>
        <p:txBody>
          <a:bodyPr wrap="square" anchor="ctr" lIns="0" tIns="0" rIns="0" bIns="0">
            <a:spAutoFit/>
          </a:bodyPr>
          <a:lstStyle/>
          <a:p>
            <a:pPr algn="l"/>
            <a:r>
              <a:rPr sz="1210" b="1">
                <a:solidFill>
                  <a:srgbClr val="1365A5"/>
                </a:solidFill>
                <a:latin typeface="Bebas Neue"/>
              </a:rPr>
              <a:t>CONSTRUCTING THE TRIANGULAR TABLE</a:t>
            </a:r>
          </a:p>
        </p:txBody>
      </p:sp>
      <p:sp>
        <p:nvSpPr>
          <p:cNvPr id="11" name="Rounded Rectangle 10"/>
          <p:cNvSpPr/>
          <p:nvPr/>
        </p:nvSpPr>
        <p:spPr>
          <a:xfrm>
            <a:off x="457200" y="195132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8368" y="198881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2</a:t>
            </a:r>
          </a:p>
        </p:txBody>
      </p:sp>
      <p:sp>
        <p:nvSpPr>
          <p:cNvPr id="13" name="TextBox 12"/>
          <p:cNvSpPr txBox="1"/>
          <p:nvPr/>
        </p:nvSpPr>
        <p:spPr>
          <a:xfrm>
            <a:off x="1316736" y="2024481"/>
            <a:ext cx="10213848" cy="385876"/>
          </a:xfrm>
          <a:prstGeom prst="rect">
            <a:avLst/>
          </a:prstGeom>
          <a:noFill/>
        </p:spPr>
        <p:txBody>
          <a:bodyPr wrap="square" anchor="ctr" lIns="0" tIns="0" rIns="0" bIns="0">
            <a:spAutoFit/>
          </a:bodyPr>
          <a:lstStyle/>
          <a:p>
            <a:pPr algn="l"/>
            <a:r>
              <a:rPr sz="1210" b="1">
                <a:solidFill>
                  <a:srgbClr val="1365A5"/>
                </a:solidFill>
                <a:latin typeface="Bebas Neue"/>
              </a:rPr>
              <a:t>X3, 5</a:t>
            </a:r>
          </a:p>
        </p:txBody>
      </p:sp>
      <p:sp>
        <p:nvSpPr>
          <p:cNvPr id="14" name="Rounded Rectangle 13"/>
          <p:cNvSpPr/>
          <p:nvPr/>
        </p:nvSpPr>
        <p:spPr>
          <a:xfrm>
            <a:off x="457200" y="2604211"/>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2641701"/>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3</a:t>
            </a:r>
          </a:p>
        </p:txBody>
      </p:sp>
      <p:sp>
        <p:nvSpPr>
          <p:cNvPr id="16" name="TextBox 15"/>
          <p:cNvSpPr txBox="1"/>
          <p:nvPr/>
        </p:nvSpPr>
        <p:spPr>
          <a:xfrm>
            <a:off x="1316736" y="2677363"/>
            <a:ext cx="10213848" cy="385876"/>
          </a:xfrm>
          <a:prstGeom prst="rect">
            <a:avLst/>
          </a:prstGeom>
          <a:noFill/>
        </p:spPr>
        <p:txBody>
          <a:bodyPr wrap="square" anchor="ctr" lIns="0" tIns="0" rIns="0" bIns="0">
            <a:spAutoFit/>
          </a:bodyPr>
          <a:lstStyle/>
          <a:p>
            <a:pPr algn="l"/>
            <a:r>
              <a:rPr sz="1210" b="1">
                <a:solidFill>
                  <a:srgbClr val="1365A5"/>
                </a:solidFill>
                <a:latin typeface="Bebas Neue"/>
              </a:rPr>
              <a:t>= (Xi, i,Xi+1, j) (Xi, i+1,Xi+2, j) = (X3, 3, X4, 5), (X3, 4, X5, 5)</a:t>
            </a:r>
          </a:p>
        </p:txBody>
      </p:sp>
      <p:sp>
        <p:nvSpPr>
          <p:cNvPr id="17" name="Rounded Rectangle 16"/>
          <p:cNvSpPr/>
          <p:nvPr/>
        </p:nvSpPr>
        <p:spPr>
          <a:xfrm>
            <a:off x="457200" y="3257092"/>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8368" y="3294583"/>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4</a:t>
            </a:r>
          </a:p>
        </p:txBody>
      </p:sp>
      <p:sp>
        <p:nvSpPr>
          <p:cNvPr id="19" name="TextBox 18"/>
          <p:cNvSpPr txBox="1"/>
          <p:nvPr/>
        </p:nvSpPr>
        <p:spPr>
          <a:xfrm>
            <a:off x="1316736" y="3330244"/>
            <a:ext cx="10213848" cy="385876"/>
          </a:xfrm>
          <a:prstGeom prst="rect">
            <a:avLst/>
          </a:prstGeom>
          <a:noFill/>
        </p:spPr>
        <p:txBody>
          <a:bodyPr wrap="square" anchor="ctr" lIns="0" tIns="0" rIns="0" bIns="0">
            <a:spAutoFit/>
          </a:bodyPr>
          <a:lstStyle/>
          <a:p>
            <a:pPr algn="l"/>
            <a:r>
              <a:rPr sz="1210" b="1">
                <a:solidFill>
                  <a:srgbClr val="1365A5"/>
                </a:solidFill>
                <a:latin typeface="Bebas Neue"/>
              </a:rPr>
              <a:t>➔ {A,C}{S,A} U {S,C}{A,C}</a:t>
            </a:r>
          </a:p>
        </p:txBody>
      </p:sp>
      <p:sp>
        <p:nvSpPr>
          <p:cNvPr id="20" name="Rounded Rectangle 19"/>
          <p:cNvSpPr/>
          <p:nvPr/>
        </p:nvSpPr>
        <p:spPr>
          <a:xfrm>
            <a:off x="457200" y="3909974"/>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3947464"/>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5</a:t>
            </a:r>
          </a:p>
        </p:txBody>
      </p:sp>
      <p:sp>
        <p:nvSpPr>
          <p:cNvPr id="22" name="TextBox 21"/>
          <p:cNvSpPr txBox="1"/>
          <p:nvPr/>
        </p:nvSpPr>
        <p:spPr>
          <a:xfrm>
            <a:off x="1316736" y="3983126"/>
            <a:ext cx="10213848" cy="385876"/>
          </a:xfrm>
          <a:prstGeom prst="rect">
            <a:avLst/>
          </a:prstGeom>
          <a:noFill/>
        </p:spPr>
        <p:txBody>
          <a:bodyPr wrap="square" anchor="ctr" lIns="0" tIns="0" rIns="0" bIns="0">
            <a:spAutoFit/>
          </a:bodyPr>
          <a:lstStyle/>
          <a:p>
            <a:pPr algn="l"/>
            <a:r>
              <a:rPr sz="1210" b="1">
                <a:solidFill>
                  <a:srgbClr val="1365A5"/>
                </a:solidFill>
                <a:latin typeface="Bebas Neue"/>
              </a:rPr>
              <a:t>= {AS, AA, CS, CA, SA, SC, CA, CC} = Y</a:t>
            </a:r>
          </a:p>
        </p:txBody>
      </p:sp>
      <p:sp>
        <p:nvSpPr>
          <p:cNvPr id="23" name="Rounded Rectangle 22"/>
          <p:cNvSpPr/>
          <p:nvPr/>
        </p:nvSpPr>
        <p:spPr>
          <a:xfrm>
            <a:off x="457200" y="4562856"/>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8368" y="4600346"/>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6</a:t>
            </a:r>
          </a:p>
        </p:txBody>
      </p:sp>
      <p:sp>
        <p:nvSpPr>
          <p:cNvPr id="25" name="TextBox 24"/>
          <p:cNvSpPr txBox="1"/>
          <p:nvPr/>
        </p:nvSpPr>
        <p:spPr>
          <a:xfrm>
            <a:off x="1316736" y="4636008"/>
            <a:ext cx="10213848" cy="385876"/>
          </a:xfrm>
          <a:prstGeom prst="rect">
            <a:avLst/>
          </a:prstGeom>
          <a:noFill/>
        </p:spPr>
        <p:txBody>
          <a:bodyPr wrap="square" anchor="ctr" lIns="0" tIns="0" rIns="0" bIns="0">
            <a:spAutoFit/>
          </a:bodyPr>
          <a:lstStyle/>
          <a:p>
            <a:pPr algn="l"/>
            <a:r>
              <a:rPr sz="1210" b="1">
                <a:solidFill>
                  <a:srgbClr val="1365A5"/>
                </a:solidFill>
                <a:latin typeface="Bebas Neue"/>
              </a:rPr>
              <a:t>Steps:</a:t>
            </a:r>
          </a:p>
        </p:txBody>
      </p:sp>
      <p:sp>
        <p:nvSpPr>
          <p:cNvPr id="26" name="Rounded Rectangle 25"/>
          <p:cNvSpPr/>
          <p:nvPr/>
        </p:nvSpPr>
        <p:spPr>
          <a:xfrm>
            <a:off x="457200" y="5215737"/>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5253228"/>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7</a:t>
            </a:r>
          </a:p>
        </p:txBody>
      </p:sp>
      <p:sp>
        <p:nvSpPr>
          <p:cNvPr id="28" name="TextBox 27"/>
          <p:cNvSpPr txBox="1"/>
          <p:nvPr/>
        </p:nvSpPr>
        <p:spPr>
          <a:xfrm>
            <a:off x="1316736" y="5288889"/>
            <a:ext cx="10213848" cy="385876"/>
          </a:xfrm>
          <a:prstGeom prst="rect">
            <a:avLst/>
          </a:prstGeom>
          <a:noFill/>
        </p:spPr>
        <p:txBody>
          <a:bodyPr wrap="square" anchor="ctr" lIns="0" tIns="0" rIns="0" bIns="0">
            <a:spAutoFit/>
          </a:bodyPr>
          <a:lstStyle/>
          <a:p>
            <a:pPr algn="l"/>
            <a:r>
              <a:rPr sz="1210" b="1">
                <a:solidFill>
                  <a:srgbClr val="1365A5"/>
                </a:solidFill>
                <a:latin typeface="Bebas Neue"/>
              </a:rPr>
              <a:t>Look for production rules to generate Y</a:t>
            </a:r>
          </a:p>
        </p:txBody>
      </p:sp>
      <p:sp>
        <p:nvSpPr>
          <p:cNvPr id="29" name="Rounded Rectangle 28"/>
          <p:cNvSpPr/>
          <p:nvPr/>
        </p:nvSpPr>
        <p:spPr>
          <a:xfrm>
            <a:off x="457200" y="5868619"/>
            <a:ext cx="11274552" cy="532180"/>
          </a:xfrm>
          <a:prstGeom prst="roundRect">
            <a:avLst>
              <a:gd name="adj" fmla="val 2646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 y="5906109"/>
            <a:ext cx="457200" cy="457200"/>
          </a:xfrm>
          <a:prstGeom prst="ellipse">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r>
              <a:rPr sz="1300" b="1">
                <a:solidFill>
                  <a:srgbClr val="FFFFFF"/>
                </a:solidFill>
                <a:latin typeface="Bebas Neue"/>
              </a:rPr>
              <a:t>8</a:t>
            </a:r>
          </a:p>
        </p:txBody>
      </p:sp>
      <p:sp>
        <p:nvSpPr>
          <p:cNvPr id="31" name="TextBox 30"/>
          <p:cNvSpPr txBox="1"/>
          <p:nvPr/>
        </p:nvSpPr>
        <p:spPr>
          <a:xfrm>
            <a:off x="1316736" y="5941771"/>
            <a:ext cx="10213848" cy="385876"/>
          </a:xfrm>
          <a:prstGeom prst="rect">
            <a:avLst/>
          </a:prstGeom>
          <a:noFill/>
        </p:spPr>
        <p:txBody>
          <a:bodyPr wrap="square" anchor="ctr" lIns="0" tIns="0" rIns="0" bIns="0">
            <a:spAutoFit/>
          </a:bodyPr>
          <a:lstStyle/>
          <a:p>
            <a:pPr algn="l"/>
            <a:r>
              <a:rPr sz="1210" b="1">
                <a:solidFill>
                  <a:srgbClr val="1365A5"/>
                </a:solidFill>
                <a:latin typeface="Bebas Neue"/>
              </a:rPr>
              <a:t>S → AB</a:t>
            </a:r>
          </a:p>
          <a:p>
            <a:pPr algn="l">
              <a:spcBef>
                <a:spcPts val="300"/>
              </a:spcBef>
            </a:pPr>
            <a:r>
              <a:rPr sz="1050" b="0">
                <a:solidFill>
                  <a:srgbClr val="111111"/>
                </a:solidFill>
                <a:latin typeface="Inter"/>
              </a:rPr>
              <a:t>BC</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5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5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5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45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450"/>
                                        <p:tgtEl>
                                          <p:spTgt spid="15"/>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5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450"/>
                                        <p:tgtEl>
                                          <p:spTgt spid="18"/>
                                        </p:tgtEl>
                                      </p:cBhvr>
                                    </p:animEffect>
                                  </p:childTnLst>
                                </p:cTn>
                              </p:par>
                              <p:par>
                                <p:cTn id="33" presetID="10"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45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5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50"/>
                                        <p:tgtEl>
                                          <p:spTgt spid="21"/>
                                        </p:tgtEl>
                                      </p:cBhvr>
                                    </p:animEffect>
                                  </p:childTnLst>
                                </p:cTn>
                              </p:par>
                              <p:par>
                                <p:cTn id="44" presetID="10" presetClass="entr" presetSubtype="0"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50"/>
                                        <p:tgtEl>
                                          <p:spTgt spid="2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50"/>
                                        <p:tgtEl>
                                          <p:spTgt spid="23"/>
                                        </p:tgtEl>
                                      </p:cBhvr>
                                    </p:animEffect>
                                  </p:childTnLst>
                                </p:cTn>
                              </p:par>
                              <p:par>
                                <p:cTn id="52" presetID="10" presetClass="entr" presetSubtype="0" fill="hold"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45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45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450"/>
                                        <p:tgtEl>
                                          <p:spTgt spid="26"/>
                                        </p:tgtEl>
                                      </p:cBhvr>
                                    </p:animEffect>
                                  </p:childTnLst>
                                </p:cTn>
                              </p:par>
                              <p:par>
                                <p:cTn id="63" presetID="10"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45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450"/>
                                        <p:tgtEl>
                                          <p:spTgt spid="28"/>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9"/>
                                        </p:tgtEl>
                                        <p:attrNameLst>
                                          <p:attrName>style.visibility</p:attrName>
                                        </p:attrNameLst>
                                      </p:cBhvr>
                                      <p:to>
                                        <p:strVal val="visible"/>
                                      </p:to>
                                    </p:set>
                                    <p:animEffect transition="in" filter="fade">
                                      <p:cBhvr>
                                        <p:cTn id="73" dur="450"/>
                                        <p:tgtEl>
                                          <p:spTgt spid="29"/>
                                        </p:tgtEl>
                                      </p:cBhvr>
                                    </p:animEffect>
                                  </p:childTnLst>
                                </p:cTn>
                              </p:par>
                              <p:par>
                                <p:cTn id="74" presetID="10" presetClass="entr" presetSubtype="0" fill="hold" nodeType="withEffect">
                                  <p:stCondLst>
                                    <p:cond delay="0"/>
                                  </p:stCondLst>
                                  <p:childTnLst>
                                    <p:set>
                                      <p:cBhvr>
                                        <p:cTn id="75" dur="1" fill="hold">
                                          <p:stCondLst>
                                            <p:cond delay="0"/>
                                          </p:stCondLst>
                                        </p:cTn>
                                        <p:tgtEl>
                                          <p:spTgt spid="30"/>
                                        </p:tgtEl>
                                        <p:attrNameLst>
                                          <p:attrName>style.visibility</p:attrName>
                                        </p:attrNameLst>
                                      </p:cBhvr>
                                      <p:to>
                                        <p:strVal val="visible"/>
                                      </p:to>
                                    </p:set>
                                    <p:animEffect transition="in" filter="fade">
                                      <p:cBhvr>
                                        <p:cTn id="76" dur="450"/>
                                        <p:tgtEl>
                                          <p:spTgt spid="30"/>
                                        </p:tgtEl>
                                      </p:cBhvr>
                                    </p:animEffect>
                                  </p:childTnLst>
                                </p:cTn>
                              </p:par>
                              <p:par>
                                <p:cTn id="77" presetID="10"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fade">
                                      <p:cBhvr>
                                        <p:cTn id="79"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CONSTRUCTING THE TRIANGULAR TABLE (15/15)</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223 / 229</a:t>
            </a:r>
          </a:p>
        </p:txBody>
      </p:sp>
      <p:graphicFrame>
        <p:nvGraphicFramePr>
          <p:cNvPr id="8" name="Table 7"/>
          <p:cNvGraphicFramePr>
            <a:graphicFrameLocks noGrp="1"/>
          </p:cNvGraphicFramePr>
          <p:nvPr/>
        </p:nvGraphicFramePr>
        <p:xfrm>
          <a:off x="457200" y="1897380"/>
          <a:ext cx="11274552" cy="2788920"/>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Ø</a:t>
                      </a:r>
                    </a:p>
                  </a:txBody>
                  <a:tcPr marL="146304" marR="146304" anchor="ctr">
                    <a:solidFill>
                      <a:srgbClr val="1365A5"/>
                    </a:solidFill>
                  </a:tcPr>
                </a:tc>
                <a:tc>
                  <a:txBody>
                    <a:bodyPr/>
                    <a:lstStyle/>
                    <a:p>
                      <a:pPr algn="l"/>
                      <a:r>
                        <a:rPr sz="2000" b="1">
                          <a:solidFill>
                            <a:srgbClr val="FFFFFF"/>
                          </a:solidFill>
                          <a:latin typeface="Bebas Neue"/>
                        </a:rPr>
                        <a:t>{B}</a:t>
                      </a:r>
                    </a:p>
                  </a:txBody>
                  <a:tcPr marL="146304" marR="146304" anchor="ctr">
                    <a:solidFill>
                      <a:srgbClr val="1365A5"/>
                    </a:solidFill>
                  </a:tcPr>
                </a:tc>
                <a:tc>
                  <a:txBody>
                    <a:bodyPr/>
                    <a:lstStyle/>
                    <a:p>
                      <a:pPr algn="l"/>
                      <a:r>
                        <a:rPr sz="2000" b="1">
                          <a:solidFill>
                            <a:srgbClr val="FFFFFF"/>
                          </a:solidFill>
                          <a:latin typeface="Bebas Neue"/>
                        </a:rPr>
                        <a:t>{B}</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1051560">
                <a:tc>
                  <a:txBody>
                    <a:bodyPr/>
                    <a:lstStyle/>
                    <a:p>
                      <a:pPr algn="l"/>
                      <a:r>
                        <a:rPr sz="2000" b="1">
                          <a:solidFill>
                            <a:srgbClr val="1365A5"/>
                          </a:solidFill>
                          <a:latin typeface="Bebas Neue"/>
                        </a:rPr>
                        <a:t>{S, A}</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{S, C}</a:t>
                      </a:r>
                    </a:p>
                  </a:txBody>
                  <a:tcPr marL="146304" marR="146304" anchor="ctr">
                    <a:solidFill>
                      <a:srgbClr val="F5F6F8"/>
                    </a:solidFill>
                  </a:tcPr>
                </a:tc>
                <a:tc>
                  <a:txBody>
                    <a:bodyPr/>
                    <a:lstStyle/>
                    <a:p>
                      <a:pPr algn="l"/>
                      <a:r>
                        <a:rPr sz="2000" b="0">
                          <a:solidFill>
                            <a:srgbClr val="111111"/>
                          </a:solidFill>
                          <a:latin typeface="Inter"/>
                        </a:rPr>
                        <a:t>{S, A}</a:t>
                      </a:r>
                    </a:p>
                  </a:txBody>
                  <a:tcPr marL="146304" marR="146304" anchor="ctr">
                    <a:solidFill>
                      <a:srgbClr val="F5F6F8"/>
                    </a:solidFill>
                  </a:tcPr>
                </a:tc>
                <a:tc>
                  <a:txBody>
                    <a:bodyPr/>
                    <a:lstStyle/>
                    <a:p>
                      <a:pPr algn="l"/>
                    </a:p>
                  </a:txBody>
                  <a:tcPr marL="146304" marR="146304" anchor="ctr">
                    <a:solidFill>
                      <a:srgbClr val="F5F6F8"/>
                    </a:solidFill>
                  </a:tcPr>
                </a:tc>
              </a:tr>
              <a:tr h="1051560">
                <a:tc>
                  <a:txBody>
                    <a:bodyPr/>
                    <a:lstStyle/>
                    <a:p>
                      <a:pPr algn="l"/>
                      <a:r>
                        <a:rPr sz="2000" b="1">
                          <a:solidFill>
                            <a:srgbClr val="1365A5"/>
                          </a:solidFill>
                          <a:latin typeface="Bebas Neue"/>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2 rows · Ø, {B}, {B}</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l"/>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962863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FINAL TRIANGULAR TABLE</a:t>
            </a:r>
          </a:p>
        </p:txBody>
      </p:sp>
      <p:pic>
        <p:nvPicPr>
          <p:cNvPr id="5" name="Picture 4" descr="image.png">
            <a:hlinkClick r:id="rId4"/>
          </p:cNvPr>
          <p:cNvPicPr>
            <a:picLocks noChangeAspect="1"/>
          </p:cNvPicPr>
          <p:nvPr/>
        </p:nvPicPr>
        <p:blipFill>
          <a:blip r:embed="rId3"/>
          <a:stretch>
            <a:fillRect/>
          </a:stretch>
        </p:blipFill>
        <p:spPr>
          <a:xfrm>
            <a:off x="10314432" y="64008"/>
            <a:ext cx="1417320" cy="877824"/>
          </a:xfrm>
          <a:prstGeom prst="rect">
            <a:avLst/>
          </a:prstGeom>
        </p:spPr>
      </p:pic>
      <p:sp>
        <p:nvSpPr>
          <p:cNvPr id="6" name="TextBox 5"/>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7" name="TextBox 6"/>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224 / 229</a:t>
            </a:r>
          </a:p>
        </p:txBody>
      </p:sp>
      <p:graphicFrame>
        <p:nvGraphicFramePr>
          <p:cNvPr id="8" name="Table 7"/>
          <p:cNvGraphicFramePr>
            <a:graphicFrameLocks noGrp="1"/>
          </p:cNvGraphicFramePr>
          <p:nvPr/>
        </p:nvGraphicFramePr>
        <p:xfrm>
          <a:off x="457200" y="1298448"/>
          <a:ext cx="11274552" cy="3986784"/>
        </p:xfrm>
        <a:graphic>
          <a:graphicData uri="http://schemas.openxmlformats.org/drawingml/2006/table">
            <a:tbl>
              <a:tblPr firstRow="1" bandRow="1">
                <a:tableStyleId>{5C22544A-7EE6-4342-B048-85BDC9FD1C3A}</a:tableStyleId>
              </a:tblPr>
              <a:tblGrid>
                <a:gridCol w="2254910"/>
                <a:gridCol w="2254910"/>
                <a:gridCol w="2254910"/>
                <a:gridCol w="2254910"/>
                <a:gridCol w="2254912"/>
              </a:tblGrid>
              <a:tr h="685800">
                <a:tc>
                  <a:txBody>
                    <a:bodyPr/>
                    <a:lstStyle/>
                    <a:p>
                      <a:pPr algn="l"/>
                      <a:r>
                        <a:rPr sz="2000" b="1">
                          <a:solidFill>
                            <a:srgbClr val="FFFFFF"/>
                          </a:solidFill>
                          <a:latin typeface="Bebas Neue"/>
                        </a:rPr>
                        <a:t>{S, A, C}</a:t>
                      </a:r>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c>
                  <a:txBody>
                    <a:bodyPr/>
                    <a:lstStyle/>
                    <a:p>
                      <a:pPr algn="l"/>
                    </a:p>
                  </a:txBody>
                  <a:tcPr marL="146304" marR="146304" anchor="ctr">
                    <a:solidFill>
                      <a:srgbClr val="1365A5"/>
                    </a:solidFill>
                  </a:tcPr>
                </a:tc>
              </a:tr>
              <a:tr h="825246">
                <a:tc>
                  <a:txBody>
                    <a:bodyPr/>
                    <a:lstStyle/>
                    <a:p>
                      <a:pPr algn="l"/>
                      <a:r>
                        <a:rPr sz="2000" b="1">
                          <a:solidFill>
                            <a:srgbClr val="1365A5"/>
                          </a:solidFill>
                          <a:latin typeface="Bebas Neue"/>
                        </a:rPr>
                        <a:t>Ø</a:t>
                      </a:r>
                    </a:p>
                  </a:txBody>
                  <a:tcPr marL="146304" marR="146304" anchor="ctr">
                    <a:solidFill>
                      <a:srgbClr val="F5F6F8"/>
                    </a:solidFill>
                  </a:tcPr>
                </a:tc>
                <a:tc>
                  <a:txBody>
                    <a:bodyPr/>
                    <a:lstStyle/>
                    <a:p>
                      <a:pPr algn="l"/>
                      <a:r>
                        <a:rPr sz="2000" b="0">
                          <a:solidFill>
                            <a:srgbClr val="111111"/>
                          </a:solidFill>
                          <a:latin typeface="Inter"/>
                        </a:rPr>
                        <a:t>{S, A, C}</a:t>
                      </a:r>
                    </a:p>
                  </a:txBody>
                  <a:tcPr marL="146304" marR="146304" anchor="ctr">
                    <a:solidFill>
                      <a:srgbClr val="F5F6F8"/>
                    </a:solidFill>
                  </a:tcPr>
                </a:tc>
                <a:tc>
                  <a:txBody>
                    <a:bodyPr/>
                    <a:lstStyle/>
                    <a:p>
                      <a:pPr algn="l"/>
                    </a:p>
                  </a:txBody>
                  <a:tcPr marL="146304" marR="146304" anchor="ctr">
                    <a:solidFill>
                      <a:srgbClr val="F5F6F8"/>
                    </a:solidFill>
                  </a:tcPr>
                </a:tc>
                <a:tc>
                  <a:txBody>
                    <a:bodyPr/>
                    <a:lstStyle/>
                    <a:p>
                      <a:pPr algn="l"/>
                    </a:p>
                  </a:txBody>
                  <a:tcPr marL="146304" marR="146304" anchor="ctr">
                    <a:solidFill>
                      <a:srgbClr val="F5F6F8"/>
                    </a:solidFill>
                  </a:tcPr>
                </a:tc>
                <a:tc>
                  <a:txBody>
                    <a:bodyPr/>
                    <a:lstStyle/>
                    <a:p>
                      <a:pPr algn="l"/>
                    </a:p>
                  </a:txBody>
                  <a:tcPr marL="146304" marR="146304" anchor="ctr">
                    <a:solidFill>
                      <a:srgbClr val="F5F6F8"/>
                    </a:solidFill>
                  </a:tcPr>
                </a:tc>
              </a:tr>
              <a:tr h="825246">
                <a:tc>
                  <a:txBody>
                    <a:bodyPr/>
                    <a:lstStyle/>
                    <a:p>
                      <a:pPr algn="l"/>
                      <a:r>
                        <a:rPr sz="2000" b="1">
                          <a:solidFill>
                            <a:srgbClr val="1365A5"/>
                          </a:solidFill>
                          <a:latin typeface="Bebas Neue"/>
                        </a:rPr>
                        <a:t>Ø</a:t>
                      </a:r>
                    </a:p>
                  </a:txBody>
                  <a:tcPr marL="146304" marR="146304" anchor="ctr">
                    <a:solidFill>
                      <a:srgbClr val="ECF2F7"/>
                    </a:solidFill>
                  </a:tcPr>
                </a:tc>
                <a:tc>
                  <a:txBody>
                    <a:bodyPr/>
                    <a:lstStyle/>
                    <a:p>
                      <a:pPr algn="l"/>
                      <a:r>
                        <a:rPr sz="2000" b="0">
                          <a:solidFill>
                            <a:srgbClr val="111111"/>
                          </a:solidFill>
                          <a:latin typeface="Inter"/>
                        </a:rPr>
                        <a:t>{B}</a:t>
                      </a:r>
                    </a:p>
                  </a:txBody>
                  <a:tcPr marL="146304" marR="146304" anchor="ctr">
                    <a:solidFill>
                      <a:srgbClr val="ECF2F7"/>
                    </a:solidFill>
                  </a:tcPr>
                </a:tc>
                <a:tc>
                  <a:txBody>
                    <a:bodyPr/>
                    <a:lstStyle/>
                    <a:p>
                      <a:pPr algn="l"/>
                      <a:r>
                        <a:rPr sz="2000" b="0">
                          <a:solidFill>
                            <a:srgbClr val="111111"/>
                          </a:solidFill>
                          <a:latin typeface="Inter"/>
                        </a:rPr>
                        <a:t>{B}</a:t>
                      </a:r>
                    </a:p>
                  </a:txBody>
                  <a:tcPr marL="146304" marR="146304" anchor="ctr">
                    <a:solidFill>
                      <a:srgbClr val="ECF2F7"/>
                    </a:solidFill>
                  </a:tcPr>
                </a:tc>
                <a:tc>
                  <a:txBody>
                    <a:bodyPr/>
                    <a:lstStyle/>
                    <a:p>
                      <a:pPr algn="l"/>
                    </a:p>
                  </a:txBody>
                  <a:tcPr marL="146304" marR="146304" anchor="ctr">
                    <a:solidFill>
                      <a:srgbClr val="ECF2F7"/>
                    </a:solidFill>
                  </a:tcPr>
                </a:tc>
                <a:tc>
                  <a:txBody>
                    <a:bodyPr/>
                    <a:lstStyle/>
                    <a:p>
                      <a:pPr algn="l"/>
                    </a:p>
                  </a:txBody>
                  <a:tcPr marL="146304" marR="146304" anchor="ctr">
                    <a:solidFill>
                      <a:srgbClr val="ECF2F7"/>
                    </a:solidFill>
                  </a:tcPr>
                </a:tc>
              </a:tr>
              <a:tr h="825246">
                <a:tc>
                  <a:txBody>
                    <a:bodyPr/>
                    <a:lstStyle/>
                    <a:p>
                      <a:pPr algn="l"/>
                      <a:r>
                        <a:rPr sz="2000" b="1">
                          <a:solidFill>
                            <a:srgbClr val="1365A5"/>
                          </a:solidFill>
                          <a:latin typeface="Bebas Neue"/>
                        </a:rPr>
                        <a:t>{S, A}</a:t>
                      </a:r>
                    </a:p>
                  </a:txBody>
                  <a:tcPr marL="146304" marR="146304" anchor="ctr">
                    <a:solidFill>
                      <a:srgbClr val="F5F6F8"/>
                    </a:solidFill>
                  </a:tcPr>
                </a:tc>
                <a:tc>
                  <a:txBody>
                    <a:bodyPr/>
                    <a:lstStyle/>
                    <a:p>
                      <a:pPr algn="l"/>
                      <a:r>
                        <a:rPr sz="2000" b="0">
                          <a:solidFill>
                            <a:srgbClr val="111111"/>
                          </a:solidFill>
                          <a:latin typeface="Inter"/>
                        </a:rPr>
                        <a:t>{B}</a:t>
                      </a:r>
                    </a:p>
                  </a:txBody>
                  <a:tcPr marL="146304" marR="146304" anchor="ctr">
                    <a:solidFill>
                      <a:srgbClr val="F5F6F8"/>
                    </a:solidFill>
                  </a:tcPr>
                </a:tc>
                <a:tc>
                  <a:txBody>
                    <a:bodyPr/>
                    <a:lstStyle/>
                    <a:p>
                      <a:pPr algn="l"/>
                      <a:r>
                        <a:rPr sz="2000" b="0">
                          <a:solidFill>
                            <a:srgbClr val="111111"/>
                          </a:solidFill>
                          <a:latin typeface="Inter"/>
                        </a:rPr>
                        <a:t>{S, C}</a:t>
                      </a:r>
                    </a:p>
                  </a:txBody>
                  <a:tcPr marL="146304" marR="146304" anchor="ctr">
                    <a:solidFill>
                      <a:srgbClr val="F5F6F8"/>
                    </a:solidFill>
                  </a:tcPr>
                </a:tc>
                <a:tc>
                  <a:txBody>
                    <a:bodyPr/>
                    <a:lstStyle/>
                    <a:p>
                      <a:pPr algn="l"/>
                      <a:r>
                        <a:rPr sz="2000" b="0">
                          <a:solidFill>
                            <a:srgbClr val="111111"/>
                          </a:solidFill>
                          <a:latin typeface="Inter"/>
                        </a:rPr>
                        <a:t>{S, A}</a:t>
                      </a:r>
                    </a:p>
                  </a:txBody>
                  <a:tcPr marL="146304" marR="146304" anchor="ctr">
                    <a:solidFill>
                      <a:srgbClr val="F5F6F8"/>
                    </a:solidFill>
                  </a:tcPr>
                </a:tc>
                <a:tc>
                  <a:txBody>
                    <a:bodyPr/>
                    <a:lstStyle/>
                    <a:p>
                      <a:pPr algn="l"/>
                    </a:p>
                  </a:txBody>
                  <a:tcPr marL="146304" marR="146304" anchor="ctr">
                    <a:solidFill>
                      <a:srgbClr val="F5F6F8"/>
                    </a:solidFill>
                  </a:tcPr>
                </a:tc>
              </a:tr>
              <a:tr h="825246">
                <a:tc>
                  <a:txBody>
                    <a:bodyPr/>
                    <a:lstStyle/>
                    <a:p>
                      <a:pPr algn="l"/>
                      <a:r>
                        <a:rPr sz="2000" b="1">
                          <a:solidFill>
                            <a:srgbClr val="1365A5"/>
                          </a:solidFill>
                          <a:latin typeface="Bebas Neue"/>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c>
                  <a:txBody>
                    <a:bodyPr/>
                    <a:lstStyle/>
                    <a:p>
                      <a:pPr algn="l"/>
                      <a:r>
                        <a:rPr sz="2000" b="0">
                          <a:solidFill>
                            <a:srgbClr val="111111"/>
                          </a:solidFill>
                          <a:latin typeface="Inter"/>
                        </a:rPr>
                        <a:t>{B}</a:t>
                      </a:r>
                    </a:p>
                  </a:txBody>
                  <a:tcPr marL="146304" marR="146304" anchor="ctr">
                    <a:solidFill>
                      <a:srgbClr val="ECF2F7"/>
                    </a:solidFill>
                  </a:tcPr>
                </a:tc>
                <a:tc>
                  <a:txBody>
                    <a:bodyPr/>
                    <a:lstStyle/>
                    <a:p>
                      <a:pPr algn="l"/>
                      <a:r>
                        <a:rPr sz="2000" b="0">
                          <a:solidFill>
                            <a:srgbClr val="111111"/>
                          </a:solidFill>
                          <a:latin typeface="Inter"/>
                        </a:rPr>
                        <a:t>{A, C}</a:t>
                      </a:r>
                    </a:p>
                  </a:txBody>
                  <a:tcPr marL="146304" marR="146304" anchor="ctr">
                    <a:solidFill>
                      <a:srgbClr val="ECF2F7"/>
                    </a:solidFill>
                  </a:tcPr>
                </a:tc>
              </a:tr>
            </a:tbl>
          </a:graphicData>
        </a:graphic>
      </p:graphicFrame>
      <p:sp>
        <p:nvSpPr>
          <p:cNvPr id="9" name="Rounded Rectangle 8"/>
          <p:cNvSpPr/>
          <p:nvPr/>
        </p:nvSpPr>
        <p:spPr>
          <a:xfrm>
            <a:off x="457200" y="5486400"/>
            <a:ext cx="11274552" cy="914400"/>
          </a:xfrm>
          <a:prstGeom prst="roundRect">
            <a:avLst>
              <a:gd name="adj" fmla="val 20000"/>
            </a:avLst>
          </a:prstGeom>
          <a:solidFill>
            <a:srgbClr val="FDDED6"/>
          </a:solidFill>
          <a:ln>
            <a:noFill/>
          </a:ln>
        </p:spPr>
        <p:style>
          <a:lnRef idx="1">
            <a:schemeClr val="accent1"/>
          </a:lnRef>
          <a:fillRef idx="3">
            <a:schemeClr val="accent1"/>
          </a:fillRef>
          <a:effectRef idx="2">
            <a:schemeClr val="accent1"/>
          </a:effectRef>
          <a:fontRef idx="minor">
            <a:schemeClr val="lt1"/>
          </a:fontRef>
        </p:style>
        <p:txBody>
          <a:bodyPr rtlCol="0" anchor="ctr" wrap="square" lIns="283464" rIns="201168" tIns="54864" bIns="54864"/>
          <a:lstStyle/>
          <a:p>
            <a:pPr algn="l"/>
            <a:r>
              <a:rPr b="1" sz="1600">
                <a:solidFill>
                  <a:srgbClr val="1365A5"/>
                </a:solidFill>
                <a:latin typeface="Bebas Neue"/>
              </a:rPr>
              <a:t>Key takeaway:  </a:t>
            </a:r>
            <a:r>
              <a:rPr sz="1600" b="1">
                <a:solidFill>
                  <a:srgbClr val="111111"/>
                </a:solidFill>
                <a:latin typeface="Bebas Neue"/>
              </a:rPr>
              <a:t>4 rows · {S, A, C}</a:t>
            </a:r>
          </a:p>
        </p:txBody>
      </p:sp>
      <p:sp>
        <p:nvSpPr>
          <p:cNvPr id="10" name="Rectangle 9"/>
          <p:cNvSpPr/>
          <p:nvPr/>
        </p:nvSpPr>
        <p:spPr>
          <a:xfrm>
            <a:off x="457200" y="5614416"/>
            <a:ext cx="82296" cy="658368"/>
          </a:xfrm>
          <a:prstGeom prst="rect">
            <a:avLst/>
          </a:prstGeom>
          <a:solidFill>
            <a:srgbClr val="F769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Example (RESULT)</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225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ectangle 7"/>
          <p:cNvSpPr/>
          <p:nvPr/>
        </p:nvSpPr>
        <p:spPr>
          <a:xfrm>
            <a:off x="457200" y="2885114"/>
            <a:ext cx="82296" cy="51169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547" y="2848538"/>
            <a:ext cx="6907734" cy="529986"/>
          </a:xfrm>
          <a:prstGeom prst="rect">
            <a:avLst/>
          </a:prstGeom>
          <a:noFill/>
        </p:spPr>
        <p:txBody>
          <a:bodyPr wrap="square" anchor="t" lIns="0" tIns="0" rIns="0" bIns="0">
            <a:spAutoFit/>
          </a:bodyPr>
          <a:lstStyle/>
          <a:p>
            <a:pPr algn="l"/>
            <a:r>
              <a:rPr sz="3310" b="1">
                <a:solidFill>
                  <a:srgbClr val="1365A5"/>
                </a:solidFill>
                <a:latin typeface="Bebas Neue"/>
              </a:rPr>
              <a:t>Is baaba in L(G)?</a:t>
            </a:r>
          </a:p>
        </p:txBody>
      </p:sp>
      <p:sp>
        <p:nvSpPr>
          <p:cNvPr id="10" name="TextBox 9"/>
          <p:cNvSpPr txBox="1"/>
          <p:nvPr/>
        </p:nvSpPr>
        <p:spPr>
          <a:xfrm>
            <a:off x="720547" y="3570549"/>
            <a:ext cx="6907734" cy="1152144"/>
          </a:xfrm>
          <a:prstGeom prst="rect">
            <a:avLst/>
          </a:prstGeom>
          <a:noFill/>
        </p:spPr>
        <p:txBody>
          <a:bodyPr wrap="square" lIns="0" rIns="0" tIns="0" bIns="0">
            <a:spAutoFit/>
          </a:bodyPr>
          <a:lstStyle/>
          <a:p>
            <a:r>
              <a:rPr sz="2400">
                <a:solidFill>
                  <a:srgbClr val="111111"/>
                </a:solidFill>
                <a:latin typeface="Bebas Neue"/>
              </a:rPr>
              <a:t>We can see the S in the set X1n where ‘n’ = 5 We can see the table the cell X15 = (S, A, C) </a:t>
            </a:r>
            <a:r>
              <a:rPr sz="2400" b="1">
                <a:solidFill>
                  <a:srgbClr val="6D28D9"/>
                </a:solidFill>
                <a:latin typeface="Bebas Neue"/>
              </a:rPr>
              <a:t>then</a:t>
            </a:r>
            <a:r>
              <a:rPr sz="2400">
                <a:solidFill>
                  <a:srgbClr val="111111"/>
                </a:solidFill>
                <a:latin typeface="Bebas Neue"/>
              </a:rPr>
              <a:t> if S Є X15 </a:t>
            </a:r>
            <a:r>
              <a:rPr sz="2400" b="1">
                <a:solidFill>
                  <a:srgbClr val="6D28D9"/>
                </a:solidFill>
                <a:latin typeface="Bebas Neue"/>
              </a:rPr>
              <a:t>then</a:t>
            </a:r>
            <a:r>
              <a:rPr sz="2400">
                <a:solidFill>
                  <a:srgbClr val="111111"/>
                </a:solidFill>
                <a:latin typeface="Bebas Neue"/>
              </a:rPr>
              <a:t> baaba Є L(G).</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Theorem</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226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2135124"/>
            <a:ext cx="7691018" cy="3429000"/>
          </a:xfrm>
          <a:prstGeom prst="roundRect">
            <a:avLst>
              <a:gd name="adj" fmla="val 4106"/>
            </a:avLst>
          </a:prstGeom>
          <a:solidFill>
            <a:srgbClr val="E7EFF6"/>
          </a:solidFill>
          <a:ln w="12700">
            <a:solidFill>
              <a:srgbClr val="A0C1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336292"/>
            <a:ext cx="109728" cy="3026664"/>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336292"/>
            <a:ext cx="6831482" cy="3026664"/>
          </a:xfrm>
          <a:prstGeom prst="rect">
            <a:avLst/>
          </a:prstGeom>
          <a:noFill/>
        </p:spPr>
        <p:txBody>
          <a:bodyPr wrap="square" anchor="ctr" lIns="0" tIns="0" rIns="0" bIns="0">
            <a:spAutoFit/>
          </a:bodyPr>
          <a:lstStyle/>
          <a:p>
            <a:pPr algn="l"/>
            <a:r>
              <a:rPr sz="2800" b="1">
                <a:solidFill>
                  <a:srgbClr val="1365A5"/>
                </a:solidFill>
                <a:latin typeface="Bebas Neue"/>
              </a:rPr>
              <a:t>“The CYK Algorithm correctly computes X i jfor all i and j; thus w is in L(G) if and only if S is in X1n”</a:t>
            </a:r>
          </a:p>
          <a:p>
            <a:pPr algn="l">
              <a:spcBef>
                <a:spcPts val="1000"/>
              </a:spcBef>
            </a:pPr>
            <a:r>
              <a:rPr sz="1400" b="0">
                <a:solidFill>
                  <a:srgbClr val="111111"/>
                </a:solidFill>
                <a:latin typeface="Inter"/>
              </a:rPr>
              <a:t>— Theorem</a:t>
            </a:r>
          </a:p>
        </p:txBody>
      </p:sp>
    </p:spTree>
  </p:cSld>
  <p:clrMapOvr>
    <a:masterClrMapping/>
  </p:clrMapOvr>
  <p:transition spd="med">
    <p:cover dir="r"/>
  </p:transition>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Glossary</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227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79832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911705"/>
            <a:ext cx="340156" cy="340156"/>
          </a:xfrm>
          <a:prstGeom prst="rect">
            <a:avLst/>
          </a:prstGeom>
        </p:spPr>
      </p:pic>
      <p:sp>
        <p:nvSpPr>
          <p:cNvPr id="11" name="TextBox 10"/>
          <p:cNvSpPr txBox="1"/>
          <p:nvPr/>
        </p:nvSpPr>
        <p:spPr>
          <a:xfrm>
            <a:off x="1408175" y="1371600"/>
            <a:ext cx="2592781" cy="1420368"/>
          </a:xfrm>
          <a:prstGeom prst="rect">
            <a:avLst/>
          </a:prstGeom>
          <a:noFill/>
        </p:spPr>
        <p:txBody>
          <a:bodyPr wrap="square" anchor="ctr" lIns="0" tIns="0" rIns="0" bIns="0">
            <a:spAutoFit/>
          </a:bodyPr>
          <a:lstStyle/>
          <a:p>
            <a:pPr algn="l"/>
            <a:r>
              <a:rPr sz="2180" b="1">
                <a:solidFill>
                  <a:srgbClr val="1365A5"/>
                </a:solidFill>
                <a:latin typeface="Bebas Neue"/>
              </a:rPr>
              <a:t>Pos</a:t>
            </a:r>
          </a:p>
          <a:p>
            <a:pPr algn="l">
              <a:spcBef>
                <a:spcPts val="500"/>
              </a:spcBef>
            </a:pPr>
            <a:r>
              <a:rPr sz="1820" b="0">
                <a:solidFill>
                  <a:srgbClr val="111111"/>
                </a:solidFill>
                <a:latin typeface="Inter"/>
              </a:rPr>
              <a:t>Parts of Speech Tagging</a:t>
            </a:r>
          </a:p>
        </p:txBody>
      </p:sp>
      <p:sp>
        <p:nvSpPr>
          <p:cNvPr id="12" name="Rounded Rectangle 11"/>
          <p:cNvSpPr/>
          <p:nvPr/>
        </p:nvSpPr>
        <p:spPr>
          <a:xfrm>
            <a:off x="4403293" y="1298448"/>
            <a:ext cx="3744925"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79832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911705"/>
            <a:ext cx="340156" cy="340156"/>
          </a:xfrm>
          <a:prstGeom prst="rect">
            <a:avLst/>
          </a:prstGeom>
        </p:spPr>
      </p:pic>
      <p:sp>
        <p:nvSpPr>
          <p:cNvPr id="15" name="TextBox 14"/>
          <p:cNvSpPr txBox="1"/>
          <p:nvPr/>
        </p:nvSpPr>
        <p:spPr>
          <a:xfrm>
            <a:off x="5354269" y="1371600"/>
            <a:ext cx="2592781" cy="1420368"/>
          </a:xfrm>
          <a:prstGeom prst="rect">
            <a:avLst/>
          </a:prstGeom>
          <a:noFill/>
        </p:spPr>
        <p:txBody>
          <a:bodyPr wrap="square" anchor="ctr" lIns="0" tIns="0" rIns="0" bIns="0">
            <a:spAutoFit/>
          </a:bodyPr>
          <a:lstStyle/>
          <a:p>
            <a:pPr algn="l"/>
            <a:r>
              <a:rPr sz="2180" b="1">
                <a:solidFill>
                  <a:srgbClr val="1365A5"/>
                </a:solidFill>
                <a:latin typeface="Bebas Neue"/>
              </a:rPr>
              <a:t>Hmm</a:t>
            </a:r>
          </a:p>
          <a:p>
            <a:pPr algn="l">
              <a:spcBef>
                <a:spcPts val="500"/>
              </a:spcBef>
            </a:pPr>
            <a:r>
              <a:rPr sz="1820" b="0">
                <a:solidFill>
                  <a:srgbClr val="111111"/>
                </a:solidFill>
                <a:latin typeface="Inter"/>
              </a:rPr>
              <a:t>Hidden Markov Model</a:t>
            </a:r>
          </a:p>
        </p:txBody>
      </p:sp>
      <p:sp>
        <p:nvSpPr>
          <p:cNvPr id="16" name="Rounded Rectangle 15"/>
          <p:cNvSpPr/>
          <p:nvPr/>
        </p:nvSpPr>
        <p:spPr>
          <a:xfrm>
            <a:off x="457200" y="3066287"/>
            <a:ext cx="3744925"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56615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679545"/>
            <a:ext cx="340156" cy="340156"/>
          </a:xfrm>
          <a:prstGeom prst="rect">
            <a:avLst/>
          </a:prstGeom>
        </p:spPr>
      </p:pic>
      <p:sp>
        <p:nvSpPr>
          <p:cNvPr id="19" name="TextBox 18"/>
          <p:cNvSpPr txBox="1"/>
          <p:nvPr/>
        </p:nvSpPr>
        <p:spPr>
          <a:xfrm>
            <a:off x="1408175" y="3139440"/>
            <a:ext cx="2592781" cy="1420368"/>
          </a:xfrm>
          <a:prstGeom prst="rect">
            <a:avLst/>
          </a:prstGeom>
          <a:noFill/>
        </p:spPr>
        <p:txBody>
          <a:bodyPr wrap="square" anchor="ctr" lIns="0" tIns="0" rIns="0" bIns="0">
            <a:spAutoFit/>
          </a:bodyPr>
          <a:lstStyle/>
          <a:p>
            <a:pPr algn="l"/>
            <a:r>
              <a:rPr sz="2180" b="1">
                <a:solidFill>
                  <a:srgbClr val="1365A5"/>
                </a:solidFill>
                <a:latin typeface="Bebas Neue"/>
              </a:rPr>
              <a:t>Crf</a:t>
            </a:r>
          </a:p>
          <a:p>
            <a:pPr algn="l">
              <a:spcBef>
                <a:spcPts val="500"/>
              </a:spcBef>
            </a:pPr>
            <a:r>
              <a:rPr sz="1820" b="0">
                <a:solidFill>
                  <a:srgbClr val="111111"/>
                </a:solidFill>
                <a:latin typeface="Inter"/>
              </a:rPr>
              <a:t>Conditional Random Field</a:t>
            </a:r>
          </a:p>
        </p:txBody>
      </p:sp>
      <p:sp>
        <p:nvSpPr>
          <p:cNvPr id="20" name="Rounded Rectangle 19"/>
          <p:cNvSpPr/>
          <p:nvPr/>
        </p:nvSpPr>
        <p:spPr>
          <a:xfrm>
            <a:off x="4403293" y="3066287"/>
            <a:ext cx="3744925"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356615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3679545"/>
            <a:ext cx="340156" cy="340156"/>
          </a:xfrm>
          <a:prstGeom prst="rect">
            <a:avLst/>
          </a:prstGeom>
        </p:spPr>
      </p:pic>
      <p:sp>
        <p:nvSpPr>
          <p:cNvPr id="23" name="TextBox 22"/>
          <p:cNvSpPr txBox="1"/>
          <p:nvPr/>
        </p:nvSpPr>
        <p:spPr>
          <a:xfrm>
            <a:off x="5354269" y="3139440"/>
            <a:ext cx="2592781" cy="1420368"/>
          </a:xfrm>
          <a:prstGeom prst="rect">
            <a:avLst/>
          </a:prstGeom>
          <a:noFill/>
        </p:spPr>
        <p:txBody>
          <a:bodyPr wrap="square" anchor="ctr" lIns="0" tIns="0" rIns="0" bIns="0">
            <a:spAutoFit/>
          </a:bodyPr>
          <a:lstStyle/>
          <a:p>
            <a:pPr algn="l"/>
            <a:r>
              <a:rPr sz="2180" b="1">
                <a:solidFill>
                  <a:srgbClr val="1365A5"/>
                </a:solidFill>
                <a:latin typeface="Bebas Neue"/>
              </a:rPr>
              <a:t>Cnf</a:t>
            </a:r>
          </a:p>
          <a:p>
            <a:pPr algn="l">
              <a:spcBef>
                <a:spcPts val="500"/>
              </a:spcBef>
            </a:pPr>
            <a:r>
              <a:rPr sz="1820" b="0">
                <a:solidFill>
                  <a:srgbClr val="111111"/>
                </a:solidFill>
                <a:latin typeface="Inter"/>
              </a:rPr>
              <a:t>PCFG in Chomsky normal form</a:t>
            </a:r>
          </a:p>
        </p:txBody>
      </p:sp>
      <p:sp>
        <p:nvSpPr>
          <p:cNvPr id="24" name="Rounded Rectangle 23"/>
          <p:cNvSpPr/>
          <p:nvPr/>
        </p:nvSpPr>
        <p:spPr>
          <a:xfrm>
            <a:off x="457200" y="4834128"/>
            <a:ext cx="3744925"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 y="53340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9"/>
          <a:stretch>
            <a:fillRect/>
          </a:stretch>
        </p:blipFill>
        <p:spPr>
          <a:xfrm>
            <a:off x="771753" y="5447385"/>
            <a:ext cx="340156" cy="340156"/>
          </a:xfrm>
          <a:prstGeom prst="rect">
            <a:avLst/>
          </a:prstGeom>
        </p:spPr>
      </p:pic>
      <p:sp>
        <p:nvSpPr>
          <p:cNvPr id="27" name="TextBox 26"/>
          <p:cNvSpPr txBox="1"/>
          <p:nvPr/>
        </p:nvSpPr>
        <p:spPr>
          <a:xfrm>
            <a:off x="1408175" y="4907280"/>
            <a:ext cx="2592781" cy="1420368"/>
          </a:xfrm>
          <a:prstGeom prst="rect">
            <a:avLst/>
          </a:prstGeom>
          <a:noFill/>
        </p:spPr>
        <p:txBody>
          <a:bodyPr wrap="square" anchor="ctr" lIns="0" tIns="0" rIns="0" bIns="0">
            <a:spAutoFit/>
          </a:bodyPr>
          <a:lstStyle/>
          <a:p>
            <a:pPr algn="l"/>
            <a:r>
              <a:rPr sz="2180" b="1">
                <a:solidFill>
                  <a:srgbClr val="1365A5"/>
                </a:solidFill>
                <a:latin typeface="Bebas Neue"/>
              </a:rPr>
              <a:t>Hmms</a:t>
            </a:r>
          </a:p>
          <a:p>
            <a:pPr algn="l">
              <a:spcBef>
                <a:spcPts val="500"/>
              </a:spcBef>
            </a:pPr>
            <a:r>
              <a:rPr sz="1820" b="0">
                <a:solidFill>
                  <a:srgbClr val="111111"/>
                </a:solidFill>
                <a:latin typeface="Inter"/>
              </a:rPr>
              <a:t>Hidden Markov Models</a:t>
            </a:r>
          </a:p>
        </p:txBody>
      </p:sp>
      <p:sp>
        <p:nvSpPr>
          <p:cNvPr id="28" name="Rounded Rectangle 27"/>
          <p:cNvSpPr/>
          <p:nvPr/>
        </p:nvSpPr>
        <p:spPr>
          <a:xfrm>
            <a:off x="4403293" y="4834128"/>
            <a:ext cx="3744925" cy="1566671"/>
          </a:xfrm>
          <a:prstGeom prst="roundRect">
            <a:avLst>
              <a:gd name="adj" fmla="val 8988"/>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04461" y="53340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10"/>
          <a:stretch>
            <a:fillRect/>
          </a:stretch>
        </p:blipFill>
        <p:spPr>
          <a:xfrm>
            <a:off x="4717846" y="5447385"/>
            <a:ext cx="340156" cy="340156"/>
          </a:xfrm>
          <a:prstGeom prst="rect">
            <a:avLst/>
          </a:prstGeom>
        </p:spPr>
      </p:pic>
      <p:sp>
        <p:nvSpPr>
          <p:cNvPr id="31" name="TextBox 30"/>
          <p:cNvSpPr txBox="1"/>
          <p:nvPr/>
        </p:nvSpPr>
        <p:spPr>
          <a:xfrm>
            <a:off x="5354269" y="4907280"/>
            <a:ext cx="2592781" cy="1420368"/>
          </a:xfrm>
          <a:prstGeom prst="rect">
            <a:avLst/>
          </a:prstGeom>
          <a:noFill/>
        </p:spPr>
        <p:txBody>
          <a:bodyPr wrap="square" anchor="ctr" lIns="0" tIns="0" rIns="0" bIns="0">
            <a:spAutoFit/>
          </a:bodyPr>
          <a:lstStyle/>
          <a:p>
            <a:pPr algn="l"/>
            <a:r>
              <a:rPr sz="1560" b="1">
                <a:solidFill>
                  <a:srgbClr val="1365A5"/>
                </a:solidFill>
                <a:latin typeface="Bebas Neue"/>
              </a:rPr>
              <a:t>The transition probability</a:t>
            </a:r>
          </a:p>
          <a:p>
            <a:pPr algn="l">
              <a:spcBef>
                <a:spcPts val="500"/>
              </a:spcBef>
            </a:pPr>
            <a:r>
              <a:rPr sz="1300" b="0">
                <a:solidFill>
                  <a:srgbClr val="111111"/>
                </a:solidFill>
                <a:latin typeface="Inter"/>
              </a:rPr>
              <a:t>likelihood of a particular sequence for example, Eg: “ Ted will spot Will ” how likely is that a noun…</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5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5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50"/>
                                        <p:tgtEl>
                                          <p:spTgt spid="2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50"/>
                                        <p:tgtEl>
                                          <p:spTgt spid="28"/>
                                        </p:tgtEl>
                                      </p:cBhvr>
                                    </p:animEffect>
                                  </p:childTnLst>
                                </p:cTn>
                              </p:par>
                              <p:par>
                                <p:cTn id="76" presetID="10" presetClass="entr" presetSubtype="0" fill="hold"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450"/>
                                        <p:tgtEl>
                                          <p:spTgt spid="29"/>
                                        </p:tgtEl>
                                      </p:cBhvr>
                                    </p:animEffect>
                                  </p:childTnLst>
                                </p:cTn>
                              </p:par>
                              <p:par>
                                <p:cTn id="79" presetID="10" presetClass="entr" presetSubtype="0" fill="hold"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450"/>
                                        <p:tgtEl>
                                          <p:spTgt spid="30"/>
                                        </p:tgtEl>
                                      </p:cBhvr>
                                    </p:animEffect>
                                  </p:childTnLst>
                                </p:cTn>
                              </p:par>
                              <p:par>
                                <p:cTn id="82" presetID="10"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Glossary: Such word</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228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7691018"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57733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690725"/>
            <a:ext cx="340156" cy="340156"/>
          </a:xfrm>
          <a:prstGeom prst="rect">
            <a:avLst/>
          </a:prstGeom>
        </p:spPr>
      </p:pic>
      <p:sp>
        <p:nvSpPr>
          <p:cNvPr id="11" name="TextBox 10"/>
          <p:cNvSpPr txBox="1"/>
          <p:nvPr/>
        </p:nvSpPr>
        <p:spPr>
          <a:xfrm>
            <a:off x="1408175" y="1371600"/>
            <a:ext cx="6538874" cy="978408"/>
          </a:xfrm>
          <a:prstGeom prst="rect">
            <a:avLst/>
          </a:prstGeom>
          <a:noFill/>
        </p:spPr>
        <p:txBody>
          <a:bodyPr wrap="square" anchor="ctr" lIns="0" tIns="0" rIns="0" bIns="0">
            <a:spAutoFit/>
          </a:bodyPr>
          <a:lstStyle/>
          <a:p>
            <a:pPr algn="l"/>
            <a:r>
              <a:rPr sz="2140" b="1">
                <a:solidFill>
                  <a:srgbClr val="1365A5"/>
                </a:solidFill>
                <a:latin typeface="Bebas Neue"/>
              </a:rPr>
              <a:t>Such word</a:t>
            </a:r>
          </a:p>
          <a:p>
            <a:pPr algn="l">
              <a:spcBef>
                <a:spcPts val="500"/>
              </a:spcBef>
            </a:pPr>
            <a:r>
              <a:rPr sz="1780" b="0">
                <a:solidFill>
                  <a:srgbClr val="111111"/>
                </a:solidFill>
                <a:latin typeface="Inter"/>
              </a:rPr>
              <a:t>as the head</a:t>
            </a:r>
          </a:p>
        </p:txBody>
      </p:sp>
      <p:sp>
        <p:nvSpPr>
          <p:cNvPr id="12" name="Rounded Rectangle 11"/>
          <p:cNvSpPr/>
          <p:nvPr/>
        </p:nvSpPr>
        <p:spPr>
          <a:xfrm>
            <a:off x="457200" y="2624328"/>
            <a:ext cx="7691018"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8368" y="290322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771753" y="3016605"/>
            <a:ext cx="340156" cy="340156"/>
          </a:xfrm>
          <a:prstGeom prst="rect">
            <a:avLst/>
          </a:prstGeom>
        </p:spPr>
      </p:pic>
      <p:sp>
        <p:nvSpPr>
          <p:cNvPr id="15" name="TextBox 14"/>
          <p:cNvSpPr txBox="1"/>
          <p:nvPr/>
        </p:nvSpPr>
        <p:spPr>
          <a:xfrm>
            <a:off x="1408175" y="2697480"/>
            <a:ext cx="6538874" cy="978408"/>
          </a:xfrm>
          <a:prstGeom prst="rect">
            <a:avLst/>
          </a:prstGeom>
          <a:noFill/>
        </p:spPr>
        <p:txBody>
          <a:bodyPr wrap="square" anchor="ctr" lIns="0" tIns="0" rIns="0" bIns="0">
            <a:spAutoFit/>
          </a:bodyPr>
          <a:lstStyle/>
          <a:p>
            <a:pPr algn="l"/>
            <a:r>
              <a:rPr sz="2100" b="1">
                <a:solidFill>
                  <a:srgbClr val="1365A5"/>
                </a:solidFill>
                <a:latin typeface="Bebas Neue"/>
              </a:rPr>
              <a:t>Reason it</a:t>
            </a:r>
          </a:p>
          <a:p>
            <a:pPr algn="l">
              <a:spcBef>
                <a:spcPts val="500"/>
              </a:spcBef>
            </a:pPr>
            <a:r>
              <a:rPr sz="1750" b="0">
                <a:solidFill>
                  <a:srgbClr val="111111"/>
                </a:solidFill>
                <a:latin typeface="Inter"/>
              </a:rPr>
              <a:t>a Hidden Markov Model is because an inference model is constructed based on the assumptions of a Markov process</a:t>
            </a:r>
          </a:p>
        </p:txBody>
      </p:sp>
      <p:sp>
        <p:nvSpPr>
          <p:cNvPr id="16" name="Rounded Rectangle 15"/>
          <p:cNvSpPr/>
          <p:nvPr/>
        </p:nvSpPr>
        <p:spPr>
          <a:xfrm>
            <a:off x="457200" y="3950208"/>
            <a:ext cx="7691018"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4229100"/>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4342485"/>
            <a:ext cx="340156" cy="340156"/>
          </a:xfrm>
          <a:prstGeom prst="rect">
            <a:avLst/>
          </a:prstGeom>
        </p:spPr>
      </p:pic>
      <p:sp>
        <p:nvSpPr>
          <p:cNvPr id="19" name="TextBox 18"/>
          <p:cNvSpPr txBox="1"/>
          <p:nvPr/>
        </p:nvSpPr>
        <p:spPr>
          <a:xfrm>
            <a:off x="1408175" y="4023360"/>
            <a:ext cx="6538874" cy="978408"/>
          </a:xfrm>
          <a:prstGeom prst="rect">
            <a:avLst/>
          </a:prstGeom>
          <a:noFill/>
        </p:spPr>
        <p:txBody>
          <a:bodyPr wrap="square" anchor="ctr" lIns="0" tIns="0" rIns="0" bIns="0">
            <a:spAutoFit/>
          </a:bodyPr>
          <a:lstStyle/>
          <a:p>
            <a:pPr algn="l"/>
            <a:r>
              <a:rPr sz="2140" b="1">
                <a:solidFill>
                  <a:srgbClr val="1365A5"/>
                </a:solidFill>
                <a:latin typeface="Bebas Neue"/>
              </a:rPr>
              <a:t>Cref</a:t>
            </a:r>
          </a:p>
          <a:p>
            <a:pPr algn="l">
              <a:spcBef>
                <a:spcPts val="500"/>
              </a:spcBef>
            </a:pPr>
            <a:r>
              <a:rPr sz="1780" b="0">
                <a:solidFill>
                  <a:srgbClr val="111111"/>
                </a:solidFill>
                <a:latin typeface="Inter"/>
              </a:rPr>
              <a:t>random field globally conditioned observation X</a:t>
            </a:r>
          </a:p>
        </p:txBody>
      </p:sp>
      <p:sp>
        <p:nvSpPr>
          <p:cNvPr id="20" name="Rounded Rectangle 19"/>
          <p:cNvSpPr/>
          <p:nvPr/>
        </p:nvSpPr>
        <p:spPr>
          <a:xfrm>
            <a:off x="457200" y="5276088"/>
            <a:ext cx="7691018" cy="1124712"/>
          </a:xfrm>
          <a:prstGeom prst="roundRect">
            <a:avLst>
              <a:gd name="adj" fmla="val 12520"/>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555497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771753" y="5668365"/>
            <a:ext cx="340156" cy="340156"/>
          </a:xfrm>
          <a:prstGeom prst="rect">
            <a:avLst/>
          </a:prstGeom>
        </p:spPr>
      </p:pic>
      <p:sp>
        <p:nvSpPr>
          <p:cNvPr id="23" name="TextBox 22"/>
          <p:cNvSpPr txBox="1"/>
          <p:nvPr/>
        </p:nvSpPr>
        <p:spPr>
          <a:xfrm>
            <a:off x="1408175" y="5349240"/>
            <a:ext cx="6538874" cy="978408"/>
          </a:xfrm>
          <a:prstGeom prst="rect">
            <a:avLst/>
          </a:prstGeom>
          <a:noFill/>
        </p:spPr>
        <p:txBody>
          <a:bodyPr wrap="square" anchor="ctr" lIns="0" tIns="0" rIns="0" bIns="0">
            <a:spAutoFit/>
          </a:bodyPr>
          <a:lstStyle/>
          <a:p>
            <a:pPr algn="l"/>
            <a:r>
              <a:rPr sz="2140" b="1">
                <a:solidFill>
                  <a:srgbClr val="1365A5"/>
                </a:solidFill>
                <a:latin typeface="Bebas Neue"/>
              </a:rPr>
              <a:t>A discriminatory model</a:t>
            </a:r>
          </a:p>
          <a:p>
            <a:pPr algn="l">
              <a:spcBef>
                <a:spcPts val="500"/>
              </a:spcBef>
            </a:pPr>
            <a:r>
              <a:rPr sz="1780" b="0">
                <a:solidFill>
                  <a:srgbClr val="111111"/>
                </a:solidFill>
                <a:latin typeface="Inter"/>
              </a:rPr>
              <a:t>Maximum Entropy Model</a:t>
            </a:r>
          </a:p>
        </p:txBody>
      </p:sp>
    </p:spTree>
  </p:cSld>
  <p:clrMapOvr>
    <a:masterClrMapping/>
  </p:clrMapOvr>
  <p:transition spd="med">
    <p:cover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par>
                                <p:cTn id="34" presetID="10" presetClass="entr" presetSubtype="0"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45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5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5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450"/>
                                        <p:tgtEl>
                                          <p:spTgt spid="22"/>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36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88952" cy="64008"/>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
            <a:ext cx="11274552" cy="822960"/>
          </a:xfrm>
          <a:prstGeom prst="rect">
            <a:avLst/>
          </a:prstGeom>
          <a:noFill/>
        </p:spPr>
        <p:txBody>
          <a:bodyPr wrap="square" anchor="ctr" lIns="0" rIns="0" tIns="0" bIns="0">
            <a:spAutoFit/>
          </a:bodyPr>
          <a:lstStyle/>
          <a:p>
            <a:pPr algn="l">
              <a:defRPr sz="3000" b="1">
                <a:solidFill>
                  <a:srgbClr val="FFFFFF"/>
                </a:solidFill>
              </a:defRPr>
            </a:pPr>
            <a:r>
              <a:rPr>
                <a:latin typeface="Bebas Neue"/>
              </a:rPr>
              <a:t>Key takeaways</a:t>
            </a:r>
          </a:p>
        </p:txBody>
      </p:sp>
      <p:sp>
        <p:nvSpPr>
          <p:cNvPr id="5" name="TextBox 4"/>
          <p:cNvSpPr txBox="1"/>
          <p:nvPr/>
        </p:nvSpPr>
        <p:spPr>
          <a:xfrm>
            <a:off x="457200" y="6473952"/>
            <a:ext cx="2743200" cy="274320"/>
          </a:xfrm>
          <a:prstGeom prst="rect">
            <a:avLst/>
          </a:prstGeom>
          <a:noFill/>
        </p:spPr>
        <p:txBody>
          <a:bodyPr wrap="square" anchor="ctr" lIns="0" rIns="0" tIns="0" bIns="0">
            <a:spAutoFit/>
          </a:bodyPr>
          <a:lstStyle/>
          <a:p>
            <a:pPr algn="l">
              <a:defRPr sz="1000" b="1">
                <a:solidFill>
                  <a:srgbClr val="555555"/>
                </a:solidFill>
              </a:defRPr>
            </a:pPr>
            <a:r>
              <a:rPr>
                <a:latin typeface="Inter"/>
              </a:rPr>
              <a:t>Learnova</a:t>
            </a:r>
          </a:p>
        </p:txBody>
      </p:sp>
      <p:sp>
        <p:nvSpPr>
          <p:cNvPr id="6" name="TextBox 5"/>
          <p:cNvSpPr txBox="1"/>
          <p:nvPr/>
        </p:nvSpPr>
        <p:spPr>
          <a:xfrm>
            <a:off x="8988552" y="6473952"/>
            <a:ext cx="2743200" cy="274320"/>
          </a:xfrm>
          <a:prstGeom prst="rect">
            <a:avLst/>
          </a:prstGeom>
          <a:noFill/>
        </p:spPr>
        <p:txBody>
          <a:bodyPr wrap="square" anchor="ctr" lIns="0" rIns="0" tIns="0" bIns="0">
            <a:spAutoFit/>
          </a:bodyPr>
          <a:lstStyle/>
          <a:p>
            <a:pPr algn="r">
              <a:defRPr sz="1000" b="0">
                <a:solidFill>
                  <a:srgbClr val="555555"/>
                </a:solidFill>
              </a:defRPr>
            </a:pPr>
            <a:r>
              <a:rPr>
                <a:latin typeface="Inter"/>
              </a:rPr>
              <a:t>229 / 229</a:t>
            </a:r>
          </a:p>
        </p:txBody>
      </p:sp>
      <p:pic>
        <p:nvPicPr>
          <p:cNvPr id="7" name="Picture 6" descr="image.png">
            <a:hlinkClick r:id="rId4"/>
          </p:cNvPr>
          <p:cNvPicPr>
            <a:picLocks noChangeAspect="1"/>
          </p:cNvPicPr>
          <p:nvPr/>
        </p:nvPicPr>
        <p:blipFill>
          <a:blip r:embed="rId3"/>
          <a:stretch>
            <a:fillRect/>
          </a:stretch>
        </p:blipFill>
        <p:spPr>
          <a:xfrm>
            <a:off x="8349386" y="1735645"/>
            <a:ext cx="3382365" cy="4227957"/>
          </a:xfrm>
          <a:prstGeom prst="rect">
            <a:avLst/>
          </a:prstGeom>
        </p:spPr>
      </p:pic>
      <p:sp>
        <p:nvSpPr>
          <p:cNvPr id="8" name="Rounded Rectangle 7"/>
          <p:cNvSpPr/>
          <p:nvPr/>
        </p:nvSpPr>
        <p:spPr>
          <a:xfrm>
            <a:off x="457200" y="1298448"/>
            <a:ext cx="3744925" cy="1666991"/>
          </a:xfrm>
          <a:prstGeom prst="roundRect">
            <a:avLst>
              <a:gd name="adj" fmla="val 844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8" y="184847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5"/>
          <a:stretch>
            <a:fillRect/>
          </a:stretch>
        </p:blipFill>
        <p:spPr>
          <a:xfrm>
            <a:off x="771753" y="1961865"/>
            <a:ext cx="340156" cy="340156"/>
          </a:xfrm>
          <a:prstGeom prst="rect">
            <a:avLst/>
          </a:prstGeom>
        </p:spPr>
      </p:pic>
      <p:sp>
        <p:nvSpPr>
          <p:cNvPr id="11" name="TextBox 10"/>
          <p:cNvSpPr txBox="1"/>
          <p:nvPr/>
        </p:nvSpPr>
        <p:spPr>
          <a:xfrm>
            <a:off x="1408175" y="1371600"/>
            <a:ext cx="2592781" cy="1520687"/>
          </a:xfrm>
          <a:prstGeom prst="rect">
            <a:avLst/>
          </a:prstGeom>
          <a:noFill/>
        </p:spPr>
        <p:txBody>
          <a:bodyPr wrap="square" anchor="ctr" lIns="0" tIns="0" rIns="0" bIns="0">
            <a:spAutoFit/>
          </a:bodyPr>
          <a:lstStyle/>
          <a:p>
            <a:pPr algn="l"/>
            <a:r>
              <a:rPr sz="1860" b="1">
                <a:solidFill>
                  <a:srgbClr val="1365A5"/>
                </a:solidFill>
                <a:latin typeface="Bebas Neue"/>
              </a:rPr>
              <a:t>POS Tagging</a:t>
            </a:r>
          </a:p>
          <a:p>
            <a:pPr algn="l">
              <a:spcBef>
                <a:spcPts val="500"/>
              </a:spcBef>
            </a:pPr>
            <a:r>
              <a:rPr sz="1550" b="0">
                <a:solidFill>
                  <a:srgbClr val="111111"/>
                </a:solidFill>
                <a:latin typeface="Inter"/>
              </a:rPr>
              <a:t>Types of POS Tagging</a:t>
            </a:r>
          </a:p>
        </p:txBody>
      </p:sp>
      <p:sp>
        <p:nvSpPr>
          <p:cNvPr id="12" name="Rounded Rectangle 11"/>
          <p:cNvSpPr/>
          <p:nvPr/>
        </p:nvSpPr>
        <p:spPr>
          <a:xfrm>
            <a:off x="4403293" y="1298448"/>
            <a:ext cx="3744925" cy="1666991"/>
          </a:xfrm>
          <a:prstGeom prst="roundRect">
            <a:avLst>
              <a:gd name="adj" fmla="val 844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4461" y="184847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6"/>
          <a:stretch>
            <a:fillRect/>
          </a:stretch>
        </p:blipFill>
        <p:spPr>
          <a:xfrm>
            <a:off x="4717846" y="1961865"/>
            <a:ext cx="340156" cy="340156"/>
          </a:xfrm>
          <a:prstGeom prst="rect">
            <a:avLst/>
          </a:prstGeom>
        </p:spPr>
      </p:pic>
      <p:sp>
        <p:nvSpPr>
          <p:cNvPr id="15" name="TextBox 14"/>
          <p:cNvSpPr txBox="1"/>
          <p:nvPr/>
        </p:nvSpPr>
        <p:spPr>
          <a:xfrm>
            <a:off x="5354269" y="1371600"/>
            <a:ext cx="2592781" cy="1520687"/>
          </a:xfrm>
          <a:prstGeom prst="rect">
            <a:avLst/>
          </a:prstGeom>
          <a:noFill/>
        </p:spPr>
        <p:txBody>
          <a:bodyPr wrap="square" anchor="ctr" lIns="0" tIns="0" rIns="0" bIns="0">
            <a:spAutoFit/>
          </a:bodyPr>
          <a:lstStyle/>
          <a:p>
            <a:pPr algn="l"/>
            <a:r>
              <a:rPr sz="1860" b="1">
                <a:solidFill>
                  <a:srgbClr val="1365A5"/>
                </a:solidFill>
                <a:latin typeface="Bebas Neue"/>
              </a:rPr>
              <a:t>CONSTITUENTS</a:t>
            </a:r>
          </a:p>
          <a:p>
            <a:pPr algn="l">
              <a:spcBef>
                <a:spcPts val="500"/>
              </a:spcBef>
            </a:pPr>
            <a:r>
              <a:rPr sz="1550" b="0">
                <a:solidFill>
                  <a:srgbClr val="111111"/>
                </a:solidFill>
                <a:latin typeface="Inter"/>
              </a:rPr>
              <a:t>HEADS AND DEPENDENTS: There are different kinds of constituents</a:t>
            </a:r>
          </a:p>
        </p:txBody>
      </p:sp>
      <p:sp>
        <p:nvSpPr>
          <p:cNvPr id="16" name="Rounded Rectangle 15"/>
          <p:cNvSpPr/>
          <p:nvPr/>
        </p:nvSpPr>
        <p:spPr>
          <a:xfrm>
            <a:off x="457200" y="3166607"/>
            <a:ext cx="3744925" cy="1666991"/>
          </a:xfrm>
          <a:prstGeom prst="roundRect">
            <a:avLst>
              <a:gd name="adj" fmla="val 844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8" y="371663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7"/>
          <a:stretch>
            <a:fillRect/>
          </a:stretch>
        </p:blipFill>
        <p:spPr>
          <a:xfrm>
            <a:off x="771753" y="3830024"/>
            <a:ext cx="340156" cy="340156"/>
          </a:xfrm>
          <a:prstGeom prst="rect">
            <a:avLst/>
          </a:prstGeom>
        </p:spPr>
      </p:pic>
      <p:sp>
        <p:nvSpPr>
          <p:cNvPr id="19" name="TextBox 18"/>
          <p:cNvSpPr txBox="1"/>
          <p:nvPr/>
        </p:nvSpPr>
        <p:spPr>
          <a:xfrm>
            <a:off x="1408175" y="3239759"/>
            <a:ext cx="2592781" cy="1520687"/>
          </a:xfrm>
          <a:prstGeom prst="rect">
            <a:avLst/>
          </a:prstGeom>
          <a:noFill/>
        </p:spPr>
        <p:txBody>
          <a:bodyPr wrap="square" anchor="ctr" lIns="0" tIns="0" rIns="0" bIns="0">
            <a:spAutoFit/>
          </a:bodyPr>
          <a:lstStyle/>
          <a:p>
            <a:pPr algn="l"/>
            <a:r>
              <a:rPr sz="1580" b="1">
                <a:solidFill>
                  <a:srgbClr val="1365A5"/>
                </a:solidFill>
                <a:latin typeface="Bebas Neue"/>
              </a:rPr>
              <a:t>SUBCATEGORIZATION</a:t>
            </a:r>
          </a:p>
          <a:p>
            <a:pPr algn="l">
              <a:spcBef>
                <a:spcPts val="500"/>
              </a:spcBef>
            </a:pPr>
            <a:r>
              <a:rPr sz="1310" b="0">
                <a:solidFill>
                  <a:srgbClr val="111111"/>
                </a:solidFill>
                <a:latin typeface="Inter"/>
              </a:rPr>
              <a:t>Sneeze: John sneezed</a:t>
            </a:r>
          </a:p>
        </p:txBody>
      </p:sp>
      <p:sp>
        <p:nvSpPr>
          <p:cNvPr id="20" name="Rounded Rectangle 19"/>
          <p:cNvSpPr/>
          <p:nvPr/>
        </p:nvSpPr>
        <p:spPr>
          <a:xfrm>
            <a:off x="4403293" y="3166607"/>
            <a:ext cx="3744925" cy="1666991"/>
          </a:xfrm>
          <a:prstGeom prst="roundRect">
            <a:avLst>
              <a:gd name="adj" fmla="val 8447"/>
            </a:avLst>
          </a:prstGeom>
          <a:solidFill>
            <a:srgbClr val="F5F6F8"/>
          </a:solidFill>
          <a:ln w="12700">
            <a:solidFill>
              <a:srgbClr val="BCD3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04461" y="3716639"/>
            <a:ext cx="566928" cy="566928"/>
          </a:xfrm>
          <a:prstGeom prst="ellipse">
            <a:avLst/>
          </a:prstGeom>
          <a:solidFill>
            <a:srgbClr val="DD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8"/>
          <a:stretch>
            <a:fillRect/>
          </a:stretch>
        </p:blipFill>
        <p:spPr>
          <a:xfrm>
            <a:off x="4717846" y="3830024"/>
            <a:ext cx="340156" cy="340156"/>
          </a:xfrm>
          <a:prstGeom prst="rect">
            <a:avLst/>
          </a:prstGeom>
        </p:spPr>
      </p:pic>
      <p:sp>
        <p:nvSpPr>
          <p:cNvPr id="23" name="TextBox 22"/>
          <p:cNvSpPr txBox="1"/>
          <p:nvPr/>
        </p:nvSpPr>
        <p:spPr>
          <a:xfrm>
            <a:off x="5354269" y="3239759"/>
            <a:ext cx="2592781" cy="1520687"/>
          </a:xfrm>
          <a:prstGeom prst="rect">
            <a:avLst/>
          </a:prstGeom>
          <a:noFill/>
        </p:spPr>
        <p:txBody>
          <a:bodyPr wrap="square" anchor="ctr" lIns="0" tIns="0" rIns="0" bIns="0">
            <a:spAutoFit/>
          </a:bodyPr>
          <a:lstStyle/>
          <a:p>
            <a:pPr algn="l"/>
            <a:r>
              <a:rPr sz="1860" b="1">
                <a:solidFill>
                  <a:srgbClr val="1365A5"/>
                </a:solidFill>
                <a:latin typeface="Bebas Neue"/>
              </a:rPr>
              <a:t>CHOMSKY NORMAL FORM</a:t>
            </a:r>
          </a:p>
          <a:p>
            <a:pPr algn="l">
              <a:spcBef>
                <a:spcPts val="500"/>
              </a:spcBef>
            </a:pPr>
            <a:r>
              <a:rPr sz="1550" b="0">
                <a:solidFill>
                  <a:srgbClr val="111111"/>
                </a:solidFill>
                <a:latin typeface="Inter"/>
              </a:rPr>
              <a:t>Normal Form is described by a set of conditions that each rule in the grammar must satisfy</a:t>
            </a:r>
          </a:p>
        </p:txBody>
      </p:sp>
      <p:sp>
        <p:nvSpPr>
          <p:cNvPr id="24" name="Rounded Rectangle 23"/>
          <p:cNvSpPr/>
          <p:nvPr/>
        </p:nvSpPr>
        <p:spPr>
          <a:xfrm>
            <a:off x="457200" y="5034766"/>
            <a:ext cx="7691018" cy="1366033"/>
          </a:xfrm>
          <a:prstGeom prst="roundRect">
            <a:avLst>
              <a:gd name="adj" fmla="val 8000"/>
            </a:avLst>
          </a:prstGeom>
          <a:solidFill>
            <a:srgbClr val="EE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5034766"/>
            <a:ext cx="73152" cy="1366033"/>
          </a:xfrm>
          <a:prstGeom prst="rect">
            <a:avLst/>
          </a:prstGeom>
          <a:solidFill>
            <a:srgbClr val="F769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1286" y="5107918"/>
            <a:ext cx="7295997" cy="1219729"/>
          </a:xfrm>
          <a:prstGeom prst="rect">
            <a:avLst/>
          </a:prstGeom>
          <a:noFill/>
        </p:spPr>
        <p:txBody>
          <a:bodyPr wrap="square" anchor="ctr" lIns="0" tIns="0" rIns="0" bIns="0">
            <a:spAutoFit/>
          </a:bodyPr>
          <a:lstStyle/>
          <a:p>
            <a:pPr algn="l"/>
            <a:r>
              <a:rPr sz="1010" b="1">
                <a:solidFill>
                  <a:srgbClr val="F76945"/>
                </a:solidFill>
                <a:latin typeface="Bebas Neue"/>
              </a:rPr>
              <a:t>ALSO ON THIS SLIDE</a:t>
            </a:r>
          </a:p>
          <a:p>
            <a:pPr algn="l">
              <a:spcBef>
                <a:spcPts val="300"/>
              </a:spcBef>
            </a:pPr>
            <a:r>
              <a:rPr sz="1400" b="0">
                <a:solidFill>
                  <a:srgbClr val="111111"/>
                </a:solidFill>
                <a:latin typeface="Inter"/>
              </a:rPr>
              <a:t>WHY HIDDEN, MARKOV MODEL?: The reason it is called a Hidden Markov Model is because an inference model is constructed based on the assumptions… create a path probability matrix viter: Limitations of HMM POS Tagging Features Features | Weight Weight (Not: Solution is Conditional Random Field (CRF)</a:t>
            </a:r>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5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50"/>
                                        <p:tgtEl>
                                          <p:spTgt spid="25"/>
                                        </p:tgtEl>
                                      </p:cBhvr>
                                    </p:animEffect>
                                  </p:childTnLst>
                                </p:cTn>
                              </p:par>
                              <p:par>
                                <p:cTn id="67" presetID="10"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1365A5"/>
        </a:solidFill>
        <a:effectLst/>
      </p:bgPr>
    </p:bg>
    <p:spTree>
      <p:nvGrpSpPr>
        <p:cNvPr id="1" name=""/>
        <p:cNvGrpSpPr/>
        <p:nvPr/>
      </p:nvGrpSpPr>
      <p:grpSpPr/>
      <p:sp>
        <p:nvSpPr>
          <p:cNvPr id="2" name="Oval 1"/>
          <p:cNvSpPr/>
          <p:nvPr/>
        </p:nvSpPr>
        <p:spPr>
          <a:xfrm>
            <a:off x="-1280160" y="4206240"/>
            <a:ext cx="4937760" cy="4937760"/>
          </a:xfrm>
          <a:prstGeom prst="ellipse">
            <a:avLst/>
          </a:prstGeom>
          <a:solidFill>
            <a:srgbClr val="F7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822960"/>
            <a:ext cx="2560320" cy="2560320"/>
          </a:xfrm>
          <a:prstGeom prst="ellipse">
            <a:avLst/>
          </a:prstGeom>
          <a:solidFill>
            <a:srgbClr val="4E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10360152" cy="1463040"/>
          </a:xfrm>
          <a:prstGeom prst="rect">
            <a:avLst/>
          </a:prstGeom>
          <a:noFill/>
        </p:spPr>
        <p:txBody>
          <a:bodyPr wrap="none">
            <a:spAutoFit/>
          </a:bodyPr>
          <a:lstStyle/>
          <a:p>
            <a:pPr algn="ctr">
              <a:defRPr sz="6400" b="1">
                <a:solidFill>
                  <a:srgbClr val="FFFFFF"/>
                </a:solidFill>
              </a:defRPr>
            </a:pPr>
            <a:r>
              <a:rPr>
                <a:latin typeface="Bebas Neue"/>
              </a:rPr>
              <a:t>Thank you</a:t>
            </a:r>
          </a:p>
        </p:txBody>
      </p:sp>
      <p:sp>
        <p:nvSpPr>
          <p:cNvPr id="5" name="TextBox 4"/>
          <p:cNvSpPr txBox="1"/>
          <p:nvPr/>
        </p:nvSpPr>
        <p:spPr>
          <a:xfrm>
            <a:off x="914400" y="3657600"/>
            <a:ext cx="10360152" cy="731520"/>
          </a:xfrm>
          <a:prstGeom prst="rect">
            <a:avLst/>
          </a:prstGeom>
          <a:noFill/>
        </p:spPr>
        <p:txBody>
          <a:bodyPr wrap="none">
            <a:spAutoFit/>
          </a:bodyPr>
          <a:lstStyle/>
          <a:p>
            <a:pPr algn="ctr">
              <a:defRPr sz="2600">
                <a:solidFill>
                  <a:srgbClr val="FFFFFF"/>
                </a:solidFill>
              </a:defRPr>
            </a:pPr>
            <a:r>
              <a:rPr>
                <a:latin typeface="Bebas Neue"/>
              </a:rPr>
              <a:t>Questions?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