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Lesk’s Algorithm: A simple method for word-sense disambiguation</a:t>
            </a:r>
          </a:p>
          <a:p>
            <a:r>
              <a:t>  2. Lesk’s Algorithm: A simple method for word-sense disambiguation: The Lesk algorithm</a:t>
            </a:r>
          </a:p>
          <a:p>
            <a:r>
              <a:t>  3. STEPS:</a:t>
            </a:r>
          </a:p>
          <a:p>
            <a:r>
              <a:t>  4. Advantages</a:t>
            </a:r>
          </a:p>
          <a:p>
            <a:r>
              <a:t>  5. Advantages: Non-syntactic</a:t>
            </a:r>
          </a:p>
          <a:p>
            <a:r>
              <a:t>  6. Disadvantages limitations challenges</a:t>
            </a:r>
          </a:p>
          <a:p>
            <a:r>
              <a:t>  7. Disadvantages limitations challenges: As we navigate the intricate</a:t>
            </a:r>
          </a:p>
          <a:p>
            <a:r>
              <a:t>  8. Disadvantages limitations challenges: Supervised approaches are typically more</a:t>
            </a:r>
          </a:p>
          <a:p/>
          <a:p>
            <a:r>
              <a:t>Pause: ask the class what they already know about “Agenda” before revealing the slide.</a:t>
            </a:r>
          </a:p>
          <a:p/>
          <a:p>
            <a:r>
              <a:t>~68s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Perhaps one of the earliest and still most commonly used methods for word-sense disambiguation today is Lesk’s Algorithm</a:t>
            </a:r>
          </a:p>
          <a:p>
            <a:r>
              <a:t>  2. Lesk in 1986.</a:t>
            </a:r>
          </a:p>
          <a:p>
            <a:r>
              <a:t>  3. Lesk’s algorithm is based on the idea that words that appear together in text are related somehow, and that the relation</a:t>
            </a:r>
          </a:p>
          <a:p>
            <a:r>
              <a:t>  4. Developed long before the advent of modern technology, Lesk’s algorithm aims to disambiguate the meaning of words of int</a:t>
            </a:r>
          </a:p>
          <a:p/>
          <a:p>
            <a:r>
              <a:t>Read these exactly (do not paraphrase):</a:t>
            </a:r>
          </a:p>
          <a:p>
            <a:r>
              <a:t>  - Developed long before the advent of modern technology, Lesk’s algorithm aims to disambiguate the meaning of words of interest — usually appearing within a short phrase or sentence — by finding the pair of matching dictionary “senses” (i.e.</a:t>
            </a:r>
          </a:p>
          <a:p>
            <a:r>
              <a:t>  - synonyms) with the greatest word overlap in dictionary definitions.</a:t>
            </a:r>
          </a:p>
          <a:p/>
          <a:p>
            <a:r>
              <a:t>Pause: ask the class what they already know about “Lesk’s Algorithm: A simple method for word-sense disambiguation” before revealing the slide.</a:t>
            </a:r>
          </a:p>
          <a:p/>
          <a:p>
            <a:r>
              <a:t>Wording matters here — slow down, keep it precise.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Lesk algorithm is an knowledge based approach to word sense disambiguation.</a:t>
            </a:r>
          </a:p>
          <a:p>
            <a:r>
              <a:t>  2. It works by comparing the context of the target word to the contexts of its different senses in a dictionary.</a:t>
            </a:r>
          </a:p>
          <a:p>
            <a:r>
              <a:t>  3. The sense with the most similar context is the most likely correct sense.</a:t>
            </a:r>
          </a:p>
          <a:p>
            <a:r>
              <a:t>  4. In its most basic essence, Lesk’s algorithm operates by tallying the common features between the dictionary</a:t>
            </a:r>
          </a:p>
          <a:p>
            <a:r>
              <a:t>  5. definitions of a target word and those of the neighbouring words within a designated “context window.” This window encom</a:t>
            </a:r>
          </a:p>
          <a:p>
            <a:r>
              <a:t>  6. The algorithm then selects the definition associated with the word that displays the highest count of overlaps, while ex</a:t>
            </a:r>
          </a:p>
          <a:p/>
          <a:p>
            <a:r>
              <a:t>Read these exactly (do not paraphrase):</a:t>
            </a:r>
          </a:p>
          <a:p>
            <a:r>
              <a:t>  - In its most basic essence, Lesk’s algorithm operates by tallying the common features between the dictionary definitions of a target word and those of the neighbouring words within a designated “context window.”</a:t>
            </a:r>
          </a:p>
          <a:p/>
          <a:p>
            <a:r>
              <a:t>Pause: ask the class what they already know about “Lesk’s Algorithm: A simple method for word-sense disambiguation: The Lesk algorithm”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Select Word: Choose the word for which you want to determine the correct meaning.</a:t>
            </a:r>
          </a:p>
          <a:p>
            <a:r>
              <a:t>  2. Let’s call this the “target word.”</a:t>
            </a:r>
          </a:p>
          <a:p>
            <a:r>
              <a:t>  3. Define Context Window: Identify a group of nearby words around the target word.</a:t>
            </a:r>
          </a:p>
          <a:p>
            <a:r>
              <a:t>  4. This collection of words is known as the “context window.”</a:t>
            </a:r>
          </a:p>
          <a:p>
            <a:r>
              <a:t>  5. Compare Definitions: Compare the dictionary definitions of the target word with the definitions of the words within the </a:t>
            </a:r>
          </a:p>
          <a:p>
            <a:r>
              <a:t>  6. Count Overlaps: Count the number of words that appear in both the target word’s definitions and the definitions of the w</a:t>
            </a:r>
          </a:p>
          <a:p>
            <a:r>
              <a:t>  7. Exclude common words like “the,” “a,” and “and.”</a:t>
            </a:r>
          </a:p>
          <a:p/>
          <a:p>
            <a:r>
              <a:t>Read these exactly (do not paraphrase):</a:t>
            </a:r>
          </a:p>
          <a:p>
            <a:r>
              <a:t>  - Let’s call this the “target word.”</a:t>
            </a:r>
          </a:p>
          <a:p>
            <a:r>
              <a:t>  - This collection of words is known as the “context window.”</a:t>
            </a:r>
          </a:p>
          <a:p/>
          <a:p>
            <a:r>
              <a:t>Pause: ask the class what they already know about “Steps”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Simple to implement: Lesk’s algorithm is a relatively simple algorithm that can be implemented in a few lines of code.</a:t>
            </a:r>
          </a:p>
          <a:p>
            <a:r>
              <a:t>  2. This makes it a good choice for beginners and for applications where speed is important.</a:t>
            </a:r>
          </a:p>
          <a:p>
            <a:r>
              <a:t>  3. Applicable in a variety of different contexts: Lesk’s algorithm does not rely on global information or the structure of </a:t>
            </a:r>
          </a:p>
          <a:p>
            <a:r>
              <a:t>  4. This means that it can be applied to new words and new contexts without having to be extensively modified.</a:t>
            </a:r>
          </a:p>
          <a:p>
            <a:r>
              <a:t>  5. For example, the algorithm can be used to disambiguate the word “bank” in the sentences “The bank robber ran down the st</a:t>
            </a:r>
          </a:p>
          <a:p>
            <a:r>
              <a:t>  6. Easily generalizable: Lesk’s algorithm is easily generalizable to new words and new contexts.</a:t>
            </a:r>
          </a:p>
          <a:p>
            <a:r>
              <a:t>  7. This is because the algorithm does not rely on global information or the structure of the sentence.</a:t>
            </a:r>
          </a:p>
          <a:p/>
          <a:p>
            <a:r>
              <a:t>Read these exactly (do not paraphrase):</a:t>
            </a:r>
          </a:p>
          <a:p>
            <a:r>
              <a:t>  - This means that it can be applied to new words and new contexts without having to be extensively modified.</a:t>
            </a:r>
          </a:p>
          <a:p>
            <a:r>
              <a:t>  - For example, the algorithm can be used to disambiguate the word “bank” in the sentences “The bank robber ran down the street” and “The bank of the river is very steep.”</a:t>
            </a:r>
          </a:p>
          <a:p/>
          <a:p>
            <a:r>
              <a:t>Pause: ask the class what they already know about “Advantages”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Advantages: Non-syntactic Non-syntactic: Lesk’s algorithm is non-syntactic, which means that it does not rely on the arrangement of words in a sentence.</a:t>
            </a:r>
          </a:p>
          <a:p/>
          <a:p>
            <a:r>
              <a:t>Pause: ask the class what they already know about “Advantages: Non-syntactic” before revealing the slide.</a:t>
            </a:r>
          </a:p>
          <a:p/>
          <a:p>
            <a:r>
              <a:t>~19s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Low accuracy: Lesk’s algorithm has been shown to have low accuracy, especially for words with multiple senses that are s</a:t>
            </a:r>
          </a:p>
          <a:p>
            <a:r>
              <a:t>  2. For example, the word “bank” can have multiple senses, such as a financial institution, a riverbank, or a slope.</a:t>
            </a:r>
          </a:p>
          <a:p>
            <a:r>
              <a:t>  3. Low recall: Lesk’s algorithm also has low recall, meaning that it cannot disambiguate many words.</a:t>
            </a:r>
          </a:p>
          <a:p>
            <a:r>
              <a:t>  4. This is because the algorithm does not consider the context of the word in the sentence.</a:t>
            </a:r>
          </a:p>
          <a:p>
            <a:r>
              <a:t>  5. Overall, Lesk’s algorithm is a simple, effective, and versatile algorithm for word sense disambiguation.</a:t>
            </a:r>
          </a:p>
          <a:p>
            <a:r>
              <a:t>  6. It is a good choice for a variety of applications, especially for those where speed and accuracy are important.</a:t>
            </a:r>
          </a:p>
          <a:p>
            <a:r>
              <a:t>  7. Overall, Lesk’s algorithm is a simple and effective algorithm for word sense disambiguation.</a:t>
            </a:r>
          </a:p>
          <a:p/>
          <a:p>
            <a:r>
              <a:t>Pause: ask the class what they already know about “Disadvantages limitations challenges”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As we navigate the intricate landscape of Natural Language Processing, Lesk’s Algorithm reminds us that even in the digi</a:t>
            </a:r>
          </a:p>
          <a:p>
            <a:r>
              <a:t>  2. While newer techniques have emerged, this algorithm’s simplicity and effectiveness showcase the elegance of linguistic i</a:t>
            </a:r>
          </a:p>
          <a:p>
            <a:r>
              <a:t>  3. As technology advances and our grasp of language deepens, the journey of refining algorithms like Lesk’s will undoubtedl</a:t>
            </a:r>
          </a:p>
          <a:p>
            <a:r>
              <a:t>  4. Each of these approaches has its own advantages and disadvantages.</a:t>
            </a:r>
          </a:p>
          <a:p/>
          <a:p>
            <a:r>
              <a:t>Pause: ask the class what they already know about “Disadvantages limitations challenges: As we navigate the intricate”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Supervised approaches are typically more accurate than unsupervised approaches, but they require a labeled corpus, which</a:t>
            </a:r>
          </a:p>
          <a:p>
            <a:r>
              <a:t>  2. Semi-supervised approaches can be a good compromise between accuracy and efficiency.</a:t>
            </a:r>
          </a:p>
          <a:p>
            <a:r>
              <a:t>  3. Unsupervised approaches are the most efficient, but they are also the least accurate.</a:t>
            </a:r>
          </a:p>
          <a:p>
            <a:r>
              <a:t>  4. The best approach to WSD depends on the specific application.</a:t>
            </a:r>
          </a:p>
          <a:p>
            <a:r>
              <a:t>  5. For example, if accuracy is critical, then a supervised approach is likely the best choice.</a:t>
            </a:r>
          </a:p>
          <a:p>
            <a:r>
              <a:t>  6. If speed is critical, then an unsupervised approach may be a better choice.</a:t>
            </a:r>
          </a:p>
          <a:p/>
          <a:p>
            <a:r>
              <a:t>Pause: ask the class what they already know about “Disadvantages limitations challenges: Supervised approaches are typically more” before revealing the slide.</a:t>
            </a:r>
          </a:p>
          <a:p/>
          <a:p>
            <a:r>
              <a:t>~54s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Reveal 1</a:t>
            </a:r>
          </a:p>
          <a:p>
            <a:r>
              <a:t>  2. Reveal 2</a:t>
            </a:r>
          </a:p>
          <a:p/>
          <a:p>
            <a:r>
              <a:t>Read these exactly (do not paraphrase):</a:t>
            </a:r>
          </a:p>
          <a:p>
            <a:r>
              <a:t>  - STEPS:: Select Word: Choose the word for which you want to determine the correct meaning.</a:t>
            </a:r>
          </a:p>
          <a:p>
            <a:r>
              <a:t>  - Advantages: Non-syntactic: Non-syntactic: Lesk’s algorithm is non-syntactic, which means that it does not rely on the arrangement of words in a sentence.</a:t>
            </a:r>
          </a:p>
          <a:p/>
          <a:p>
            <a:r>
              <a:t>Pause: ask the class what they already know about “Key takeaways” before revealing the slide.</a:t>
            </a:r>
          </a:p>
          <a:p/>
          <a:p>
            <a:r>
              <a:t>Wording matters here — slow down, keep it precise.</a:t>
            </a:r>
          </a:p>
          <a:p/>
          <a:p>
            <a:r>
              <a:t>~26s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19fe489239be1e63d50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naive_bayes_wsd" TargetMode="External"/><Relationship Id="rId4" Type="http://schemas.openxmlformats.org/officeDocument/2006/relationships/image" Target="../media/image3.png"/><Relationship Id="rId5" Type="http://schemas.openxmlformats.org/officeDocument/2006/relationships/hyperlink" Target="http://localhost:8000/api/art/8c1187a4c2f2f4339d6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localhost:8000/api/labs/naive_bayes_wsd" TargetMode="External"/><Relationship Id="rId4" Type="http://schemas.openxmlformats.org/officeDocument/2006/relationships/image" Target="../media/image4.png"/><Relationship Id="rId5" Type="http://schemas.openxmlformats.org/officeDocument/2006/relationships/hyperlink" Target="http://localhost:8000/api/art/6e9989ef8455c1a5413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hyperlink" Target="http://localhost:8000/api/art/2d8961aa45162af3e5c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localhost:8000/api/art/ddb9c556390404e356f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hyperlink" Target="http://localhost:8000/api/art/86554a953538d186de0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localhost:8000/api/art/088dc82c5d2c66f7272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hyperlink" Target="http://localhost:8000/api/art/6f52c05b91b3eb9c6c1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hyperlink" Target="http://localhost:8000/api/art/53fea2ecb5c758351b4d" TargetMode="External"/><Relationship Id="rId5" Type="http://schemas.openxmlformats.org/officeDocument/2006/relationships/hyperlink" Target="http://localhost:8000/api/labs/auto-433d6b6678a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hyperlink" Target="http://localhost:8000/api/art/af7985309bd850c92cb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FFC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557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FFE4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Poppins"/>
              </a:rPr>
              <a:t>Lesk’s Algorithm</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BBC9F3"/>
                </a:solidFill>
              </a:defRPr>
            </a:pPr>
            <a:r>
              <a:rPr>
                <a:latin typeface="Inter"/>
              </a:rPr>
              <a:t>12 slides  •  made with Learnova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 / 12</a:t>
            </a:r>
          </a:p>
        </p:txBody>
      </p:sp>
      <p:sp>
        <p:nvSpPr>
          <p:cNvPr id="8" name="Rounded Rectangle 7"/>
          <p:cNvSpPr/>
          <p:nvPr/>
        </p:nvSpPr>
        <p:spPr>
          <a:xfrm>
            <a:off x="457200" y="129844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85318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298448" y="1371600"/>
            <a:ext cx="4494276" cy="1420368"/>
          </a:xfrm>
          <a:prstGeom prst="rect">
            <a:avLst/>
          </a:prstGeom>
          <a:noFill/>
        </p:spPr>
        <p:txBody>
          <a:bodyPr wrap="square" anchor="ctr" lIns="0" tIns="0" rIns="0" bIns="0">
            <a:spAutoFit/>
          </a:bodyPr>
          <a:lstStyle/>
          <a:p>
            <a:pPr algn="l"/>
            <a:r>
              <a:rPr sz="2940" b="1">
                <a:solidFill>
                  <a:srgbClr val="1D4ED8"/>
                </a:solidFill>
                <a:latin typeface="Poppins"/>
              </a:rPr>
              <a:t>Lesk’s Algorithm: A simple method for word-s</a:t>
            </a:r>
          </a:p>
        </p:txBody>
      </p:sp>
      <p:sp>
        <p:nvSpPr>
          <p:cNvPr id="11" name="Rounded Rectangle 10"/>
          <p:cNvSpPr/>
          <p:nvPr/>
        </p:nvSpPr>
        <p:spPr>
          <a:xfrm>
            <a:off x="6195059" y="1298448"/>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185318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3" name="TextBox 12"/>
          <p:cNvSpPr txBox="1"/>
          <p:nvPr/>
        </p:nvSpPr>
        <p:spPr>
          <a:xfrm>
            <a:off x="7036307" y="1371600"/>
            <a:ext cx="4494275" cy="1420368"/>
          </a:xfrm>
          <a:prstGeom prst="rect">
            <a:avLst/>
          </a:prstGeom>
          <a:noFill/>
        </p:spPr>
        <p:txBody>
          <a:bodyPr wrap="square" anchor="ctr" lIns="0" tIns="0" rIns="0" bIns="0">
            <a:spAutoFit/>
          </a:bodyPr>
          <a:lstStyle/>
          <a:p>
            <a:pPr algn="l"/>
            <a:r>
              <a:rPr sz="2940" b="1">
                <a:solidFill>
                  <a:srgbClr val="1D4ED8"/>
                </a:solidFill>
                <a:latin typeface="Poppins"/>
              </a:rPr>
              <a:t>STEPS:</a:t>
            </a:r>
          </a:p>
        </p:txBody>
      </p:sp>
      <p:sp>
        <p:nvSpPr>
          <p:cNvPr id="14" name="Rounded Rectangle 13"/>
          <p:cNvSpPr/>
          <p:nvPr/>
        </p:nvSpPr>
        <p:spPr>
          <a:xfrm>
            <a:off x="457200" y="3066287"/>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62102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6" name="TextBox 15"/>
          <p:cNvSpPr txBox="1"/>
          <p:nvPr/>
        </p:nvSpPr>
        <p:spPr>
          <a:xfrm>
            <a:off x="1298448" y="3139440"/>
            <a:ext cx="4494276" cy="1420368"/>
          </a:xfrm>
          <a:prstGeom prst="rect">
            <a:avLst/>
          </a:prstGeom>
          <a:noFill/>
        </p:spPr>
        <p:txBody>
          <a:bodyPr wrap="square" anchor="ctr" lIns="0" tIns="0" rIns="0" bIns="0">
            <a:spAutoFit/>
          </a:bodyPr>
          <a:lstStyle/>
          <a:p>
            <a:pPr algn="l"/>
            <a:r>
              <a:rPr sz="2940" b="1">
                <a:solidFill>
                  <a:srgbClr val="1D4ED8"/>
                </a:solidFill>
                <a:latin typeface="Poppins"/>
              </a:rPr>
              <a:t>Advantages</a:t>
            </a:r>
          </a:p>
        </p:txBody>
      </p:sp>
      <p:sp>
        <p:nvSpPr>
          <p:cNvPr id="17" name="Rounded Rectangle 16"/>
          <p:cNvSpPr/>
          <p:nvPr/>
        </p:nvSpPr>
        <p:spPr>
          <a:xfrm>
            <a:off x="6195059" y="3066287"/>
            <a:ext cx="553669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362102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19" name="TextBox 18"/>
          <p:cNvSpPr txBox="1"/>
          <p:nvPr/>
        </p:nvSpPr>
        <p:spPr>
          <a:xfrm>
            <a:off x="7036307" y="3139440"/>
            <a:ext cx="4494275" cy="1420368"/>
          </a:xfrm>
          <a:prstGeom prst="rect">
            <a:avLst/>
          </a:prstGeom>
          <a:noFill/>
        </p:spPr>
        <p:txBody>
          <a:bodyPr wrap="square" anchor="ctr" lIns="0" tIns="0" rIns="0" bIns="0">
            <a:spAutoFit/>
          </a:bodyPr>
          <a:lstStyle/>
          <a:p>
            <a:pPr algn="l"/>
            <a:r>
              <a:rPr sz="2940" b="1">
                <a:solidFill>
                  <a:srgbClr val="1D4ED8"/>
                </a:solidFill>
                <a:latin typeface="Poppins"/>
              </a:rPr>
              <a:t>Advantages: Non-syntactic</a:t>
            </a:r>
          </a:p>
        </p:txBody>
      </p:sp>
      <p:sp>
        <p:nvSpPr>
          <p:cNvPr id="20" name="Rounded Rectangle 19"/>
          <p:cNvSpPr/>
          <p:nvPr/>
        </p:nvSpPr>
        <p:spPr>
          <a:xfrm>
            <a:off x="457200" y="4834128"/>
            <a:ext cx="11274552" cy="1566671"/>
          </a:xfrm>
          <a:prstGeom prst="roundRect">
            <a:avLst>
              <a:gd name="adj" fmla="val 89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38886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2" name="TextBox 21"/>
          <p:cNvSpPr txBox="1"/>
          <p:nvPr/>
        </p:nvSpPr>
        <p:spPr>
          <a:xfrm>
            <a:off x="1298448" y="4907280"/>
            <a:ext cx="10232136" cy="1420368"/>
          </a:xfrm>
          <a:prstGeom prst="rect">
            <a:avLst/>
          </a:prstGeom>
          <a:noFill/>
        </p:spPr>
        <p:txBody>
          <a:bodyPr wrap="square" anchor="ctr" lIns="0" tIns="0" rIns="0" bIns="0">
            <a:spAutoFit/>
          </a:bodyPr>
          <a:lstStyle/>
          <a:p>
            <a:pPr algn="l"/>
            <a:r>
              <a:rPr sz="2940" b="1">
                <a:solidFill>
                  <a:srgbClr val="1D4ED8"/>
                </a:solidFill>
                <a:latin typeface="Poppins"/>
              </a:rPr>
              <a:t>Disadvantages limitations challenges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C93C"/>
                </a:solidFill>
              </a:defRPr>
            </a:pPr>
            <a:r>
              <a:rPr>
                <a:latin typeface="Poppins"/>
              </a:rPr>
              <a:t>Lesk’s Algorithm: A simple method for word-sense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2 / 12</a:t>
            </a:r>
          </a:p>
        </p:txBody>
      </p:sp>
      <p:sp>
        <p:nvSpPr>
          <p:cNvPr id="7" name="Rounded Rectangle 6">
            <a:hlinkClick r:id="rId3"/>
          </p:cNvPr>
          <p:cNvSpPr/>
          <p:nvPr/>
        </p:nvSpPr>
        <p:spPr>
          <a:xfrm>
            <a:off x="3883456" y="6455664"/>
            <a:ext cx="4422038"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Naive Bayes WSD Lab</a:t>
            </a:r>
          </a:p>
        </p:txBody>
      </p:sp>
      <p:pic>
        <p:nvPicPr>
          <p:cNvPr id="8" name="Picture 7" descr="image.png">
            <a:hlinkClick r:id="rId5"/>
          </p:cNvPr>
          <p:cNvPicPr>
            <a:picLocks noChangeAspect="1"/>
          </p:cNvPicPr>
          <p:nvPr/>
        </p:nvPicPr>
        <p:blipFill>
          <a:blip r:embed="rId4"/>
          <a:stretch>
            <a:fillRect/>
          </a:stretch>
        </p:blipFill>
        <p:spPr>
          <a:xfrm>
            <a:off x="8349386" y="1735645"/>
            <a:ext cx="3382365" cy="4227957"/>
          </a:xfrm>
          <a:prstGeom prst="rect">
            <a:avLst/>
          </a:prstGeom>
        </p:spPr>
      </p:pic>
      <p:sp>
        <p:nvSpPr>
          <p:cNvPr id="9" name="Rectangle 8"/>
          <p:cNvSpPr/>
          <p:nvPr/>
        </p:nvSpPr>
        <p:spPr>
          <a:xfrm>
            <a:off x="457200" y="1555028"/>
            <a:ext cx="82296" cy="1251630"/>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 y="1518452"/>
            <a:ext cx="6907734" cy="1269918"/>
          </a:xfrm>
          <a:prstGeom prst="rect">
            <a:avLst/>
          </a:prstGeom>
          <a:noFill/>
        </p:spPr>
        <p:txBody>
          <a:bodyPr wrap="square" anchor="t" lIns="0" tIns="0" rIns="0" bIns="0">
            <a:spAutoFit/>
          </a:bodyPr>
          <a:lstStyle/>
          <a:p>
            <a:pPr algn="l"/>
            <a:r>
              <a:rPr sz="1980" b="1">
                <a:solidFill>
                  <a:srgbClr val="1D4ED8"/>
                </a:solidFill>
                <a:latin typeface="Poppins"/>
              </a:rPr>
              <a:t>Perhaps one of the earliest and still most commonly used methods for word-sense disambiguation today is Lesk’s Algorithm, proposed by Michael E.</a:t>
            </a:r>
          </a:p>
        </p:txBody>
      </p:sp>
      <p:sp>
        <p:nvSpPr>
          <p:cNvPr id="11" name="TextBox 10"/>
          <p:cNvSpPr txBox="1"/>
          <p:nvPr/>
        </p:nvSpPr>
        <p:spPr>
          <a:xfrm>
            <a:off x="720547" y="2980395"/>
            <a:ext cx="6907734" cy="256032"/>
          </a:xfrm>
          <a:prstGeom prst="rect">
            <a:avLst/>
          </a:prstGeom>
          <a:noFill/>
        </p:spPr>
        <p:txBody>
          <a:bodyPr wrap="square" lIns="0" rIns="0" tIns="0" bIns="0">
            <a:spAutoFit/>
          </a:bodyPr>
          <a:lstStyle/>
          <a:p>
            <a:r>
              <a:rPr sz="1600">
                <a:solidFill>
                  <a:srgbClr val="0F172A"/>
                </a:solidFill>
                <a:latin typeface="Inter"/>
              </a:rPr>
              <a:t>Lesk in 1986.</a:t>
            </a:r>
          </a:p>
        </p:txBody>
      </p:sp>
      <p:sp>
        <p:nvSpPr>
          <p:cNvPr id="12" name="TextBox 11"/>
          <p:cNvSpPr txBox="1"/>
          <p:nvPr/>
        </p:nvSpPr>
        <p:spPr>
          <a:xfrm>
            <a:off x="720547" y="3364443"/>
            <a:ext cx="6907734" cy="1280160"/>
          </a:xfrm>
          <a:prstGeom prst="rect">
            <a:avLst/>
          </a:prstGeom>
          <a:noFill/>
        </p:spPr>
        <p:txBody>
          <a:bodyPr wrap="square" lIns="0" rIns="0" tIns="0" bIns="0">
            <a:spAutoFit/>
          </a:bodyPr>
          <a:lstStyle/>
          <a:p>
            <a:r>
              <a:rPr sz="1600">
                <a:solidFill>
                  <a:srgbClr val="0F172A"/>
                </a:solidFill>
                <a:latin typeface="Inter"/>
              </a:rPr>
              <a:t>Lesk’s algorithm is based on the idea that words that appear together in text are related somehow, and that the relationship and corresponding context of the words can be extracted through the definitions of the words of interest </a:t>
            </a:r>
            <a:r>
              <a:rPr sz="1600" b="1">
                <a:solidFill>
                  <a:srgbClr val="0F766E"/>
                </a:solidFill>
                <a:latin typeface="Poppins"/>
              </a:rPr>
              <a:t>as well as</a:t>
            </a:r>
            <a:r>
              <a:rPr sz="1600">
                <a:solidFill>
                  <a:srgbClr val="0F172A"/>
                </a:solidFill>
                <a:latin typeface="Inter"/>
              </a:rPr>
              <a:t> the other words used around it.</a:t>
            </a:r>
          </a:p>
        </p:txBody>
      </p:sp>
      <p:sp>
        <p:nvSpPr>
          <p:cNvPr id="13" name="TextBox 12"/>
          <p:cNvSpPr txBox="1"/>
          <p:nvPr/>
        </p:nvSpPr>
        <p:spPr>
          <a:xfrm>
            <a:off x="720547" y="4772619"/>
            <a:ext cx="6907734" cy="1280160"/>
          </a:xfrm>
          <a:prstGeom prst="rect">
            <a:avLst/>
          </a:prstGeom>
          <a:noFill/>
        </p:spPr>
        <p:txBody>
          <a:bodyPr wrap="square" lIns="0" rIns="0" tIns="0" bIns="0">
            <a:spAutoFit/>
          </a:bodyPr>
          <a:lstStyle/>
          <a:p>
            <a:r>
              <a:rPr sz="1600">
                <a:solidFill>
                  <a:srgbClr val="0F172A"/>
                </a:solidFill>
                <a:latin typeface="Inter"/>
              </a:rPr>
              <a:t>Developed long </a:t>
            </a:r>
            <a:r>
              <a:rPr sz="1600" b="1">
                <a:solidFill>
                  <a:srgbClr val="6D28D9"/>
                </a:solidFill>
                <a:latin typeface="Poppins"/>
              </a:rPr>
              <a:t>before</a:t>
            </a:r>
            <a:r>
              <a:rPr sz="1600">
                <a:solidFill>
                  <a:srgbClr val="0F172A"/>
                </a:solidFill>
                <a:latin typeface="Inter"/>
              </a:rPr>
              <a:t> the advent of modern technology, Lesk’s algorithm </a:t>
            </a:r>
            <a:r>
              <a:rPr sz="1600" b="1">
                <a:solidFill>
                  <a:srgbClr val="6D28D9"/>
                </a:solidFill>
                <a:latin typeface="Poppins"/>
              </a:rPr>
              <a:t>aims to</a:t>
            </a:r>
            <a:r>
              <a:rPr sz="1600">
                <a:solidFill>
                  <a:srgbClr val="0F172A"/>
                </a:solidFill>
                <a:latin typeface="Inter"/>
              </a:rPr>
              <a:t> disambiguate the meaning of words of interest — usually appearing within a short phrase or sentence — by finding the pair of matching dictionary “senses” (i.e. synonyms) with the greatest word overlap in dictionary definitions.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Lesk’s Algorithm: A simple method for word-sense disambiguation: The Lesk algorithm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3 / 12</a:t>
            </a:r>
          </a:p>
        </p:txBody>
      </p:sp>
      <p:sp>
        <p:nvSpPr>
          <p:cNvPr id="7" name="Rounded Rectangle 6">
            <a:hlinkClick r:id="rId3"/>
          </p:cNvPr>
          <p:cNvSpPr/>
          <p:nvPr/>
        </p:nvSpPr>
        <p:spPr>
          <a:xfrm>
            <a:off x="3883456" y="6455664"/>
            <a:ext cx="4422038"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Naive Bayes WSD Lab</a:t>
            </a:r>
          </a:p>
        </p:txBody>
      </p:sp>
      <p:pic>
        <p:nvPicPr>
          <p:cNvPr id="8" name="Picture 7" descr="image.png">
            <a:hlinkClick r:id="rId5"/>
          </p:cNvPr>
          <p:cNvPicPr>
            <a:picLocks noChangeAspect="1"/>
          </p:cNvPicPr>
          <p:nvPr/>
        </p:nvPicPr>
        <p:blipFill>
          <a:blip r:embed="rId4"/>
          <a:stretch>
            <a:fillRect/>
          </a:stretch>
        </p:blipFill>
        <p:spPr>
          <a:xfrm>
            <a:off x="8349386" y="1735645"/>
            <a:ext cx="3382365" cy="4227957"/>
          </a:xfrm>
          <a:prstGeom prst="rect">
            <a:avLst/>
          </a:prstGeom>
        </p:spPr>
      </p:pic>
      <p:sp>
        <p:nvSpPr>
          <p:cNvPr id="9" name="Rectangle 8"/>
          <p:cNvSpPr/>
          <p:nvPr/>
        </p:nvSpPr>
        <p:spPr>
          <a:xfrm>
            <a:off x="457200" y="1578711"/>
            <a:ext cx="82296" cy="644194"/>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 y="1542135"/>
            <a:ext cx="6907734" cy="662482"/>
          </a:xfrm>
          <a:prstGeom prst="rect">
            <a:avLst/>
          </a:prstGeom>
          <a:noFill/>
        </p:spPr>
        <p:txBody>
          <a:bodyPr wrap="square" anchor="t" lIns="0" tIns="0" rIns="0" bIns="0">
            <a:spAutoFit/>
          </a:bodyPr>
          <a:lstStyle/>
          <a:p>
            <a:pPr algn="l"/>
            <a:r>
              <a:rPr sz="2070" b="1">
                <a:solidFill>
                  <a:srgbClr val="1D4ED8"/>
                </a:solidFill>
                <a:latin typeface="Poppins"/>
              </a:rPr>
              <a:t>The Lesk algorithm is an knowledge based approach to word sense disambiguation.</a:t>
            </a:r>
          </a:p>
        </p:txBody>
      </p:sp>
      <p:sp>
        <p:nvSpPr>
          <p:cNvPr id="11" name="TextBox 10"/>
          <p:cNvSpPr txBox="1"/>
          <p:nvPr/>
        </p:nvSpPr>
        <p:spPr>
          <a:xfrm>
            <a:off x="994867" y="2396642"/>
            <a:ext cx="6633414" cy="480059"/>
          </a:xfrm>
          <a:prstGeom prst="rect">
            <a:avLst/>
          </a:prstGeom>
          <a:noFill/>
        </p:spPr>
        <p:txBody>
          <a:bodyPr wrap="square" lIns="0" rIns="0" tIns="0" bIns="0">
            <a:spAutoFit/>
          </a:bodyPr>
          <a:lstStyle/>
          <a:p>
            <a:r>
              <a:rPr sz="1500">
                <a:solidFill>
                  <a:srgbClr val="0F172A"/>
                </a:solidFill>
                <a:latin typeface="Inter"/>
              </a:rPr>
              <a:t>It works by comparing the context of the target word to the contexts of its different senses in a dictionary.</a:t>
            </a:r>
          </a:p>
        </p:txBody>
      </p:sp>
      <p:sp>
        <p:nvSpPr>
          <p:cNvPr id="12" name="TextBox 11"/>
          <p:cNvSpPr txBox="1"/>
          <p:nvPr/>
        </p:nvSpPr>
        <p:spPr>
          <a:xfrm>
            <a:off x="720547" y="3004718"/>
            <a:ext cx="6907734" cy="480059"/>
          </a:xfrm>
          <a:prstGeom prst="rect">
            <a:avLst/>
          </a:prstGeom>
          <a:noFill/>
        </p:spPr>
        <p:txBody>
          <a:bodyPr wrap="square" lIns="0" rIns="0" tIns="0" bIns="0">
            <a:spAutoFit/>
          </a:bodyPr>
          <a:lstStyle/>
          <a:p>
            <a:r>
              <a:rPr sz="1500">
                <a:solidFill>
                  <a:srgbClr val="0F172A"/>
                </a:solidFill>
                <a:latin typeface="Inter"/>
              </a:rPr>
              <a:t>The sense with the most similar context is the most likely correct sense.</a:t>
            </a:r>
          </a:p>
        </p:txBody>
      </p:sp>
      <p:sp>
        <p:nvSpPr>
          <p:cNvPr id="13" name="TextBox 12"/>
          <p:cNvSpPr txBox="1"/>
          <p:nvPr/>
        </p:nvSpPr>
        <p:spPr>
          <a:xfrm>
            <a:off x="720547" y="3612794"/>
            <a:ext cx="6907734" cy="480059"/>
          </a:xfrm>
          <a:prstGeom prst="rect">
            <a:avLst/>
          </a:prstGeom>
          <a:noFill/>
        </p:spPr>
        <p:txBody>
          <a:bodyPr wrap="square" lIns="0" rIns="0" tIns="0" bIns="0">
            <a:spAutoFit/>
          </a:bodyPr>
          <a:lstStyle/>
          <a:p>
            <a:r>
              <a:rPr sz="1500">
                <a:solidFill>
                  <a:srgbClr val="0F172A"/>
                </a:solidFill>
                <a:latin typeface="Inter"/>
              </a:rPr>
              <a:t>In its most basic essence, Lesk’s algorithm operates by tallying the common features between the dictionary.</a:t>
            </a:r>
          </a:p>
        </p:txBody>
      </p:sp>
      <p:sp>
        <p:nvSpPr>
          <p:cNvPr id="14" name="TextBox 13"/>
          <p:cNvSpPr txBox="1"/>
          <p:nvPr/>
        </p:nvSpPr>
        <p:spPr>
          <a:xfrm>
            <a:off x="720547" y="4220870"/>
            <a:ext cx="6907734" cy="720090"/>
          </a:xfrm>
          <a:prstGeom prst="rect">
            <a:avLst/>
          </a:prstGeom>
          <a:noFill/>
        </p:spPr>
        <p:txBody>
          <a:bodyPr wrap="square" lIns="0" rIns="0" tIns="0" bIns="0">
            <a:spAutoFit/>
          </a:bodyPr>
          <a:lstStyle/>
          <a:p>
            <a:r>
              <a:rPr sz="1500">
                <a:solidFill>
                  <a:srgbClr val="0F172A"/>
                </a:solidFill>
                <a:latin typeface="Inter"/>
              </a:rPr>
              <a:t>definitions of a target word and those of the neighbouring words within a designated “context window.” This window encompasses the surrounding terms which would be considered for respective words.</a:t>
            </a:r>
          </a:p>
        </p:txBody>
      </p:sp>
      <p:sp>
        <p:nvSpPr>
          <p:cNvPr id="15" name="TextBox 14"/>
          <p:cNvSpPr txBox="1"/>
          <p:nvPr/>
        </p:nvSpPr>
        <p:spPr>
          <a:xfrm>
            <a:off x="720547" y="5068976"/>
            <a:ext cx="6907734" cy="960119"/>
          </a:xfrm>
          <a:prstGeom prst="rect">
            <a:avLst/>
          </a:prstGeom>
          <a:noFill/>
        </p:spPr>
        <p:txBody>
          <a:bodyPr wrap="square" lIns="0" rIns="0" tIns="0" bIns="0">
            <a:spAutoFit/>
          </a:bodyPr>
          <a:lstStyle/>
          <a:p>
            <a:r>
              <a:rPr sz="930" b="1">
                <a:solidFill>
                  <a:srgbClr val="6D28D9"/>
                </a:solidFill>
                <a:latin typeface="Poppins"/>
              </a:rPr>
              <a:t>THEN   </a:t>
            </a:r>
            <a:r>
              <a:rPr sz="1500">
                <a:solidFill>
                  <a:srgbClr val="0F172A"/>
                </a:solidFill>
                <a:latin typeface="Inter"/>
              </a:rPr>
              <a:t>The algorithm </a:t>
            </a:r>
            <a:r>
              <a:rPr sz="1500" b="1">
                <a:solidFill>
                  <a:srgbClr val="6D28D9"/>
                </a:solidFill>
                <a:latin typeface="Poppins"/>
              </a:rPr>
              <a:t>then</a:t>
            </a:r>
            <a:r>
              <a:rPr sz="1500">
                <a:solidFill>
                  <a:srgbClr val="0F172A"/>
                </a:solidFill>
                <a:latin typeface="Inter"/>
              </a:rPr>
              <a:t> selects the definition associated with the word that displays the highest count of overlaps, </a:t>
            </a:r>
            <a:r>
              <a:rPr sz="1500" b="1">
                <a:solidFill>
                  <a:srgbClr val="C2410C"/>
                </a:solidFill>
                <a:latin typeface="Poppins"/>
              </a:rPr>
              <a:t>while</a:t>
            </a:r>
            <a:r>
              <a:rPr sz="1500">
                <a:solidFill>
                  <a:srgbClr val="0F172A"/>
                </a:solidFill>
                <a:latin typeface="Inter"/>
              </a:rPr>
              <a:t> excluding common stop words </a:t>
            </a:r>
            <a:r>
              <a:rPr sz="1500" b="1">
                <a:solidFill>
                  <a:srgbClr val="0F766E"/>
                </a:solidFill>
                <a:latin typeface="Poppins"/>
              </a:rPr>
              <a:t>like</a:t>
            </a:r>
            <a:r>
              <a:rPr sz="1500">
                <a:solidFill>
                  <a:srgbClr val="0F172A"/>
                </a:solidFill>
                <a:latin typeface="Inter"/>
              </a:rPr>
              <a:t> “the,” “a,” and “and.” This chosen definition is posited as the inferred “sense” of the word.</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5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Steps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4 / 12</a:t>
            </a:r>
          </a:p>
        </p:txBody>
      </p:sp>
      <p:sp>
        <p:nvSpPr>
          <p:cNvPr id="8" name="Rounded Rectangle 7"/>
          <p:cNvSpPr/>
          <p:nvPr/>
        </p:nvSpPr>
        <p:spPr>
          <a:xfrm>
            <a:off x="457200" y="1298447"/>
            <a:ext cx="11274552" cy="771753"/>
          </a:xfrm>
          <a:prstGeom prst="roundRect">
            <a:avLst>
              <a:gd name="adj" fmla="val 18246"/>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55724"/>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0" name="TextBox 9"/>
          <p:cNvSpPr txBox="1"/>
          <p:nvPr/>
        </p:nvSpPr>
        <p:spPr>
          <a:xfrm>
            <a:off x="1316736" y="1371599"/>
            <a:ext cx="10213848" cy="625449"/>
          </a:xfrm>
          <a:prstGeom prst="rect">
            <a:avLst/>
          </a:prstGeom>
          <a:noFill/>
        </p:spPr>
        <p:txBody>
          <a:bodyPr wrap="square" anchor="ctr" lIns="0" tIns="0" rIns="0" bIns="0">
            <a:spAutoFit/>
          </a:bodyPr>
          <a:lstStyle/>
          <a:p>
            <a:pPr algn="l"/>
            <a:r>
              <a:rPr sz="1950" b="1">
                <a:solidFill>
                  <a:srgbClr val="1D4ED8"/>
                </a:solidFill>
                <a:latin typeface="Poppins"/>
              </a:rPr>
              <a:t>Pick the target word  —  target = "ambiguous"</a:t>
            </a:r>
          </a:p>
          <a:p>
            <a:pPr algn="l">
              <a:spcBef>
                <a:spcPts val="300"/>
              </a:spcBef>
            </a:pPr>
            <a:r>
              <a:rPr sz="1700" b="0">
                <a:solidFill>
                  <a:srgbClr val="0F172A"/>
                </a:solidFill>
                <a:latin typeface="Inter"/>
              </a:rPr>
              <a:t>Choose the word whose meaning you want to find.</a:t>
            </a:r>
          </a:p>
        </p:txBody>
      </p:sp>
      <p:sp>
        <p:nvSpPr>
          <p:cNvPr id="11" name="Rounded Rectangle 10"/>
          <p:cNvSpPr/>
          <p:nvPr/>
        </p:nvSpPr>
        <p:spPr>
          <a:xfrm>
            <a:off x="457200" y="2190902"/>
            <a:ext cx="11274552" cy="771753"/>
          </a:xfrm>
          <a:prstGeom prst="roundRect">
            <a:avLst>
              <a:gd name="adj" fmla="val 18246"/>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348179"/>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3" name="TextBox 12"/>
          <p:cNvSpPr txBox="1"/>
          <p:nvPr/>
        </p:nvSpPr>
        <p:spPr>
          <a:xfrm>
            <a:off x="1316736" y="2264054"/>
            <a:ext cx="10213848" cy="625449"/>
          </a:xfrm>
          <a:prstGeom prst="rect">
            <a:avLst/>
          </a:prstGeom>
          <a:noFill/>
        </p:spPr>
        <p:txBody>
          <a:bodyPr wrap="square" anchor="ctr" lIns="0" tIns="0" rIns="0" bIns="0">
            <a:spAutoFit/>
          </a:bodyPr>
          <a:lstStyle/>
          <a:p>
            <a:pPr algn="l"/>
            <a:r>
              <a:rPr sz="1950" b="1">
                <a:solidFill>
                  <a:srgbClr val="1D4ED8"/>
                </a:solidFill>
                <a:latin typeface="Poppins"/>
              </a:rPr>
              <a:t>Create a context window</a:t>
            </a:r>
          </a:p>
          <a:p>
            <a:pPr algn="l">
              <a:spcBef>
                <a:spcPts val="300"/>
              </a:spcBef>
            </a:pPr>
            <a:r>
              <a:rPr sz="1700" b="0">
                <a:solidFill>
                  <a:srgbClr val="0F172A"/>
                </a:solidFill>
                <a:latin typeface="Inter"/>
              </a:rPr>
              <a:t>Collect the words around the target word.</a:t>
            </a:r>
          </a:p>
        </p:txBody>
      </p:sp>
      <p:sp>
        <p:nvSpPr>
          <p:cNvPr id="14" name="Rounded Rectangle 13"/>
          <p:cNvSpPr/>
          <p:nvPr/>
        </p:nvSpPr>
        <p:spPr>
          <a:xfrm>
            <a:off x="457200" y="3083356"/>
            <a:ext cx="11274552" cy="771753"/>
          </a:xfrm>
          <a:prstGeom prst="roundRect">
            <a:avLst>
              <a:gd name="adj" fmla="val 18246"/>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240633"/>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6" name="TextBox 15"/>
          <p:cNvSpPr txBox="1"/>
          <p:nvPr/>
        </p:nvSpPr>
        <p:spPr>
          <a:xfrm>
            <a:off x="1316736" y="3156508"/>
            <a:ext cx="10213848" cy="625449"/>
          </a:xfrm>
          <a:prstGeom prst="rect">
            <a:avLst/>
          </a:prstGeom>
          <a:noFill/>
        </p:spPr>
        <p:txBody>
          <a:bodyPr wrap="square" anchor="ctr" lIns="0" tIns="0" rIns="0" bIns="0">
            <a:spAutoFit/>
          </a:bodyPr>
          <a:lstStyle/>
          <a:p>
            <a:pPr algn="l"/>
            <a:r>
              <a:rPr sz="1950" b="1">
                <a:solidFill>
                  <a:srgbClr val="1D4ED8"/>
                </a:solidFill>
                <a:latin typeface="Poppins"/>
              </a:rPr>
              <a:t>Look up definitions</a:t>
            </a:r>
          </a:p>
          <a:p>
            <a:pPr algn="l">
              <a:spcBef>
                <a:spcPts val="300"/>
              </a:spcBef>
            </a:pPr>
            <a:r>
              <a:rPr sz="1700" b="0">
                <a:solidFill>
                  <a:srgbClr val="0F172A"/>
                </a:solidFill>
                <a:latin typeface="Inter"/>
              </a:rPr>
              <a:t>Write down the dictionary definitions of the target word.</a:t>
            </a:r>
          </a:p>
        </p:txBody>
      </p:sp>
      <p:sp>
        <p:nvSpPr>
          <p:cNvPr id="17" name="Rounded Rectangle 16"/>
          <p:cNvSpPr/>
          <p:nvPr/>
        </p:nvSpPr>
        <p:spPr>
          <a:xfrm>
            <a:off x="457200" y="3975811"/>
            <a:ext cx="11274552" cy="771753"/>
          </a:xfrm>
          <a:prstGeom prst="roundRect">
            <a:avLst>
              <a:gd name="adj" fmla="val 18246"/>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133087"/>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19" name="TextBox 18"/>
          <p:cNvSpPr txBox="1"/>
          <p:nvPr/>
        </p:nvSpPr>
        <p:spPr>
          <a:xfrm>
            <a:off x="1316736" y="4048963"/>
            <a:ext cx="10213848" cy="625449"/>
          </a:xfrm>
          <a:prstGeom prst="rect">
            <a:avLst/>
          </a:prstGeom>
          <a:noFill/>
        </p:spPr>
        <p:txBody>
          <a:bodyPr wrap="square" anchor="ctr" lIns="0" tIns="0" rIns="0" bIns="0">
            <a:spAutoFit/>
          </a:bodyPr>
          <a:lstStyle/>
          <a:p>
            <a:pPr algn="l"/>
            <a:r>
              <a:rPr sz="1950" b="1">
                <a:solidFill>
                  <a:srgbClr val="1D4ED8"/>
                </a:solidFill>
                <a:latin typeface="Poppins"/>
              </a:rPr>
              <a:t>Count overlaps</a:t>
            </a:r>
          </a:p>
          <a:p>
            <a:pPr algn="l">
              <a:spcBef>
                <a:spcPts val="300"/>
              </a:spcBef>
            </a:pPr>
            <a:r>
              <a:rPr sz="1700" b="0">
                <a:solidFill>
                  <a:srgbClr val="0F172A"/>
                </a:solidFill>
                <a:latin typeface="Inter"/>
              </a:rPr>
              <a:t>See how many words from each definition appear in the context window.</a:t>
            </a:r>
          </a:p>
        </p:txBody>
      </p:sp>
      <p:sp>
        <p:nvSpPr>
          <p:cNvPr id="20" name="Rounded Rectangle 19"/>
          <p:cNvSpPr/>
          <p:nvPr/>
        </p:nvSpPr>
        <p:spPr>
          <a:xfrm>
            <a:off x="457200" y="4868265"/>
            <a:ext cx="11274552" cy="771753"/>
          </a:xfrm>
          <a:prstGeom prst="roundRect">
            <a:avLst>
              <a:gd name="adj" fmla="val 18246"/>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02554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2" name="TextBox 21"/>
          <p:cNvSpPr txBox="1"/>
          <p:nvPr/>
        </p:nvSpPr>
        <p:spPr>
          <a:xfrm>
            <a:off x="1316736" y="4941417"/>
            <a:ext cx="10213848" cy="625449"/>
          </a:xfrm>
          <a:prstGeom prst="rect">
            <a:avLst/>
          </a:prstGeom>
          <a:noFill/>
        </p:spPr>
        <p:txBody>
          <a:bodyPr wrap="square" anchor="ctr" lIns="0" tIns="0" rIns="0" bIns="0">
            <a:spAutoFit/>
          </a:bodyPr>
          <a:lstStyle/>
          <a:p>
            <a:pPr algn="l"/>
            <a:r>
              <a:rPr sz="1950" b="1">
                <a:solidFill>
                  <a:srgbClr val="1D4ED8"/>
                </a:solidFill>
                <a:latin typeface="Poppins"/>
              </a:rPr>
              <a:t>Choose the best match  —  best_def = defs_target[0]</a:t>
            </a:r>
          </a:p>
          <a:p>
            <a:pPr algn="l">
              <a:spcBef>
                <a:spcPts val="300"/>
              </a:spcBef>
            </a:pPr>
            <a:r>
              <a:rPr sz="1700" b="0">
                <a:solidFill>
                  <a:srgbClr val="0F172A"/>
                </a:solidFill>
                <a:latin typeface="Inter"/>
              </a:rPr>
              <a:t>Pick the definition with the highest overlap count.</a:t>
            </a:r>
          </a:p>
        </p:txBody>
      </p:sp>
      <p:sp>
        <p:nvSpPr>
          <p:cNvPr id="23" name="Rounded Rectangle 22"/>
          <p:cNvSpPr/>
          <p:nvPr/>
        </p:nvSpPr>
        <p:spPr>
          <a:xfrm>
            <a:off x="457200" y="5760720"/>
            <a:ext cx="11274552" cy="640080"/>
          </a:xfrm>
          <a:prstGeom prst="roundRect">
            <a:avLst>
              <a:gd name="adj" fmla="val 2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1650" b="1">
                <a:solidFill>
                  <a:srgbClr val="FFFFFF"/>
                </a:solidFill>
                <a:latin typeface="Poppins"/>
              </a:rPr>
              <a:t>Answer: The target word "ambiguous" most likely means "having more than one possible meaning" in this context.</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5 / 12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D4ED8"/>
                </a:solidFill>
                <a:latin typeface="Poppins"/>
              </a:rPr>
              <a:t>Fill in the blank: “Select Word: _____ the word for which you want to determine the correct meaning.”</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Overlaps</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Steps</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However</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Choose</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D</a:t>
            </a:r>
          </a:p>
          <a:p>
            <a:pPr algn="l">
              <a:spcBef>
                <a:spcPts val="200"/>
              </a:spcBef>
            </a:pPr>
            <a:r>
              <a:rPr sz="1600" b="0">
                <a:solidFill>
                  <a:srgbClr val="FFFFFF"/>
                </a:solidFill>
                <a:latin typeface="Inter"/>
              </a:rPr>
              <a:t>“Select Word: Choose the word for which you want to determine the correct meaning.”</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Advantages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6 / 12</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66377"/>
            <a:ext cx="82296" cy="844859"/>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9801"/>
            <a:ext cx="6907734" cy="863147"/>
          </a:xfrm>
          <a:prstGeom prst="rect">
            <a:avLst/>
          </a:prstGeom>
          <a:noFill/>
        </p:spPr>
        <p:txBody>
          <a:bodyPr wrap="square" anchor="t" lIns="0" tIns="0" rIns="0" bIns="0">
            <a:spAutoFit/>
          </a:bodyPr>
          <a:lstStyle/>
          <a:p>
            <a:pPr algn="l"/>
            <a:r>
              <a:rPr sz="1800" b="1">
                <a:solidFill>
                  <a:srgbClr val="1D4ED8"/>
                </a:solidFill>
                <a:latin typeface="Poppins"/>
              </a:rPr>
              <a:t>Simple to implement: Lesk’s algorithm is a relatively simple algorithm that can be implemented in a few lines of code.</a:t>
            </a:r>
          </a:p>
        </p:txBody>
      </p:sp>
      <p:sp>
        <p:nvSpPr>
          <p:cNvPr id="10" name="TextBox 9"/>
          <p:cNvSpPr txBox="1"/>
          <p:nvPr/>
        </p:nvSpPr>
        <p:spPr>
          <a:xfrm>
            <a:off x="994867" y="2484973"/>
            <a:ext cx="6633414" cy="464057"/>
          </a:xfrm>
          <a:prstGeom prst="rect">
            <a:avLst/>
          </a:prstGeom>
          <a:noFill/>
        </p:spPr>
        <p:txBody>
          <a:bodyPr wrap="square" lIns="0" rIns="0" tIns="0" bIns="0">
            <a:spAutoFit/>
          </a:bodyPr>
          <a:lstStyle/>
          <a:p>
            <a:r>
              <a:rPr sz="1450">
                <a:solidFill>
                  <a:srgbClr val="0F172A"/>
                </a:solidFill>
                <a:latin typeface="Inter"/>
              </a:rPr>
              <a:t>This makes it a good choice for beginners and for applications where speed is important.</a:t>
            </a:r>
          </a:p>
        </p:txBody>
      </p:sp>
      <p:sp>
        <p:nvSpPr>
          <p:cNvPr id="11" name="TextBox 10"/>
          <p:cNvSpPr txBox="1"/>
          <p:nvPr/>
        </p:nvSpPr>
        <p:spPr>
          <a:xfrm>
            <a:off x="720547" y="3077047"/>
            <a:ext cx="6907734" cy="464057"/>
          </a:xfrm>
          <a:prstGeom prst="rect">
            <a:avLst/>
          </a:prstGeom>
          <a:noFill/>
        </p:spPr>
        <p:txBody>
          <a:bodyPr wrap="square" lIns="0" rIns="0" tIns="0" bIns="0">
            <a:spAutoFit/>
          </a:bodyPr>
          <a:lstStyle/>
          <a:p>
            <a:r>
              <a:rPr sz="1450">
                <a:solidFill>
                  <a:srgbClr val="0F172A"/>
                </a:solidFill>
                <a:latin typeface="Inter"/>
              </a:rPr>
              <a:t>Applicable in a variety of different contexts: Lesk’s algorithm does not rely on global information or the structure of the sentence.</a:t>
            </a:r>
          </a:p>
        </p:txBody>
      </p:sp>
      <p:sp>
        <p:nvSpPr>
          <p:cNvPr id="12" name="TextBox 11"/>
          <p:cNvSpPr txBox="1"/>
          <p:nvPr/>
        </p:nvSpPr>
        <p:spPr>
          <a:xfrm>
            <a:off x="994867" y="3669121"/>
            <a:ext cx="6633414" cy="464057"/>
          </a:xfrm>
          <a:prstGeom prst="rect">
            <a:avLst/>
          </a:prstGeom>
          <a:noFill/>
        </p:spPr>
        <p:txBody>
          <a:bodyPr wrap="square" lIns="0" rIns="0" tIns="0" bIns="0">
            <a:spAutoFit/>
          </a:bodyPr>
          <a:lstStyle/>
          <a:p>
            <a:r>
              <a:rPr sz="1450">
                <a:solidFill>
                  <a:srgbClr val="0F172A"/>
                </a:solidFill>
                <a:latin typeface="Inter"/>
              </a:rPr>
              <a:t>This means that it can be applied to new words and new contexts without having to be extensively modified.</a:t>
            </a:r>
          </a:p>
        </p:txBody>
      </p:sp>
      <p:sp>
        <p:nvSpPr>
          <p:cNvPr id="13" name="TextBox 12"/>
          <p:cNvSpPr txBox="1"/>
          <p:nvPr/>
        </p:nvSpPr>
        <p:spPr>
          <a:xfrm>
            <a:off x="994867" y="4261195"/>
            <a:ext cx="6633414" cy="696087"/>
          </a:xfrm>
          <a:prstGeom prst="rect">
            <a:avLst/>
          </a:prstGeom>
          <a:noFill/>
        </p:spPr>
        <p:txBody>
          <a:bodyPr wrap="square" lIns="0" rIns="0" tIns="0" bIns="0">
            <a:spAutoFit/>
          </a:bodyPr>
          <a:lstStyle/>
          <a:p>
            <a:r>
              <a:rPr sz="900" b="1">
                <a:solidFill>
                  <a:srgbClr val="0F766E"/>
                </a:solidFill>
                <a:latin typeface="Poppins"/>
              </a:rPr>
              <a:t>E.G.   </a:t>
            </a:r>
            <a:r>
              <a:rPr sz="1450" b="1">
                <a:solidFill>
                  <a:srgbClr val="0F766E"/>
                </a:solidFill>
                <a:latin typeface="Poppins"/>
              </a:rPr>
              <a:t>For example</a:t>
            </a:r>
            <a:r>
              <a:rPr sz="1450">
                <a:solidFill>
                  <a:srgbClr val="0F172A"/>
                </a:solidFill>
                <a:latin typeface="Inter"/>
              </a:rPr>
              <a:t>, the algorithm can be used to disambiguate the word “bank” in the sentences “The bank robber ran down the street” and “The bank of the river is very steep.”.</a:t>
            </a:r>
          </a:p>
        </p:txBody>
      </p:sp>
      <p:sp>
        <p:nvSpPr>
          <p:cNvPr id="14" name="TextBox 13"/>
          <p:cNvSpPr txBox="1"/>
          <p:nvPr/>
        </p:nvSpPr>
        <p:spPr>
          <a:xfrm>
            <a:off x="720547" y="5085298"/>
            <a:ext cx="6907734" cy="464057"/>
          </a:xfrm>
          <a:prstGeom prst="rect">
            <a:avLst/>
          </a:prstGeom>
          <a:noFill/>
        </p:spPr>
        <p:txBody>
          <a:bodyPr wrap="square" lIns="0" rIns="0" tIns="0" bIns="0">
            <a:spAutoFit/>
          </a:bodyPr>
          <a:lstStyle/>
          <a:p>
            <a:r>
              <a:rPr sz="1450">
                <a:solidFill>
                  <a:srgbClr val="0F172A"/>
                </a:solidFill>
                <a:latin typeface="Inter"/>
              </a:rPr>
              <a:t>Easily generalizable: Lesk’s algorithm is easily generalizable to new words and new contexts.</a:t>
            </a:r>
          </a:p>
        </p:txBody>
      </p:sp>
      <p:sp>
        <p:nvSpPr>
          <p:cNvPr id="15" name="TextBox 14"/>
          <p:cNvSpPr txBox="1"/>
          <p:nvPr/>
        </p:nvSpPr>
        <p:spPr>
          <a:xfrm>
            <a:off x="720547" y="5677372"/>
            <a:ext cx="6907734" cy="464057"/>
          </a:xfrm>
          <a:prstGeom prst="rect">
            <a:avLst/>
          </a:prstGeom>
          <a:noFill/>
        </p:spPr>
        <p:txBody>
          <a:bodyPr wrap="square" lIns="0" rIns="0" tIns="0" bIns="0">
            <a:spAutoFit/>
          </a:bodyPr>
          <a:lstStyle/>
          <a:p>
            <a:r>
              <a:rPr sz="900" b="1">
                <a:solidFill>
                  <a:srgbClr val="1D4ED8"/>
                </a:solidFill>
                <a:latin typeface="Poppins"/>
              </a:rPr>
              <a:t>BECAUSE   </a:t>
            </a:r>
            <a:r>
              <a:rPr sz="1450">
                <a:solidFill>
                  <a:srgbClr val="0F172A"/>
                </a:solidFill>
                <a:latin typeface="Inter"/>
              </a:rPr>
              <a:t>This is </a:t>
            </a:r>
            <a:r>
              <a:rPr sz="1450" b="1">
                <a:solidFill>
                  <a:srgbClr val="1D4ED8"/>
                </a:solidFill>
                <a:latin typeface="Poppins"/>
              </a:rPr>
              <a:t>because</a:t>
            </a:r>
            <a:r>
              <a:rPr sz="1450">
                <a:solidFill>
                  <a:srgbClr val="0F172A"/>
                </a:solidFill>
                <a:latin typeface="Inter"/>
              </a:rPr>
              <a:t> the algorithm does not rely on global information or the structure of the sentence.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Advantages: Non-syntactic</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7 / 12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2471806"/>
          </a:xfrm>
          <a:prstGeom prst="roundRect">
            <a:avLst>
              <a:gd name="adj" fmla="val 8138"/>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99616"/>
            <a:ext cx="91440" cy="2069470"/>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499616"/>
            <a:ext cx="7298740" cy="2069470"/>
          </a:xfrm>
          <a:prstGeom prst="rect">
            <a:avLst/>
          </a:prstGeom>
          <a:noFill/>
        </p:spPr>
        <p:txBody>
          <a:bodyPr wrap="square" anchor="ctr" lIns="0" tIns="0" rIns="0" bIns="0">
            <a:spAutoFit/>
          </a:bodyPr>
          <a:lstStyle/>
          <a:p>
            <a:pPr algn="l"/>
            <a:r>
              <a:rPr sz="3820" b="1">
                <a:solidFill>
                  <a:srgbClr val="1D4ED8"/>
                </a:solidFill>
                <a:latin typeface="Poppins"/>
              </a:rPr>
              <a:t>Non-syntactic: Lesk’s algorithm</a:t>
            </a:r>
          </a:p>
          <a:p>
            <a:pPr algn="l">
              <a:spcBef>
                <a:spcPts val="800"/>
              </a:spcBef>
            </a:pPr>
            <a:r>
              <a:rPr sz="2250" b="0">
                <a:solidFill>
                  <a:srgbClr val="0F172A"/>
                </a:solidFill>
                <a:latin typeface="Inter"/>
              </a:rPr>
              <a:t>Non-syntactic, which means that it does not rely on the arrangement of words in a sentence</a:t>
            </a:r>
          </a:p>
        </p:txBody>
      </p:sp>
      <p:sp>
        <p:nvSpPr>
          <p:cNvPr id="11" name="Rounded Rectangle 10"/>
          <p:cNvSpPr/>
          <p:nvPr/>
        </p:nvSpPr>
        <p:spPr>
          <a:xfrm>
            <a:off x="457200" y="3971422"/>
            <a:ext cx="2493873" cy="1313809"/>
          </a:xfrm>
          <a:prstGeom prst="roundRect">
            <a:avLst>
              <a:gd name="adj" fmla="val 1071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172590"/>
            <a:ext cx="2091537" cy="911473"/>
          </a:xfrm>
          <a:prstGeom prst="rect">
            <a:avLst/>
          </a:prstGeom>
          <a:noFill/>
        </p:spPr>
        <p:txBody>
          <a:bodyPr wrap="square" anchor="ctr" lIns="0" tIns="0" rIns="0" bIns="0">
            <a:spAutoFit/>
          </a:bodyPr>
          <a:lstStyle/>
          <a:p>
            <a:pPr algn="l"/>
            <a:r>
              <a:rPr sz="1050" b="0">
                <a:solidFill>
                  <a:srgbClr val="0F172A"/>
                </a:solidFill>
                <a:latin typeface="Inter"/>
              </a:rPr>
              <a:t>This makes it more robust to errors in grammar and punctuation</a:t>
            </a:r>
          </a:p>
        </p:txBody>
      </p:sp>
      <p:sp>
        <p:nvSpPr>
          <p:cNvPr id="13" name="Rounded Rectangle 12"/>
          <p:cNvSpPr/>
          <p:nvPr/>
        </p:nvSpPr>
        <p:spPr>
          <a:xfrm>
            <a:off x="3152241" y="3971422"/>
            <a:ext cx="2493873" cy="1313809"/>
          </a:xfrm>
          <a:prstGeom prst="roundRect">
            <a:avLst>
              <a:gd name="adj" fmla="val 1071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409" y="4172590"/>
            <a:ext cx="2091537" cy="911473"/>
          </a:xfrm>
          <a:prstGeom prst="rect">
            <a:avLst/>
          </a:prstGeom>
          <a:noFill/>
        </p:spPr>
        <p:txBody>
          <a:bodyPr wrap="square" anchor="ctr" lIns="0" tIns="0" rIns="0" bIns="0">
            <a:spAutoFit/>
          </a:bodyPr>
          <a:lstStyle/>
          <a:p>
            <a:pPr algn="l"/>
            <a:r>
              <a:rPr sz="1050" b="0">
                <a:solidFill>
                  <a:srgbClr val="0F172A"/>
                </a:solidFill>
                <a:latin typeface="Inter"/>
              </a:rPr>
              <a:t>Accuracy level: Lesk’s algorithm has been shown to be accurate in most cases, especially for words with clearly defined sentence with different sense of similar words</a:t>
            </a:r>
          </a:p>
        </p:txBody>
      </p:sp>
      <p:sp>
        <p:nvSpPr>
          <p:cNvPr id="15" name="Rounded Rectangle 14"/>
          <p:cNvSpPr/>
          <p:nvPr/>
        </p:nvSpPr>
        <p:spPr>
          <a:xfrm>
            <a:off x="5847283" y="3971422"/>
            <a:ext cx="2493873" cy="1313809"/>
          </a:xfrm>
          <a:prstGeom prst="roundRect">
            <a:avLst>
              <a:gd name="adj" fmla="val 1071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48451" y="4172590"/>
            <a:ext cx="2091537" cy="911473"/>
          </a:xfrm>
          <a:prstGeom prst="rect">
            <a:avLst/>
          </a:prstGeom>
          <a:noFill/>
        </p:spPr>
        <p:txBody>
          <a:bodyPr wrap="square" anchor="ctr" lIns="0" tIns="0" rIns="0" bIns="0">
            <a:spAutoFit/>
          </a:bodyPr>
          <a:lstStyle/>
          <a:p>
            <a:pPr algn="l"/>
            <a:r>
              <a:rPr sz="1050" b="0">
                <a:solidFill>
                  <a:srgbClr val="0F172A"/>
                </a:solidFill>
                <a:latin typeface="Inter"/>
              </a:rPr>
              <a:t>However, the algorithm can be less accurate for words with multiple senses that are semantically similar</a:t>
            </a:r>
          </a:p>
        </p:txBody>
      </p:sp>
      <p:sp>
        <p:nvSpPr>
          <p:cNvPr id="17" name="Rounded Rectangle 16"/>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Non-syntactic, which means that it does not rely on the arrangement of words in a sentence.</a:t>
            </a:r>
          </a:p>
        </p:txBody>
      </p:sp>
      <p:sp>
        <p:nvSpPr>
          <p:cNvPr id="18" name="Rectangle 17"/>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Disadvantages limitations challenges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8 / 12</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542547"/>
            <a:ext cx="82296" cy="636513"/>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05971"/>
            <a:ext cx="6907734" cy="654801"/>
          </a:xfrm>
          <a:prstGeom prst="rect">
            <a:avLst/>
          </a:prstGeom>
          <a:noFill/>
        </p:spPr>
        <p:txBody>
          <a:bodyPr wrap="square" anchor="t" lIns="0" tIns="0" rIns="0" bIns="0">
            <a:spAutoFit/>
          </a:bodyPr>
          <a:lstStyle/>
          <a:p>
            <a:pPr algn="l"/>
            <a:r>
              <a:rPr sz="1360" b="1">
                <a:solidFill>
                  <a:srgbClr val="1D4ED8"/>
                </a:solidFill>
                <a:latin typeface="Poppins"/>
              </a:rPr>
              <a:t>Low accuracy: Lesk’s algorithm has been shown to have low accuracy, especially for words with multiple senses that are semantically similar.</a:t>
            </a:r>
          </a:p>
        </p:txBody>
      </p:sp>
      <p:sp>
        <p:nvSpPr>
          <p:cNvPr id="10" name="TextBox 9"/>
          <p:cNvSpPr txBox="1"/>
          <p:nvPr/>
        </p:nvSpPr>
        <p:spPr>
          <a:xfrm>
            <a:off x="994867" y="2352796"/>
            <a:ext cx="6633414" cy="352044"/>
          </a:xfrm>
          <a:prstGeom prst="rect">
            <a:avLst/>
          </a:prstGeom>
          <a:noFill/>
        </p:spPr>
        <p:txBody>
          <a:bodyPr wrap="square" lIns="0" rIns="0" tIns="0" bIns="0">
            <a:spAutoFit/>
          </a:bodyPr>
          <a:lstStyle/>
          <a:p>
            <a:r>
              <a:rPr sz="680" b="1">
                <a:solidFill>
                  <a:srgbClr val="0F766E"/>
                </a:solidFill>
                <a:latin typeface="Poppins"/>
              </a:rPr>
              <a:t>E.G.   </a:t>
            </a:r>
            <a:r>
              <a:rPr sz="1100" b="1">
                <a:solidFill>
                  <a:srgbClr val="0F766E"/>
                </a:solidFill>
                <a:latin typeface="Poppins"/>
              </a:rPr>
              <a:t>For example</a:t>
            </a:r>
            <a:r>
              <a:rPr sz="1100">
                <a:solidFill>
                  <a:srgbClr val="0F172A"/>
                </a:solidFill>
                <a:latin typeface="Inter"/>
              </a:rPr>
              <a:t>, the word “bank” can have multiple senses, </a:t>
            </a:r>
            <a:r>
              <a:rPr sz="1100" b="1">
                <a:solidFill>
                  <a:srgbClr val="0F766E"/>
                </a:solidFill>
                <a:latin typeface="Poppins"/>
              </a:rPr>
              <a:t>such as</a:t>
            </a:r>
            <a:r>
              <a:rPr sz="1100">
                <a:solidFill>
                  <a:srgbClr val="0F172A"/>
                </a:solidFill>
                <a:latin typeface="Inter"/>
              </a:rPr>
              <a:t> a financial institution, a riverbank, or a slope.</a:t>
            </a:r>
          </a:p>
        </p:txBody>
      </p:sp>
      <p:sp>
        <p:nvSpPr>
          <p:cNvPr id="11" name="TextBox 10"/>
          <p:cNvSpPr txBox="1"/>
          <p:nvPr/>
        </p:nvSpPr>
        <p:spPr>
          <a:xfrm>
            <a:off x="720547" y="2832856"/>
            <a:ext cx="6907734" cy="352044"/>
          </a:xfrm>
          <a:prstGeom prst="rect">
            <a:avLst/>
          </a:prstGeom>
          <a:noFill/>
        </p:spPr>
        <p:txBody>
          <a:bodyPr wrap="square" lIns="0" rIns="0" tIns="0" bIns="0">
            <a:spAutoFit/>
          </a:bodyPr>
          <a:lstStyle/>
          <a:p>
            <a:r>
              <a:rPr sz="1100">
                <a:solidFill>
                  <a:srgbClr val="0F172A"/>
                </a:solidFill>
                <a:latin typeface="Inter"/>
              </a:rPr>
              <a:t>Low recall: Lesk’s algorithm </a:t>
            </a:r>
            <a:r>
              <a:rPr sz="1100" b="1">
                <a:solidFill>
                  <a:srgbClr val="0F766E"/>
                </a:solidFill>
                <a:latin typeface="Poppins"/>
              </a:rPr>
              <a:t>also</a:t>
            </a:r>
            <a:r>
              <a:rPr sz="1100">
                <a:solidFill>
                  <a:srgbClr val="0F172A"/>
                </a:solidFill>
                <a:latin typeface="Inter"/>
              </a:rPr>
              <a:t> has low recall, meaning that it cannot disambiguate many words.</a:t>
            </a:r>
          </a:p>
        </p:txBody>
      </p:sp>
      <p:sp>
        <p:nvSpPr>
          <p:cNvPr id="12" name="TextBox 11"/>
          <p:cNvSpPr txBox="1"/>
          <p:nvPr/>
        </p:nvSpPr>
        <p:spPr>
          <a:xfrm>
            <a:off x="720547" y="3312916"/>
            <a:ext cx="6907734" cy="352044"/>
          </a:xfrm>
          <a:prstGeom prst="rect">
            <a:avLst/>
          </a:prstGeom>
          <a:noFill/>
        </p:spPr>
        <p:txBody>
          <a:bodyPr wrap="square" lIns="0" rIns="0" tIns="0" bIns="0">
            <a:spAutoFit/>
          </a:bodyPr>
          <a:lstStyle/>
          <a:p>
            <a:r>
              <a:rPr sz="680" b="1">
                <a:solidFill>
                  <a:srgbClr val="1D4ED8"/>
                </a:solidFill>
                <a:latin typeface="Poppins"/>
              </a:rPr>
              <a:t>BECAUSE   </a:t>
            </a:r>
            <a:r>
              <a:rPr sz="1100">
                <a:solidFill>
                  <a:srgbClr val="0F172A"/>
                </a:solidFill>
                <a:latin typeface="Inter"/>
              </a:rPr>
              <a:t>This is </a:t>
            </a:r>
            <a:r>
              <a:rPr sz="1100" b="1">
                <a:solidFill>
                  <a:srgbClr val="1D4ED8"/>
                </a:solidFill>
                <a:latin typeface="Poppins"/>
              </a:rPr>
              <a:t>because</a:t>
            </a:r>
            <a:r>
              <a:rPr sz="1100">
                <a:solidFill>
                  <a:srgbClr val="0F172A"/>
                </a:solidFill>
                <a:latin typeface="Inter"/>
              </a:rPr>
              <a:t> the algorithm does not consider the context of the word in the sentence.</a:t>
            </a:r>
          </a:p>
        </p:txBody>
      </p:sp>
      <p:sp>
        <p:nvSpPr>
          <p:cNvPr id="13" name="TextBox 12"/>
          <p:cNvSpPr txBox="1"/>
          <p:nvPr/>
        </p:nvSpPr>
        <p:spPr>
          <a:xfrm>
            <a:off x="720547" y="3792976"/>
            <a:ext cx="6907734" cy="352044"/>
          </a:xfrm>
          <a:prstGeom prst="rect">
            <a:avLst/>
          </a:prstGeom>
          <a:noFill/>
        </p:spPr>
        <p:txBody>
          <a:bodyPr wrap="square" lIns="0" rIns="0" tIns="0" bIns="0">
            <a:spAutoFit/>
          </a:bodyPr>
          <a:lstStyle/>
          <a:p>
            <a:r>
              <a:rPr sz="1100">
                <a:solidFill>
                  <a:srgbClr val="0F172A"/>
                </a:solidFill>
                <a:latin typeface="Inter"/>
              </a:rPr>
              <a:t>Overall, Lesk’s algorithm is a simple, effective, and versatile algorithm for word sense disambiguation.</a:t>
            </a:r>
          </a:p>
        </p:txBody>
      </p:sp>
      <p:sp>
        <p:nvSpPr>
          <p:cNvPr id="14" name="TextBox 13"/>
          <p:cNvSpPr txBox="1"/>
          <p:nvPr/>
        </p:nvSpPr>
        <p:spPr>
          <a:xfrm>
            <a:off x="994867" y="4273036"/>
            <a:ext cx="6633414" cy="352044"/>
          </a:xfrm>
          <a:prstGeom prst="rect">
            <a:avLst/>
          </a:prstGeom>
          <a:noFill/>
        </p:spPr>
        <p:txBody>
          <a:bodyPr wrap="square" lIns="0" rIns="0" tIns="0" bIns="0">
            <a:spAutoFit/>
          </a:bodyPr>
          <a:lstStyle/>
          <a:p>
            <a:r>
              <a:rPr sz="1100">
                <a:solidFill>
                  <a:srgbClr val="0F172A"/>
                </a:solidFill>
                <a:latin typeface="Inter"/>
              </a:rPr>
              <a:t>It is a good choice for a variety of applications, especially for those where speed and accuracy are important.</a:t>
            </a:r>
          </a:p>
        </p:txBody>
      </p:sp>
      <p:sp>
        <p:nvSpPr>
          <p:cNvPr id="15" name="TextBox 14"/>
          <p:cNvSpPr txBox="1"/>
          <p:nvPr/>
        </p:nvSpPr>
        <p:spPr>
          <a:xfrm>
            <a:off x="720547" y="4753096"/>
            <a:ext cx="6907734" cy="176022"/>
          </a:xfrm>
          <a:prstGeom prst="rect">
            <a:avLst/>
          </a:prstGeom>
          <a:noFill/>
        </p:spPr>
        <p:txBody>
          <a:bodyPr wrap="square" lIns="0" rIns="0" tIns="0" bIns="0">
            <a:spAutoFit/>
          </a:bodyPr>
          <a:lstStyle/>
          <a:p>
            <a:r>
              <a:rPr sz="1100">
                <a:solidFill>
                  <a:srgbClr val="0F172A"/>
                </a:solidFill>
                <a:latin typeface="Inter"/>
              </a:rPr>
              <a:t>Overall, Lesk’s algorithm is a simple and effective algorithm for word sense disambiguation.</a:t>
            </a:r>
          </a:p>
        </p:txBody>
      </p:sp>
      <p:sp>
        <p:nvSpPr>
          <p:cNvPr id="16" name="TextBox 15"/>
          <p:cNvSpPr txBox="1"/>
          <p:nvPr/>
        </p:nvSpPr>
        <p:spPr>
          <a:xfrm>
            <a:off x="720547" y="5057134"/>
            <a:ext cx="6907734" cy="176022"/>
          </a:xfrm>
          <a:prstGeom prst="rect">
            <a:avLst/>
          </a:prstGeom>
          <a:noFill/>
        </p:spPr>
        <p:txBody>
          <a:bodyPr wrap="square" lIns="0" rIns="0" tIns="0" bIns="0">
            <a:spAutoFit/>
          </a:bodyPr>
          <a:lstStyle/>
          <a:p>
            <a:r>
              <a:rPr sz="680" b="1">
                <a:solidFill>
                  <a:srgbClr val="C2410C"/>
                </a:solidFill>
                <a:latin typeface="Poppins"/>
              </a:rPr>
              <a:t>BUT   </a:t>
            </a:r>
            <a:r>
              <a:rPr sz="1100" b="1">
                <a:solidFill>
                  <a:srgbClr val="C2410C"/>
                </a:solidFill>
                <a:latin typeface="Poppins"/>
              </a:rPr>
              <a:t>However</a:t>
            </a:r>
            <a:r>
              <a:rPr sz="1100">
                <a:solidFill>
                  <a:srgbClr val="0F172A"/>
                </a:solidFill>
                <a:latin typeface="Inter"/>
              </a:rPr>
              <a:t>, it has some limitations, </a:t>
            </a:r>
            <a:r>
              <a:rPr sz="1100" b="1">
                <a:solidFill>
                  <a:srgbClr val="0F766E"/>
                </a:solidFill>
                <a:latin typeface="Poppins"/>
              </a:rPr>
              <a:t>such as</a:t>
            </a:r>
            <a:r>
              <a:rPr sz="1100">
                <a:solidFill>
                  <a:srgbClr val="0F172A"/>
                </a:solidFill>
                <a:latin typeface="Inter"/>
              </a:rPr>
              <a:t> its low accuracy and low recall.</a:t>
            </a:r>
          </a:p>
        </p:txBody>
      </p:sp>
      <p:sp>
        <p:nvSpPr>
          <p:cNvPr id="17" name="TextBox 16"/>
          <p:cNvSpPr txBox="1"/>
          <p:nvPr/>
        </p:nvSpPr>
        <p:spPr>
          <a:xfrm>
            <a:off x="994867" y="5361172"/>
            <a:ext cx="6633414" cy="704088"/>
          </a:xfrm>
          <a:prstGeom prst="rect">
            <a:avLst/>
          </a:prstGeom>
          <a:noFill/>
        </p:spPr>
        <p:txBody>
          <a:bodyPr wrap="square" lIns="0" rIns="0" tIns="0" bIns="0">
            <a:spAutoFit/>
          </a:bodyPr>
          <a:lstStyle/>
          <a:p>
            <a:r>
              <a:rPr sz="1100">
                <a:solidFill>
                  <a:srgbClr val="0F172A"/>
                </a:solidFill>
                <a:latin typeface="Inter"/>
              </a:rPr>
              <a:t>These limitations can be addressed by using a better dictionary, weighting the matched terms, and adjusting the context window size as mentioned below In conclusion, Lesk’s Algorithm stands as a testament to the enduring power of innovative ideas in shaping our understanding of language.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Disadvantages limitations challenges: As we navigate the intricate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9 / 12</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1457736"/>
            <a:ext cx="82296" cy="1702247"/>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1160"/>
            <a:ext cx="6907734" cy="1720535"/>
          </a:xfrm>
          <a:prstGeom prst="rect">
            <a:avLst/>
          </a:prstGeom>
          <a:noFill/>
        </p:spPr>
        <p:txBody>
          <a:bodyPr wrap="square" anchor="t" lIns="0" tIns="0" rIns="0" bIns="0">
            <a:spAutoFit/>
          </a:bodyPr>
          <a:lstStyle/>
          <a:p>
            <a:pPr algn="l"/>
            <a:r>
              <a:rPr sz="1789" b="1">
                <a:solidFill>
                  <a:srgbClr val="1D4ED8"/>
                </a:solidFill>
                <a:latin typeface="Poppins"/>
              </a:rPr>
              <a:t>As we navigate the intricate landscape of Natural Language Processing, Lesk’s Algorithm reminds us that even in the digital age, the wisdom of context, the resonance of shared meanings, and the delicate interplay of words continue to be pivotal.</a:t>
            </a:r>
          </a:p>
        </p:txBody>
      </p:sp>
      <p:sp>
        <p:nvSpPr>
          <p:cNvPr id="10" name="TextBox 9"/>
          <p:cNvSpPr txBox="1"/>
          <p:nvPr/>
        </p:nvSpPr>
        <p:spPr>
          <a:xfrm>
            <a:off x="720547" y="3333719"/>
            <a:ext cx="6907734" cy="768096"/>
          </a:xfrm>
          <a:prstGeom prst="rect">
            <a:avLst/>
          </a:prstGeom>
          <a:noFill/>
        </p:spPr>
        <p:txBody>
          <a:bodyPr wrap="square" lIns="0" rIns="0" tIns="0" bIns="0">
            <a:spAutoFit/>
          </a:bodyPr>
          <a:lstStyle/>
          <a:p>
            <a:r>
              <a:rPr sz="990" b="1">
                <a:solidFill>
                  <a:srgbClr val="C2410C"/>
                </a:solidFill>
                <a:latin typeface="Poppins"/>
              </a:rPr>
              <a:t>BUT   </a:t>
            </a:r>
            <a:r>
              <a:rPr sz="1600" b="1">
                <a:solidFill>
                  <a:srgbClr val="C2410C"/>
                </a:solidFill>
                <a:latin typeface="Poppins"/>
              </a:rPr>
              <a:t>While</a:t>
            </a:r>
            <a:r>
              <a:rPr sz="1600">
                <a:solidFill>
                  <a:srgbClr val="0F172A"/>
                </a:solidFill>
                <a:latin typeface="Inter"/>
              </a:rPr>
              <a:t> newer techniques have emerged, this algorithm’s simplicity and effectiveness showcase the elegance of linguistic investigation.</a:t>
            </a:r>
          </a:p>
        </p:txBody>
      </p:sp>
      <p:sp>
        <p:nvSpPr>
          <p:cNvPr id="11" name="TextBox 10"/>
          <p:cNvSpPr txBox="1"/>
          <p:nvPr/>
        </p:nvSpPr>
        <p:spPr>
          <a:xfrm>
            <a:off x="720547" y="4229831"/>
            <a:ext cx="6907734" cy="1280160"/>
          </a:xfrm>
          <a:prstGeom prst="rect">
            <a:avLst/>
          </a:prstGeom>
          <a:noFill/>
        </p:spPr>
        <p:txBody>
          <a:bodyPr wrap="square" lIns="0" rIns="0" tIns="0" bIns="0">
            <a:spAutoFit/>
          </a:bodyPr>
          <a:lstStyle/>
          <a:p>
            <a:r>
              <a:rPr sz="1600">
                <a:solidFill>
                  <a:srgbClr val="0F172A"/>
                </a:solidFill>
                <a:latin typeface="Inter"/>
              </a:rPr>
              <a:t>As technology advances and our grasp of language deepens, the journey of refining algorithms </a:t>
            </a:r>
            <a:r>
              <a:rPr sz="1600" b="1">
                <a:solidFill>
                  <a:srgbClr val="0F766E"/>
                </a:solidFill>
                <a:latin typeface="Poppins"/>
              </a:rPr>
              <a:t>like</a:t>
            </a:r>
            <a:r>
              <a:rPr sz="1600">
                <a:solidFill>
                  <a:srgbClr val="0F172A"/>
                </a:solidFill>
                <a:latin typeface="Inter"/>
              </a:rPr>
              <a:t> Lesk’s will undoubtedly contribute to ever more precise and insightful language understanding, enriching both human communication and the capabilities of artificial intelligence.</a:t>
            </a:r>
          </a:p>
        </p:txBody>
      </p:sp>
      <p:sp>
        <p:nvSpPr>
          <p:cNvPr id="12" name="TextBox 11"/>
          <p:cNvSpPr txBox="1"/>
          <p:nvPr/>
        </p:nvSpPr>
        <p:spPr>
          <a:xfrm>
            <a:off x="720547" y="5638007"/>
            <a:ext cx="6907734" cy="512064"/>
          </a:xfrm>
          <a:prstGeom prst="rect">
            <a:avLst/>
          </a:prstGeom>
          <a:noFill/>
        </p:spPr>
        <p:txBody>
          <a:bodyPr wrap="square" lIns="0" rIns="0" tIns="0" bIns="0">
            <a:spAutoFit/>
          </a:bodyPr>
          <a:lstStyle/>
          <a:p>
            <a:r>
              <a:rPr sz="1600">
                <a:solidFill>
                  <a:srgbClr val="0F172A"/>
                </a:solidFill>
                <a:latin typeface="Inter"/>
              </a:rPr>
              <a:t>Each of these approaches has its own advantages and disadvantages.</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10 / 12</a:t>
            </a:r>
          </a:p>
        </p:txBody>
      </p:sp>
      <p:sp>
        <p:nvSpPr>
          <p:cNvPr id="7" name="Rounded Rectangle 6"/>
          <p:cNvSpPr/>
          <p:nvPr/>
        </p:nvSpPr>
        <p:spPr>
          <a:xfrm>
            <a:off x="457200" y="1298448"/>
            <a:ext cx="11274552" cy="1326611"/>
          </a:xfrm>
          <a:prstGeom prst="roundRect">
            <a:avLst>
              <a:gd name="adj" fmla="val 10614"/>
            </a:avLst>
          </a:prstGeom>
          <a:solidFill>
            <a:srgbClr val="E8EDFB"/>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Poppins"/>
              </a:rPr>
              <a:t>QUESTION  ·  RECALL</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1600" b="1">
                <a:solidFill>
                  <a:srgbClr val="1D4ED8"/>
                </a:solidFill>
                <a:latin typeface="Poppins"/>
              </a:rPr>
              <a:t>Fill in the blank: “As we navigate the intricate landscape of Natural Language Processing, Lesk’s _____ reminds us that even in the digital age, the wisdom of context, the resonance…”</a:t>
            </a:r>
          </a:p>
        </p:txBody>
      </p:sp>
      <p:sp>
        <p:nvSpPr>
          <p:cNvPr id="10" name="Rounded Rectangle 9"/>
          <p:cNvSpPr/>
          <p:nvPr/>
        </p:nvSpPr>
        <p:spPr>
          <a:xfrm>
            <a:off x="457200"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Simple</a:t>
            </a:r>
          </a:p>
        </p:txBody>
      </p:sp>
      <p:sp>
        <p:nvSpPr>
          <p:cNvPr id="13" name="Rounded Rectangle 12"/>
          <p:cNvSpPr/>
          <p:nvPr/>
        </p:nvSpPr>
        <p:spPr>
          <a:xfrm>
            <a:off x="6195059" y="2826227"/>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0F172A"/>
                </a:solidFill>
                <a:latin typeface="Inter"/>
              </a:rPr>
              <a:t>Algorithm</a:t>
            </a:r>
          </a:p>
        </p:txBody>
      </p:sp>
      <p:sp>
        <p:nvSpPr>
          <p:cNvPr id="16" name="Rounded Rectangle 15"/>
          <p:cNvSpPr/>
          <p:nvPr/>
        </p:nvSpPr>
        <p:spPr>
          <a:xfrm>
            <a:off x="457200"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Define</a:t>
            </a:r>
          </a:p>
        </p:txBody>
      </p:sp>
      <p:sp>
        <p:nvSpPr>
          <p:cNvPr id="19" name="Rounded Rectangle 18"/>
          <p:cNvSpPr/>
          <p:nvPr/>
        </p:nvSpPr>
        <p:spPr>
          <a:xfrm>
            <a:off x="6195059" y="4103278"/>
            <a:ext cx="5536692" cy="1075883"/>
          </a:xfrm>
          <a:prstGeom prst="roundRect">
            <a:avLst>
              <a:gd name="adj" fmla="val 13088"/>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Poppins"/>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0F172A"/>
                </a:solidFill>
                <a:latin typeface="Inter"/>
              </a:rPr>
              <a:t>Select</a:t>
            </a:r>
          </a:p>
        </p:txBody>
      </p:sp>
      <p:sp>
        <p:nvSpPr>
          <p:cNvPr id="22" name="Rounded Rectangle 21"/>
          <p:cNvSpPr/>
          <p:nvPr/>
        </p:nvSpPr>
        <p:spPr>
          <a:xfrm>
            <a:off x="457200" y="5380329"/>
            <a:ext cx="11274552" cy="102047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C93C"/>
                </a:solidFill>
                <a:latin typeface="Poppins"/>
              </a:rPr>
              <a:t>Answer: B</a:t>
            </a:r>
          </a:p>
          <a:p>
            <a:pPr algn="l">
              <a:spcBef>
                <a:spcPts val="200"/>
              </a:spcBef>
            </a:pPr>
            <a:r>
              <a:rPr sz="1300" b="0">
                <a:solidFill>
                  <a:srgbClr val="FFFFFF"/>
                </a:solidFill>
                <a:latin typeface="Inter"/>
              </a:rPr>
              <a:t>“As we navigate the intricate landscape of Natural Language Processing, Lesk’s Algorithm reminds us that even in the digital age, the wisdom of context, the resonance of shared meanings, and the delicate interplay of words continue to be pivotal.”</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C93C"/>
                </a:solidFill>
              </a:defRPr>
            </a:pPr>
            <a:r>
              <a:rPr>
                <a:latin typeface="Poppins"/>
              </a:rPr>
              <a:t>Disadvantages limitations challenges: Supervised approaches are typically more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11 / 12</a:t>
            </a:r>
          </a:p>
        </p:txBody>
      </p:sp>
      <p:sp>
        <p:nvSpPr>
          <p:cNvPr id="8" name="Rounded Rectangle 7">
            <a:hlinkClick r:id="rId5"/>
          </p:cNvPr>
          <p:cNvSpPr/>
          <p:nvPr/>
        </p:nvSpPr>
        <p:spPr>
          <a:xfrm>
            <a:off x="2894076" y="6455664"/>
            <a:ext cx="6400800" cy="310896"/>
          </a:xfrm>
          <a:prstGeom prst="round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0F172A"/>
                </a:solidFill>
                <a:latin typeface="Poppins"/>
              </a:rPr>
              <a:t>▶ Open the interactive lab: Disadvantages limitations challenges: Supervised approaches are typically more — step-through</a:t>
            </a:r>
          </a:p>
        </p:txBody>
      </p:sp>
      <p:sp>
        <p:nvSpPr>
          <p:cNvPr id="9" name="Rounded Rectangle 8"/>
          <p:cNvSpPr/>
          <p:nvPr/>
        </p:nvSpPr>
        <p:spPr>
          <a:xfrm>
            <a:off x="4572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1</a:t>
            </a:r>
          </a:p>
        </p:txBody>
      </p:sp>
      <p:sp>
        <p:nvSpPr>
          <p:cNvPr id="11" name="TextBox 10"/>
          <p:cNvSpPr txBox="1"/>
          <p:nvPr/>
        </p:nvSpPr>
        <p:spPr>
          <a:xfrm>
            <a:off x="1280160" y="1499616"/>
            <a:ext cx="2478024" cy="1490472"/>
          </a:xfrm>
          <a:prstGeom prst="rect">
            <a:avLst/>
          </a:prstGeom>
          <a:noFill/>
        </p:spPr>
        <p:txBody>
          <a:bodyPr wrap="square" anchor="ctr" lIns="0" tIns="0" rIns="0" bIns="0">
            <a:spAutoFit/>
          </a:bodyPr>
          <a:lstStyle/>
          <a:p>
            <a:pPr algn="l"/>
            <a:r>
              <a:rPr sz="1440" b="1">
                <a:solidFill>
                  <a:srgbClr val="1D4ED8"/>
                </a:solidFill>
                <a:latin typeface="Poppins"/>
              </a:rPr>
              <a:t>Supervised approaches are typically more</a:t>
            </a:r>
          </a:p>
          <a:p>
            <a:pPr algn="l">
              <a:spcBef>
                <a:spcPts val="500"/>
              </a:spcBef>
            </a:pPr>
            <a:r>
              <a:rPr sz="1200" b="0">
                <a:solidFill>
                  <a:srgbClr val="0F172A"/>
                </a:solidFill>
                <a:latin typeface="Inter"/>
              </a:rPr>
              <a:t>accurate than unsupervised approaches, but they require a labeled corpus, which can be expensive and time-consuming to create</a:t>
            </a:r>
          </a:p>
        </p:txBody>
      </p:sp>
      <p:sp>
        <p:nvSpPr>
          <p:cNvPr id="12" name="Right Arrow 11"/>
          <p:cNvSpPr/>
          <p:nvPr/>
        </p:nvSpPr>
        <p:spPr>
          <a:xfrm>
            <a:off x="4014215"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2</a:t>
            </a:r>
          </a:p>
        </p:txBody>
      </p:sp>
      <p:sp>
        <p:nvSpPr>
          <p:cNvPr id="15" name="TextBox 14"/>
          <p:cNvSpPr txBox="1"/>
          <p:nvPr/>
        </p:nvSpPr>
        <p:spPr>
          <a:xfrm>
            <a:off x="5166359" y="1499616"/>
            <a:ext cx="2478024" cy="1490472"/>
          </a:xfrm>
          <a:prstGeom prst="rect">
            <a:avLst/>
          </a:prstGeom>
          <a:noFill/>
        </p:spPr>
        <p:txBody>
          <a:bodyPr wrap="square" anchor="ctr" lIns="0" tIns="0" rIns="0" bIns="0">
            <a:spAutoFit/>
          </a:bodyPr>
          <a:lstStyle/>
          <a:p>
            <a:pPr algn="l"/>
            <a:r>
              <a:rPr sz="1440" b="1">
                <a:solidFill>
                  <a:srgbClr val="1D4ED8"/>
                </a:solidFill>
                <a:latin typeface="Poppins"/>
              </a:rPr>
              <a:t>Semi-supervised approaches</a:t>
            </a:r>
          </a:p>
          <a:p>
            <a:pPr algn="l">
              <a:spcBef>
                <a:spcPts val="500"/>
              </a:spcBef>
            </a:pPr>
            <a:r>
              <a:rPr sz="1200" b="0">
                <a:solidFill>
                  <a:srgbClr val="0F172A"/>
                </a:solidFill>
                <a:latin typeface="Inter"/>
              </a:rPr>
              <a:t>can be a good compromise between accuracy and efficiency</a:t>
            </a:r>
          </a:p>
        </p:txBody>
      </p:sp>
      <p:sp>
        <p:nvSpPr>
          <p:cNvPr id="16" name="Right Arrow 15"/>
          <p:cNvSpPr/>
          <p:nvPr/>
        </p:nvSpPr>
        <p:spPr>
          <a:xfrm>
            <a:off x="7900416" y="2089404"/>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298448"/>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2016252"/>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3</a:t>
            </a:r>
          </a:p>
        </p:txBody>
      </p:sp>
      <p:sp>
        <p:nvSpPr>
          <p:cNvPr id="19" name="TextBox 18"/>
          <p:cNvSpPr txBox="1"/>
          <p:nvPr/>
        </p:nvSpPr>
        <p:spPr>
          <a:xfrm>
            <a:off x="9052560" y="1499616"/>
            <a:ext cx="2478024" cy="1490472"/>
          </a:xfrm>
          <a:prstGeom prst="rect">
            <a:avLst/>
          </a:prstGeom>
          <a:noFill/>
        </p:spPr>
        <p:txBody>
          <a:bodyPr wrap="square" anchor="ctr" lIns="0" tIns="0" rIns="0" bIns="0">
            <a:spAutoFit/>
          </a:bodyPr>
          <a:lstStyle/>
          <a:p>
            <a:pPr algn="l"/>
            <a:r>
              <a:rPr sz="1440" b="1">
                <a:solidFill>
                  <a:srgbClr val="1D4ED8"/>
                </a:solidFill>
                <a:latin typeface="Poppins"/>
              </a:rPr>
              <a:t>Unsupervised approaches are the most</a:t>
            </a:r>
          </a:p>
          <a:p>
            <a:pPr algn="l">
              <a:spcBef>
                <a:spcPts val="500"/>
              </a:spcBef>
            </a:pPr>
            <a:r>
              <a:rPr sz="1200" b="0">
                <a:solidFill>
                  <a:srgbClr val="0F172A"/>
                </a:solidFill>
                <a:latin typeface="Inter"/>
              </a:rPr>
              <a:t>efficient, but they are also the least accurate</a:t>
            </a:r>
          </a:p>
        </p:txBody>
      </p:sp>
      <p:sp>
        <p:nvSpPr>
          <p:cNvPr id="20" name="Rounded Rectangle 19"/>
          <p:cNvSpPr/>
          <p:nvPr/>
        </p:nvSpPr>
        <p:spPr>
          <a:xfrm>
            <a:off x="4572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4</a:t>
            </a:r>
          </a:p>
        </p:txBody>
      </p:sp>
      <p:sp>
        <p:nvSpPr>
          <p:cNvPr id="22" name="TextBox 21"/>
          <p:cNvSpPr txBox="1"/>
          <p:nvPr/>
        </p:nvSpPr>
        <p:spPr>
          <a:xfrm>
            <a:off x="1280160" y="3593592"/>
            <a:ext cx="2478024" cy="1490472"/>
          </a:xfrm>
          <a:prstGeom prst="rect">
            <a:avLst/>
          </a:prstGeom>
          <a:noFill/>
        </p:spPr>
        <p:txBody>
          <a:bodyPr wrap="square" anchor="ctr" lIns="0" tIns="0" rIns="0" bIns="0">
            <a:spAutoFit/>
          </a:bodyPr>
          <a:lstStyle/>
          <a:p>
            <a:pPr algn="l"/>
            <a:r>
              <a:rPr sz="1440" b="1">
                <a:solidFill>
                  <a:srgbClr val="1D4ED8"/>
                </a:solidFill>
                <a:latin typeface="Poppins"/>
              </a:rPr>
              <a:t>The best approach to WSD</a:t>
            </a:r>
          </a:p>
          <a:p>
            <a:pPr algn="l">
              <a:spcBef>
                <a:spcPts val="500"/>
              </a:spcBef>
            </a:pPr>
            <a:r>
              <a:rPr sz="1200" b="0">
                <a:solidFill>
                  <a:srgbClr val="0F172A"/>
                </a:solidFill>
                <a:latin typeface="Inter"/>
              </a:rPr>
              <a:t>depends on the specific application</a:t>
            </a:r>
          </a:p>
        </p:txBody>
      </p:sp>
      <p:sp>
        <p:nvSpPr>
          <p:cNvPr id="23" name="Right Arrow 22"/>
          <p:cNvSpPr/>
          <p:nvPr/>
        </p:nvSpPr>
        <p:spPr>
          <a:xfrm>
            <a:off x="4014215"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445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5</a:t>
            </a:r>
          </a:p>
        </p:txBody>
      </p:sp>
      <p:sp>
        <p:nvSpPr>
          <p:cNvPr id="26" name="TextBox 25"/>
          <p:cNvSpPr txBox="1"/>
          <p:nvPr/>
        </p:nvSpPr>
        <p:spPr>
          <a:xfrm>
            <a:off x="5166359" y="3593592"/>
            <a:ext cx="2478024" cy="1490472"/>
          </a:xfrm>
          <a:prstGeom prst="rect">
            <a:avLst/>
          </a:prstGeom>
          <a:noFill/>
        </p:spPr>
        <p:txBody>
          <a:bodyPr wrap="square" anchor="ctr" lIns="0" tIns="0" rIns="0" bIns="0">
            <a:spAutoFit/>
          </a:bodyPr>
          <a:lstStyle/>
          <a:p>
            <a:pPr algn="l"/>
            <a:r>
              <a:rPr sz="1440" b="1">
                <a:solidFill>
                  <a:srgbClr val="1D4ED8"/>
                </a:solidFill>
                <a:latin typeface="Poppins"/>
              </a:rPr>
              <a:t>For example</a:t>
            </a:r>
          </a:p>
          <a:p>
            <a:pPr algn="l">
              <a:spcBef>
                <a:spcPts val="500"/>
              </a:spcBef>
            </a:pPr>
            <a:r>
              <a:rPr sz="1200" b="0">
                <a:solidFill>
                  <a:srgbClr val="0F172A"/>
                </a:solidFill>
                <a:latin typeface="Inter"/>
              </a:rPr>
              <a:t>if accuracy is critical, then a supervised approach is likely the best choice</a:t>
            </a:r>
          </a:p>
        </p:txBody>
      </p:sp>
      <p:sp>
        <p:nvSpPr>
          <p:cNvPr id="27" name="Right Arrow 26"/>
          <p:cNvSpPr/>
          <p:nvPr/>
        </p:nvSpPr>
        <p:spPr>
          <a:xfrm>
            <a:off x="7900416" y="4183380"/>
            <a:ext cx="274320" cy="310896"/>
          </a:xfrm>
          <a:prstGeom prst="rightArrow">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29600" y="3392424"/>
            <a:ext cx="3502152" cy="1892808"/>
          </a:xfrm>
          <a:prstGeom prst="roundRect">
            <a:avLst>
              <a:gd name="adj" fmla="val 7439"/>
            </a:avLst>
          </a:prstGeom>
          <a:solidFill>
            <a:srgbClr val="FFFFFF"/>
          </a:solidFill>
          <a:ln w="12700">
            <a:solidFill>
              <a:srgbClr val="BFCD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430768" y="4110228"/>
            <a:ext cx="457200" cy="45720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Poppins"/>
              </a:rPr>
              <a:t>6</a:t>
            </a:r>
          </a:p>
        </p:txBody>
      </p:sp>
      <p:sp>
        <p:nvSpPr>
          <p:cNvPr id="30" name="TextBox 29"/>
          <p:cNvSpPr txBox="1"/>
          <p:nvPr/>
        </p:nvSpPr>
        <p:spPr>
          <a:xfrm>
            <a:off x="9052560" y="3593592"/>
            <a:ext cx="2478024" cy="1490472"/>
          </a:xfrm>
          <a:prstGeom prst="rect">
            <a:avLst/>
          </a:prstGeom>
          <a:noFill/>
        </p:spPr>
        <p:txBody>
          <a:bodyPr wrap="square" anchor="ctr" lIns="0" tIns="0" rIns="0" bIns="0">
            <a:spAutoFit/>
          </a:bodyPr>
          <a:lstStyle/>
          <a:p>
            <a:pPr algn="l"/>
            <a:r>
              <a:rPr sz="1440" b="1">
                <a:solidFill>
                  <a:srgbClr val="1D4ED8"/>
                </a:solidFill>
                <a:latin typeface="Poppins"/>
              </a:rPr>
              <a:t>If speed is critical</a:t>
            </a:r>
          </a:p>
          <a:p>
            <a:pPr algn="l">
              <a:spcBef>
                <a:spcPts val="500"/>
              </a:spcBef>
            </a:pPr>
            <a:r>
              <a:rPr sz="1200" b="0">
                <a:solidFill>
                  <a:srgbClr val="0F172A"/>
                </a:solidFill>
                <a:latin typeface="Inter"/>
              </a:rPr>
              <a:t>then an unsupervised approach may be a better choice</a:t>
            </a:r>
          </a:p>
        </p:txBody>
      </p:sp>
      <p:sp>
        <p:nvSpPr>
          <p:cNvPr id="31" name="Rounded Rectangle 30"/>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One trigger sets off a chain of 6 effects.</a:t>
            </a:r>
          </a:p>
        </p:txBody>
      </p:sp>
      <p:sp>
        <p:nvSpPr>
          <p:cNvPr id="32" name="Rectangle 31"/>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50"/>
                                        <p:tgtEl>
                                          <p:spTgt spid="27"/>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5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50"/>
                                        <p:tgtEl>
                                          <p:spTgt spid="29"/>
                                        </p:tgtEl>
                                      </p:cBhvr>
                                    </p:animEffect>
                                  </p:childTnLst>
                                </p:cTn>
                              </p:par>
                              <p:par>
                                <p:cTn id="65" presetID="10"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50"/>
                                        <p:tgtEl>
                                          <p:spTgt spid="31"/>
                                        </p:tgtEl>
                                      </p:cBhvr>
                                    </p:animEffect>
                                  </p:childTnLst>
                                </p:cTn>
                              </p:par>
                              <p:par>
                                <p:cTn id="73" presetID="10" presetClass="entr" presetSubtype="0"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FC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C93C"/>
                </a:solidFill>
              </a:defRPr>
            </a:pPr>
            <a:r>
              <a:rPr>
                <a:latin typeface="Poppins"/>
              </a:rPr>
              <a:t>Key takeaways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475569"/>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475569"/>
                </a:solidFill>
              </a:defRPr>
            </a:pPr>
            <a:r>
              <a:rPr>
                <a:latin typeface="Inter"/>
              </a:rPr>
              <a:t>12 / 12</a:t>
            </a:r>
          </a:p>
        </p:txBody>
      </p:sp>
      <p:sp>
        <p:nvSpPr>
          <p:cNvPr id="8" name="Rounded Rectangle 7"/>
          <p:cNvSpPr/>
          <p:nvPr/>
        </p:nvSpPr>
        <p:spPr>
          <a:xfrm>
            <a:off x="457200" y="1298448"/>
            <a:ext cx="5536692" cy="3986784"/>
          </a:xfrm>
          <a:prstGeom prst="roundRect">
            <a:avLst>
              <a:gd name="adj" fmla="val 3532"/>
            </a:avLst>
          </a:prstGeom>
          <a:solidFill>
            <a:srgbClr val="FFFFFF"/>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499616"/>
            <a:ext cx="5134355" cy="502920"/>
          </a:xfrm>
          <a:prstGeom prst="roundRect">
            <a:avLst>
              <a:gd name="adj" fmla="val 25000"/>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lstStyle/>
          <a:p>
            <a:pPr algn="l"/>
            <a:r>
              <a:rPr sz="1500" b="1">
                <a:solidFill>
                  <a:srgbClr val="FFFFFF"/>
                </a:solidFill>
                <a:latin typeface="Poppins"/>
              </a:rPr>
              <a:t>ADVANTAGES</a:t>
            </a:r>
          </a:p>
        </p:txBody>
      </p:sp>
      <p:sp>
        <p:nvSpPr>
          <p:cNvPr id="10" name="TextBox 9"/>
          <p:cNvSpPr txBox="1"/>
          <p:nvPr/>
        </p:nvSpPr>
        <p:spPr>
          <a:xfrm>
            <a:off x="658368" y="2139696"/>
            <a:ext cx="5134355" cy="2944368"/>
          </a:xfrm>
          <a:prstGeom prst="rect">
            <a:avLst/>
          </a:prstGeom>
          <a:noFill/>
        </p:spPr>
        <p:txBody>
          <a:bodyPr wrap="square" anchor="t" lIns="0" tIns="0" rIns="0" bIns="0">
            <a:spAutoFit/>
          </a:bodyPr>
          <a:lstStyle/>
          <a:p>
            <a:pPr algn="l" marL="256032" indent="-256032" lvl="0">
              <a:buClr>
                <a:srgbClr val="1A7F4B"/>
              </a:buClr>
              <a:buFont typeface="Arial"/>
              <a:buChar char="•"/>
            </a:pPr>
            <a:r>
              <a:rPr sz="1200" b="0">
                <a:solidFill>
                  <a:srgbClr val="0F172A"/>
                </a:solidFill>
                <a:latin typeface="Inter"/>
              </a:rPr>
              <a:t>Lesk’s Algorithm: A simple method for : Perhaps one of the earliest and still most commonly used methods for word-sense disambiguation today is Lesk’s Algorithm, proposed by…</a:t>
            </a:r>
          </a:p>
          <a:p>
            <a:pPr algn="l" marL="256032" indent="-256032" lvl="0">
              <a:spcBef>
                <a:spcPts val="800"/>
              </a:spcBef>
              <a:buClr>
                <a:srgbClr val="1A7F4B"/>
              </a:buClr>
              <a:buFont typeface="Arial"/>
              <a:buChar char="•"/>
            </a:pPr>
            <a:r>
              <a:rPr sz="1200" b="0">
                <a:solidFill>
                  <a:srgbClr val="0F172A"/>
                </a:solidFill>
                <a:latin typeface="Inter"/>
              </a:rPr>
              <a:t>Lesk’s Algorithm: A simple method for : The Lesk algorithm is an knowledge based approach to word sense disambiguation</a:t>
            </a:r>
          </a:p>
          <a:p>
            <a:pPr algn="l" marL="256032" indent="-256032" lvl="0">
              <a:spcBef>
                <a:spcPts val="800"/>
              </a:spcBef>
              <a:buClr>
                <a:srgbClr val="1A7F4B"/>
              </a:buClr>
              <a:buFont typeface="Arial"/>
              <a:buChar char="•"/>
            </a:pPr>
            <a:r>
              <a:rPr sz="1200" b="0">
                <a:solidFill>
                  <a:srgbClr val="0F172A"/>
                </a:solidFill>
                <a:latin typeface="Inter"/>
              </a:rPr>
              <a:t>STEPS:: Select Word: Choose the word for which you want to determine the correct meaning</a:t>
            </a:r>
          </a:p>
          <a:p>
            <a:pPr algn="l" marL="256032" indent="-256032" lvl="0">
              <a:spcBef>
                <a:spcPts val="800"/>
              </a:spcBef>
              <a:buClr>
                <a:srgbClr val="1A7F4B"/>
              </a:buClr>
              <a:buFont typeface="Arial"/>
              <a:buChar char="•"/>
            </a:pPr>
            <a:r>
              <a:rPr sz="1200" b="0">
                <a:solidFill>
                  <a:srgbClr val="0F172A"/>
                </a:solidFill>
                <a:latin typeface="Inter"/>
              </a:rPr>
              <a:t>Advantages: Simple to implement: Lesk’s algorithm is a relatively simple algorithm that can be implemented in a few lines of code</a:t>
            </a:r>
          </a:p>
          <a:p>
            <a:pPr algn="l" marL="256032" indent="-256032" lvl="0">
              <a:spcBef>
                <a:spcPts val="800"/>
              </a:spcBef>
              <a:buClr>
                <a:srgbClr val="1A7F4B"/>
              </a:buClr>
              <a:buFont typeface="Arial"/>
              <a:buChar char="•"/>
            </a:pPr>
            <a:r>
              <a:rPr sz="1200" b="0">
                <a:solidFill>
                  <a:srgbClr val="0F172A"/>
                </a:solidFill>
                <a:latin typeface="Inter"/>
              </a:rPr>
              <a:t>Advantages: Non-syntactic: Non-syntactic: Lesk’s algorithm is non-syntactic, which means that it does not rely on the arrangement of words in a sentence</a:t>
            </a:r>
          </a:p>
        </p:txBody>
      </p:sp>
      <p:sp>
        <p:nvSpPr>
          <p:cNvPr id="11" name="Rounded Rectangle 10"/>
          <p:cNvSpPr/>
          <p:nvPr/>
        </p:nvSpPr>
        <p:spPr>
          <a:xfrm>
            <a:off x="6195059" y="1298448"/>
            <a:ext cx="5536692" cy="3986784"/>
          </a:xfrm>
          <a:prstGeom prst="roundRect">
            <a:avLst>
              <a:gd name="adj" fmla="val 3532"/>
            </a:avLst>
          </a:prstGeom>
          <a:solidFill>
            <a:srgbClr val="FFFFFF"/>
          </a:solidFill>
          <a:ln w="12700">
            <a:solidFill>
              <a:srgbClr val="B23B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96227" y="1499616"/>
            <a:ext cx="5134355" cy="502920"/>
          </a:xfrm>
          <a:prstGeom prst="roundRect">
            <a:avLst>
              <a:gd name="adj" fmla="val 25000"/>
            </a:avLst>
          </a:prstGeom>
          <a:solidFill>
            <a:srgbClr val="B2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lstStyle/>
          <a:p>
            <a:pPr algn="l"/>
            <a:r>
              <a:rPr sz="1500" b="1">
                <a:solidFill>
                  <a:srgbClr val="FFFFFF"/>
                </a:solidFill>
                <a:latin typeface="Poppins"/>
              </a:rPr>
              <a:t>TRADE-OFFS</a:t>
            </a:r>
          </a:p>
        </p:txBody>
      </p:sp>
      <p:sp>
        <p:nvSpPr>
          <p:cNvPr id="13" name="TextBox 12"/>
          <p:cNvSpPr txBox="1"/>
          <p:nvPr/>
        </p:nvSpPr>
        <p:spPr>
          <a:xfrm>
            <a:off x="6396227" y="2139696"/>
            <a:ext cx="5134355" cy="2944368"/>
          </a:xfrm>
          <a:prstGeom prst="rect">
            <a:avLst/>
          </a:prstGeom>
          <a:noFill/>
        </p:spPr>
        <p:txBody>
          <a:bodyPr wrap="square" anchor="t" lIns="0" tIns="0" rIns="0" bIns="0">
            <a:spAutoFit/>
          </a:bodyPr>
          <a:lstStyle/>
          <a:p>
            <a:pPr algn="l" marL="256032" indent="-256032" lvl="0">
              <a:buClr>
                <a:srgbClr val="B23B3B"/>
              </a:buClr>
              <a:buFont typeface="Arial"/>
              <a:buChar char="•"/>
            </a:pPr>
            <a:r>
              <a:rPr sz="1200" b="0">
                <a:solidFill>
                  <a:srgbClr val="0F172A"/>
                </a:solidFill>
                <a:latin typeface="Inter"/>
              </a:rPr>
              <a:t>Disadvantages limitations challenges: Low accuracy: Lesk’s algorithm has been shown to have low accuracy, especially for words with multiple senses that are semantically…</a:t>
            </a:r>
          </a:p>
          <a:p>
            <a:pPr algn="l" marL="256032" indent="-256032" lvl="0">
              <a:spcBef>
                <a:spcPts val="800"/>
              </a:spcBef>
              <a:buClr>
                <a:srgbClr val="B23B3B"/>
              </a:buClr>
              <a:buFont typeface="Arial"/>
              <a:buChar char="•"/>
            </a:pPr>
            <a:r>
              <a:rPr sz="1200" b="0">
                <a:solidFill>
                  <a:srgbClr val="0F172A"/>
                </a:solidFill>
                <a:latin typeface="Inter"/>
              </a:rPr>
              <a:t>Disadvantages limitations challenges: : As we navigate the intricate landscape of Natural Language Processing, Lesk’s Algorithm reminds us that even in the digital age…</a:t>
            </a:r>
          </a:p>
        </p:txBody>
      </p:sp>
      <p:sp>
        <p:nvSpPr>
          <p:cNvPr id="14" name="Rounded Rectangle 13"/>
          <p:cNvSpPr/>
          <p:nvPr/>
        </p:nvSpPr>
        <p:spPr>
          <a:xfrm>
            <a:off x="457200" y="5486400"/>
            <a:ext cx="11274552" cy="914400"/>
          </a:xfrm>
          <a:prstGeom prst="roundRect">
            <a:avLst>
              <a:gd name="adj" fmla="val 20000"/>
            </a:avLst>
          </a:prstGeom>
          <a:solidFill>
            <a:srgbClr val="FFF3D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D4ED8"/>
                </a:solidFill>
                <a:latin typeface="Poppins"/>
              </a:rPr>
              <a:t>Key takeaway:  </a:t>
            </a:r>
            <a:r>
              <a:rPr sz="1600" b="1">
                <a:solidFill>
                  <a:srgbClr val="0F172A"/>
                </a:solidFill>
                <a:latin typeface="Poppins"/>
              </a:rPr>
              <a:t>5 advantages to weigh against 2 trade-offs.</a:t>
            </a:r>
          </a:p>
        </p:txBody>
      </p:sp>
      <p:sp>
        <p:nvSpPr>
          <p:cNvPr id="15" name="Rectangle 14"/>
          <p:cNvSpPr/>
          <p:nvPr/>
        </p:nvSpPr>
        <p:spPr>
          <a:xfrm>
            <a:off x="457200" y="5614416"/>
            <a:ext cx="82296" cy="658368"/>
          </a:xfrm>
          <a:prstGeom prst="rect">
            <a:avLst/>
          </a:prstGeom>
          <a:solidFill>
            <a:srgbClr val="FFC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4ED8"/>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FFC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557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Poppins"/>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C93C"/>
                </a:solidFill>
              </a:defRPr>
            </a:pPr>
            <a:r>
              <a:rPr>
                <a:latin typeface="Poppins"/>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