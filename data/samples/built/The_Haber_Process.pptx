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The Haber process produces ammonia from nitrogen and hydrogen, enabling fertilisers that feed roughly half the world.</a:t>
            </a:r>
          </a:p>
          <a:p/>
          <a:p>
            <a:r>
              <a:t>Reveal, one click at a time:</a:t>
            </a:r>
          </a:p>
          <a:p>
            <a:r>
              <a:t>  1. Reveal 1</a:t>
            </a:r>
          </a:p>
          <a:p>
            <a:r>
              <a:t>  2. The Haber process produces ammonia from nitrogen and hydrogen, enabling fertilisers that feed roughly half the world.</a:t>
            </a:r>
          </a:p>
          <a:p/>
          <a:p>
            <a:r>
              <a:t>Pause: ask the class what they already know about “The Haber Process” before revealing the slide.</a:t>
            </a:r>
          </a:p>
          <a:p/>
          <a:p>
            <a:r>
              <a:t>~26s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The Haber-Bosch process solved the global nitrogen limitation by synthesizing ammonia from atmospheric nitrogen, enabling modern agriculture and sustaining billions of lives.</a:t>
            </a:r>
          </a:p>
          <a:p/>
          <a:p>
            <a:r>
              <a:t>Reveal, one click at a time:</a:t>
            </a:r>
          </a:p>
          <a:p>
            <a:r>
              <a:t>  1. Plants need nitrogen to build proteins, but they cannot use the nitrogen gas in air.</a:t>
            </a:r>
          </a:p>
          <a:p>
            <a:r>
              <a:t>  2. Before 1913 fertiliser came from guano and saltpetre, which were running out.</a:t>
            </a:r>
          </a:p>
          <a:p>
            <a:r>
              <a:t>  3. Fritz Haber found the chemistry and Carl Bosch scaled it into a plant, and today about 150 million tonnes of ammonia are</a:t>
            </a:r>
          </a:p>
          <a:p>
            <a:r>
              <a:t>  4. Example: Before 1913, nations fought over South American islands just to mine bird droppings, known as guano, for agricu</a:t>
            </a:r>
          </a:p>
          <a:p>
            <a:r>
              <a:t>  5. Analogy: The Haber-Bosch process for making fertilizer is like a global kitchen because it takes raw, inedible ingredien</a:t>
            </a:r>
          </a:p>
          <a:p>
            <a:r>
              <a:t>  6. The Haber-Bosch process solved the global nitrogen limitation by synthesizing ammonia from atmospheric nitrogen, enablin</a:t>
            </a:r>
          </a:p>
          <a:p/>
          <a:p>
            <a:r>
              <a:t>Pause: ask the class what they already know about “Why it matters” before revealing the slide.</a:t>
            </a:r>
          </a:p>
          <a:p/>
          <a:p>
            <a:r>
              <a:t>~54s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The Haber process balances thermodynamic yield and kinetic speed through optimal temperature, pressure, recycling, and catalysis.</a:t>
            </a:r>
          </a:p>
          <a:p/>
          <a:p>
            <a:r>
              <a:t>Reveal, one click at a time:</a:t>
            </a:r>
          </a:p>
          <a:p>
            <a:r>
              <a:t>  1. The chemical reaction is represented as N2 + 3H2 &lt;-&gt; 2NH3, which is both reversible and exothermic in nature.</a:t>
            </a:r>
          </a:p>
          <a:p>
            <a:r>
              <a:t>  2. High operating pressure and continuous recycling significantly raise the overall yield, while an iron catalyst effective</a:t>
            </a:r>
          </a:p>
          <a:p>
            <a:r>
              <a:t>  3. Operating at 450 degrees Celsius serves as a practical compromise between achieving a high yield and maintaining an acce</a:t>
            </a:r>
          </a:p>
          <a:p>
            <a:r>
              <a:t>  4. Le Chatelier's principle predicts how each specific change shifts the position of the equilibrium to counteract the dist</a:t>
            </a:r>
          </a:p>
          <a:p>
            <a:r>
              <a:t>  5. The reaction is N2 + 3H2 &lt;-&gt; 2NH3, reversible and exothermic High pressure and recycling raise the yield; an iron cataly</a:t>
            </a:r>
          </a:p>
          <a:p>
            <a:r>
              <a:t>  6. Example: In the Haber-Bosch process used by BASF, engineers apply pressures around 200 atmospheres to drive the reversib</a:t>
            </a:r>
          </a:p>
          <a:p>
            <a:r>
              <a:t>  7. In practice: In chemical manufacturing, the Haber-Bosch process applies Le Chatelier's principle and the 450 degrees Cel</a:t>
            </a:r>
          </a:p>
          <a:p/>
          <a:p>
            <a:r>
              <a:t>Read these exactly (do not paraphrase):</a:t>
            </a:r>
          </a:p>
          <a:p>
            <a:r>
              <a:t>  - The reaction is N2 + 3H2 &lt;-&gt; 2NH3, reversible and exothermic High pressure and recycling raise the yield; an iron catalyst raises the rate 450 degrees Celsius is a compromise between yield and speed Le Chatelier's principle predicts how each change shifts the equilibrium Example: In the Haber-Bosch process used by BASF, engineers apply pressures around 200 atmospheres to drive the reversible nitrogen and hydrogen reaction toward a higher ammonia yield.</a:t>
            </a:r>
          </a:p>
          <a:p/>
          <a:p>
            <a:r>
              <a:t>Pause: ask the class what they already know about “The core ideas”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The reversible and exothermic Haber-Bosch reaction requires balancing yield and reaction rate.</a:t>
            </a:r>
          </a:p>
          <a:p/>
          <a:p>
            <a:r>
              <a:t>Reveal, one click at a time:</a:t>
            </a:r>
          </a:p>
          <a:p>
            <a:r>
              <a:t>  1. The chemical reaction equation is N2 + 3H2 &lt;-&gt; 2NH3, showing how nitrogen and hydrogen combine to form ammonia.</a:t>
            </a:r>
          </a:p>
          <a:p>
            <a:r>
              <a:t>  2. It is reversible and exothermic, which means it releases 92 kJ of heat per mole of nitrogen converted.</a:t>
            </a:r>
          </a:p>
          <a:p>
            <a:r>
              <a:t>  3. Because it is reversible, the mixture never converts completely, so the plant has to choose conditions that give a good </a:t>
            </a:r>
          </a:p>
          <a:p>
            <a:r>
              <a:t>  4. The reaction is N2 + 3H2 &lt;-&gt; 2NH3. It is reversible and exothermic, which means it releases 92 kJ of heat per mole of ni</a:t>
            </a:r>
          </a:p>
          <a:p>
            <a:r>
              <a:t>  5. The reversible and exothermic Haber-Bosch reaction requires balancing yield and reaction rate.</a:t>
            </a:r>
          </a:p>
          <a:p/>
          <a:p>
            <a:r>
              <a:t>Pause: ask the class what they already know about “The reaction” before revealing the slide.</a:t>
            </a:r>
          </a:p>
          <a:p/>
          <a:p>
            <a:r>
              <a:t>~47s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Ammonia is produced industrially by reacting nitrogen and hydrogen over an iron catalyst under high pressure and temperature, with unreacted gases being recycled.</a:t>
            </a:r>
          </a:p>
          <a:p/>
          <a:p>
            <a:r>
              <a:t>Reveal, one click at a time:</a:t>
            </a:r>
          </a:p>
          <a:p>
            <a:r>
              <a:t>  1. First, nitrogen is taken from the air and hydrogen is made from natural gas so that we have the necessary chemical feeds</a:t>
            </a:r>
          </a:p>
          <a:p>
            <a:r>
              <a:t>  2. Then, the gases are mixed in a 1 : 3 ratio and compressed to about 200 atmospheres to increase the reaction rate.</a:t>
            </a:r>
          </a:p>
          <a:p>
            <a:r>
              <a:t>  3. Next, the mixture passes over an iron catalyst at about 450 degrees Celsius to help the gases react efficiently.</a:t>
            </a:r>
          </a:p>
          <a:p>
            <a:r>
              <a:t>  4. After that, the hot gases are cooled so that ammonia liquefies and can be easily removed from the system.</a:t>
            </a:r>
          </a:p>
          <a:p>
            <a:r>
              <a:t>  5. Finally, unreacted nitrogen and hydrogen are recycled back to the reactor to ensure maximum efficiency and prevent waste</a:t>
            </a:r>
          </a:p>
          <a:p>
            <a:r>
              <a:t>  6. Nitrogen is taken from the air and hydrogen is made from natural gas The gases are mixed in a 1 : 3 ratio and compressed</a:t>
            </a:r>
          </a:p>
          <a:p>
            <a:r>
              <a:t>  7. Example: Air separation units at CF Industries cryogenically capture atmospheric nitrogen, while steam methane reformers</a:t>
            </a:r>
          </a:p>
          <a:p>
            <a:r>
              <a:t>  8. Analogy: The Haber-Bosch chemical synthesis is like running a bustling neighborhood bakery where raw flour and sugar are</a:t>
            </a:r>
          </a:p>
          <a:p>
            <a:r>
              <a:t>  9. Ammonia is produced industrially by reacting nitrogen and hydrogen over an iron catalyst under high pressure and tempera</a:t>
            </a:r>
          </a:p>
          <a:p/>
          <a:p>
            <a:r>
              <a:t>Pause: ask the class what they already know about “How it works, step by step” before revealing the slide.</a:t>
            </a:r>
          </a:p>
          <a:p/>
          <a:p>
            <a:r>
              <a:t>~75s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Industrial ammonia synthesis relies on optimized compromises in temperature, pressure, and recycling to balance yield, reaction rate, and economic safety.</a:t>
            </a:r>
          </a:p>
          <a:p/>
          <a:p>
            <a:r>
              <a:t>Reveal, one click at a time:</a:t>
            </a:r>
          </a:p>
          <a:p>
            <a:r>
              <a:t>  1. A high pressure favours ammonia because there are fewer gas molecules on the right-hand side.</a:t>
            </a:r>
          </a:p>
          <a:p>
            <a:r>
              <a:t>  2. A low temperature favours the exothermic forward reaction, but it makes the reaction too slow.</a:t>
            </a:r>
          </a:p>
          <a:p>
            <a:r>
              <a:t>  3. The 450 degree compromise gives a yield of about 15 percent per pass, and recycling raises the overall conversion above </a:t>
            </a:r>
          </a:p>
          <a:p>
            <a:r>
              <a:t>  4. Very high pressure would give more ammonia, but thick pipes and powerful compressors make it too expensive and dangerous</a:t>
            </a:r>
          </a:p>
          <a:p>
            <a:r>
              <a:t>  5. Example: Yara International operates its giant ammonia plant in Sluiskil, Netherlands, at a high pressure of around 200 </a:t>
            </a:r>
          </a:p>
          <a:p>
            <a:r>
              <a:t>  6. Analogy: Choosing the temperature for ammonia production is like baking a slow-cooking casserole where you must balance </a:t>
            </a:r>
          </a:p>
          <a:p>
            <a:r>
              <a:t>  7. Industrial ammonia synthesis relies on optimized compromises in temperature, pressure, and recycling to balance yield, r</a:t>
            </a:r>
          </a:p>
          <a:p/>
          <a:p>
            <a:r>
              <a:t>Pause: ask the class what they already know about “Choosing Conditions for Ammonia Production”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Altering pressure, temperature, catalysts, or reactant concentrations dynamically shifts chemical equilibrium and reaction rates.</a:t>
            </a:r>
          </a:p>
          <a:p/>
          <a:p>
            <a:r>
              <a:t>Reveal, one click at a time:</a:t>
            </a:r>
          </a:p>
          <a:p>
            <a:r>
              <a:t>  1. Increasing pressure shifts the equilibrium towards ammonia and increases yield because it favors the side with fewer mol</a:t>
            </a:r>
          </a:p>
          <a:p>
            <a:r>
              <a:t>  2. Increasing temperature shifts it towards the reactants and reduces yield, but speeds up the reaction by providing more t</a:t>
            </a:r>
          </a:p>
          <a:p>
            <a:r>
              <a:t>  3. Adding a catalyst does not change the yield, but it makes equilibrium arrive faster by lowering the activation energy fo</a:t>
            </a:r>
          </a:p>
          <a:p>
            <a:r>
              <a:t>  4. Removing ammonia as it forms pulls the equilibrium to the right because continuously depleting products forces the syste</a:t>
            </a:r>
          </a:p>
          <a:p>
            <a:r>
              <a:t>  5. Increasing pressure shifts the equilibrium towards ammonia and increases yield Increasing temperature shifts it towards </a:t>
            </a:r>
          </a:p>
          <a:p>
            <a:r>
              <a:t>  6. Example: BASF operates giant industrial chemical plants that pump nitrogen and hydrogen gases under extreme pressure to </a:t>
            </a:r>
          </a:p>
          <a:p>
            <a:r>
              <a:t>  7. Analogy: Think of chemical equilibrium under changing conditions as a crowded subway car at rush hour, where increasing </a:t>
            </a:r>
          </a:p>
          <a:p/>
          <a:p>
            <a:r>
              <a:t>Pause: ask the class what they already know about “Effect of Changing Conditions”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 plant feeding 28 tonnes of nitrogen per hour achieves 97 percent overall conversion with recycling to yield about 33 tonnes of ammonia per hour.</a:t>
            </a:r>
          </a:p>
          <a:p/>
          <a:p>
            <a:r>
              <a:t>Reveal, one click at a time:</a:t>
            </a:r>
          </a:p>
          <a:p>
            <a:r>
              <a:t>  1. A plant feeds 28 tonnes of nitrogen per hour into the reactor so that we can calculate the theoretical yield.</a:t>
            </a:r>
          </a:p>
          <a:p>
            <a:r>
              <a:t>  2. One mole of N2 (28 g) gives two moles of NH3 (34 g), so complete conversion would give 34 tonnes of ammonia.</a:t>
            </a:r>
          </a:p>
          <a:p>
            <a:r>
              <a:t>  3. With recycling the plant reaches 97 percent overall conversion, giving about 33 tonnes of ammonia per hour because unrea</a:t>
            </a:r>
          </a:p>
          <a:p>
            <a:r>
              <a:t>  4. Example: Calculating the exact mass of aspirin produced in a pharmaceutical lab by scaling up molar masses from a small </a:t>
            </a:r>
          </a:p>
          <a:p>
            <a:r>
              <a:t>  5. Analogy: A worked example in chemical engineering is like following a completed puzzle on the box lid because it shows y</a:t>
            </a:r>
          </a:p>
          <a:p>
            <a:r>
              <a:t>  6. A plant feeding 28 tonnes of nitrogen per hour achieves 97 percent overall conversion with recycling to yield about 33 t</a:t>
            </a:r>
          </a:p>
          <a:p/>
          <a:p>
            <a:r>
              <a:t>Read these exactly (do not paraphrase):</a:t>
            </a:r>
          </a:p>
          <a:p>
            <a:r>
              <a:t>  - One mole of N2 (28 g) gives two moles of NH3 (34 g), so complete conversion would give 34 tonnes of ammonia.</a:t>
            </a:r>
          </a:p>
          <a:p/>
          <a:p>
            <a:r>
              <a:t>Pause: ask the class what they already know about “A Worked Example” before revealing the slide.</a:t>
            </a:r>
          </a:p>
          <a:p/>
          <a:p>
            <a:r>
              <a:t>~54s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Common chemical reaction misconceptions involve confusing yield with rate, ignoring reversibility, and misjudging temperature trade-offs.</a:t>
            </a:r>
          </a:p>
          <a:p/>
          <a:p>
            <a:r>
              <a:t>Reveal, one click at a time:</a:t>
            </a:r>
          </a:p>
          <a:p>
            <a:r>
              <a:t>  1. Students often make the mistake of thinking a catalyst increases the yield, when in reality it only increases the rate o</a:t>
            </a:r>
          </a:p>
          <a:p>
            <a:r>
              <a:t>  2. You must remember that the reaction is fully reversible, meaning some ammonia always breaks down again instead of stayin</a:t>
            </a:r>
          </a:p>
          <a:p>
            <a:r>
              <a:t>  3. Many mistakenly assume the lowest temperature is best because while the yield is higher, the reaction rate is far too sl</a:t>
            </a:r>
          </a:p>
          <a:p>
            <a:r>
              <a:t>  4. Thinking a catalyst increases the yield: it only increases the rate Forgetting that the reaction is reversible, so some </a:t>
            </a:r>
          </a:p>
          <a:p>
            <a:r>
              <a:t>  5. Analogy: Thinking a catalyst increases the yield is like a store manager thinking that adding more checkout lanes will s</a:t>
            </a:r>
          </a:p>
          <a:p>
            <a:r>
              <a:t>  6. In practice: In chemical manufacturing: Plant operators often miscalculate production quotas by assuming that adding mor</a:t>
            </a:r>
          </a:p>
          <a:p>
            <a:r>
              <a:t>  7. Common chemical reaction misconceptions involve confusing yield with rate, ignoring reversibility, and misjudging temper</a:t>
            </a:r>
          </a:p>
          <a:p/>
          <a:p>
            <a:r>
              <a:t>Pause: ask the class what they already know about “Where People Go Wrong”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Understanding core chemical terms like equilibrium, catalysts, Le Chatelier's principle, and yield is essential for analyzing reaction behavior.</a:t>
            </a:r>
          </a:p>
          <a:p/>
          <a:p>
            <a:r>
              <a:t>Reveal, one click at a time:</a:t>
            </a:r>
          </a:p>
          <a:p>
            <a:r>
              <a:t>  1. Equilibrium is the state where forward and reverse reactions occur at the same rate.</a:t>
            </a:r>
          </a:p>
          <a:p>
            <a:r>
              <a:t>  2. A catalyst is a substance that speeds up a reaction without being used up.</a:t>
            </a:r>
          </a:p>
          <a:p>
            <a:r>
              <a:t>  3. Le Chatelier's principle states that a system at equilibrium shifts to oppose any change imposed on it.</a:t>
            </a:r>
          </a:p>
          <a:p>
            <a:r>
              <a:t>  4. Yield is the amount of product obtained compared with the maximum possible.</a:t>
            </a:r>
          </a:p>
          <a:p>
            <a:r>
              <a:t>  5. Example: In the Haber process for making ammonia, iron acts as a catalyst by speeding up the reaction between nitrogen a</a:t>
            </a:r>
          </a:p>
          <a:p>
            <a:r>
              <a:t>  6. Analogy: A catalyst is like a revolving door at a busy store entrance because it helps people move through the process m</a:t>
            </a:r>
          </a:p>
          <a:p>
            <a:r>
              <a:t>  7. Understanding core chemical terms like equilibrium, catalysts, Le Chatelier's principle, and yield is essential for anal</a:t>
            </a:r>
          </a:p>
          <a:p/>
          <a:p>
            <a:r>
              <a:t>Read these exactly (do not paraphrase):</a:t>
            </a:r>
          </a:p>
          <a:p>
            <a:r>
              <a:t>  - Le Chatelier's principle states that a system at equilibrium shifts to oppose any change imposed on it.</a:t>
            </a:r>
          </a:p>
          <a:p>
            <a:r>
              <a:t>  - Yield is the amount of product obtained compared with the maximum possible.</a:t>
            </a:r>
          </a:p>
          <a:p/>
          <a:p>
            <a:r>
              <a:t>Pause: ask the class what they already know about “Key Terms”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The Haber process balances yield, rate and cost through optimized pressure, temperature, and catalysts.</a:t>
            </a:r>
          </a:p>
          <a:p/>
          <a:p>
            <a:r>
              <a:t>Reveal, one click at a time:</a:t>
            </a:r>
          </a:p>
          <a:p>
            <a:r>
              <a:t>  1. The Haber process balances yield, rate and cost: high pressure and recycling push the yield up, while 450 degrees Celsiu</a:t>
            </a:r>
          </a:p>
          <a:p>
            <a:r>
              <a:t>  2. Example: Yara International operates massive chemical plants that use the Haber process to combine atmospheric nitrogen </a:t>
            </a:r>
          </a:p>
          <a:p>
            <a:r>
              <a:t>  3. Analogy: Think of the Haber process as a bustling bakery running a tight schedule, where the iron catalyst is the master</a:t>
            </a:r>
          </a:p>
          <a:p>
            <a:r>
              <a:t>  4. The Haber process balances yield, rate and cost through optimized pressure, temperature, and catalysts.</a:t>
            </a:r>
          </a:p>
          <a:p/>
          <a:p>
            <a:r>
              <a:t>Pause: ask the class what they already know about “The Haber Process” before revealing the slide.</a:t>
            </a:r>
          </a:p>
          <a:p/>
          <a:p>
            <a:r>
              <a:t>~40s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localhost:8000/api/labs/auto-713a58bb9d21" TargetMode="External"/><Relationship Id="rId4" Type="http://schemas.openxmlformats.org/officeDocument/2006/relationships/image" Target="../media/image2.png"/><Relationship Id="rId5" Type="http://schemas.openxmlformats.org/officeDocument/2006/relationships/hyperlink" Target="http://localhost:8000/api/art/9a066b04be8fa80a1a6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auto-5382d34e99aa" TargetMode="External"/><Relationship Id="rId4" Type="http://schemas.openxmlformats.org/officeDocument/2006/relationships/image" Target="../media/image3.png"/><Relationship Id="rId5" Type="http://schemas.openxmlformats.org/officeDocument/2006/relationships/hyperlink" Target="http://localhost:8000/api/art/901b552d83819a0a0675" TargetMode="External"/><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hyperlink" Target="http://localhost:8000/api/art/cfe97b5d700b611baff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localhost:8000/api/art/940f2ec8c1ce589a8d4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hyperlink" Target="http://localhost:8000/api/art/58cedc1f5061c1ee8dde" TargetMode="External"/><Relationship Id="rId5" Type="http://schemas.openxmlformats.org/officeDocument/2006/relationships/hyperlink" Target="http://localhost:8000/api/labs/auto-43ff6f2bebb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localhost:8000/api/art/a063d9c88a03ec6e2ed3" TargetMode="External"/><Relationship Id="rId5" Type="http://schemas.openxmlformats.org/officeDocument/2006/relationships/hyperlink" Target="http://localhost:8000/api/labs/auto-3ff0c227fec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hyperlink" Target="http://localhost:8000/api/art/5736d37596c735ddc55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localhost:8000/api/art/0c39c58860280c261c7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localhost:8000/api/art/6c6e75b745c555c2ce8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hyperlink" Target="http://localhost:8000/api/art/b9e9eb069d98fcacbbe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hyperlink" Target="http://localhost:8000/api/art/0d99ce42cb0ebc301ea4" TargetMode="External"/><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FFC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557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FFE4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Poppins"/>
              </a:rPr>
              <a:t>The Haber Process</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BBC9F3"/>
                </a:solidFill>
              </a:defRPr>
            </a:pPr>
            <a:r>
              <a:rPr>
                <a:latin typeface="Inter"/>
              </a:rPr>
              <a:t>13 slides  •  made with Learnova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The Haber Process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 / 13</a:t>
            </a:r>
          </a:p>
        </p:txBody>
      </p:sp>
      <p:sp>
        <p:nvSpPr>
          <p:cNvPr id="7" name="Rounded Rectangle 6">
            <a:hlinkClick r:id="rId3"/>
          </p:cNvPr>
          <p:cNvSpPr/>
          <p:nvPr/>
        </p:nvSpPr>
        <p:spPr>
          <a:xfrm>
            <a:off x="3400653" y="6455664"/>
            <a:ext cx="5387644"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Haber Process Stoichiometry Lab</a:t>
            </a:r>
          </a:p>
        </p:txBody>
      </p:sp>
      <p:pic>
        <p:nvPicPr>
          <p:cNvPr id="8" name="Picture 7" descr="image.png">
            <a:hlinkClick r:id="rId5"/>
          </p:cNvPr>
          <p:cNvPicPr>
            <a:picLocks noChangeAspect="1"/>
          </p:cNvPicPr>
          <p:nvPr/>
        </p:nvPicPr>
        <p:blipFill>
          <a:blip r:embed="rId4"/>
          <a:stretch>
            <a:fillRect/>
          </a:stretch>
        </p:blipFill>
        <p:spPr>
          <a:xfrm>
            <a:off x="8409432" y="1298448"/>
            <a:ext cx="3322320" cy="3986784"/>
          </a:xfrm>
          <a:prstGeom prst="rect">
            <a:avLst/>
          </a:prstGeom>
        </p:spPr>
      </p:pic>
      <p:sp>
        <p:nvSpPr>
          <p:cNvPr id="9" name="Rounded Rectangle 8"/>
          <p:cNvSpPr/>
          <p:nvPr/>
        </p:nvSpPr>
        <p:spPr>
          <a:xfrm>
            <a:off x="457200" y="1298448"/>
            <a:ext cx="7751064" cy="2349827"/>
          </a:xfrm>
          <a:prstGeom prst="roundRect">
            <a:avLst>
              <a:gd name="adj" fmla="val 8560"/>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99616"/>
            <a:ext cx="91440" cy="1947491"/>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499616"/>
            <a:ext cx="7165848" cy="1947491"/>
          </a:xfrm>
          <a:prstGeom prst="rect">
            <a:avLst/>
          </a:prstGeom>
          <a:noFill/>
        </p:spPr>
        <p:txBody>
          <a:bodyPr wrap="square" anchor="ctr" lIns="0" tIns="0" rIns="0" bIns="0">
            <a:spAutoFit/>
          </a:bodyPr>
          <a:lstStyle/>
          <a:p>
            <a:pPr algn="l"/>
            <a:r>
              <a:rPr sz="4420" b="1">
                <a:solidFill>
                  <a:srgbClr val="1D4ED8"/>
                </a:solidFill>
                <a:latin typeface="Poppins"/>
              </a:rPr>
              <a:t>The Haber Process</a:t>
            </a:r>
          </a:p>
          <a:p>
            <a:pPr algn="l">
              <a:spcBef>
                <a:spcPts val="800"/>
              </a:spcBef>
            </a:pPr>
            <a:r>
              <a:rPr sz="2600" b="0">
                <a:solidFill>
                  <a:srgbClr val="0F172A"/>
                </a:solidFill>
                <a:latin typeface="Poppins"/>
              </a:rPr>
              <a:t>The industrial method for making ammonia from nitrogen and hydrogen.</a:t>
            </a:r>
          </a:p>
        </p:txBody>
      </p:sp>
      <p:sp>
        <p:nvSpPr>
          <p:cNvPr id="12" name="Rounded Rectangle 11"/>
          <p:cNvSpPr/>
          <p:nvPr/>
        </p:nvSpPr>
        <p:spPr>
          <a:xfrm>
            <a:off x="457200" y="3849443"/>
            <a:ext cx="3774947" cy="1435788"/>
          </a:xfrm>
          <a:prstGeom prst="roundRect">
            <a:avLst>
              <a:gd name="adj" fmla="val 9807"/>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50611"/>
            <a:ext cx="3372611" cy="1033452"/>
          </a:xfrm>
          <a:prstGeom prst="rect">
            <a:avLst/>
          </a:prstGeom>
          <a:noFill/>
        </p:spPr>
        <p:txBody>
          <a:bodyPr wrap="square" anchor="ctr" lIns="0" tIns="0" rIns="0" bIns="0">
            <a:spAutoFit/>
          </a:bodyPr>
          <a:lstStyle/>
          <a:p>
            <a:pPr algn="l"/>
            <a:r>
              <a:rPr sz="1800" b="0">
                <a:solidFill>
                  <a:srgbClr val="0F172A"/>
                </a:solidFill>
                <a:latin typeface="Inter"/>
              </a:rPr>
              <a:t>Ammonia is the main ingredient of nitrogen fertilisers</a:t>
            </a:r>
          </a:p>
        </p:txBody>
      </p:sp>
      <p:sp>
        <p:nvSpPr>
          <p:cNvPr id="14" name="Rounded Rectangle 13"/>
          <p:cNvSpPr/>
          <p:nvPr/>
        </p:nvSpPr>
        <p:spPr>
          <a:xfrm>
            <a:off x="4433315" y="3849443"/>
            <a:ext cx="3774947" cy="1435788"/>
          </a:xfrm>
          <a:prstGeom prst="roundRect">
            <a:avLst>
              <a:gd name="adj" fmla="val 9807"/>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4483" y="4050611"/>
            <a:ext cx="3372611" cy="1033452"/>
          </a:xfrm>
          <a:prstGeom prst="rect">
            <a:avLst/>
          </a:prstGeom>
          <a:noFill/>
        </p:spPr>
        <p:txBody>
          <a:bodyPr wrap="square" anchor="ctr" lIns="0" tIns="0" rIns="0" bIns="0">
            <a:spAutoFit/>
          </a:bodyPr>
          <a:lstStyle/>
          <a:p>
            <a:pPr algn="l"/>
            <a:r>
              <a:rPr sz="1800" b="0">
                <a:solidFill>
                  <a:srgbClr val="0F172A"/>
                </a:solidFill>
                <a:latin typeface="Inter"/>
              </a:rPr>
              <a:t>Feeds roughly half of the world's population</a:t>
            </a:r>
          </a:p>
        </p:txBody>
      </p:sp>
      <p:sp>
        <p:nvSpPr>
          <p:cNvPr id="16" name="Rounded Rectangle 15"/>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The Haber process synthesizes liquid ammonia from atmospheric nitrogen and natural gas-derived hydrogen to feed half the world.</a:t>
            </a:r>
          </a:p>
        </p:txBody>
      </p:sp>
      <p:sp>
        <p:nvSpPr>
          <p:cNvPr id="17" name="Rectangle 16"/>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Why it matters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 / 13</a:t>
            </a:r>
          </a:p>
        </p:txBody>
      </p:sp>
      <p:sp>
        <p:nvSpPr>
          <p:cNvPr id="7" name="Rounded Rectangle 6">
            <a:hlinkClick r:id="rId3"/>
          </p:cNvPr>
          <p:cNvSpPr/>
          <p:nvPr/>
        </p:nvSpPr>
        <p:spPr>
          <a:xfrm>
            <a:off x="3722522" y="6455664"/>
            <a:ext cx="4743907"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Haber-Bosch Process Lab</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1037659"/>
          </a:xfrm>
          <a:prstGeom prst="roundRect">
            <a:avLst>
              <a:gd name="adj" fmla="val 1357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33813"/>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647199"/>
            <a:ext cx="340156" cy="340156"/>
          </a:xfrm>
          <a:prstGeom prst="rect">
            <a:avLst/>
          </a:prstGeom>
        </p:spPr>
      </p:pic>
      <p:sp>
        <p:nvSpPr>
          <p:cNvPr id="12" name="TextBox 11"/>
          <p:cNvSpPr txBox="1"/>
          <p:nvPr/>
        </p:nvSpPr>
        <p:spPr>
          <a:xfrm>
            <a:off x="1408175" y="1371600"/>
            <a:ext cx="2689250" cy="891355"/>
          </a:xfrm>
          <a:prstGeom prst="rect">
            <a:avLst/>
          </a:prstGeom>
          <a:noFill/>
        </p:spPr>
        <p:txBody>
          <a:bodyPr wrap="square" anchor="ctr" lIns="0" tIns="0" rIns="0" bIns="0">
            <a:spAutoFit/>
          </a:bodyPr>
          <a:lstStyle/>
          <a:p>
            <a:pPr algn="l"/>
            <a:r>
              <a:rPr sz="1440" b="1">
                <a:solidFill>
                  <a:srgbClr val="1D4ED8"/>
                </a:solidFill>
                <a:latin typeface="Poppins"/>
              </a:rPr>
              <a:t>Plant Nutrition</a:t>
            </a:r>
          </a:p>
          <a:p>
            <a:pPr algn="l">
              <a:spcBef>
                <a:spcPts val="500"/>
              </a:spcBef>
            </a:pPr>
            <a:r>
              <a:rPr sz="1200" b="0">
                <a:solidFill>
                  <a:srgbClr val="0F172A"/>
                </a:solidFill>
                <a:latin typeface="Inter"/>
              </a:rPr>
              <a:t>Plants need nitrogen to build proteins, but they cannot use the nitrogen gas in air.</a:t>
            </a:r>
          </a:p>
        </p:txBody>
      </p:sp>
      <p:sp>
        <p:nvSpPr>
          <p:cNvPr id="13" name="Rounded Rectangle 12"/>
          <p:cNvSpPr/>
          <p:nvPr/>
        </p:nvSpPr>
        <p:spPr>
          <a:xfrm>
            <a:off x="4499762" y="1298448"/>
            <a:ext cx="3841394" cy="1037659"/>
          </a:xfrm>
          <a:prstGeom prst="roundRect">
            <a:avLst>
              <a:gd name="adj" fmla="val 1357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533813"/>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647199"/>
            <a:ext cx="340156" cy="340156"/>
          </a:xfrm>
          <a:prstGeom prst="rect">
            <a:avLst/>
          </a:prstGeom>
        </p:spPr>
      </p:pic>
      <p:sp>
        <p:nvSpPr>
          <p:cNvPr id="16" name="TextBox 15"/>
          <p:cNvSpPr txBox="1"/>
          <p:nvPr/>
        </p:nvSpPr>
        <p:spPr>
          <a:xfrm>
            <a:off x="5450738" y="1371600"/>
            <a:ext cx="2689250" cy="891355"/>
          </a:xfrm>
          <a:prstGeom prst="rect">
            <a:avLst/>
          </a:prstGeom>
          <a:noFill/>
        </p:spPr>
        <p:txBody>
          <a:bodyPr wrap="square" anchor="ctr" lIns="0" tIns="0" rIns="0" bIns="0">
            <a:spAutoFit/>
          </a:bodyPr>
          <a:lstStyle/>
          <a:p>
            <a:pPr algn="l"/>
            <a:r>
              <a:rPr sz="1440" b="1">
                <a:solidFill>
                  <a:srgbClr val="1D4ED8"/>
                </a:solidFill>
                <a:latin typeface="Poppins"/>
              </a:rPr>
              <a:t>Historical Context</a:t>
            </a:r>
          </a:p>
          <a:p>
            <a:pPr algn="l">
              <a:spcBef>
                <a:spcPts val="500"/>
              </a:spcBef>
            </a:pPr>
            <a:r>
              <a:rPr sz="1200" b="0">
                <a:solidFill>
                  <a:srgbClr val="0F172A"/>
                </a:solidFill>
                <a:latin typeface="Inter"/>
              </a:rPr>
              <a:t>Before 1913 fertiliser came from guano and saltpetre, which were running out.</a:t>
            </a:r>
          </a:p>
        </p:txBody>
      </p:sp>
      <p:sp>
        <p:nvSpPr>
          <p:cNvPr id="17" name="Rounded Rectangle 16"/>
          <p:cNvSpPr/>
          <p:nvPr/>
        </p:nvSpPr>
        <p:spPr>
          <a:xfrm>
            <a:off x="457200" y="2537275"/>
            <a:ext cx="7883956" cy="1037659"/>
          </a:xfrm>
          <a:prstGeom prst="roundRect">
            <a:avLst>
              <a:gd name="adj" fmla="val 1357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772640"/>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2886026"/>
            <a:ext cx="340156" cy="340156"/>
          </a:xfrm>
          <a:prstGeom prst="rect">
            <a:avLst/>
          </a:prstGeom>
        </p:spPr>
      </p:pic>
      <p:sp>
        <p:nvSpPr>
          <p:cNvPr id="20" name="TextBox 19"/>
          <p:cNvSpPr txBox="1"/>
          <p:nvPr/>
        </p:nvSpPr>
        <p:spPr>
          <a:xfrm>
            <a:off x="1408175" y="2610427"/>
            <a:ext cx="6731812" cy="891355"/>
          </a:xfrm>
          <a:prstGeom prst="rect">
            <a:avLst/>
          </a:prstGeom>
          <a:noFill/>
        </p:spPr>
        <p:txBody>
          <a:bodyPr wrap="square" anchor="ctr" lIns="0" tIns="0" rIns="0" bIns="0">
            <a:spAutoFit/>
          </a:bodyPr>
          <a:lstStyle/>
          <a:p>
            <a:pPr algn="l"/>
            <a:r>
              <a:rPr sz="1440" b="1">
                <a:solidFill>
                  <a:srgbClr val="1D4ED8"/>
                </a:solidFill>
                <a:latin typeface="Poppins"/>
              </a:rPr>
              <a:t>Pioneers &amp; Scale</a:t>
            </a:r>
          </a:p>
          <a:p>
            <a:pPr algn="l">
              <a:spcBef>
                <a:spcPts val="500"/>
              </a:spcBef>
            </a:pPr>
            <a:r>
              <a:rPr sz="1200" b="0">
                <a:solidFill>
                  <a:srgbClr val="0F172A"/>
                </a:solidFill>
                <a:latin typeface="Inter"/>
              </a:rPr>
              <a:t>Fritz Haber found the chemistry and Carl Bosch scaled it into a plant, producing about 150 million tonnes of ammonia every year today.</a:t>
            </a:r>
          </a:p>
        </p:txBody>
      </p:sp>
      <p:sp>
        <p:nvSpPr>
          <p:cNvPr id="21" name="Rounded Rectangle 20"/>
          <p:cNvSpPr/>
          <p:nvPr/>
        </p:nvSpPr>
        <p:spPr>
          <a:xfrm>
            <a:off x="457200" y="3776102"/>
            <a:ext cx="7883956" cy="1509129"/>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76102"/>
            <a:ext cx="73152" cy="15091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D4ED8"/>
                </a:solidFill>
                <a:latin typeface="Poppins"/>
              </a:rPr>
              <a:t>ALSO ON THIS SLIDE</a:t>
            </a:r>
          </a:p>
          <a:p>
            <a:pPr algn="l">
              <a:spcBef>
                <a:spcPts val="300"/>
              </a:spcBef>
            </a:pPr>
            <a:r>
              <a:rPr sz="1300" b="0">
                <a:solidFill>
                  <a:srgbClr val="0F172A"/>
                </a:solidFill>
                <a:latin typeface="Inter"/>
              </a:rPr>
              <a:t>Example: Before 1913, nations fought over South American islands just to mine bird droppings, known as guano, for agricultural fertiliser. Analogy: The Haber-Bosch process for making fertilizer is like a global kitchen because it takes raw, inedible ingredients straight from the air and cooks them into the massive amounts of food needed to feed billions of people.</a:t>
            </a:r>
          </a:p>
        </p:txBody>
      </p:sp>
      <p:sp>
        <p:nvSpPr>
          <p:cNvPr id="24" name="Rounded Rectangle 2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The Haber-Bosch process produces roughly 150 million tonnes of ammonia annually to sustain global agricultural food production.</a:t>
            </a:r>
          </a:p>
        </p:txBody>
      </p:sp>
      <p:sp>
        <p:nvSpPr>
          <p:cNvPr id="25" name="Rectangle 2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5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The core ideas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 / 13</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TextBox 7"/>
          <p:cNvSpPr txBox="1"/>
          <p:nvPr/>
        </p:nvSpPr>
        <p:spPr>
          <a:xfrm>
            <a:off x="457200" y="1298448"/>
            <a:ext cx="7751064" cy="365760"/>
          </a:xfrm>
          <a:prstGeom prst="rect">
            <a:avLst/>
          </a:prstGeom>
          <a:noFill/>
        </p:spPr>
        <p:txBody>
          <a:bodyPr wrap="square" anchor="ctr" lIns="0" tIns="0" rIns="0" bIns="0">
            <a:spAutoFit/>
          </a:bodyPr>
          <a:lstStyle/>
          <a:p>
            <a:pPr algn="l"/>
            <a:r>
              <a:rPr sz="1500" b="1">
                <a:solidFill>
                  <a:srgbClr val="1D4ED8"/>
                </a:solidFill>
                <a:latin typeface="Poppins"/>
              </a:rPr>
              <a:t>THE CORE IDEAS</a:t>
            </a:r>
          </a:p>
        </p:txBody>
      </p:sp>
      <p:sp>
        <p:nvSpPr>
          <p:cNvPr id="9" name="TextBox 8"/>
          <p:cNvSpPr txBox="1"/>
          <p:nvPr/>
        </p:nvSpPr>
        <p:spPr>
          <a:xfrm>
            <a:off x="457200" y="1847088"/>
            <a:ext cx="7751064" cy="813816"/>
          </a:xfrm>
          <a:prstGeom prst="rect">
            <a:avLst/>
          </a:prstGeom>
          <a:noFill/>
        </p:spPr>
        <p:txBody>
          <a:bodyPr wrap="square" anchor="t" lIns="0" tIns="0" rIns="0" bIns="0">
            <a:spAutoFit/>
          </a:bodyPr>
          <a:lstStyle/>
          <a:p>
            <a:pPr algn="l"/>
            <a:r>
              <a:rPr sz="2400" b="0">
                <a:solidFill>
                  <a:srgbClr val="0F172A"/>
                </a:solidFill>
                <a:latin typeface="Poppins"/>
              </a:rPr>
              <a:t>High pressure and recycling raise the yield; an iron catalyst raises the rate</a:t>
            </a:r>
          </a:p>
        </p:txBody>
      </p:sp>
      <p:sp>
        <p:nvSpPr>
          <p:cNvPr id="10" name="TextBox 9"/>
          <p:cNvSpPr txBox="1"/>
          <p:nvPr/>
        </p:nvSpPr>
        <p:spPr>
          <a:xfrm>
            <a:off x="457200" y="2843784"/>
            <a:ext cx="7751064" cy="274320"/>
          </a:xfrm>
          <a:prstGeom prst="rect">
            <a:avLst/>
          </a:prstGeom>
          <a:noFill/>
        </p:spPr>
        <p:txBody>
          <a:bodyPr wrap="square" anchor="b" lIns="0" tIns="0" rIns="0" bIns="0">
            <a:spAutoFit/>
          </a:bodyPr>
          <a:lstStyle/>
          <a:p>
            <a:pPr algn="l"/>
            <a:r>
              <a:rPr sz="1200" b="1">
                <a:solidFill>
                  <a:srgbClr val="475569"/>
                </a:solidFill>
                <a:latin typeface="Poppins"/>
              </a:rPr>
              <a:t>THE REACTION IS , REVERSIBLE AND EXOTHERMIC</a:t>
            </a:r>
          </a:p>
        </p:txBody>
      </p:sp>
      <p:sp>
        <p:nvSpPr>
          <p:cNvPr id="11" name="Rounded Rectangle 10"/>
          <p:cNvSpPr/>
          <p:nvPr/>
        </p:nvSpPr>
        <p:spPr>
          <a:xfrm>
            <a:off x="457200" y="3209544"/>
            <a:ext cx="7751064" cy="1280160"/>
          </a:xfrm>
          <a:prstGeom prst="roundRect">
            <a:avLst>
              <a:gd name="adj" fmla="val 10714"/>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a:r>
              <a:rPr sz="4800" b="1">
                <a:solidFill>
                  <a:srgbClr val="FFFFFF"/>
                </a:solidFill>
                <a:latin typeface="Poppins"/>
              </a:rPr>
              <a:t>N</a:t>
            </a:r>
            <a:r>
              <a:rPr sz="4800" b="1" baseline="-25000">
                <a:solidFill>
                  <a:srgbClr val="FFFFFF"/>
                </a:solidFill>
                <a:latin typeface="Poppins"/>
              </a:rPr>
              <a:t>2</a:t>
            </a:r>
            <a:r>
              <a:rPr sz="4800" b="1">
                <a:solidFill>
                  <a:srgbClr val="FFFFFF"/>
                </a:solidFill>
                <a:latin typeface="Poppins"/>
              </a:rPr>
              <a:t> + 3H</a:t>
            </a:r>
            <a:r>
              <a:rPr sz="4800" b="1" baseline="-25000">
                <a:solidFill>
                  <a:srgbClr val="FFFFFF"/>
                </a:solidFill>
                <a:latin typeface="Poppins"/>
              </a:rPr>
              <a:t>2</a:t>
            </a:r>
            <a:r>
              <a:rPr sz="4800" b="1">
                <a:solidFill>
                  <a:srgbClr val="FFFFFF"/>
                </a:solidFill>
                <a:latin typeface="Poppins"/>
              </a:rPr>
              <a:t> ⇌ 2NH</a:t>
            </a:r>
            <a:r>
              <a:rPr sz="4800" b="1" baseline="-25000">
                <a:solidFill>
                  <a:srgbClr val="FFFFFF"/>
                </a:solidFill>
                <a:latin typeface="Poppins"/>
              </a:rPr>
              <a:t>3</a:t>
            </a:r>
          </a:p>
        </p:txBody>
      </p:sp>
      <p:sp>
        <p:nvSpPr>
          <p:cNvPr id="12" name="TextBox 11"/>
          <p:cNvSpPr txBox="1"/>
          <p:nvPr/>
        </p:nvSpPr>
        <p:spPr>
          <a:xfrm>
            <a:off x="457200" y="4672584"/>
            <a:ext cx="7751064" cy="1452372"/>
          </a:xfrm>
          <a:prstGeom prst="rect">
            <a:avLst/>
          </a:prstGeom>
          <a:noFill/>
        </p:spPr>
        <p:txBody>
          <a:bodyPr wrap="square" anchor="t" lIns="0" tIns="0" rIns="0" bIns="0">
            <a:spAutoFit/>
          </a:bodyPr>
          <a:lstStyle/>
          <a:p>
            <a:pPr algn="l" marL="256032" indent="-256032" lvl="0">
              <a:buClr>
                <a:srgbClr val="FFC93C"/>
              </a:buClr>
              <a:buFont typeface="Arial"/>
              <a:buChar char="•"/>
            </a:pPr>
            <a:r>
              <a:rPr sz="1100" b="0">
                <a:solidFill>
                  <a:srgbClr val="0F172A"/>
                </a:solidFill>
                <a:latin typeface="Inter"/>
              </a:rPr>
              <a:t>450 degrees Celsius is a compromise between yield and speed</a:t>
            </a:r>
          </a:p>
          <a:p>
            <a:pPr algn="l" marL="256032" indent="-256032" lvl="0">
              <a:spcBef>
                <a:spcPts val="800"/>
              </a:spcBef>
              <a:buClr>
                <a:srgbClr val="FFC93C"/>
              </a:buClr>
              <a:buFont typeface="Arial"/>
              <a:buChar char="•"/>
            </a:pPr>
            <a:r>
              <a:rPr sz="1100" b="0">
                <a:solidFill>
                  <a:srgbClr val="0F172A"/>
                </a:solidFill>
                <a:latin typeface="Inter"/>
              </a:rPr>
              <a:t>Le Chatelier's principle predicts how each change shifts the equilibrium</a:t>
            </a:r>
          </a:p>
          <a:p>
            <a:pPr algn="l" marL="256032" indent="-256032" lvl="0">
              <a:spcBef>
                <a:spcPts val="800"/>
              </a:spcBef>
              <a:buClr>
                <a:srgbClr val="FFC93C"/>
              </a:buClr>
              <a:buFont typeface="Arial"/>
              <a:buChar char="•"/>
            </a:pPr>
            <a:r>
              <a:rPr sz="1100" b="0">
                <a:solidFill>
                  <a:srgbClr val="0F172A"/>
                </a:solidFill>
                <a:latin typeface="Inter"/>
              </a:rPr>
              <a:t>The chemical reaction is represented as N2 + 3H2 &lt;-&gt; 2NH3, which is both reversible and exothermic in nature</a:t>
            </a:r>
          </a:p>
          <a:p>
            <a:pPr algn="l" marL="256032" indent="-256032" lvl="0">
              <a:spcBef>
                <a:spcPts val="800"/>
              </a:spcBef>
              <a:buClr>
                <a:srgbClr val="FFC93C"/>
              </a:buClr>
              <a:buFont typeface="Arial"/>
              <a:buChar char="•"/>
            </a:pPr>
            <a:r>
              <a:rPr sz="1100" b="0">
                <a:solidFill>
                  <a:srgbClr val="0F172A"/>
                </a:solidFill>
                <a:latin typeface="Inter"/>
              </a:rPr>
              <a:t>High operating pressure and continuous recycling significantly raise the overall yield, while an iron catalyst effectively raises the reaction rate</a:t>
            </a:r>
          </a:p>
        </p:txBody>
      </p:sp>
      <p:sp>
        <p:nvSpPr>
          <p:cNvPr id="13" name="Rounded Rectangle 12"/>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The reaction uses 450 degrees Celsius, high pressure, and an iron catalyst to balance yield, rate, and equilibrium.</a:t>
            </a:r>
          </a:p>
        </p:txBody>
      </p:sp>
      <p:sp>
        <p:nvSpPr>
          <p:cNvPr id="14" name="Rectangle 13"/>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The reaction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4 / 13</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TextBox 7"/>
          <p:cNvSpPr txBox="1"/>
          <p:nvPr/>
        </p:nvSpPr>
        <p:spPr>
          <a:xfrm>
            <a:off x="457200" y="1298448"/>
            <a:ext cx="7883956" cy="365760"/>
          </a:xfrm>
          <a:prstGeom prst="rect">
            <a:avLst/>
          </a:prstGeom>
          <a:noFill/>
        </p:spPr>
        <p:txBody>
          <a:bodyPr wrap="square" anchor="ctr" lIns="0" tIns="0" rIns="0" bIns="0">
            <a:spAutoFit/>
          </a:bodyPr>
          <a:lstStyle/>
          <a:p>
            <a:pPr algn="l"/>
            <a:r>
              <a:rPr sz="1500" b="1">
                <a:solidFill>
                  <a:srgbClr val="1D4ED8"/>
                </a:solidFill>
                <a:latin typeface="Poppins"/>
              </a:rPr>
              <a:t>THE REACTION</a:t>
            </a:r>
          </a:p>
        </p:txBody>
      </p:sp>
      <p:sp>
        <p:nvSpPr>
          <p:cNvPr id="9" name="TextBox 8"/>
          <p:cNvSpPr txBox="1"/>
          <p:nvPr/>
        </p:nvSpPr>
        <p:spPr>
          <a:xfrm>
            <a:off x="457200" y="1847088"/>
            <a:ext cx="7883956" cy="765810"/>
          </a:xfrm>
          <a:prstGeom prst="rect">
            <a:avLst/>
          </a:prstGeom>
          <a:noFill/>
        </p:spPr>
        <p:txBody>
          <a:bodyPr wrap="square" anchor="t" lIns="0" tIns="0" rIns="0" bIns="0">
            <a:spAutoFit/>
          </a:bodyPr>
          <a:lstStyle/>
          <a:p>
            <a:pPr algn="l"/>
            <a:r>
              <a:rPr sz="2250" b="0">
                <a:solidFill>
                  <a:srgbClr val="0F172A"/>
                </a:solidFill>
                <a:latin typeface="Inter"/>
              </a:rPr>
              <a:t>It is reversible and exothermic, which means it releases 92 kJ of heat per mole of nitrogen converted</a:t>
            </a:r>
          </a:p>
        </p:txBody>
      </p:sp>
      <p:sp>
        <p:nvSpPr>
          <p:cNvPr id="10" name="Rounded Rectangle 9"/>
          <p:cNvSpPr/>
          <p:nvPr/>
        </p:nvSpPr>
        <p:spPr>
          <a:xfrm>
            <a:off x="457200" y="2795778"/>
            <a:ext cx="7883956" cy="1281430"/>
          </a:xfrm>
          <a:prstGeom prst="roundRect">
            <a:avLst>
              <a:gd name="adj" fmla="val 10703"/>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a:r>
              <a:rPr sz="4800" b="1">
                <a:solidFill>
                  <a:srgbClr val="FFFFFF"/>
                </a:solidFill>
                <a:latin typeface="Poppins"/>
              </a:rPr>
              <a:t>N</a:t>
            </a:r>
            <a:r>
              <a:rPr sz="4800" b="1" baseline="-25000">
                <a:solidFill>
                  <a:srgbClr val="FFFFFF"/>
                </a:solidFill>
                <a:latin typeface="Poppins"/>
              </a:rPr>
              <a:t>2</a:t>
            </a:r>
            <a:r>
              <a:rPr sz="4800" b="1">
                <a:solidFill>
                  <a:srgbClr val="FFFFFF"/>
                </a:solidFill>
                <a:latin typeface="Poppins"/>
              </a:rPr>
              <a:t> + 3H</a:t>
            </a:r>
            <a:r>
              <a:rPr sz="4800" b="1" baseline="-25000">
                <a:solidFill>
                  <a:srgbClr val="FFFFFF"/>
                </a:solidFill>
                <a:latin typeface="Poppins"/>
              </a:rPr>
              <a:t>2</a:t>
            </a:r>
            <a:r>
              <a:rPr sz="4800" b="1">
                <a:solidFill>
                  <a:srgbClr val="FFFFFF"/>
                </a:solidFill>
                <a:latin typeface="Poppins"/>
              </a:rPr>
              <a:t> ⇌ 2NH</a:t>
            </a:r>
            <a:r>
              <a:rPr sz="4800" b="1" baseline="-25000">
                <a:solidFill>
                  <a:srgbClr val="FFFFFF"/>
                </a:solidFill>
                <a:latin typeface="Poppins"/>
              </a:rPr>
              <a:t>3</a:t>
            </a:r>
          </a:p>
        </p:txBody>
      </p:sp>
      <p:sp>
        <p:nvSpPr>
          <p:cNvPr id="11" name="TextBox 10"/>
          <p:cNvSpPr txBox="1"/>
          <p:nvPr/>
        </p:nvSpPr>
        <p:spPr>
          <a:xfrm>
            <a:off x="457200" y="4260088"/>
            <a:ext cx="7883956" cy="1025144"/>
          </a:xfrm>
          <a:prstGeom prst="rect">
            <a:avLst/>
          </a:prstGeom>
          <a:noFill/>
        </p:spPr>
        <p:txBody>
          <a:bodyPr wrap="square" anchor="t" lIns="0" tIns="0" rIns="0" bIns="0">
            <a:spAutoFit/>
          </a:bodyPr>
          <a:lstStyle/>
          <a:p>
            <a:pPr algn="l" marL="256032" indent="-256032" lvl="0">
              <a:buClr>
                <a:srgbClr val="FFC93C"/>
              </a:buClr>
              <a:buFont typeface="Arial"/>
              <a:buChar char="•"/>
            </a:pPr>
            <a:r>
              <a:rPr sz="1300" b="0">
                <a:solidFill>
                  <a:srgbClr val="0F172A"/>
                </a:solidFill>
                <a:latin typeface="Inter"/>
              </a:rPr>
              <a:t>Because it is reversible, the mixture never converts completely, so the plant has to choose conditions that give a good yield at a useful rate</a:t>
            </a:r>
          </a:p>
          <a:p>
            <a:pPr algn="l" marL="256032" indent="-256032" lvl="0">
              <a:spcBef>
                <a:spcPts val="800"/>
              </a:spcBef>
              <a:buClr>
                <a:srgbClr val="FFC93C"/>
              </a:buClr>
              <a:buFont typeface="Arial"/>
              <a:buChar char="•"/>
            </a:pPr>
            <a:r>
              <a:rPr sz="1300" b="0">
                <a:solidFill>
                  <a:srgbClr val="0F172A"/>
                </a:solidFill>
                <a:latin typeface="Inter"/>
              </a:rPr>
              <a:t>The chemical reaction equation is N2 + 3H2 &lt;-&gt; 2NH3, showing how nitrogen and hydrogen combine to form ammonia</a:t>
            </a:r>
          </a:p>
        </p:txBody>
      </p:sp>
      <p:sp>
        <p:nvSpPr>
          <p:cNvPr id="12" name="Rounded Rectangle 11"/>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The reversible exothermic reaction releases 92 kJ of heat per mole of nitrogen converted into ammonia.</a:t>
            </a:r>
          </a:p>
        </p:txBody>
      </p:sp>
      <p:sp>
        <p:nvSpPr>
          <p:cNvPr id="13" name="Rectangle 12"/>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5 / 13</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APPLY</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1D4ED8"/>
                </a:solidFill>
                <a:latin typeface="Poppins"/>
              </a:rPr>
              <a:t>Which expression gives The reaction?</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The reaction</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Choosing Conditions for Ammonia</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N₂ × 3H₂ ⇌ 2NH₃</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N₂ + 3H₂ ⇌ 2NH₃</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D</a:t>
            </a:r>
          </a:p>
          <a:p>
            <a:pPr algn="l">
              <a:spcBef>
                <a:spcPts val="200"/>
              </a:spcBef>
            </a:pPr>
            <a:r>
              <a:rPr sz="1600" b="0">
                <a:solidFill>
                  <a:srgbClr val="FFFFFF"/>
                </a:solidFill>
                <a:latin typeface="Inter"/>
              </a:rPr>
              <a:t>N₂ + 3H₂ ⇌ 2NH₃</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How it works, step by step</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6 / 13</a:t>
            </a:r>
          </a:p>
        </p:txBody>
      </p:sp>
      <p:sp>
        <p:nvSpPr>
          <p:cNvPr id="8" name="Rounded Rectangle 7">
            <a:hlinkClick r:id="rId5"/>
          </p:cNvPr>
          <p:cNvSpPr/>
          <p:nvPr/>
        </p:nvSpPr>
        <p:spPr>
          <a:xfrm>
            <a:off x="3642055" y="6455664"/>
            <a:ext cx="4904841"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Haber-Bosch Synthesis Lab</a:t>
            </a:r>
          </a:p>
        </p:txBody>
      </p:sp>
      <p:sp>
        <p:nvSpPr>
          <p:cNvPr id="9" name="Rounded Rectangle 8"/>
          <p:cNvSpPr/>
          <p:nvPr/>
        </p:nvSpPr>
        <p:spPr>
          <a:xfrm>
            <a:off x="457200" y="1298448"/>
            <a:ext cx="3502152" cy="1136513"/>
          </a:xfrm>
          <a:prstGeom prst="roundRect">
            <a:avLst>
              <a:gd name="adj" fmla="val 123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38104"/>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1" name="TextBox 10"/>
          <p:cNvSpPr txBox="1"/>
          <p:nvPr/>
        </p:nvSpPr>
        <p:spPr>
          <a:xfrm>
            <a:off x="1280160" y="1499616"/>
            <a:ext cx="2478024" cy="734177"/>
          </a:xfrm>
          <a:prstGeom prst="rect">
            <a:avLst/>
          </a:prstGeom>
          <a:noFill/>
        </p:spPr>
        <p:txBody>
          <a:bodyPr wrap="square" anchor="ctr" lIns="0" tIns="0" rIns="0" bIns="0">
            <a:spAutoFit/>
          </a:bodyPr>
          <a:lstStyle/>
          <a:p>
            <a:pPr algn="l"/>
            <a:r>
              <a:rPr sz="1260" b="1">
                <a:solidFill>
                  <a:srgbClr val="1D4ED8"/>
                </a:solidFill>
                <a:latin typeface="Poppins"/>
              </a:rPr>
              <a:t>Nitrogen taken from the air</a:t>
            </a:r>
          </a:p>
          <a:p>
            <a:pPr algn="l">
              <a:spcBef>
                <a:spcPts val="500"/>
              </a:spcBef>
            </a:pPr>
            <a:r>
              <a:rPr sz="1050" b="0">
                <a:solidFill>
                  <a:srgbClr val="0F172A"/>
                </a:solidFill>
                <a:latin typeface="Inter"/>
              </a:rPr>
              <a:t>Nitrogen is taken from the air and hydrogen is made from natural gas</a:t>
            </a:r>
          </a:p>
        </p:txBody>
      </p:sp>
      <p:sp>
        <p:nvSpPr>
          <p:cNvPr id="12" name="Right Arrow 11"/>
          <p:cNvSpPr/>
          <p:nvPr/>
        </p:nvSpPr>
        <p:spPr>
          <a:xfrm>
            <a:off x="4014215" y="1711256"/>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298448"/>
            <a:ext cx="3502152" cy="1136513"/>
          </a:xfrm>
          <a:prstGeom prst="roundRect">
            <a:avLst>
              <a:gd name="adj" fmla="val 123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1638104"/>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5" name="TextBox 14"/>
          <p:cNvSpPr txBox="1"/>
          <p:nvPr/>
        </p:nvSpPr>
        <p:spPr>
          <a:xfrm>
            <a:off x="5166359" y="1499616"/>
            <a:ext cx="2478024" cy="734177"/>
          </a:xfrm>
          <a:prstGeom prst="rect">
            <a:avLst/>
          </a:prstGeom>
          <a:noFill/>
        </p:spPr>
        <p:txBody>
          <a:bodyPr wrap="square" anchor="ctr" lIns="0" tIns="0" rIns="0" bIns="0">
            <a:spAutoFit/>
          </a:bodyPr>
          <a:lstStyle/>
          <a:p>
            <a:pPr algn="l"/>
            <a:r>
              <a:rPr sz="1260" b="1">
                <a:solidFill>
                  <a:srgbClr val="1D4ED8"/>
                </a:solidFill>
                <a:latin typeface="Poppins"/>
              </a:rPr>
              <a:t>Gases mixed in a 1</a:t>
            </a:r>
          </a:p>
          <a:p>
            <a:pPr algn="l">
              <a:spcBef>
                <a:spcPts val="500"/>
              </a:spcBef>
            </a:pPr>
            <a:r>
              <a:rPr sz="1050" b="0">
                <a:solidFill>
                  <a:srgbClr val="0F172A"/>
                </a:solidFill>
                <a:latin typeface="Inter"/>
              </a:rPr>
              <a:t>The gases are mixed in a 1 : 3 ratio and compressed to about 200 atmospheres</a:t>
            </a:r>
          </a:p>
        </p:txBody>
      </p:sp>
      <p:sp>
        <p:nvSpPr>
          <p:cNvPr id="16" name="Right Arrow 15"/>
          <p:cNvSpPr/>
          <p:nvPr/>
        </p:nvSpPr>
        <p:spPr>
          <a:xfrm>
            <a:off x="7900416" y="1711256"/>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298448"/>
            <a:ext cx="3502152" cy="1136513"/>
          </a:xfrm>
          <a:prstGeom prst="roundRect">
            <a:avLst>
              <a:gd name="adj" fmla="val 123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1638104"/>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9" name="TextBox 18"/>
          <p:cNvSpPr txBox="1"/>
          <p:nvPr/>
        </p:nvSpPr>
        <p:spPr>
          <a:xfrm>
            <a:off x="9052560" y="1499616"/>
            <a:ext cx="2478024" cy="734177"/>
          </a:xfrm>
          <a:prstGeom prst="rect">
            <a:avLst/>
          </a:prstGeom>
          <a:noFill/>
        </p:spPr>
        <p:txBody>
          <a:bodyPr wrap="square" anchor="ctr" lIns="0" tIns="0" rIns="0" bIns="0">
            <a:spAutoFit/>
          </a:bodyPr>
          <a:lstStyle/>
          <a:p>
            <a:pPr algn="l"/>
            <a:r>
              <a:rPr sz="1260" b="1">
                <a:solidFill>
                  <a:srgbClr val="1D4ED8"/>
                </a:solidFill>
                <a:latin typeface="Poppins"/>
              </a:rPr>
              <a:t>Mixture passes over an iron</a:t>
            </a:r>
          </a:p>
          <a:p>
            <a:pPr algn="l">
              <a:spcBef>
                <a:spcPts val="500"/>
              </a:spcBef>
            </a:pPr>
            <a:r>
              <a:rPr sz="1050" b="0">
                <a:solidFill>
                  <a:srgbClr val="0F172A"/>
                </a:solidFill>
                <a:latin typeface="Inter"/>
              </a:rPr>
              <a:t>catalyst at about 450 degrees Celsius</a:t>
            </a:r>
          </a:p>
        </p:txBody>
      </p:sp>
      <p:sp>
        <p:nvSpPr>
          <p:cNvPr id="20" name="Rounded Rectangle 19"/>
          <p:cNvSpPr/>
          <p:nvPr/>
        </p:nvSpPr>
        <p:spPr>
          <a:xfrm>
            <a:off x="457200" y="2636129"/>
            <a:ext cx="3502152" cy="1136513"/>
          </a:xfrm>
          <a:prstGeom prst="roundRect">
            <a:avLst>
              <a:gd name="adj" fmla="val 123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975785"/>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2" name="TextBox 21"/>
          <p:cNvSpPr txBox="1"/>
          <p:nvPr/>
        </p:nvSpPr>
        <p:spPr>
          <a:xfrm>
            <a:off x="1280160" y="2837297"/>
            <a:ext cx="2478024" cy="734177"/>
          </a:xfrm>
          <a:prstGeom prst="rect">
            <a:avLst/>
          </a:prstGeom>
          <a:noFill/>
        </p:spPr>
        <p:txBody>
          <a:bodyPr wrap="square" anchor="ctr" lIns="0" tIns="0" rIns="0" bIns="0">
            <a:spAutoFit/>
          </a:bodyPr>
          <a:lstStyle/>
          <a:p>
            <a:pPr algn="l"/>
            <a:r>
              <a:rPr sz="1260" b="1">
                <a:solidFill>
                  <a:srgbClr val="1D4ED8"/>
                </a:solidFill>
                <a:latin typeface="Poppins"/>
              </a:rPr>
              <a:t>Hot gases cooled</a:t>
            </a:r>
          </a:p>
          <a:p>
            <a:pPr algn="l">
              <a:spcBef>
                <a:spcPts val="500"/>
              </a:spcBef>
            </a:pPr>
            <a:r>
              <a:rPr sz="1050" b="0">
                <a:solidFill>
                  <a:srgbClr val="0F172A"/>
                </a:solidFill>
                <a:latin typeface="Inter"/>
              </a:rPr>
              <a:t>The hot gases are cooled so that ammonia liquefies and is removed</a:t>
            </a:r>
          </a:p>
        </p:txBody>
      </p:sp>
      <p:sp>
        <p:nvSpPr>
          <p:cNvPr id="23" name="Right Arrow 22"/>
          <p:cNvSpPr/>
          <p:nvPr/>
        </p:nvSpPr>
        <p:spPr>
          <a:xfrm>
            <a:off x="4014215" y="3048937"/>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2636129"/>
            <a:ext cx="3502152" cy="1136513"/>
          </a:xfrm>
          <a:prstGeom prst="roundRect">
            <a:avLst>
              <a:gd name="adj" fmla="val 12390"/>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44568" y="2975785"/>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6" name="TextBox 25"/>
          <p:cNvSpPr txBox="1"/>
          <p:nvPr/>
        </p:nvSpPr>
        <p:spPr>
          <a:xfrm>
            <a:off x="5166359" y="2837297"/>
            <a:ext cx="2478024" cy="734177"/>
          </a:xfrm>
          <a:prstGeom prst="rect">
            <a:avLst/>
          </a:prstGeom>
          <a:noFill/>
        </p:spPr>
        <p:txBody>
          <a:bodyPr wrap="square" anchor="ctr" lIns="0" tIns="0" rIns="0" bIns="0">
            <a:spAutoFit/>
          </a:bodyPr>
          <a:lstStyle/>
          <a:p>
            <a:pPr algn="l"/>
            <a:r>
              <a:rPr sz="1260" b="1">
                <a:solidFill>
                  <a:srgbClr val="1D4ED8"/>
                </a:solidFill>
                <a:latin typeface="Poppins"/>
              </a:rPr>
              <a:t>Unreacted nitrogen and hydrogen recycled</a:t>
            </a:r>
          </a:p>
          <a:p>
            <a:pPr algn="l">
              <a:spcBef>
                <a:spcPts val="500"/>
              </a:spcBef>
            </a:pPr>
            <a:r>
              <a:rPr sz="1050" b="0">
                <a:solidFill>
                  <a:srgbClr val="0F172A"/>
                </a:solidFill>
                <a:latin typeface="Inter"/>
              </a:rPr>
              <a:t>Unreacted nitrogen and hydrogen are recycled back to the reactor</a:t>
            </a:r>
          </a:p>
        </p:txBody>
      </p:sp>
      <p:sp>
        <p:nvSpPr>
          <p:cNvPr id="27" name="Rounded Rectangle 26"/>
          <p:cNvSpPr/>
          <p:nvPr/>
        </p:nvSpPr>
        <p:spPr>
          <a:xfrm>
            <a:off x="457200" y="3973810"/>
            <a:ext cx="11274552" cy="1311421"/>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73810"/>
            <a:ext cx="73152" cy="1311421"/>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 y="4046962"/>
            <a:ext cx="10879531" cy="1165117"/>
          </a:xfrm>
          <a:prstGeom prst="rect">
            <a:avLst/>
          </a:prstGeom>
          <a:noFill/>
        </p:spPr>
        <p:txBody>
          <a:bodyPr wrap="square" anchor="ctr" lIns="0" tIns="0" rIns="0" bIns="0">
            <a:spAutoFit/>
          </a:bodyPr>
          <a:lstStyle/>
          <a:p>
            <a:pPr algn="l"/>
            <a:r>
              <a:rPr sz="790" b="1">
                <a:solidFill>
                  <a:srgbClr val="1D4ED8"/>
                </a:solidFill>
                <a:latin typeface="Poppins"/>
              </a:rPr>
              <a:t>ALSO ON THIS SLIDE</a:t>
            </a:r>
          </a:p>
          <a:p>
            <a:pPr algn="l">
              <a:spcBef>
                <a:spcPts val="300"/>
              </a:spcBef>
            </a:pPr>
            <a:r>
              <a:rPr sz="1100" b="0">
                <a:solidFill>
                  <a:srgbClr val="0F172A"/>
                </a:solidFill>
                <a:latin typeface="Inter"/>
              </a:rPr>
              <a:t>Finally, unreacted nitrogen and hydrogen are recycled back to the reactor to ensure maximum efficiency and prevent waste. Example: Air separation units at CF Industries cryogenically capture atmospheric nitrogen, while steam methane reformers strip hydrogen from natural gas to supply the Haber-Bosch reactor. Analogy: The Haber-Bosch chemical synthesis is like running a bustling neighborhood bakery where raw flour and sugar are meticulously measured, kneaded together under immense pressure in a heavy-duty mixer, baked at a precise oven temperature, and finally, the freshly baked bread is sliced off while the leftover crumbs and flour are swept back into the hopper to be used in the very next batch.</a:t>
            </a:r>
          </a:p>
        </p:txBody>
      </p:sp>
      <p:sp>
        <p:nvSpPr>
          <p:cNvPr id="30" name="Rounded Rectangle 29"/>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Gases are compressed to 200 atmospheres, passed over an iron catalyst, cooled, and unreacted materials are recycled.</a:t>
            </a:r>
          </a:p>
        </p:txBody>
      </p:sp>
      <p:sp>
        <p:nvSpPr>
          <p:cNvPr id="31" name="Rectangle 30"/>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5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450"/>
                                        <p:tgtEl>
                                          <p:spTgt spid="2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50"/>
                                        <p:tgtEl>
                                          <p:spTgt spid="30"/>
                                        </p:tgtEl>
                                      </p:cBhvr>
                                    </p:animEffect>
                                  </p:childTnLst>
                                </p:cTn>
                              </p:par>
                              <p:par>
                                <p:cTn id="72" presetID="10" presetClass="entr" presetSubtype="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Choosing Conditions for Ammonia Production</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7 / 13</a:t>
            </a:r>
          </a:p>
        </p:txBody>
      </p:sp>
      <p:sp>
        <p:nvSpPr>
          <p:cNvPr id="8" name="Rounded Rectangle 7">
            <a:hlinkClick r:id="rId5"/>
          </p:cNvPr>
          <p:cNvSpPr/>
          <p:nvPr/>
        </p:nvSpPr>
        <p:spPr>
          <a:xfrm>
            <a:off x="3320186" y="6455664"/>
            <a:ext cx="5548579"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Ammonia Production Conditions Lab</a:t>
            </a:r>
          </a:p>
        </p:txBody>
      </p:sp>
      <p:sp>
        <p:nvSpPr>
          <p:cNvPr id="9" name="Rounded Rectangle 8"/>
          <p:cNvSpPr/>
          <p:nvPr/>
        </p:nvSpPr>
        <p:spPr>
          <a:xfrm>
            <a:off x="4572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1" name="TextBox 10"/>
          <p:cNvSpPr txBox="1"/>
          <p:nvPr/>
        </p:nvSpPr>
        <p:spPr>
          <a:xfrm>
            <a:off x="1280160" y="1499616"/>
            <a:ext cx="2478024" cy="1490472"/>
          </a:xfrm>
          <a:prstGeom prst="rect">
            <a:avLst/>
          </a:prstGeom>
          <a:noFill/>
        </p:spPr>
        <p:txBody>
          <a:bodyPr wrap="square" anchor="ctr" lIns="0" tIns="0" rIns="0" bIns="0">
            <a:spAutoFit/>
          </a:bodyPr>
          <a:lstStyle/>
          <a:p>
            <a:pPr algn="l"/>
            <a:r>
              <a:rPr sz="1260" b="1">
                <a:solidFill>
                  <a:srgbClr val="1D4ED8"/>
                </a:solidFill>
                <a:latin typeface="Poppins"/>
              </a:rPr>
              <a:t>A high pressure favours ammonia</a:t>
            </a:r>
          </a:p>
          <a:p>
            <a:pPr algn="l">
              <a:spcBef>
                <a:spcPts val="500"/>
              </a:spcBef>
            </a:pPr>
            <a:r>
              <a:rPr sz="1050" b="0">
                <a:solidFill>
                  <a:srgbClr val="0F172A"/>
                </a:solidFill>
                <a:latin typeface="Inter"/>
              </a:rPr>
              <a:t>because there are fewer gas molecules on the right-hand side</a:t>
            </a:r>
          </a:p>
        </p:txBody>
      </p:sp>
      <p:sp>
        <p:nvSpPr>
          <p:cNvPr id="12" name="Right Arrow 11"/>
          <p:cNvSpPr/>
          <p:nvPr/>
        </p:nvSpPr>
        <p:spPr>
          <a:xfrm>
            <a:off x="4014215"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5" name="TextBox 14"/>
          <p:cNvSpPr txBox="1"/>
          <p:nvPr/>
        </p:nvSpPr>
        <p:spPr>
          <a:xfrm>
            <a:off x="5166359" y="1499616"/>
            <a:ext cx="2478024" cy="1490472"/>
          </a:xfrm>
          <a:prstGeom prst="rect">
            <a:avLst/>
          </a:prstGeom>
          <a:noFill/>
        </p:spPr>
        <p:txBody>
          <a:bodyPr wrap="square" anchor="ctr" lIns="0" tIns="0" rIns="0" bIns="0">
            <a:spAutoFit/>
          </a:bodyPr>
          <a:lstStyle/>
          <a:p>
            <a:pPr algn="l"/>
            <a:r>
              <a:rPr sz="1260" b="1">
                <a:solidFill>
                  <a:srgbClr val="1D4ED8"/>
                </a:solidFill>
                <a:latin typeface="Poppins"/>
              </a:rPr>
              <a:t>A low temperature</a:t>
            </a:r>
          </a:p>
          <a:p>
            <a:pPr algn="l">
              <a:spcBef>
                <a:spcPts val="500"/>
              </a:spcBef>
            </a:pPr>
            <a:r>
              <a:rPr sz="1050" b="0">
                <a:solidFill>
                  <a:srgbClr val="0F172A"/>
                </a:solidFill>
                <a:latin typeface="Inter"/>
              </a:rPr>
              <a:t>favours the exothermic forward reaction, but it makes the reaction too slow</a:t>
            </a:r>
          </a:p>
        </p:txBody>
      </p:sp>
      <p:sp>
        <p:nvSpPr>
          <p:cNvPr id="16" name="Right Arrow 15"/>
          <p:cNvSpPr/>
          <p:nvPr/>
        </p:nvSpPr>
        <p:spPr>
          <a:xfrm>
            <a:off x="7900416"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9" name="TextBox 18"/>
          <p:cNvSpPr txBox="1"/>
          <p:nvPr/>
        </p:nvSpPr>
        <p:spPr>
          <a:xfrm>
            <a:off x="9052560" y="1499616"/>
            <a:ext cx="2478024" cy="1490472"/>
          </a:xfrm>
          <a:prstGeom prst="rect">
            <a:avLst/>
          </a:prstGeom>
          <a:noFill/>
        </p:spPr>
        <p:txBody>
          <a:bodyPr wrap="square" anchor="ctr" lIns="0" tIns="0" rIns="0" bIns="0">
            <a:spAutoFit/>
          </a:bodyPr>
          <a:lstStyle/>
          <a:p>
            <a:pPr algn="l"/>
            <a:r>
              <a:rPr sz="1260" b="1">
                <a:solidFill>
                  <a:srgbClr val="1D4ED8"/>
                </a:solidFill>
                <a:latin typeface="Poppins"/>
              </a:rPr>
              <a:t>The 450 degree compromise</a:t>
            </a:r>
          </a:p>
          <a:p>
            <a:pPr algn="l">
              <a:spcBef>
                <a:spcPts val="500"/>
              </a:spcBef>
            </a:pPr>
            <a:r>
              <a:rPr sz="1050" b="0">
                <a:solidFill>
                  <a:srgbClr val="0F172A"/>
                </a:solidFill>
                <a:latin typeface="Inter"/>
              </a:rPr>
              <a:t>gives a yield of about 15 percent per pass, and recycling raises the overall conversion above 95 percent</a:t>
            </a:r>
          </a:p>
        </p:txBody>
      </p:sp>
      <p:sp>
        <p:nvSpPr>
          <p:cNvPr id="20" name="Rounded Rectangle 19"/>
          <p:cNvSpPr/>
          <p:nvPr/>
        </p:nvSpPr>
        <p:spPr>
          <a:xfrm>
            <a:off x="4572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2" name="TextBox 21"/>
          <p:cNvSpPr txBox="1"/>
          <p:nvPr/>
        </p:nvSpPr>
        <p:spPr>
          <a:xfrm>
            <a:off x="1280160" y="3593592"/>
            <a:ext cx="2478024" cy="1490472"/>
          </a:xfrm>
          <a:prstGeom prst="rect">
            <a:avLst/>
          </a:prstGeom>
          <a:noFill/>
        </p:spPr>
        <p:txBody>
          <a:bodyPr wrap="square" anchor="ctr" lIns="0" tIns="0" rIns="0" bIns="0">
            <a:spAutoFit/>
          </a:bodyPr>
          <a:lstStyle/>
          <a:p>
            <a:pPr algn="l"/>
            <a:r>
              <a:rPr sz="1260" b="1">
                <a:solidFill>
                  <a:srgbClr val="1D4ED8"/>
                </a:solidFill>
                <a:latin typeface="Poppins"/>
              </a:rPr>
              <a:t>Very high pressure would give</a:t>
            </a:r>
          </a:p>
          <a:p>
            <a:pPr algn="l">
              <a:spcBef>
                <a:spcPts val="500"/>
              </a:spcBef>
            </a:pPr>
            <a:r>
              <a:rPr sz="1050" b="0">
                <a:solidFill>
                  <a:srgbClr val="0F172A"/>
                </a:solidFill>
                <a:latin typeface="Inter"/>
              </a:rPr>
              <a:t>more ammonia, but thick pipes and powerful compressors make it too expensive and dangerous</a:t>
            </a:r>
          </a:p>
        </p:txBody>
      </p:sp>
      <p:sp>
        <p:nvSpPr>
          <p:cNvPr id="23" name="Right Arrow 22"/>
          <p:cNvSpPr/>
          <p:nvPr/>
        </p:nvSpPr>
        <p:spPr>
          <a:xfrm>
            <a:off x="4014215"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445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6" name="TextBox 25"/>
          <p:cNvSpPr txBox="1"/>
          <p:nvPr/>
        </p:nvSpPr>
        <p:spPr>
          <a:xfrm>
            <a:off x="5166359" y="3593592"/>
            <a:ext cx="2478024" cy="1490472"/>
          </a:xfrm>
          <a:prstGeom prst="rect">
            <a:avLst/>
          </a:prstGeom>
          <a:noFill/>
        </p:spPr>
        <p:txBody>
          <a:bodyPr wrap="square" anchor="ctr" lIns="0" tIns="0" rIns="0" bIns="0">
            <a:spAutoFit/>
          </a:bodyPr>
          <a:lstStyle/>
          <a:p>
            <a:pPr algn="l"/>
            <a:r>
              <a:rPr sz="1260" b="1">
                <a:solidFill>
                  <a:srgbClr val="1D4ED8"/>
                </a:solidFill>
                <a:latin typeface="Poppins"/>
              </a:rPr>
              <a:t>Example</a:t>
            </a:r>
          </a:p>
          <a:p>
            <a:pPr algn="l">
              <a:spcBef>
                <a:spcPts val="500"/>
              </a:spcBef>
            </a:pPr>
            <a:r>
              <a:rPr sz="1050" b="0">
                <a:solidFill>
                  <a:srgbClr val="0F172A"/>
                </a:solidFill>
                <a:latin typeface="Inter"/>
              </a:rPr>
              <a:t>Example: Yara International operates its giant ammonia plant in Sluiskil, Netherlands, at a high pressure of around 200 atmospheres to drive the equilibrium toward maximum ammonia yield</a:t>
            </a:r>
          </a:p>
        </p:txBody>
      </p:sp>
      <p:sp>
        <p:nvSpPr>
          <p:cNvPr id="27" name="Right Arrow 26"/>
          <p:cNvSpPr/>
          <p:nvPr/>
        </p:nvSpPr>
        <p:spPr>
          <a:xfrm>
            <a:off x="7900416"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307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6</a:t>
            </a:r>
          </a:p>
        </p:txBody>
      </p:sp>
      <p:sp>
        <p:nvSpPr>
          <p:cNvPr id="30" name="TextBox 29"/>
          <p:cNvSpPr txBox="1"/>
          <p:nvPr/>
        </p:nvSpPr>
        <p:spPr>
          <a:xfrm>
            <a:off x="9052560" y="3593592"/>
            <a:ext cx="2478024" cy="1490472"/>
          </a:xfrm>
          <a:prstGeom prst="rect">
            <a:avLst/>
          </a:prstGeom>
          <a:noFill/>
        </p:spPr>
        <p:txBody>
          <a:bodyPr wrap="square" anchor="ctr" lIns="0" tIns="0" rIns="0" bIns="0">
            <a:spAutoFit/>
          </a:bodyPr>
          <a:lstStyle/>
          <a:p>
            <a:pPr algn="l"/>
            <a:r>
              <a:rPr sz="1260" b="1">
                <a:solidFill>
                  <a:srgbClr val="1D4ED8"/>
                </a:solidFill>
                <a:latin typeface="Poppins"/>
              </a:rPr>
              <a:t>Analogy</a:t>
            </a:r>
          </a:p>
          <a:p>
            <a:pPr algn="l">
              <a:spcBef>
                <a:spcPts val="500"/>
              </a:spcBef>
            </a:pPr>
            <a:r>
              <a:rPr sz="1050" b="0">
                <a:solidFill>
                  <a:srgbClr val="0F172A"/>
                </a:solidFill>
                <a:latin typeface="Inter"/>
              </a:rPr>
              <a:t>Analogy: Choosing the temperature for ammonia production is like baking a slow-cooking casserole where you must balance the oven heat to get the best flavor without waiting forever</a:t>
            </a:r>
          </a:p>
        </p:txBody>
      </p:sp>
      <p:sp>
        <p:nvSpPr>
          <p:cNvPr id="31" name="Rounded Rectangle 30"/>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A 450 degree compromise gives a 15 percent per-pass yield, while recycling pushes total conversion above 95 percent.</a:t>
            </a:r>
          </a:p>
        </p:txBody>
      </p:sp>
      <p:sp>
        <p:nvSpPr>
          <p:cNvPr id="32" name="Rectangle 31"/>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5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450"/>
                                        <p:tgtEl>
                                          <p:spTgt spid="29"/>
                                        </p:tgtEl>
                                      </p:cBhvr>
                                    </p:animEffect>
                                  </p:childTnLst>
                                </p:cTn>
                              </p:par>
                              <p:par>
                                <p:cTn id="67" presetID="10"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450"/>
                                        <p:tgtEl>
                                          <p:spTgt spid="3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50"/>
                                        <p:tgtEl>
                                          <p:spTgt spid="31"/>
                                        </p:tgtEl>
                                      </p:cBhvr>
                                    </p:animEffect>
                                  </p:childTnLst>
                                </p:cTn>
                              </p:par>
                              <p:par>
                                <p:cTn id="75" presetID="10"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Effect of Changing Conditions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8 / 13</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35024"/>
            <a:ext cx="82296" cy="63651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7087166" cy="654801"/>
          </a:xfrm>
          <a:prstGeom prst="rect">
            <a:avLst/>
          </a:prstGeom>
          <a:noFill/>
        </p:spPr>
        <p:txBody>
          <a:bodyPr wrap="square" anchor="t" lIns="0" tIns="0" rIns="0" bIns="0">
            <a:spAutoFit/>
          </a:bodyPr>
          <a:lstStyle/>
          <a:p>
            <a:pPr algn="l"/>
            <a:r>
              <a:rPr sz="1360" b="1">
                <a:solidFill>
                  <a:srgbClr val="1D4ED8"/>
                </a:solidFill>
                <a:latin typeface="Poppins"/>
              </a:rPr>
              <a:t>Increasing pressure shifts the equilibrium towards ammonia and increases yield because it favors the side with fewer moles of gas.</a:t>
            </a:r>
          </a:p>
        </p:txBody>
      </p:sp>
      <p:sp>
        <p:nvSpPr>
          <p:cNvPr id="10" name="TextBox 9"/>
          <p:cNvSpPr txBox="1"/>
          <p:nvPr/>
        </p:nvSpPr>
        <p:spPr>
          <a:xfrm>
            <a:off x="720547" y="2145273"/>
            <a:ext cx="7087166" cy="352044"/>
          </a:xfrm>
          <a:prstGeom prst="rect">
            <a:avLst/>
          </a:prstGeom>
          <a:noFill/>
        </p:spPr>
        <p:txBody>
          <a:bodyPr wrap="square" lIns="0" rIns="0" tIns="0" bIns="0">
            <a:spAutoFit/>
          </a:bodyPr>
          <a:lstStyle/>
          <a:p>
            <a:r>
              <a:rPr sz="1100">
                <a:solidFill>
                  <a:srgbClr val="0F172A"/>
                </a:solidFill>
                <a:latin typeface="Inter"/>
              </a:rPr>
              <a:t>Increasing temperature shifts it towards the reactants and reduces yield, </a:t>
            </a:r>
            <a:r>
              <a:rPr sz="1100" b="1">
                <a:solidFill>
                  <a:srgbClr val="C2410C"/>
                </a:solidFill>
                <a:latin typeface="Poppins"/>
              </a:rPr>
              <a:t>but</a:t>
            </a:r>
            <a:r>
              <a:rPr sz="1100">
                <a:solidFill>
                  <a:srgbClr val="0F172A"/>
                </a:solidFill>
                <a:latin typeface="Inter"/>
              </a:rPr>
              <a:t> speeds up the reaction by providing more thermal energy to the molecules.</a:t>
            </a:r>
          </a:p>
        </p:txBody>
      </p:sp>
      <p:sp>
        <p:nvSpPr>
          <p:cNvPr id="11" name="TextBox 10"/>
          <p:cNvSpPr txBox="1"/>
          <p:nvPr/>
        </p:nvSpPr>
        <p:spPr>
          <a:xfrm>
            <a:off x="720547" y="2625333"/>
            <a:ext cx="7087166" cy="352044"/>
          </a:xfrm>
          <a:prstGeom prst="rect">
            <a:avLst/>
          </a:prstGeom>
          <a:noFill/>
        </p:spPr>
        <p:txBody>
          <a:bodyPr wrap="square" lIns="0" rIns="0" tIns="0" bIns="0">
            <a:spAutoFit/>
          </a:bodyPr>
          <a:lstStyle/>
          <a:p>
            <a:r>
              <a:rPr sz="1100">
                <a:solidFill>
                  <a:srgbClr val="0F172A"/>
                </a:solidFill>
                <a:latin typeface="Inter"/>
              </a:rPr>
              <a:t>Adding a catalyst does not change the yield, </a:t>
            </a:r>
            <a:r>
              <a:rPr sz="1100" b="1">
                <a:solidFill>
                  <a:srgbClr val="C2410C"/>
                </a:solidFill>
                <a:latin typeface="Poppins"/>
              </a:rPr>
              <a:t>but</a:t>
            </a:r>
            <a:r>
              <a:rPr sz="1100">
                <a:solidFill>
                  <a:srgbClr val="0F172A"/>
                </a:solidFill>
                <a:latin typeface="Inter"/>
              </a:rPr>
              <a:t> it makes equilibrium arrive faster by lowering the activation energy for both forward and reverse reactions.</a:t>
            </a:r>
          </a:p>
        </p:txBody>
      </p:sp>
      <p:sp>
        <p:nvSpPr>
          <p:cNvPr id="12" name="TextBox 11"/>
          <p:cNvSpPr txBox="1"/>
          <p:nvPr/>
        </p:nvSpPr>
        <p:spPr>
          <a:xfrm>
            <a:off x="720547" y="3105393"/>
            <a:ext cx="7087166" cy="352044"/>
          </a:xfrm>
          <a:prstGeom prst="rect">
            <a:avLst/>
          </a:prstGeom>
          <a:noFill/>
        </p:spPr>
        <p:txBody>
          <a:bodyPr wrap="square" lIns="0" rIns="0" tIns="0" bIns="0">
            <a:spAutoFit/>
          </a:bodyPr>
          <a:lstStyle/>
          <a:p>
            <a:r>
              <a:rPr sz="680" b="1">
                <a:solidFill>
                  <a:srgbClr val="1D4ED8"/>
                </a:solidFill>
                <a:latin typeface="Poppins"/>
              </a:rPr>
              <a:t>BECAUSE   </a:t>
            </a:r>
            <a:r>
              <a:rPr sz="1100">
                <a:solidFill>
                  <a:srgbClr val="0F172A"/>
                </a:solidFill>
                <a:latin typeface="Inter"/>
              </a:rPr>
              <a:t>Removing ammonia </a:t>
            </a:r>
            <a:r>
              <a:rPr sz="1100" b="1">
                <a:solidFill>
                  <a:srgbClr val="1D4ED8"/>
                </a:solidFill>
                <a:latin typeface="Poppins"/>
              </a:rPr>
              <a:t>as it</a:t>
            </a:r>
            <a:r>
              <a:rPr sz="1100">
                <a:solidFill>
                  <a:srgbClr val="0F172A"/>
                </a:solidFill>
                <a:latin typeface="Inter"/>
              </a:rPr>
              <a:t> forms pulls the equilibrium to the right </a:t>
            </a:r>
            <a:r>
              <a:rPr sz="1100" b="1">
                <a:solidFill>
                  <a:srgbClr val="1D4ED8"/>
                </a:solidFill>
                <a:latin typeface="Poppins"/>
              </a:rPr>
              <a:t>because</a:t>
            </a:r>
            <a:r>
              <a:rPr sz="1100">
                <a:solidFill>
                  <a:srgbClr val="0F172A"/>
                </a:solidFill>
                <a:latin typeface="Inter"/>
              </a:rPr>
              <a:t> continuously depleting products forces the system to produce more to compensate.</a:t>
            </a:r>
          </a:p>
        </p:txBody>
      </p:sp>
      <p:sp>
        <p:nvSpPr>
          <p:cNvPr id="13" name="TextBox 12"/>
          <p:cNvSpPr txBox="1"/>
          <p:nvPr/>
        </p:nvSpPr>
        <p:spPr>
          <a:xfrm>
            <a:off x="720547" y="3585453"/>
            <a:ext cx="7087166" cy="704088"/>
          </a:xfrm>
          <a:prstGeom prst="rect">
            <a:avLst/>
          </a:prstGeom>
          <a:noFill/>
        </p:spPr>
        <p:txBody>
          <a:bodyPr wrap="square" lIns="0" rIns="0" tIns="0" bIns="0">
            <a:spAutoFit/>
          </a:bodyPr>
          <a:lstStyle/>
          <a:p>
            <a:r>
              <a:rPr sz="1100">
                <a:solidFill>
                  <a:srgbClr val="0F172A"/>
                </a:solidFill>
                <a:latin typeface="Inter"/>
              </a:rPr>
              <a:t>Increasing pressure shifts the equilibrium towards ammonia and increases yield Increasing temperature shifts it towards the reactants and reduces yield, </a:t>
            </a:r>
            <a:r>
              <a:rPr sz="1100" b="1">
                <a:solidFill>
                  <a:srgbClr val="C2410C"/>
                </a:solidFill>
                <a:latin typeface="Poppins"/>
              </a:rPr>
              <a:t>but</a:t>
            </a:r>
            <a:r>
              <a:rPr sz="1100">
                <a:solidFill>
                  <a:srgbClr val="0F172A"/>
                </a:solidFill>
                <a:latin typeface="Inter"/>
              </a:rPr>
              <a:t> speeds up the reaction Adding a catalyst does not change the yield, </a:t>
            </a:r>
            <a:r>
              <a:rPr sz="1100" b="1">
                <a:solidFill>
                  <a:srgbClr val="C2410C"/>
                </a:solidFill>
                <a:latin typeface="Poppins"/>
              </a:rPr>
              <a:t>but</a:t>
            </a:r>
            <a:r>
              <a:rPr sz="1100">
                <a:solidFill>
                  <a:srgbClr val="0F172A"/>
                </a:solidFill>
                <a:latin typeface="Inter"/>
              </a:rPr>
              <a:t> it makes equilibrium arrive faster Removing ammonia </a:t>
            </a:r>
            <a:r>
              <a:rPr sz="1100" b="1">
                <a:solidFill>
                  <a:srgbClr val="1D4ED8"/>
                </a:solidFill>
                <a:latin typeface="Poppins"/>
              </a:rPr>
              <a:t>as it</a:t>
            </a:r>
            <a:r>
              <a:rPr sz="1100">
                <a:solidFill>
                  <a:srgbClr val="0F172A"/>
                </a:solidFill>
                <a:latin typeface="Inter"/>
              </a:rPr>
              <a:t> forms pulls the equilibrium to the right.</a:t>
            </a:r>
          </a:p>
        </p:txBody>
      </p:sp>
      <p:sp>
        <p:nvSpPr>
          <p:cNvPr id="14" name="TextBox 13"/>
          <p:cNvSpPr txBox="1"/>
          <p:nvPr/>
        </p:nvSpPr>
        <p:spPr>
          <a:xfrm>
            <a:off x="720547" y="4417557"/>
            <a:ext cx="7087166" cy="352044"/>
          </a:xfrm>
          <a:prstGeom prst="rect">
            <a:avLst/>
          </a:prstGeom>
          <a:noFill/>
        </p:spPr>
        <p:txBody>
          <a:bodyPr wrap="square" lIns="0" rIns="0" tIns="0" bIns="0">
            <a:spAutoFit/>
          </a:bodyPr>
          <a:lstStyle/>
          <a:p>
            <a:r>
              <a:rPr sz="1100">
                <a:solidFill>
                  <a:srgbClr val="0F172A"/>
                </a:solidFill>
                <a:latin typeface="Inter"/>
              </a:rPr>
              <a:t>Example: BASF operates giant industrial chemical plants that pump nitrogen and hydrogen gases under extreme pressure to maximize ammonia production for synthetic fertilizers.</a:t>
            </a:r>
          </a:p>
        </p:txBody>
      </p:sp>
      <p:sp>
        <p:nvSpPr>
          <p:cNvPr id="15" name="TextBox 14"/>
          <p:cNvSpPr txBox="1"/>
          <p:nvPr/>
        </p:nvSpPr>
        <p:spPr>
          <a:xfrm>
            <a:off x="720547" y="4897617"/>
            <a:ext cx="7087166" cy="528066"/>
          </a:xfrm>
          <a:prstGeom prst="rect">
            <a:avLst/>
          </a:prstGeom>
          <a:noFill/>
        </p:spPr>
        <p:txBody>
          <a:bodyPr wrap="square" lIns="0" rIns="0" tIns="0" bIns="0">
            <a:spAutoFit/>
          </a:bodyPr>
          <a:lstStyle/>
          <a:p>
            <a:r>
              <a:rPr sz="1100">
                <a:solidFill>
                  <a:srgbClr val="0F172A"/>
                </a:solidFill>
                <a:latin typeface="Inter"/>
              </a:rPr>
              <a:t>Analogy: Think of chemical equilibrium under changing conditions as a crowded subway car at rush hour, where increasing pressure is </a:t>
            </a:r>
            <a:r>
              <a:rPr sz="1100" b="1">
                <a:solidFill>
                  <a:srgbClr val="0F766E"/>
                </a:solidFill>
                <a:latin typeface="Poppins"/>
              </a:rPr>
              <a:t>like</a:t>
            </a:r>
            <a:r>
              <a:rPr sz="1100">
                <a:solidFill>
                  <a:srgbClr val="0F172A"/>
                </a:solidFill>
                <a:latin typeface="Inter"/>
              </a:rPr>
              <a:t> a transit worker physically shoving more passengers inside to force everyone to pack tighter into the available space.</a:t>
            </a:r>
          </a:p>
        </p:txBody>
      </p:sp>
      <p:sp>
        <p:nvSpPr>
          <p:cNvPr id="16" name="Rounded Rectangle 15"/>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Increasing pressure shifts equilibrium toward ammonia, while a catalyst speeds up the reaction without changing yield.</a:t>
            </a:r>
          </a:p>
        </p:txBody>
      </p:sp>
      <p:sp>
        <p:nvSpPr>
          <p:cNvPr id="17" name="Rectangle 16"/>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A Worked Example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9 / 13</a:t>
            </a:r>
          </a:p>
        </p:txBody>
      </p:sp>
      <p:sp>
        <p:nvSpPr>
          <p:cNvPr id="8" name="Rounded Rectangle 7"/>
          <p:cNvSpPr/>
          <p:nvPr/>
        </p:nvSpPr>
        <p:spPr>
          <a:xfrm>
            <a:off x="457200" y="1298448"/>
            <a:ext cx="11274552" cy="994867"/>
          </a:xfrm>
          <a:prstGeom prst="roundRect">
            <a:avLst>
              <a:gd name="adj" fmla="val 14154"/>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67281"/>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316736" y="1371600"/>
            <a:ext cx="10213848" cy="848563"/>
          </a:xfrm>
          <a:prstGeom prst="rect">
            <a:avLst/>
          </a:prstGeom>
          <a:noFill/>
        </p:spPr>
        <p:txBody>
          <a:bodyPr wrap="square" anchor="ctr" lIns="0" tIns="0" rIns="0" bIns="0">
            <a:spAutoFit/>
          </a:bodyPr>
          <a:lstStyle/>
          <a:p>
            <a:pPr algn="l"/>
            <a:r>
              <a:rPr sz="1839" b="1">
                <a:solidFill>
                  <a:srgbClr val="1D4ED8"/>
                </a:solidFill>
                <a:latin typeface="Poppins"/>
              </a:rPr>
              <a:t>Identify mass of nitrogen  —  28 tonnes N₂</a:t>
            </a:r>
          </a:p>
          <a:p>
            <a:pPr algn="l">
              <a:spcBef>
                <a:spcPts val="300"/>
              </a:spcBef>
            </a:pPr>
            <a:r>
              <a:rPr sz="1600" b="0">
                <a:solidFill>
                  <a:srgbClr val="0F172A"/>
                </a:solidFill>
                <a:latin typeface="Inter"/>
              </a:rPr>
              <a:t>We start with the feed rate of nitrogen gas into the chemical plant per hour.</a:t>
            </a:r>
          </a:p>
        </p:txBody>
      </p:sp>
      <p:sp>
        <p:nvSpPr>
          <p:cNvPr id="11" name="Rounded Rectangle 10"/>
          <p:cNvSpPr/>
          <p:nvPr/>
        </p:nvSpPr>
        <p:spPr>
          <a:xfrm>
            <a:off x="457200" y="2414016"/>
            <a:ext cx="11274552" cy="994867"/>
          </a:xfrm>
          <a:prstGeom prst="roundRect">
            <a:avLst>
              <a:gd name="adj" fmla="val 14154"/>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682849"/>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3" name="TextBox 12"/>
          <p:cNvSpPr txBox="1"/>
          <p:nvPr/>
        </p:nvSpPr>
        <p:spPr>
          <a:xfrm>
            <a:off x="1316736" y="2487168"/>
            <a:ext cx="10213848" cy="848563"/>
          </a:xfrm>
          <a:prstGeom prst="rect">
            <a:avLst/>
          </a:prstGeom>
          <a:noFill/>
        </p:spPr>
        <p:txBody>
          <a:bodyPr wrap="square" anchor="ctr" lIns="0" tIns="0" rIns="0" bIns="0">
            <a:spAutoFit/>
          </a:bodyPr>
          <a:lstStyle/>
          <a:p>
            <a:pPr algn="l"/>
            <a:r>
              <a:rPr sz="1839" b="1">
                <a:solidFill>
                  <a:srgbClr val="1D4ED8"/>
                </a:solidFill>
                <a:latin typeface="Poppins"/>
              </a:rPr>
              <a:t>Scale up molar mass ratio  —  28 g N₂ → 34 g NH₃</a:t>
            </a:r>
          </a:p>
          <a:p>
            <a:pPr algn="l">
              <a:spcBef>
                <a:spcPts val="300"/>
              </a:spcBef>
            </a:pPr>
            <a:r>
              <a:rPr sz="1600" b="0">
                <a:solidFill>
                  <a:srgbClr val="0F172A"/>
                </a:solidFill>
                <a:latin typeface="Inter"/>
              </a:rPr>
              <a:t>One mole of nitrogen gas yields two moles of ammonia based on the balanced chemical equation.</a:t>
            </a:r>
          </a:p>
        </p:txBody>
      </p:sp>
      <p:sp>
        <p:nvSpPr>
          <p:cNvPr id="14" name="Rounded Rectangle 13"/>
          <p:cNvSpPr/>
          <p:nvPr/>
        </p:nvSpPr>
        <p:spPr>
          <a:xfrm>
            <a:off x="457200" y="3529584"/>
            <a:ext cx="11274552" cy="994867"/>
          </a:xfrm>
          <a:prstGeom prst="roundRect">
            <a:avLst>
              <a:gd name="adj" fmla="val 14154"/>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798417"/>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6" name="TextBox 15"/>
          <p:cNvSpPr txBox="1"/>
          <p:nvPr/>
        </p:nvSpPr>
        <p:spPr>
          <a:xfrm>
            <a:off x="1316736" y="3602736"/>
            <a:ext cx="10213848" cy="848563"/>
          </a:xfrm>
          <a:prstGeom prst="rect">
            <a:avLst/>
          </a:prstGeom>
          <a:noFill/>
        </p:spPr>
        <p:txBody>
          <a:bodyPr wrap="square" anchor="ctr" lIns="0" tIns="0" rIns="0" bIns="0">
            <a:spAutoFit/>
          </a:bodyPr>
          <a:lstStyle/>
          <a:p>
            <a:pPr algn="l"/>
            <a:r>
              <a:rPr sz="1839" b="1">
                <a:solidFill>
                  <a:srgbClr val="1D4ED8"/>
                </a:solidFill>
                <a:latin typeface="Poppins"/>
              </a:rPr>
              <a:t>Calculate theoretical yield  —  34 tonnes NH₃</a:t>
            </a:r>
          </a:p>
          <a:p>
            <a:pPr algn="l">
              <a:spcBef>
                <a:spcPts val="300"/>
              </a:spcBef>
            </a:pPr>
            <a:r>
              <a:rPr sz="1600" b="0">
                <a:solidFill>
                  <a:srgbClr val="0F172A"/>
                </a:solidFill>
                <a:latin typeface="Inter"/>
              </a:rPr>
              <a:t>Because 28 tonnes of N2 matches 28 grams scaled up, complete 100% conversion produces 34 tonnes of ammonia.</a:t>
            </a:r>
          </a:p>
        </p:txBody>
      </p:sp>
      <p:sp>
        <p:nvSpPr>
          <p:cNvPr id="17" name="Rounded Rectangle 16"/>
          <p:cNvSpPr/>
          <p:nvPr/>
        </p:nvSpPr>
        <p:spPr>
          <a:xfrm>
            <a:off x="457200" y="4645152"/>
            <a:ext cx="11274552" cy="994867"/>
          </a:xfrm>
          <a:prstGeom prst="roundRect">
            <a:avLst>
              <a:gd name="adj" fmla="val 14154"/>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913985"/>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19" name="TextBox 18"/>
          <p:cNvSpPr txBox="1"/>
          <p:nvPr/>
        </p:nvSpPr>
        <p:spPr>
          <a:xfrm>
            <a:off x="1316736" y="4718304"/>
            <a:ext cx="10213848" cy="848563"/>
          </a:xfrm>
          <a:prstGeom prst="rect">
            <a:avLst/>
          </a:prstGeom>
          <a:noFill/>
        </p:spPr>
        <p:txBody>
          <a:bodyPr wrap="square" anchor="ctr" lIns="0" tIns="0" rIns="0" bIns="0">
            <a:spAutoFit/>
          </a:bodyPr>
          <a:lstStyle/>
          <a:p>
            <a:pPr algn="l"/>
            <a:r>
              <a:rPr sz="1839" b="1">
                <a:solidFill>
                  <a:srgbClr val="1D4ED8"/>
                </a:solidFill>
                <a:latin typeface="Poppins"/>
              </a:rPr>
              <a:t>Apply recycling efficiency  —  34 × 0.97 = 32.98 tonnes NH₃</a:t>
            </a:r>
          </a:p>
          <a:p>
            <a:pPr algn="l">
              <a:spcBef>
                <a:spcPts val="300"/>
              </a:spcBef>
            </a:pPr>
            <a:r>
              <a:rPr sz="1600" b="0">
                <a:solidFill>
                  <a:srgbClr val="0F172A"/>
                </a:solidFill>
                <a:latin typeface="Inter"/>
              </a:rPr>
              <a:t>The plant operates at 97% overall conversion due to recycling unreacted gases back into the reactor.</a:t>
            </a:r>
          </a:p>
        </p:txBody>
      </p:sp>
      <p:sp>
        <p:nvSpPr>
          <p:cNvPr id="20" name="Rounded Rectangle 19"/>
          <p:cNvSpPr/>
          <p:nvPr/>
        </p:nvSpPr>
        <p:spPr>
          <a:xfrm>
            <a:off x="457200" y="5760720"/>
            <a:ext cx="11274552" cy="640080"/>
          </a:xfrm>
          <a:prstGeom prst="roundRect">
            <a:avLst>
              <a:gd name="adj" fmla="val 2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2200" b="1">
                <a:solidFill>
                  <a:srgbClr val="FFFFFF"/>
                </a:solidFill>
                <a:latin typeface="Poppins"/>
              </a:rPr>
              <a:t>Answer: 33 tonnes of ammonia per hour</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10 / 13</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Fill in the blank: “A plant feeds 28 tonnes of nitrogen per hour into the reactor so that we can calculate the _____ yield.”</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lowering</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mistakenly</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atmospheric</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theoretical</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D</a:t>
            </a:r>
          </a:p>
          <a:p>
            <a:pPr algn="l">
              <a:spcBef>
                <a:spcPts val="200"/>
              </a:spcBef>
            </a:pPr>
            <a:r>
              <a:rPr sz="1450" b="0">
                <a:solidFill>
                  <a:srgbClr val="FFFFFF"/>
                </a:solidFill>
                <a:latin typeface="Inter"/>
              </a:rPr>
              <a:t>“A plant feeds 28 tonnes of nitrogen per hour into the reactor so that we can calculate the theoretical yield.”</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Where People Go Wrong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11 / 13</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52809"/>
            <a:ext cx="82296" cy="63651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16233"/>
            <a:ext cx="7087166" cy="654801"/>
          </a:xfrm>
          <a:prstGeom prst="rect">
            <a:avLst/>
          </a:prstGeom>
          <a:noFill/>
        </p:spPr>
        <p:txBody>
          <a:bodyPr wrap="square" anchor="t" lIns="0" tIns="0" rIns="0" bIns="0">
            <a:spAutoFit/>
          </a:bodyPr>
          <a:lstStyle/>
          <a:p>
            <a:pPr algn="l"/>
            <a:r>
              <a:rPr sz="1360" b="1">
                <a:solidFill>
                  <a:srgbClr val="1D4ED8"/>
                </a:solidFill>
                <a:latin typeface="Poppins"/>
              </a:rPr>
              <a:t>Students often make the mistake of thinking a catalyst increases the yield, when in reality it only increases the rate of the reaction.</a:t>
            </a:r>
          </a:p>
        </p:txBody>
      </p:sp>
      <p:sp>
        <p:nvSpPr>
          <p:cNvPr id="10" name="TextBox 9"/>
          <p:cNvSpPr txBox="1"/>
          <p:nvPr/>
        </p:nvSpPr>
        <p:spPr>
          <a:xfrm>
            <a:off x="720547" y="2163058"/>
            <a:ext cx="7087166" cy="352044"/>
          </a:xfrm>
          <a:prstGeom prst="rect">
            <a:avLst/>
          </a:prstGeom>
          <a:noFill/>
        </p:spPr>
        <p:txBody>
          <a:bodyPr wrap="square" lIns="0" rIns="0" tIns="0" bIns="0">
            <a:spAutoFit/>
          </a:bodyPr>
          <a:lstStyle/>
          <a:p>
            <a:r>
              <a:rPr sz="1100">
                <a:solidFill>
                  <a:srgbClr val="0F172A"/>
                </a:solidFill>
                <a:latin typeface="Inter"/>
              </a:rPr>
              <a:t>You must remember that the reaction is fully reversible, meaning some ammonia always breaks down again </a:t>
            </a:r>
            <a:r>
              <a:rPr sz="1100" b="1">
                <a:solidFill>
                  <a:srgbClr val="C2410C"/>
                </a:solidFill>
                <a:latin typeface="Poppins"/>
              </a:rPr>
              <a:t>instead</a:t>
            </a:r>
            <a:r>
              <a:rPr sz="1100">
                <a:solidFill>
                  <a:srgbClr val="0F172A"/>
                </a:solidFill>
                <a:latin typeface="Inter"/>
              </a:rPr>
              <a:t> of staying as product.</a:t>
            </a:r>
          </a:p>
        </p:txBody>
      </p:sp>
      <p:sp>
        <p:nvSpPr>
          <p:cNvPr id="11" name="TextBox 10"/>
          <p:cNvSpPr txBox="1"/>
          <p:nvPr/>
        </p:nvSpPr>
        <p:spPr>
          <a:xfrm>
            <a:off x="720547" y="2643118"/>
            <a:ext cx="7087166" cy="352044"/>
          </a:xfrm>
          <a:prstGeom prst="rect">
            <a:avLst/>
          </a:prstGeom>
          <a:noFill/>
        </p:spPr>
        <p:txBody>
          <a:bodyPr wrap="square" lIns="0" rIns="0" tIns="0" bIns="0">
            <a:spAutoFit/>
          </a:bodyPr>
          <a:lstStyle/>
          <a:p>
            <a:r>
              <a:rPr sz="680" b="1">
                <a:solidFill>
                  <a:srgbClr val="C2410C"/>
                </a:solidFill>
                <a:latin typeface="Poppins"/>
              </a:rPr>
              <a:t>BUT   </a:t>
            </a:r>
            <a:r>
              <a:rPr sz="1100">
                <a:solidFill>
                  <a:srgbClr val="0F172A"/>
                </a:solidFill>
                <a:latin typeface="Inter"/>
              </a:rPr>
              <a:t>Many mistakenly assume the lowest temperature is best </a:t>
            </a:r>
            <a:r>
              <a:rPr sz="1100" b="1">
                <a:solidFill>
                  <a:srgbClr val="1D4ED8"/>
                </a:solidFill>
                <a:latin typeface="Poppins"/>
              </a:rPr>
              <a:t>because</a:t>
            </a:r>
            <a:r>
              <a:rPr sz="1100">
                <a:solidFill>
                  <a:srgbClr val="0F172A"/>
                </a:solidFill>
                <a:latin typeface="Inter"/>
              </a:rPr>
              <a:t> </a:t>
            </a:r>
            <a:r>
              <a:rPr sz="1100" b="1">
                <a:solidFill>
                  <a:srgbClr val="C2410C"/>
                </a:solidFill>
                <a:latin typeface="Poppins"/>
              </a:rPr>
              <a:t>while</a:t>
            </a:r>
            <a:r>
              <a:rPr sz="1100">
                <a:solidFill>
                  <a:srgbClr val="0F172A"/>
                </a:solidFill>
                <a:latin typeface="Inter"/>
              </a:rPr>
              <a:t> the yield is higher, the reaction rate is far too slow to be practical.</a:t>
            </a:r>
          </a:p>
        </p:txBody>
      </p:sp>
      <p:sp>
        <p:nvSpPr>
          <p:cNvPr id="12" name="TextBox 11"/>
          <p:cNvSpPr txBox="1"/>
          <p:nvPr/>
        </p:nvSpPr>
        <p:spPr>
          <a:xfrm>
            <a:off x="720547" y="3123178"/>
            <a:ext cx="7087166" cy="528066"/>
          </a:xfrm>
          <a:prstGeom prst="rect">
            <a:avLst/>
          </a:prstGeom>
          <a:noFill/>
        </p:spPr>
        <p:txBody>
          <a:bodyPr wrap="square" lIns="0" rIns="0" tIns="0" bIns="0">
            <a:spAutoFit/>
          </a:bodyPr>
          <a:lstStyle/>
          <a:p>
            <a:r>
              <a:rPr sz="1100">
                <a:solidFill>
                  <a:srgbClr val="0F172A"/>
                </a:solidFill>
                <a:latin typeface="Inter"/>
              </a:rPr>
              <a:t>Thinking a catalyst increases the yield: it only increases the rate Forgetting that the reaction is reversible, so some ammonia always breaks down again Assuming the lowest temperature is best: the yield is higher </a:t>
            </a:r>
            <a:r>
              <a:rPr sz="1100" b="1">
                <a:solidFill>
                  <a:srgbClr val="C2410C"/>
                </a:solidFill>
                <a:latin typeface="Poppins"/>
              </a:rPr>
              <a:t>but</a:t>
            </a:r>
            <a:r>
              <a:rPr sz="1100">
                <a:solidFill>
                  <a:srgbClr val="0F172A"/>
                </a:solidFill>
                <a:latin typeface="Inter"/>
              </a:rPr>
              <a:t> the rate is far too slow.</a:t>
            </a:r>
          </a:p>
        </p:txBody>
      </p:sp>
      <p:sp>
        <p:nvSpPr>
          <p:cNvPr id="13" name="TextBox 12"/>
          <p:cNvSpPr txBox="1"/>
          <p:nvPr/>
        </p:nvSpPr>
        <p:spPr>
          <a:xfrm>
            <a:off x="720547" y="3779260"/>
            <a:ext cx="7087166" cy="528066"/>
          </a:xfrm>
          <a:prstGeom prst="rect">
            <a:avLst/>
          </a:prstGeom>
          <a:noFill/>
        </p:spPr>
        <p:txBody>
          <a:bodyPr wrap="square" lIns="0" rIns="0" tIns="0" bIns="0">
            <a:spAutoFit/>
          </a:bodyPr>
          <a:lstStyle/>
          <a:p>
            <a:r>
              <a:rPr sz="1100">
                <a:solidFill>
                  <a:srgbClr val="0F172A"/>
                </a:solidFill>
                <a:latin typeface="Inter"/>
              </a:rPr>
              <a:t>Analogy: Thinking a catalyst increases the yield is </a:t>
            </a:r>
            <a:r>
              <a:rPr sz="1100" b="1">
                <a:solidFill>
                  <a:srgbClr val="0F766E"/>
                </a:solidFill>
                <a:latin typeface="Poppins"/>
              </a:rPr>
              <a:t>like</a:t>
            </a:r>
            <a:r>
              <a:rPr sz="1100">
                <a:solidFill>
                  <a:srgbClr val="0F172A"/>
                </a:solidFill>
                <a:latin typeface="Inter"/>
              </a:rPr>
              <a:t> a store manager thinking that adding more checkout lanes will somehow order more items from the warehouse, when cashiers only make the checkout process faster.</a:t>
            </a:r>
          </a:p>
        </p:txBody>
      </p:sp>
      <p:sp>
        <p:nvSpPr>
          <p:cNvPr id="14" name="TextBox 13"/>
          <p:cNvSpPr txBox="1"/>
          <p:nvPr/>
        </p:nvSpPr>
        <p:spPr>
          <a:xfrm>
            <a:off x="720547" y="4435342"/>
            <a:ext cx="7087166" cy="704088"/>
          </a:xfrm>
          <a:prstGeom prst="rect">
            <a:avLst/>
          </a:prstGeom>
          <a:noFill/>
        </p:spPr>
        <p:txBody>
          <a:bodyPr wrap="square" lIns="0" rIns="0" tIns="0" bIns="0">
            <a:spAutoFit/>
          </a:bodyPr>
          <a:lstStyle/>
          <a:p>
            <a:r>
              <a:rPr sz="1100">
                <a:solidFill>
                  <a:srgbClr val="0F172A"/>
                </a:solidFill>
                <a:latin typeface="Inter"/>
              </a:rPr>
              <a:t>In practice: In chemical manufacturing: Plant operators often miscalculate production quotas by assuming that adding more iron catalysts to the Haber-Bosch process will increase total ammonia output, when catalysts only accelerate the rate at which equilibrium is reached without shifting the equilibrium position itself.</a:t>
            </a:r>
          </a:p>
        </p:txBody>
      </p:sp>
      <p:sp>
        <p:nvSpPr>
          <p:cNvPr id="15" name="Rounded Rectangle 14"/>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A catalyst increases the reaction rate but does not change the yield of the reversible reaction.</a:t>
            </a:r>
          </a:p>
        </p:txBody>
      </p:sp>
      <p:sp>
        <p:nvSpPr>
          <p:cNvPr id="16" name="Rectangle 15"/>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Key Terms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12 / 13</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83065"/>
            <a:ext cx="82296" cy="6000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46489"/>
            <a:ext cx="7087166" cy="618317"/>
          </a:xfrm>
          <a:prstGeom prst="rect">
            <a:avLst/>
          </a:prstGeom>
          <a:noFill/>
        </p:spPr>
        <p:txBody>
          <a:bodyPr wrap="square" anchor="t" lIns="0" tIns="0" rIns="0" bIns="0">
            <a:spAutoFit/>
          </a:bodyPr>
          <a:lstStyle/>
          <a:p>
            <a:pPr algn="l"/>
            <a:r>
              <a:rPr sz="1930" b="1">
                <a:solidFill>
                  <a:srgbClr val="1D4ED8"/>
                </a:solidFill>
                <a:latin typeface="Poppins"/>
              </a:rPr>
              <a:t>Equilibrium is the state where forward and reverse reactions occur at the same rate.</a:t>
            </a:r>
          </a:p>
        </p:txBody>
      </p:sp>
      <p:sp>
        <p:nvSpPr>
          <p:cNvPr id="10" name="TextBox 9"/>
          <p:cNvSpPr txBox="1"/>
          <p:nvPr/>
        </p:nvSpPr>
        <p:spPr>
          <a:xfrm>
            <a:off x="720547" y="2256830"/>
            <a:ext cx="7087166" cy="224028"/>
          </a:xfrm>
          <a:prstGeom prst="rect">
            <a:avLst/>
          </a:prstGeom>
          <a:noFill/>
        </p:spPr>
        <p:txBody>
          <a:bodyPr wrap="square" lIns="0" rIns="0" tIns="0" bIns="0">
            <a:spAutoFit/>
          </a:bodyPr>
          <a:lstStyle/>
          <a:p>
            <a:r>
              <a:rPr sz="1400">
                <a:solidFill>
                  <a:srgbClr val="0F172A"/>
                </a:solidFill>
                <a:latin typeface="Inter"/>
              </a:rPr>
              <a:t>A catalyst is a substance that speeds up a reaction without being used up.</a:t>
            </a:r>
          </a:p>
        </p:txBody>
      </p:sp>
      <p:sp>
        <p:nvSpPr>
          <p:cNvPr id="11" name="TextBox 10"/>
          <p:cNvSpPr txBox="1"/>
          <p:nvPr/>
        </p:nvSpPr>
        <p:spPr>
          <a:xfrm>
            <a:off x="720547" y="2608874"/>
            <a:ext cx="7087166" cy="448056"/>
          </a:xfrm>
          <a:prstGeom prst="rect">
            <a:avLst/>
          </a:prstGeom>
          <a:noFill/>
        </p:spPr>
        <p:txBody>
          <a:bodyPr wrap="square" lIns="0" rIns="0" tIns="0" bIns="0">
            <a:spAutoFit/>
          </a:bodyPr>
          <a:lstStyle/>
          <a:p>
            <a:r>
              <a:rPr sz="1400">
                <a:solidFill>
                  <a:srgbClr val="0F172A"/>
                </a:solidFill>
                <a:latin typeface="Inter"/>
              </a:rPr>
              <a:t>Le Chatelier's principle states that a system at equilibrium shifts to oppose any change imposed on it.</a:t>
            </a:r>
          </a:p>
        </p:txBody>
      </p:sp>
      <p:sp>
        <p:nvSpPr>
          <p:cNvPr id="12" name="TextBox 11"/>
          <p:cNvSpPr txBox="1"/>
          <p:nvPr/>
        </p:nvSpPr>
        <p:spPr>
          <a:xfrm>
            <a:off x="720547" y="3184946"/>
            <a:ext cx="7087166" cy="224028"/>
          </a:xfrm>
          <a:prstGeom prst="rect">
            <a:avLst/>
          </a:prstGeom>
          <a:noFill/>
        </p:spPr>
        <p:txBody>
          <a:bodyPr wrap="square" lIns="0" rIns="0" tIns="0" bIns="0">
            <a:spAutoFit/>
          </a:bodyPr>
          <a:lstStyle/>
          <a:p>
            <a:r>
              <a:rPr sz="1400">
                <a:solidFill>
                  <a:srgbClr val="0F172A"/>
                </a:solidFill>
                <a:latin typeface="Inter"/>
              </a:rPr>
              <a:t>Yield is the amount of product obtained compared with the maximum possible.</a:t>
            </a:r>
          </a:p>
        </p:txBody>
      </p:sp>
      <p:sp>
        <p:nvSpPr>
          <p:cNvPr id="13" name="TextBox 12"/>
          <p:cNvSpPr txBox="1"/>
          <p:nvPr/>
        </p:nvSpPr>
        <p:spPr>
          <a:xfrm>
            <a:off x="720547" y="3536990"/>
            <a:ext cx="7087166" cy="672084"/>
          </a:xfrm>
          <a:prstGeom prst="rect">
            <a:avLst/>
          </a:prstGeom>
          <a:noFill/>
        </p:spPr>
        <p:txBody>
          <a:bodyPr wrap="square" lIns="0" rIns="0" tIns="0" bIns="0">
            <a:spAutoFit/>
          </a:bodyPr>
          <a:lstStyle/>
          <a:p>
            <a:r>
              <a:rPr sz="1400">
                <a:solidFill>
                  <a:srgbClr val="0F172A"/>
                </a:solidFill>
                <a:latin typeface="Inter"/>
              </a:rPr>
              <a:t>Example: In the Haber process for making ammonia, iron acts as a catalyst by speeding up the reaction between nitrogen and hydrogen gases without being consumed in the process.</a:t>
            </a:r>
          </a:p>
        </p:txBody>
      </p:sp>
      <p:sp>
        <p:nvSpPr>
          <p:cNvPr id="14" name="TextBox 13"/>
          <p:cNvSpPr txBox="1"/>
          <p:nvPr/>
        </p:nvSpPr>
        <p:spPr>
          <a:xfrm>
            <a:off x="720547" y="4337090"/>
            <a:ext cx="7087166" cy="672084"/>
          </a:xfrm>
          <a:prstGeom prst="rect">
            <a:avLst/>
          </a:prstGeom>
          <a:noFill/>
        </p:spPr>
        <p:txBody>
          <a:bodyPr wrap="square" lIns="0" rIns="0" tIns="0" bIns="0">
            <a:spAutoFit/>
          </a:bodyPr>
          <a:lstStyle/>
          <a:p>
            <a:r>
              <a:rPr sz="869" b="1">
                <a:solidFill>
                  <a:srgbClr val="1D4ED8"/>
                </a:solidFill>
                <a:latin typeface="Poppins"/>
              </a:rPr>
              <a:t>BECAUSE   </a:t>
            </a:r>
            <a:r>
              <a:rPr sz="1400">
                <a:solidFill>
                  <a:srgbClr val="0F172A"/>
                </a:solidFill>
                <a:latin typeface="Inter"/>
              </a:rPr>
              <a:t>Analogy: A catalyst is </a:t>
            </a:r>
            <a:r>
              <a:rPr sz="1400" b="1">
                <a:solidFill>
                  <a:srgbClr val="0F766E"/>
                </a:solidFill>
                <a:latin typeface="Poppins"/>
              </a:rPr>
              <a:t>like</a:t>
            </a:r>
            <a:r>
              <a:rPr sz="1400">
                <a:solidFill>
                  <a:srgbClr val="0F172A"/>
                </a:solidFill>
                <a:latin typeface="Inter"/>
              </a:rPr>
              <a:t> a revolving door at a busy store entrance </a:t>
            </a:r>
            <a:r>
              <a:rPr sz="1400" b="1">
                <a:solidFill>
                  <a:srgbClr val="1D4ED8"/>
                </a:solidFill>
                <a:latin typeface="Poppins"/>
              </a:rPr>
              <a:t>because</a:t>
            </a:r>
            <a:r>
              <a:rPr sz="1400">
                <a:solidFill>
                  <a:srgbClr val="0F172A"/>
                </a:solidFill>
                <a:latin typeface="Inter"/>
              </a:rPr>
              <a:t> it helps people move through the process much faster without ever becoming part of the shopping transaction itself.</a:t>
            </a:r>
          </a:p>
        </p:txBody>
      </p:sp>
      <p:sp>
        <p:nvSpPr>
          <p:cNvPr id="15" name="Rounded Rectangle 14"/>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Equilibrium balances forward and reverse rates, while Le Chatelier's principle predicts how systems oppose imposed changes.</a:t>
            </a:r>
          </a:p>
        </p:txBody>
      </p:sp>
      <p:sp>
        <p:nvSpPr>
          <p:cNvPr id="16" name="Rectangle 15"/>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The Haber Process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13 / 13</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276486"/>
          </a:xfrm>
          <a:prstGeom prst="roundRect">
            <a:avLst>
              <a:gd name="adj" fmla="val 61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160918"/>
          </a:xfrm>
          <a:prstGeom prst="rect">
            <a:avLst/>
          </a:prstGeom>
          <a:noFill/>
        </p:spPr>
        <p:txBody>
          <a:bodyPr wrap="square" anchor="t" lIns="0" tIns="0" rIns="0" bIns="0">
            <a:spAutoFit/>
          </a:bodyPr>
          <a:lstStyle/>
          <a:p>
            <a:pPr algn="l"/>
            <a:r>
              <a:rPr sz="1560" b="1">
                <a:solidFill>
                  <a:srgbClr val="1D4ED8"/>
                </a:solidFill>
                <a:latin typeface="Poppins"/>
              </a:rPr>
              <a:t>Yield &amp; Pressure</a:t>
            </a:r>
          </a:p>
          <a:p>
            <a:pPr algn="l">
              <a:spcBef>
                <a:spcPts val="500"/>
              </a:spcBef>
            </a:pPr>
            <a:r>
              <a:rPr sz="1300" b="0">
                <a:solidFill>
                  <a:srgbClr val="0F172A"/>
                </a:solidFill>
                <a:latin typeface="Inter"/>
              </a:rPr>
              <a:t>High pressure and recycling push the yield up.</a:t>
            </a:r>
          </a:p>
        </p:txBody>
      </p:sp>
      <p:sp>
        <p:nvSpPr>
          <p:cNvPr id="12" name="Rounded Rectangle 11"/>
          <p:cNvSpPr/>
          <p:nvPr/>
        </p:nvSpPr>
        <p:spPr>
          <a:xfrm>
            <a:off x="3152241" y="1298448"/>
            <a:ext cx="2493873" cy="2276486"/>
          </a:xfrm>
          <a:prstGeom prst="roundRect">
            <a:avLst>
              <a:gd name="adj" fmla="val 61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160918"/>
          </a:xfrm>
          <a:prstGeom prst="rect">
            <a:avLst/>
          </a:prstGeom>
          <a:noFill/>
        </p:spPr>
        <p:txBody>
          <a:bodyPr wrap="square" anchor="t" lIns="0" tIns="0" rIns="0" bIns="0">
            <a:spAutoFit/>
          </a:bodyPr>
          <a:lstStyle/>
          <a:p>
            <a:pPr algn="l"/>
            <a:r>
              <a:rPr sz="1560" b="1">
                <a:solidFill>
                  <a:srgbClr val="1D4ED8"/>
                </a:solidFill>
                <a:latin typeface="Poppins"/>
              </a:rPr>
              <a:t>Rate &amp; Temperature</a:t>
            </a:r>
          </a:p>
          <a:p>
            <a:pPr algn="l">
              <a:spcBef>
                <a:spcPts val="500"/>
              </a:spcBef>
            </a:pPr>
            <a:r>
              <a:rPr sz="1300" b="0">
                <a:solidFill>
                  <a:srgbClr val="0F172A"/>
                </a:solidFill>
                <a:latin typeface="Inter"/>
              </a:rPr>
              <a:t>450 degrees Celsius keeps the reaction fast enough to be economic.</a:t>
            </a:r>
          </a:p>
        </p:txBody>
      </p:sp>
      <p:sp>
        <p:nvSpPr>
          <p:cNvPr id="16" name="Rounded Rectangle 15"/>
          <p:cNvSpPr/>
          <p:nvPr/>
        </p:nvSpPr>
        <p:spPr>
          <a:xfrm>
            <a:off x="5847283" y="1298448"/>
            <a:ext cx="2493873" cy="2276486"/>
          </a:xfrm>
          <a:prstGeom prst="roundRect">
            <a:avLst>
              <a:gd name="adj" fmla="val 6185"/>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DF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160918"/>
          </a:xfrm>
          <a:prstGeom prst="rect">
            <a:avLst/>
          </a:prstGeom>
          <a:noFill/>
        </p:spPr>
        <p:txBody>
          <a:bodyPr wrap="square" anchor="t" lIns="0" tIns="0" rIns="0" bIns="0">
            <a:spAutoFit/>
          </a:bodyPr>
          <a:lstStyle/>
          <a:p>
            <a:pPr algn="l"/>
            <a:r>
              <a:rPr sz="1560" b="1">
                <a:solidFill>
                  <a:srgbClr val="1D4ED8"/>
                </a:solidFill>
                <a:latin typeface="Poppins"/>
              </a:rPr>
              <a:t>Catalyst</a:t>
            </a:r>
          </a:p>
          <a:p>
            <a:pPr algn="l">
              <a:spcBef>
                <a:spcPts val="500"/>
              </a:spcBef>
            </a:pPr>
            <a:r>
              <a:rPr sz="1300" b="0">
                <a:solidFill>
                  <a:srgbClr val="0F172A"/>
                </a:solidFill>
                <a:latin typeface="Inter"/>
              </a:rPr>
              <a:t>An iron catalyst is used to maintain economic reaction rates.</a:t>
            </a:r>
          </a:p>
        </p:txBody>
      </p:sp>
      <p:sp>
        <p:nvSpPr>
          <p:cNvPr id="20" name="Rounded Rectangle 19"/>
          <p:cNvSpPr/>
          <p:nvPr/>
        </p:nvSpPr>
        <p:spPr>
          <a:xfrm>
            <a:off x="457200" y="3776102"/>
            <a:ext cx="7883956" cy="1509129"/>
          </a:xfrm>
          <a:prstGeom prst="roundRect">
            <a:avLst>
              <a:gd name="adj" fmla="val 8000"/>
            </a:avLst>
          </a:prstGeom>
          <a:solidFill>
            <a:srgbClr val="EF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D4ED8"/>
                </a:solidFill>
                <a:latin typeface="Poppins"/>
              </a:rPr>
              <a:t>ALSO ON THIS SLIDE</a:t>
            </a:r>
          </a:p>
          <a:p>
            <a:pPr algn="l">
              <a:spcBef>
                <a:spcPts val="300"/>
              </a:spcBef>
            </a:pPr>
            <a:r>
              <a:rPr sz="1300" b="0">
                <a:solidFill>
                  <a:srgbClr val="0F172A"/>
                </a:solidFill>
                <a:latin typeface="Inter"/>
              </a:rPr>
              <a:t>Example: Yara International operates massive chemical plants that use the Haber process to combine atmospheric nitrogen with natural gas-derived hydrogen to produce essential agricultural fertilizers. Analogy: Think of the Haber process as a bustling bakery running a tight schedule, where the iron catalyst is the master chef who speeds up the bread-making so customers don't wait forever.</a:t>
            </a:r>
          </a:p>
        </p:txBody>
      </p:sp>
      <p:sp>
        <p:nvSpPr>
          <p:cNvPr id="23" name="Rounded Rectangle 22"/>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The Haber process balances yield, rate, and cost using high pressure, recycling, 450 degrees Celsius, and an iron catalyst.</a:t>
            </a:r>
          </a:p>
        </p:txBody>
      </p:sp>
      <p:sp>
        <p:nvSpPr>
          <p:cNvPr id="24" name="Rectangle 23"/>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FFC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557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Poppins"/>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C93C"/>
                </a:solidFill>
              </a:defRPr>
            </a:pPr>
            <a:r>
              <a:rPr>
                <a:latin typeface="Poppins"/>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