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AF222A"/>
            </a:solidFill>
          </c:spPr>
          <c:cat>
            <c:strRef>
              <c:f>Sheet1!$A$2:$A$5</c:f>
              <c:strCache>
                <c:ptCount val="4"/>
                <c:pt idx="0">
                  <c:v>Line-hard-serve corpus --</c:v>
                </c:pt>
                <c:pt idx="1">
                  <c:v>Interest corpus --</c:v>
                </c:pt>
                <c:pt idx="2">
                  <c:v>SemCor:</c:v>
                </c:pt>
                <c:pt idx="3">
                  <c:v>SENSEVAL-</c:v>
                </c:pt>
              </c:strCache>
            </c:strRef>
          </c:cat>
          <c:val>
            <c:numRef>
              <c:f>Sheet1!$B$2:$B$5</c:f>
              <c:numCache>
                <c:formatCode>General</c:formatCode>
                <c:ptCount val="4"/>
                <c:pt idx="0">
                  <c:v>4000.0</c:v>
                </c:pt>
                <c:pt idx="1">
                  <c:v>2369.0</c:v>
                </c:pt>
                <c:pt idx="2">
                  <c:v>234000.0</c:v>
                </c:pt>
                <c:pt idx="3">
                  <c:v>3.0</c:v>
                </c:pt>
              </c:numCache>
            </c:numRef>
          </c:val>
        </c:ser>
        <c:dLbls>
          <c:txPr>
            <a:bodyPr/>
            <a:lstStyle/>
            <a:p>
              <a:pPr>
                <a:defRPr sz="1400" b="1"/>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b"/>
        <c:majorGridlines>
          <c:spPr>
            <a:ln>
              <a:solidFill>
                <a:srgbClr val="F3DDDF"/>
              </a:solidFill>
            </a:ln>
          </c:spPr>
        </c:majorGridlines>
        <c:majorTickMark val="out"/>
        <c:minorTickMark val="none"/>
        <c:tickLblPos val="nextTo"/>
        <c:txPr>
          <a:bodyPr/>
          <a:lstStyle/>
          <a:p>
            <a:pPr>
              <a:defRPr sz="1300"/>
            </a:pPr>
          </a:p>
        </c:txPr>
        <c:crossAx val="-2068027336"/>
        <c:crosses val="autoZero"/>
      </c:valAx>
    </c:plotArea>
    <c:dispBlanksAs val="gap"/>
  </c:chart>
  <c:txPr>
    <a:bodyPr/>
    <a:lstStyle/>
    <a:p>
      <a:pPr>
        <a:defRPr sz="1400">
          <a:solidFill>
            <a:srgbClr val="11111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 Sense Disambiguation (WSD)</a:t>
            </a:r>
          </a:p>
          <a:p>
            <a:r>
              <a:t>  2. Two variants of WSD task</a:t>
            </a:r>
          </a:p>
          <a:p>
            <a:r>
              <a:t>  3. WSD Methods</a:t>
            </a:r>
          </a:p>
          <a:p>
            <a:r>
              <a:t>  4. Word Sense Disambiguation</a:t>
            </a:r>
          </a:p>
          <a:p>
            <a:r>
              <a:t>  5. Supervised Machine Learning Approaches</a:t>
            </a:r>
          </a:p>
          <a:p>
            <a:r>
              <a:t>  6. Supervised WSD 1: WSD Tags</a:t>
            </a:r>
          </a:p>
          <a:p>
            <a:r>
              <a:t>  7. 8 senses of “bass” in WordNet</a:t>
            </a:r>
          </a:p>
          <a:p>
            <a:r>
              <a:t>  8. Inventory of sense tags for bass</a:t>
            </a:r>
          </a:p>
          <a:p/>
          <a:p>
            <a:r>
              <a:t>Read these exactly (do not paraphrase):</a:t>
            </a:r>
          </a:p>
          <a:p>
            <a:r>
              <a:t>  - Agenda Word Sense Disambiguation (WSD) Two variants of WSD task WSD Methods Word Sense Disambiguation Supervised Machine Learning Approaches Supervised WSD 1: WSD Tags 8 senses of “bass” in WordNet Inventory of sense tags for bass</a:t>
            </a:r>
          </a:p>
          <a:p/>
          <a:p>
            <a:r>
              <a:t>Pause: ask the class what they already know about “Agenda” before revealing the slide.</a:t>
            </a:r>
          </a:p>
          <a:p/>
          <a:p>
            <a:r>
              <a:t>Wording matters here — slow down, keep it precise.</a:t>
            </a:r>
          </a:p>
          <a:p/>
          <a:p>
            <a:r>
              <a:t>~68s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Given</a:t>
            </a:r>
          </a:p>
          <a:p>
            <a:r>
              <a:t>  2. A word in context</a:t>
            </a:r>
          </a:p>
          <a:p>
            <a:r>
              <a:t>  3. A fixed inventory of potential word senses</a:t>
            </a:r>
          </a:p>
          <a:p>
            <a:r>
              <a:t>  4. Decide which sense of the word this is</a:t>
            </a:r>
          </a:p>
          <a:p>
            <a:r>
              <a:t>  5. Why? Machine translation, QA, speech synthesis</a:t>
            </a:r>
          </a:p>
          <a:p>
            <a:r>
              <a:t>  6. What set of senses?</a:t>
            </a:r>
          </a:p>
          <a:p>
            <a:r>
              <a:t>  7. English-to-Spanish MT: set of Spanish translations</a:t>
            </a:r>
          </a:p>
          <a:p/>
          <a:p>
            <a:r>
              <a:t>Read these exactly (do not paraphrase):</a:t>
            </a:r>
          </a:p>
          <a:p>
            <a:r>
              <a:t>  - Word Sense Disambiguation (WSD) Given A word in context A fixed inventory of potential word senses Decide which sense of the word this is Why?</a:t>
            </a:r>
          </a:p>
          <a:p/>
          <a:p>
            <a:r>
              <a:t>Say what these mean, in your own words:</a:t>
            </a:r>
          </a:p>
          <a:p>
            <a:r>
              <a:t>  - Word Sense Disambiguation (WSD): The task of deciding which sense of a word is intended in a given context.</a:t>
            </a:r>
          </a:p>
          <a:p>
            <a:r>
              <a:t>  - Sense inventory: A fixed set of potential word meanings derived from sources like a thesaurus.</a:t>
            </a:r>
          </a:p>
          <a:p/>
          <a:p>
            <a:r>
              <a:t>Pause: ask the class what they already know about “Word Sense Disambiguation (WSD)”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Lexical Sample task</a:t>
            </a:r>
          </a:p>
          <a:p>
            <a:r>
              <a:t>  2. Small pre-selected set of target words (line, plant)</a:t>
            </a:r>
          </a:p>
          <a:p>
            <a:r>
              <a:t>  3. And inventory of senses for each word</a:t>
            </a:r>
          </a:p>
          <a:p>
            <a:r>
              <a:t>  4. Supervised machine learning: train a classifier for each word</a:t>
            </a:r>
          </a:p>
          <a:p>
            <a:r>
              <a:t>  5. All-words task</a:t>
            </a:r>
          </a:p>
          <a:p>
            <a:r>
              <a:t>  6. Every word in an entire text</a:t>
            </a:r>
          </a:p>
          <a:p>
            <a:r>
              <a:t>  7. A lexicon with senses for each word</a:t>
            </a:r>
          </a:p>
          <a:p/>
          <a:p>
            <a:r>
              <a:t>Read these exactly (do not paraphrase):</a:t>
            </a:r>
          </a:p>
          <a:p>
            <a:r>
              <a:t>  - Two main variants of the WSD task address either preselected target words or entire texts Lexical Sample task Small pre-selected set of target words (line, plant) And inventory of senses for each word Supervised machine learning: train a classifier for each word All-words task Every word in an entire text A lexicon with senses for each word Data sparseness: can’t train word-specific classifiers</a:t>
            </a:r>
          </a:p>
          <a:p/>
          <a:p>
            <a:r>
              <a:t>Say what these mean, in your own words:</a:t>
            </a:r>
          </a:p>
          <a:p>
            <a:r>
              <a:t>  - Lexical Sample task: WSD focused on a small pre-selected set of target words with supervised classifiers.</a:t>
            </a:r>
          </a:p>
          <a:p>
            <a:r>
              <a:t>  - All-words task: WSD applied to every word in an entire text using a lexicon of senses.</a:t>
            </a:r>
          </a:p>
          <a:p/>
          <a:p>
            <a:r>
              <a:t>Pause: ask the class what they already know about “Two main variants of the WSD task address either preselected target words or entire texts”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Machine Learning</a:t>
            </a:r>
          </a:p>
          <a:p>
            <a:r>
              <a:t>  2. Thesaurus/Dictionary Methods</a:t>
            </a:r>
          </a:p>
          <a:p>
            <a:r>
              <a:t>  3. Semi-Supervised Learning</a:t>
            </a:r>
          </a:p>
          <a:p>
            <a:r>
              <a:t>  4. Word sense disambiguation relies on different methodological strategies to categorize word meanings.</a:t>
            </a:r>
          </a:p>
          <a:p>
            <a:r>
              <a:t>  5. These include supervised machine learning, dictionary or thesaurus methods, and semi-supervised learning techniques.</a:t>
            </a:r>
          </a:p>
          <a:p/>
          <a:p>
            <a:r>
              <a:t>Say what these mean, in your own words:</a:t>
            </a:r>
          </a:p>
          <a:p>
            <a:r>
              <a:t>  - Supervised Machine Learning: Using labeled training data to learn classifiers for predicting word senses.</a:t>
            </a:r>
          </a:p>
          <a:p>
            <a:r>
              <a:t>  - Thesaurus/Dictionary Methods: Using structured lexical resources to determine word meanings without training data.</a:t>
            </a:r>
          </a:p>
          <a:p/>
          <a:p>
            <a:r>
              <a:t>Pause: ask the class what they already know about “WSD Methods”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a:t>
            </a:r>
          </a:p>
          <a:p>
            <a:r>
              <a:t>  2. Machine Learning</a:t>
            </a:r>
          </a:p>
          <a:p/>
          <a:p>
            <a:r>
              <a:t>Pause: ask the class what they already know about “Word Sense Disambiguation” before revealing the slide.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machine learning approach:</a:t>
            </a:r>
          </a:p>
          <a:p>
            <a:r>
              <a:t>  2. a training corpus of words tagged in context with their sense</a:t>
            </a:r>
          </a:p>
          <a:p>
            <a:r>
              <a:t>  3. used to train a classifier that can tag words in new text</a:t>
            </a:r>
          </a:p>
          <a:p>
            <a:r>
              <a:t>  4. Summary of what we need:</a:t>
            </a:r>
          </a:p>
          <a:p>
            <a:r>
              <a:t>  5. the tag set (“sense inventory”)</a:t>
            </a:r>
          </a:p>
          <a:p>
            <a:r>
              <a:t>  6. the training corpus</a:t>
            </a:r>
          </a:p>
          <a:p>
            <a:r>
              <a:t>  7. A set of features extracted from the training corpus</a:t>
            </a:r>
          </a:p>
          <a:p/>
          <a:p>
            <a:r>
              <a:t>Read these exactly (do not paraphrase):</a:t>
            </a:r>
          </a:p>
          <a:p>
            <a:r>
              <a:t>  - Supervised Machine Learning Approaches Supervised machine learning approach: a training corpus of words tagged in context with their sense used to train a classifier that can tag words in new text Summary of what we need: the tag set (“sense inventory”) the training corpus A set of features extracted from the training corpus A classifier</a:t>
            </a:r>
          </a:p>
          <a:p/>
          <a:p>
            <a:r>
              <a:t>Say what these mean, in your own words:</a:t>
            </a:r>
          </a:p>
          <a:p>
            <a:r>
              <a:t>  - Supervised learning approach: Training a classifier on sense-tagged text to automatically tag words in new text.</a:t>
            </a:r>
          </a:p>
          <a:p>
            <a:r>
              <a:t>  - Training corpus: A collection of texts where words are tagged in context with their correct sense.</a:t>
            </a:r>
          </a:p>
          <a:p/>
          <a:p>
            <a:r>
              <a:t>Pause: ask the class what they already know about “Supervised Machine Learning Approaches”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What’s a tag?</a:t>
            </a:r>
          </a:p>
          <a:p>
            <a:r>
              <a:t>  2. A dictionary sense?</a:t>
            </a:r>
          </a:p>
          <a:p>
            <a:r>
              <a:t>  3. For example, for WordNet an instance of “bass” in a text has 8 possible tags or labels (bass1 through bass8).</a:t>
            </a:r>
          </a:p>
          <a:p>
            <a:r>
              <a:t>  4. A tag represents a specific dictionary sense assigned to a word in context.</a:t>
            </a:r>
          </a:p>
          <a:p>
            <a:r>
              <a:t>  5. For example, an instance of the word bass in a text can have eight distinct labels.</a:t>
            </a:r>
          </a:p>
          <a:p>
            <a:r>
              <a:t>  6. Example: Labeling the word 'bass' with one of eight possible WordNet sense tags.</a:t>
            </a:r>
          </a:p>
          <a:p/>
          <a:p>
            <a:r>
              <a:t>Read these exactly (do not paraphrase):</a:t>
            </a:r>
          </a:p>
          <a:p>
            <a:r>
              <a:t>  - For example, for WordNet an instance of “bass” in a text has 8 possible tags or labels (bass1 through bass8).</a:t>
            </a:r>
          </a:p>
          <a:p/>
          <a:p>
            <a:r>
              <a:t>Say what these mean, in your own words:</a:t>
            </a:r>
          </a:p>
          <a:p>
            <a:r>
              <a:t>  - Tag: A label representing a dictionary sense assigned to a word in context.</a:t>
            </a:r>
          </a:p>
          <a:p>
            <a:r>
              <a:t>  - WordNet: A lexical database providing multiple numbered sense definitions for words.</a:t>
            </a:r>
          </a:p>
          <a:p/>
          <a:p>
            <a:r>
              <a:t>Pause: ask the class what they already know about “Supervised WSD tags use dictionary senses to label word instances in text” before revealing the slide.</a:t>
            </a:r>
          </a:p>
          <a:p/>
          <a:p>
            <a:r>
              <a:t>~54s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bass -- (the lowest part of the musical range) 2. bass, bass part -- (the lowest part in polyphonic music) 3. bass, b</a:t>
            </a:r>
          </a:p>
          <a:p>
            <a:r>
              <a:t>  2. Serranidae)</a:t>
            </a:r>
          </a:p>
          <a:p>
            <a:r>
              <a:t>  3. 5. freshwater bass, bass -- (any of various North American lean-fleshed freshwater fishes especially of the genus Microp</a:t>
            </a:r>
          </a:p>
          <a:p/>
          <a:p>
            <a:r>
              <a:t>Read these exactly (do not paraphrase):</a:t>
            </a:r>
          </a:p>
          <a:p>
            <a:r>
              <a:t>  - bass -- (the lowest part of the musical range) 2.</a:t>
            </a:r>
          </a:p>
          <a:p>
            <a:r>
              <a:t>  - bass, bass part -- (the lowest part in polyphonic music) 3.</a:t>
            </a:r>
          </a:p>
          <a:p>
            <a:r>
              <a:t>  - bass, basso -- (an adult male singer with the lowest voice) 4.</a:t>
            </a:r>
          </a:p>
          <a:p>
            <a:r>
              <a:t>  - sea bass, bass -- (flesh of lean-fleshed saltwater fish of the family Serranidae) 5.</a:t>
            </a:r>
          </a:p>
          <a:p/>
          <a:p>
            <a:r>
              <a:t>Say what these mean, in your own words:</a:t>
            </a:r>
          </a:p>
          <a:p>
            <a:r>
              <a:t>  - WordNet: A lexical database that organizes word meanings into distinct numbered senses.</a:t>
            </a:r>
          </a:p>
          <a:p>
            <a:r>
              <a:t>  - Sense: A discrete, specific definition or meaning of a word.</a:t>
            </a:r>
          </a:p>
          <a:p/>
          <a:p>
            <a:r>
              <a:t>Pause: ask the class what they already know about “WordNet provides eight distinct senses for the ambiguous word bass” before revealing the slide.</a:t>
            </a:r>
          </a:p>
          <a:p/>
          <a:p>
            <a:r>
              <a:t>Wording matters here — slow down, keep it precise.</a:t>
            </a:r>
          </a:p>
          <a:p/>
          <a:p>
            <a:r>
              <a:t>~33s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WordNet Spanish</a:t>
            </a:r>
          </a:p>
          <a:p>
            <a:r>
              <a:t>  2. Roget</a:t>
            </a:r>
          </a:p>
          <a:p>
            <a:r>
              <a:t>  3. Sense</a:t>
            </a:r>
          </a:p>
          <a:p>
            <a:r>
              <a:t>  4. Translation Category</a:t>
            </a:r>
          </a:p>
          <a:p>
            <a:r>
              <a:t>  5. Target Word in Context</a:t>
            </a:r>
          </a:p>
          <a:p>
            <a:r>
              <a:t>  6. bass4</a:t>
            </a:r>
          </a:p>
          <a:p>
            <a:r>
              <a:t>  7. ... ﬁsh as Paciﬁc salmon and striped bass and...</a:t>
            </a:r>
          </a:p>
          <a:p/>
          <a:p>
            <a:r>
              <a:t>Say what these mean, in your own words:</a:t>
            </a:r>
          </a:p>
          <a:p>
            <a:r>
              <a:t>  - Sense Translation: Equivalent meaning in another language, such as Spanish for WordNet senses.</a:t>
            </a:r>
          </a:p>
          <a:p>
            <a:r>
              <a:t>  - Category: A broader semantic domain or classification for a specific word sense.</a:t>
            </a:r>
          </a:p>
          <a:p/>
          <a:p>
            <a:r>
              <a:t>Pause: ask the class what they already know about “Sense tag inventories map words to translations and categories across different resources”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Lexical sample task:</a:t>
            </a:r>
          </a:p>
          <a:p>
            <a:r>
              <a:t>  2. Line-hard-serve corpus -- 4000 examples of each</a:t>
            </a:r>
          </a:p>
          <a:p>
            <a:r>
              <a:t>  3. Interest corpus -- 2369 sense-tagged examples</a:t>
            </a:r>
          </a:p>
          <a:p>
            <a:r>
              <a:t>  4. All words:</a:t>
            </a:r>
          </a:p>
          <a:p>
            <a:r>
              <a:t>  5. Semantic concordance: a corpus in which each open-class word is labeled with a sense from a specific dictionary/thesauru</a:t>
            </a:r>
          </a:p>
          <a:p>
            <a:r>
              <a:t>  6. SemCor: 234,000 words from Brown Corpus, manually tagged with WordNet senses</a:t>
            </a:r>
          </a:p>
          <a:p>
            <a:r>
              <a:t>  7. SENSEVAL-3 competition corpora -- 2081 tagged word tokens</a:t>
            </a:r>
          </a:p>
          <a:p/>
          <a:p>
            <a:r>
              <a:t>Say what these mean, in your own words:</a:t>
            </a:r>
          </a:p>
          <a:p>
            <a:r>
              <a:t>  - Semantic concordance: A corpus where each open-class word is labeled with a dictionary or thesaurus sense.</a:t>
            </a:r>
          </a:p>
          <a:p>
            <a:r>
              <a:t>  - SemCor: A manually tagged subset of the Brown Corpus using WordNet senses.</a:t>
            </a:r>
          </a:p>
          <a:p/>
          <a:p>
            <a:r>
              <a:t>Pause: ask the class what they already know about “Supervised WSD requires specialized corpora like SemCor for training and evaluation”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wf pos=PRP&gt;He&lt;/wf&gt;</a:t>
            </a:r>
          </a:p>
          <a:p>
            <a:r>
              <a:t>  2. wf pos=VB lemma=recognize wnsn=4 lexsn=2:31:00::&gt;recognized&lt;/wf&gt;</a:t>
            </a:r>
          </a:p>
          <a:p>
            <a:r>
              <a:t>  3. wf pos=DT&gt;the&lt;/wf&gt;</a:t>
            </a:r>
          </a:p>
          <a:p>
            <a:r>
              <a:t>  4. wf pos=NN lemma=gesture wnsn=1 lexsn=1:04:00::&gt;gesture&lt;/wf&gt;</a:t>
            </a:r>
          </a:p>
          <a:p>
            <a:r>
              <a:t>  5. punc&gt;.&lt;/punc&gt;</a:t>
            </a:r>
          </a:p>
          <a:p/>
          <a:p>
            <a:r>
              <a:t>Read these exactly (do not paraphrase):</a:t>
            </a:r>
          </a:p>
          <a:p>
            <a:r>
              <a:t>  - SemCor explicitly encodes part of speech and lemma information for words in context wf pos=PRP&gt;He&lt;/wf&gt; wf pos=VB lemma=recognize wnsn=4 lexsn=2:31:00::&gt;recognized&lt;/wf&gt; wf pos=DT&gt;the&lt;/wf&gt; wf pos=NN lemma=gesture wnsn=1 lexsn=1:04:00::&gt;gesture&lt;/wf&gt; punc&gt;.&lt;/punc&gt;</a:t>
            </a:r>
          </a:p>
          <a:p/>
          <a:p>
            <a:r>
              <a:t>Say what these mean, in your own words:</a:t>
            </a:r>
          </a:p>
          <a:p>
            <a:r>
              <a:t>  - Lemma: The base dictionary form of a word.</a:t>
            </a:r>
          </a:p>
          <a:p>
            <a:r>
              <a:t>  - Part of Speech (POS): The grammatical category of a word, such as pronoun, verb, or noun.</a:t>
            </a:r>
          </a:p>
          <a:p/>
          <a:p>
            <a:r>
              <a:t>Pause: ask the class what they already know about “SemCor explicitly encodes part of speech and lemma information for words in context”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Surrounding context words in a sufficiently wide window reveal the meaning of a central word “If one examines the words in a book, one at a time as through an opaque mask with a hole in it one word wide, then it is obviously impossible to determine, one at a time, the meaning of the words… But if one lengthens the slit in the opaque mask, until one can see not only the central word in question but also say N words on either side, then if N is large enough one can unambiguously decide the meaning of the central word… The practical question is: ``What minimum value of N will, at least in a tolerable fraction of cases, lead to the correct choice of meaning for the central word?”</a:t>
            </a:r>
          </a:p>
          <a:p/>
          <a:p>
            <a:r>
              <a:t>Say what these mean, in your own words:</a:t>
            </a:r>
          </a:p>
          <a:p>
            <a:r>
              <a:t>  - Context window: A span of N words on either side of a central word used for disambiguation.</a:t>
            </a:r>
          </a:p>
          <a:p>
            <a:r>
              <a:t>  - Feature vector: A set of extracted contextual features used to train a word sense classifier.</a:t>
            </a:r>
          </a:p>
          <a:p/>
          <a:p>
            <a:r>
              <a:t>Pause: ask the class what they already know about “Surrounding context words in a sufficiently wide window reveal the meaning of a central word”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simple representation for each observation (each instance of a target word)</a:t>
            </a:r>
          </a:p>
          <a:p>
            <a:r>
              <a:t>  2. Vectors of sets of feature/value pairs</a:t>
            </a:r>
          </a:p>
          <a:p>
            <a:r>
              <a:t>  3. Represented as a ordered list of values</a:t>
            </a:r>
          </a:p>
          <a:p>
            <a:r>
              <a:t>  4. These vectors represent, e.g., the window of words around the target</a:t>
            </a:r>
          </a:p>
          <a:p>
            <a:r>
              <a:t>  5. Feature vectors represent an observation as a list of values.</a:t>
            </a:r>
          </a:p>
          <a:p>
            <a:r>
              <a:t>  6. Each value corresponds to a feature such as a word or part-of-speech tag.</a:t>
            </a:r>
          </a:p>
          <a:p>
            <a:r>
              <a:t>  7. The order of values reflects the feature’s position in the vector.</a:t>
            </a:r>
          </a:p>
          <a:p/>
          <a:p>
            <a:r>
              <a:t>Read these exactly (do not paraphrase):</a:t>
            </a:r>
          </a:p>
          <a:p>
            <a:r>
              <a:t>  - Feature vectors encode each target word by ordered values A simple representation for each observation (each instance of a target word) Vectors of sets of feature/value pairs Represented as a ordered list of values These vectors represent, e.g., the window of words around the target Feature vectors represent an observation as a list of values.</a:t>
            </a:r>
          </a:p>
          <a:p/>
          <a:p>
            <a:r>
              <a:t>Say what these mean, in your own words:</a:t>
            </a:r>
          </a:p>
          <a:p>
            <a:r>
              <a:t>  - feature vector: An ordered list of numeric values representing attributes of an observation.</a:t>
            </a:r>
          </a:p>
          <a:p/>
          <a:p>
            <a:r>
              <a:t>Pause: ask the class what they already know about “Feature vectors encode each target word by ordered values”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Collocational features and bag-of-words features</a:t>
            </a:r>
          </a:p>
          <a:p>
            <a:r>
              <a:t>  2. Collocational</a:t>
            </a:r>
          </a:p>
          <a:p>
            <a:r>
              <a:t>  3. Features about words at specific positions near target word</a:t>
            </a:r>
          </a:p>
          <a:p>
            <a:r>
              <a:t>  4. Often limited to just word identity and POS</a:t>
            </a:r>
          </a:p>
          <a:p>
            <a:r>
              <a:t>  5. Bag-of-words</a:t>
            </a:r>
          </a:p>
          <a:p>
            <a:r>
              <a:t>  6. Features about words that occur anywhere in the window (regardless of position)</a:t>
            </a:r>
          </a:p>
          <a:p>
            <a:r>
              <a:t>  7. Typically limited to frequency counts</a:t>
            </a:r>
          </a:p>
          <a:p/>
          <a:p>
            <a:r>
              <a:t>Read these exactly (do not paraphrase):</a:t>
            </a:r>
          </a:p>
          <a:p>
            <a:r>
              <a:t>  - Vectors contain collocational and bag-of-words features Collocational features and bag-of-words features Collocational Features about words at specific positions near target word Often limited to just word identity and POS Bag-of-words Features about words that occur anywhere in the window (regardless of position) Typically limited to frequency counts Collocational features capture words at specific positions near the target, often using word identity and part-of-speech.</a:t>
            </a:r>
          </a:p>
          <a:p/>
          <a:p>
            <a:r>
              <a:t>Say what these mean, in your own words:</a:t>
            </a:r>
          </a:p>
          <a:p>
            <a:r>
              <a:t>  - collocational feature: A feature that records a word at a specific position relative to the target.</a:t>
            </a:r>
          </a:p>
          <a:p>
            <a:r>
              <a:t>  - bag-of-words feature: A feature that counts word occurrences regardless of position.</a:t>
            </a:r>
          </a:p>
          <a:p/>
          <a:p>
            <a:r>
              <a:t>Pause: ask the class what they already know about “Vectors contain collocational and bag-of-words features”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Example text (WSJ): An electric guitar and bass player stand off to one side not really part of the scene</a:t>
            </a:r>
          </a:p>
          <a:p>
            <a:r>
              <a:t>  2. Assume a window of +/-- 2 from the target</a:t>
            </a:r>
          </a:p>
          <a:p>
            <a:r>
              <a:t>  3. The sentence "An electric guitar and bass player stand off to one side not really part of the scene" is used.</a:t>
            </a:r>
          </a:p>
          <a:p>
            <a:r>
              <a:t>  4. A window of ±2 words around the target word is assumed.</a:t>
            </a:r>
          </a:p>
          <a:p>
            <a:r>
              <a:t>  5. This demonstrates how context is extracted for feature creation.</a:t>
            </a:r>
          </a:p>
          <a:p/>
          <a:p>
            <a:r>
              <a:t>Read these exactly (do not paraphrase):</a:t>
            </a:r>
          </a:p>
          <a:p>
            <a:r>
              <a:t>  - Example text illustrates a 5-word window around a target Example text (WSJ): An electric guitar and bass player stand off to one side not really part of the scene Assume a window of +/-- 2 from the target The sentence "An electric guitar and bass player stand off to one side not really part of the scene" is used.</a:t>
            </a:r>
          </a:p>
          <a:p>
            <a:r>
              <a:t>  - A window of ±2 words around the target word is assumed.</a:t>
            </a:r>
          </a:p>
          <a:p/>
          <a:p>
            <a:r>
              <a:t>Pause: ask the class what they already know about “Example text illustrates a 5-word window around a target” before revealing the slide.</a:t>
            </a:r>
          </a:p>
          <a:p/>
          <a:p>
            <a:r>
              <a:t>Wording matters here — slow down, keep it precise.</a:t>
            </a:r>
          </a:p>
          <a:p/>
          <a:p>
            <a:r>
              <a:t>~47s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Example text (WSJ) An electric guitar and bass player stand off to one side not really part of the scene,</a:t>
            </a:r>
          </a:p>
          <a:p>
            <a:r>
              <a:t>  2. Assume a window of +/-- 2 from the target</a:t>
            </a:r>
          </a:p>
          <a:p/>
          <a:p>
            <a:r>
              <a:t>Read these exactly (do not paraphrase):</a:t>
            </a:r>
          </a:p>
          <a:p>
            <a:r>
              <a:t>  - Same example text repeats to emphasize window selection Example text (WSJ) An electric guitar and bass player stand off to one side not really part of the scene, Assume a window of +/-- 2 from the target</a:t>
            </a:r>
          </a:p>
          <a:p/>
          <a:p>
            <a:r>
              <a:t>Say what these mean, in your own words:</a:t>
            </a:r>
          </a:p>
          <a:p>
            <a:r>
              <a:t>  - wsj: Example text</a:t>
            </a:r>
          </a:p>
          <a:p/>
          <a:p>
            <a:r>
              <a:t>Pause: ask the class what they already know about “Same example text repeats to emphasize window selection” before revealing the slide.</a:t>
            </a:r>
          </a:p>
          <a:p/>
          <a:p>
            <a:r>
              <a:t>Wording matters here — slow down, keep it precise.</a:t>
            </a:r>
          </a:p>
          <a:p/>
          <a:p>
            <a:r>
              <a:t>~26s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Position-specific information about the words and collocations in window</a:t>
            </a:r>
          </a:p>
          <a:p>
            <a:r>
              <a:t>  2. guitar and bass player stand</a:t>
            </a:r>
          </a:p>
          <a:p>
            <a:r>
              <a:t>  3. [wi−2,POSi−2,wi−1,POSi−1,wi+1,POSi+1,wi+2,POSi+2,wi−1</a:t>
            </a:r>
          </a:p>
          <a:p>
            <a:r>
              <a:t>  4. i−2,wi+1 ]</a:t>
            </a:r>
          </a:p>
          <a:p>
            <a:r>
              <a:t>  5. [guitar, NN, and, CC, player, NN, stand, VB, and guitar, player stand]</a:t>
            </a:r>
          </a:p>
          <a:p>
            <a:r>
              <a:t>  6. word 1,2,3 grams in window of ±3 is common</a:t>
            </a:r>
          </a:p>
          <a:p>
            <a:r>
              <a:t>  7. For the window "guitar and bass player stand", the vector includes words and their part-of-speech tags at positions -2, </a:t>
            </a:r>
          </a:p>
          <a:p/>
          <a:p>
            <a:r>
              <a:t>Read these exactly (do not paraphrase):</a:t>
            </a:r>
          </a:p>
          <a:p>
            <a:r>
              <a:t>  - Collocational features list words and POS at each position Position-specific information about the words and collocations in window guitar and bass player stand [wi−2,POSi−2,wi−1,POSi−1,wi+1,POSi+1,wi+2,POSi+2,wi−1 i−2,wi+1 ] [guitar, NN, and, CC, player, NN, stand, VB, and guitar, player stand] word 1,2,3 grams in window of ±3 is common For the window "guitar and bass player stand", the vector includes words and their part-of-speech tags at positions -2, -1, +1, +2.</a:t>
            </a:r>
          </a:p>
          <a:p>
            <a:r>
              <a:t>  - It also includes bigrams like "guitar player".</a:t>
            </a:r>
          </a:p>
          <a:p/>
          <a:p>
            <a:r>
              <a:t>Say what these mean, in your own words:</a:t>
            </a:r>
          </a:p>
          <a:p>
            <a:r>
              <a:t>  - POS: Part-of-speech tag indicating grammatical category of a word.</a:t>
            </a:r>
          </a:p>
          <a:p/>
          <a:p>
            <a:r>
              <a:t>Pause: ask the class what they already know about “Collocational features list words and POS at each position” before revealing the slide.</a:t>
            </a:r>
          </a:p>
          <a:p/>
          <a:p>
            <a:r>
              <a:t>Wording matters here — slow down, keep it precise.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“an unordered set of words” – position ignored</a:t>
            </a:r>
          </a:p>
          <a:p>
            <a:r>
              <a:t>  2. Counts of words occur within the window.</a:t>
            </a:r>
          </a:p>
          <a:p>
            <a:r>
              <a:t>  3. First choose a vocabulary</a:t>
            </a:r>
          </a:p>
          <a:p>
            <a:r>
              <a:t>  4. Then count how often each of those terms occurs in a given window</a:t>
            </a:r>
          </a:p>
          <a:p>
            <a:r>
              <a:t>  5. sometimes just a binary “indicator” 1 or 0</a:t>
            </a:r>
          </a:p>
          <a:p>
            <a:r>
              <a:t>  6. The vector ignores word order and records how many times each vocabulary word appears in the window.</a:t>
            </a:r>
          </a:p>
          <a:p>
            <a:r>
              <a:t>  7. After choosing a vocabulary, each term gets a count or a binary indicator.</a:t>
            </a:r>
          </a:p>
          <a:p/>
          <a:p>
            <a:r>
              <a:t>Read these exactly (do not paraphrase):</a:t>
            </a:r>
          </a:p>
          <a:p>
            <a:r>
              <a:t>  - Bag-of-words features count unordered words in the window “an unordered set of words” – position ignored Counts of words occur within the window.</a:t>
            </a:r>
          </a:p>
          <a:p/>
          <a:p>
            <a:r>
              <a:t>Say what these mean, in your own words:</a:t>
            </a:r>
          </a:p>
          <a:p>
            <a:r>
              <a:t>  - vocabulary: The set of distinct words used to build the feature vector.</a:t>
            </a:r>
          </a:p>
          <a:p/>
          <a:p>
            <a:r>
              <a:t>Pause: ask the class what they already know about “Bag-of-words features count unordered words in the window”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Assume we’ve settled on a possible vocabulary of 12 words in “bass” sentences:</a:t>
            </a:r>
          </a:p>
          <a:p>
            <a:r>
              <a:t>  2. [fishing, big, sound, player, fly, rod, pound, double, runs, playing, guitar, band]</a:t>
            </a:r>
          </a:p>
          <a:p>
            <a:r>
              <a:t>  3. The vector for:</a:t>
            </a:r>
          </a:p>
          <a:p>
            <a:r>
              <a:t>  4. guitar and bass player stand [0,0,0,1,0,0,0,0,0,0,1,0]</a:t>
            </a:r>
          </a:p>
          <a:p>
            <a:r>
              <a:t>  5. With a 12-word vocabulary, the window "guitar and bass player stand" yields a vector of zeros and ones.</a:t>
            </a:r>
          </a:p>
          <a:p>
            <a:r>
              <a:t>  6. Each position indicates whether the corresponding vocabulary word appears in the window.</a:t>
            </a:r>
          </a:p>
          <a:p>
            <a:r>
              <a:t>  7. This binary representation is a simple bag-of-words feature.</a:t>
            </a:r>
          </a:p>
          <a:p/>
          <a:p>
            <a:r>
              <a:t>Read these exactly (do not paraphrase):</a:t>
            </a:r>
          </a:p>
          <a:p>
            <a:r>
              <a:t>  - Co-occurrence example shows a binary vector for a target window Assume we’ve settled on a possible vocabulary of 12 words in “bass” sentences: [fishing, big, sound, player, fly, rod, pound, double, runs, playing, guitar, band] The vector for: guitar and bass player stand [0,0,0,1,0,0,0,0,0,0,1,0] With a 12-word vocabulary, the window "guitar and bass player stand" yields a vector of zeros and ones.</a:t>
            </a:r>
          </a:p>
          <a:p/>
          <a:p>
            <a:r>
              <a:t>Say what these mean, in your own words:</a:t>
            </a:r>
          </a:p>
          <a:p>
            <a:r>
              <a:t>  - binary vector: A vector of 0s and 1s indicating presence or absence of features.</a:t>
            </a:r>
          </a:p>
          <a:p/>
          <a:p>
            <a:r>
              <a:t>Pause: ask the class what they already know about “Co-occurrence example shows a binary vector for a target window”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Word Sense Disambiguation (2) Classification</a:t>
            </a:r>
          </a:p>
          <a:p/>
          <a:p>
            <a:r>
              <a:t>Pause: ask the class what they already know about “Word Sense Disambiguation (2)” before revealing the slide.</a:t>
            </a:r>
          </a:p>
          <a:p/>
          <a:p>
            <a:r>
              <a:t>Wording matters here — slow down, keep it precise.</a:t>
            </a:r>
          </a:p>
          <a:p/>
          <a:p>
            <a:r>
              <a:t>~19s</a:t>
            </a:r>
          </a:p>
          <a:p>
            <a:r>
              <a:t>Text in the figure: probability a ha Ps i= rather =| = Bea = ay: ma lone &amp; no nin nt oe rule roblem cD _— i gor a3 par | haan d gol £2 semantic. = different" NE. = rules ag age sen represent analysis = = ven np lsical Ge a models = roan CES terms lation</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Input:</a:t>
            </a:r>
          </a:p>
          <a:p>
            <a:r>
              <a:t>  2. a word w and some features f</a:t>
            </a:r>
          </a:p>
          <a:p>
            <a:r>
              <a:t>  3. a fixed set of classes C = {c1, c2,…, cJ}</a:t>
            </a:r>
          </a:p>
          <a:p>
            <a:r>
              <a:t>  4. Output: a predicted class c∈C</a:t>
            </a:r>
          </a:p>
          <a:p>
            <a:r>
              <a:t>  5. Given a word w and its feature vector f, the classifier outputs a predicted class c from a fixed set C.</a:t>
            </a:r>
          </a:p>
          <a:p>
            <a:r>
              <a:t>  6. The process transforms linguistic input into categorical labels such as part-of-speech tags or named-entity types.</a:t>
            </a:r>
          </a:p>
          <a:p/>
          <a:p>
            <a:r>
              <a:t>Read these exactly (do not paraphrase):</a:t>
            </a:r>
          </a:p>
          <a:p>
            <a:r>
              <a:t>  - Classification maps a word and its features to a class Input: a word w and some features f a fixed set of classes C = {c1, c2,…, cJ} Output: a predicted class c∈C Given a word w and its feature vector f, the classifier outputs a predicted class c from a fixed set C.</a:t>
            </a:r>
          </a:p>
          <a:p/>
          <a:p>
            <a:r>
              <a:t>Say what these mean, in your own words:</a:t>
            </a:r>
          </a:p>
          <a:p>
            <a:r>
              <a:t>  - classifier: A function that assigns a class label to an input based on its features.</a:t>
            </a:r>
          </a:p>
          <a:p/>
          <a:p>
            <a:r>
              <a:t>Pause: ask the class what they already know about “Classification maps a word and its features to a class” before revealing the slide.</a:t>
            </a:r>
          </a:p>
          <a:p/>
          <a:p>
            <a:r>
              <a:t>Wording matters here — slow down, keep it precise.</a:t>
            </a:r>
          </a:p>
          <a:p/>
          <a:p>
            <a:r>
              <a:t>~54s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Input:</a:t>
            </a:r>
          </a:p>
          <a:p>
            <a:r>
              <a:t>  2. a word w in a text window d (which we’ll call a “document”)</a:t>
            </a:r>
          </a:p>
          <a:p>
            <a:r>
              <a:t>  3. a fixed set of classes C = {c1, c2,…, cJ}</a:t>
            </a:r>
          </a:p>
          <a:p>
            <a:r>
              <a:t>  4. A training set of m hand-labeled text windows again called</a:t>
            </a:r>
          </a:p>
          <a:p>
            <a:r>
              <a:t>  5. “documents” (d1,c1),....,(dm,cm)</a:t>
            </a:r>
          </a:p>
          <a:p>
            <a:r>
              <a:t>  6. Output:</a:t>
            </a:r>
          </a:p>
          <a:p>
            <a:r>
              <a:t>  7. a learned classifier γ:d à→c</a:t>
            </a:r>
          </a:p>
          <a:p/>
          <a:p>
            <a:r>
              <a:t>Read these exactly (do not paraphrase):</a:t>
            </a:r>
          </a:p>
          <a:p>
            <a:r>
              <a:t>  - Supervised learning trains a classifier from labeled windows Input: a word w in a text window d (which we’ll call a “document”) a fixed set of classes C = {c1, c2,…, cJ} A training set of m hand-labeled text windows again called “documents” (d1,c1),....,(dm,cm) Output: a learned classifier γ:d à→c Training data consists of m labeled windows (documents) with known classes.</a:t>
            </a:r>
          </a:p>
          <a:p/>
          <a:p>
            <a:r>
              <a:t>Say what these mean, in your own words:</a:t>
            </a:r>
          </a:p>
          <a:p>
            <a:r>
              <a:t>  - training set: A collection of labeled examples used to train a model.</a:t>
            </a:r>
          </a:p>
          <a:p/>
          <a:p>
            <a:r>
              <a:t>Pause: ask the class what they already know about “Supervised learning trains a classifier from labeled windows”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Any kind of classifier</a:t>
            </a:r>
          </a:p>
          <a:p>
            <a:r>
              <a:t>  2. Naive Bayes</a:t>
            </a:r>
          </a:p>
          <a:p>
            <a:r>
              <a:t>  3. Logistic regression</a:t>
            </a:r>
          </a:p>
          <a:p>
            <a:r>
              <a:t>  4. Neural Networks</a:t>
            </a:r>
          </a:p>
          <a:p>
            <a:r>
              <a:t>  5. Support-vector machines</a:t>
            </a:r>
          </a:p>
          <a:p>
            <a:r>
              <a:t>  6. k-Nearest Neighbors</a:t>
            </a:r>
          </a:p>
          <a:p/>
          <a:p>
            <a:r>
              <a:t>Say what these mean, in your own words:</a:t>
            </a:r>
          </a:p>
          <a:p>
            <a:r>
              <a:t>  - Naive Bayes: A probabilistic classifier assuming feature independence.</a:t>
            </a:r>
          </a:p>
          <a:p>
            <a:r>
              <a:t>  - Support-vector machine: A classifier that finds a hyperplane separating classes with maximum margin.</a:t>
            </a:r>
          </a:p>
          <a:p/>
          <a:p>
            <a:r>
              <a:t>Pause: ask the class what they already know about “Many classifiers can be used for supervised text classification”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P(c) is the prior probability of that sense</a:t>
            </a:r>
          </a:p>
          <a:p>
            <a:r>
              <a:t>  2. Counting in a labeled training set.</a:t>
            </a:r>
          </a:p>
          <a:p>
            <a:r>
              <a:t>  3. P(w|c) conditional probability of a word given a particular sense</a:t>
            </a:r>
          </a:p>
          <a:p>
            <a:r>
              <a:t>  4. P(w|c) = count(w,c)/count(c)</a:t>
            </a:r>
          </a:p>
          <a:p>
            <a:r>
              <a:t>  5. We get both of these from a tagged corpus like SemCor</a:t>
            </a:r>
          </a:p>
          <a:p>
            <a:r>
              <a:t>  6. Can also generalize to look at other features besides words.</a:t>
            </a:r>
          </a:p>
          <a:p>
            <a:r>
              <a:t>  7. Then it would be P(f|c)</a:t>
            </a:r>
          </a:p>
          <a:p/>
          <a:p>
            <a:r>
              <a:t>Read these exactly (do not paraphrase):</a:t>
            </a:r>
          </a:p>
          <a:p>
            <a:r>
              <a:t>  - Naive Bayes calculates prior and conditional probabilities from a tagged training set P(c) is the prior probability of that sense Counting in a labeled training set.</a:t>
            </a:r>
          </a:p>
          <a:p>
            <a:r>
              <a:t>  - P(w|c) conditional probability of a word given a particular sense P(w|c) = count(w,c)/count(c) We get both of these from a tagged corpus like SemCor Can also generalize to look at other features besides words.</a:t>
            </a:r>
          </a:p>
          <a:p>
            <a:r>
              <a:t>  - Then it would be P(f|c) Conditional probability of a feature given a sense</a:t>
            </a:r>
          </a:p>
          <a:p/>
          <a:p>
            <a:r>
              <a:t>Say what these mean, in your own words:</a:t>
            </a:r>
          </a:p>
          <a:p>
            <a:r>
              <a:t>  - Prior probability: The probability of a particular sense occurring in a labeled training set.</a:t>
            </a:r>
          </a:p>
          <a:p>
            <a:r>
              <a:t>  - Conditional probability: The probability of a word or feature given a particular sense.</a:t>
            </a:r>
          </a:p>
          <a:p/>
          <a:p>
            <a:r>
              <a:t>Pause: ask the class what they already know about “Naive Bayes calculates prior and conditional probabilities from a tagged training set”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ˆP(c) = Nc</a:t>
            </a:r>
          </a:p>
          <a:p>
            <a:r>
              <a:t>  2. ˆP(w | c) = count(w,c)+1</a:t>
            </a:r>
          </a:p>
          <a:p>
            <a:r>
              <a:t>  3. count(c)+ |V |</a:t>
            </a:r>
          </a:p>
          <a:p>
            <a:r>
              <a:t>  4. V = {fish, smoked, line, haul, guitar, jazz}</a:t>
            </a:r>
          </a:p>
          <a:p>
            <a:r>
              <a:t>  5. Choosing a class:</a:t>
            </a:r>
          </a:p>
          <a:p>
            <a:r>
              <a:t>  6. 3/4 * 2/14 * (1/14)2 * 1/14</a:t>
            </a:r>
          </a:p>
          <a:p/>
          <a:p>
            <a:r>
              <a:t>Read these exactly (do not paraphrase):</a:t>
            </a:r>
          </a:p>
          <a:p>
            <a:r>
              <a:t>  - Naive Bayes calculates class choices using smoothed counts and vocabulary sizes ˆP(c) = Nc ˆP(w | c) = count(w,c)+1 count(c)+ |V | V = {fish, smoked, line, haul, guitar, jazz} Choosing a class: 3/4 * 2/14 * (1/14)2 * 1/14</a:t>
            </a:r>
          </a:p>
          <a:p/>
          <a:p>
            <a:r>
              <a:t>Say what these mean, in your own words:</a:t>
            </a:r>
          </a:p>
          <a:p>
            <a:r>
              <a:t>  - V: The vocabulary set including words like fish, smoked, line, haul, guitar, and jazz.</a:t>
            </a:r>
          </a:p>
          <a:p>
            <a:r>
              <a:t>  - Class: The targeted category or sense being chosen during evaluation.</a:t>
            </a:r>
          </a:p>
          <a:p/>
          <a:p>
            <a:r>
              <a:t>Pause: ask the class what they already know about “Naive Bayes calculates class choices using smoothed counts and vocabulary sizes” before revealing the slide.</a:t>
            </a:r>
          </a:p>
          <a:p/>
          <a:p>
            <a:r>
              <a:t>Wording matters here — slow down, keep it precise.</a:t>
            </a:r>
          </a:p>
          <a:p/>
          <a:p>
            <a:r>
              <a:t>~54s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Conditional Probabilities: P(line|f) =</a:t>
            </a:r>
          </a:p>
          <a:p>
            <a:r>
              <a:t>  2. (1+1) / (8+6) = 2/14 (0+1) / (8+6) = 1/14</a:t>
            </a:r>
          </a:p>
          <a:p>
            <a:r>
              <a:t>  3. 1/4 * 2/9 * (2/9)2 * 2/9</a:t>
            </a:r>
          </a:p>
          <a:p>
            <a:r>
              <a:t>  4. (0+1) / (8+6) = 1/14</a:t>
            </a:r>
          </a:p>
          <a:p>
            <a:r>
              <a:t>  5. (1+1) / (3+6) = 2/9</a:t>
            </a:r>
          </a:p>
          <a:p>
            <a:r>
              <a:t>  6. P(guitar|g) = (1+1) / (3+6) = 2/9 P(jazz|g) =</a:t>
            </a:r>
          </a:p>
          <a:p/>
          <a:p>
            <a:r>
              <a:t>Read these exactly (do not paraphrase):</a:t>
            </a:r>
          </a:p>
          <a:p>
            <a:r>
              <a:t>  - Conditional probabilities use smoothed counts to compute specific feature likelihoods Conditional Probabilities: P(line|f) = (1+1) / (8+6) = 2/14 (0+1) / (8+6) = 1/14 1/4 * 2/9 * (2/9)2 * 2/9 (0+1) / (8+6) = 1/14 (1+1) / (3+6) = 2/9 P(guitar|g) = (1+1) / (3+6) = 2/9 P(jazz|g) =</a:t>
            </a:r>
          </a:p>
          <a:p/>
          <a:p>
            <a:r>
              <a:t>Say what these mean, in your own words:</a:t>
            </a:r>
          </a:p>
          <a:p>
            <a:r>
              <a:t>  - Conditional Probabilities: The likelihood of a specific feature occurring given a certain class or sense.</a:t>
            </a:r>
          </a:p>
          <a:p>
            <a:r>
              <a:t>  - P(line|f): The calculated probability of the word line given a specific context.</a:t>
            </a:r>
          </a:p>
          <a:p/>
          <a:p>
            <a:r>
              <a:t>Pause: ask the class what they already know about “Conditional probabilities use smoothed counts to compute specific feature likelihoods”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Applying Naive Bayes to WSD (2/2)</a:t>
            </a:r>
          </a:p>
          <a:p/>
          <a:p>
            <a:r>
              <a:t>Full detail (from the source):</a:t>
            </a:r>
          </a:p>
          <a:p>
            <a:r>
              <a:t>  [TABLE DATA] | | Doc | Words | Class | | --- | --- | --- | --- | | Training | 1 | fish s moked f ish | f | | | 2 | fish l ine | f | | | 3 | fish h aul s moked | f | | | 4 | guitar j azz line | g | | Test | 5 | line g uitar j azz jazz | ?</a:t>
            </a:r>
          </a:p>
          <a:p>
            <a:r>
              <a:t>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Evaluations and</a:t>
            </a:r>
          </a:p>
          <a:p>
            <a:r>
              <a:t>  2. Baselines</a:t>
            </a:r>
          </a:p>
          <a:p/>
          <a:p>
            <a:r>
              <a:t>Read these exactly (do not paraphrase):</a:t>
            </a:r>
          </a:p>
          <a:p>
            <a:r>
              <a:t>  - Word Sense Disambiguation (3) Evaluations and Baselines</a:t>
            </a:r>
          </a:p>
          <a:p/>
          <a:p>
            <a:r>
              <a:t>Pause: ask the class what they already know about “Word Sense Disambiguation (3)” before revealing the slide.</a:t>
            </a:r>
          </a:p>
          <a:p/>
          <a:p>
            <a:r>
              <a:t>Wording matters here — slow down, keep it precise.</a:t>
            </a:r>
          </a:p>
          <a:p/>
          <a:p>
            <a:r>
              <a:t>~26s</a:t>
            </a:r>
          </a:p>
          <a:p>
            <a:r>
              <a:t>Text in the figure: probability a ha Ps i= rather =| = Bea = ay: ma lone &amp; no nin nt oe rule roblem cD _— i gor a3 par | haan d gol £2 semantic. = different" NE. = rules ag age sen represent analysis = = ven np lsical Ge a models = roan CES terms lation</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Best evaluation: extrinsic (‘end-to-end’, `task-based’) evaluation</a:t>
            </a:r>
          </a:p>
          <a:p>
            <a:r>
              <a:t>  2. Embed WSD algorithm in a task and see if you can do the task better!</a:t>
            </a:r>
          </a:p>
          <a:p>
            <a:r>
              <a:t>  3. What we often do for convenience: intrinsic evaluation</a:t>
            </a:r>
          </a:p>
          <a:p>
            <a:r>
              <a:t>  4. Exact match sense accuracy</a:t>
            </a:r>
          </a:p>
          <a:p>
            <a:r>
              <a:t>  5. % of words tagged identically with the human-manual sense tags</a:t>
            </a:r>
          </a:p>
          <a:p>
            <a:r>
              <a:t>  6. Usually evaluate using held-out data from same labeled corpus</a:t>
            </a:r>
          </a:p>
          <a:p>
            <a:r>
              <a:t>  7. Baselines</a:t>
            </a:r>
          </a:p>
          <a:p/>
          <a:p>
            <a:r>
              <a:t>Read these exactly (do not paraphrase):</a:t>
            </a:r>
          </a:p>
          <a:p>
            <a:r>
              <a:t>  - Extrinsic evaluation provides the best test while intrinsic evaluation measures exact matches Best evaluation: extrinsic (‘end-to-end’, `task-based’) evaluation Embed WSD algorithm in a task and see if you can do the task better!</a:t>
            </a:r>
          </a:p>
          <a:p/>
          <a:p>
            <a:r>
              <a:t>Say what these mean, in your own words:</a:t>
            </a:r>
          </a:p>
          <a:p>
            <a:r>
              <a:t>  - Extrinsic evaluation: An end-to-end task-based assessment of an algorithm's performance.</a:t>
            </a:r>
          </a:p>
          <a:p>
            <a:r>
              <a:t>  - Intrinsic evaluation: Measuring exact match sense accuracy against human manual sense tags.</a:t>
            </a:r>
          </a:p>
          <a:p/>
          <a:p>
            <a:r>
              <a:t>Pause: ask the class what they already know about “Extrinsic evaluation provides the best test while intrinsic evaluation measures exact matches”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WordNet senses are ordered in frequency order</a:t>
            </a:r>
          </a:p>
          <a:p>
            <a:r>
              <a:t>  2. So “most frequent sense” in WordNet = “take the first sense”</a:t>
            </a:r>
          </a:p>
          <a:p>
            <a:r>
              <a:t>  3. Sense frequencies come from the SemCor corpus</a:t>
            </a:r>
          </a:p>
          <a:p>
            <a:r>
              <a:t>  4. WordNet organizes its senses in frequency order so that taking the first sense corresponds to the most frequent sense.</a:t>
            </a:r>
          </a:p>
          <a:p>
            <a:r>
              <a:t>  5. These sense frequencies are derived directly from the SemCor corpus.</a:t>
            </a:r>
          </a:p>
          <a:p>
            <a:r>
              <a:t>  6. This provides a straightforward baseline for word sense disambiguation.</a:t>
            </a:r>
          </a:p>
          <a:p>
            <a:r>
              <a:t>  7. Example: Selecting the first listed sense in WordNet for a frequently used word.</a:t>
            </a:r>
          </a:p>
          <a:p/>
          <a:p>
            <a:r>
              <a:t>Read these exactly (do not paraphrase):</a:t>
            </a:r>
          </a:p>
          <a:p>
            <a:r>
              <a:t>  - WordNet orders senses by frequency using data from the SemCor corpus WordNet senses are ordered in frequency order So “most frequent sense” in WordNet = “take the first sense” Sense frequencies come from the SemCor corpus WordNet organizes its senses in frequency order so that taking the first sense corresponds to the most frequent sense.</a:t>
            </a:r>
          </a:p>
          <a:p/>
          <a:p>
            <a:r>
              <a:t>Say what these mean, in your own words:</a:t>
            </a:r>
          </a:p>
          <a:p>
            <a:r>
              <a:t>  - Most frequent sense: The primary sense of a word based on WordNet frequency order.</a:t>
            </a:r>
          </a:p>
          <a:p>
            <a:r>
              <a:t>  - SemCor corpus: The tagged corpus used to supply sense frequencies.</a:t>
            </a:r>
          </a:p>
          <a:p/>
          <a:p>
            <a:r>
              <a:t>Pause: ask the class what they already know about “WordNet orders senses by frequency using data from the SemCor corpus”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Human inter-annotator agreement</a:t>
            </a:r>
          </a:p>
          <a:p>
            <a:r>
              <a:t>  2. Compare annotations of two humans</a:t>
            </a:r>
          </a:p>
          <a:p>
            <a:r>
              <a:t>  3. On same data</a:t>
            </a:r>
          </a:p>
          <a:p>
            <a:r>
              <a:t>  4. Given same tagging guidelines</a:t>
            </a:r>
          </a:p>
          <a:p>
            <a:r>
              <a:t>  5. Human agreements on all-words corpora with WordNet style senses</a:t>
            </a:r>
          </a:p>
          <a:p>
            <a:r>
              <a:t>  6. 75%--80%</a:t>
            </a:r>
          </a:p>
          <a:p>
            <a:r>
              <a:t>  7. Human inter-annotator agreement compares annotations made by two humans using the same data and tagging guidelines.</a:t>
            </a:r>
          </a:p>
          <a:p/>
          <a:p>
            <a:r>
              <a:t>Say what these mean, in your own words:</a:t>
            </a:r>
          </a:p>
          <a:p>
            <a:r>
              <a:t>  - Human inter-annotator agreement: A comparison of annotations made by different humans on the same data.</a:t>
            </a:r>
          </a:p>
          <a:p>
            <a:r>
              <a:t>  - Ceiling: The performance limit set by human agreement levels at 75% to 80%.</a:t>
            </a:r>
          </a:p>
          <a:p/>
          <a:p>
            <a:r>
              <a:t>Pause: ask the class what they already know about “Human inter-annotator agreement provides a ceiling of seventy five to eighty percent”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Dictionary and</a:t>
            </a:r>
          </a:p>
          <a:p>
            <a:r>
              <a:t>  2. Thesaurus Methods</a:t>
            </a:r>
          </a:p>
          <a:p>
            <a:r>
              <a:t>  3. Dictionary and Thesaurus Methods provide foundational lexical resources for disambiguating word senses.</a:t>
            </a:r>
          </a:p>
          <a:p>
            <a:r>
              <a:t>  4. These approaches leverage definitions, examples, and semantic relations found in standard reference texts.</a:t>
            </a:r>
          </a:p>
          <a:p>
            <a:r>
              <a:t>  5. They help determine the correct meaning of a word in context without requiring large training corpora.</a:t>
            </a:r>
          </a:p>
          <a:p>
            <a:r>
              <a:t>  6. Example: Using a dictionary definition to match a word's context.</a:t>
            </a:r>
          </a:p>
          <a:p/>
          <a:p>
            <a:r>
              <a:t>Say what these mean, in your own words:</a:t>
            </a:r>
          </a:p>
          <a:p>
            <a:r>
              <a:t>  - Dictionary methods: Techniques that use lexical definitions to determine word meanings.</a:t>
            </a:r>
          </a:p>
          <a:p>
            <a:r>
              <a:t>  - Thesaurus methods: Approaches utilizing semantic relations and groupings of synonyms.</a:t>
            </a:r>
          </a:p>
          <a:p/>
          <a:p>
            <a:r>
              <a:t>Pause: ask the class what they already know about “Dictionary and thesaurus methods support word sense disambiguation”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8”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Let’s disambiguate “bank” in this sentence:</a:t>
            </a:r>
          </a:p>
          <a:p>
            <a:r>
              <a:t>  2. The bank can guarantee deposits will eventually cover future tuition costs because it invests in adjustable-rate mortgag</a:t>
            </a:r>
          </a:p>
          <a:p>
            <a:r>
              <a:t>  3. given the following two WordNet senses: bank1</a:t>
            </a:r>
          </a:p>
          <a:p>
            <a:r>
              <a:t>  4. Gloss:</a:t>
            </a:r>
          </a:p>
          <a:p>
            <a:r>
              <a:t>  5. a ﬁnancial institution that accepts deposits and channels the money into lending activities</a:t>
            </a:r>
          </a:p>
          <a:p>
            <a:r>
              <a:t>  6. Examples:</a:t>
            </a:r>
          </a:p>
          <a:p>
            <a:r>
              <a:t>  7. “he cashed a check at the bank”, “that bank holds the mortgage on my home”</a:t>
            </a:r>
          </a:p>
          <a:p/>
          <a:p>
            <a:r>
              <a:t>Read these exactly (do not paraphrase):</a:t>
            </a:r>
          </a:p>
          <a:p>
            <a:r>
              <a:t>  - given the following two WordNet senses: bank1 Gloss: a ﬁnancial institution that accepts deposits and channels the money into lending activities Examples: “he cashed a check at the bank”, “that bank holds the mortgage on my home” bank2 sloping land (especially the slope beside a body of water) “they pulled the canoe up on the bank”, “he sat on the bank of the river and watched the currents”</a:t>
            </a:r>
          </a:p>
          <a:p/>
          <a:p>
            <a:r>
              <a:t>Say what these mean, in your own words:</a:t>
            </a:r>
          </a:p>
          <a:p>
            <a:r>
              <a:t>  - Gloss: The dictionary definition provided for a specific word sense.</a:t>
            </a:r>
          </a:p>
          <a:p>
            <a:r>
              <a:t>  - Bank: A word with multiple distinct meanings like a financial institution or sloping land.</a:t>
            </a:r>
          </a:p>
          <a:p/>
          <a:p>
            <a:r>
              <a:t>Pause: ask the class what they already know about “The simplified Lesk algorithm disambiguates word senses using dictionary glosses and examples”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Choose sense with most word overlap between gloss and context</a:t>
            </a:r>
          </a:p>
          <a:p>
            <a:r>
              <a:t>  2. (not counting function words)</a:t>
            </a:r>
          </a:p>
          <a:p>
            <a:r>
              <a:t>  3. The bank can guarantee deposits will eventually cover future tuition costs because it invests in adjustable-rate mortgag</a:t>
            </a:r>
          </a:p>
          <a:p>
            <a:r>
              <a:t>  4. bank1</a:t>
            </a:r>
          </a:p>
          <a:p>
            <a:r>
              <a:t>  5. Gloss:</a:t>
            </a:r>
          </a:p>
          <a:p>
            <a:r>
              <a:t>  6. a ﬁnancial institution that accepts deposits and channels the money into lending activities</a:t>
            </a:r>
          </a:p>
          <a:p>
            <a:r>
              <a:t>  7. Examples:</a:t>
            </a:r>
          </a:p>
          <a:p/>
          <a:p>
            <a:r>
              <a:t>Read these exactly (do not paraphrase):</a:t>
            </a:r>
          </a:p>
          <a:p>
            <a:r>
              <a:t>  - The Simplified Lesk algorithm: Choose sense Choose sense with most word overlap between gloss and context (not counting function words) The bank can guarantee deposits will eventually cover future tuition costs because it invests in adjustable-rate mortgage securities.</a:t>
            </a:r>
          </a:p>
          <a:p>
            <a:r>
              <a:t>  - bank1 Gloss: a ﬁnancial institution that accepts deposits and channels the money into lending activities Examples: “he cashed a check at the bank”, “that bank holds the mortgage on my home” bank2 sloping land (especially the slope beside a body of water) “they pulled the canoe up on the bank”, “he sat on the bank of the river and watched the currents”</a:t>
            </a:r>
          </a:p>
          <a:p/>
          <a:p>
            <a:r>
              <a:t>Pause: ask the class what they already know about “The Simplified Lesk algorithm: Choose sense”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Assumes we have some sense-labeled data (like SemCor)</a:t>
            </a:r>
          </a:p>
          <a:p>
            <a:r>
              <a:t>  2. Take all the sentences with the relevant word sense:</a:t>
            </a:r>
          </a:p>
          <a:p>
            <a:r>
              <a:t>  3. These short, "streamlined" meetings usually are sponsored by local banks1, Chambers of Commerce, trade associations, or </a:t>
            </a:r>
          </a:p>
          <a:p>
            <a:r>
              <a:t>  4. Now add these to the gloss + examples for each sense, call it the “signature” of a sense.</a:t>
            </a:r>
          </a:p>
          <a:p>
            <a:r>
              <a:t>  5. Choose sense with most word overlap between context and signature.</a:t>
            </a:r>
          </a:p>
          <a:p/>
          <a:p>
            <a:r>
              <a:t>Read these exactly (do not paraphrase):</a:t>
            </a:r>
          </a:p>
          <a:p>
            <a:r>
              <a:t>  - The corpus Lesk algorithm combines sense-labeled data into a signature for overlap Assumes we have some sense-labeled data (like SemCor) Take all the sentences with the relevant word sense: These short, "streamlined" meetings usually are sponsored by local banks1, Chambers of Commerce, trade associations, or other civic organizations.</a:t>
            </a:r>
          </a:p>
          <a:p/>
          <a:p>
            <a:r>
              <a:t>Say what these mean, in your own words:</a:t>
            </a:r>
          </a:p>
          <a:p>
            <a:r>
              <a:t>  - Signature: The combined set of glosses, examples, and labeled sentences for a word sense.</a:t>
            </a:r>
          </a:p>
          <a:p>
            <a:r>
              <a:t>  - Word overlap: The count of shared words between a sentence context and a sense signature.</a:t>
            </a:r>
          </a:p>
          <a:p/>
          <a:p>
            <a:r>
              <a:t>Pause: ask the class what they already know about “The corpus Lesk algorithm combines sense-labeled data into a signature for overlap”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Instead of just removing function words</a:t>
            </a:r>
          </a:p>
          <a:p>
            <a:r>
              <a:t>  2. Weigh each word by its `promiscuity’ across documents</a:t>
            </a:r>
          </a:p>
          <a:p>
            <a:r>
              <a:t>  3. Down-weights words that occur in every `document’ (gloss, example, etc)</a:t>
            </a:r>
          </a:p>
          <a:p>
            <a:r>
              <a:t>  4. These are generally function words, but is a more fine-grained measure</a:t>
            </a:r>
          </a:p>
          <a:p>
            <a:r>
              <a:t>  5. Weigh each overlapping word by inverse document frequency</a:t>
            </a:r>
          </a:p>
          <a:p>
            <a:r>
              <a:t>  6. Corpus Lesk uses inverse document frequency to weigh overlapping words rather than simply removing function words.</a:t>
            </a:r>
          </a:p>
          <a:p>
            <a:r>
              <a:t>  7. This fine-grained measure down-weights promiscuous words that appear in every document or gloss.</a:t>
            </a:r>
          </a:p>
          <a:p/>
          <a:p>
            <a:r>
              <a:t>Read these exactly (do not paraphrase):</a:t>
            </a:r>
          </a:p>
          <a:p>
            <a:r>
              <a:t>  - Inverse document frequency weighting improves word overlap calculations in corpus Lesk Instead of just removing function words Weigh each word by its `promiscuity’ across documents Down-weights words that occur in every `document’ (gloss, example, etc) These are generally function words, but is a more fine-grained measure Weigh each overlapping word by inverse document frequency Corpus Lesk uses inverse document frequency to weigh overlapping words rather than simply removing function words.</a:t>
            </a:r>
          </a:p>
          <a:p/>
          <a:p>
            <a:r>
              <a:t>Say what these mean, in your own words:</a:t>
            </a:r>
          </a:p>
          <a:p>
            <a:r>
              <a:t>  - Inverse document frequency: A measure that weighs overlapping words by their promiscuity across documents.</a:t>
            </a:r>
          </a:p>
          <a:p>
            <a:r>
              <a:t>  - Promiscuity: The tendency of certain words to occur frequently across every document or gloss.</a:t>
            </a:r>
          </a:p>
          <a:p/>
          <a:p>
            <a:r>
              <a:t>Pause: ask the class what they already know about “Inverse document frequency weighting improves word overlap calculations in corpus Lesk”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9”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Weigh each overlapping word by inverse document frequency</a:t>
            </a:r>
          </a:p>
          <a:p>
            <a:r>
              <a:t>  2. N is the total number of documents</a:t>
            </a:r>
          </a:p>
          <a:p>
            <a:r>
              <a:t>  3. idfi = log N</a:t>
            </a:r>
          </a:p>
          <a:p>
            <a:r>
              <a:t>  4. dfi = “document frequency of word i”</a:t>
            </a:r>
          </a:p>
          <a:p>
            <a:r>
              <a:t>  5. = # of documents with word I</a:t>
            </a:r>
          </a:p>
          <a:p>
            <a:r>
              <a:t>  6. dfi</a:t>
            </a:r>
          </a:p>
          <a:p>
            <a:r>
              <a:t>  7. score(sensei, contextj) =</a:t>
            </a:r>
          </a:p>
          <a:p>
            <a:r>
              <a:t>  8. idfw</a:t>
            </a:r>
          </a:p>
          <a:p>
            <a:r>
              <a:t>  9. w ∈ overlap(signaturei, contextj)</a:t>
            </a:r>
          </a:p>
          <a:p>
            <a:r>
              <a:t>  10. The method assigns a weight to each word that appears in both the sense signature and the context.</a:t>
            </a:r>
          </a:p>
          <a:p>
            <a:r>
              <a:t>  11. The weight is the inverse document frequency, calculated as the logarithm of the total number of documents divided by th</a:t>
            </a:r>
          </a:p>
          <a:p>
            <a:r>
              <a:t>  12. This gives higher importance to rare words that better distinguish senses.</a:t>
            </a:r>
          </a:p>
          <a:p>
            <a:r>
              <a:t>  13. Example: If the word "bank" appears in a context about finance but not in many documents, it receives a high weight.</a:t>
            </a:r>
          </a:p>
          <a:p/>
          <a:p>
            <a:r>
              <a:t>Read these exactly (do not paraphrase):</a:t>
            </a:r>
          </a:p>
          <a:p>
            <a:r>
              <a:t>  - Corpus Lesk weighs overlapping words by inverse document frequency Weigh each overlapping word by inverse document frequency N is the total number of documents idfi = log N dfi = “document frequency of word i” = # of documents with word I dfi score(sensei, contextj) = idfw w ∈ overlap(signaturei, contextj) The method assigns a weight to each word that appears in both the sense signature and the context.</a:t>
            </a:r>
          </a:p>
          <a:p/>
          <a:p>
            <a:r>
              <a:t>Say what these mean, in your own words:</a:t>
            </a:r>
          </a:p>
          <a:p>
            <a:r>
              <a:t>  - inverse document frequency: A measure of how common a word is across documents, higher for rarer words.</a:t>
            </a:r>
          </a:p>
          <a:p>
            <a:r>
              <a:t>  - sense signature: A set of words that typically appear with a particular sense of a target word.</a:t>
            </a:r>
          </a:p>
          <a:p/>
          <a:p>
            <a:r>
              <a:t>Pause: ask the class what they already know about “Corpus Lesk weighs overlapping words by inverse document frequency” before revealing the slide.</a:t>
            </a:r>
          </a:p>
          <a:p/>
          <a:p>
            <a:r>
              <a:t>~103s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First, WordNet can be viewed as a graph</a:t>
            </a:r>
          </a:p>
          <a:p>
            <a:r>
              <a:t>  2. senses are nodes</a:t>
            </a:r>
          </a:p>
          <a:p>
            <a:r>
              <a:t>  3. relations (hypernymy, meronymy) are edges</a:t>
            </a:r>
          </a:p>
          <a:p>
            <a:r>
              <a:t>  4. Also add edge between word and unambiguous gloss words</a:t>
            </a:r>
          </a:p>
          <a:p>
            <a:r>
              <a:t>  5. foodn</a:t>
            </a:r>
          </a:p>
          <a:p>
            <a:r>
              <a:t>  6. liquidn</a:t>
            </a:r>
          </a:p>
          <a:p>
            <a:r>
              <a:t>  7. helpingn</a:t>
            </a:r>
          </a:p>
          <a:p/>
          <a:p>
            <a:r>
              <a:t>Read these exactly (do not paraphrase):</a:t>
            </a:r>
          </a:p>
          <a:p>
            <a:r>
              <a:t>  - Graph-based methods represent WordNet as a graph of senses and relations First, WordNet can be viewed as a graph senses are nodes relations (hypernymy, meronymy) are edges Also add edge between word and unambiguous gloss words foodn liquidn helpingn beveragen milkn toastn drinkn sipv supv consumev sipn drinkv drinkingn consumern drinkern potationn consumptionn WordNet can be modeled as a graph where each node is a sense and edges encode semantic relations such as hypernymy and meronymy.</a:t>
            </a:r>
          </a:p>
          <a:p>
            <a:r>
              <a:t>  - Example: The sense of "drink" is connected to the gloss word "consume" through a direct edge.</a:t>
            </a:r>
          </a:p>
          <a:p/>
          <a:p>
            <a:r>
              <a:t>Say what these mean, in your own words:</a:t>
            </a:r>
          </a:p>
          <a:p>
            <a:r>
              <a:t>  - hypernymy: A 'is-a' relationship where one concept is a more general category of another.</a:t>
            </a:r>
          </a:p>
          <a:p>
            <a:r>
              <a:t>  - meronymy: A part-whole relationship between two concepts.</a:t>
            </a:r>
          </a:p>
          <a:p/>
          <a:p>
            <a:r>
              <a:t>Pause: ask the class what they already know about “Graph-based methods represent WordNet as a graph of senses and relations”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Insert target word and words in its sentential context into the</a:t>
            </a:r>
          </a:p>
          <a:p>
            <a:r>
              <a:t>  2. graph, with directed edges to their senses</a:t>
            </a:r>
          </a:p>
          <a:p>
            <a:r>
              <a:t>  3. “She drank some milk”</a:t>
            </a:r>
          </a:p>
          <a:p>
            <a:r>
              <a:t>  4. Now choose the</a:t>
            </a:r>
          </a:p>
          <a:p>
            <a:r>
              <a:t>  5. drinkv</a:t>
            </a:r>
          </a:p>
          <a:p>
            <a:r>
              <a:t>  6. milkn</a:t>
            </a:r>
          </a:p>
          <a:p>
            <a:r>
              <a:t>  7. drinkn</a:t>
            </a:r>
          </a:p>
          <a:p/>
          <a:p>
            <a:r>
              <a:t>Read these exactly (do not paraphrase):</a:t>
            </a:r>
          </a:p>
          <a:p>
            <a:r>
              <a:t>  - Using the graph for WSD by inserting context and computing centrality Insert target word and words in its sentential context into the graph, with directed edges to their senses “She drank some milk” Now choose the drinkv milkn drinkn beveragen most central sense drinkv milkn drinkern foodn Add some probability to drinkv boozingn “drink” and “milk” and nutrimentn milkn compute node with drinkv milkn highest “pagerank” drinkv “drink” “milk”</a:t>
            </a:r>
          </a:p>
          <a:p/>
          <a:p>
            <a:r>
              <a:t>Say what these mean, in your own words:</a:t>
            </a:r>
          </a:p>
          <a:p>
            <a:r>
              <a:t>  - PageRank: A centrality measure that ranks nodes based on incoming link importance.</a:t>
            </a:r>
          </a:p>
          <a:p/>
          <a:p>
            <a:r>
              <a:t>Pause: ask the class what they already know about “Using the graph for WSD by inserting context and computing centrality” before revealing the slide.</a:t>
            </a:r>
          </a:p>
          <a:p/>
          <a:p>
            <a:r>
              <a:t>Wording matters here — slow down, keep it precise.</a:t>
            </a:r>
          </a:p>
          <a:p/>
          <a:p>
            <a:r>
              <a:t>~61s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Semi-Supervised</a:t>
            </a:r>
          </a:p>
          <a:p>
            <a:r>
              <a:t>  2. Learning</a:t>
            </a:r>
          </a:p>
          <a:p/>
          <a:p>
            <a:r>
              <a:t>Read these exactly (do not paraphrase):</a:t>
            </a:r>
          </a:p>
          <a:p>
            <a:r>
              <a:t>  - Word Sense Disambiguation (5) Semi-Supervised Learning</a:t>
            </a:r>
          </a:p>
          <a:p/>
          <a:p>
            <a:r>
              <a:t>Pause: ask the class what they already know about “Word Sense Disambiguation (5)” before revealing the slide.</a:t>
            </a:r>
          </a:p>
          <a:p/>
          <a:p>
            <a:r>
              <a:t>Wording matters here — slow down, keep it precise.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10”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Problem: supervised and dictionary-based approaches require large hand-built resources</a:t>
            </a:r>
          </a:p>
          <a:p>
            <a:r>
              <a:t>  2. What if you don’t have so much training data?</a:t>
            </a:r>
          </a:p>
          <a:p>
            <a:r>
              <a:t>  3. Solution: Bootstrapping</a:t>
            </a:r>
          </a:p>
          <a:p>
            <a:r>
              <a:t>  4. Generalize from a very small hand-labeled seed-set.</a:t>
            </a:r>
          </a:p>
          <a:p>
            <a:r>
              <a:t>  5. When large labeled corpora are unavailable, semi-supervised learning starts with a tiny hand-labeled seed set.</a:t>
            </a:r>
          </a:p>
          <a:p>
            <a:r>
              <a:t>  6. The algorithm iteratively expands this set by applying rules and patterns, gradually improving its coverage without requ</a:t>
            </a:r>
          </a:p>
          <a:p>
            <a:r>
              <a:t>  7. Example: A seed set containing the sense of "bass" in music can be expanded to include other musical contexts.</a:t>
            </a:r>
          </a:p>
          <a:p/>
          <a:p>
            <a:r>
              <a:t>Say what these mean, in your own words:</a:t>
            </a:r>
          </a:p>
          <a:p>
            <a:r>
              <a:t>  - bootstrapping: A learning approach that builds larger datasets from a small initial labeled set.</a:t>
            </a:r>
          </a:p>
          <a:p/>
          <a:p>
            <a:r>
              <a:t>Pause: ask the class what they already know about “Semi-supervised learning bootstraps WSD from a small seed set”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For bass</a:t>
            </a:r>
          </a:p>
          <a:p>
            <a:r>
              <a:t>  2. Rely on “One sense per collocation” rule</a:t>
            </a:r>
          </a:p>
          <a:p>
            <a:r>
              <a:t>  3. A word reoccurring in collocation with the same word will almost surely have the same sense.</a:t>
            </a:r>
          </a:p>
          <a:p>
            <a:r>
              <a:t>  4. the word play occurs with the music sense of bass</a:t>
            </a:r>
          </a:p>
          <a:p>
            <a:r>
              <a:t>  5. the word fish occurs with the fish sense of bass</a:t>
            </a:r>
          </a:p>
          <a:p/>
          <a:p>
            <a:r>
              <a:t>Read these exactly (do not paraphrase):</a:t>
            </a:r>
          </a:p>
          <a:p>
            <a:r>
              <a:t>  - Bootstrapping relies on the one-sense-per-collocation rule For bass Rely on “One sense per collocation” rule A word reoccurring in collocation with the same word will almost surely have the same sense.</a:t>
            </a:r>
          </a:p>
          <a:p/>
          <a:p>
            <a:r>
              <a:t>Say what these mean, in your own words:</a:t>
            </a:r>
          </a:p>
          <a:p>
            <a:r>
              <a:t>  - collocation: A pair or group of words that frequently appear together.</a:t>
            </a:r>
          </a:p>
          <a:p/>
          <a:p>
            <a:r>
              <a:t>Pause: ask the class what they already know about “Bootstrapping relies on the one-sense-per-collocation rule”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 need more good teachers – right now, there are only a half a dozen who can play the free bass with ease.</a:t>
            </a:r>
          </a:p>
          <a:p>
            <a:r>
              <a:t>  2. An electric guitar and bass player stand off to one side, not really part of the scene, just as a sort of nod to gringo </a:t>
            </a:r>
          </a:p>
          <a:p>
            <a:r>
              <a:t>  3. The researchers said the worms spend part of their life cycle in such ﬁsh as Paciﬁc salmon and striped bass and Paciﬁc r</a:t>
            </a:r>
          </a:p>
          <a:p>
            <a:r>
              <a:t>  4. And it all started when ﬁshermen decided the striped bass in Lake Mead were too skinny.</a:t>
            </a:r>
          </a:p>
          <a:p/>
          <a:p>
            <a:r>
              <a:t>Pause: ask the class what they already know about “Sentences containing "fish" and "play" illustrate collocation-based sense assignment”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Hand labeling 2) “One sense per collocation”:</a:t>
            </a:r>
          </a:p>
          <a:p>
            <a:r>
              <a:t>  2. A word reoccurring in collocation with the same word will almost surely have the same sense.</a:t>
            </a:r>
          </a:p>
          <a:p>
            <a:r>
              <a:t>  3. 3) “One sense per discourse”:</a:t>
            </a:r>
          </a:p>
          <a:p>
            <a:r>
              <a:t>  4. The sense of a word is highly consistent within a document -- Yarowsky (1995)</a:t>
            </a:r>
          </a:p>
          <a:p>
            <a:r>
              <a:t>  5. (At least for non-function words, and especially topic-specific words)</a:t>
            </a:r>
          </a:p>
          <a:p/>
          <a:p>
            <a:r>
              <a:t>Read these exactly (do not paraphrase):</a:t>
            </a:r>
          </a:p>
          <a:p>
            <a:r>
              <a:t>  - Generating seeds combines hand labeling with collocation and discourse rules 1) Hand labeling 2) “One sense per collocation”: A word reoccurring in collocation with the same word will almost surely have the same sense.</a:t>
            </a:r>
          </a:p>
          <a:p>
            <a:r>
              <a:t>  - 3) “One sense per discourse”: The sense of a word is highly consistent within a document -- Yarowsky (1995) (At least for non-function words, and especially topic-specific words)</a:t>
            </a:r>
          </a:p>
          <a:p/>
          <a:p>
            <a:r>
              <a:t>Say what these mean, in your own words:</a:t>
            </a:r>
          </a:p>
          <a:p>
            <a:r>
              <a:t>  - one-sense-per-discourse: Assumption that a word keeps the same sense within a single document.</a:t>
            </a:r>
          </a:p>
          <a:p/>
          <a:p>
            <a:r>
              <a:t>Pause: ask the class what they already know about “Generating seeds combines hand labeling with collocation and discourse rules”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LIFE</a:t>
            </a:r>
          </a:p>
          <a:p>
            <a:r>
              <a:t>  2. LIFE</a:t>
            </a:r>
          </a:p>
          <a:p>
            <a:r>
              <a:t>  3. ? ?</a:t>
            </a:r>
          </a:p>
          <a:p>
            <a:r>
              <a:t>  4. ? ?</a:t>
            </a:r>
          </a:p>
          <a:p>
            <a:r>
              <a:t>  5. MICROSCOPIC</a:t>
            </a:r>
          </a:p>
          <a:p>
            <a:r>
              <a:t>  6. V0</a:t>
            </a:r>
          </a:p>
          <a:p>
            <a:r>
              <a:t>  7. V1</a:t>
            </a:r>
          </a:p>
          <a:p/>
          <a:p>
            <a:r>
              <a:t>Full detail (from the source):</a:t>
            </a:r>
          </a:p>
          <a:p>
            <a:r>
              <a:t>  - LIFE - LIFE - ?</a:t>
            </a:r>
          </a:p>
          <a:p>
            <a:r>
              <a:t>  ?</a:t>
            </a:r>
          </a:p>
          <a:p>
            <a:r>
              <a:t>  - ?</a:t>
            </a:r>
          </a:p>
          <a:p>
            <a:r>
              <a:t>  ?</a:t>
            </a:r>
          </a:p>
          <a:p>
            <a:r>
              <a:t>  - MICROSCOPIC - V0 - V1 - ?</a:t>
            </a:r>
          </a:p>
          <a:p>
            <a:r>
              <a:t>  ?</a:t>
            </a:r>
          </a:p>
          <a:p>
            <a:r>
              <a:t>  - ?</a:t>
            </a:r>
          </a:p>
          <a:p>
            <a:r>
              <a:t>  ?</a:t>
            </a:r>
          </a:p>
          <a:p/>
          <a:p>
            <a:r>
              <a:t>Say what these mean, in your own words:</a:t>
            </a:r>
          </a:p>
          <a:p>
            <a:r>
              <a:t>  - Yarowsky algorithm: A semi-supervised bootstrapping method for word sense disambiguation.</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 Sense Disambiguation: choosing correct sense in context</a:t>
            </a:r>
          </a:p>
          <a:p>
            <a:r>
              <a:t>  2. Applications: MT, QA, etc.</a:t>
            </a:r>
          </a:p>
          <a:p>
            <a:r>
              <a:t>  3. Three classes of Methods</a:t>
            </a:r>
          </a:p>
          <a:p>
            <a:r>
              <a:t>  4. Supervised Machine Learning: Naive Bayes classifier</a:t>
            </a:r>
          </a:p>
          <a:p>
            <a:r>
              <a:t>  5. Thesaurus/Dictionary Methods</a:t>
            </a:r>
          </a:p>
          <a:p>
            <a:r>
              <a:t>  6. Semi-Supervised Learning</a:t>
            </a:r>
          </a:p>
          <a:p>
            <a:r>
              <a:t>  7. Main intuition</a:t>
            </a:r>
          </a:p>
          <a:p/>
          <a:p>
            <a:r>
              <a:t>Say what these mean, in your own words:</a:t>
            </a:r>
          </a:p>
          <a:p>
            <a:r>
              <a:t>  - Naive Bayes classifier: A probabilistic model that predicts sense based on word frequency.</a:t>
            </a:r>
          </a:p>
          <a:p/>
          <a:p>
            <a:r>
              <a:t>Pause: ask the class what they already know about “Word Sense Disambiguation”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 Sense Disambiguation (WSD): Given</a:t>
            </a:r>
          </a:p>
          <a:p>
            <a:r>
              <a:t>  2. 8 senses of “bass” in WordNet: 1. bass -- (the lowest part of the musical range) 2.</a:t>
            </a:r>
          </a:p>
          <a:p>
            <a:r>
              <a:t>  3. Two kinds of features in the vectors: Collocational features and bag-of-words features</a:t>
            </a:r>
          </a:p>
          <a:p>
            <a:r>
              <a:t>  4. Word Sense Disambiguation (2): Classification</a:t>
            </a:r>
          </a:p>
          <a:p>
            <a:r>
              <a:t>  5. Word Sense Disambiguation (3): Evaluations and</a:t>
            </a:r>
          </a:p>
          <a:p>
            <a:r>
              <a:t>  6. The Simplified Lesk algorithm: Choose sense with most word overlap between gloss and context</a:t>
            </a:r>
          </a:p>
          <a:p>
            <a:r>
              <a:t>  7. Word Sense Disambiguation (5): Semi-Supervised</a:t>
            </a:r>
          </a:p>
          <a:p/>
          <a:p>
            <a:r>
              <a:t>Read these exactly (do not paraphrase):</a:t>
            </a:r>
          </a:p>
          <a:p>
            <a:r>
              <a:t>  - Key takeaways Word Sense Disambiguation (WSD): Given 8 senses of “bass” in WordNet: 1.</a:t>
            </a:r>
          </a:p>
          <a:p>
            <a:r>
              <a:t>  - bass -- (the lowest part of the musical range) 2.</a:t>
            </a:r>
          </a:p>
          <a:p>
            <a:r>
              <a:t>  - Two kinds of features in the vectors: Collocational features and bag-of-words features Word Sense Disambiguation (2): Classification Word Sense Disambiguation (3): Evaluations and The Simplified Lesk algorithm: Choose sense with most word overlap between gloss and context Word Sense Disambiguation (5): Semi-Supervised</a:t>
            </a:r>
          </a:p>
          <a:p/>
          <a:p>
            <a:r>
              <a:t>Pause: ask the class what they already know about “Key takeaways” before revealing the slide.</a:t>
            </a:r>
          </a:p>
          <a:p/>
          <a:p>
            <a:r>
              <a:t>Wording matters here — slow down, keep it precise.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ad2603c62aadec67ed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naive_bayes_wsd" TargetMode="External"/><Relationship Id="rId4" Type="http://schemas.openxmlformats.org/officeDocument/2006/relationships/image" Target="../media/image3.png"/><Relationship Id="rId5" Type="http://schemas.openxmlformats.org/officeDocument/2006/relationships/hyperlink" Target="http://localhost:8000/api/art/95d87611e29b8774d1cf" TargetMode="External"/><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hyperlink" Target="http://localhost:8000/api/art/7f83d87a4099cb93e71c" TargetMode="External"/><Relationship Id="rId5" Type="http://schemas.openxmlformats.org/officeDocument/2006/relationships/hyperlink" Target="http://localhost:8000/api/labs/naive_bayes_ws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localhost:8000/api/art/96a8c8b991984de26b4b" TargetMode="External"/><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hyperlink" Target="http://localhost:8000/api/art/057c0a943b8393c7a69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hyperlink" Target="http://localhost:8000/api/art/8e435b451d8bcc0a0df5" TargetMode="External"/><Relationship Id="rId5" Type="http://schemas.openxmlformats.org/officeDocument/2006/relationships/hyperlink" Target="http://localhost:8000/api/labs/auto-a429c462fba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localhost:8000/api/art/b5ca785702a6131a4e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hyperlink" Target="http://localhost:8000/api/art/721fe3f094aa39c2f6d0" TargetMode="External"/><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0.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hyperlink" Target="http://localhost:8000/api/art/ea308b8faa12e070f6d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hyperlink" Target="http://localhost:8000/api/art/f6512c63059ddcb5a516" TargetMode="External"/><Relationship Id="rId5"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hyperlink" Target="http://localhost:8000/api/art/7373a50e2c650ff0511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hyperlink" Target="http://localhost:8000/api/art/6c2be3b10371dee022a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hyperlink" Target="http://localhost:8000/api/art/4683db24cb00b146c74b"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hyperlink" Target="http://localhost:8000/api/art/16891cad856bcda61ba7" TargetMode="External"/><Relationship Id="rId5" Type="http://schemas.openxmlformats.org/officeDocument/2006/relationships/hyperlink" Target="http://localhost:8000/api/labs/auto-267ac07b2dd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hyperlink" Target="http://localhost:8000/api/art/22e2654e02148b4f472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hyperlink" Target="http://localhost:8000/api/art/2ff48b171273b1adcffd" TargetMode="External"/><Relationship Id="rId5"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hyperlink" Target="http://localhost:8000/api/art/77783d30112fdc32461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hyperlink" Target="http://localhost:8000/api/art/fb576fc6f61d3f563a09" TargetMode="External"/><Relationship Id="rId5" Type="http://schemas.openxmlformats.org/officeDocument/2006/relationships/hyperlink" Target="http://localhost:8000/api/labs/auto-99e482da675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hyperlink" Target="http://localhost:8000/api/art/40c1505de264cad55836" TargetMode="External"/><Relationship Id="rId5" Type="http://schemas.openxmlformats.org/officeDocument/2006/relationships/image" Target="../media/image4.png"/><Relationship Id="rId6" Type="http://schemas.openxmlformats.org/officeDocument/2006/relationships/image" Target="../media/image32.png"/><Relationship Id="rId7" Type="http://schemas.openxmlformats.org/officeDocument/2006/relationships/image" Target="../media/image10.png"/><Relationship Id="rId8" Type="http://schemas.openxmlformats.org/officeDocument/2006/relationships/image" Target="../media/image19.png"/><Relationship Id="rId9" Type="http://schemas.openxmlformats.org/officeDocument/2006/relationships/image" Target="../media/image28.png"/><Relationship Id="rId10"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hyperlink" Target="http://localhost:8000/api/art/118ea0cd1771caa8cdf3" TargetMode="External"/><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hyperlink" Target="http://localhost:8000/api/art/266321f42c7eca4c74fa" TargetMode="External"/><Relationship Id="rId5" Type="http://schemas.openxmlformats.org/officeDocument/2006/relationships/hyperlink" Target="http://localhost:8000/api/labs/auto-c6e0517142f8"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2.png"/><Relationship Id="rId4" Type="http://schemas.openxmlformats.org/officeDocument/2006/relationships/hyperlink" Target="http://localhost:8000/api/art/a99bfcd06f0a3d56e1c1" TargetMode="External"/><Relationship Id="rId5" Type="http://schemas.openxmlformats.org/officeDocument/2006/relationships/image" Target="../media/image38.png"/><Relationship Id="rId6" Type="http://schemas.openxmlformats.org/officeDocument/2006/relationships/image" Target="../media/image10.png"/><Relationship Id="rId7" Type="http://schemas.openxmlformats.org/officeDocument/2006/relationships/image" Target="../media/image43.png"/><Relationship Id="rId8" Type="http://schemas.openxmlformats.org/officeDocument/2006/relationships/image" Target="../media/image12.png"/><Relationship Id="rId9" Type="http://schemas.openxmlformats.org/officeDocument/2006/relationships/image" Target="../media/image40.png"/><Relationship Id="rId10"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4.png"/><Relationship Id="rId4" Type="http://schemas.openxmlformats.org/officeDocument/2006/relationships/hyperlink" Target="http://localhost:8000/api/art/1542c48331b75846e3c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hyperlink" Target="http://localhost:8000/api/art/63ac06d72595fc2b928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7.png"/><Relationship Id="rId4" Type="http://schemas.openxmlformats.org/officeDocument/2006/relationships/hyperlink" Target="http://localhost:8000/api/art/402c488eed6955f7517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8.png"/><Relationship Id="rId4" Type="http://schemas.openxmlformats.org/officeDocument/2006/relationships/hyperlink" Target="http://localhost:8000/api/art/b90b8ec7db95f2434d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9.png"/><Relationship Id="rId4" Type="http://schemas.openxmlformats.org/officeDocument/2006/relationships/hyperlink" Target="http://localhost:8000/api/art/4e58010214ef915deb6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0.png"/><Relationship Id="rId4" Type="http://schemas.openxmlformats.org/officeDocument/2006/relationships/hyperlink" Target="http://localhost:8000/api/art/9430be3931ab5db38331" TargetMode="External"/><Relationship Id="rId5" Type="http://schemas.openxmlformats.org/officeDocument/2006/relationships/hyperlink" Target="http://localhost:8000/api/labs/pos_tagging_hm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hyperlink" Target="http://localhost:8000/api/art/a41c38c704cbc1fb76a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2.png"/><Relationship Id="rId4" Type="http://schemas.openxmlformats.org/officeDocument/2006/relationships/hyperlink" Target="http://localhost:8000/api/art/cc87530e4904f17abbf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hyperlink" Target="http://localhost:8000/api/art/2f0da129300992bdbe73" TargetMode="External"/><Relationship Id="rId5" Type="http://schemas.openxmlformats.org/officeDocument/2006/relationships/hyperlink" Target="http://localhost:8000/api/labs/auto-75038795568b"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hyperlink" Target="http://localhost:8000/api/art/ea9065beef63031e53d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5.png"/><Relationship Id="rId4" Type="http://schemas.openxmlformats.org/officeDocument/2006/relationships/hyperlink" Target="http://localhost:8000/api/art/b2e896942b562e095fe4"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6.png"/><Relationship Id="rId4" Type="http://schemas.openxmlformats.org/officeDocument/2006/relationships/hyperlink" Target="http://localhost:8000/api/art/f9126c0eca222a180c5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8.png"/><Relationship Id="rId4" Type="http://schemas.openxmlformats.org/officeDocument/2006/relationships/image" Target="../media/image11.png"/><Relationship Id="rId5" Type="http://schemas.openxmlformats.org/officeDocument/2006/relationships/image" Target="../media/image59.png"/><Relationship Id="rId6" Type="http://schemas.openxmlformats.org/officeDocument/2006/relationships/image" Target="../media/image10.png"/><Relationship Id="rId7" Type="http://schemas.openxmlformats.org/officeDocument/2006/relationships/image" Target="../media/image19.png"/><Relationship Id="rId8" Type="http://schemas.openxmlformats.org/officeDocument/2006/relationships/image" Target="../media/image36.png"/><Relationship Id="rId9" Type="http://schemas.openxmlformats.org/officeDocument/2006/relationships/image" Target="../media/image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1.png"/><Relationship Id="rId4" Type="http://schemas.openxmlformats.org/officeDocument/2006/relationships/hyperlink" Target="http://localhost:8000/api/art/c47beb9c459a1f81bd86"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2.png"/><Relationship Id="rId4" Type="http://schemas.openxmlformats.org/officeDocument/2006/relationships/hyperlink" Target="http://localhost:8000/api/art/b7f0ea719c130cbcfb50" TargetMode="External"/><Relationship Id="rId5" Type="http://schemas.openxmlformats.org/officeDocument/2006/relationships/image" Target="../media/image43.png"/><Relationship Id="rId6" Type="http://schemas.openxmlformats.org/officeDocument/2006/relationships/image" Target="../media/image10.png"/><Relationship Id="rId7"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hyperlink" Target="http://localhost:8000/api/labs/auto-b24a39dc3884" TargetMode="External"/><Relationship Id="rId4" Type="http://schemas.openxmlformats.org/officeDocument/2006/relationships/image" Target="../media/image63.png"/><Relationship Id="rId5" Type="http://schemas.openxmlformats.org/officeDocument/2006/relationships/hyperlink" Target="http://localhost:8000/api/art/24fdd30eb5100b7fc01d" TargetMode="External"/><Relationship Id="rId6" Type="http://schemas.openxmlformats.org/officeDocument/2006/relationships/image" Target="../media/image10.png"/><Relationship Id="rId7" Type="http://schemas.openxmlformats.org/officeDocument/2006/relationships/image" Target="../media/image19.png"/><Relationship Id="rId8" Type="http://schemas.openxmlformats.org/officeDocument/2006/relationships/image" Target="../media/image11.png"/><Relationship Id="rId9"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4.png"/><Relationship Id="rId4" Type="http://schemas.openxmlformats.org/officeDocument/2006/relationships/hyperlink" Target="http://localhost:8000/api/art/59c8cc5379fe1350172a"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5.png"/><Relationship Id="rId4" Type="http://schemas.openxmlformats.org/officeDocument/2006/relationships/hyperlink" Target="http://localhost:8000/api/art/9c238e6d8b4287ecab19"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6.png"/><Relationship Id="rId4" Type="http://schemas.openxmlformats.org/officeDocument/2006/relationships/image" Target="../media/image10.png"/><Relationship Id="rId5"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7.png"/><Relationship Id="rId4" Type="http://schemas.openxmlformats.org/officeDocument/2006/relationships/hyperlink" Target="http://localhost:8000/api/art/5ae2fdb6f90b133faf38" TargetMode="External"/><Relationship Id="rId5" Type="http://schemas.openxmlformats.org/officeDocument/2006/relationships/image" Target="../media/image10.png"/><Relationship Id="rId6" Type="http://schemas.openxmlformats.org/officeDocument/2006/relationships/image" Target="../media/image68.png"/><Relationship Id="rId7"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9.png"/><Relationship Id="rId4" Type="http://schemas.openxmlformats.org/officeDocument/2006/relationships/hyperlink" Target="http://localhost:8000/api/art/d49fc0c47b2493535f4b" TargetMode="External"/><Relationship Id="rId5" Type="http://schemas.openxmlformats.org/officeDocument/2006/relationships/image" Target="../media/image10.png"/><Relationship Id="rId6" Type="http://schemas.openxmlformats.org/officeDocument/2006/relationships/image" Target="../media/image17.png"/><Relationship Id="rId7" Type="http://schemas.openxmlformats.org/officeDocument/2006/relationships/image" Target="../media/image36.png"/><Relationship Id="rId8"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F222A"/>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63C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C359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A8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Bebas Neue"/>
              </a:rPr>
              <a:t>Word Sense Disambiguation</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E7BCBF"/>
                </a:solidFill>
              </a:defRPr>
            </a:pPr>
            <a:r>
              <a:rPr>
                <a:latin typeface="Inter"/>
              </a:rPr>
              <a:t>58 slides  •  made with Learnova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58</a:t>
            </a:r>
          </a:p>
        </p:txBody>
      </p:sp>
      <p:sp>
        <p:nvSpPr>
          <p:cNvPr id="8" name="Rounded Rectangle 7"/>
          <p:cNvSpPr/>
          <p:nvPr/>
        </p:nvSpPr>
        <p:spPr>
          <a:xfrm>
            <a:off x="457200" y="1524121"/>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003633"/>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597273"/>
            <a:ext cx="4494276" cy="1269918"/>
          </a:xfrm>
          <a:prstGeom prst="rect">
            <a:avLst/>
          </a:prstGeom>
          <a:noFill/>
        </p:spPr>
        <p:txBody>
          <a:bodyPr wrap="square" anchor="ctr" lIns="0" tIns="0" rIns="0" bIns="0">
            <a:spAutoFit/>
          </a:bodyPr>
          <a:lstStyle/>
          <a:p>
            <a:pPr algn="l"/>
            <a:r>
              <a:rPr sz="3000" b="1">
                <a:solidFill>
                  <a:srgbClr val="AF222A"/>
                </a:solidFill>
                <a:latin typeface="Bebas Neue"/>
              </a:rPr>
              <a:t>Word Sense Disambiguation (WSD)</a:t>
            </a:r>
          </a:p>
        </p:txBody>
      </p:sp>
      <p:sp>
        <p:nvSpPr>
          <p:cNvPr id="11" name="Rounded Rectangle 10"/>
          <p:cNvSpPr/>
          <p:nvPr/>
        </p:nvSpPr>
        <p:spPr>
          <a:xfrm>
            <a:off x="6195059" y="1524121"/>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2003633"/>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7036307" y="1597273"/>
            <a:ext cx="4494275" cy="1269918"/>
          </a:xfrm>
          <a:prstGeom prst="rect">
            <a:avLst/>
          </a:prstGeom>
          <a:noFill/>
        </p:spPr>
        <p:txBody>
          <a:bodyPr wrap="square" anchor="ctr" lIns="0" tIns="0" rIns="0" bIns="0">
            <a:spAutoFit/>
          </a:bodyPr>
          <a:lstStyle/>
          <a:p>
            <a:pPr algn="l"/>
            <a:r>
              <a:rPr sz="3000" b="1">
                <a:solidFill>
                  <a:srgbClr val="AF222A"/>
                </a:solidFill>
                <a:latin typeface="Bebas Neue"/>
              </a:rPr>
              <a:t>Two variants of WSD task</a:t>
            </a:r>
          </a:p>
        </p:txBody>
      </p:sp>
      <p:sp>
        <p:nvSpPr>
          <p:cNvPr id="14" name="Rounded Rectangle 13"/>
          <p:cNvSpPr/>
          <p:nvPr/>
        </p:nvSpPr>
        <p:spPr>
          <a:xfrm>
            <a:off x="457200" y="3141512"/>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621024"/>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3214664"/>
            <a:ext cx="4494276" cy="1269918"/>
          </a:xfrm>
          <a:prstGeom prst="rect">
            <a:avLst/>
          </a:prstGeom>
          <a:noFill/>
        </p:spPr>
        <p:txBody>
          <a:bodyPr wrap="square" anchor="ctr" lIns="0" tIns="0" rIns="0" bIns="0">
            <a:spAutoFit/>
          </a:bodyPr>
          <a:lstStyle/>
          <a:p>
            <a:pPr algn="l"/>
            <a:r>
              <a:rPr sz="3000" b="1">
                <a:solidFill>
                  <a:srgbClr val="AF222A"/>
                </a:solidFill>
                <a:latin typeface="Bebas Neue"/>
              </a:rPr>
              <a:t>Supervised Machine Learning Approaches</a:t>
            </a:r>
          </a:p>
        </p:txBody>
      </p:sp>
      <p:sp>
        <p:nvSpPr>
          <p:cNvPr id="17" name="Rounded Rectangle 16"/>
          <p:cNvSpPr/>
          <p:nvPr/>
        </p:nvSpPr>
        <p:spPr>
          <a:xfrm>
            <a:off x="6195059" y="3141512"/>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3621024"/>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7036307" y="3214664"/>
            <a:ext cx="4494275" cy="1269918"/>
          </a:xfrm>
          <a:prstGeom prst="rect">
            <a:avLst/>
          </a:prstGeom>
          <a:noFill/>
        </p:spPr>
        <p:txBody>
          <a:bodyPr wrap="square" anchor="ctr" lIns="0" tIns="0" rIns="0" bIns="0">
            <a:spAutoFit/>
          </a:bodyPr>
          <a:lstStyle/>
          <a:p>
            <a:pPr algn="l"/>
            <a:r>
              <a:rPr sz="3000" b="1">
                <a:solidFill>
                  <a:srgbClr val="AF222A"/>
                </a:solidFill>
                <a:latin typeface="Bebas Neue"/>
              </a:rPr>
              <a:t>Supervised WSD 1: WSD Tags</a:t>
            </a:r>
          </a:p>
        </p:txBody>
      </p:sp>
      <p:sp>
        <p:nvSpPr>
          <p:cNvPr id="20" name="Rounded Rectangle 19"/>
          <p:cNvSpPr/>
          <p:nvPr/>
        </p:nvSpPr>
        <p:spPr>
          <a:xfrm>
            <a:off x="457200" y="4758903"/>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238414"/>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298448" y="4832055"/>
            <a:ext cx="4494276" cy="1269918"/>
          </a:xfrm>
          <a:prstGeom prst="rect">
            <a:avLst/>
          </a:prstGeom>
          <a:noFill/>
        </p:spPr>
        <p:txBody>
          <a:bodyPr wrap="square" anchor="ctr" lIns="0" tIns="0" rIns="0" bIns="0">
            <a:spAutoFit/>
          </a:bodyPr>
          <a:lstStyle/>
          <a:p>
            <a:pPr algn="l"/>
            <a:r>
              <a:rPr sz="3000" b="1">
                <a:solidFill>
                  <a:srgbClr val="AF222A"/>
                </a:solidFill>
                <a:latin typeface="Bebas Neue"/>
              </a:rPr>
              <a:t>8 senses of “bass” in WordNet</a:t>
            </a:r>
          </a:p>
        </p:txBody>
      </p:sp>
      <p:sp>
        <p:nvSpPr>
          <p:cNvPr id="23" name="Rounded Rectangle 22"/>
          <p:cNvSpPr/>
          <p:nvPr/>
        </p:nvSpPr>
        <p:spPr>
          <a:xfrm>
            <a:off x="6195059" y="4758903"/>
            <a:ext cx="5536692" cy="1416222"/>
          </a:xfrm>
          <a:prstGeom prst="roundRect">
            <a:avLst>
              <a:gd name="adj" fmla="val 99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96227" y="5238414"/>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7036307" y="4832055"/>
            <a:ext cx="4494275" cy="1269918"/>
          </a:xfrm>
          <a:prstGeom prst="rect">
            <a:avLst/>
          </a:prstGeom>
          <a:noFill/>
        </p:spPr>
        <p:txBody>
          <a:bodyPr wrap="square" anchor="ctr" lIns="0" tIns="0" rIns="0" bIns="0">
            <a:spAutoFit/>
          </a:bodyPr>
          <a:lstStyle/>
          <a:p>
            <a:pPr algn="l"/>
            <a:r>
              <a:rPr sz="3000" b="1">
                <a:solidFill>
                  <a:srgbClr val="AF222A"/>
                </a:solidFill>
                <a:latin typeface="Bebas Neue"/>
              </a:rPr>
              <a:t>Inventory of sense tags for bass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 (WSD)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58</a:t>
            </a:r>
          </a:p>
        </p:txBody>
      </p:sp>
      <p:sp>
        <p:nvSpPr>
          <p:cNvPr id="7" name="Rounded Rectangle 6">
            <a:hlinkClick r:id="rId3"/>
          </p:cNvPr>
          <p:cNvSpPr/>
          <p:nvPr/>
        </p:nvSpPr>
        <p:spPr>
          <a:xfrm>
            <a:off x="3883456" y="6455664"/>
            <a:ext cx="4422038"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Naive Bayes WSD Lab</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2493873" cy="2242942"/>
          </a:xfrm>
          <a:prstGeom prst="roundRect">
            <a:avLst>
              <a:gd name="adj" fmla="val 627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613001"/>
            <a:ext cx="340156" cy="340156"/>
          </a:xfrm>
          <a:prstGeom prst="rect">
            <a:avLst/>
          </a:prstGeom>
        </p:spPr>
      </p:pic>
      <p:sp>
        <p:nvSpPr>
          <p:cNvPr id="12" name="TextBox 11"/>
          <p:cNvSpPr txBox="1"/>
          <p:nvPr/>
        </p:nvSpPr>
        <p:spPr>
          <a:xfrm>
            <a:off x="658368" y="2212848"/>
            <a:ext cx="2091537" cy="1127374"/>
          </a:xfrm>
          <a:prstGeom prst="rect">
            <a:avLst/>
          </a:prstGeom>
          <a:noFill/>
        </p:spPr>
        <p:txBody>
          <a:bodyPr wrap="square" anchor="t" lIns="0" tIns="0" rIns="0" bIns="0">
            <a:spAutoFit/>
          </a:bodyPr>
          <a:lstStyle/>
          <a:p>
            <a:pPr algn="l"/>
            <a:r>
              <a:rPr sz="1800" b="1">
                <a:solidFill>
                  <a:srgbClr val="AF222A"/>
                </a:solidFill>
                <a:latin typeface="Bebas Neue"/>
              </a:rPr>
              <a:t>English-to-Spanish MT</a:t>
            </a:r>
          </a:p>
          <a:p>
            <a:pPr algn="l">
              <a:spcBef>
                <a:spcPts val="500"/>
              </a:spcBef>
            </a:pPr>
            <a:r>
              <a:rPr sz="1500" b="0">
                <a:solidFill>
                  <a:srgbClr val="111111"/>
                </a:solidFill>
                <a:latin typeface="Inter"/>
              </a:rPr>
              <a:t>set of Spanish translations</a:t>
            </a:r>
          </a:p>
        </p:txBody>
      </p:sp>
      <p:sp>
        <p:nvSpPr>
          <p:cNvPr id="13" name="Rounded Rectangle 12"/>
          <p:cNvSpPr/>
          <p:nvPr/>
        </p:nvSpPr>
        <p:spPr>
          <a:xfrm>
            <a:off x="3152241" y="1298448"/>
            <a:ext cx="2493873" cy="2242942"/>
          </a:xfrm>
          <a:prstGeom prst="roundRect">
            <a:avLst>
              <a:gd name="adj" fmla="val 627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53409"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3466795" y="1613001"/>
            <a:ext cx="340156" cy="340156"/>
          </a:xfrm>
          <a:prstGeom prst="rect">
            <a:avLst/>
          </a:prstGeom>
        </p:spPr>
      </p:pic>
      <p:sp>
        <p:nvSpPr>
          <p:cNvPr id="16" name="TextBox 15"/>
          <p:cNvSpPr txBox="1"/>
          <p:nvPr/>
        </p:nvSpPr>
        <p:spPr>
          <a:xfrm>
            <a:off x="3353409" y="2212848"/>
            <a:ext cx="2091537" cy="1127374"/>
          </a:xfrm>
          <a:prstGeom prst="rect">
            <a:avLst/>
          </a:prstGeom>
          <a:noFill/>
        </p:spPr>
        <p:txBody>
          <a:bodyPr wrap="square" anchor="t" lIns="0" tIns="0" rIns="0" bIns="0">
            <a:spAutoFit/>
          </a:bodyPr>
          <a:lstStyle/>
          <a:p>
            <a:pPr algn="l"/>
            <a:r>
              <a:rPr sz="1800" b="1">
                <a:solidFill>
                  <a:srgbClr val="AF222A"/>
                </a:solidFill>
                <a:latin typeface="Bebas Neue"/>
              </a:rPr>
              <a:t>Speech Synthesis</a:t>
            </a:r>
          </a:p>
          <a:p>
            <a:pPr algn="l">
              <a:spcBef>
                <a:spcPts val="500"/>
              </a:spcBef>
            </a:pPr>
            <a:r>
              <a:rPr sz="1500" b="0">
                <a:solidFill>
                  <a:srgbClr val="111111"/>
                </a:solidFill>
                <a:latin typeface="Inter"/>
              </a:rPr>
              <a:t>homographs like bass and bow</a:t>
            </a:r>
          </a:p>
        </p:txBody>
      </p:sp>
      <p:sp>
        <p:nvSpPr>
          <p:cNvPr id="17" name="Rounded Rectangle 16"/>
          <p:cNvSpPr/>
          <p:nvPr/>
        </p:nvSpPr>
        <p:spPr>
          <a:xfrm>
            <a:off x="5847283" y="1298448"/>
            <a:ext cx="2493873" cy="2242942"/>
          </a:xfrm>
          <a:prstGeom prst="roundRect">
            <a:avLst>
              <a:gd name="adj" fmla="val 627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048451"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6161836" y="1613001"/>
            <a:ext cx="340156" cy="340156"/>
          </a:xfrm>
          <a:prstGeom prst="rect">
            <a:avLst/>
          </a:prstGeom>
        </p:spPr>
      </p:pic>
      <p:sp>
        <p:nvSpPr>
          <p:cNvPr id="20" name="TextBox 19"/>
          <p:cNvSpPr txBox="1"/>
          <p:nvPr/>
        </p:nvSpPr>
        <p:spPr>
          <a:xfrm>
            <a:off x="6048451" y="2212848"/>
            <a:ext cx="2091537" cy="1127374"/>
          </a:xfrm>
          <a:prstGeom prst="rect">
            <a:avLst/>
          </a:prstGeom>
          <a:noFill/>
        </p:spPr>
        <p:txBody>
          <a:bodyPr wrap="square" anchor="t" lIns="0" tIns="0" rIns="0" bIns="0">
            <a:spAutoFit/>
          </a:bodyPr>
          <a:lstStyle/>
          <a:p>
            <a:pPr algn="l"/>
            <a:r>
              <a:rPr sz="1800" b="1">
                <a:solidFill>
                  <a:srgbClr val="AF222A"/>
                </a:solidFill>
                <a:latin typeface="Bebas Neue"/>
              </a:rPr>
              <a:t>In general</a:t>
            </a:r>
          </a:p>
          <a:p>
            <a:pPr algn="l">
              <a:spcBef>
                <a:spcPts val="500"/>
              </a:spcBef>
            </a:pPr>
            <a:r>
              <a:rPr sz="1500" b="0">
                <a:solidFill>
                  <a:srgbClr val="111111"/>
                </a:solidFill>
                <a:latin typeface="Inter"/>
              </a:rPr>
              <a:t>the senses in a thesaurus like WordNet</a:t>
            </a:r>
          </a:p>
        </p:txBody>
      </p:sp>
      <p:sp>
        <p:nvSpPr>
          <p:cNvPr id="21" name="Rounded Rectangle 20"/>
          <p:cNvSpPr/>
          <p:nvPr/>
        </p:nvSpPr>
        <p:spPr>
          <a:xfrm>
            <a:off x="457200" y="3742558"/>
            <a:ext cx="7883956" cy="154267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42558"/>
            <a:ext cx="73152" cy="154267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 y="3815710"/>
            <a:ext cx="7488935" cy="1396369"/>
          </a:xfrm>
          <a:prstGeom prst="rect">
            <a:avLst/>
          </a:prstGeom>
          <a:noFill/>
        </p:spPr>
        <p:txBody>
          <a:bodyPr wrap="square" anchor="ctr" lIns="0" tIns="0" rIns="0" bIns="0">
            <a:spAutoFit/>
          </a:bodyPr>
          <a:lstStyle/>
          <a:p>
            <a:pPr algn="l"/>
            <a:r>
              <a:rPr sz="790" b="1">
                <a:solidFill>
                  <a:srgbClr val="AF222A"/>
                </a:solidFill>
                <a:latin typeface="Bebas Neue"/>
              </a:rPr>
              <a:t>IN PLAIN WORDS</a:t>
            </a:r>
          </a:p>
          <a:p>
            <a:pPr algn="l">
              <a:spcBef>
                <a:spcPts val="300"/>
              </a:spcBef>
            </a:pPr>
            <a:r>
              <a:rPr sz="1100" b="0">
                <a:solidFill>
                  <a:srgbClr val="111111"/>
                </a:solidFill>
                <a:latin typeface="Inter"/>
              </a:rPr>
              <a:t>Word sense disambiguation determines the intended meaning of a word by analyzing its context. It uses fixed sense inventories like WordNet to help applications like machine translation and speech synthesis correctly interpret ambiguous words. For example, choosing whether 'bass' means a fish or a musical instrument based on surrounding words.</a:t>
            </a:r>
          </a:p>
          <a:p>
            <a:pPr algn="l">
              <a:spcBef>
                <a:spcPts val="300"/>
              </a:spcBef>
            </a:pPr>
            <a:r>
              <a:rPr sz="1100" b="0">
                <a:solidFill>
                  <a:srgbClr val="111111"/>
                </a:solidFill>
                <a:latin typeface="Inter"/>
              </a:rPr>
              <a:t>Given A word in context A fixed inventory of potential word senses Decide which sense of the word this is</a:t>
            </a:r>
          </a:p>
        </p:txBody>
      </p:sp>
      <p:sp>
        <p:nvSpPr>
          <p:cNvPr id="24" name="Rounded Rectangle 23"/>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Word Sense Disambiguation (WSD) — The task of deciding which sense of a word is intended in a given context.  ·  Sense inventory — A fixed set of potential word meanings derived from sources like a thesaurus.</a:t>
            </a:r>
          </a:p>
        </p:txBody>
      </p:sp>
      <p:sp>
        <p:nvSpPr>
          <p:cNvPr id="25" name="Rectangle 24"/>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5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Two main variants of the WSD task address either preselected target words or entire texts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58</a:t>
            </a:r>
          </a:p>
        </p:txBody>
      </p:sp>
      <p:sp>
        <p:nvSpPr>
          <p:cNvPr id="8" name="Rounded Rectangle 7">
            <a:hlinkClick r:id="rId5"/>
          </p:cNvPr>
          <p:cNvSpPr/>
          <p:nvPr/>
        </p:nvSpPr>
        <p:spPr>
          <a:xfrm>
            <a:off x="3883456" y="6455664"/>
            <a:ext cx="4422038"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Naive Bayes WSD Lab</a:t>
            </a:r>
          </a:p>
        </p:txBody>
      </p:sp>
      <p:sp>
        <p:nvSpPr>
          <p:cNvPr id="9" name="Rounded Rectangle 8"/>
          <p:cNvSpPr/>
          <p:nvPr/>
        </p:nvSpPr>
        <p:spPr>
          <a:xfrm>
            <a:off x="457200"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2097714"/>
          </a:xfrm>
          <a:prstGeom prst="rect">
            <a:avLst/>
          </a:prstGeom>
          <a:noFill/>
        </p:spPr>
        <p:txBody>
          <a:bodyPr wrap="square" anchor="t" lIns="0" tIns="0" rIns="0" bIns="0">
            <a:spAutoFit/>
          </a:bodyPr>
          <a:lstStyle/>
          <a:p>
            <a:pPr algn="l"/>
            <a:r>
              <a:rPr sz="2190" b="1">
                <a:solidFill>
                  <a:srgbClr val="AF222A"/>
                </a:solidFill>
                <a:latin typeface="Bebas Neue"/>
              </a:rPr>
              <a:t>Lexical Sample task</a:t>
            </a:r>
          </a:p>
          <a:p>
            <a:pPr algn="l" marL="256032" indent="-256032" lvl="0">
              <a:spcBef>
                <a:spcPts val="700"/>
              </a:spcBef>
              <a:buClr>
                <a:srgbClr val="52C7D0"/>
              </a:buClr>
              <a:buFont typeface="Arial"/>
              <a:buChar char="•"/>
            </a:pPr>
            <a:r>
              <a:rPr sz="1750" b="0">
                <a:solidFill>
                  <a:srgbClr val="111111"/>
                </a:solidFill>
                <a:latin typeface="Inter"/>
              </a:rPr>
              <a:t>Small pre-selected set of target words (line, plant)</a:t>
            </a:r>
          </a:p>
          <a:p>
            <a:pPr algn="l" marL="256032" indent="-256032" lvl="0">
              <a:spcBef>
                <a:spcPts val="700"/>
              </a:spcBef>
              <a:buClr>
                <a:srgbClr val="52C7D0"/>
              </a:buClr>
              <a:buFont typeface="Arial"/>
              <a:buChar char="•"/>
            </a:pPr>
            <a:r>
              <a:rPr sz="1750" b="0">
                <a:solidFill>
                  <a:srgbClr val="111111"/>
                </a:solidFill>
                <a:latin typeface="Inter"/>
              </a:rPr>
              <a:t>And inventory of senses for each word</a:t>
            </a:r>
          </a:p>
          <a:p>
            <a:pPr algn="l" marL="256032" indent="-256032" lvl="0">
              <a:spcBef>
                <a:spcPts val="700"/>
              </a:spcBef>
              <a:buClr>
                <a:srgbClr val="52C7D0"/>
              </a:buClr>
              <a:buFont typeface="Arial"/>
              <a:buChar char="•"/>
            </a:pPr>
            <a:r>
              <a:rPr sz="1750" b="0">
                <a:solidFill>
                  <a:srgbClr val="111111"/>
                </a:solidFill>
                <a:latin typeface="Inter"/>
              </a:rPr>
              <a:t>Supervised machine learning: train a classifier for each word</a:t>
            </a:r>
          </a:p>
        </p:txBody>
      </p:sp>
      <p:sp>
        <p:nvSpPr>
          <p:cNvPr id="12" name="Rounded Rectangle 11"/>
          <p:cNvSpPr/>
          <p:nvPr/>
        </p:nvSpPr>
        <p:spPr>
          <a:xfrm>
            <a:off x="6195059"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2097714"/>
          </a:xfrm>
          <a:prstGeom prst="rect">
            <a:avLst/>
          </a:prstGeom>
          <a:noFill/>
        </p:spPr>
        <p:txBody>
          <a:bodyPr wrap="square" anchor="t" lIns="0" tIns="0" rIns="0" bIns="0">
            <a:spAutoFit/>
          </a:bodyPr>
          <a:lstStyle/>
          <a:p>
            <a:pPr algn="l"/>
            <a:r>
              <a:rPr sz="2190" b="1">
                <a:solidFill>
                  <a:srgbClr val="AF222A"/>
                </a:solidFill>
                <a:latin typeface="Bebas Neue"/>
              </a:rPr>
              <a:t>All-words task</a:t>
            </a:r>
          </a:p>
          <a:p>
            <a:pPr algn="l" marL="256032" indent="-256032" lvl="0">
              <a:spcBef>
                <a:spcPts val="700"/>
              </a:spcBef>
              <a:buClr>
                <a:srgbClr val="52C7D0"/>
              </a:buClr>
              <a:buFont typeface="Arial"/>
              <a:buChar char="•"/>
            </a:pPr>
            <a:r>
              <a:rPr sz="1750" b="0">
                <a:solidFill>
                  <a:srgbClr val="111111"/>
                </a:solidFill>
                <a:latin typeface="Inter"/>
              </a:rPr>
              <a:t>Every word in an entire text</a:t>
            </a:r>
          </a:p>
          <a:p>
            <a:pPr algn="l" marL="256032" indent="-256032" lvl="0">
              <a:spcBef>
                <a:spcPts val="700"/>
              </a:spcBef>
              <a:buClr>
                <a:srgbClr val="52C7D0"/>
              </a:buClr>
              <a:buFont typeface="Arial"/>
              <a:buChar char="•"/>
            </a:pPr>
            <a:r>
              <a:rPr sz="1750" b="0">
                <a:solidFill>
                  <a:srgbClr val="111111"/>
                </a:solidFill>
                <a:latin typeface="Inter"/>
              </a:rPr>
              <a:t>A lexicon with senses for each word</a:t>
            </a:r>
          </a:p>
          <a:p>
            <a:pPr algn="l" marL="256032" indent="-256032" lvl="0">
              <a:spcBef>
                <a:spcPts val="700"/>
              </a:spcBef>
              <a:buClr>
                <a:srgbClr val="52C7D0"/>
              </a:buClr>
              <a:buFont typeface="Arial"/>
              <a:buChar char="•"/>
            </a:pPr>
            <a:r>
              <a:rPr sz="1750" b="0">
                <a:solidFill>
                  <a:srgbClr val="111111"/>
                </a:solidFill>
                <a:latin typeface="Inter"/>
              </a:rPr>
              <a:t>Data sparseness: can’t train word-specific classifiers</a:t>
            </a:r>
          </a:p>
        </p:txBody>
      </p:sp>
      <p:sp>
        <p:nvSpPr>
          <p:cNvPr id="15" name="Rounded Rectangle 14"/>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The lexical sample task focuses on a small set of preselected target words using supervised classifiers. The all-words task evaluates every word in an entire text using a lexicon, avoiding data sparseness issues by not requiring word-specific training. For example, classifying the word 'plant' in a specific sentence versus tagging every single word in an article.</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Lexical Sample task — WSD focused on a small pre-selected set of target words with supervised classifiers.  ·  All-words task — WSD applied to every word in an entire text using a lexicon of senses.</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WSD Methods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892808"/>
          </a:xfrm>
          <a:prstGeom prst="roundRect">
            <a:avLst>
              <a:gd name="adj" fmla="val 743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961388"/>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2074773"/>
            <a:ext cx="340156" cy="340156"/>
          </a:xfrm>
          <a:prstGeom prst="rect">
            <a:avLst/>
          </a:prstGeom>
        </p:spPr>
      </p:pic>
      <p:sp>
        <p:nvSpPr>
          <p:cNvPr id="11" name="TextBox 10"/>
          <p:cNvSpPr txBox="1"/>
          <p:nvPr/>
        </p:nvSpPr>
        <p:spPr>
          <a:xfrm>
            <a:off x="1408175" y="1371600"/>
            <a:ext cx="2689250" cy="1746504"/>
          </a:xfrm>
          <a:prstGeom prst="rect">
            <a:avLst/>
          </a:prstGeom>
          <a:noFill/>
        </p:spPr>
        <p:txBody>
          <a:bodyPr wrap="square" anchor="ctr" lIns="0" tIns="0" rIns="0" bIns="0">
            <a:spAutoFit/>
          </a:bodyPr>
          <a:lstStyle/>
          <a:p>
            <a:pPr algn="l"/>
            <a:r>
              <a:rPr sz="1820" b="0">
                <a:solidFill>
                  <a:srgbClr val="111111"/>
                </a:solidFill>
                <a:latin typeface="Inter"/>
              </a:rPr>
              <a:t>Supervised Machine Learning</a:t>
            </a:r>
          </a:p>
        </p:txBody>
      </p:sp>
      <p:sp>
        <p:nvSpPr>
          <p:cNvPr id="12" name="Rounded Rectangle 11"/>
          <p:cNvSpPr/>
          <p:nvPr/>
        </p:nvSpPr>
        <p:spPr>
          <a:xfrm>
            <a:off x="4499762" y="1298448"/>
            <a:ext cx="3841394" cy="1892808"/>
          </a:xfrm>
          <a:prstGeom prst="roundRect">
            <a:avLst>
              <a:gd name="adj" fmla="val 743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961388"/>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2074773"/>
            <a:ext cx="340156" cy="340156"/>
          </a:xfrm>
          <a:prstGeom prst="rect">
            <a:avLst/>
          </a:prstGeom>
        </p:spPr>
      </p:pic>
      <p:sp>
        <p:nvSpPr>
          <p:cNvPr id="15" name="TextBox 14"/>
          <p:cNvSpPr txBox="1"/>
          <p:nvPr/>
        </p:nvSpPr>
        <p:spPr>
          <a:xfrm>
            <a:off x="5450738" y="1371600"/>
            <a:ext cx="2689250" cy="1746504"/>
          </a:xfrm>
          <a:prstGeom prst="rect">
            <a:avLst/>
          </a:prstGeom>
          <a:noFill/>
        </p:spPr>
        <p:txBody>
          <a:bodyPr wrap="square" anchor="ctr" lIns="0" tIns="0" rIns="0" bIns="0">
            <a:spAutoFit/>
          </a:bodyPr>
          <a:lstStyle/>
          <a:p>
            <a:pPr algn="l"/>
            <a:r>
              <a:rPr sz="1820" b="0">
                <a:solidFill>
                  <a:srgbClr val="111111"/>
                </a:solidFill>
                <a:latin typeface="Inter"/>
              </a:rPr>
              <a:t>Thesaurus/Dictionary Methods</a:t>
            </a:r>
          </a:p>
        </p:txBody>
      </p:sp>
      <p:sp>
        <p:nvSpPr>
          <p:cNvPr id="16" name="Rounded Rectangle 15"/>
          <p:cNvSpPr/>
          <p:nvPr/>
        </p:nvSpPr>
        <p:spPr>
          <a:xfrm>
            <a:off x="457200" y="3392424"/>
            <a:ext cx="3841394" cy="1892808"/>
          </a:xfrm>
          <a:prstGeom prst="roundRect">
            <a:avLst>
              <a:gd name="adj" fmla="val 743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055364"/>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168749"/>
            <a:ext cx="340156" cy="340156"/>
          </a:xfrm>
          <a:prstGeom prst="rect">
            <a:avLst/>
          </a:prstGeom>
        </p:spPr>
      </p:pic>
      <p:sp>
        <p:nvSpPr>
          <p:cNvPr id="19" name="TextBox 18"/>
          <p:cNvSpPr txBox="1"/>
          <p:nvPr/>
        </p:nvSpPr>
        <p:spPr>
          <a:xfrm>
            <a:off x="1408175" y="3465576"/>
            <a:ext cx="2689250" cy="1746504"/>
          </a:xfrm>
          <a:prstGeom prst="rect">
            <a:avLst/>
          </a:prstGeom>
          <a:noFill/>
        </p:spPr>
        <p:txBody>
          <a:bodyPr wrap="square" anchor="ctr" lIns="0" tIns="0" rIns="0" bIns="0">
            <a:spAutoFit/>
          </a:bodyPr>
          <a:lstStyle/>
          <a:p>
            <a:pPr algn="l"/>
            <a:r>
              <a:rPr sz="1650" b="0">
                <a:solidFill>
                  <a:srgbClr val="111111"/>
                </a:solidFill>
                <a:latin typeface="Inter"/>
              </a:rPr>
              <a:t>Word sense disambiguation relies on different methodological strategies to categorize word meanings</a:t>
            </a:r>
          </a:p>
        </p:txBody>
      </p:sp>
      <p:sp>
        <p:nvSpPr>
          <p:cNvPr id="20" name="Rounded Rectangle 19"/>
          <p:cNvSpPr/>
          <p:nvPr/>
        </p:nvSpPr>
        <p:spPr>
          <a:xfrm>
            <a:off x="4499762" y="3392424"/>
            <a:ext cx="3841394" cy="1892808"/>
          </a:xfrm>
          <a:prstGeom prst="roundRect">
            <a:avLst>
              <a:gd name="adj" fmla="val 743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4055364"/>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4168749"/>
            <a:ext cx="340156" cy="340156"/>
          </a:xfrm>
          <a:prstGeom prst="rect">
            <a:avLst/>
          </a:prstGeom>
        </p:spPr>
      </p:pic>
      <p:sp>
        <p:nvSpPr>
          <p:cNvPr id="23" name="TextBox 22"/>
          <p:cNvSpPr txBox="1"/>
          <p:nvPr/>
        </p:nvSpPr>
        <p:spPr>
          <a:xfrm>
            <a:off x="5450738" y="3465576"/>
            <a:ext cx="2689250" cy="1746504"/>
          </a:xfrm>
          <a:prstGeom prst="rect">
            <a:avLst/>
          </a:prstGeom>
          <a:noFill/>
        </p:spPr>
        <p:txBody>
          <a:bodyPr wrap="square" anchor="ctr" lIns="0" tIns="0" rIns="0" bIns="0">
            <a:spAutoFit/>
          </a:bodyPr>
          <a:lstStyle/>
          <a:p>
            <a:pPr algn="l"/>
            <a:r>
              <a:rPr sz="1680" b="1">
                <a:solidFill>
                  <a:srgbClr val="AF222A"/>
                </a:solidFill>
                <a:latin typeface="Bebas Neue"/>
              </a:rPr>
              <a:t>Include supervised machine</a:t>
            </a:r>
          </a:p>
          <a:p>
            <a:pPr algn="l">
              <a:spcBef>
                <a:spcPts val="500"/>
              </a:spcBef>
            </a:pPr>
            <a:r>
              <a:rPr sz="1400" b="0">
                <a:solidFill>
                  <a:srgbClr val="111111"/>
                </a:solidFill>
                <a:latin typeface="Inter"/>
              </a:rPr>
              <a:t>These include supervised machine learning, dictionary or thesaurus methods, and semi-supervised learning techniques</a:t>
            </a:r>
          </a:p>
        </p:txBody>
      </p:sp>
      <p:sp>
        <p:nvSpPr>
          <p:cNvPr id="24" name="Rounded Rectangle 23"/>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Supervised Machine Learning — Using labeled training data to learn classifiers for predicting word senses.  ·  Thesaurus/Dictionary Methods — Using structured lexical resources to determine word meanings without training data.</a:t>
            </a:r>
          </a:p>
        </p:txBody>
      </p:sp>
      <p:sp>
        <p:nvSpPr>
          <p:cNvPr id="25" name="Rectangle 24"/>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“Using labeled training data to learn classifiers for predicting word senses.”?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Supervised Machine Learning</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Dictionary methods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Part of Speech (POS)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SemCor corpus</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550" b="0">
                <a:solidFill>
                  <a:srgbClr val="FFFFFF"/>
                </a:solidFill>
                <a:latin typeface="Inter"/>
              </a:rPr>
              <a:t>Supervised Machine Learning: Using labeled training data to learn classifiers for predicting word senses.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2711378"/>
            <a:ext cx="82296" cy="51169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674802"/>
            <a:ext cx="7087166" cy="529986"/>
          </a:xfrm>
          <a:prstGeom prst="rect">
            <a:avLst/>
          </a:prstGeom>
          <a:noFill/>
        </p:spPr>
        <p:txBody>
          <a:bodyPr wrap="square" anchor="t" lIns="0" tIns="0" rIns="0" bIns="0">
            <a:spAutoFit/>
          </a:bodyPr>
          <a:lstStyle/>
          <a:p>
            <a:pPr algn="l"/>
            <a:r>
              <a:rPr sz="3310" b="1">
                <a:solidFill>
                  <a:srgbClr val="AF222A"/>
                </a:solidFill>
                <a:latin typeface="Bebas Neue"/>
              </a:rPr>
              <a:t>Supervised.</a:t>
            </a:r>
          </a:p>
        </p:txBody>
      </p:sp>
      <p:sp>
        <p:nvSpPr>
          <p:cNvPr id="10" name="TextBox 9"/>
          <p:cNvSpPr txBox="1"/>
          <p:nvPr/>
        </p:nvSpPr>
        <p:spPr>
          <a:xfrm>
            <a:off x="720547" y="3396813"/>
            <a:ext cx="7087166" cy="384048"/>
          </a:xfrm>
          <a:prstGeom prst="rect">
            <a:avLst/>
          </a:prstGeom>
          <a:noFill/>
        </p:spPr>
        <p:txBody>
          <a:bodyPr wrap="square" lIns="0" rIns="0" tIns="0" bIns="0">
            <a:spAutoFit/>
          </a:bodyPr>
          <a:lstStyle/>
          <a:p>
            <a:r>
              <a:rPr sz="2400">
                <a:solidFill>
                  <a:srgbClr val="111111"/>
                </a:solidFill>
                <a:latin typeface="Bebas Neue"/>
              </a:rPr>
              <a:t>Machine Learning.</a:t>
            </a:r>
          </a:p>
        </p:txBody>
      </p:sp>
      <p:sp>
        <p:nvSpPr>
          <p:cNvPr id="11" name="Rounded Rectangle 10"/>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Also in this lecture:  </a:t>
            </a:r>
            <a:r>
              <a:rPr sz="1600" b="1">
                <a:solidFill>
                  <a:srgbClr val="111111"/>
                </a:solidFill>
                <a:latin typeface="Bebas Neue"/>
              </a:rPr>
              <a:t>Given A word in context A fixed inventory of potential word senses Decide which sense of the word this is Why?</a:t>
            </a:r>
          </a:p>
        </p:txBody>
      </p:sp>
      <p:sp>
        <p:nvSpPr>
          <p:cNvPr id="12" name="Rectangle 11"/>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Supervised Machine Learning Approaches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58</a:t>
            </a:r>
          </a:p>
        </p:txBody>
      </p:sp>
      <p:sp>
        <p:nvSpPr>
          <p:cNvPr id="8" name="Rounded Rectangle 7">
            <a:hlinkClick r:id="rId5"/>
          </p:cNvPr>
          <p:cNvSpPr/>
          <p:nvPr/>
        </p:nvSpPr>
        <p:spPr>
          <a:xfrm>
            <a:off x="3038551" y="6455664"/>
            <a:ext cx="6111849"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Supervised Word Sense Disambiguation Lab</a:t>
            </a:r>
          </a:p>
        </p:txBody>
      </p:sp>
      <p:sp>
        <p:nvSpPr>
          <p:cNvPr id="9" name="Rounded Rectangle 8"/>
          <p:cNvSpPr/>
          <p:nvPr/>
        </p:nvSpPr>
        <p:spPr>
          <a:xfrm>
            <a:off x="457200"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2339664"/>
          </a:xfrm>
          <a:prstGeom prst="rect">
            <a:avLst/>
          </a:prstGeom>
          <a:noFill/>
        </p:spPr>
        <p:txBody>
          <a:bodyPr wrap="square" anchor="t" lIns="0" tIns="0" rIns="0" bIns="0">
            <a:spAutoFit/>
          </a:bodyPr>
          <a:lstStyle/>
          <a:p>
            <a:pPr algn="l"/>
            <a:r>
              <a:rPr sz="2380" b="1">
                <a:solidFill>
                  <a:srgbClr val="AF222A"/>
                </a:solidFill>
                <a:latin typeface="Bebas Neue"/>
              </a:rPr>
              <a:t>Supervised machine learning approach</a:t>
            </a:r>
          </a:p>
          <a:p>
            <a:pPr algn="l" marL="256032" indent="-256032" lvl="0">
              <a:spcBef>
                <a:spcPts val="700"/>
              </a:spcBef>
              <a:buClr>
                <a:srgbClr val="52C7D0"/>
              </a:buClr>
              <a:buFont typeface="Arial"/>
              <a:buChar char="•"/>
            </a:pPr>
            <a:r>
              <a:rPr sz="1900" b="0">
                <a:solidFill>
                  <a:srgbClr val="111111"/>
                </a:solidFill>
                <a:latin typeface="Inter"/>
              </a:rPr>
              <a:t>a training corpus of words tagged in context with their sense</a:t>
            </a:r>
          </a:p>
          <a:p>
            <a:pPr algn="l" marL="256032" indent="-256032" lvl="0">
              <a:spcBef>
                <a:spcPts val="700"/>
              </a:spcBef>
              <a:buClr>
                <a:srgbClr val="52C7D0"/>
              </a:buClr>
              <a:buFont typeface="Arial"/>
              <a:buChar char="•"/>
            </a:pPr>
            <a:r>
              <a:rPr sz="1900" b="0">
                <a:solidFill>
                  <a:srgbClr val="111111"/>
                </a:solidFill>
                <a:latin typeface="Inter"/>
              </a:rPr>
              <a:t>used to train a classifier that can tag words in new text</a:t>
            </a:r>
          </a:p>
        </p:txBody>
      </p:sp>
      <p:sp>
        <p:nvSpPr>
          <p:cNvPr id="12" name="Rounded Rectangle 11"/>
          <p:cNvSpPr/>
          <p:nvPr/>
        </p:nvSpPr>
        <p:spPr>
          <a:xfrm>
            <a:off x="6195059"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2339664"/>
          </a:xfrm>
          <a:prstGeom prst="rect">
            <a:avLst/>
          </a:prstGeom>
          <a:noFill/>
        </p:spPr>
        <p:txBody>
          <a:bodyPr wrap="square" anchor="t" lIns="0" tIns="0" rIns="0" bIns="0">
            <a:spAutoFit/>
          </a:bodyPr>
          <a:lstStyle/>
          <a:p>
            <a:pPr algn="l"/>
            <a:r>
              <a:rPr sz="2380" b="1">
                <a:solidFill>
                  <a:srgbClr val="AF222A"/>
                </a:solidFill>
                <a:latin typeface="Bebas Neue"/>
              </a:rPr>
              <a:t>Summary of what we need</a:t>
            </a:r>
          </a:p>
          <a:p>
            <a:pPr algn="l" marL="256032" indent="-256032" lvl="0">
              <a:spcBef>
                <a:spcPts val="700"/>
              </a:spcBef>
              <a:buClr>
                <a:srgbClr val="52C7D0"/>
              </a:buClr>
              <a:buFont typeface="Arial"/>
              <a:buChar char="•"/>
            </a:pPr>
            <a:r>
              <a:rPr sz="1900" b="0">
                <a:solidFill>
                  <a:srgbClr val="111111"/>
                </a:solidFill>
                <a:latin typeface="Inter"/>
              </a:rPr>
              <a:t>the tag set (“sense inventory”)</a:t>
            </a:r>
          </a:p>
          <a:p>
            <a:pPr algn="l" marL="256032" indent="-256032" lvl="0">
              <a:spcBef>
                <a:spcPts val="700"/>
              </a:spcBef>
              <a:buClr>
                <a:srgbClr val="52C7D0"/>
              </a:buClr>
              <a:buFont typeface="Arial"/>
              <a:buChar char="•"/>
            </a:pPr>
            <a:r>
              <a:rPr sz="1900" b="0">
                <a:solidFill>
                  <a:srgbClr val="111111"/>
                </a:solidFill>
                <a:latin typeface="Inter"/>
              </a:rPr>
              <a:t>the training corpus</a:t>
            </a:r>
          </a:p>
          <a:p>
            <a:pPr algn="l" marL="256032" indent="-256032" lvl="0">
              <a:spcBef>
                <a:spcPts val="700"/>
              </a:spcBef>
              <a:buClr>
                <a:srgbClr val="52C7D0"/>
              </a:buClr>
              <a:buFont typeface="Arial"/>
              <a:buChar char="•"/>
            </a:pPr>
            <a:r>
              <a:rPr sz="1900" b="0">
                <a:solidFill>
                  <a:srgbClr val="111111"/>
                </a:solidFill>
                <a:latin typeface="Inter"/>
              </a:rPr>
              <a:t>A set of features extracted from the training corpus</a:t>
            </a:r>
          </a:p>
          <a:p>
            <a:pPr algn="l" marL="256032" indent="-256032" lvl="0">
              <a:spcBef>
                <a:spcPts val="700"/>
              </a:spcBef>
              <a:buClr>
                <a:srgbClr val="52C7D0"/>
              </a:buClr>
              <a:buFont typeface="Arial"/>
              <a:buChar char="•"/>
            </a:pPr>
            <a:r>
              <a:rPr sz="1900" b="0">
                <a:solidFill>
                  <a:srgbClr val="111111"/>
                </a:solidFill>
                <a:latin typeface="Inter"/>
              </a:rPr>
              <a:t>A classifier</a:t>
            </a:r>
          </a:p>
        </p:txBody>
      </p:sp>
      <p:sp>
        <p:nvSpPr>
          <p:cNvPr id="15" name="Rounded Rectangle 14"/>
          <p:cNvSpPr/>
          <p:nvPr/>
        </p:nvSpPr>
        <p:spPr>
          <a:xfrm>
            <a:off x="457200" y="4161149"/>
            <a:ext cx="11274552" cy="11240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61149"/>
            <a:ext cx="73152" cy="11240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This supervised approach uses a training corpus of context-tagged words to build a classifier. The process requires a sense inventory, a training corpus, extracted features, and the classifier itself. For example, training a model on sentences where 'bank' is tagged as either a financial institution or a river edge.</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Supervised learning approach — Training a classifier on sense-tagged text to automatically tag words in new text.  ·  Training corpus — A collection of texts where words are tagged in context with their correct sense.</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WSD tags use dictionary senses to label word instances in 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17457"/>
            <a:ext cx="82296" cy="379201"/>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0881"/>
            <a:ext cx="7087166" cy="397489"/>
          </a:xfrm>
          <a:prstGeom prst="rect">
            <a:avLst/>
          </a:prstGeom>
          <a:noFill/>
        </p:spPr>
        <p:txBody>
          <a:bodyPr wrap="square" anchor="t" lIns="0" tIns="0" rIns="0" bIns="0">
            <a:spAutoFit/>
          </a:bodyPr>
          <a:lstStyle/>
          <a:p>
            <a:pPr algn="l"/>
            <a:r>
              <a:rPr sz="2480" b="1">
                <a:solidFill>
                  <a:srgbClr val="AF222A"/>
                </a:solidFill>
                <a:latin typeface="Bebas Neue"/>
              </a:rPr>
              <a:t>What’s a tag?</a:t>
            </a:r>
          </a:p>
        </p:txBody>
      </p:sp>
      <p:sp>
        <p:nvSpPr>
          <p:cNvPr id="10" name="TextBox 9"/>
          <p:cNvSpPr txBox="1"/>
          <p:nvPr/>
        </p:nvSpPr>
        <p:spPr>
          <a:xfrm>
            <a:off x="720547" y="1970394"/>
            <a:ext cx="7087166" cy="288036"/>
          </a:xfrm>
          <a:prstGeom prst="rect">
            <a:avLst/>
          </a:prstGeom>
          <a:noFill/>
        </p:spPr>
        <p:txBody>
          <a:bodyPr wrap="square" lIns="0" rIns="0" tIns="0" bIns="0">
            <a:spAutoFit/>
          </a:bodyPr>
          <a:lstStyle/>
          <a:p>
            <a:r>
              <a:rPr sz="1800">
                <a:solidFill>
                  <a:srgbClr val="111111"/>
                </a:solidFill>
                <a:latin typeface="Inter"/>
              </a:rPr>
              <a:t>A dictionary sense?</a:t>
            </a:r>
          </a:p>
        </p:txBody>
      </p:sp>
      <p:sp>
        <p:nvSpPr>
          <p:cNvPr id="11" name="TextBox 10"/>
          <p:cNvSpPr txBox="1"/>
          <p:nvPr/>
        </p:nvSpPr>
        <p:spPr>
          <a:xfrm>
            <a:off x="994867" y="2386446"/>
            <a:ext cx="6812846" cy="576072"/>
          </a:xfrm>
          <a:prstGeom prst="rect">
            <a:avLst/>
          </a:prstGeom>
          <a:noFill/>
        </p:spPr>
        <p:txBody>
          <a:bodyPr wrap="square" lIns="0" rIns="0" tIns="0" bIns="0">
            <a:spAutoFit/>
          </a:bodyPr>
          <a:lstStyle/>
          <a:p>
            <a:r>
              <a:rPr sz="1120" b="1">
                <a:solidFill>
                  <a:srgbClr val="0F766E"/>
                </a:solidFill>
                <a:latin typeface="Bebas Neue"/>
              </a:rPr>
              <a:t>E.G.   </a:t>
            </a:r>
            <a:r>
              <a:rPr sz="1800" b="1">
                <a:solidFill>
                  <a:srgbClr val="0F766E"/>
                </a:solidFill>
                <a:latin typeface="Bebas Neue"/>
              </a:rPr>
              <a:t>For example</a:t>
            </a:r>
            <a:r>
              <a:rPr sz="1800">
                <a:solidFill>
                  <a:srgbClr val="111111"/>
                </a:solidFill>
                <a:latin typeface="Inter"/>
              </a:rPr>
              <a:t>, for WordNet an instance of “bass” in a text has 8 possible tags or labels (bass1 through bass8).</a:t>
            </a:r>
          </a:p>
        </p:txBody>
      </p:sp>
      <p:sp>
        <p:nvSpPr>
          <p:cNvPr id="12" name="TextBox 11"/>
          <p:cNvSpPr txBox="1"/>
          <p:nvPr/>
        </p:nvSpPr>
        <p:spPr>
          <a:xfrm>
            <a:off x="720547" y="3090534"/>
            <a:ext cx="7087166" cy="576072"/>
          </a:xfrm>
          <a:prstGeom prst="rect">
            <a:avLst/>
          </a:prstGeom>
          <a:noFill/>
        </p:spPr>
        <p:txBody>
          <a:bodyPr wrap="square" lIns="0" rIns="0" tIns="0" bIns="0">
            <a:spAutoFit/>
          </a:bodyPr>
          <a:lstStyle/>
          <a:p>
            <a:r>
              <a:rPr sz="1800">
                <a:solidFill>
                  <a:srgbClr val="111111"/>
                </a:solidFill>
                <a:latin typeface="Inter"/>
              </a:rPr>
              <a:t>A tag represents a specific dictionary sense assigned to a word in context.</a:t>
            </a:r>
          </a:p>
        </p:txBody>
      </p:sp>
      <p:sp>
        <p:nvSpPr>
          <p:cNvPr id="13" name="TextBox 12"/>
          <p:cNvSpPr txBox="1"/>
          <p:nvPr/>
        </p:nvSpPr>
        <p:spPr>
          <a:xfrm>
            <a:off x="994867" y="3794622"/>
            <a:ext cx="6812846" cy="576072"/>
          </a:xfrm>
          <a:prstGeom prst="rect">
            <a:avLst/>
          </a:prstGeom>
          <a:noFill/>
        </p:spPr>
        <p:txBody>
          <a:bodyPr wrap="square" lIns="0" rIns="0" tIns="0" bIns="0">
            <a:spAutoFit/>
          </a:bodyPr>
          <a:lstStyle/>
          <a:p>
            <a:r>
              <a:rPr sz="1120" b="1">
                <a:solidFill>
                  <a:srgbClr val="0F766E"/>
                </a:solidFill>
                <a:latin typeface="Bebas Neue"/>
              </a:rPr>
              <a:t>E.G.   </a:t>
            </a:r>
            <a:r>
              <a:rPr sz="1800" b="1">
                <a:solidFill>
                  <a:srgbClr val="0F766E"/>
                </a:solidFill>
                <a:latin typeface="Bebas Neue"/>
              </a:rPr>
              <a:t>For example</a:t>
            </a:r>
            <a:r>
              <a:rPr sz="1800">
                <a:solidFill>
                  <a:srgbClr val="111111"/>
                </a:solidFill>
                <a:latin typeface="Inter"/>
              </a:rPr>
              <a:t>, an instance of the word bass in a text can have eight distinct labels.</a:t>
            </a:r>
          </a:p>
        </p:txBody>
      </p:sp>
      <p:sp>
        <p:nvSpPr>
          <p:cNvPr id="14" name="TextBox 13"/>
          <p:cNvSpPr txBox="1"/>
          <p:nvPr/>
        </p:nvSpPr>
        <p:spPr>
          <a:xfrm>
            <a:off x="720547" y="4498710"/>
            <a:ext cx="7087166" cy="576072"/>
          </a:xfrm>
          <a:prstGeom prst="rect">
            <a:avLst/>
          </a:prstGeom>
          <a:noFill/>
        </p:spPr>
        <p:txBody>
          <a:bodyPr wrap="square" lIns="0" rIns="0" tIns="0" bIns="0">
            <a:spAutoFit/>
          </a:bodyPr>
          <a:lstStyle/>
          <a:p>
            <a:r>
              <a:rPr sz="1800">
                <a:solidFill>
                  <a:srgbClr val="111111"/>
                </a:solidFill>
                <a:latin typeface="Inter"/>
              </a:rPr>
              <a:t>Example: Labeling the word 'bass' with one of eight possible WordNet sense tags.</a:t>
            </a:r>
          </a:p>
        </p:txBody>
      </p:sp>
      <p:sp>
        <p:nvSpPr>
          <p:cNvPr id="15" name="Rounded Rectangle 14"/>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Tag — A label representing a dictionary sense assigned to a word in context.  ·  WordNet — A lexical database providing multiple numbered sense definitions for words.</a:t>
            </a:r>
          </a:p>
        </p:txBody>
      </p:sp>
      <p:sp>
        <p:nvSpPr>
          <p:cNvPr id="16" name="Rectangle 15"/>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WordNet provides eight distinct senses for the ambiguous word bass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351157"/>
          </a:xfrm>
          <a:prstGeom prst="roundRect">
            <a:avLst>
              <a:gd name="adj" fmla="val 1042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176272"/>
            <a:ext cx="3372611" cy="272165"/>
          </a:xfrm>
          <a:prstGeom prst="rect">
            <a:avLst/>
          </a:prstGeom>
          <a:noFill/>
        </p:spPr>
        <p:txBody>
          <a:bodyPr wrap="square" anchor="b" lIns="0" tIns="0" rIns="0" bIns="0">
            <a:spAutoFit/>
          </a:bodyPr>
          <a:lstStyle/>
          <a:p>
            <a:pPr algn="l"/>
            <a:r>
              <a:rPr sz="2200" b="1">
                <a:solidFill>
                  <a:srgbClr val="AF222A"/>
                </a:solidFill>
                <a:latin typeface="Bebas Neue"/>
              </a:rPr>
              <a:t>1</a:t>
            </a:r>
          </a:p>
          <a:p>
            <a:pPr algn="l">
              <a:spcBef>
                <a:spcPts val="200"/>
              </a:spcBef>
            </a:pPr>
            <a:r>
              <a:rPr sz="1200" b="1">
                <a:solidFill>
                  <a:srgbClr val="AF222A"/>
                </a:solidFill>
                <a:latin typeface="Bebas Neue"/>
              </a:rPr>
              <a:t>1. BASS -- (THE LOWEST PART</a:t>
            </a:r>
          </a:p>
          <a:p>
            <a:pPr algn="l">
              <a:spcBef>
                <a:spcPts val="400"/>
              </a:spcBef>
            </a:pPr>
            <a:r>
              <a:rPr sz="1200" b="0">
                <a:solidFill>
                  <a:srgbClr val="111111"/>
                </a:solidFill>
                <a:latin typeface="Inter"/>
              </a:rPr>
              <a:t>1. bass -- (the lowest part of the musical range) 2. bass, bass part -- (the lowest part in polyphonic music) 3. bass, basso -- (an adult male singer with the lowest voice) 4. sea bass, bass -- (flesh of lean-fleshed saltwater fish of the family</a:t>
            </a:r>
          </a:p>
        </p:txBody>
      </p:sp>
      <p:sp>
        <p:nvSpPr>
          <p:cNvPr id="12" name="Rounded Rectangle 11"/>
          <p:cNvSpPr/>
          <p:nvPr/>
        </p:nvSpPr>
        <p:spPr>
          <a:xfrm>
            <a:off x="4433315" y="1298448"/>
            <a:ext cx="3774947" cy="1351157"/>
          </a:xfrm>
          <a:prstGeom prst="roundRect">
            <a:avLst>
              <a:gd name="adj" fmla="val 1042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499616"/>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13001"/>
            <a:ext cx="340156" cy="340156"/>
          </a:xfrm>
          <a:prstGeom prst="rect">
            <a:avLst/>
          </a:prstGeom>
        </p:spPr>
      </p:pic>
      <p:sp>
        <p:nvSpPr>
          <p:cNvPr id="15" name="TextBox 14"/>
          <p:cNvSpPr txBox="1"/>
          <p:nvPr/>
        </p:nvSpPr>
        <p:spPr>
          <a:xfrm>
            <a:off x="4634483" y="2176272"/>
            <a:ext cx="3372611" cy="272165"/>
          </a:xfrm>
          <a:prstGeom prst="rect">
            <a:avLst/>
          </a:prstGeom>
          <a:noFill/>
        </p:spPr>
        <p:txBody>
          <a:bodyPr wrap="square" anchor="b" lIns="0" tIns="0" rIns="0" bIns="0">
            <a:spAutoFit/>
          </a:bodyPr>
          <a:lstStyle/>
          <a:p>
            <a:pPr algn="l"/>
            <a:r>
              <a:rPr sz="2200" b="1">
                <a:solidFill>
                  <a:srgbClr val="AF222A"/>
                </a:solidFill>
                <a:latin typeface="Bebas Neue"/>
              </a:rPr>
              <a:t>2</a:t>
            </a:r>
          </a:p>
          <a:p>
            <a:pPr algn="l">
              <a:spcBef>
                <a:spcPts val="200"/>
              </a:spcBef>
            </a:pPr>
            <a:r>
              <a:rPr sz="1200" b="1">
                <a:solidFill>
                  <a:srgbClr val="AF222A"/>
                </a:solidFill>
                <a:latin typeface="Bebas Neue"/>
              </a:rPr>
              <a:t>1. BASS -- (THE LOWEST PART</a:t>
            </a:r>
          </a:p>
        </p:txBody>
      </p:sp>
      <p:sp>
        <p:nvSpPr>
          <p:cNvPr id="16" name="Rounded Rectangle 15"/>
          <p:cNvSpPr/>
          <p:nvPr/>
        </p:nvSpPr>
        <p:spPr>
          <a:xfrm>
            <a:off x="457200" y="2850773"/>
            <a:ext cx="3774947" cy="1351157"/>
          </a:xfrm>
          <a:prstGeom prst="roundRect">
            <a:avLst>
              <a:gd name="adj" fmla="val 1042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51941"/>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65327"/>
            <a:ext cx="340156" cy="340156"/>
          </a:xfrm>
          <a:prstGeom prst="rect">
            <a:avLst/>
          </a:prstGeom>
        </p:spPr>
      </p:pic>
      <p:sp>
        <p:nvSpPr>
          <p:cNvPr id="19" name="TextBox 18"/>
          <p:cNvSpPr txBox="1"/>
          <p:nvPr/>
        </p:nvSpPr>
        <p:spPr>
          <a:xfrm>
            <a:off x="658368" y="3728597"/>
            <a:ext cx="3372611" cy="272165"/>
          </a:xfrm>
          <a:prstGeom prst="rect">
            <a:avLst/>
          </a:prstGeom>
          <a:noFill/>
        </p:spPr>
        <p:txBody>
          <a:bodyPr wrap="square" anchor="b" lIns="0" tIns="0" rIns="0" bIns="0">
            <a:spAutoFit/>
          </a:bodyPr>
          <a:lstStyle/>
          <a:p>
            <a:pPr algn="l"/>
            <a:r>
              <a:rPr sz="2200" b="1">
                <a:solidFill>
                  <a:srgbClr val="AF222A"/>
                </a:solidFill>
                <a:latin typeface="Bebas Neue"/>
              </a:rPr>
              <a:t>3</a:t>
            </a:r>
          </a:p>
          <a:p>
            <a:pPr algn="l">
              <a:spcBef>
                <a:spcPts val="200"/>
              </a:spcBef>
            </a:pPr>
            <a:r>
              <a:rPr sz="1200" b="1">
                <a:solidFill>
                  <a:srgbClr val="AF222A"/>
                </a:solidFill>
                <a:latin typeface="Bebas Neue"/>
              </a:rPr>
              <a:t>1. BASS -- (THE LOWEST PART</a:t>
            </a:r>
          </a:p>
        </p:txBody>
      </p:sp>
      <p:sp>
        <p:nvSpPr>
          <p:cNvPr id="20" name="Rounded Rectangle 19"/>
          <p:cNvSpPr/>
          <p:nvPr/>
        </p:nvSpPr>
        <p:spPr>
          <a:xfrm>
            <a:off x="4433315" y="2850773"/>
            <a:ext cx="3774947" cy="1351157"/>
          </a:xfrm>
          <a:prstGeom prst="roundRect">
            <a:avLst>
              <a:gd name="adj" fmla="val 1042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051941"/>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165327"/>
            <a:ext cx="340156" cy="340156"/>
          </a:xfrm>
          <a:prstGeom prst="rect">
            <a:avLst/>
          </a:prstGeom>
        </p:spPr>
      </p:pic>
      <p:sp>
        <p:nvSpPr>
          <p:cNvPr id="23" name="TextBox 22"/>
          <p:cNvSpPr txBox="1"/>
          <p:nvPr/>
        </p:nvSpPr>
        <p:spPr>
          <a:xfrm>
            <a:off x="4634483" y="3728597"/>
            <a:ext cx="3372611" cy="272165"/>
          </a:xfrm>
          <a:prstGeom prst="rect">
            <a:avLst/>
          </a:prstGeom>
          <a:noFill/>
        </p:spPr>
        <p:txBody>
          <a:bodyPr wrap="square" anchor="b" lIns="0" tIns="0" rIns="0" bIns="0">
            <a:spAutoFit/>
          </a:bodyPr>
          <a:lstStyle/>
          <a:p>
            <a:pPr algn="l"/>
            <a:r>
              <a:rPr sz="2200" b="1">
                <a:solidFill>
                  <a:srgbClr val="AF222A"/>
                </a:solidFill>
                <a:latin typeface="Bebas Neue"/>
              </a:rPr>
              <a:t>4</a:t>
            </a:r>
          </a:p>
          <a:p>
            <a:pPr algn="l">
              <a:spcBef>
                <a:spcPts val="200"/>
              </a:spcBef>
            </a:pPr>
            <a:r>
              <a:rPr sz="1200" b="1">
                <a:solidFill>
                  <a:srgbClr val="AF222A"/>
                </a:solidFill>
                <a:latin typeface="Bebas Neue"/>
              </a:rPr>
              <a:t>1. BASS -- (THE LOWEST PART</a:t>
            </a:r>
          </a:p>
        </p:txBody>
      </p:sp>
      <p:sp>
        <p:nvSpPr>
          <p:cNvPr id="24" name="Rounded Rectangle 23"/>
          <p:cNvSpPr/>
          <p:nvPr/>
        </p:nvSpPr>
        <p:spPr>
          <a:xfrm>
            <a:off x="457200" y="4403099"/>
            <a:ext cx="7751064" cy="88213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403099"/>
            <a:ext cx="73152" cy="88213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For example, distinguishing between a musical bass singer and a saltwater sea bass.</a:t>
            </a:r>
          </a:p>
        </p:txBody>
      </p:sp>
      <p:sp>
        <p:nvSpPr>
          <p:cNvPr id="27" name="Rounded Rectangle 2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Headline: 1 — 1. bass -- (the lowest part.</a:t>
            </a:r>
          </a:p>
          <a:p>
            <a:pPr algn="l"/>
            <a:r>
              <a:rPr b="1" sz="1300">
                <a:solidFill>
                  <a:srgbClr val="AF222A"/>
                </a:solidFill>
                <a:latin typeface="Bebas Neue"/>
              </a:rPr>
              <a:t>Key terms:  </a:t>
            </a:r>
            <a:r>
              <a:rPr sz="1300" b="0">
                <a:solidFill>
                  <a:srgbClr val="111111"/>
                </a:solidFill>
                <a:latin typeface="Inter"/>
              </a:rPr>
              <a:t>WordNet — A lexical database that organizes word meanings into distinct numbered senses.  ·  Sense — A discrete, specific definition or meaning of a word.</a:t>
            </a:r>
          </a:p>
        </p:txBody>
      </p:sp>
      <p:sp>
        <p:nvSpPr>
          <p:cNvPr id="28" name="Rectangle 2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par>
                                <p:cTn id="29" presetID="10"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5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par>
                                <p:cTn id="49" presetID="10"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5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 lexical database that organizes word meanings into distinct numbered senses.”?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Word overlap</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Ceiling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WordNet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POS</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WordNet: A lexical database that organizes word meanings into distinct numbered senses.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Sense tag inventories map words to translations and categories across different resources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58</a:t>
            </a:r>
          </a:p>
        </p:txBody>
      </p:sp>
      <p:sp>
        <p:nvSpPr>
          <p:cNvPr id="8" name="Rounded Rectangle 7"/>
          <p:cNvSpPr/>
          <p:nvPr/>
        </p:nvSpPr>
        <p:spPr>
          <a:xfrm>
            <a:off x="457200" y="1298448"/>
            <a:ext cx="5536692" cy="1472132"/>
          </a:xfrm>
          <a:prstGeom prst="roundRect">
            <a:avLst>
              <a:gd name="adj" fmla="val 956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1150263"/>
          </a:xfrm>
          <a:prstGeom prst="rect">
            <a:avLst/>
          </a:prstGeom>
          <a:noFill/>
        </p:spPr>
        <p:txBody>
          <a:bodyPr wrap="square" anchor="t" lIns="0" tIns="0" rIns="0" bIns="0">
            <a:spAutoFit/>
          </a:bodyPr>
          <a:lstStyle/>
          <a:p>
            <a:pPr algn="l"/>
            <a:r>
              <a:rPr sz="1620" b="1">
                <a:solidFill>
                  <a:srgbClr val="AF222A"/>
                </a:solidFill>
                <a:latin typeface="Bebas Neue"/>
              </a:rPr>
              <a:t>WordNet Spanish</a:t>
            </a:r>
          </a:p>
          <a:p>
            <a:pPr algn="l" marL="256032" indent="-256032" lvl="0">
              <a:spcBef>
                <a:spcPts val="700"/>
              </a:spcBef>
              <a:buClr>
                <a:srgbClr val="52C7D0"/>
              </a:buClr>
              <a:buFont typeface="Arial"/>
              <a:buChar char="•"/>
            </a:pPr>
            <a:r>
              <a:rPr sz="1290" b="0">
                <a:solidFill>
                  <a:srgbClr val="111111"/>
                </a:solidFill>
                <a:latin typeface="Inter"/>
              </a:rPr>
              <a:t>Roget</a:t>
            </a:r>
          </a:p>
        </p:txBody>
      </p:sp>
      <p:sp>
        <p:nvSpPr>
          <p:cNvPr id="11" name="Rounded Rectangle 10"/>
          <p:cNvSpPr/>
          <p:nvPr/>
        </p:nvSpPr>
        <p:spPr>
          <a:xfrm>
            <a:off x="6195059" y="1298448"/>
            <a:ext cx="5536692" cy="1472132"/>
          </a:xfrm>
          <a:prstGeom prst="roundRect">
            <a:avLst>
              <a:gd name="adj" fmla="val 956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1150263"/>
          </a:xfrm>
          <a:prstGeom prst="rect">
            <a:avLst/>
          </a:prstGeom>
          <a:noFill/>
        </p:spPr>
        <p:txBody>
          <a:bodyPr wrap="square" anchor="t" lIns="0" tIns="0" rIns="0" bIns="0">
            <a:spAutoFit/>
          </a:bodyPr>
          <a:lstStyle/>
          <a:p>
            <a:pPr algn="l"/>
            <a:r>
              <a:rPr sz="1620" b="1">
                <a:solidFill>
                  <a:srgbClr val="AF222A"/>
                </a:solidFill>
                <a:latin typeface="Bebas Neue"/>
              </a:rPr>
              <a:t>Sense</a:t>
            </a:r>
          </a:p>
          <a:p>
            <a:pPr algn="l" marL="256032" indent="-256032" lvl="0">
              <a:spcBef>
                <a:spcPts val="700"/>
              </a:spcBef>
              <a:buClr>
                <a:srgbClr val="52C7D0"/>
              </a:buClr>
              <a:buFont typeface="Arial"/>
              <a:buChar char="•"/>
            </a:pPr>
            <a:r>
              <a:rPr sz="1290" b="0">
                <a:solidFill>
                  <a:srgbClr val="111111"/>
                </a:solidFill>
                <a:latin typeface="Inter"/>
              </a:rPr>
              <a:t>Translation Category</a:t>
            </a:r>
          </a:p>
          <a:p>
            <a:pPr algn="l" marL="512064" indent="-219456" lvl="1">
              <a:spcBef>
                <a:spcPts val="300"/>
              </a:spcBef>
              <a:buClr>
                <a:srgbClr val="52C7D0"/>
              </a:buClr>
              <a:buFont typeface="Arial"/>
              <a:buChar char="–"/>
            </a:pPr>
            <a:r>
              <a:rPr sz="1170" b="0">
                <a:solidFill>
                  <a:srgbClr val="555555"/>
                </a:solidFill>
                <a:latin typeface="Inter"/>
              </a:rPr>
              <a:t>Target Word in Context</a:t>
            </a:r>
          </a:p>
        </p:txBody>
      </p:sp>
      <p:sp>
        <p:nvSpPr>
          <p:cNvPr id="14" name="Rounded Rectangle 13"/>
          <p:cNvSpPr/>
          <p:nvPr/>
        </p:nvSpPr>
        <p:spPr>
          <a:xfrm>
            <a:off x="457200" y="2971748"/>
            <a:ext cx="5536692" cy="1472132"/>
          </a:xfrm>
          <a:prstGeom prst="roundRect">
            <a:avLst>
              <a:gd name="adj" fmla="val 956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136340"/>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32683"/>
            <a:ext cx="5134355" cy="1150263"/>
          </a:xfrm>
          <a:prstGeom prst="rect">
            <a:avLst/>
          </a:prstGeom>
          <a:noFill/>
        </p:spPr>
        <p:txBody>
          <a:bodyPr wrap="square" anchor="t" lIns="0" tIns="0" rIns="0" bIns="0">
            <a:spAutoFit/>
          </a:bodyPr>
          <a:lstStyle/>
          <a:p>
            <a:pPr algn="l"/>
            <a:r>
              <a:rPr sz="1620" b="1">
                <a:solidFill>
                  <a:srgbClr val="AF222A"/>
                </a:solidFill>
                <a:latin typeface="Bebas Neue"/>
              </a:rPr>
              <a:t>Bass4</a:t>
            </a:r>
          </a:p>
          <a:p>
            <a:pPr algn="l" marL="512064" indent="-219456" lvl="1">
              <a:spcBef>
                <a:spcPts val="300"/>
              </a:spcBef>
              <a:buClr>
                <a:srgbClr val="52C7D0"/>
              </a:buClr>
              <a:buFont typeface="Arial"/>
              <a:buChar char="–"/>
            </a:pPr>
            <a:r>
              <a:rPr sz="1170" b="0">
                <a:solidFill>
                  <a:srgbClr val="555555"/>
                </a:solidFill>
                <a:latin typeface="Inter"/>
              </a:rPr>
              <a:t>... ﬁsh as Paciﬁc salmon and striped bass and...</a:t>
            </a:r>
          </a:p>
          <a:p>
            <a:pPr algn="l" marL="256032" indent="-256032" lvl="0">
              <a:spcBef>
                <a:spcPts val="700"/>
              </a:spcBef>
              <a:buClr>
                <a:srgbClr val="52C7D0"/>
              </a:buClr>
              <a:buFont typeface="Arial"/>
              <a:buChar char="•"/>
            </a:pPr>
            <a:r>
              <a:rPr sz="1290" b="0">
                <a:solidFill>
                  <a:srgbClr val="111111"/>
                </a:solidFill>
                <a:latin typeface="Inter"/>
              </a:rPr>
              <a:t>lubina</a:t>
            </a:r>
          </a:p>
          <a:p>
            <a:pPr algn="l" marL="256032" indent="-256032" lvl="0">
              <a:spcBef>
                <a:spcPts val="700"/>
              </a:spcBef>
              <a:buClr>
                <a:srgbClr val="52C7D0"/>
              </a:buClr>
              <a:buFont typeface="Arial"/>
              <a:buChar char="•"/>
            </a:pPr>
            <a:r>
              <a:rPr sz="1290" b="0">
                <a:solidFill>
                  <a:srgbClr val="111111"/>
                </a:solidFill>
                <a:latin typeface="Inter"/>
              </a:rPr>
              <a:t>+2 more</a:t>
            </a:r>
          </a:p>
        </p:txBody>
      </p:sp>
      <p:sp>
        <p:nvSpPr>
          <p:cNvPr id="17" name="Rounded Rectangle 16"/>
          <p:cNvSpPr/>
          <p:nvPr/>
        </p:nvSpPr>
        <p:spPr>
          <a:xfrm>
            <a:off x="6195059" y="2971748"/>
            <a:ext cx="5536692" cy="1472132"/>
          </a:xfrm>
          <a:prstGeom prst="roundRect">
            <a:avLst>
              <a:gd name="adj" fmla="val 956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5059" y="3136340"/>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6227" y="3132683"/>
            <a:ext cx="5134355" cy="1150263"/>
          </a:xfrm>
          <a:prstGeom prst="rect">
            <a:avLst/>
          </a:prstGeom>
          <a:noFill/>
        </p:spPr>
        <p:txBody>
          <a:bodyPr wrap="square" anchor="t" lIns="0" tIns="0" rIns="0" bIns="0">
            <a:spAutoFit/>
          </a:bodyPr>
          <a:lstStyle/>
          <a:p>
            <a:pPr algn="l"/>
            <a:r>
              <a:rPr sz="1620" b="1">
                <a:solidFill>
                  <a:srgbClr val="AF222A"/>
                </a:solidFill>
                <a:latin typeface="Bebas Neue"/>
              </a:rPr>
              <a:t>Bass7</a:t>
            </a:r>
          </a:p>
          <a:p>
            <a:pPr algn="l" marL="512064" indent="-219456" lvl="1">
              <a:spcBef>
                <a:spcPts val="300"/>
              </a:spcBef>
              <a:buClr>
                <a:srgbClr val="52C7D0"/>
              </a:buClr>
              <a:buFont typeface="Arial"/>
              <a:buChar char="–"/>
            </a:pPr>
            <a:r>
              <a:rPr sz="1170" b="0">
                <a:solidFill>
                  <a:srgbClr val="555555"/>
                </a:solidFill>
                <a:latin typeface="Inter"/>
              </a:rPr>
              <a:t>... exciting jazz bass player since Ray Brown...</a:t>
            </a:r>
          </a:p>
          <a:p>
            <a:pPr algn="l" marL="256032" indent="-256032" lvl="0">
              <a:spcBef>
                <a:spcPts val="700"/>
              </a:spcBef>
              <a:buClr>
                <a:srgbClr val="52C7D0"/>
              </a:buClr>
              <a:buFont typeface="Arial"/>
              <a:buChar char="•"/>
            </a:pPr>
            <a:r>
              <a:rPr sz="1290" b="0">
                <a:solidFill>
                  <a:srgbClr val="111111"/>
                </a:solidFill>
                <a:latin typeface="Inter"/>
              </a:rPr>
              <a:t>bajo</a:t>
            </a:r>
          </a:p>
          <a:p>
            <a:pPr algn="l" marL="256032" indent="-256032" lvl="0">
              <a:spcBef>
                <a:spcPts val="700"/>
              </a:spcBef>
              <a:buClr>
                <a:srgbClr val="52C7D0"/>
              </a:buClr>
              <a:buFont typeface="Arial"/>
              <a:buChar char="•"/>
            </a:pPr>
            <a:r>
              <a:rPr sz="1290" b="0">
                <a:solidFill>
                  <a:srgbClr val="111111"/>
                </a:solidFill>
                <a:latin typeface="Inter"/>
              </a:rPr>
              <a:t>+2 more</a:t>
            </a:r>
          </a:p>
        </p:txBody>
      </p:sp>
      <p:sp>
        <p:nvSpPr>
          <p:cNvPr id="20" name="Rounded Rectangle 19"/>
          <p:cNvSpPr/>
          <p:nvPr/>
        </p:nvSpPr>
        <p:spPr>
          <a:xfrm>
            <a:off x="457200" y="4645049"/>
            <a:ext cx="11274552" cy="6401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645049"/>
            <a:ext cx="73152" cy="6401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For example, mapping the fourth sense of bass to the Spanish translation 'lubina' and the category FISH/INSECT.</a:t>
            </a:r>
          </a:p>
        </p:txBody>
      </p:sp>
      <p:sp>
        <p:nvSpPr>
          <p:cNvPr id="23" name="Rounded Rectangle 2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F222A"/>
                </a:solidFill>
                <a:latin typeface="Bebas Neue"/>
              </a:rPr>
              <a:t>Key terms:  </a:t>
            </a:r>
            <a:r>
              <a:rPr sz="1550" b="1">
                <a:solidFill>
                  <a:srgbClr val="111111"/>
                </a:solidFill>
                <a:latin typeface="Bebas Neue"/>
              </a:rPr>
              <a:t>Sense Translation — Equivalent meaning in another language, such as Spanish for WordNet senses.  ·  Category — A broader semantic domain or classification for a specific word sense.</a:t>
            </a:r>
          </a:p>
        </p:txBody>
      </p:sp>
      <p:sp>
        <p:nvSpPr>
          <p:cNvPr id="24" name="Rectangle 2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WSD requires specialized corpora like SemCor for training and evaluation</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58</a:t>
            </a:r>
          </a:p>
        </p:txBody>
      </p:sp>
      <p:sp>
        <p:nvSpPr>
          <p:cNvPr id="8" name="Rounded Rectangle 7"/>
          <p:cNvSpPr/>
          <p:nvPr/>
        </p:nvSpPr>
        <p:spPr>
          <a:xfrm>
            <a:off x="457200" y="1298448"/>
            <a:ext cx="11274552" cy="2460006"/>
          </a:xfrm>
          <a:prstGeom prst="roundRect">
            <a:avLst>
              <a:gd name="adj" fmla="val 5724"/>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594360" y="1435607"/>
          <a:ext cx="11000232" cy="2185686"/>
        </p:xfrm>
        <a:graphic>
          <a:graphicData uri="http://schemas.openxmlformats.org/drawingml/2006/chart">
            <c:chart xmlns:c="http://schemas.openxmlformats.org/drawingml/2006/chart" r:id="rId5"/>
          </a:graphicData>
        </a:graphic>
      </p:graphicFrame>
      <p:sp>
        <p:nvSpPr>
          <p:cNvPr id="10" name="Rounded Rectangle 9"/>
          <p:cNvSpPr/>
          <p:nvPr/>
        </p:nvSpPr>
        <p:spPr>
          <a:xfrm>
            <a:off x="457200" y="3959622"/>
            <a:ext cx="11274552" cy="1325609"/>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959622"/>
            <a:ext cx="73152" cy="1325609"/>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4032774"/>
            <a:ext cx="10879531" cy="1179305"/>
          </a:xfrm>
          <a:prstGeom prst="rect">
            <a:avLst/>
          </a:prstGeom>
          <a:noFill/>
        </p:spPr>
        <p:txBody>
          <a:bodyPr wrap="square" anchor="ctr" lIns="0" tIns="0" rIns="0" bIns="0">
            <a:spAutoFit/>
          </a:bodyPr>
          <a:lstStyle/>
          <a:p>
            <a:pPr algn="l"/>
            <a:r>
              <a:rPr sz="940" b="1">
                <a:solidFill>
                  <a:srgbClr val="AF222A"/>
                </a:solidFill>
                <a:latin typeface="Bebas Neue"/>
              </a:rPr>
              <a:t>IN PLAIN WORDS</a:t>
            </a:r>
          </a:p>
          <a:p>
            <a:pPr algn="l">
              <a:spcBef>
                <a:spcPts val="300"/>
              </a:spcBef>
            </a:pPr>
            <a:r>
              <a:rPr sz="1300" b="0">
                <a:solidFill>
                  <a:srgbClr val="111111"/>
                </a:solidFill>
                <a:latin typeface="Inter"/>
              </a:rPr>
              <a:t>Supervised tasks use dedicated corpora containing thousands of examples or manually tagged sense instances. SemCor provides hundreds of thousands of words manually tagged with WordNet senses from the Brown Corpus. For example, using SemCor's manually tagged text to train a system to recognize WordNet senses.</a:t>
            </a:r>
          </a:p>
          <a:p>
            <a:pPr algn="l">
              <a:spcBef>
                <a:spcPts val="300"/>
              </a:spcBef>
            </a:pPr>
            <a:r>
              <a:rPr sz="1300" b="0">
                <a:solidFill>
                  <a:srgbClr val="111111"/>
                </a:solidFill>
                <a:latin typeface="Inter"/>
              </a:rPr>
              <a:t>Lexical sample task: Line-hard-serve corpus -- 4000 examples of each Interest corpus -- 2369 sense-tagged examples All words:</a:t>
            </a:r>
          </a:p>
        </p:txBody>
      </p:sp>
      <p:sp>
        <p:nvSpPr>
          <p:cNvPr id="13" name="Rounded Rectangle 1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Highest: SemCor: (234000).</a:t>
            </a:r>
          </a:p>
          <a:p>
            <a:pPr algn="l"/>
            <a:r>
              <a:rPr b="1" sz="1300">
                <a:solidFill>
                  <a:srgbClr val="AF222A"/>
                </a:solidFill>
                <a:latin typeface="Bebas Neue"/>
              </a:rPr>
              <a:t>Key terms:  </a:t>
            </a:r>
            <a:r>
              <a:rPr sz="1300" b="0">
                <a:solidFill>
                  <a:srgbClr val="111111"/>
                </a:solidFill>
                <a:latin typeface="Inter"/>
              </a:rPr>
              <a:t>Semantic concordance — A corpus where each open-class word is labeled with a dictionary or thesaurus sense.  ·  SemCor — A manually tagged subset of the Brown Corpus using WordNet senses.</a:t>
            </a:r>
          </a:p>
        </p:txBody>
      </p:sp>
      <p:sp>
        <p:nvSpPr>
          <p:cNvPr id="14" name="Rectangle 1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SemCor explicitly encodes part of speech and lemma information for words in context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58</a:t>
            </a:r>
          </a:p>
        </p:txBody>
      </p:sp>
      <p:sp>
        <p:nvSpPr>
          <p:cNvPr id="8" name="Rounded Rectangle 7"/>
          <p:cNvSpPr/>
          <p:nvPr/>
        </p:nvSpPr>
        <p:spPr>
          <a:xfrm>
            <a:off x="457200" y="1298448"/>
            <a:ext cx="11274552" cy="3145433"/>
          </a:xfrm>
          <a:prstGeom prst="roundRect">
            <a:avLst>
              <a:gd name="adj" fmla="val 8953"/>
            </a:avLst>
          </a:prstGeom>
          <a:solidFill>
            <a:srgbClr val="FBF6F6"/>
          </a:solidFill>
          <a:ln w="12700">
            <a:solidFill>
              <a:srgbClr val="E7BC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98448"/>
            <a:ext cx="11274552" cy="384048"/>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0" rIns="201168" bIns="0"/>
          <a:lstStyle/>
          <a:p>
            <a:pPr algn="l"/>
            <a:r>
              <a:rPr sz="1300" b="1">
                <a:solidFill>
                  <a:srgbClr val="FFFFFF"/>
                </a:solidFill>
                <a:latin typeface="Bebas Neue"/>
              </a:rPr>
              <a:t>MARKUP EXAMPLE</a:t>
            </a:r>
          </a:p>
        </p:txBody>
      </p:sp>
      <p:sp>
        <p:nvSpPr>
          <p:cNvPr id="10" name="TextBox 9"/>
          <p:cNvSpPr txBox="1"/>
          <p:nvPr/>
        </p:nvSpPr>
        <p:spPr>
          <a:xfrm>
            <a:off x="577900" y="1819655"/>
            <a:ext cx="411480" cy="301752"/>
          </a:xfrm>
          <a:prstGeom prst="rect">
            <a:avLst/>
          </a:prstGeom>
          <a:noFill/>
        </p:spPr>
        <p:txBody>
          <a:bodyPr wrap="none">
            <a:spAutoFit/>
          </a:bodyPr>
          <a:lstStyle/>
          <a:p>
            <a:r>
              <a:rPr sz="1350">
                <a:solidFill>
                  <a:srgbClr val="888888"/>
                </a:solidFill>
                <a:latin typeface="Inter"/>
              </a:rPr>
              <a:t>1</a:t>
            </a:r>
          </a:p>
        </p:txBody>
      </p:sp>
      <p:sp>
        <p:nvSpPr>
          <p:cNvPr id="11" name="TextBox 10"/>
          <p:cNvSpPr txBox="1"/>
          <p:nvPr/>
        </p:nvSpPr>
        <p:spPr>
          <a:xfrm>
            <a:off x="1069848" y="1819655"/>
            <a:ext cx="10460736" cy="301752"/>
          </a:xfrm>
          <a:prstGeom prst="rect">
            <a:avLst/>
          </a:prstGeom>
          <a:noFill/>
        </p:spPr>
        <p:txBody>
          <a:bodyPr wrap="square" lIns="0" rIns="0" tIns="0" bIns="0">
            <a:spAutoFit/>
          </a:bodyPr>
          <a:lstStyle/>
          <a:p>
            <a:r>
              <a:rPr sz="1800" b="0">
                <a:solidFill>
                  <a:srgbClr val="111111"/>
                </a:solidFill>
                <a:latin typeface="Inter"/>
              </a:rPr>
              <a:t>wf pos=PRP&gt;He&lt;/wf&gt;</a:t>
            </a:r>
          </a:p>
        </p:txBody>
      </p:sp>
      <p:sp>
        <p:nvSpPr>
          <p:cNvPr id="12" name="TextBox 11"/>
          <p:cNvSpPr txBox="1"/>
          <p:nvPr/>
        </p:nvSpPr>
        <p:spPr>
          <a:xfrm>
            <a:off x="577900" y="2121408"/>
            <a:ext cx="411480" cy="301752"/>
          </a:xfrm>
          <a:prstGeom prst="rect">
            <a:avLst/>
          </a:prstGeom>
          <a:noFill/>
        </p:spPr>
        <p:txBody>
          <a:bodyPr wrap="none">
            <a:spAutoFit/>
          </a:bodyPr>
          <a:lstStyle/>
          <a:p>
            <a:r>
              <a:rPr sz="1350">
                <a:solidFill>
                  <a:srgbClr val="888888"/>
                </a:solidFill>
                <a:latin typeface="Inter"/>
              </a:rPr>
              <a:t>2</a:t>
            </a:r>
          </a:p>
        </p:txBody>
      </p:sp>
      <p:sp>
        <p:nvSpPr>
          <p:cNvPr id="13" name="TextBox 12"/>
          <p:cNvSpPr txBox="1"/>
          <p:nvPr/>
        </p:nvSpPr>
        <p:spPr>
          <a:xfrm>
            <a:off x="1069848" y="2121408"/>
            <a:ext cx="10460736" cy="301752"/>
          </a:xfrm>
          <a:prstGeom prst="rect">
            <a:avLst/>
          </a:prstGeom>
          <a:noFill/>
        </p:spPr>
        <p:txBody>
          <a:bodyPr wrap="square" lIns="0" rIns="0" tIns="0" bIns="0">
            <a:spAutoFit/>
          </a:bodyPr>
          <a:lstStyle/>
          <a:p>
            <a:r>
              <a:rPr sz="1800" b="0">
                <a:solidFill>
                  <a:srgbClr val="111111"/>
                </a:solidFill>
                <a:latin typeface="Inter"/>
              </a:rPr>
              <a:t>wf pos=VB lemma=recognize wnsn=4 lexsn=2:31:00::&gt;recognized&lt;/wf&gt;</a:t>
            </a:r>
          </a:p>
        </p:txBody>
      </p:sp>
      <p:sp>
        <p:nvSpPr>
          <p:cNvPr id="14" name="TextBox 13"/>
          <p:cNvSpPr txBox="1"/>
          <p:nvPr/>
        </p:nvSpPr>
        <p:spPr>
          <a:xfrm>
            <a:off x="577900" y="2423160"/>
            <a:ext cx="411480" cy="301752"/>
          </a:xfrm>
          <a:prstGeom prst="rect">
            <a:avLst/>
          </a:prstGeom>
          <a:noFill/>
        </p:spPr>
        <p:txBody>
          <a:bodyPr wrap="none">
            <a:spAutoFit/>
          </a:bodyPr>
          <a:lstStyle/>
          <a:p>
            <a:r>
              <a:rPr sz="1350">
                <a:solidFill>
                  <a:srgbClr val="888888"/>
                </a:solidFill>
                <a:latin typeface="Inter"/>
              </a:rPr>
              <a:t>3</a:t>
            </a:r>
          </a:p>
        </p:txBody>
      </p:sp>
      <p:sp>
        <p:nvSpPr>
          <p:cNvPr id="15" name="TextBox 14"/>
          <p:cNvSpPr txBox="1"/>
          <p:nvPr/>
        </p:nvSpPr>
        <p:spPr>
          <a:xfrm>
            <a:off x="1069848" y="2423160"/>
            <a:ext cx="10460736" cy="301752"/>
          </a:xfrm>
          <a:prstGeom prst="rect">
            <a:avLst/>
          </a:prstGeom>
          <a:noFill/>
        </p:spPr>
        <p:txBody>
          <a:bodyPr wrap="square" lIns="0" rIns="0" tIns="0" bIns="0">
            <a:spAutoFit/>
          </a:bodyPr>
          <a:lstStyle/>
          <a:p>
            <a:r>
              <a:rPr sz="1800" b="0">
                <a:solidFill>
                  <a:srgbClr val="111111"/>
                </a:solidFill>
                <a:latin typeface="Inter"/>
              </a:rPr>
              <a:t>wf pos=DT&gt;the&lt;/wf&gt;</a:t>
            </a:r>
          </a:p>
        </p:txBody>
      </p:sp>
      <p:sp>
        <p:nvSpPr>
          <p:cNvPr id="16" name="TextBox 15"/>
          <p:cNvSpPr txBox="1"/>
          <p:nvPr/>
        </p:nvSpPr>
        <p:spPr>
          <a:xfrm>
            <a:off x="577900" y="2724912"/>
            <a:ext cx="411480" cy="301752"/>
          </a:xfrm>
          <a:prstGeom prst="rect">
            <a:avLst/>
          </a:prstGeom>
          <a:noFill/>
        </p:spPr>
        <p:txBody>
          <a:bodyPr wrap="none">
            <a:spAutoFit/>
          </a:bodyPr>
          <a:lstStyle/>
          <a:p>
            <a:r>
              <a:rPr sz="1350">
                <a:solidFill>
                  <a:srgbClr val="888888"/>
                </a:solidFill>
                <a:latin typeface="Inter"/>
              </a:rPr>
              <a:t>4</a:t>
            </a:r>
          </a:p>
        </p:txBody>
      </p:sp>
      <p:sp>
        <p:nvSpPr>
          <p:cNvPr id="17" name="TextBox 16"/>
          <p:cNvSpPr txBox="1"/>
          <p:nvPr/>
        </p:nvSpPr>
        <p:spPr>
          <a:xfrm>
            <a:off x="1069848" y="2724912"/>
            <a:ext cx="10460736" cy="301752"/>
          </a:xfrm>
          <a:prstGeom prst="rect">
            <a:avLst/>
          </a:prstGeom>
          <a:noFill/>
        </p:spPr>
        <p:txBody>
          <a:bodyPr wrap="square" lIns="0" rIns="0" tIns="0" bIns="0">
            <a:spAutoFit/>
          </a:bodyPr>
          <a:lstStyle/>
          <a:p>
            <a:r>
              <a:rPr sz="1800" b="0">
                <a:solidFill>
                  <a:srgbClr val="111111"/>
                </a:solidFill>
                <a:latin typeface="Inter"/>
              </a:rPr>
              <a:t>wf pos=NN lemma=gesture wnsn=1 lexsn=1:04:00::&gt;gesture&lt;/wf&gt;</a:t>
            </a:r>
          </a:p>
        </p:txBody>
      </p:sp>
      <p:sp>
        <p:nvSpPr>
          <p:cNvPr id="18" name="TextBox 17"/>
          <p:cNvSpPr txBox="1"/>
          <p:nvPr/>
        </p:nvSpPr>
        <p:spPr>
          <a:xfrm>
            <a:off x="577900" y="3026664"/>
            <a:ext cx="411480" cy="301752"/>
          </a:xfrm>
          <a:prstGeom prst="rect">
            <a:avLst/>
          </a:prstGeom>
          <a:noFill/>
        </p:spPr>
        <p:txBody>
          <a:bodyPr wrap="none">
            <a:spAutoFit/>
          </a:bodyPr>
          <a:lstStyle/>
          <a:p>
            <a:r>
              <a:rPr sz="1350">
                <a:solidFill>
                  <a:srgbClr val="888888"/>
                </a:solidFill>
                <a:latin typeface="Inter"/>
              </a:rPr>
              <a:t>5</a:t>
            </a:r>
          </a:p>
        </p:txBody>
      </p:sp>
      <p:sp>
        <p:nvSpPr>
          <p:cNvPr id="19" name="TextBox 18"/>
          <p:cNvSpPr txBox="1"/>
          <p:nvPr/>
        </p:nvSpPr>
        <p:spPr>
          <a:xfrm>
            <a:off x="1069848" y="3026664"/>
            <a:ext cx="10460736" cy="301752"/>
          </a:xfrm>
          <a:prstGeom prst="rect">
            <a:avLst/>
          </a:prstGeom>
          <a:noFill/>
        </p:spPr>
        <p:txBody>
          <a:bodyPr wrap="square" lIns="0" rIns="0" tIns="0" bIns="0">
            <a:spAutoFit/>
          </a:bodyPr>
          <a:lstStyle/>
          <a:p>
            <a:r>
              <a:rPr sz="1800" b="0">
                <a:solidFill>
                  <a:srgbClr val="111111"/>
                </a:solidFill>
                <a:latin typeface="Inter"/>
              </a:rPr>
              <a:t>punc&gt;.&lt;/punc&gt;</a:t>
            </a:r>
          </a:p>
        </p:txBody>
      </p:sp>
      <p:sp>
        <p:nvSpPr>
          <p:cNvPr id="20" name="Rounded Rectangle 19"/>
          <p:cNvSpPr/>
          <p:nvPr/>
        </p:nvSpPr>
        <p:spPr>
          <a:xfrm>
            <a:off x="457200" y="4645049"/>
            <a:ext cx="11274552" cy="6401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645049"/>
            <a:ext cx="73152" cy="6401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For example, tagging the word 'recognize' with its specific part of speech and lemma within a sentence.</a:t>
            </a:r>
          </a:p>
        </p:txBody>
      </p:sp>
      <p:sp>
        <p:nvSpPr>
          <p:cNvPr id="23" name="Rounded Rectangle 2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Lemma — The base dictionary form of a word.  ·  Part of Speech (POS) — The grammatical category of a word, such as pronoun, verb, or noun.</a:t>
            </a:r>
          </a:p>
        </p:txBody>
      </p:sp>
      <p:sp>
        <p:nvSpPr>
          <p:cNvPr id="24" name="Rectangle 2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5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5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Surrounding context words in a sufficiently wide window reveal the meaning of a central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09313"/>
            <a:ext cx="82296" cy="254459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72737"/>
            <a:ext cx="6963576" cy="2562880"/>
          </a:xfrm>
          <a:prstGeom prst="rect">
            <a:avLst/>
          </a:prstGeom>
          <a:noFill/>
        </p:spPr>
        <p:txBody>
          <a:bodyPr wrap="square" anchor="t" lIns="0" tIns="0" rIns="0" bIns="0">
            <a:spAutoFit/>
          </a:bodyPr>
          <a:lstStyle/>
          <a:p>
            <a:pPr algn="l"/>
            <a:r>
              <a:rPr sz="1460" b="1">
                <a:solidFill>
                  <a:srgbClr val="AF222A"/>
                </a:solidFill>
                <a:latin typeface="Bebas Neue"/>
              </a:rPr>
              <a:t>“If one examines the words in a book, one at a time as through an opaque mask with a hole in it one word wide, then it is obviously impossible to determine, one at a time, the meaning of the words… But if one lengthens the slit in the opaque mask, until one can see not only the central word in question but also say N words on either side, then if N is large enough one can unambiguously decide the meaning of the central word… The practical question is: ``What minimum value of N will, at least in a tolerable fraction of cases, lead to the correct choice of meaning for the central word?”.</a:t>
            </a:r>
          </a:p>
        </p:txBody>
      </p:sp>
      <p:sp>
        <p:nvSpPr>
          <p:cNvPr id="10" name="Rounded Rectangle 9"/>
          <p:cNvSpPr/>
          <p:nvPr/>
        </p:nvSpPr>
        <p:spPr>
          <a:xfrm>
            <a:off x="457200" y="4403099"/>
            <a:ext cx="7751064" cy="88213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403099"/>
            <a:ext cx="73152" cy="88213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For example, looking at several words to the left and right of 'bass' to determine if it relates to music or fishing.</a:t>
            </a:r>
          </a:p>
        </p:txBody>
      </p:sp>
      <p:sp>
        <p:nvSpPr>
          <p:cNvPr id="13" name="Rounded Rectangle 1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Context window — A span of N words on either side of a central word used for disambiguation.  ·  Feature vector — A set of extracted contextual features used to train a word sense classifier.</a:t>
            </a:r>
          </a:p>
        </p:txBody>
      </p:sp>
      <p:sp>
        <p:nvSpPr>
          <p:cNvPr id="14" name="Rectangle 1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 span of N words on either side of a central word used for disambiguation.”?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Dictionary methods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Naive Bayes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Lexical Sample task</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Context window</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Context window: A span of N words on either side of a central word used for disambiguation.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Feature vectors encode each target word by ordered values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97147"/>
            <a:ext cx="82296" cy="55586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60571"/>
            <a:ext cx="7087166" cy="574151"/>
          </a:xfrm>
          <a:prstGeom prst="rect">
            <a:avLst/>
          </a:prstGeom>
          <a:noFill/>
        </p:spPr>
        <p:txBody>
          <a:bodyPr wrap="square" anchor="t" lIns="0" tIns="0" rIns="0" bIns="0">
            <a:spAutoFit/>
          </a:bodyPr>
          <a:lstStyle/>
          <a:p>
            <a:pPr algn="l"/>
            <a:r>
              <a:rPr sz="1789" b="1">
                <a:solidFill>
                  <a:srgbClr val="AF222A"/>
                </a:solidFill>
                <a:latin typeface="Bebas Neue"/>
              </a:rPr>
              <a:t>A simple representation for each observation (each instance of a target word).</a:t>
            </a:r>
          </a:p>
        </p:txBody>
      </p:sp>
      <p:sp>
        <p:nvSpPr>
          <p:cNvPr id="10" name="TextBox 9"/>
          <p:cNvSpPr txBox="1"/>
          <p:nvPr/>
        </p:nvSpPr>
        <p:spPr>
          <a:xfrm>
            <a:off x="720547" y="2226746"/>
            <a:ext cx="7087166" cy="208025"/>
          </a:xfrm>
          <a:prstGeom prst="rect">
            <a:avLst/>
          </a:prstGeom>
          <a:noFill/>
        </p:spPr>
        <p:txBody>
          <a:bodyPr wrap="square" lIns="0" rIns="0" tIns="0" bIns="0">
            <a:spAutoFit/>
          </a:bodyPr>
          <a:lstStyle/>
          <a:p>
            <a:r>
              <a:rPr sz="1300">
                <a:solidFill>
                  <a:srgbClr val="111111"/>
                </a:solidFill>
                <a:latin typeface="Inter"/>
              </a:rPr>
              <a:t>Vectors of sets of feature/value pairs.</a:t>
            </a:r>
          </a:p>
        </p:txBody>
      </p:sp>
      <p:sp>
        <p:nvSpPr>
          <p:cNvPr id="11" name="TextBox 10"/>
          <p:cNvSpPr txBox="1"/>
          <p:nvPr/>
        </p:nvSpPr>
        <p:spPr>
          <a:xfrm>
            <a:off x="720547" y="2562788"/>
            <a:ext cx="7087166" cy="208025"/>
          </a:xfrm>
          <a:prstGeom prst="rect">
            <a:avLst/>
          </a:prstGeom>
          <a:noFill/>
        </p:spPr>
        <p:txBody>
          <a:bodyPr wrap="square" lIns="0" rIns="0" tIns="0" bIns="0">
            <a:spAutoFit/>
          </a:bodyPr>
          <a:lstStyle/>
          <a:p>
            <a:r>
              <a:rPr sz="1300">
                <a:solidFill>
                  <a:srgbClr val="111111"/>
                </a:solidFill>
                <a:latin typeface="Inter"/>
              </a:rPr>
              <a:t>Represented as a ordered list of values.</a:t>
            </a:r>
          </a:p>
        </p:txBody>
      </p:sp>
      <p:sp>
        <p:nvSpPr>
          <p:cNvPr id="12" name="TextBox 11"/>
          <p:cNvSpPr txBox="1"/>
          <p:nvPr/>
        </p:nvSpPr>
        <p:spPr>
          <a:xfrm>
            <a:off x="994867" y="2898830"/>
            <a:ext cx="6812846" cy="208025"/>
          </a:xfrm>
          <a:prstGeom prst="rect">
            <a:avLst/>
          </a:prstGeom>
          <a:noFill/>
        </p:spPr>
        <p:txBody>
          <a:bodyPr wrap="square" lIns="0" rIns="0" tIns="0" bIns="0">
            <a:spAutoFit/>
          </a:bodyPr>
          <a:lstStyle/>
          <a:p>
            <a:r>
              <a:rPr sz="1300">
                <a:solidFill>
                  <a:srgbClr val="111111"/>
                </a:solidFill>
                <a:latin typeface="Inter"/>
              </a:rPr>
              <a:t>These vectors represent, e.g., the window of words around the target.</a:t>
            </a:r>
          </a:p>
        </p:txBody>
      </p:sp>
      <p:sp>
        <p:nvSpPr>
          <p:cNvPr id="13" name="TextBox 12"/>
          <p:cNvSpPr txBox="1"/>
          <p:nvPr/>
        </p:nvSpPr>
        <p:spPr>
          <a:xfrm>
            <a:off x="720547" y="3234872"/>
            <a:ext cx="7087166" cy="208025"/>
          </a:xfrm>
          <a:prstGeom prst="rect">
            <a:avLst/>
          </a:prstGeom>
          <a:noFill/>
        </p:spPr>
        <p:txBody>
          <a:bodyPr wrap="square" lIns="0" rIns="0" tIns="0" bIns="0">
            <a:spAutoFit/>
          </a:bodyPr>
          <a:lstStyle/>
          <a:p>
            <a:r>
              <a:rPr sz="1300">
                <a:solidFill>
                  <a:srgbClr val="111111"/>
                </a:solidFill>
                <a:latin typeface="Inter"/>
              </a:rPr>
              <a:t>Feature vectors represent an observation as a list of values.</a:t>
            </a:r>
          </a:p>
        </p:txBody>
      </p:sp>
      <p:sp>
        <p:nvSpPr>
          <p:cNvPr id="14" name="TextBox 13"/>
          <p:cNvSpPr txBox="1"/>
          <p:nvPr/>
        </p:nvSpPr>
        <p:spPr>
          <a:xfrm>
            <a:off x="994867" y="3570914"/>
            <a:ext cx="6812846" cy="208025"/>
          </a:xfrm>
          <a:prstGeom prst="rect">
            <a:avLst/>
          </a:prstGeom>
          <a:noFill/>
        </p:spPr>
        <p:txBody>
          <a:bodyPr wrap="square" lIns="0" rIns="0" tIns="0" bIns="0">
            <a:spAutoFit/>
          </a:bodyPr>
          <a:lstStyle/>
          <a:p>
            <a:r>
              <a:rPr sz="810" b="1">
                <a:solidFill>
                  <a:srgbClr val="0F766E"/>
                </a:solidFill>
                <a:latin typeface="Bebas Neue"/>
              </a:rPr>
              <a:t>E.G.   </a:t>
            </a:r>
            <a:r>
              <a:rPr sz="1300">
                <a:solidFill>
                  <a:srgbClr val="111111"/>
                </a:solidFill>
                <a:latin typeface="Inter"/>
              </a:rPr>
              <a:t>Each value corresponds to a feature </a:t>
            </a:r>
            <a:r>
              <a:rPr sz="1300" b="1">
                <a:solidFill>
                  <a:srgbClr val="0F766E"/>
                </a:solidFill>
                <a:latin typeface="Bebas Neue"/>
              </a:rPr>
              <a:t>such as</a:t>
            </a:r>
            <a:r>
              <a:rPr sz="1300">
                <a:solidFill>
                  <a:srgbClr val="111111"/>
                </a:solidFill>
                <a:latin typeface="Inter"/>
              </a:rPr>
              <a:t> a word or part-of-speech tag.</a:t>
            </a:r>
          </a:p>
        </p:txBody>
      </p:sp>
      <p:sp>
        <p:nvSpPr>
          <p:cNvPr id="15" name="TextBox 14"/>
          <p:cNvSpPr txBox="1"/>
          <p:nvPr/>
        </p:nvSpPr>
        <p:spPr>
          <a:xfrm>
            <a:off x="720547" y="3906956"/>
            <a:ext cx="7087166" cy="208025"/>
          </a:xfrm>
          <a:prstGeom prst="rect">
            <a:avLst/>
          </a:prstGeom>
          <a:noFill/>
        </p:spPr>
        <p:txBody>
          <a:bodyPr wrap="square" lIns="0" rIns="0" tIns="0" bIns="0">
            <a:spAutoFit/>
          </a:bodyPr>
          <a:lstStyle/>
          <a:p>
            <a:r>
              <a:rPr sz="1300">
                <a:solidFill>
                  <a:srgbClr val="111111"/>
                </a:solidFill>
                <a:latin typeface="Inter"/>
              </a:rPr>
              <a:t>The order of values reflects the feature’s position in the vector.</a:t>
            </a:r>
          </a:p>
        </p:txBody>
      </p:sp>
      <p:sp>
        <p:nvSpPr>
          <p:cNvPr id="16" name="TextBox 15"/>
          <p:cNvSpPr txBox="1"/>
          <p:nvPr/>
        </p:nvSpPr>
        <p:spPr>
          <a:xfrm>
            <a:off x="994867" y="4242998"/>
            <a:ext cx="6812846" cy="416051"/>
          </a:xfrm>
          <a:prstGeom prst="rect">
            <a:avLst/>
          </a:prstGeom>
          <a:noFill/>
        </p:spPr>
        <p:txBody>
          <a:bodyPr wrap="square" lIns="0" rIns="0" tIns="0" bIns="0">
            <a:spAutoFit/>
          </a:bodyPr>
          <a:lstStyle/>
          <a:p>
            <a:r>
              <a:rPr sz="1300">
                <a:solidFill>
                  <a:srgbClr val="111111"/>
                </a:solidFill>
                <a:latin typeface="Inter"/>
              </a:rPr>
              <a:t>This simple structure allows machine learning models to process linguistic data.</a:t>
            </a:r>
          </a:p>
        </p:txBody>
      </p:sp>
      <p:sp>
        <p:nvSpPr>
          <p:cNvPr id="17" name="TextBox 16"/>
          <p:cNvSpPr txBox="1"/>
          <p:nvPr/>
        </p:nvSpPr>
        <p:spPr>
          <a:xfrm>
            <a:off x="720547" y="4787066"/>
            <a:ext cx="7087166" cy="208025"/>
          </a:xfrm>
          <a:prstGeom prst="rect">
            <a:avLst/>
          </a:prstGeom>
          <a:noFill/>
        </p:spPr>
        <p:txBody>
          <a:bodyPr wrap="square" lIns="0" rIns="0" tIns="0" bIns="0">
            <a:spAutoFit/>
          </a:bodyPr>
          <a:lstStyle/>
          <a:p>
            <a:r>
              <a:rPr sz="1300">
                <a:solidFill>
                  <a:srgbClr val="111111"/>
                </a:solidFill>
                <a:latin typeface="Inter"/>
              </a:rPr>
              <a:t>Example: A window of words around "bass" becomes a vector of 10 numbers.</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feature vector — An ordered list of numeric values representing attributes of an observation.</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Vectors contain collocational and bag-of-words features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58</a:t>
            </a:r>
          </a:p>
        </p:txBody>
      </p:sp>
      <p:sp>
        <p:nvSpPr>
          <p:cNvPr id="8" name="Rounded Rectangle 7">
            <a:hlinkClick r:id="rId5"/>
          </p:cNvPr>
          <p:cNvSpPr/>
          <p:nvPr/>
        </p:nvSpPr>
        <p:spPr>
          <a:xfrm>
            <a:off x="2894076" y="6455664"/>
            <a:ext cx="6400800"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Vectors with Collocational and Bag‑of‑Words Features</a:t>
            </a:r>
          </a:p>
        </p:txBody>
      </p:sp>
      <p:sp>
        <p:nvSpPr>
          <p:cNvPr id="9" name="Rectangle 8"/>
          <p:cNvSpPr/>
          <p:nvPr/>
        </p:nvSpPr>
        <p:spPr>
          <a:xfrm>
            <a:off x="457200" y="1325880"/>
            <a:ext cx="73152" cy="36576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AF222A"/>
                </a:solidFill>
                <a:latin typeface="Bebas Neue"/>
              </a:rPr>
              <a:t>Collocational features and bag-of-words features</a:t>
            </a:r>
          </a:p>
        </p:txBody>
      </p:sp>
      <p:sp>
        <p:nvSpPr>
          <p:cNvPr id="11" name="Rounded Rectangle 10"/>
          <p:cNvSpPr/>
          <p:nvPr/>
        </p:nvSpPr>
        <p:spPr>
          <a:xfrm>
            <a:off x="457200" y="1956815"/>
            <a:ext cx="5536692" cy="2487065"/>
          </a:xfrm>
          <a:prstGeom prst="roundRect">
            <a:avLst>
              <a:gd name="adj" fmla="val 566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21408"/>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17750"/>
            <a:ext cx="5134355" cy="2165196"/>
          </a:xfrm>
          <a:prstGeom prst="rect">
            <a:avLst/>
          </a:prstGeom>
          <a:noFill/>
        </p:spPr>
        <p:txBody>
          <a:bodyPr wrap="square" anchor="t" lIns="0" tIns="0" rIns="0" bIns="0">
            <a:spAutoFit/>
          </a:bodyPr>
          <a:lstStyle/>
          <a:p>
            <a:pPr algn="l"/>
            <a:r>
              <a:rPr sz="2500" b="1">
                <a:solidFill>
                  <a:srgbClr val="AF222A"/>
                </a:solidFill>
                <a:latin typeface="Bebas Neue"/>
              </a:rPr>
              <a:t>Collocational</a:t>
            </a:r>
          </a:p>
          <a:p>
            <a:pPr algn="l" marL="256032" indent="-256032" lvl="0">
              <a:spcBef>
                <a:spcPts val="700"/>
              </a:spcBef>
              <a:buClr>
                <a:srgbClr val="52C7D0"/>
              </a:buClr>
              <a:buFont typeface="Arial"/>
              <a:buChar char="•"/>
            </a:pPr>
            <a:r>
              <a:rPr sz="2000" b="0">
                <a:solidFill>
                  <a:srgbClr val="111111"/>
                </a:solidFill>
                <a:latin typeface="Inter"/>
              </a:rPr>
              <a:t>Features about words at specific positions near target word</a:t>
            </a:r>
          </a:p>
          <a:p>
            <a:pPr algn="l" marL="512064" indent="-219456" lvl="1">
              <a:spcBef>
                <a:spcPts val="300"/>
              </a:spcBef>
              <a:buClr>
                <a:srgbClr val="52C7D0"/>
              </a:buClr>
              <a:buFont typeface="Arial"/>
              <a:buChar char="–"/>
            </a:pPr>
            <a:r>
              <a:rPr sz="1800" b="0">
                <a:solidFill>
                  <a:srgbClr val="555555"/>
                </a:solidFill>
                <a:latin typeface="Inter"/>
              </a:rPr>
              <a:t>Often limited to just word identity and POS</a:t>
            </a:r>
          </a:p>
        </p:txBody>
      </p:sp>
      <p:sp>
        <p:nvSpPr>
          <p:cNvPr id="14" name="Rounded Rectangle 13"/>
          <p:cNvSpPr/>
          <p:nvPr/>
        </p:nvSpPr>
        <p:spPr>
          <a:xfrm>
            <a:off x="6195059" y="1956815"/>
            <a:ext cx="5536692" cy="2487065"/>
          </a:xfrm>
          <a:prstGeom prst="roundRect">
            <a:avLst>
              <a:gd name="adj" fmla="val 566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5059" y="2121408"/>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6227" y="2117750"/>
            <a:ext cx="5134355" cy="2165196"/>
          </a:xfrm>
          <a:prstGeom prst="rect">
            <a:avLst/>
          </a:prstGeom>
          <a:noFill/>
        </p:spPr>
        <p:txBody>
          <a:bodyPr wrap="square" anchor="t" lIns="0" tIns="0" rIns="0" bIns="0">
            <a:spAutoFit/>
          </a:bodyPr>
          <a:lstStyle/>
          <a:p>
            <a:pPr algn="l"/>
            <a:r>
              <a:rPr sz="2500" b="1">
                <a:solidFill>
                  <a:srgbClr val="AF222A"/>
                </a:solidFill>
                <a:latin typeface="Bebas Neue"/>
              </a:rPr>
              <a:t>Bag-of-words</a:t>
            </a:r>
          </a:p>
          <a:p>
            <a:pPr algn="l" marL="256032" indent="-256032" lvl="0">
              <a:spcBef>
                <a:spcPts val="700"/>
              </a:spcBef>
              <a:buClr>
                <a:srgbClr val="52C7D0"/>
              </a:buClr>
              <a:buFont typeface="Arial"/>
              <a:buChar char="•"/>
            </a:pPr>
            <a:r>
              <a:rPr sz="2000" b="0">
                <a:solidFill>
                  <a:srgbClr val="111111"/>
                </a:solidFill>
                <a:latin typeface="Inter"/>
              </a:rPr>
              <a:t>Features about words that occur anywhere in the window (regardless of position)</a:t>
            </a:r>
          </a:p>
          <a:p>
            <a:pPr algn="l" marL="512064" indent="-219456" lvl="1">
              <a:spcBef>
                <a:spcPts val="300"/>
              </a:spcBef>
              <a:buClr>
                <a:srgbClr val="52C7D0"/>
              </a:buClr>
              <a:buFont typeface="Arial"/>
              <a:buChar char="–"/>
            </a:pPr>
            <a:r>
              <a:rPr sz="1800" b="0">
                <a:solidFill>
                  <a:srgbClr val="555555"/>
                </a:solidFill>
                <a:latin typeface="Inter"/>
              </a:rPr>
              <a:t>Typically limited to frequency counts</a:t>
            </a:r>
          </a:p>
        </p:txBody>
      </p:sp>
      <p:sp>
        <p:nvSpPr>
          <p:cNvPr id="17" name="Rounded Rectangle 16"/>
          <p:cNvSpPr/>
          <p:nvPr/>
        </p:nvSpPr>
        <p:spPr>
          <a:xfrm>
            <a:off x="457200" y="4645049"/>
            <a:ext cx="11274552" cy="6401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645049"/>
            <a:ext cx="73152" cy="6401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Both types help describe the context of the target word.</a:t>
            </a:r>
          </a:p>
        </p:txBody>
      </p:sp>
      <p:sp>
        <p:nvSpPr>
          <p:cNvPr id="20" name="Rounded Rectangle 19"/>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F222A"/>
                </a:solidFill>
                <a:latin typeface="Bebas Neue"/>
              </a:rPr>
              <a:t>Key terms:  </a:t>
            </a:r>
            <a:r>
              <a:rPr sz="1550" b="1">
                <a:solidFill>
                  <a:srgbClr val="111111"/>
                </a:solidFill>
                <a:latin typeface="Bebas Neue"/>
              </a:rPr>
              <a:t>collocational feature — A feature that records a word at a specific position relative to the target.  ·  bag-of-words feature — A feature that counts word occurrences regardless of position.</a:t>
            </a:r>
          </a:p>
        </p:txBody>
      </p:sp>
      <p:sp>
        <p:nvSpPr>
          <p:cNvPr id="21" name="Rectangle 20"/>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50" b="1">
                <a:solidFill>
                  <a:srgbClr val="FFFFFF"/>
                </a:solidFill>
              </a:defRPr>
            </a:pPr>
            <a:r>
              <a:rPr>
                <a:latin typeface="Bebas Neue"/>
              </a:rPr>
              <a:t>Example text illustrates a 5-word window around a target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58</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60296"/>
            <a:ext cx="82296" cy="156911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3720"/>
            <a:ext cx="6907734" cy="1587398"/>
          </a:xfrm>
          <a:prstGeom prst="rect">
            <a:avLst/>
          </a:prstGeom>
          <a:noFill/>
        </p:spPr>
        <p:txBody>
          <a:bodyPr wrap="square" anchor="t" lIns="0" tIns="0" rIns="0" bIns="0">
            <a:spAutoFit/>
          </a:bodyPr>
          <a:lstStyle/>
          <a:p>
            <a:pPr algn="l"/>
            <a:r>
              <a:rPr sz="2480" b="1">
                <a:solidFill>
                  <a:srgbClr val="AF222A"/>
                </a:solidFill>
                <a:latin typeface="Bebas Neue"/>
              </a:rPr>
              <a:t>Example text (WSJ): An electric guitar and bass player stand off to one side not really part of the scene.</a:t>
            </a:r>
          </a:p>
        </p:txBody>
      </p:sp>
      <p:sp>
        <p:nvSpPr>
          <p:cNvPr id="10" name="TextBox 9"/>
          <p:cNvSpPr txBox="1"/>
          <p:nvPr/>
        </p:nvSpPr>
        <p:spPr>
          <a:xfrm>
            <a:off x="720547" y="3203143"/>
            <a:ext cx="6907734" cy="320040"/>
          </a:xfrm>
          <a:prstGeom prst="rect">
            <a:avLst/>
          </a:prstGeom>
          <a:noFill/>
        </p:spPr>
        <p:txBody>
          <a:bodyPr wrap="square" lIns="0" rIns="0" tIns="0" bIns="0">
            <a:spAutoFit/>
          </a:bodyPr>
          <a:lstStyle/>
          <a:p>
            <a:r>
              <a:rPr sz="2000">
                <a:solidFill>
                  <a:srgbClr val="111111"/>
                </a:solidFill>
                <a:latin typeface="Inter"/>
              </a:rPr>
              <a:t>Assume a window of +/-- 2 from the target.</a:t>
            </a:r>
          </a:p>
        </p:txBody>
      </p:sp>
      <p:sp>
        <p:nvSpPr>
          <p:cNvPr id="11" name="TextBox 10"/>
          <p:cNvSpPr txBox="1"/>
          <p:nvPr/>
        </p:nvSpPr>
        <p:spPr>
          <a:xfrm>
            <a:off x="720547" y="3651199"/>
            <a:ext cx="6907734" cy="960119"/>
          </a:xfrm>
          <a:prstGeom prst="rect">
            <a:avLst/>
          </a:prstGeom>
          <a:noFill/>
        </p:spPr>
        <p:txBody>
          <a:bodyPr wrap="square" lIns="0" rIns="0" tIns="0" bIns="0">
            <a:spAutoFit/>
          </a:bodyPr>
          <a:lstStyle/>
          <a:p>
            <a:r>
              <a:rPr sz="2000">
                <a:solidFill>
                  <a:srgbClr val="111111"/>
                </a:solidFill>
                <a:latin typeface="Inter"/>
              </a:rPr>
              <a:t>The sentence "An electric guitar and bass player stand off to one side not really part of the scene" is used.</a:t>
            </a:r>
          </a:p>
        </p:txBody>
      </p:sp>
      <p:sp>
        <p:nvSpPr>
          <p:cNvPr id="12" name="TextBox 11"/>
          <p:cNvSpPr txBox="1"/>
          <p:nvPr/>
        </p:nvSpPr>
        <p:spPr>
          <a:xfrm>
            <a:off x="720547" y="4739335"/>
            <a:ext cx="6907734" cy="640080"/>
          </a:xfrm>
          <a:prstGeom prst="rect">
            <a:avLst/>
          </a:prstGeom>
          <a:noFill/>
        </p:spPr>
        <p:txBody>
          <a:bodyPr wrap="square" lIns="0" rIns="0" tIns="0" bIns="0">
            <a:spAutoFit/>
          </a:bodyPr>
          <a:lstStyle/>
          <a:p>
            <a:r>
              <a:rPr sz="2000">
                <a:solidFill>
                  <a:srgbClr val="111111"/>
                </a:solidFill>
                <a:latin typeface="Inter"/>
              </a:rPr>
              <a:t>A window of ±2 words around the target word is assumed.</a:t>
            </a:r>
          </a:p>
        </p:txBody>
      </p:sp>
      <p:sp>
        <p:nvSpPr>
          <p:cNvPr id="13" name="TextBox 12"/>
          <p:cNvSpPr txBox="1"/>
          <p:nvPr/>
        </p:nvSpPr>
        <p:spPr>
          <a:xfrm>
            <a:off x="994867" y="5507431"/>
            <a:ext cx="6633414" cy="640080"/>
          </a:xfrm>
          <a:prstGeom prst="rect">
            <a:avLst/>
          </a:prstGeom>
          <a:noFill/>
        </p:spPr>
        <p:txBody>
          <a:bodyPr wrap="square" lIns="0" rIns="0" tIns="0" bIns="0">
            <a:spAutoFit/>
          </a:bodyPr>
          <a:lstStyle/>
          <a:p>
            <a:r>
              <a:rPr sz="2000">
                <a:solidFill>
                  <a:srgbClr val="111111"/>
                </a:solidFill>
                <a:latin typeface="Inter"/>
              </a:rPr>
              <a:t>This demonstrates how context is extracted for feature creation.</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Same example text repeats to emphasize window selection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585722"/>
            <a:ext cx="7883956" cy="3412236"/>
          </a:xfrm>
          <a:prstGeom prst="roundRect">
            <a:avLst>
              <a:gd name="adj" fmla="val 4126"/>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86890"/>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00275"/>
            <a:ext cx="340156" cy="340156"/>
          </a:xfrm>
          <a:prstGeom prst="rect">
            <a:avLst/>
          </a:prstGeom>
        </p:spPr>
      </p:pic>
      <p:sp>
        <p:nvSpPr>
          <p:cNvPr id="11" name="TextBox 10"/>
          <p:cNvSpPr txBox="1"/>
          <p:nvPr/>
        </p:nvSpPr>
        <p:spPr>
          <a:xfrm>
            <a:off x="658368" y="2463546"/>
            <a:ext cx="7481620" cy="2333243"/>
          </a:xfrm>
          <a:prstGeom prst="rect">
            <a:avLst/>
          </a:prstGeom>
          <a:noFill/>
        </p:spPr>
        <p:txBody>
          <a:bodyPr wrap="square" anchor="b" lIns="0" tIns="0" rIns="0" bIns="0">
            <a:spAutoFit/>
          </a:bodyPr>
          <a:lstStyle/>
          <a:p>
            <a:pPr algn="l"/>
            <a:r>
              <a:rPr sz="6000" b="1">
                <a:solidFill>
                  <a:srgbClr val="AF222A"/>
                </a:solidFill>
                <a:latin typeface="Bebas Neue"/>
              </a:rPr>
              <a:t>2</a:t>
            </a:r>
          </a:p>
          <a:p>
            <a:pPr algn="l">
              <a:spcBef>
                <a:spcPts val="200"/>
              </a:spcBef>
            </a:pPr>
            <a:r>
              <a:rPr sz="2039" b="1">
                <a:solidFill>
                  <a:srgbClr val="AF222A"/>
                </a:solidFill>
                <a:latin typeface="Bebas Neue"/>
              </a:rPr>
              <a:t>ASSUME A WINDOW OF +/--</a:t>
            </a:r>
          </a:p>
          <a:p>
            <a:pPr algn="l">
              <a:spcBef>
                <a:spcPts val="400"/>
              </a:spcBef>
            </a:pPr>
            <a:r>
              <a:rPr sz="1800" b="0">
                <a:solidFill>
                  <a:srgbClr val="111111"/>
                </a:solidFill>
                <a:latin typeface="Inter"/>
              </a:rPr>
              <a:t>Assume a window of +/-- 2 from the target</a:t>
            </a:r>
          </a:p>
        </p:txBody>
      </p:sp>
      <p:sp>
        <p:nvSpPr>
          <p:cNvPr id="12" name="Rounded Rectangle 11"/>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Headline: 2 — assume a window of +/--.</a:t>
            </a:r>
          </a:p>
          <a:p>
            <a:pPr algn="l"/>
            <a:r>
              <a:rPr b="1" sz="1300">
                <a:solidFill>
                  <a:srgbClr val="AF222A"/>
                </a:solidFill>
                <a:latin typeface="Bebas Neue"/>
              </a:rPr>
              <a:t>Key terms:  </a:t>
            </a:r>
            <a:r>
              <a:rPr sz="1300" b="0">
                <a:solidFill>
                  <a:srgbClr val="111111"/>
                </a:solidFill>
                <a:latin typeface="Inter"/>
              </a:rPr>
              <a:t>wsj — Example text</a:t>
            </a:r>
          </a:p>
        </p:txBody>
      </p:sp>
      <p:sp>
        <p:nvSpPr>
          <p:cNvPr id="13" name="Rectangle 12"/>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AF222A"/>
                </a:solidFill>
                <a:latin typeface="Bebas Neue"/>
              </a:rPr>
              <a:t>What was the figure for “Assume a window of +/--”?</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6</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4</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2</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3</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Assume a window of +/-- 2 from the target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50" b="1">
                <a:solidFill>
                  <a:srgbClr val="FFFFFF"/>
                </a:solidFill>
              </a:defRPr>
            </a:pPr>
            <a:r>
              <a:rPr>
                <a:latin typeface="Bebas Neue"/>
              </a:rPr>
              <a:t>Collocational features list words and POS at each position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536031"/>
            <a:ext cx="82296" cy="62211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99455"/>
            <a:ext cx="6963576" cy="640400"/>
          </a:xfrm>
          <a:prstGeom prst="rect">
            <a:avLst/>
          </a:prstGeom>
          <a:noFill/>
        </p:spPr>
        <p:txBody>
          <a:bodyPr wrap="square" anchor="t" lIns="0" tIns="0" rIns="0" bIns="0">
            <a:spAutoFit/>
          </a:bodyPr>
          <a:lstStyle/>
          <a:p>
            <a:pPr algn="l"/>
            <a:r>
              <a:rPr sz="2000" b="1">
                <a:solidFill>
                  <a:srgbClr val="AF222A"/>
                </a:solidFill>
                <a:latin typeface="Bebas Neue"/>
              </a:rPr>
              <a:t>Position-specific information about the words and collocations in window.</a:t>
            </a:r>
          </a:p>
        </p:txBody>
      </p:sp>
      <p:sp>
        <p:nvSpPr>
          <p:cNvPr id="10" name="TextBox 9"/>
          <p:cNvSpPr txBox="1"/>
          <p:nvPr/>
        </p:nvSpPr>
        <p:spPr>
          <a:xfrm>
            <a:off x="720547" y="2331880"/>
            <a:ext cx="6963576" cy="232028"/>
          </a:xfrm>
          <a:prstGeom prst="rect">
            <a:avLst/>
          </a:prstGeom>
          <a:noFill/>
        </p:spPr>
        <p:txBody>
          <a:bodyPr wrap="square" lIns="0" rIns="0" tIns="0" bIns="0">
            <a:spAutoFit/>
          </a:bodyPr>
          <a:lstStyle/>
          <a:p>
            <a:r>
              <a:rPr sz="1450">
                <a:solidFill>
                  <a:srgbClr val="111111"/>
                </a:solidFill>
                <a:latin typeface="Inter"/>
              </a:rPr>
              <a:t>guitar and bass player stand.</a:t>
            </a:r>
          </a:p>
        </p:txBody>
      </p:sp>
      <p:sp>
        <p:nvSpPr>
          <p:cNvPr id="11" name="TextBox 10"/>
          <p:cNvSpPr txBox="1"/>
          <p:nvPr/>
        </p:nvSpPr>
        <p:spPr>
          <a:xfrm>
            <a:off x="720547" y="2691925"/>
            <a:ext cx="6963576" cy="232028"/>
          </a:xfrm>
          <a:prstGeom prst="rect">
            <a:avLst/>
          </a:prstGeom>
          <a:noFill/>
        </p:spPr>
        <p:txBody>
          <a:bodyPr wrap="square" lIns="0" rIns="0" tIns="0" bIns="0">
            <a:spAutoFit/>
          </a:bodyPr>
          <a:lstStyle/>
          <a:p>
            <a:r>
              <a:rPr sz="1450">
                <a:solidFill>
                  <a:srgbClr val="111111"/>
                </a:solidFill>
                <a:latin typeface="Inter"/>
              </a:rPr>
              <a:t>i−2,wi+1 ].</a:t>
            </a:r>
          </a:p>
        </p:txBody>
      </p:sp>
      <p:sp>
        <p:nvSpPr>
          <p:cNvPr id="12" name="TextBox 11"/>
          <p:cNvSpPr txBox="1"/>
          <p:nvPr/>
        </p:nvSpPr>
        <p:spPr>
          <a:xfrm>
            <a:off x="720547" y="3051970"/>
            <a:ext cx="6963576" cy="232028"/>
          </a:xfrm>
          <a:prstGeom prst="rect">
            <a:avLst/>
          </a:prstGeom>
          <a:noFill/>
        </p:spPr>
        <p:txBody>
          <a:bodyPr wrap="square" lIns="0" rIns="0" tIns="0" bIns="0">
            <a:spAutoFit/>
          </a:bodyPr>
          <a:lstStyle/>
          <a:p>
            <a:r>
              <a:rPr sz="1450">
                <a:solidFill>
                  <a:srgbClr val="111111"/>
                </a:solidFill>
                <a:latin typeface="Inter"/>
              </a:rPr>
              <a:t>[guitar, NN, and, CC, player, NN, stand, VB, and guitar, player stand].</a:t>
            </a:r>
          </a:p>
        </p:txBody>
      </p:sp>
      <p:sp>
        <p:nvSpPr>
          <p:cNvPr id="13" name="TextBox 12"/>
          <p:cNvSpPr txBox="1"/>
          <p:nvPr/>
        </p:nvSpPr>
        <p:spPr>
          <a:xfrm>
            <a:off x="720547" y="3412015"/>
            <a:ext cx="6963576" cy="232028"/>
          </a:xfrm>
          <a:prstGeom prst="rect">
            <a:avLst/>
          </a:prstGeom>
          <a:noFill/>
        </p:spPr>
        <p:txBody>
          <a:bodyPr wrap="square" lIns="0" rIns="0" tIns="0" bIns="0">
            <a:spAutoFit/>
          </a:bodyPr>
          <a:lstStyle/>
          <a:p>
            <a:r>
              <a:rPr sz="1450">
                <a:solidFill>
                  <a:srgbClr val="111111"/>
                </a:solidFill>
                <a:latin typeface="Inter"/>
              </a:rPr>
              <a:t>word 1,2,3 grams in window of ±3 is common.</a:t>
            </a:r>
          </a:p>
        </p:txBody>
      </p:sp>
      <p:sp>
        <p:nvSpPr>
          <p:cNvPr id="14" name="TextBox 13"/>
          <p:cNvSpPr txBox="1"/>
          <p:nvPr/>
        </p:nvSpPr>
        <p:spPr>
          <a:xfrm>
            <a:off x="720547" y="3772060"/>
            <a:ext cx="6963576" cy="464057"/>
          </a:xfrm>
          <a:prstGeom prst="rect">
            <a:avLst/>
          </a:prstGeom>
          <a:noFill/>
        </p:spPr>
        <p:txBody>
          <a:bodyPr wrap="square" lIns="0" rIns="0" tIns="0" bIns="0">
            <a:spAutoFit/>
          </a:bodyPr>
          <a:lstStyle/>
          <a:p>
            <a:r>
              <a:rPr sz="1450">
                <a:solidFill>
                  <a:srgbClr val="111111"/>
                </a:solidFill>
                <a:latin typeface="Inter"/>
              </a:rPr>
              <a:t>For the window "guitar and bass player stand", the vector includes words and their part-of-speech tags at positions -2, -1, +1, +2.</a:t>
            </a:r>
          </a:p>
        </p:txBody>
      </p:sp>
      <p:sp>
        <p:nvSpPr>
          <p:cNvPr id="15" name="TextBox 14"/>
          <p:cNvSpPr txBox="1"/>
          <p:nvPr/>
        </p:nvSpPr>
        <p:spPr>
          <a:xfrm>
            <a:off x="720547" y="4364134"/>
            <a:ext cx="6963576" cy="232028"/>
          </a:xfrm>
          <a:prstGeom prst="rect">
            <a:avLst/>
          </a:prstGeom>
          <a:noFill/>
        </p:spPr>
        <p:txBody>
          <a:bodyPr wrap="square" lIns="0" rIns="0" tIns="0" bIns="0">
            <a:spAutoFit/>
          </a:bodyPr>
          <a:lstStyle/>
          <a:p>
            <a:r>
              <a:rPr sz="900" b="1">
                <a:solidFill>
                  <a:srgbClr val="0F766E"/>
                </a:solidFill>
                <a:latin typeface="Bebas Neue"/>
              </a:rPr>
              <a:t>ALSO   </a:t>
            </a:r>
            <a:r>
              <a:rPr sz="1450">
                <a:solidFill>
                  <a:srgbClr val="111111"/>
                </a:solidFill>
                <a:latin typeface="Inter"/>
              </a:rPr>
              <a:t>It </a:t>
            </a:r>
            <a:r>
              <a:rPr sz="1450" b="1">
                <a:solidFill>
                  <a:srgbClr val="0F766E"/>
                </a:solidFill>
                <a:latin typeface="Bebas Neue"/>
              </a:rPr>
              <a:t>also</a:t>
            </a:r>
            <a:r>
              <a:rPr sz="1450">
                <a:solidFill>
                  <a:srgbClr val="111111"/>
                </a:solidFill>
                <a:latin typeface="Inter"/>
              </a:rPr>
              <a:t> includes bigrams </a:t>
            </a:r>
            <a:r>
              <a:rPr sz="1450" b="1">
                <a:solidFill>
                  <a:srgbClr val="0F766E"/>
                </a:solidFill>
                <a:latin typeface="Bebas Neue"/>
              </a:rPr>
              <a:t>like</a:t>
            </a:r>
            <a:r>
              <a:rPr sz="1450">
                <a:solidFill>
                  <a:srgbClr val="111111"/>
                </a:solidFill>
                <a:latin typeface="Inter"/>
              </a:rPr>
              <a:t> "guitar player".</a:t>
            </a:r>
          </a:p>
        </p:txBody>
      </p:sp>
      <p:sp>
        <p:nvSpPr>
          <p:cNvPr id="16" name="TextBox 15"/>
          <p:cNvSpPr txBox="1"/>
          <p:nvPr/>
        </p:nvSpPr>
        <p:spPr>
          <a:xfrm>
            <a:off x="994867" y="4724179"/>
            <a:ext cx="6689256" cy="232028"/>
          </a:xfrm>
          <a:prstGeom prst="rect">
            <a:avLst/>
          </a:prstGeom>
          <a:noFill/>
        </p:spPr>
        <p:txBody>
          <a:bodyPr wrap="square" lIns="0" rIns="0" tIns="0" bIns="0">
            <a:spAutoFit/>
          </a:bodyPr>
          <a:lstStyle/>
          <a:p>
            <a:r>
              <a:rPr sz="1450">
                <a:solidFill>
                  <a:srgbClr val="111111"/>
                </a:solidFill>
                <a:latin typeface="Inter"/>
              </a:rPr>
              <a:t>This captures local word order and collocations.</a:t>
            </a:r>
          </a:p>
        </p:txBody>
      </p:sp>
      <p:sp>
        <p:nvSpPr>
          <p:cNvPr id="17" name="Rounded Rectangle 1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POS — Part-of-speech tag indicating grammatical category of a word.</a:t>
            </a:r>
          </a:p>
        </p:txBody>
      </p:sp>
      <p:sp>
        <p:nvSpPr>
          <p:cNvPr id="18" name="Rectangle 1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Bag-of-words features count unordered words in the window</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58</a:t>
            </a:r>
          </a:p>
        </p:txBody>
      </p:sp>
      <p:sp>
        <p:nvSpPr>
          <p:cNvPr id="8" name="Rounded Rectangle 7">
            <a:hlinkClick r:id="rId5"/>
          </p:cNvPr>
          <p:cNvSpPr/>
          <p:nvPr/>
        </p:nvSpPr>
        <p:spPr>
          <a:xfrm>
            <a:off x="3239719" y="6455664"/>
            <a:ext cx="5709513"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Bag-of-Words Feature Extraction Lab</a:t>
            </a:r>
          </a:p>
        </p:txBody>
      </p:sp>
      <p:sp>
        <p:nvSpPr>
          <p:cNvPr id="9" name="Rectangle 8"/>
          <p:cNvSpPr/>
          <p:nvPr/>
        </p:nvSpPr>
        <p:spPr>
          <a:xfrm>
            <a:off x="457200" y="1325880"/>
            <a:ext cx="73152" cy="68122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AF222A"/>
                </a:solidFill>
                <a:latin typeface="Bebas Neue"/>
              </a:rPr>
              <a:t>“an unordered set of words” – position ignored</a:t>
            </a:r>
          </a:p>
          <a:p>
            <a:pPr algn="l">
              <a:spcBef>
                <a:spcPts val="400"/>
              </a:spcBef>
            </a:pPr>
            <a:r>
              <a:rPr sz="1400" b="0">
                <a:solidFill>
                  <a:srgbClr val="111111"/>
                </a:solidFill>
                <a:latin typeface="Inter"/>
              </a:rPr>
              <a:t>Counts of words occur within the window.</a:t>
            </a:r>
          </a:p>
        </p:txBody>
      </p:sp>
      <p:sp>
        <p:nvSpPr>
          <p:cNvPr id="11" name="Rounded Rectangle 10"/>
          <p:cNvSpPr/>
          <p:nvPr/>
        </p:nvSpPr>
        <p:spPr>
          <a:xfrm>
            <a:off x="457200" y="2272284"/>
            <a:ext cx="11274552" cy="1687697"/>
          </a:xfrm>
          <a:prstGeom prst="roundRect">
            <a:avLst>
              <a:gd name="adj" fmla="val 834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436876"/>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433218"/>
            <a:ext cx="10872216" cy="1365828"/>
          </a:xfrm>
          <a:prstGeom prst="rect">
            <a:avLst/>
          </a:prstGeom>
          <a:noFill/>
        </p:spPr>
        <p:txBody>
          <a:bodyPr wrap="square" anchor="t" lIns="0" tIns="0" rIns="0" bIns="0">
            <a:spAutoFit/>
          </a:bodyPr>
          <a:lstStyle/>
          <a:p>
            <a:pPr algn="l"/>
            <a:r>
              <a:rPr sz="2500" b="1">
                <a:solidFill>
                  <a:srgbClr val="AF222A"/>
                </a:solidFill>
                <a:latin typeface="Bebas Neue"/>
              </a:rPr>
              <a:t>Then count how often each of those terms occurs in a given window</a:t>
            </a:r>
          </a:p>
          <a:p>
            <a:pPr algn="l" marL="256032" indent="-256032" lvl="0">
              <a:spcBef>
                <a:spcPts val="700"/>
              </a:spcBef>
              <a:buClr>
                <a:srgbClr val="52C7D0"/>
              </a:buClr>
              <a:buFont typeface="Arial"/>
              <a:buChar char="•"/>
            </a:pPr>
            <a:r>
              <a:rPr sz="2000" b="0">
                <a:solidFill>
                  <a:srgbClr val="111111"/>
                </a:solidFill>
                <a:latin typeface="Inter"/>
              </a:rPr>
              <a:t>sometimes just a binary “indicator” 1 or 0</a:t>
            </a:r>
          </a:p>
        </p:txBody>
      </p:sp>
      <p:sp>
        <p:nvSpPr>
          <p:cNvPr id="14" name="Rounded Rectangle 13"/>
          <p:cNvSpPr/>
          <p:nvPr/>
        </p:nvSpPr>
        <p:spPr>
          <a:xfrm>
            <a:off x="457200" y="4161149"/>
            <a:ext cx="11274552" cy="11240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First choose a vocabulary The vector ignores word order and records how many times each vocabulary word appears in the window. After choosing a vocabulary, each term gets a count or a binary indicator. This simplifies the representation for many classifiers.</a:t>
            </a:r>
          </a:p>
        </p:txBody>
      </p:sp>
      <p:sp>
        <p:nvSpPr>
          <p:cNvPr id="17" name="Rounded Rectangle 1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vocabulary — The set of distinct words used to build the feature vector.</a:t>
            </a:r>
          </a:p>
        </p:txBody>
      </p:sp>
      <p:sp>
        <p:nvSpPr>
          <p:cNvPr id="18" name="Rectangle 1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Co-occurrence example shows a binary vector for a target window</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7216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85552"/>
            <a:ext cx="340156" cy="340156"/>
          </a:xfrm>
          <a:prstGeom prst="rect">
            <a:avLst/>
          </a:prstGeom>
        </p:spPr>
      </p:pic>
      <p:sp>
        <p:nvSpPr>
          <p:cNvPr id="11" name="TextBox 10"/>
          <p:cNvSpPr txBox="1"/>
          <p:nvPr/>
        </p:nvSpPr>
        <p:spPr>
          <a:xfrm>
            <a:off x="1408175" y="1371600"/>
            <a:ext cx="2689250" cy="768061"/>
          </a:xfrm>
          <a:prstGeom prst="rect">
            <a:avLst/>
          </a:prstGeom>
          <a:noFill/>
        </p:spPr>
        <p:txBody>
          <a:bodyPr wrap="square" anchor="ctr" lIns="0" tIns="0" rIns="0" bIns="0">
            <a:spAutoFit/>
          </a:bodyPr>
          <a:lstStyle/>
          <a:p>
            <a:pPr algn="l"/>
            <a:r>
              <a:rPr sz="1080" b="0">
                <a:solidFill>
                  <a:srgbClr val="111111"/>
                </a:solidFill>
                <a:latin typeface="Inter"/>
              </a:rPr>
              <a:t>Assume we’ve settled on a possible vocabulary of 12 words in “bass” sentences</a:t>
            </a:r>
          </a:p>
        </p:txBody>
      </p:sp>
      <p:sp>
        <p:nvSpPr>
          <p:cNvPr id="12" name="Rounded Rectangle 11"/>
          <p:cNvSpPr/>
          <p:nvPr/>
        </p:nvSpPr>
        <p:spPr>
          <a:xfrm>
            <a:off x="4499762" y="1298448"/>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7216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85552"/>
            <a:ext cx="340156" cy="340156"/>
          </a:xfrm>
          <a:prstGeom prst="rect">
            <a:avLst/>
          </a:prstGeom>
        </p:spPr>
      </p:pic>
      <p:sp>
        <p:nvSpPr>
          <p:cNvPr id="15" name="TextBox 14"/>
          <p:cNvSpPr txBox="1"/>
          <p:nvPr/>
        </p:nvSpPr>
        <p:spPr>
          <a:xfrm>
            <a:off x="5450738" y="1371600"/>
            <a:ext cx="2689250" cy="768061"/>
          </a:xfrm>
          <a:prstGeom prst="rect">
            <a:avLst/>
          </a:prstGeom>
          <a:noFill/>
        </p:spPr>
        <p:txBody>
          <a:bodyPr wrap="square" anchor="ctr" lIns="0" tIns="0" rIns="0" bIns="0">
            <a:spAutoFit/>
          </a:bodyPr>
          <a:lstStyle/>
          <a:p>
            <a:pPr algn="l"/>
            <a:r>
              <a:rPr sz="1080" b="0">
                <a:solidFill>
                  <a:srgbClr val="111111"/>
                </a:solidFill>
                <a:latin typeface="Inter"/>
              </a:rPr>
              <a:t>[fishing, big, sound, player, fly, rod, pound, double, runs, playing, guitar, band]</a:t>
            </a:r>
          </a:p>
        </p:txBody>
      </p:sp>
      <p:sp>
        <p:nvSpPr>
          <p:cNvPr id="16" name="Rounded Rectangle 15"/>
          <p:cNvSpPr/>
          <p:nvPr/>
        </p:nvSpPr>
        <p:spPr>
          <a:xfrm>
            <a:off x="457200" y="2413981"/>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701086"/>
            <a:ext cx="340156" cy="340156"/>
          </a:xfrm>
          <a:prstGeom prst="rect">
            <a:avLst/>
          </a:prstGeom>
        </p:spPr>
      </p:pic>
      <p:sp>
        <p:nvSpPr>
          <p:cNvPr id="19" name="TextBox 18"/>
          <p:cNvSpPr txBox="1"/>
          <p:nvPr/>
        </p:nvSpPr>
        <p:spPr>
          <a:xfrm>
            <a:off x="1408175" y="2487133"/>
            <a:ext cx="2689250" cy="768061"/>
          </a:xfrm>
          <a:prstGeom prst="rect">
            <a:avLst/>
          </a:prstGeom>
          <a:noFill/>
        </p:spPr>
        <p:txBody>
          <a:bodyPr wrap="square" anchor="ctr" lIns="0" tIns="0" rIns="0" bIns="0">
            <a:spAutoFit/>
          </a:bodyPr>
          <a:lstStyle/>
          <a:p>
            <a:pPr algn="l"/>
            <a:r>
              <a:rPr sz="1300" b="1">
                <a:solidFill>
                  <a:srgbClr val="AF222A"/>
                </a:solidFill>
                <a:latin typeface="Bebas Neue"/>
              </a:rPr>
              <a:t>Vector</a:t>
            </a:r>
          </a:p>
          <a:p>
            <a:pPr algn="l">
              <a:spcBef>
                <a:spcPts val="500"/>
              </a:spcBef>
            </a:pPr>
            <a:r>
              <a:rPr sz="1080" b="0">
                <a:solidFill>
                  <a:srgbClr val="111111"/>
                </a:solidFill>
                <a:latin typeface="Inter"/>
              </a:rPr>
              <a:t>The vector for</a:t>
            </a:r>
          </a:p>
        </p:txBody>
      </p:sp>
      <p:sp>
        <p:nvSpPr>
          <p:cNvPr id="20" name="Rounded Rectangle 19"/>
          <p:cNvSpPr/>
          <p:nvPr/>
        </p:nvSpPr>
        <p:spPr>
          <a:xfrm>
            <a:off x="4499762" y="2413981"/>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58770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701086"/>
            <a:ext cx="340156" cy="340156"/>
          </a:xfrm>
          <a:prstGeom prst="rect">
            <a:avLst/>
          </a:prstGeom>
        </p:spPr>
      </p:pic>
      <p:sp>
        <p:nvSpPr>
          <p:cNvPr id="23" name="TextBox 22"/>
          <p:cNvSpPr txBox="1"/>
          <p:nvPr/>
        </p:nvSpPr>
        <p:spPr>
          <a:xfrm>
            <a:off x="5450738" y="2487133"/>
            <a:ext cx="2689250" cy="768061"/>
          </a:xfrm>
          <a:prstGeom prst="rect">
            <a:avLst/>
          </a:prstGeom>
          <a:noFill/>
        </p:spPr>
        <p:txBody>
          <a:bodyPr wrap="square" anchor="ctr" lIns="0" tIns="0" rIns="0" bIns="0">
            <a:spAutoFit/>
          </a:bodyPr>
          <a:lstStyle/>
          <a:p>
            <a:pPr algn="l"/>
            <a:r>
              <a:rPr sz="1080" b="0">
                <a:solidFill>
                  <a:srgbClr val="111111"/>
                </a:solidFill>
                <a:latin typeface="Inter"/>
              </a:rPr>
              <a:t>guitar and bass player stand [0,0,0,1,0,0,0,0,0,0,1,0]</a:t>
            </a:r>
          </a:p>
        </p:txBody>
      </p:sp>
      <p:sp>
        <p:nvSpPr>
          <p:cNvPr id="24" name="Rounded Rectangle 23"/>
          <p:cNvSpPr/>
          <p:nvPr/>
        </p:nvSpPr>
        <p:spPr>
          <a:xfrm>
            <a:off x="457200" y="3529515"/>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703234"/>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816620"/>
            <a:ext cx="340156" cy="340156"/>
          </a:xfrm>
          <a:prstGeom prst="rect">
            <a:avLst/>
          </a:prstGeom>
        </p:spPr>
      </p:pic>
      <p:sp>
        <p:nvSpPr>
          <p:cNvPr id="27" name="TextBox 26"/>
          <p:cNvSpPr txBox="1"/>
          <p:nvPr/>
        </p:nvSpPr>
        <p:spPr>
          <a:xfrm>
            <a:off x="1408175" y="3602667"/>
            <a:ext cx="2689250" cy="768061"/>
          </a:xfrm>
          <a:prstGeom prst="rect">
            <a:avLst/>
          </a:prstGeom>
          <a:noFill/>
        </p:spPr>
        <p:txBody>
          <a:bodyPr wrap="square" anchor="ctr" lIns="0" tIns="0" rIns="0" bIns="0">
            <a:spAutoFit/>
          </a:bodyPr>
          <a:lstStyle/>
          <a:p>
            <a:pPr algn="l"/>
            <a:r>
              <a:rPr sz="1260" b="1">
                <a:solidFill>
                  <a:srgbClr val="AF222A"/>
                </a:solidFill>
                <a:latin typeface="Bebas Neue"/>
              </a:rPr>
              <a:t>12-word vocabulary,</a:t>
            </a:r>
          </a:p>
          <a:p>
            <a:pPr algn="l">
              <a:spcBef>
                <a:spcPts val="500"/>
              </a:spcBef>
            </a:pPr>
            <a:r>
              <a:rPr sz="1050" b="0">
                <a:solidFill>
                  <a:srgbClr val="111111"/>
                </a:solidFill>
                <a:latin typeface="Inter"/>
              </a:rPr>
              <a:t>With a 12-word vocabulary, the window "guitar and bass player stand" yields a vector of zeros and ones</a:t>
            </a:r>
          </a:p>
        </p:txBody>
      </p:sp>
      <p:sp>
        <p:nvSpPr>
          <p:cNvPr id="28" name="Rounded Rectangle 27"/>
          <p:cNvSpPr/>
          <p:nvPr/>
        </p:nvSpPr>
        <p:spPr>
          <a:xfrm>
            <a:off x="4499762" y="3529515"/>
            <a:ext cx="3841394" cy="914365"/>
          </a:xfrm>
          <a:prstGeom prst="roundRect">
            <a:avLst>
              <a:gd name="adj" fmla="val 1540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3703234"/>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3816620"/>
            <a:ext cx="340156" cy="340156"/>
          </a:xfrm>
          <a:prstGeom prst="rect">
            <a:avLst/>
          </a:prstGeom>
        </p:spPr>
      </p:pic>
      <p:sp>
        <p:nvSpPr>
          <p:cNvPr id="31" name="TextBox 30"/>
          <p:cNvSpPr txBox="1"/>
          <p:nvPr/>
        </p:nvSpPr>
        <p:spPr>
          <a:xfrm>
            <a:off x="5450738" y="3602667"/>
            <a:ext cx="2689250" cy="768061"/>
          </a:xfrm>
          <a:prstGeom prst="rect">
            <a:avLst/>
          </a:prstGeom>
          <a:noFill/>
        </p:spPr>
        <p:txBody>
          <a:bodyPr wrap="square" anchor="ctr" lIns="0" tIns="0" rIns="0" bIns="0">
            <a:spAutoFit/>
          </a:bodyPr>
          <a:lstStyle/>
          <a:p>
            <a:pPr algn="l"/>
            <a:r>
              <a:rPr sz="1080" b="0">
                <a:solidFill>
                  <a:srgbClr val="111111"/>
                </a:solidFill>
                <a:latin typeface="Inter"/>
              </a:rPr>
              <a:t>Each position indicates whether the corresponding vocabulary word appears in the window</a:t>
            </a:r>
          </a:p>
        </p:txBody>
      </p:sp>
      <p:sp>
        <p:nvSpPr>
          <p:cNvPr id="32" name="Rounded Rectangle 31"/>
          <p:cNvSpPr/>
          <p:nvPr/>
        </p:nvSpPr>
        <p:spPr>
          <a:xfrm>
            <a:off x="457200" y="4645049"/>
            <a:ext cx="7883956" cy="6401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7488935" cy="49387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This binary representation is a simple bag-of-words feature.</a:t>
            </a:r>
          </a:p>
        </p:txBody>
      </p:sp>
      <p:sp>
        <p:nvSpPr>
          <p:cNvPr id="35" name="Rounded Rectangle 34"/>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binary vector — A vector of 0s and 1s indicating presence or absence of features.</a:t>
            </a:r>
          </a:p>
        </p:txBody>
      </p:sp>
      <p:sp>
        <p:nvSpPr>
          <p:cNvPr id="36" name="Rectangle 35"/>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58</a:t>
            </a:r>
          </a:p>
        </p:txBody>
      </p:sp>
      <p:sp>
        <p:nvSpPr>
          <p:cNvPr id="7" name="Rounded Rectangle 6"/>
          <p:cNvSpPr/>
          <p:nvPr/>
        </p:nvSpPr>
        <p:spPr>
          <a:xfrm>
            <a:off x="4085705" y="1298448"/>
            <a:ext cx="4017541" cy="5102352"/>
          </a:xfrm>
          <a:prstGeom prst="roundRect">
            <a:avLst>
              <a:gd name="adj" fmla="val 3000"/>
            </a:avLst>
          </a:prstGeom>
          <a:solidFill>
            <a:srgbClr val="FFFFFF"/>
          </a:solidFill>
          <a:ln w="12700">
            <a:solidFill>
              <a:srgbClr val="DFA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4250297" y="1463040"/>
            <a:ext cx="3688357" cy="4773168"/>
          </a:xfrm>
          <a:prstGeom prst="rect">
            <a:avLst/>
          </a:prstGeom>
        </p:spPr>
      </p:pic>
    </p:spTree>
  </p:cSld>
  <p:clrMapOvr>
    <a:masterClrMapping/>
  </p:clrMapOvr>
  <p:transition spd="med">
    <p:zoom dir="in"/>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 vector of 0s and 1s indicating presence or absence of features.”?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one-sense-per-discourse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Conditional Probabilities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binary vector</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vocabulary</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binary vector: A vector of 0s and 1s indicating presence or absence of features.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50" b="1">
                <a:solidFill>
                  <a:srgbClr val="FFFFFF"/>
                </a:solidFill>
              </a:defRPr>
            </a:pPr>
            <a:r>
              <a:rPr>
                <a:latin typeface="Bebas Neue"/>
              </a:rPr>
              <a:t>Classification maps a word and its features to a class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7"/>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22804" cy="1048512"/>
          </a:xfrm>
          <a:prstGeom prst="rect">
            <a:avLst/>
          </a:prstGeom>
          <a:noFill/>
        </p:spPr>
        <p:txBody>
          <a:bodyPr wrap="square" anchor="ctr" lIns="0" tIns="0" rIns="0" bIns="0">
            <a:spAutoFit/>
          </a:bodyPr>
          <a:lstStyle/>
          <a:p>
            <a:pPr algn="l"/>
            <a:r>
              <a:rPr sz="1560" b="1">
                <a:solidFill>
                  <a:srgbClr val="AF222A"/>
                </a:solidFill>
                <a:latin typeface="Bebas Neue"/>
              </a:rPr>
              <a:t>Word w</a:t>
            </a:r>
          </a:p>
          <a:p>
            <a:pPr algn="l">
              <a:spcBef>
                <a:spcPts val="500"/>
              </a:spcBef>
            </a:pPr>
            <a:r>
              <a:rPr sz="1300" b="0">
                <a:solidFill>
                  <a:srgbClr val="111111"/>
                </a:solidFill>
                <a:latin typeface="Inter"/>
              </a:rPr>
              <a:t>a word w and some features f</a:t>
            </a:r>
          </a:p>
        </p:txBody>
      </p:sp>
      <p:sp>
        <p:nvSpPr>
          <p:cNvPr id="12" name="Rounded Rectangle 11"/>
          <p:cNvSpPr/>
          <p:nvPr/>
        </p:nvSpPr>
        <p:spPr>
          <a:xfrm>
            <a:off x="4433315" y="1298447"/>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61239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725777"/>
            <a:ext cx="340156" cy="340156"/>
          </a:xfrm>
          <a:prstGeom prst="rect">
            <a:avLst/>
          </a:prstGeom>
        </p:spPr>
      </p:pic>
      <p:sp>
        <p:nvSpPr>
          <p:cNvPr id="15" name="TextBox 14"/>
          <p:cNvSpPr txBox="1"/>
          <p:nvPr/>
        </p:nvSpPr>
        <p:spPr>
          <a:xfrm>
            <a:off x="5384291" y="1371599"/>
            <a:ext cx="2622804" cy="1048512"/>
          </a:xfrm>
          <a:prstGeom prst="rect">
            <a:avLst/>
          </a:prstGeom>
          <a:noFill/>
        </p:spPr>
        <p:txBody>
          <a:bodyPr wrap="square" anchor="ctr" lIns="0" tIns="0" rIns="0" bIns="0">
            <a:spAutoFit/>
          </a:bodyPr>
          <a:lstStyle/>
          <a:p>
            <a:pPr algn="l"/>
            <a:r>
              <a:rPr sz="1560" b="1">
                <a:solidFill>
                  <a:srgbClr val="AF222A"/>
                </a:solidFill>
                <a:latin typeface="Bebas Neue"/>
              </a:rPr>
              <a:t>Fixed set</a:t>
            </a:r>
          </a:p>
          <a:p>
            <a:pPr algn="l">
              <a:spcBef>
                <a:spcPts val="500"/>
              </a:spcBef>
            </a:pPr>
            <a:r>
              <a:rPr sz="1300" b="0">
                <a:solidFill>
                  <a:srgbClr val="111111"/>
                </a:solidFill>
                <a:latin typeface="Inter"/>
              </a:rPr>
              <a:t>a fixed set of classes C = {c1, c2,…, cJ}</a:t>
            </a:r>
          </a:p>
        </p:txBody>
      </p:sp>
      <p:sp>
        <p:nvSpPr>
          <p:cNvPr id="16" name="Rounded Rectangle 15"/>
          <p:cNvSpPr/>
          <p:nvPr/>
        </p:nvSpPr>
        <p:spPr>
          <a:xfrm>
            <a:off x="457200" y="2694431"/>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22804" cy="1048512"/>
          </a:xfrm>
          <a:prstGeom prst="rect">
            <a:avLst/>
          </a:prstGeom>
          <a:noFill/>
        </p:spPr>
        <p:txBody>
          <a:bodyPr wrap="square" anchor="ctr" lIns="0" tIns="0" rIns="0" bIns="0">
            <a:spAutoFit/>
          </a:bodyPr>
          <a:lstStyle/>
          <a:p>
            <a:pPr algn="l"/>
            <a:r>
              <a:rPr sz="1300" b="0">
                <a:solidFill>
                  <a:srgbClr val="111111"/>
                </a:solidFill>
                <a:latin typeface="Inter"/>
              </a:rPr>
              <a:t>Output: a predicted class c∈C</a:t>
            </a:r>
          </a:p>
        </p:txBody>
      </p:sp>
      <p:sp>
        <p:nvSpPr>
          <p:cNvPr id="20" name="Rounded Rectangle 19"/>
          <p:cNvSpPr/>
          <p:nvPr/>
        </p:nvSpPr>
        <p:spPr>
          <a:xfrm>
            <a:off x="4433315" y="2694431"/>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00837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121761"/>
            <a:ext cx="340156" cy="340156"/>
          </a:xfrm>
          <a:prstGeom prst="rect">
            <a:avLst/>
          </a:prstGeom>
        </p:spPr>
      </p:pic>
      <p:sp>
        <p:nvSpPr>
          <p:cNvPr id="23" name="TextBox 22"/>
          <p:cNvSpPr txBox="1"/>
          <p:nvPr/>
        </p:nvSpPr>
        <p:spPr>
          <a:xfrm>
            <a:off x="5384291" y="2767583"/>
            <a:ext cx="2622804" cy="1048512"/>
          </a:xfrm>
          <a:prstGeom prst="rect">
            <a:avLst/>
          </a:prstGeom>
          <a:noFill/>
        </p:spPr>
        <p:txBody>
          <a:bodyPr wrap="square" anchor="ctr" lIns="0" tIns="0" rIns="0" bIns="0">
            <a:spAutoFit/>
          </a:bodyPr>
          <a:lstStyle/>
          <a:p>
            <a:pPr algn="l"/>
            <a:r>
              <a:rPr sz="1300" b="0">
                <a:solidFill>
                  <a:srgbClr val="111111"/>
                </a:solidFill>
                <a:latin typeface="Inter"/>
              </a:rPr>
              <a:t>Given a word w and its feature vector f, the classifier outputs a predicted class c from a fixed set C</a:t>
            </a:r>
          </a:p>
        </p:txBody>
      </p:sp>
      <p:sp>
        <p:nvSpPr>
          <p:cNvPr id="24" name="Rounded Rectangle 23"/>
          <p:cNvSpPr/>
          <p:nvPr/>
        </p:nvSpPr>
        <p:spPr>
          <a:xfrm>
            <a:off x="457200" y="4090415"/>
            <a:ext cx="7751064"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6598919" cy="1048512"/>
          </a:xfrm>
          <a:prstGeom prst="rect">
            <a:avLst/>
          </a:prstGeom>
          <a:noFill/>
        </p:spPr>
        <p:txBody>
          <a:bodyPr wrap="square" anchor="ctr" lIns="0" tIns="0" rIns="0" bIns="0">
            <a:spAutoFit/>
          </a:bodyPr>
          <a:lstStyle/>
          <a:p>
            <a:pPr algn="l"/>
            <a:r>
              <a:rPr sz="1560" b="1">
                <a:solidFill>
                  <a:srgbClr val="AF222A"/>
                </a:solidFill>
                <a:latin typeface="Bebas Neue"/>
              </a:rPr>
              <a:t>Process transforms linguistic</a:t>
            </a:r>
          </a:p>
          <a:p>
            <a:pPr algn="l">
              <a:spcBef>
                <a:spcPts val="500"/>
              </a:spcBef>
            </a:pPr>
            <a:r>
              <a:rPr sz="1300" b="0">
                <a:solidFill>
                  <a:srgbClr val="111111"/>
                </a:solidFill>
                <a:latin typeface="Inter"/>
              </a:rPr>
              <a:t>The process transforms linguistic input into categorical labels such as part-of-speech tags or named-entity types</a:t>
            </a:r>
          </a:p>
        </p:txBody>
      </p:sp>
      <p:sp>
        <p:nvSpPr>
          <p:cNvPr id="28" name="Rounded Rectangle 2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classifier — A function that assigns a class label to an input based on its features.</a:t>
            </a:r>
          </a:p>
        </p:txBody>
      </p:sp>
      <p:sp>
        <p:nvSpPr>
          <p:cNvPr id="29" name="Rectangle 2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learning trains a classifier from labeled windows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58</a:t>
            </a:r>
          </a:p>
        </p:txBody>
      </p:sp>
      <p:sp>
        <p:nvSpPr>
          <p:cNvPr id="8" name="Rounded Rectangle 7">
            <a:hlinkClick r:id="rId5"/>
          </p:cNvPr>
          <p:cNvSpPr/>
          <p:nvPr/>
        </p:nvSpPr>
        <p:spPr>
          <a:xfrm>
            <a:off x="2998317" y="6455664"/>
            <a:ext cx="6192316"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Supervised Text Window Classification Lab</a:t>
            </a:r>
          </a:p>
        </p:txBody>
      </p:sp>
      <p:sp>
        <p:nvSpPr>
          <p:cNvPr id="9" name="Rounded Rectangle 8"/>
          <p:cNvSpPr/>
          <p:nvPr/>
        </p:nvSpPr>
        <p:spPr>
          <a:xfrm>
            <a:off x="457200"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2339664"/>
          </a:xfrm>
          <a:prstGeom prst="rect">
            <a:avLst/>
          </a:prstGeom>
          <a:noFill/>
        </p:spPr>
        <p:txBody>
          <a:bodyPr wrap="square" anchor="t" lIns="0" tIns="0" rIns="0" bIns="0">
            <a:spAutoFit/>
          </a:bodyPr>
          <a:lstStyle/>
          <a:p>
            <a:pPr algn="l"/>
            <a:r>
              <a:rPr sz="2120" b="1">
                <a:solidFill>
                  <a:srgbClr val="AF222A"/>
                </a:solidFill>
                <a:latin typeface="Bebas Neue"/>
              </a:rPr>
              <a:t>Input</a:t>
            </a:r>
          </a:p>
          <a:p>
            <a:pPr algn="l" marL="256032" indent="-256032" lvl="0">
              <a:spcBef>
                <a:spcPts val="700"/>
              </a:spcBef>
              <a:buClr>
                <a:srgbClr val="52C7D0"/>
              </a:buClr>
              <a:buFont typeface="Arial"/>
              <a:buChar char="•"/>
            </a:pPr>
            <a:r>
              <a:rPr sz="1700" b="0">
                <a:solidFill>
                  <a:srgbClr val="111111"/>
                </a:solidFill>
                <a:latin typeface="Inter"/>
              </a:rPr>
              <a:t>a word w in a text window d (which we’ll call a “document”)</a:t>
            </a:r>
          </a:p>
          <a:p>
            <a:pPr algn="l" marL="256032" indent="-256032" lvl="0">
              <a:spcBef>
                <a:spcPts val="700"/>
              </a:spcBef>
              <a:buClr>
                <a:srgbClr val="52C7D0"/>
              </a:buClr>
              <a:buFont typeface="Arial"/>
              <a:buChar char="•"/>
            </a:pPr>
            <a:r>
              <a:rPr sz="1700" b="0">
                <a:solidFill>
                  <a:srgbClr val="111111"/>
                </a:solidFill>
                <a:latin typeface="Inter"/>
              </a:rPr>
              <a:t>a fixed set of classes C = {c1, c2,…, cJ}</a:t>
            </a:r>
          </a:p>
          <a:p>
            <a:pPr algn="l" marL="256032" indent="-256032" lvl="0">
              <a:spcBef>
                <a:spcPts val="700"/>
              </a:spcBef>
              <a:buClr>
                <a:srgbClr val="52C7D0"/>
              </a:buClr>
              <a:buFont typeface="Arial"/>
              <a:buChar char="•"/>
            </a:pPr>
            <a:r>
              <a:rPr sz="1700" b="0">
                <a:solidFill>
                  <a:srgbClr val="111111"/>
                </a:solidFill>
                <a:latin typeface="Inter"/>
              </a:rPr>
              <a:t>A training set of m hand-labeled text windows again called</a:t>
            </a:r>
          </a:p>
          <a:p>
            <a:pPr algn="l" marL="512064" indent="-219456" lvl="1">
              <a:spcBef>
                <a:spcPts val="300"/>
              </a:spcBef>
              <a:buClr>
                <a:srgbClr val="52C7D0"/>
              </a:buClr>
              <a:buFont typeface="Arial"/>
              <a:buChar char="–"/>
            </a:pPr>
            <a:r>
              <a:rPr sz="1530" b="0">
                <a:solidFill>
                  <a:srgbClr val="555555"/>
                </a:solidFill>
                <a:latin typeface="Inter"/>
              </a:rPr>
              <a:t>“documents” (d1,c1),....,(dm,cm)</a:t>
            </a:r>
          </a:p>
        </p:txBody>
      </p:sp>
      <p:sp>
        <p:nvSpPr>
          <p:cNvPr id="12" name="Rounded Rectangle 11"/>
          <p:cNvSpPr/>
          <p:nvPr/>
        </p:nvSpPr>
        <p:spPr>
          <a:xfrm>
            <a:off x="6195059"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2339664"/>
          </a:xfrm>
          <a:prstGeom prst="rect">
            <a:avLst/>
          </a:prstGeom>
          <a:noFill/>
        </p:spPr>
        <p:txBody>
          <a:bodyPr wrap="square" anchor="t" lIns="0" tIns="0" rIns="0" bIns="0">
            <a:spAutoFit/>
          </a:bodyPr>
          <a:lstStyle/>
          <a:p>
            <a:pPr algn="l"/>
            <a:r>
              <a:rPr sz="2120" b="1">
                <a:solidFill>
                  <a:srgbClr val="AF222A"/>
                </a:solidFill>
                <a:latin typeface="Bebas Neue"/>
              </a:rPr>
              <a:t>Output</a:t>
            </a:r>
          </a:p>
          <a:p>
            <a:pPr algn="l" marL="256032" indent="-256032" lvl="0">
              <a:spcBef>
                <a:spcPts val="700"/>
              </a:spcBef>
              <a:buClr>
                <a:srgbClr val="52C7D0"/>
              </a:buClr>
              <a:buFont typeface="Arial"/>
              <a:buChar char="•"/>
            </a:pPr>
            <a:r>
              <a:rPr sz="1700" b="0">
                <a:solidFill>
                  <a:srgbClr val="111111"/>
                </a:solidFill>
                <a:latin typeface="Inter"/>
              </a:rPr>
              <a:t>a learned classifier γ:d à→c</a:t>
            </a:r>
          </a:p>
        </p:txBody>
      </p:sp>
      <p:sp>
        <p:nvSpPr>
          <p:cNvPr id="15" name="Rounded Rectangle 14"/>
          <p:cNvSpPr/>
          <p:nvPr/>
        </p:nvSpPr>
        <p:spPr>
          <a:xfrm>
            <a:off x="457200" y="4161149"/>
            <a:ext cx="11274552" cy="11240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61149"/>
            <a:ext cx="73152" cy="11240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“documents” (d1,c1),....,(dm,cm) Training data consists of m labeled windows (documents) with known classes. A learning algorithm learns a mapping γ from a window d to its class c. After training, the model can predict classes for new, unseen windows.</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training set — A collection of labeled examples used to train a model.</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Many classifiers can be used for supervised text classification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7"/>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22804" cy="1048512"/>
          </a:xfrm>
          <a:prstGeom prst="rect">
            <a:avLst/>
          </a:prstGeom>
          <a:noFill/>
        </p:spPr>
        <p:txBody>
          <a:bodyPr wrap="square" anchor="ctr" lIns="0" tIns="0" rIns="0" bIns="0">
            <a:spAutoFit/>
          </a:bodyPr>
          <a:lstStyle/>
          <a:p>
            <a:pPr algn="l"/>
            <a:r>
              <a:rPr sz="2940" b="1">
                <a:solidFill>
                  <a:srgbClr val="AF222A"/>
                </a:solidFill>
                <a:latin typeface="Bebas Neue"/>
              </a:rPr>
              <a:t>Any kind of classifier</a:t>
            </a:r>
          </a:p>
        </p:txBody>
      </p:sp>
      <p:sp>
        <p:nvSpPr>
          <p:cNvPr id="12" name="Rounded Rectangle 11"/>
          <p:cNvSpPr/>
          <p:nvPr/>
        </p:nvSpPr>
        <p:spPr>
          <a:xfrm>
            <a:off x="4433315" y="1298447"/>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61239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725777"/>
            <a:ext cx="340156" cy="340156"/>
          </a:xfrm>
          <a:prstGeom prst="rect">
            <a:avLst/>
          </a:prstGeom>
        </p:spPr>
      </p:pic>
      <p:sp>
        <p:nvSpPr>
          <p:cNvPr id="15" name="TextBox 14"/>
          <p:cNvSpPr txBox="1"/>
          <p:nvPr/>
        </p:nvSpPr>
        <p:spPr>
          <a:xfrm>
            <a:off x="5384291" y="1371599"/>
            <a:ext cx="2622804" cy="1048512"/>
          </a:xfrm>
          <a:prstGeom prst="rect">
            <a:avLst/>
          </a:prstGeom>
          <a:noFill/>
        </p:spPr>
        <p:txBody>
          <a:bodyPr wrap="square" anchor="ctr" lIns="0" tIns="0" rIns="0" bIns="0">
            <a:spAutoFit/>
          </a:bodyPr>
          <a:lstStyle/>
          <a:p>
            <a:pPr algn="l"/>
            <a:r>
              <a:rPr sz="2940" b="1">
                <a:solidFill>
                  <a:srgbClr val="AF222A"/>
                </a:solidFill>
                <a:latin typeface="Bebas Neue"/>
              </a:rPr>
              <a:t>Naive Bayes</a:t>
            </a:r>
          </a:p>
        </p:txBody>
      </p:sp>
      <p:sp>
        <p:nvSpPr>
          <p:cNvPr id="16" name="Rounded Rectangle 15"/>
          <p:cNvSpPr/>
          <p:nvPr/>
        </p:nvSpPr>
        <p:spPr>
          <a:xfrm>
            <a:off x="457200" y="2694431"/>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22804" cy="1048512"/>
          </a:xfrm>
          <a:prstGeom prst="rect">
            <a:avLst/>
          </a:prstGeom>
          <a:noFill/>
        </p:spPr>
        <p:txBody>
          <a:bodyPr wrap="square" anchor="ctr" lIns="0" tIns="0" rIns="0" bIns="0">
            <a:spAutoFit/>
          </a:bodyPr>
          <a:lstStyle/>
          <a:p>
            <a:pPr algn="l"/>
            <a:r>
              <a:rPr sz="2940" b="1">
                <a:solidFill>
                  <a:srgbClr val="AF222A"/>
                </a:solidFill>
                <a:latin typeface="Bebas Neue"/>
              </a:rPr>
              <a:t>Logistic regression</a:t>
            </a:r>
          </a:p>
        </p:txBody>
      </p:sp>
      <p:sp>
        <p:nvSpPr>
          <p:cNvPr id="20" name="Rounded Rectangle 19"/>
          <p:cNvSpPr/>
          <p:nvPr/>
        </p:nvSpPr>
        <p:spPr>
          <a:xfrm>
            <a:off x="4433315" y="2694431"/>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00837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121761"/>
            <a:ext cx="340156" cy="340156"/>
          </a:xfrm>
          <a:prstGeom prst="rect">
            <a:avLst/>
          </a:prstGeom>
        </p:spPr>
      </p:pic>
      <p:sp>
        <p:nvSpPr>
          <p:cNvPr id="23" name="TextBox 22"/>
          <p:cNvSpPr txBox="1"/>
          <p:nvPr/>
        </p:nvSpPr>
        <p:spPr>
          <a:xfrm>
            <a:off x="5384291" y="2767583"/>
            <a:ext cx="2622804" cy="1048512"/>
          </a:xfrm>
          <a:prstGeom prst="rect">
            <a:avLst/>
          </a:prstGeom>
          <a:noFill/>
        </p:spPr>
        <p:txBody>
          <a:bodyPr wrap="square" anchor="ctr" lIns="0" tIns="0" rIns="0" bIns="0">
            <a:spAutoFit/>
          </a:bodyPr>
          <a:lstStyle/>
          <a:p>
            <a:pPr algn="l"/>
            <a:r>
              <a:rPr sz="2940" b="1">
                <a:solidFill>
                  <a:srgbClr val="AF222A"/>
                </a:solidFill>
                <a:latin typeface="Bebas Neue"/>
              </a:rPr>
              <a:t>Neural Networks</a:t>
            </a:r>
          </a:p>
        </p:txBody>
      </p:sp>
      <p:sp>
        <p:nvSpPr>
          <p:cNvPr id="24" name="Rounded Rectangle 23"/>
          <p:cNvSpPr/>
          <p:nvPr/>
        </p:nvSpPr>
        <p:spPr>
          <a:xfrm>
            <a:off x="457200" y="4090415"/>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2622804" cy="1048512"/>
          </a:xfrm>
          <a:prstGeom prst="rect">
            <a:avLst/>
          </a:prstGeom>
          <a:noFill/>
        </p:spPr>
        <p:txBody>
          <a:bodyPr wrap="square" anchor="ctr" lIns="0" tIns="0" rIns="0" bIns="0">
            <a:spAutoFit/>
          </a:bodyPr>
          <a:lstStyle/>
          <a:p>
            <a:pPr algn="l"/>
            <a:r>
              <a:rPr sz="2940" b="1">
                <a:solidFill>
                  <a:srgbClr val="AF222A"/>
                </a:solidFill>
                <a:latin typeface="Bebas Neue"/>
              </a:rPr>
              <a:t>Support-vector machines</a:t>
            </a:r>
          </a:p>
        </p:txBody>
      </p:sp>
      <p:sp>
        <p:nvSpPr>
          <p:cNvPr id="28" name="Rounded Rectangle 27"/>
          <p:cNvSpPr/>
          <p:nvPr/>
        </p:nvSpPr>
        <p:spPr>
          <a:xfrm>
            <a:off x="4433315" y="4090415"/>
            <a:ext cx="3774947" cy="1194816"/>
          </a:xfrm>
          <a:prstGeom prst="roundRect">
            <a:avLst>
              <a:gd name="adj" fmla="val 117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34483" y="440436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47869" y="4517745"/>
            <a:ext cx="340156" cy="340156"/>
          </a:xfrm>
          <a:prstGeom prst="rect">
            <a:avLst/>
          </a:prstGeom>
        </p:spPr>
      </p:pic>
      <p:sp>
        <p:nvSpPr>
          <p:cNvPr id="31" name="TextBox 30"/>
          <p:cNvSpPr txBox="1"/>
          <p:nvPr/>
        </p:nvSpPr>
        <p:spPr>
          <a:xfrm>
            <a:off x="5384291" y="4163567"/>
            <a:ext cx="2622804" cy="1048512"/>
          </a:xfrm>
          <a:prstGeom prst="rect">
            <a:avLst/>
          </a:prstGeom>
          <a:noFill/>
        </p:spPr>
        <p:txBody>
          <a:bodyPr wrap="square" anchor="ctr" lIns="0" tIns="0" rIns="0" bIns="0">
            <a:spAutoFit/>
          </a:bodyPr>
          <a:lstStyle/>
          <a:p>
            <a:pPr algn="l"/>
            <a:r>
              <a:rPr sz="2940" b="1">
                <a:solidFill>
                  <a:srgbClr val="AF222A"/>
                </a:solidFill>
                <a:latin typeface="Bebas Neue"/>
              </a:rPr>
              <a:t>k-Nearest Neighbors</a:t>
            </a:r>
          </a:p>
        </p:txBody>
      </p:sp>
      <p:sp>
        <p:nvSpPr>
          <p:cNvPr id="32" name="Rounded Rectangle 31"/>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F222A"/>
                </a:solidFill>
                <a:latin typeface="Bebas Neue"/>
              </a:rPr>
              <a:t>Key terms:  </a:t>
            </a:r>
            <a:r>
              <a:rPr sz="1550" b="1">
                <a:solidFill>
                  <a:srgbClr val="111111"/>
                </a:solidFill>
                <a:latin typeface="Bebas Neue"/>
              </a:rPr>
              <a:t>Naive Bayes — A probabilistic classifier assuming feature independence.  ·  Support-vector machine — A classifier that finds a hyperplane separating classes with maximum margin.</a:t>
            </a:r>
          </a:p>
        </p:txBody>
      </p:sp>
      <p:sp>
        <p:nvSpPr>
          <p:cNvPr id="33" name="Rectangle 32"/>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Naive Bayes calculates prior and conditional probabilities from a tagged training set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58</a:t>
            </a:r>
          </a:p>
        </p:txBody>
      </p:sp>
      <p:sp>
        <p:nvSpPr>
          <p:cNvPr id="8" name="Rectangle 7"/>
          <p:cNvSpPr/>
          <p:nvPr/>
        </p:nvSpPr>
        <p:spPr>
          <a:xfrm>
            <a:off x="457200" y="1325880"/>
            <a:ext cx="73152" cy="36576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AF222A"/>
                </a:solidFill>
                <a:latin typeface="Bebas Neue"/>
              </a:rPr>
              <a:t>We get both of these from a tagged corpus like SemCor</a:t>
            </a:r>
          </a:p>
        </p:txBody>
      </p:sp>
      <p:sp>
        <p:nvSpPr>
          <p:cNvPr id="10" name="Rounded Rectangle 9"/>
          <p:cNvSpPr/>
          <p:nvPr/>
        </p:nvSpPr>
        <p:spPr>
          <a:xfrm>
            <a:off x="457200" y="1956815"/>
            <a:ext cx="3624072" cy="1761214"/>
          </a:xfrm>
          <a:prstGeom prst="roundRect">
            <a:avLst>
              <a:gd name="adj" fmla="val 799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21408"/>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7750"/>
            <a:ext cx="3221736" cy="1439346"/>
          </a:xfrm>
          <a:prstGeom prst="rect">
            <a:avLst/>
          </a:prstGeom>
          <a:noFill/>
        </p:spPr>
        <p:txBody>
          <a:bodyPr wrap="square" anchor="t" lIns="0" tIns="0" rIns="0" bIns="0">
            <a:spAutoFit/>
          </a:bodyPr>
          <a:lstStyle/>
          <a:p>
            <a:pPr algn="l"/>
            <a:r>
              <a:rPr sz="1440" b="1">
                <a:solidFill>
                  <a:srgbClr val="AF222A"/>
                </a:solidFill>
                <a:latin typeface="Bebas Neue"/>
              </a:rPr>
              <a:t>P(c) is the prior probability of that sense</a:t>
            </a:r>
          </a:p>
          <a:p>
            <a:pPr algn="l" marL="256032" indent="-256032" lvl="0">
              <a:spcBef>
                <a:spcPts val="700"/>
              </a:spcBef>
              <a:buClr>
                <a:srgbClr val="52C7D0"/>
              </a:buClr>
              <a:buFont typeface="Arial"/>
              <a:buChar char="•"/>
            </a:pPr>
            <a:r>
              <a:rPr sz="1150" b="0">
                <a:solidFill>
                  <a:srgbClr val="111111"/>
                </a:solidFill>
                <a:latin typeface="Inter"/>
              </a:rPr>
              <a:t>Counting in a labeled training set.</a:t>
            </a:r>
          </a:p>
        </p:txBody>
      </p:sp>
      <p:sp>
        <p:nvSpPr>
          <p:cNvPr id="13" name="Rounded Rectangle 12"/>
          <p:cNvSpPr/>
          <p:nvPr/>
        </p:nvSpPr>
        <p:spPr>
          <a:xfrm>
            <a:off x="4282440" y="1956815"/>
            <a:ext cx="3624072" cy="1761214"/>
          </a:xfrm>
          <a:prstGeom prst="roundRect">
            <a:avLst>
              <a:gd name="adj" fmla="val 799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121408"/>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117750"/>
            <a:ext cx="3221736" cy="1439346"/>
          </a:xfrm>
          <a:prstGeom prst="rect">
            <a:avLst/>
          </a:prstGeom>
          <a:noFill/>
        </p:spPr>
        <p:txBody>
          <a:bodyPr wrap="square" anchor="t" lIns="0" tIns="0" rIns="0" bIns="0">
            <a:spAutoFit/>
          </a:bodyPr>
          <a:lstStyle/>
          <a:p>
            <a:pPr algn="l"/>
            <a:r>
              <a:rPr sz="1440" b="1">
                <a:solidFill>
                  <a:srgbClr val="AF222A"/>
                </a:solidFill>
                <a:latin typeface="Bebas Neue"/>
              </a:rPr>
              <a:t>P(w|c) conditional probability of a word given a particular sense</a:t>
            </a:r>
          </a:p>
          <a:p>
            <a:pPr algn="l" marL="256032" indent="-256032" lvl="0">
              <a:spcBef>
                <a:spcPts val="700"/>
              </a:spcBef>
              <a:buClr>
                <a:srgbClr val="52C7D0"/>
              </a:buClr>
              <a:buFont typeface="Arial"/>
              <a:buChar char="•"/>
            </a:pPr>
            <a:r>
              <a:rPr sz="1150" b="0">
                <a:solidFill>
                  <a:srgbClr val="111111"/>
                </a:solidFill>
                <a:latin typeface="Inter"/>
              </a:rPr>
              <a:t>P(w|c) = count(w,c)/count(c)</a:t>
            </a:r>
          </a:p>
        </p:txBody>
      </p:sp>
      <p:sp>
        <p:nvSpPr>
          <p:cNvPr id="16" name="Rounded Rectangle 15"/>
          <p:cNvSpPr/>
          <p:nvPr/>
        </p:nvSpPr>
        <p:spPr>
          <a:xfrm>
            <a:off x="8107680" y="1956815"/>
            <a:ext cx="3624072" cy="1761214"/>
          </a:xfrm>
          <a:prstGeom prst="roundRect">
            <a:avLst>
              <a:gd name="adj" fmla="val 799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121408"/>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117750"/>
            <a:ext cx="3221736" cy="1439346"/>
          </a:xfrm>
          <a:prstGeom prst="rect">
            <a:avLst/>
          </a:prstGeom>
          <a:noFill/>
        </p:spPr>
        <p:txBody>
          <a:bodyPr wrap="square" anchor="t" lIns="0" tIns="0" rIns="0" bIns="0">
            <a:spAutoFit/>
          </a:bodyPr>
          <a:lstStyle/>
          <a:p>
            <a:pPr algn="l"/>
            <a:r>
              <a:rPr sz="1440" b="1">
                <a:solidFill>
                  <a:srgbClr val="AF222A"/>
                </a:solidFill>
                <a:latin typeface="Bebas Neue"/>
              </a:rPr>
              <a:t>Can also generalize to look at other features besides words.</a:t>
            </a:r>
          </a:p>
          <a:p>
            <a:pPr algn="l" marL="256032" indent="-256032" lvl="0">
              <a:spcBef>
                <a:spcPts val="700"/>
              </a:spcBef>
              <a:buClr>
                <a:srgbClr val="52C7D0"/>
              </a:buClr>
              <a:buFont typeface="Arial"/>
              <a:buChar char="•"/>
            </a:pPr>
            <a:r>
              <a:rPr sz="1150" b="0">
                <a:solidFill>
                  <a:srgbClr val="111111"/>
                </a:solidFill>
                <a:latin typeface="Inter"/>
              </a:rPr>
              <a:t>Then it would be P(f|c)</a:t>
            </a:r>
          </a:p>
          <a:p>
            <a:pPr algn="l" marL="512064" indent="-219456" lvl="1">
              <a:spcBef>
                <a:spcPts val="300"/>
              </a:spcBef>
              <a:buClr>
                <a:srgbClr val="52C7D0"/>
              </a:buClr>
              <a:buFont typeface="Arial"/>
              <a:buChar char="–"/>
            </a:pPr>
            <a:r>
              <a:rPr sz="1030" b="0">
                <a:solidFill>
                  <a:srgbClr val="555555"/>
                </a:solidFill>
                <a:latin typeface="Inter"/>
              </a:rPr>
              <a:t>Conditional probability of a feature given a sense</a:t>
            </a:r>
          </a:p>
        </p:txBody>
      </p:sp>
      <p:sp>
        <p:nvSpPr>
          <p:cNvPr id="19" name="Rounded Rectangle 18"/>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Naive Bayes uses prior probabilities and conditional probabilities to apply statistical learning to word sense disambiguation. You get these probabilities by counting occurrences in a labeled training corpus. This method can also generalize to evaluate other features besides just words. For example, calculating the probability of a word given a specific word sense from SemCor.</a:t>
            </a:r>
          </a:p>
        </p:txBody>
      </p:sp>
      <p:sp>
        <p:nvSpPr>
          <p:cNvPr id="22" name="Rounded Rectangle 21"/>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Prior probability — The probability of a particular sense occurring in a labeled training set.  ·  Conditional probability — The probability of a word or feature given a particular sense.</a:t>
            </a:r>
          </a:p>
        </p:txBody>
      </p:sp>
      <p:sp>
        <p:nvSpPr>
          <p:cNvPr id="23" name="Rectangle 22"/>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“The probability of a particular sense occurring in a labeled training set.”?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Feature vector</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Prior probability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Extrinsic evaluation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Supervised Machine Learning</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Prior probability: The probability of a particular sense occurring in a labeled training set.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Naive Bayes calculates class choices using smoothed counts and vocabulary sizes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58</a:t>
            </a:r>
          </a:p>
        </p:txBody>
      </p:sp>
      <p:pic>
        <p:nvPicPr>
          <p:cNvPr id="7" name="Picture 6" descr="image.png"/>
          <p:cNvPicPr>
            <a:picLocks noChangeAspect="1"/>
          </p:cNvPicPr>
          <p:nvPr/>
        </p:nvPicPr>
        <p:blipFill>
          <a:blip r:embed="rId3"/>
          <a:stretch>
            <a:fillRect/>
          </a:stretch>
        </p:blipFill>
        <p:spPr>
          <a:xfrm>
            <a:off x="7672913" y="2087328"/>
            <a:ext cx="4058838" cy="2409022"/>
          </a:xfrm>
          <a:prstGeom prst="rect">
            <a:avLst/>
          </a:prstGeom>
        </p:spPr>
      </p:pic>
      <p:sp>
        <p:nvSpPr>
          <p:cNvPr id="8" name="TextBox 7"/>
          <p:cNvSpPr txBox="1"/>
          <p:nvPr/>
        </p:nvSpPr>
        <p:spPr>
          <a:xfrm>
            <a:off x="457200" y="1313878"/>
            <a:ext cx="7014545" cy="365760"/>
          </a:xfrm>
          <a:prstGeom prst="rect">
            <a:avLst/>
          </a:prstGeom>
          <a:noFill/>
        </p:spPr>
        <p:txBody>
          <a:bodyPr wrap="square" anchor="ctr" lIns="0" tIns="0" rIns="0" bIns="0">
            <a:spAutoFit/>
          </a:bodyPr>
          <a:lstStyle/>
          <a:p>
            <a:pPr algn="l"/>
            <a:r>
              <a:rPr sz="1500" b="1">
                <a:solidFill>
                  <a:srgbClr val="AF222A"/>
                </a:solidFill>
                <a:latin typeface="Bebas Neue"/>
              </a:rPr>
              <a:t>NAIVE BAYES CALCULATES CLASS CHOICES USING SMOOTHED COUNTS AND VOCABULARY SIZES</a:t>
            </a:r>
          </a:p>
        </p:txBody>
      </p:sp>
      <p:sp>
        <p:nvSpPr>
          <p:cNvPr id="9" name="TextBox 8"/>
          <p:cNvSpPr txBox="1"/>
          <p:nvPr/>
        </p:nvSpPr>
        <p:spPr>
          <a:xfrm>
            <a:off x="457200" y="1862518"/>
            <a:ext cx="7014545" cy="1029843"/>
          </a:xfrm>
          <a:prstGeom prst="rect">
            <a:avLst/>
          </a:prstGeom>
          <a:noFill/>
        </p:spPr>
        <p:txBody>
          <a:bodyPr wrap="square" anchor="t" lIns="0" tIns="0" rIns="0" bIns="0">
            <a:spAutoFit/>
          </a:bodyPr>
          <a:lstStyle/>
          <a:p>
            <a:pPr algn="l"/>
            <a:r>
              <a:rPr sz="2050" b="0">
                <a:solidFill>
                  <a:srgbClr val="111111"/>
                </a:solidFill>
                <a:latin typeface="Inter"/>
              </a:rPr>
              <a:t>ˆP(c) = Nc ˆP(w | c) = count(w,c)+1 count(c)+ |V | V = {fish, smoked, line, haul, guitar, jazz} Choosing a class: 3/4 * 2/14 * (1/14)2 * 1/14</a:t>
            </a:r>
          </a:p>
        </p:txBody>
      </p:sp>
      <p:sp>
        <p:nvSpPr>
          <p:cNvPr id="10" name="Rounded Rectangle 9"/>
          <p:cNvSpPr/>
          <p:nvPr/>
        </p:nvSpPr>
        <p:spPr>
          <a:xfrm>
            <a:off x="457200" y="3075241"/>
            <a:ext cx="7014545" cy="2194560"/>
          </a:xfrm>
          <a:prstGeom prst="roundRect">
            <a:avLst>
              <a:gd name="adj" fmla="val 625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4000" i="1" dirty="0">
                          <a:solidFill>
                            <a:srgbClr val="FFFFFF"/>
                          </a:solidFill>
                          <a:latin typeface="Cambria Math"/>
                        </a:rPr>
                        <m:t>V</m:t>
                      </m:r>
                      <m:r>
                        <m:rPr>
                          <m:sty m:val="p"/>
                        </m:rPr>
                        <a:rPr lang="en-US" sz="4000" i="0" dirty="0">
                          <a:solidFill>
                            <a:srgbClr val="FFFFFF"/>
                          </a:solidFill>
                          <a:latin typeface="Cambria Math"/>
                        </a:rPr>
                        <m:t>=</m:t>
                      </m:r>
                      <m:r>
                        <m:rPr>
                          <m:sty m:val="p"/>
                        </m:rPr>
                        <a:rPr lang="en-US" sz="4000" i="0" dirty="0">
                          <a:solidFill>
                            <a:srgbClr val="FFFFFF"/>
                          </a:solidFill>
                          <a:latin typeface="Cambria Math"/>
                        </a:rPr>
                        <m:t>fish</m:t>
                      </m:r>
                    </m:oMath>
                  </m:oMathPara>
                </a14:m>
              </mc:Choice>
              <mc:Fallback>
                <a:r>
                  <a:rPr lang="en-US" sz="4000">
                    <a:solidFill>
                      <a:srgbClr val="FFFFFF"/>
                    </a:solidFill>
                    <a:latin typeface="Cambria Math"/>
                  </a:rPr>
                  <a:t>V = fish</a:t>
                </a:r>
              </mc:Fallback>
            </mc:AlternateContent>
            <a:endParaRPr lang="en-US" sz="4000"/>
          </a:p>
        </p:txBody>
      </p:sp>
      <p:sp>
        <p:nvSpPr>
          <p:cNvPr id="11" name="Rounded Rectangle 10"/>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Remember: V = {fish</a:t>
            </a:r>
          </a:p>
          <a:p>
            <a:pPr algn="l"/>
            <a:r>
              <a:rPr b="1" sz="1300">
                <a:solidFill>
                  <a:srgbClr val="AF222A"/>
                </a:solidFill>
                <a:latin typeface="Bebas Neue"/>
              </a:rPr>
              <a:t>Key terms:  </a:t>
            </a:r>
            <a:r>
              <a:rPr sz="1300" b="0">
                <a:solidFill>
                  <a:srgbClr val="111111"/>
                </a:solidFill>
                <a:latin typeface="Inter"/>
              </a:rPr>
              <a:t>V — The vocabulary set including words like fish, smoked, line, haul, guitar, and jazz.  ·  Class — The targeted category or sense being chosen during evaluation.</a:t>
            </a:r>
          </a:p>
        </p:txBody>
      </p:sp>
      <p:sp>
        <p:nvSpPr>
          <p:cNvPr id="12" name="Rectangle 11"/>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probabilities use smoothed counts to compute specific feature likelihoods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58</a:t>
            </a:r>
          </a:p>
        </p:txBody>
      </p:sp>
      <p:sp>
        <p:nvSpPr>
          <p:cNvPr id="8" name="Rounded Rectangle 7"/>
          <p:cNvSpPr/>
          <p:nvPr/>
        </p:nvSpPr>
        <p:spPr>
          <a:xfrm>
            <a:off x="457200" y="1298448"/>
            <a:ext cx="11274552" cy="1366723"/>
          </a:xfrm>
          <a:prstGeom prst="roundRect">
            <a:avLst>
              <a:gd name="adj" fmla="val 1030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53209"/>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1220419"/>
          </a:xfrm>
          <a:prstGeom prst="rect">
            <a:avLst/>
          </a:prstGeom>
          <a:noFill/>
        </p:spPr>
        <p:txBody>
          <a:bodyPr wrap="square" anchor="ctr" lIns="0" tIns="0" rIns="0" bIns="0">
            <a:spAutoFit/>
          </a:bodyPr>
          <a:lstStyle/>
          <a:p>
            <a:pPr algn="l"/>
            <a:r>
              <a:rPr sz="2410" b="1">
                <a:solidFill>
                  <a:srgbClr val="AF222A"/>
                </a:solidFill>
                <a:latin typeface="Bebas Neue"/>
              </a:rPr>
              <a:t>Count everything  —  9 p + 9 p = 18 in total</a:t>
            </a:r>
          </a:p>
          <a:p>
            <a:pPr algn="l">
              <a:spcBef>
                <a:spcPts val="300"/>
              </a:spcBef>
            </a:pPr>
            <a:r>
              <a:rPr sz="2100" b="0">
                <a:solidFill>
                  <a:srgbClr val="111111"/>
                </a:solidFill>
                <a:latin typeface="Inter"/>
              </a:rPr>
              <a:t>Probability compares the outcomes we want with all the outcomes that could happen. So first count all of them.</a:t>
            </a:r>
          </a:p>
        </p:txBody>
      </p:sp>
      <p:sp>
        <p:nvSpPr>
          <p:cNvPr id="11" name="Rounded Rectangle 10"/>
          <p:cNvSpPr/>
          <p:nvPr/>
        </p:nvSpPr>
        <p:spPr>
          <a:xfrm>
            <a:off x="457200" y="2785872"/>
            <a:ext cx="11274552" cy="1366723"/>
          </a:xfrm>
          <a:prstGeom prst="roundRect">
            <a:avLst>
              <a:gd name="adj" fmla="val 1030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3240633"/>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859024"/>
            <a:ext cx="10213848" cy="1220419"/>
          </a:xfrm>
          <a:prstGeom prst="rect">
            <a:avLst/>
          </a:prstGeom>
          <a:noFill/>
        </p:spPr>
        <p:txBody>
          <a:bodyPr wrap="square" anchor="ctr" lIns="0" tIns="0" rIns="0" bIns="0">
            <a:spAutoFit/>
          </a:bodyPr>
          <a:lstStyle/>
          <a:p>
            <a:pPr algn="l"/>
            <a:r>
              <a:rPr sz="2410" b="1">
                <a:solidFill>
                  <a:srgbClr val="AF222A"/>
                </a:solidFill>
                <a:latin typeface="Bebas Neue"/>
              </a:rPr>
              <a:t>Write the probability  —  P(p) = favourable ÷ total = 18/18</a:t>
            </a:r>
          </a:p>
          <a:p>
            <a:pPr algn="l">
              <a:spcBef>
                <a:spcPts val="300"/>
              </a:spcBef>
            </a:pPr>
            <a:r>
              <a:rPr sz="2100" b="0">
                <a:solidFill>
                  <a:srgbClr val="111111"/>
                </a:solidFill>
                <a:latin typeface="Inter"/>
              </a:rPr>
              <a:t>Probability = (number of favourable outcomes) ÷ (total number of outcomes).</a:t>
            </a:r>
          </a:p>
        </p:txBody>
      </p:sp>
      <p:sp>
        <p:nvSpPr>
          <p:cNvPr id="14" name="Rounded Rectangle 13"/>
          <p:cNvSpPr/>
          <p:nvPr/>
        </p:nvSpPr>
        <p:spPr>
          <a:xfrm>
            <a:off x="457200" y="4273296"/>
            <a:ext cx="11274552" cy="1366723"/>
          </a:xfrm>
          <a:prstGeom prst="roundRect">
            <a:avLst>
              <a:gd name="adj" fmla="val 1030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4728057"/>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4346448"/>
            <a:ext cx="10213848" cy="1220419"/>
          </a:xfrm>
          <a:prstGeom prst="rect">
            <a:avLst/>
          </a:prstGeom>
          <a:noFill/>
        </p:spPr>
        <p:txBody>
          <a:bodyPr wrap="square" anchor="ctr" lIns="0" tIns="0" rIns="0" bIns="0">
            <a:spAutoFit/>
          </a:bodyPr>
          <a:lstStyle/>
          <a:p>
            <a:pPr algn="l"/>
            <a:r>
              <a:rPr sz="2410" b="1">
                <a:solidFill>
                  <a:srgbClr val="AF222A"/>
                </a:solidFill>
                <a:latin typeface="Bebas Neue"/>
              </a:rPr>
              <a:t>Simplify  —  18/18 = 1/1 ≈ 1.000 = 100.0%</a:t>
            </a:r>
          </a:p>
          <a:p>
            <a:pPr algn="l">
              <a:spcBef>
                <a:spcPts val="300"/>
              </a:spcBef>
            </a:pPr>
            <a:r>
              <a:rPr sz="2100" b="0">
                <a:solidFill>
                  <a:srgbClr val="111111"/>
                </a:solidFill>
                <a:latin typeface="Inter"/>
              </a:rPr>
              <a:t>Divide top and bottom by the same number until you cannot any more. A probability is always between 0 and 1.</a:t>
            </a:r>
          </a:p>
        </p:txBody>
      </p:sp>
      <p:sp>
        <p:nvSpPr>
          <p:cNvPr id="17" name="Rounded Rectangle 16"/>
          <p:cNvSpPr/>
          <p:nvPr/>
        </p:nvSpPr>
        <p:spPr>
          <a:xfrm>
            <a:off x="457200" y="5760720"/>
            <a:ext cx="11274552" cy="640080"/>
          </a:xfrm>
          <a:prstGeom prst="roundRect">
            <a:avLst>
              <a:gd name="adj" fmla="val 2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2200" b="1">
                <a:solidFill>
                  <a:srgbClr val="FFFFFF"/>
                </a:solidFill>
                <a:latin typeface="Bebas Neue"/>
              </a:rPr>
              <a:t>Answer: 1/1 (100.0%)</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Applying Naive Bayes to WSD (2/2)</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58</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2818638"/>
                <a:gridCol w="2818638"/>
                <a:gridCol w="2818638"/>
                <a:gridCol w="2818638"/>
              </a:tblGrid>
              <a:tr h="664464">
                <a:tc>
                  <a:txBody>
                    <a:bodyPr/>
                    <a:lstStyle/>
                    <a:p>
                      <a:pPr algn="l"/>
                    </a:p>
                  </a:txBody>
                  <a:tcPr marL="146304" marR="146304" anchor="ctr">
                    <a:solidFill>
                      <a:srgbClr val="AF222A"/>
                    </a:solidFill>
                  </a:tcPr>
                </a:tc>
                <a:tc>
                  <a:txBody>
                    <a:bodyPr/>
                    <a:lstStyle/>
                    <a:p>
                      <a:pPr algn="l"/>
                      <a:r>
                        <a:rPr sz="1950" b="1">
                          <a:solidFill>
                            <a:srgbClr val="FFFFFF"/>
                          </a:solidFill>
                          <a:latin typeface="Bebas Neue"/>
                        </a:rPr>
                        <a:t>Doc</a:t>
                      </a:r>
                    </a:p>
                  </a:txBody>
                  <a:tcPr marL="146304" marR="146304" anchor="ctr">
                    <a:solidFill>
                      <a:srgbClr val="AF222A"/>
                    </a:solidFill>
                  </a:tcPr>
                </a:tc>
                <a:tc>
                  <a:txBody>
                    <a:bodyPr/>
                    <a:lstStyle/>
                    <a:p>
                      <a:pPr algn="l"/>
                      <a:r>
                        <a:rPr sz="1950" b="1">
                          <a:solidFill>
                            <a:srgbClr val="FFFFFF"/>
                          </a:solidFill>
                          <a:latin typeface="Bebas Neue"/>
                        </a:rPr>
                        <a:t>Words</a:t>
                      </a:r>
                    </a:p>
                  </a:txBody>
                  <a:tcPr marL="146304" marR="146304" anchor="ctr">
                    <a:solidFill>
                      <a:srgbClr val="AF222A"/>
                    </a:solidFill>
                  </a:tcPr>
                </a:tc>
                <a:tc>
                  <a:txBody>
                    <a:bodyPr/>
                    <a:lstStyle/>
                    <a:p>
                      <a:pPr algn="l"/>
                      <a:r>
                        <a:rPr sz="1950" b="1">
                          <a:solidFill>
                            <a:srgbClr val="FFFFFF"/>
                          </a:solidFill>
                          <a:latin typeface="Bebas Neue"/>
                        </a:rPr>
                        <a:t>Class</a:t>
                      </a:r>
                    </a:p>
                  </a:txBody>
                  <a:tcPr marL="146304" marR="146304" anchor="ctr">
                    <a:solidFill>
                      <a:srgbClr val="AF222A"/>
                    </a:solidFill>
                  </a:tcPr>
                </a:tc>
              </a:tr>
              <a:tr h="664464">
                <a:tc>
                  <a:txBody>
                    <a:bodyPr/>
                    <a:lstStyle/>
                    <a:p>
                      <a:pPr algn="l"/>
                      <a:r>
                        <a:rPr sz="1650" b="1">
                          <a:solidFill>
                            <a:srgbClr val="AF222A"/>
                          </a:solidFill>
                          <a:latin typeface="Bebas Neue"/>
                        </a:rPr>
                        <a:t>Training</a:t>
                      </a:r>
                    </a:p>
                  </a:txBody>
                  <a:tcPr marL="146304" marR="146304" anchor="ctr">
                    <a:solidFill>
                      <a:srgbClr val="F5F6F8"/>
                    </a:solidFill>
                  </a:tcPr>
                </a:tc>
                <a:tc>
                  <a:txBody>
                    <a:bodyPr/>
                    <a:lstStyle/>
                    <a:p>
                      <a:pPr algn="l"/>
                      <a:r>
                        <a:rPr sz="1650" b="0">
                          <a:solidFill>
                            <a:srgbClr val="111111"/>
                          </a:solidFill>
                          <a:latin typeface="Inter"/>
                        </a:rPr>
                        <a:t>1</a:t>
                      </a:r>
                    </a:p>
                  </a:txBody>
                  <a:tcPr marL="146304" marR="146304" anchor="ctr">
                    <a:solidFill>
                      <a:srgbClr val="F5F6F8"/>
                    </a:solidFill>
                  </a:tcPr>
                </a:tc>
                <a:tc>
                  <a:txBody>
                    <a:bodyPr/>
                    <a:lstStyle/>
                    <a:p>
                      <a:pPr algn="l"/>
                      <a:r>
                        <a:rPr sz="1650" b="0">
                          <a:solidFill>
                            <a:srgbClr val="111111"/>
                          </a:solidFill>
                          <a:latin typeface="Inter"/>
                        </a:rPr>
                        <a:t>fish s moked f ish</a:t>
                      </a:r>
                    </a:p>
                  </a:txBody>
                  <a:tcPr marL="146304" marR="146304" anchor="ctr">
                    <a:solidFill>
                      <a:srgbClr val="F5F6F8"/>
                    </a:solidFill>
                  </a:tcPr>
                </a:tc>
                <a:tc>
                  <a:txBody>
                    <a:bodyPr/>
                    <a:lstStyle/>
                    <a:p>
                      <a:pPr algn="l"/>
                      <a:r>
                        <a:rPr sz="1650" b="0">
                          <a:solidFill>
                            <a:srgbClr val="111111"/>
                          </a:solidFill>
                          <a:latin typeface="Inter"/>
                        </a:rPr>
                        <a:t>f</a:t>
                      </a:r>
                    </a:p>
                  </a:txBody>
                  <a:tcPr marL="146304" marR="146304" anchor="ctr">
                    <a:solidFill>
                      <a:srgbClr val="F5F6F8"/>
                    </a:solidFill>
                  </a:tcPr>
                </a:tc>
              </a:tr>
              <a:tr h="664464">
                <a:tc>
                  <a:txBody>
                    <a:bodyPr/>
                    <a:lstStyle/>
                    <a:p>
                      <a:pPr algn="l"/>
                    </a:p>
                  </a:txBody>
                  <a:tcPr marL="146304" marR="146304" anchor="ctr">
                    <a:solidFill>
                      <a:srgbClr val="F8EDED"/>
                    </a:solidFill>
                  </a:tcPr>
                </a:tc>
                <a:tc>
                  <a:txBody>
                    <a:bodyPr/>
                    <a:lstStyle/>
                    <a:p>
                      <a:pPr algn="l"/>
                      <a:r>
                        <a:rPr sz="1650" b="0">
                          <a:solidFill>
                            <a:srgbClr val="111111"/>
                          </a:solidFill>
                          <a:latin typeface="Inter"/>
                        </a:rPr>
                        <a:t>2</a:t>
                      </a:r>
                    </a:p>
                  </a:txBody>
                  <a:tcPr marL="146304" marR="146304" anchor="ctr">
                    <a:solidFill>
                      <a:srgbClr val="F8EDED"/>
                    </a:solidFill>
                  </a:tcPr>
                </a:tc>
                <a:tc>
                  <a:txBody>
                    <a:bodyPr/>
                    <a:lstStyle/>
                    <a:p>
                      <a:pPr algn="l"/>
                      <a:r>
                        <a:rPr sz="1650" b="0">
                          <a:solidFill>
                            <a:srgbClr val="111111"/>
                          </a:solidFill>
                          <a:latin typeface="Inter"/>
                        </a:rPr>
                        <a:t>fish l ine</a:t>
                      </a:r>
                    </a:p>
                  </a:txBody>
                  <a:tcPr marL="146304" marR="146304" anchor="ctr">
                    <a:solidFill>
                      <a:srgbClr val="F8EDED"/>
                    </a:solidFill>
                  </a:tcPr>
                </a:tc>
                <a:tc>
                  <a:txBody>
                    <a:bodyPr/>
                    <a:lstStyle/>
                    <a:p>
                      <a:pPr algn="l"/>
                      <a:r>
                        <a:rPr sz="1650" b="0">
                          <a:solidFill>
                            <a:srgbClr val="111111"/>
                          </a:solidFill>
                          <a:latin typeface="Inter"/>
                        </a:rPr>
                        <a:t>f</a:t>
                      </a:r>
                    </a:p>
                  </a:txBody>
                  <a:tcPr marL="146304" marR="146304" anchor="ctr">
                    <a:solidFill>
                      <a:srgbClr val="F8EDED"/>
                    </a:solidFill>
                  </a:tcPr>
                </a:tc>
              </a:tr>
              <a:tr h="664464">
                <a:tc>
                  <a:txBody>
                    <a:bodyPr/>
                    <a:lstStyle/>
                    <a:p>
                      <a:pPr algn="l"/>
                    </a:p>
                  </a:txBody>
                  <a:tcPr marL="146304" marR="146304" anchor="ctr">
                    <a:solidFill>
                      <a:srgbClr val="F5F6F8"/>
                    </a:solidFill>
                  </a:tcPr>
                </a:tc>
                <a:tc>
                  <a:txBody>
                    <a:bodyPr/>
                    <a:lstStyle/>
                    <a:p>
                      <a:pPr algn="l"/>
                      <a:r>
                        <a:rPr sz="1650" b="0">
                          <a:solidFill>
                            <a:srgbClr val="111111"/>
                          </a:solidFill>
                          <a:latin typeface="Inter"/>
                        </a:rPr>
                        <a:t>3</a:t>
                      </a:r>
                    </a:p>
                  </a:txBody>
                  <a:tcPr marL="146304" marR="146304" anchor="ctr">
                    <a:solidFill>
                      <a:srgbClr val="F5F6F8"/>
                    </a:solidFill>
                  </a:tcPr>
                </a:tc>
                <a:tc>
                  <a:txBody>
                    <a:bodyPr/>
                    <a:lstStyle/>
                    <a:p>
                      <a:pPr algn="l"/>
                      <a:r>
                        <a:rPr sz="1650" b="0">
                          <a:solidFill>
                            <a:srgbClr val="111111"/>
                          </a:solidFill>
                          <a:latin typeface="Inter"/>
                        </a:rPr>
                        <a:t>fish h aul s moked</a:t>
                      </a:r>
                    </a:p>
                  </a:txBody>
                  <a:tcPr marL="146304" marR="146304" anchor="ctr">
                    <a:solidFill>
                      <a:srgbClr val="F5F6F8"/>
                    </a:solidFill>
                  </a:tcPr>
                </a:tc>
                <a:tc>
                  <a:txBody>
                    <a:bodyPr/>
                    <a:lstStyle/>
                    <a:p>
                      <a:pPr algn="l"/>
                      <a:r>
                        <a:rPr sz="1650" b="0">
                          <a:solidFill>
                            <a:srgbClr val="111111"/>
                          </a:solidFill>
                          <a:latin typeface="Inter"/>
                        </a:rPr>
                        <a:t>f</a:t>
                      </a:r>
                    </a:p>
                  </a:txBody>
                  <a:tcPr marL="146304" marR="146304" anchor="ctr">
                    <a:solidFill>
                      <a:srgbClr val="F5F6F8"/>
                    </a:solidFill>
                  </a:tcPr>
                </a:tc>
              </a:tr>
              <a:tr h="664464">
                <a:tc>
                  <a:txBody>
                    <a:bodyPr/>
                    <a:lstStyle/>
                    <a:p>
                      <a:pPr algn="l"/>
                    </a:p>
                  </a:txBody>
                  <a:tcPr marL="146304" marR="146304" anchor="ctr">
                    <a:solidFill>
                      <a:srgbClr val="F8EDED"/>
                    </a:solidFill>
                  </a:tcPr>
                </a:tc>
                <a:tc>
                  <a:txBody>
                    <a:bodyPr/>
                    <a:lstStyle/>
                    <a:p>
                      <a:pPr algn="l"/>
                      <a:r>
                        <a:rPr sz="1650" b="0">
                          <a:solidFill>
                            <a:srgbClr val="111111"/>
                          </a:solidFill>
                          <a:latin typeface="Inter"/>
                        </a:rPr>
                        <a:t>4</a:t>
                      </a:r>
                    </a:p>
                  </a:txBody>
                  <a:tcPr marL="146304" marR="146304" anchor="ctr">
                    <a:solidFill>
                      <a:srgbClr val="F8EDED"/>
                    </a:solidFill>
                  </a:tcPr>
                </a:tc>
                <a:tc>
                  <a:txBody>
                    <a:bodyPr/>
                    <a:lstStyle/>
                    <a:p>
                      <a:pPr algn="l"/>
                      <a:r>
                        <a:rPr sz="1650" b="0">
                          <a:solidFill>
                            <a:srgbClr val="111111"/>
                          </a:solidFill>
                          <a:latin typeface="Inter"/>
                        </a:rPr>
                        <a:t>guitar j azz line</a:t>
                      </a:r>
                    </a:p>
                  </a:txBody>
                  <a:tcPr marL="146304" marR="146304" anchor="ctr">
                    <a:solidFill>
                      <a:srgbClr val="F8EDED"/>
                    </a:solidFill>
                  </a:tcPr>
                </a:tc>
                <a:tc>
                  <a:txBody>
                    <a:bodyPr/>
                    <a:lstStyle/>
                    <a:p>
                      <a:pPr algn="l"/>
                      <a:r>
                        <a:rPr sz="1650" b="0">
                          <a:solidFill>
                            <a:srgbClr val="111111"/>
                          </a:solidFill>
                          <a:latin typeface="Inter"/>
                        </a:rPr>
                        <a:t>g</a:t>
                      </a:r>
                    </a:p>
                  </a:txBody>
                  <a:tcPr marL="146304" marR="146304" anchor="ctr">
                    <a:solidFill>
                      <a:srgbClr val="F8EDED"/>
                    </a:solidFill>
                  </a:tcPr>
                </a:tc>
              </a:tr>
              <a:tr h="664464">
                <a:tc>
                  <a:txBody>
                    <a:bodyPr/>
                    <a:lstStyle/>
                    <a:p>
                      <a:pPr algn="l"/>
                      <a:r>
                        <a:rPr sz="1650" b="1">
                          <a:solidFill>
                            <a:srgbClr val="AF222A"/>
                          </a:solidFill>
                          <a:latin typeface="Bebas Neue"/>
                        </a:rPr>
                        <a:t>Test</a:t>
                      </a:r>
                    </a:p>
                  </a:txBody>
                  <a:tcPr marL="146304" marR="146304" anchor="ctr">
                    <a:solidFill>
                      <a:srgbClr val="F5F6F8"/>
                    </a:solidFill>
                  </a:tcPr>
                </a:tc>
                <a:tc>
                  <a:txBody>
                    <a:bodyPr/>
                    <a:lstStyle/>
                    <a:p>
                      <a:pPr algn="l"/>
                      <a:r>
                        <a:rPr sz="1650" b="0">
                          <a:solidFill>
                            <a:srgbClr val="111111"/>
                          </a:solidFill>
                          <a:latin typeface="Inter"/>
                        </a:rPr>
                        <a:t>5</a:t>
                      </a:r>
                    </a:p>
                  </a:txBody>
                  <a:tcPr marL="146304" marR="146304" anchor="ctr">
                    <a:solidFill>
                      <a:srgbClr val="F5F6F8"/>
                    </a:solidFill>
                  </a:tcPr>
                </a:tc>
                <a:tc>
                  <a:txBody>
                    <a:bodyPr/>
                    <a:lstStyle/>
                    <a:p>
                      <a:pPr algn="l"/>
                      <a:r>
                        <a:rPr sz="1650" b="0">
                          <a:solidFill>
                            <a:srgbClr val="111111"/>
                          </a:solidFill>
                          <a:latin typeface="Inter"/>
                        </a:rPr>
                        <a:t>line g uitar j azz jazz</a:t>
                      </a:r>
                    </a:p>
                  </a:txBody>
                  <a:tcPr marL="146304" marR="146304" anchor="ctr">
                    <a:solidFill>
                      <a:srgbClr val="F5F6F8"/>
                    </a:solidFill>
                  </a:tcPr>
                </a:tc>
                <a:tc>
                  <a:txBody>
                    <a:bodyPr/>
                    <a:lstStyle/>
                    <a:p>
                      <a:pPr algn="l"/>
                      <a:r>
                        <a:rPr sz="1650" b="0">
                          <a:solidFill>
                            <a:srgbClr val="111111"/>
                          </a:solidFill>
                          <a:latin typeface="Inter"/>
                        </a:rPr>
                        <a:t>?</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takeaway:  </a:t>
            </a:r>
            <a:r>
              <a:rPr sz="1600" b="1">
                <a:solidFill>
                  <a:srgbClr val="111111"/>
                </a:solidFill>
                <a:latin typeface="Bebas Neue"/>
              </a:rPr>
              <a:t>5 rows · Doc, Words, Class</a:t>
            </a:r>
          </a:p>
        </p:txBody>
      </p:sp>
      <p:sp>
        <p:nvSpPr>
          <p:cNvPr id="10" name="Rectangle 9"/>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58</a:t>
            </a:r>
          </a:p>
        </p:txBody>
      </p:sp>
      <p:sp>
        <p:nvSpPr>
          <p:cNvPr id="7" name="Rounded Rectangle 6"/>
          <p:cNvSpPr/>
          <p:nvPr/>
        </p:nvSpPr>
        <p:spPr>
          <a:xfrm>
            <a:off x="4085705" y="1298448"/>
            <a:ext cx="4017541" cy="5102352"/>
          </a:xfrm>
          <a:prstGeom prst="roundRect">
            <a:avLst>
              <a:gd name="adj" fmla="val 3000"/>
            </a:avLst>
          </a:prstGeom>
          <a:solidFill>
            <a:srgbClr val="FFFFFF"/>
          </a:solidFill>
          <a:ln w="12700">
            <a:solidFill>
              <a:srgbClr val="DFA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4250297" y="1463040"/>
            <a:ext cx="3688357" cy="4773168"/>
          </a:xfrm>
          <a:prstGeom prst="rect">
            <a:avLst/>
          </a:prstGeom>
        </p:spPr>
      </p:pic>
    </p:spTree>
  </p:cSld>
  <p:clrMapOvr>
    <a:masterClrMapping/>
  </p:clrMapOvr>
  <p:transition spd="med">
    <p:zoom dir="in"/>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APPLY</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AF222A"/>
                </a:solidFill>
                <a:latin typeface="Bebas Neue"/>
              </a:rPr>
              <a:t>Which statement describes ?</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Word Sense Disambiguation (WSD)</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5</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Supervised Machine Learning Approaches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Training</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 Training. Doc: 1.</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Extrinsic evaluation provides the best test while intrinsic evaluation measures exact matches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36 / 58</a:t>
            </a:r>
          </a:p>
        </p:txBody>
      </p:sp>
      <p:sp>
        <p:nvSpPr>
          <p:cNvPr id="8" name="Rounded Rectangle 7"/>
          <p:cNvSpPr/>
          <p:nvPr/>
        </p:nvSpPr>
        <p:spPr>
          <a:xfrm>
            <a:off x="457200" y="1298448"/>
            <a:ext cx="362407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3221736" cy="2097714"/>
          </a:xfrm>
          <a:prstGeom prst="rect">
            <a:avLst/>
          </a:prstGeom>
          <a:noFill/>
        </p:spPr>
        <p:txBody>
          <a:bodyPr wrap="square" anchor="t" lIns="0" tIns="0" rIns="0" bIns="0">
            <a:spAutoFit/>
          </a:bodyPr>
          <a:lstStyle/>
          <a:p>
            <a:pPr algn="l"/>
            <a:r>
              <a:rPr sz="1620" b="1">
                <a:solidFill>
                  <a:srgbClr val="AF222A"/>
                </a:solidFill>
                <a:latin typeface="Bebas Neue"/>
              </a:rPr>
              <a:t>Best evaluation: extrinsic (‘end-to-end’, `task-based’) evaluation</a:t>
            </a:r>
          </a:p>
          <a:p>
            <a:pPr algn="l" marL="256032" indent="-256032" lvl="0">
              <a:spcBef>
                <a:spcPts val="700"/>
              </a:spcBef>
              <a:buClr>
                <a:srgbClr val="52C7D0"/>
              </a:buClr>
              <a:buFont typeface="Arial"/>
              <a:buChar char="•"/>
            </a:pPr>
            <a:r>
              <a:rPr sz="1300" b="0">
                <a:solidFill>
                  <a:srgbClr val="111111"/>
                </a:solidFill>
                <a:latin typeface="Inter"/>
              </a:rPr>
              <a:t>Embed WSD algorithm in a task and see if you can do the task better!</a:t>
            </a:r>
          </a:p>
        </p:txBody>
      </p:sp>
      <p:sp>
        <p:nvSpPr>
          <p:cNvPr id="11" name="Rounded Rectangle 10"/>
          <p:cNvSpPr/>
          <p:nvPr/>
        </p:nvSpPr>
        <p:spPr>
          <a:xfrm>
            <a:off x="4282440" y="1298448"/>
            <a:ext cx="362407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244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3608" y="1459382"/>
            <a:ext cx="3221736" cy="2097714"/>
          </a:xfrm>
          <a:prstGeom prst="rect">
            <a:avLst/>
          </a:prstGeom>
          <a:noFill/>
        </p:spPr>
        <p:txBody>
          <a:bodyPr wrap="square" anchor="t" lIns="0" tIns="0" rIns="0" bIns="0">
            <a:spAutoFit/>
          </a:bodyPr>
          <a:lstStyle/>
          <a:p>
            <a:pPr algn="l"/>
            <a:r>
              <a:rPr sz="1620" b="1">
                <a:solidFill>
                  <a:srgbClr val="AF222A"/>
                </a:solidFill>
                <a:latin typeface="Bebas Neue"/>
              </a:rPr>
              <a:t>What we often do for convenience: intrinsic evaluation</a:t>
            </a:r>
          </a:p>
          <a:p>
            <a:pPr algn="l" marL="256032" indent="-256032" lvl="0">
              <a:spcBef>
                <a:spcPts val="700"/>
              </a:spcBef>
              <a:buClr>
                <a:srgbClr val="52C7D0"/>
              </a:buClr>
              <a:buFont typeface="Arial"/>
              <a:buChar char="•"/>
            </a:pPr>
            <a:r>
              <a:rPr sz="1300" b="0">
                <a:solidFill>
                  <a:srgbClr val="111111"/>
                </a:solidFill>
                <a:latin typeface="Inter"/>
              </a:rPr>
              <a:t>Exact match sense accuracy</a:t>
            </a:r>
          </a:p>
          <a:p>
            <a:pPr algn="l" marL="512064" indent="-219456" lvl="1">
              <a:spcBef>
                <a:spcPts val="300"/>
              </a:spcBef>
              <a:buClr>
                <a:srgbClr val="52C7D0"/>
              </a:buClr>
              <a:buFont typeface="Arial"/>
              <a:buChar char="–"/>
            </a:pPr>
            <a:r>
              <a:rPr sz="1170" b="0">
                <a:solidFill>
                  <a:srgbClr val="555555"/>
                </a:solidFill>
                <a:latin typeface="Inter"/>
              </a:rPr>
              <a:t>% of words tagged identically with the human-manual sense tags</a:t>
            </a:r>
          </a:p>
          <a:p>
            <a:pPr algn="l" marL="256032" indent="-256032" lvl="0">
              <a:spcBef>
                <a:spcPts val="700"/>
              </a:spcBef>
              <a:buClr>
                <a:srgbClr val="52C7D0"/>
              </a:buClr>
              <a:buFont typeface="Arial"/>
              <a:buChar char="•"/>
            </a:pPr>
            <a:r>
              <a:rPr sz="1300" b="0">
                <a:solidFill>
                  <a:srgbClr val="111111"/>
                </a:solidFill>
                <a:latin typeface="Inter"/>
              </a:rPr>
              <a:t>Usually evaluate using held-out data from same labeled corpus</a:t>
            </a:r>
          </a:p>
        </p:txBody>
      </p:sp>
      <p:sp>
        <p:nvSpPr>
          <p:cNvPr id="14" name="Rounded Rectangle 13"/>
          <p:cNvSpPr/>
          <p:nvPr/>
        </p:nvSpPr>
        <p:spPr>
          <a:xfrm>
            <a:off x="8107680" y="1298448"/>
            <a:ext cx="362407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768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8848" y="1459382"/>
            <a:ext cx="3221736" cy="2097714"/>
          </a:xfrm>
          <a:prstGeom prst="rect">
            <a:avLst/>
          </a:prstGeom>
          <a:noFill/>
        </p:spPr>
        <p:txBody>
          <a:bodyPr wrap="square" anchor="t" lIns="0" tIns="0" rIns="0" bIns="0">
            <a:spAutoFit/>
          </a:bodyPr>
          <a:lstStyle/>
          <a:p>
            <a:pPr algn="l"/>
            <a:r>
              <a:rPr sz="1620" b="1">
                <a:solidFill>
                  <a:srgbClr val="AF222A"/>
                </a:solidFill>
                <a:latin typeface="Bebas Neue"/>
              </a:rPr>
              <a:t>Baselines</a:t>
            </a:r>
          </a:p>
          <a:p>
            <a:pPr algn="l" marL="256032" indent="-256032" lvl="0">
              <a:spcBef>
                <a:spcPts val="700"/>
              </a:spcBef>
              <a:buClr>
                <a:srgbClr val="52C7D0"/>
              </a:buClr>
              <a:buFont typeface="Arial"/>
              <a:buChar char="•"/>
            </a:pPr>
            <a:r>
              <a:rPr sz="1300" b="0">
                <a:solidFill>
                  <a:srgbClr val="111111"/>
                </a:solidFill>
                <a:latin typeface="Inter"/>
              </a:rPr>
              <a:t>Most frequent sense</a:t>
            </a:r>
          </a:p>
          <a:p>
            <a:pPr algn="l" marL="256032" indent="-256032" lvl="0">
              <a:spcBef>
                <a:spcPts val="700"/>
              </a:spcBef>
              <a:buClr>
                <a:srgbClr val="52C7D0"/>
              </a:buClr>
              <a:buFont typeface="Arial"/>
              <a:buChar char="•"/>
            </a:pPr>
            <a:r>
              <a:rPr sz="1300" b="0">
                <a:solidFill>
                  <a:srgbClr val="111111"/>
                </a:solidFill>
                <a:latin typeface="Inter"/>
              </a:rPr>
              <a:t>The Lesk algorithm</a:t>
            </a:r>
          </a:p>
        </p:txBody>
      </p:sp>
      <p:sp>
        <p:nvSpPr>
          <p:cNvPr id="17" name="Rounded Rectangle 16"/>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Extrinsic evaluation embeds the word sense disambiguation algorithm into a larger task to measure performance improvement. Intrinsic evaluation measures exact match sense accuracy against human manual tags using held-out data. Common baselines include the most frequent sense and the Lesk algorithm. For example, embedding a WSD algorithm in a translation task to see if overall translation improves.</a:t>
            </a:r>
          </a:p>
        </p:txBody>
      </p:sp>
      <p:sp>
        <p:nvSpPr>
          <p:cNvPr id="20" name="Rounded Rectangle 19"/>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Extrinsic evaluation — An end-to-end task-based assessment of an algorithm's performance.  ·  Intrinsic evaluation — Measuring exact match sense accuracy against human manual sense tags.</a:t>
            </a:r>
          </a:p>
        </p:txBody>
      </p:sp>
      <p:sp>
        <p:nvSpPr>
          <p:cNvPr id="21" name="Rectangle 20"/>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WordNet orders senses by frequency using data from the SemCor corpus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37 / 58</a:t>
            </a:r>
          </a:p>
        </p:txBody>
      </p:sp>
      <p:sp>
        <p:nvSpPr>
          <p:cNvPr id="8" name="Rounded Rectangle 7"/>
          <p:cNvSpPr/>
          <p:nvPr/>
        </p:nvSpPr>
        <p:spPr>
          <a:xfrm>
            <a:off x="457200" y="1298448"/>
            <a:ext cx="3502152" cy="2903483"/>
          </a:xfrm>
          <a:prstGeom prst="roundRect">
            <a:avLst>
              <a:gd name="adj" fmla="val 484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658368" y="2103120"/>
            <a:ext cx="3099816" cy="1897643"/>
          </a:xfrm>
          <a:prstGeom prst="rect">
            <a:avLst/>
          </a:prstGeom>
          <a:noFill/>
        </p:spPr>
        <p:txBody>
          <a:bodyPr wrap="square" anchor="t" lIns="0" tIns="0" rIns="0" bIns="0">
            <a:spAutoFit/>
          </a:bodyPr>
          <a:lstStyle/>
          <a:p>
            <a:pPr algn="l"/>
            <a:r>
              <a:rPr sz="2100" b="1">
                <a:solidFill>
                  <a:srgbClr val="AF222A"/>
                </a:solidFill>
                <a:latin typeface="Bebas Neue"/>
              </a:rPr>
              <a:t>So “most frequent sense”</a:t>
            </a:r>
          </a:p>
          <a:p>
            <a:pPr algn="l">
              <a:spcBef>
                <a:spcPts val="500"/>
              </a:spcBef>
            </a:pPr>
            <a:r>
              <a:rPr sz="1750" b="0">
                <a:solidFill>
                  <a:srgbClr val="111111"/>
                </a:solidFill>
                <a:latin typeface="Inter"/>
              </a:rPr>
              <a:t>in WordNet = “take the first sense”</a:t>
            </a:r>
          </a:p>
        </p:txBody>
      </p:sp>
      <p:sp>
        <p:nvSpPr>
          <p:cNvPr id="11" name="Right Arrow 10"/>
          <p:cNvSpPr/>
          <p:nvPr/>
        </p:nvSpPr>
        <p:spPr>
          <a:xfrm>
            <a:off x="4014215" y="2594741"/>
            <a:ext cx="274320" cy="310896"/>
          </a:xfrm>
          <a:prstGeom prst="rightArrow">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2903483"/>
          </a:xfrm>
          <a:prstGeom prst="roundRect">
            <a:avLst>
              <a:gd name="adj" fmla="val 484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499616"/>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4544568" y="2103120"/>
            <a:ext cx="3099816" cy="1897643"/>
          </a:xfrm>
          <a:prstGeom prst="rect">
            <a:avLst/>
          </a:prstGeom>
          <a:noFill/>
        </p:spPr>
        <p:txBody>
          <a:bodyPr wrap="square" anchor="t" lIns="0" tIns="0" rIns="0" bIns="0">
            <a:spAutoFit/>
          </a:bodyPr>
          <a:lstStyle/>
          <a:p>
            <a:pPr algn="l"/>
            <a:r>
              <a:rPr sz="2100" b="1">
                <a:solidFill>
                  <a:srgbClr val="AF222A"/>
                </a:solidFill>
                <a:latin typeface="Bebas Neue"/>
              </a:rPr>
              <a:t>WordNet organizes its senses</a:t>
            </a:r>
          </a:p>
          <a:p>
            <a:pPr algn="l">
              <a:spcBef>
                <a:spcPts val="500"/>
              </a:spcBef>
            </a:pPr>
            <a:r>
              <a:rPr sz="1750" b="0">
                <a:solidFill>
                  <a:srgbClr val="111111"/>
                </a:solidFill>
                <a:latin typeface="Inter"/>
              </a:rPr>
              <a:t>in frequency order so that taking the first sense corresponds to the most frequent sense</a:t>
            </a:r>
          </a:p>
        </p:txBody>
      </p:sp>
      <p:sp>
        <p:nvSpPr>
          <p:cNvPr id="15" name="Right Arrow 14"/>
          <p:cNvSpPr/>
          <p:nvPr/>
        </p:nvSpPr>
        <p:spPr>
          <a:xfrm>
            <a:off x="7900416" y="2594741"/>
            <a:ext cx="274320" cy="310896"/>
          </a:xfrm>
          <a:prstGeom prst="rightArrow">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2903483"/>
          </a:xfrm>
          <a:prstGeom prst="roundRect">
            <a:avLst>
              <a:gd name="adj" fmla="val 484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1499616"/>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8430768" y="2103120"/>
            <a:ext cx="3099816" cy="1897643"/>
          </a:xfrm>
          <a:prstGeom prst="rect">
            <a:avLst/>
          </a:prstGeom>
          <a:noFill/>
        </p:spPr>
        <p:txBody>
          <a:bodyPr wrap="square" anchor="t" lIns="0" tIns="0" rIns="0" bIns="0">
            <a:spAutoFit/>
          </a:bodyPr>
          <a:lstStyle/>
          <a:p>
            <a:pPr algn="l"/>
            <a:r>
              <a:rPr sz="2100" b="1">
                <a:solidFill>
                  <a:srgbClr val="AF222A"/>
                </a:solidFill>
                <a:latin typeface="Bebas Neue"/>
              </a:rPr>
              <a:t>Example</a:t>
            </a:r>
          </a:p>
          <a:p>
            <a:pPr algn="l">
              <a:spcBef>
                <a:spcPts val="500"/>
              </a:spcBef>
            </a:pPr>
            <a:r>
              <a:rPr sz="1750" b="0">
                <a:solidFill>
                  <a:srgbClr val="111111"/>
                </a:solidFill>
                <a:latin typeface="Inter"/>
              </a:rPr>
              <a:t>Example: Selecting the first listed sense in WordNet for a frequently used word</a:t>
            </a:r>
          </a:p>
        </p:txBody>
      </p:sp>
      <p:sp>
        <p:nvSpPr>
          <p:cNvPr id="19" name="Rounded Rectangle 18"/>
          <p:cNvSpPr/>
          <p:nvPr/>
        </p:nvSpPr>
        <p:spPr>
          <a:xfrm>
            <a:off x="457200" y="4403099"/>
            <a:ext cx="11274552" cy="88213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403099"/>
            <a:ext cx="73152" cy="88213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Sense frequencies come from the SemCor corpus These sense frequencies are derived directly from the SemCor corpus. This provides a straightforward baseline for word sense disambiguation.</a:t>
            </a:r>
          </a:p>
        </p:txBody>
      </p:sp>
      <p:sp>
        <p:nvSpPr>
          <p:cNvPr id="22" name="Rounded Rectangle 21"/>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3 steps — from “So “most frequent sense”” to “Example”.</a:t>
            </a:r>
          </a:p>
          <a:p>
            <a:pPr algn="l"/>
            <a:r>
              <a:rPr b="1" sz="1300">
                <a:solidFill>
                  <a:srgbClr val="AF222A"/>
                </a:solidFill>
                <a:latin typeface="Bebas Neue"/>
              </a:rPr>
              <a:t>Key terms:  </a:t>
            </a:r>
            <a:r>
              <a:rPr sz="1300" b="0">
                <a:solidFill>
                  <a:srgbClr val="111111"/>
                </a:solidFill>
                <a:latin typeface="Inter"/>
              </a:rPr>
              <a:t>Most frequent sense — The primary sense of a word based on WordNet frequency order.  ·  SemCor corpus — The tagged corpus used to supply sense frequencies.</a:t>
            </a:r>
          </a:p>
        </p:txBody>
      </p:sp>
      <p:sp>
        <p:nvSpPr>
          <p:cNvPr id="23" name="Rectangle 22"/>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Human inter-annotator agreement provides a ceiling of seventy five to eighty percent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38 / 58</a:t>
            </a:r>
          </a:p>
        </p:txBody>
      </p:sp>
      <p:sp>
        <p:nvSpPr>
          <p:cNvPr id="8" name="Rounded Rectangle 7">
            <a:hlinkClick r:id="rId5"/>
          </p:cNvPr>
          <p:cNvSpPr/>
          <p:nvPr/>
        </p:nvSpPr>
        <p:spPr>
          <a:xfrm>
            <a:off x="3802989" y="6455664"/>
            <a:ext cx="4582972"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sp>
        <p:nvSpPr>
          <p:cNvPr id="9" name="Rounded Rectangle 8"/>
          <p:cNvSpPr/>
          <p:nvPr/>
        </p:nvSpPr>
        <p:spPr>
          <a:xfrm>
            <a:off x="457200"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2339664"/>
          </a:xfrm>
          <a:prstGeom prst="rect">
            <a:avLst/>
          </a:prstGeom>
          <a:noFill/>
        </p:spPr>
        <p:txBody>
          <a:bodyPr wrap="square" anchor="t" lIns="0" tIns="0" rIns="0" bIns="0">
            <a:spAutoFit/>
          </a:bodyPr>
          <a:lstStyle/>
          <a:p>
            <a:pPr algn="l"/>
            <a:r>
              <a:rPr sz="2500" b="1">
                <a:solidFill>
                  <a:srgbClr val="AF222A"/>
                </a:solidFill>
                <a:latin typeface="Bebas Neue"/>
              </a:rPr>
              <a:t>Human inter-annotator agreement</a:t>
            </a:r>
          </a:p>
          <a:p>
            <a:pPr algn="l" marL="256032" indent="-256032" lvl="0">
              <a:spcBef>
                <a:spcPts val="700"/>
              </a:spcBef>
              <a:buClr>
                <a:srgbClr val="52C7D0"/>
              </a:buClr>
              <a:buFont typeface="Arial"/>
              <a:buChar char="•"/>
            </a:pPr>
            <a:r>
              <a:rPr sz="2000" b="0">
                <a:solidFill>
                  <a:srgbClr val="111111"/>
                </a:solidFill>
                <a:latin typeface="Inter"/>
              </a:rPr>
              <a:t>Compare annotations of two humans</a:t>
            </a:r>
          </a:p>
          <a:p>
            <a:pPr algn="l" marL="256032" indent="-256032" lvl="0">
              <a:spcBef>
                <a:spcPts val="700"/>
              </a:spcBef>
              <a:buClr>
                <a:srgbClr val="52C7D0"/>
              </a:buClr>
              <a:buFont typeface="Arial"/>
              <a:buChar char="•"/>
            </a:pPr>
            <a:r>
              <a:rPr sz="2000" b="0">
                <a:solidFill>
                  <a:srgbClr val="111111"/>
                </a:solidFill>
                <a:latin typeface="Inter"/>
              </a:rPr>
              <a:t>On same data</a:t>
            </a:r>
          </a:p>
          <a:p>
            <a:pPr algn="l" marL="256032" indent="-256032" lvl="0">
              <a:spcBef>
                <a:spcPts val="700"/>
              </a:spcBef>
              <a:buClr>
                <a:srgbClr val="52C7D0"/>
              </a:buClr>
              <a:buFont typeface="Arial"/>
              <a:buChar char="•"/>
            </a:pPr>
            <a:r>
              <a:rPr sz="2000" b="0">
                <a:solidFill>
                  <a:srgbClr val="111111"/>
                </a:solidFill>
                <a:latin typeface="Inter"/>
              </a:rPr>
              <a:t>Given same tagging guidelines</a:t>
            </a:r>
          </a:p>
        </p:txBody>
      </p:sp>
      <p:sp>
        <p:nvSpPr>
          <p:cNvPr id="12" name="Rounded Rectangle 11"/>
          <p:cNvSpPr/>
          <p:nvPr/>
        </p:nvSpPr>
        <p:spPr>
          <a:xfrm>
            <a:off x="6195059" y="1298448"/>
            <a:ext cx="5536692" cy="2661533"/>
          </a:xfrm>
          <a:prstGeom prst="roundRect">
            <a:avLst>
              <a:gd name="adj" fmla="val 529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2339664"/>
          </a:xfrm>
          <a:prstGeom prst="rect">
            <a:avLst/>
          </a:prstGeom>
          <a:noFill/>
        </p:spPr>
        <p:txBody>
          <a:bodyPr wrap="square" anchor="t" lIns="0" tIns="0" rIns="0" bIns="0">
            <a:spAutoFit/>
          </a:bodyPr>
          <a:lstStyle/>
          <a:p>
            <a:pPr algn="l"/>
            <a:r>
              <a:rPr sz="2500" b="1">
                <a:solidFill>
                  <a:srgbClr val="AF222A"/>
                </a:solidFill>
                <a:latin typeface="Bebas Neue"/>
              </a:rPr>
              <a:t>Human agreements on all-words corpora with WordNet style senses</a:t>
            </a:r>
          </a:p>
          <a:p>
            <a:pPr algn="l" marL="256032" indent="-256032" lvl="0">
              <a:spcBef>
                <a:spcPts val="700"/>
              </a:spcBef>
              <a:buClr>
                <a:srgbClr val="52C7D0"/>
              </a:buClr>
              <a:buFont typeface="Arial"/>
              <a:buChar char="•"/>
            </a:pPr>
            <a:r>
              <a:rPr sz="2000" b="0">
                <a:solidFill>
                  <a:srgbClr val="111111"/>
                </a:solidFill>
                <a:latin typeface="Inter"/>
              </a:rPr>
              <a:t>75%--80%</a:t>
            </a:r>
          </a:p>
        </p:txBody>
      </p:sp>
      <p:sp>
        <p:nvSpPr>
          <p:cNvPr id="15" name="Rounded Rectangle 14"/>
          <p:cNvSpPr/>
          <p:nvPr/>
        </p:nvSpPr>
        <p:spPr>
          <a:xfrm>
            <a:off x="457200" y="4161149"/>
            <a:ext cx="11274552" cy="112408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61149"/>
            <a:ext cx="73152" cy="112408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On all-words corpora with WordNet-style senses, human agreement typically ranges from seventy five to eighty percent. This serves as a performance ceiling for algorithms. Example: Two humans independently tagging a corpus to measure how often they agree.</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F222A"/>
                </a:solidFill>
                <a:latin typeface="Bebas Neue"/>
              </a:rPr>
              <a:t>Key terms:  </a:t>
            </a:r>
            <a:r>
              <a:rPr sz="1550" b="1">
                <a:solidFill>
                  <a:srgbClr val="111111"/>
                </a:solidFill>
                <a:latin typeface="Bebas Neue"/>
              </a:rPr>
              <a:t>Human inter-annotator agreement — A comparison of annotations made by different humans on the same data.  ·  Ceiling — The performance limit set by human agreement levels at 75% to 80%.</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Dictionary and thesaurus methods support word 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39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17457"/>
            <a:ext cx="82296" cy="379201"/>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0881"/>
            <a:ext cx="7087166" cy="397489"/>
          </a:xfrm>
          <a:prstGeom prst="rect">
            <a:avLst/>
          </a:prstGeom>
          <a:noFill/>
        </p:spPr>
        <p:txBody>
          <a:bodyPr wrap="square" anchor="t" lIns="0" tIns="0" rIns="0" bIns="0">
            <a:spAutoFit/>
          </a:bodyPr>
          <a:lstStyle/>
          <a:p>
            <a:pPr algn="l"/>
            <a:r>
              <a:rPr sz="2480" b="1">
                <a:solidFill>
                  <a:srgbClr val="AF222A"/>
                </a:solidFill>
                <a:latin typeface="Bebas Neue"/>
              </a:rPr>
              <a:t>Dictionary and.</a:t>
            </a:r>
          </a:p>
        </p:txBody>
      </p:sp>
      <p:sp>
        <p:nvSpPr>
          <p:cNvPr id="10" name="TextBox 9"/>
          <p:cNvSpPr txBox="1"/>
          <p:nvPr/>
        </p:nvSpPr>
        <p:spPr>
          <a:xfrm>
            <a:off x="720547" y="1970394"/>
            <a:ext cx="7087166" cy="288036"/>
          </a:xfrm>
          <a:prstGeom prst="rect">
            <a:avLst/>
          </a:prstGeom>
          <a:noFill/>
        </p:spPr>
        <p:txBody>
          <a:bodyPr wrap="square" lIns="0" rIns="0" tIns="0" bIns="0">
            <a:spAutoFit/>
          </a:bodyPr>
          <a:lstStyle/>
          <a:p>
            <a:r>
              <a:rPr sz="1800">
                <a:solidFill>
                  <a:srgbClr val="111111"/>
                </a:solidFill>
                <a:latin typeface="Inter"/>
              </a:rPr>
              <a:t>Thesaurus Methods.</a:t>
            </a:r>
          </a:p>
        </p:txBody>
      </p:sp>
      <p:sp>
        <p:nvSpPr>
          <p:cNvPr id="11" name="TextBox 10"/>
          <p:cNvSpPr txBox="1"/>
          <p:nvPr/>
        </p:nvSpPr>
        <p:spPr>
          <a:xfrm>
            <a:off x="720547" y="2386446"/>
            <a:ext cx="7087166" cy="576072"/>
          </a:xfrm>
          <a:prstGeom prst="rect">
            <a:avLst/>
          </a:prstGeom>
          <a:noFill/>
        </p:spPr>
        <p:txBody>
          <a:bodyPr wrap="square" lIns="0" rIns="0" tIns="0" bIns="0">
            <a:spAutoFit/>
          </a:bodyPr>
          <a:lstStyle/>
          <a:p>
            <a:r>
              <a:rPr sz="1800">
                <a:solidFill>
                  <a:srgbClr val="111111"/>
                </a:solidFill>
                <a:latin typeface="Inter"/>
              </a:rPr>
              <a:t>Dictionary and Thesaurus Methods provide foundational lexical resources for disambiguating word senses.</a:t>
            </a:r>
          </a:p>
        </p:txBody>
      </p:sp>
      <p:sp>
        <p:nvSpPr>
          <p:cNvPr id="12" name="TextBox 11"/>
          <p:cNvSpPr txBox="1"/>
          <p:nvPr/>
        </p:nvSpPr>
        <p:spPr>
          <a:xfrm>
            <a:off x="994867" y="3090534"/>
            <a:ext cx="6812846" cy="576072"/>
          </a:xfrm>
          <a:prstGeom prst="rect">
            <a:avLst/>
          </a:prstGeom>
          <a:noFill/>
        </p:spPr>
        <p:txBody>
          <a:bodyPr wrap="square" lIns="0" rIns="0" tIns="0" bIns="0">
            <a:spAutoFit/>
          </a:bodyPr>
          <a:lstStyle/>
          <a:p>
            <a:r>
              <a:rPr sz="1800">
                <a:solidFill>
                  <a:srgbClr val="111111"/>
                </a:solidFill>
                <a:latin typeface="Inter"/>
              </a:rPr>
              <a:t>These approaches leverage definitions, examples, and semantic relations found in standard reference texts.</a:t>
            </a:r>
          </a:p>
        </p:txBody>
      </p:sp>
      <p:sp>
        <p:nvSpPr>
          <p:cNvPr id="13" name="TextBox 12"/>
          <p:cNvSpPr txBox="1"/>
          <p:nvPr/>
        </p:nvSpPr>
        <p:spPr>
          <a:xfrm>
            <a:off x="994867" y="3794622"/>
            <a:ext cx="6812846" cy="576072"/>
          </a:xfrm>
          <a:prstGeom prst="rect">
            <a:avLst/>
          </a:prstGeom>
          <a:noFill/>
        </p:spPr>
        <p:txBody>
          <a:bodyPr wrap="square" lIns="0" rIns="0" tIns="0" bIns="0">
            <a:spAutoFit/>
          </a:bodyPr>
          <a:lstStyle/>
          <a:p>
            <a:r>
              <a:rPr sz="1800">
                <a:solidFill>
                  <a:srgbClr val="111111"/>
                </a:solidFill>
                <a:latin typeface="Inter"/>
              </a:rPr>
              <a:t>They help determine the correct meaning of a word in context without requiring large training corpora.</a:t>
            </a:r>
          </a:p>
        </p:txBody>
      </p:sp>
      <p:sp>
        <p:nvSpPr>
          <p:cNvPr id="14" name="TextBox 13"/>
          <p:cNvSpPr txBox="1"/>
          <p:nvPr/>
        </p:nvSpPr>
        <p:spPr>
          <a:xfrm>
            <a:off x="720547" y="4498710"/>
            <a:ext cx="7087166" cy="576072"/>
          </a:xfrm>
          <a:prstGeom prst="rect">
            <a:avLst/>
          </a:prstGeom>
          <a:noFill/>
        </p:spPr>
        <p:txBody>
          <a:bodyPr wrap="square" lIns="0" rIns="0" tIns="0" bIns="0">
            <a:spAutoFit/>
          </a:bodyPr>
          <a:lstStyle/>
          <a:p>
            <a:r>
              <a:rPr sz="1800">
                <a:solidFill>
                  <a:srgbClr val="111111"/>
                </a:solidFill>
                <a:latin typeface="Inter"/>
              </a:rPr>
              <a:t>Example: Using a dictionary definition to match a word's context.</a:t>
            </a:r>
          </a:p>
        </p:txBody>
      </p:sp>
      <p:sp>
        <p:nvSpPr>
          <p:cNvPr id="15" name="Rounded Rectangle 14"/>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050">
                <a:solidFill>
                  <a:srgbClr val="AF222A"/>
                </a:solidFill>
                <a:latin typeface="Bebas Neue"/>
              </a:rPr>
              <a:t>Key terms:  </a:t>
            </a:r>
            <a:r>
              <a:rPr sz="1050" b="0">
                <a:solidFill>
                  <a:srgbClr val="111111"/>
                </a:solidFill>
                <a:latin typeface="Inter"/>
              </a:rPr>
              <a:t>Dictionary methods — Techniques that use lexical definitions to determine word meanings.  ·  Thesaurus methods — Approaches utilizing semantic relations and groupings of synonyms.</a:t>
            </a:r>
          </a:p>
          <a:p>
            <a:pPr algn="l"/>
            <a:r>
              <a:rPr b="1" sz="1050">
                <a:solidFill>
                  <a:srgbClr val="AF222A"/>
                </a:solidFill>
                <a:latin typeface="Bebas Neue"/>
              </a:rPr>
              <a:t>Also in this lecture:  </a:t>
            </a:r>
            <a:r>
              <a:rPr sz="1050" b="0">
                <a:solidFill>
                  <a:srgbClr val="111111"/>
                </a:solidFill>
                <a:latin typeface="Inter"/>
              </a:rPr>
              <a:t>Choose sense with most word overlap between gloss and context (not counting function words) The bank can guarantee deposits will eventually cover future tuition costs because it invests in adjustable-rate mortgage securities.</a:t>
            </a:r>
          </a:p>
        </p:txBody>
      </p:sp>
      <p:sp>
        <p:nvSpPr>
          <p:cNvPr id="16" name="Rectangle 15"/>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8</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40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“Techniques that use lexical definitions to determine word meanings.”?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Intrinsic evaluation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Dictionary methods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Support-vector machine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P(line|f)</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Dictionary methods: Techniques that use lexical definitions to determine word meanings.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simplified Lesk algorithm disambiguates word senses using dictionary glosses and examples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41 / 58</a:t>
            </a:r>
          </a:p>
        </p:txBody>
      </p:sp>
      <p:sp>
        <p:nvSpPr>
          <p:cNvPr id="8" name="Rounded Rectangle 7"/>
          <p:cNvSpPr/>
          <p:nvPr/>
        </p:nvSpPr>
        <p:spPr>
          <a:xfrm>
            <a:off x="457200"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097714"/>
          </a:xfrm>
          <a:prstGeom prst="rect">
            <a:avLst/>
          </a:prstGeom>
          <a:noFill/>
        </p:spPr>
        <p:txBody>
          <a:bodyPr wrap="square" anchor="t" lIns="0" tIns="0" rIns="0" bIns="0">
            <a:spAutoFit/>
          </a:bodyPr>
          <a:lstStyle/>
          <a:p>
            <a:pPr algn="l"/>
            <a:r>
              <a:rPr sz="1620" b="1">
                <a:solidFill>
                  <a:srgbClr val="AF222A"/>
                </a:solidFill>
                <a:latin typeface="Bebas Neue"/>
              </a:rPr>
              <a:t>Let’s disambiguate “bank” in this sentence</a:t>
            </a:r>
          </a:p>
          <a:p>
            <a:pPr algn="l" marL="256032" indent="-256032" lvl="0">
              <a:spcBef>
                <a:spcPts val="700"/>
              </a:spcBef>
              <a:buClr>
                <a:srgbClr val="52C7D0"/>
              </a:buClr>
              <a:buFont typeface="Arial"/>
              <a:buChar char="•"/>
            </a:pPr>
            <a:r>
              <a:rPr sz="1290" b="0">
                <a:solidFill>
                  <a:srgbClr val="111111"/>
                </a:solidFill>
                <a:latin typeface="Inter"/>
              </a:rPr>
              <a:t>The bank can guarantee deposits will eventually cover future tuition costs because it invests in adjustable-rate mortgage securities.</a:t>
            </a:r>
          </a:p>
        </p:txBody>
      </p:sp>
      <p:sp>
        <p:nvSpPr>
          <p:cNvPr id="11" name="Rounded Rectangle 10"/>
          <p:cNvSpPr/>
          <p:nvPr/>
        </p:nvSpPr>
        <p:spPr>
          <a:xfrm>
            <a:off x="6195059"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097714"/>
          </a:xfrm>
          <a:prstGeom prst="rect">
            <a:avLst/>
          </a:prstGeom>
          <a:noFill/>
        </p:spPr>
        <p:txBody>
          <a:bodyPr wrap="square" anchor="t" lIns="0" tIns="0" rIns="0" bIns="0">
            <a:spAutoFit/>
          </a:bodyPr>
          <a:lstStyle/>
          <a:p>
            <a:pPr algn="l"/>
            <a:r>
              <a:rPr sz="1620" b="1">
                <a:solidFill>
                  <a:srgbClr val="AF222A"/>
                </a:solidFill>
                <a:latin typeface="Bebas Neue"/>
              </a:rPr>
              <a:t>Given the following two WordNet senses: bank1</a:t>
            </a:r>
          </a:p>
          <a:p>
            <a:pPr algn="l" marL="512064" indent="-219456" lvl="1">
              <a:spcBef>
                <a:spcPts val="300"/>
              </a:spcBef>
              <a:buClr>
                <a:srgbClr val="52C7D0"/>
              </a:buClr>
              <a:buFont typeface="Arial"/>
              <a:buChar char="–"/>
            </a:pPr>
            <a:r>
              <a:rPr sz="1170" b="0">
                <a:solidFill>
                  <a:srgbClr val="555555"/>
                </a:solidFill>
                <a:latin typeface="Inter"/>
              </a:rPr>
              <a:t>Gloss:</a:t>
            </a:r>
          </a:p>
          <a:p>
            <a:pPr algn="l" marL="512064" indent="-219456" lvl="1">
              <a:spcBef>
                <a:spcPts val="300"/>
              </a:spcBef>
              <a:buClr>
                <a:srgbClr val="52C7D0"/>
              </a:buClr>
              <a:buFont typeface="Arial"/>
              <a:buChar char="–"/>
            </a:pPr>
            <a:r>
              <a:rPr sz="1170" b="0">
                <a:solidFill>
                  <a:srgbClr val="555555"/>
                </a:solidFill>
                <a:latin typeface="Inter"/>
              </a:rPr>
              <a:t>a ﬁnancial institution that accepts deposits and channels the money into lending activities</a:t>
            </a:r>
          </a:p>
          <a:p>
            <a:pPr algn="l" marL="512064" indent="-219456" lvl="1">
              <a:spcBef>
                <a:spcPts val="300"/>
              </a:spcBef>
              <a:buClr>
                <a:srgbClr val="52C7D0"/>
              </a:buClr>
              <a:buFont typeface="Arial"/>
              <a:buChar char="–"/>
            </a:pPr>
            <a:r>
              <a:rPr sz="1170" b="0">
                <a:solidFill>
                  <a:srgbClr val="555555"/>
                </a:solidFill>
                <a:latin typeface="Inter"/>
              </a:rPr>
              <a:t>Examples:</a:t>
            </a:r>
          </a:p>
          <a:p>
            <a:pPr algn="l" marL="512064" indent="-219456" lvl="1">
              <a:spcBef>
                <a:spcPts val="300"/>
              </a:spcBef>
              <a:buClr>
                <a:srgbClr val="52C7D0"/>
              </a:buClr>
              <a:buFont typeface="Arial"/>
              <a:buChar char="–"/>
            </a:pPr>
            <a:r>
              <a:rPr sz="1170" b="0">
                <a:solidFill>
                  <a:srgbClr val="555555"/>
                </a:solidFill>
                <a:latin typeface="Inter"/>
              </a:rPr>
              <a:t>“he cashed a check at the bank”, “that bank holds the mortgage on my home”</a:t>
            </a:r>
          </a:p>
          <a:p>
            <a:pPr algn="l" marL="256032" indent="-256032" lvl="0">
              <a:spcBef>
                <a:spcPts val="700"/>
              </a:spcBef>
              <a:buClr>
                <a:srgbClr val="52C7D0"/>
              </a:buClr>
              <a:buFont typeface="Arial"/>
              <a:buChar char="•"/>
            </a:pPr>
            <a:r>
              <a:rPr sz="1290" b="0">
                <a:solidFill>
                  <a:srgbClr val="111111"/>
                </a:solidFill>
                <a:latin typeface="Inter"/>
              </a:rPr>
              <a:t>+3 more</a:t>
            </a:r>
          </a:p>
        </p:txBody>
      </p:sp>
      <p:sp>
        <p:nvSpPr>
          <p:cNvPr id="14" name="Rounded Rectangle 13"/>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The simplified Lesk algorithm helps determine the correct meaning of a word in a sentence by comparing the surrounding context against dictionary glosses and examples. For instance, it can distinguish whether bank refers to a financial institution or sloping land. It evaluates word overlap to select the most appropriate sense. For example, matching words in a sentence about tuition costs to the financial definition of bank.</a:t>
            </a:r>
          </a:p>
        </p:txBody>
      </p:sp>
      <p:sp>
        <p:nvSpPr>
          <p:cNvPr id="17" name="Rounded Rectangle 1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Gloss — The dictionary definition provided for a specific word sense.  ·  Bank — A word with multiple distinct meanings like a financial institution or sloping land.</a:t>
            </a:r>
          </a:p>
        </p:txBody>
      </p:sp>
      <p:sp>
        <p:nvSpPr>
          <p:cNvPr id="18" name="Rectangle 1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 Simplified Lesk algorithm: Choose sense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42 / 58</a:t>
            </a:r>
          </a:p>
        </p:txBody>
      </p:sp>
      <p:sp>
        <p:nvSpPr>
          <p:cNvPr id="8" name="Rounded Rectangle 7">
            <a:hlinkClick r:id="rId5"/>
          </p:cNvPr>
          <p:cNvSpPr/>
          <p:nvPr/>
        </p:nvSpPr>
        <p:spPr>
          <a:xfrm>
            <a:off x="3239719" y="6455664"/>
            <a:ext cx="5709513"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Simplified Lesk Sense‑Selection Lab</a:t>
            </a:r>
          </a:p>
        </p:txBody>
      </p:sp>
      <p:sp>
        <p:nvSpPr>
          <p:cNvPr id="9" name="Rounded Rectangle 8"/>
          <p:cNvSpPr/>
          <p:nvPr/>
        </p:nvSpPr>
        <p:spPr>
          <a:xfrm>
            <a:off x="457200" y="1298448"/>
            <a:ext cx="5536692" cy="4019051"/>
          </a:xfrm>
          <a:prstGeom prst="roundRect">
            <a:avLst>
              <a:gd name="adj" fmla="val 350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3697182"/>
          </a:xfrm>
          <a:prstGeom prst="rect">
            <a:avLst/>
          </a:prstGeom>
          <a:noFill/>
        </p:spPr>
        <p:txBody>
          <a:bodyPr wrap="square" anchor="t" lIns="0" tIns="0" rIns="0" bIns="0">
            <a:spAutoFit/>
          </a:bodyPr>
          <a:lstStyle/>
          <a:p>
            <a:pPr algn="l"/>
            <a:r>
              <a:rPr sz="2500" b="1">
                <a:solidFill>
                  <a:srgbClr val="AF222A"/>
                </a:solidFill>
                <a:latin typeface="Bebas Neue"/>
              </a:rPr>
              <a:t>Bank1</a:t>
            </a:r>
          </a:p>
          <a:p>
            <a:pPr algn="l" marL="256032" indent="-256032" lvl="0">
              <a:spcBef>
                <a:spcPts val="700"/>
              </a:spcBef>
              <a:buClr>
                <a:srgbClr val="52C7D0"/>
              </a:buClr>
              <a:buFont typeface="Arial"/>
              <a:buChar char="•"/>
            </a:pPr>
            <a:r>
              <a:rPr sz="2000" b="0">
                <a:solidFill>
                  <a:srgbClr val="111111"/>
                </a:solidFill>
                <a:latin typeface="Inter"/>
              </a:rPr>
              <a:t>Gloss:</a:t>
            </a:r>
          </a:p>
          <a:p>
            <a:pPr algn="l" marL="256032" indent="-256032" lvl="0">
              <a:spcBef>
                <a:spcPts val="700"/>
              </a:spcBef>
              <a:buClr>
                <a:srgbClr val="52C7D0"/>
              </a:buClr>
              <a:buFont typeface="Arial"/>
              <a:buChar char="•"/>
            </a:pPr>
            <a:r>
              <a:rPr sz="2000" b="0">
                <a:solidFill>
                  <a:srgbClr val="111111"/>
                </a:solidFill>
                <a:latin typeface="Inter"/>
              </a:rPr>
              <a:t>a ﬁnancial institution that accepts deposits and channels the money into lending activities</a:t>
            </a:r>
          </a:p>
          <a:p>
            <a:pPr algn="l" marL="256032" indent="-256032" lvl="0">
              <a:spcBef>
                <a:spcPts val="700"/>
              </a:spcBef>
              <a:buClr>
                <a:srgbClr val="52C7D0"/>
              </a:buClr>
              <a:buFont typeface="Arial"/>
              <a:buChar char="•"/>
            </a:pPr>
            <a:r>
              <a:rPr sz="2000" b="0">
                <a:solidFill>
                  <a:srgbClr val="111111"/>
                </a:solidFill>
                <a:latin typeface="Inter"/>
              </a:rPr>
              <a:t>Examples:</a:t>
            </a:r>
          </a:p>
          <a:p>
            <a:pPr algn="l" marL="256032" indent="-256032" lvl="0">
              <a:spcBef>
                <a:spcPts val="700"/>
              </a:spcBef>
              <a:buClr>
                <a:srgbClr val="52C7D0"/>
              </a:buClr>
              <a:buFont typeface="Arial"/>
              <a:buChar char="•"/>
            </a:pPr>
            <a:r>
              <a:rPr sz="2000" b="0">
                <a:solidFill>
                  <a:srgbClr val="111111"/>
                </a:solidFill>
                <a:latin typeface="Inter"/>
              </a:rPr>
              <a:t>“he cashed a check at the bank”, “that bank holds the mortgage on my home”</a:t>
            </a:r>
          </a:p>
        </p:txBody>
      </p:sp>
      <p:sp>
        <p:nvSpPr>
          <p:cNvPr id="12" name="Rounded Rectangle 11"/>
          <p:cNvSpPr/>
          <p:nvPr/>
        </p:nvSpPr>
        <p:spPr>
          <a:xfrm>
            <a:off x="6195059" y="1298448"/>
            <a:ext cx="5536692" cy="4019051"/>
          </a:xfrm>
          <a:prstGeom prst="roundRect">
            <a:avLst>
              <a:gd name="adj" fmla="val 3503"/>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3697182"/>
          </a:xfrm>
          <a:prstGeom prst="rect">
            <a:avLst/>
          </a:prstGeom>
          <a:noFill/>
        </p:spPr>
        <p:txBody>
          <a:bodyPr wrap="square" anchor="t" lIns="0" tIns="0" rIns="0" bIns="0">
            <a:spAutoFit/>
          </a:bodyPr>
          <a:lstStyle/>
          <a:p>
            <a:pPr algn="l"/>
            <a:r>
              <a:rPr sz="2500" b="1">
                <a:solidFill>
                  <a:srgbClr val="AF222A"/>
                </a:solidFill>
                <a:latin typeface="Bebas Neue"/>
              </a:rPr>
              <a:t>Bank2</a:t>
            </a:r>
          </a:p>
          <a:p>
            <a:pPr algn="l" marL="256032" indent="-256032" lvl="0">
              <a:spcBef>
                <a:spcPts val="700"/>
              </a:spcBef>
              <a:buClr>
                <a:srgbClr val="52C7D0"/>
              </a:buClr>
              <a:buFont typeface="Arial"/>
              <a:buChar char="•"/>
            </a:pPr>
            <a:r>
              <a:rPr sz="2000" b="0">
                <a:solidFill>
                  <a:srgbClr val="111111"/>
                </a:solidFill>
                <a:latin typeface="Inter"/>
              </a:rPr>
              <a:t>sloping land (especially the slope beside a body of water)</a:t>
            </a:r>
          </a:p>
          <a:p>
            <a:pPr algn="l" marL="256032" indent="-256032" lvl="0">
              <a:spcBef>
                <a:spcPts val="700"/>
              </a:spcBef>
              <a:buClr>
                <a:srgbClr val="52C7D0"/>
              </a:buClr>
              <a:buFont typeface="Arial"/>
              <a:buChar char="•"/>
            </a:pPr>
            <a:r>
              <a:rPr sz="2000" b="0">
                <a:solidFill>
                  <a:srgbClr val="111111"/>
                </a:solidFill>
                <a:latin typeface="Inter"/>
              </a:rPr>
              <a:t>“they pulled the canoe up on the bank”, “he sat on the bank of the river and watched the currents”</a:t>
            </a:r>
          </a:p>
        </p:txBody>
      </p:sp>
      <p:sp>
        <p:nvSpPr>
          <p:cNvPr id="15" name="Rounded Rectangle 14"/>
          <p:cNvSpPr/>
          <p:nvPr/>
        </p:nvSpPr>
        <p:spPr>
          <a:xfrm>
            <a:off x="457200" y="5518667"/>
            <a:ext cx="11274552" cy="882132"/>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518667"/>
            <a:ext cx="73152" cy="882132"/>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5591819"/>
            <a:ext cx="10879531" cy="735828"/>
          </a:xfrm>
          <a:prstGeom prst="rect">
            <a:avLst/>
          </a:prstGeom>
          <a:noFill/>
        </p:spPr>
        <p:txBody>
          <a:bodyPr wrap="square" anchor="ctr" lIns="0" tIns="0" rIns="0" bIns="0">
            <a:spAutoFit/>
          </a:bodyPr>
          <a:lstStyle/>
          <a:p>
            <a:pPr algn="l"/>
            <a:r>
              <a:rPr sz="1010" b="1">
                <a:solidFill>
                  <a:srgbClr val="AF222A"/>
                </a:solidFill>
                <a:latin typeface="Bebas Neue"/>
              </a:rPr>
              <a:t>ALSO ON THIS SLIDE</a:t>
            </a:r>
          </a:p>
          <a:p>
            <a:pPr algn="l">
              <a:spcBef>
                <a:spcPts val="300"/>
              </a:spcBef>
            </a:pPr>
            <a:r>
              <a:rPr sz="1400" b="0">
                <a:solidFill>
                  <a:srgbClr val="111111"/>
                </a:solidFill>
                <a:latin typeface="Inter"/>
              </a:rPr>
              <a:t>Choose sense with most word overlap between gloss and context (not counting function words) The bank can guarantee deposits will eventually cover future tuition costs because it invests in adjustable-rate mortgage securities.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corpus Lesk algorithm combines sense-labeled data into a signature for overlap</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43 / 58</a:t>
            </a:r>
          </a:p>
        </p:txBody>
      </p:sp>
      <p:sp>
        <p:nvSpPr>
          <p:cNvPr id="8" name="Rectangle 7"/>
          <p:cNvSpPr/>
          <p:nvPr/>
        </p:nvSpPr>
        <p:spPr>
          <a:xfrm>
            <a:off x="457200" y="1325880"/>
            <a:ext cx="73152" cy="956056"/>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047496"/>
          </a:xfrm>
          <a:prstGeom prst="rect">
            <a:avLst/>
          </a:prstGeom>
          <a:noFill/>
        </p:spPr>
        <p:txBody>
          <a:bodyPr wrap="square" anchor="ctr" lIns="0" tIns="0" rIns="0" bIns="0">
            <a:spAutoFit/>
          </a:bodyPr>
          <a:lstStyle/>
          <a:p>
            <a:pPr algn="l"/>
            <a:r>
              <a:rPr sz="2400" b="1">
                <a:solidFill>
                  <a:srgbClr val="AF222A"/>
                </a:solidFill>
                <a:latin typeface="Bebas Neue"/>
              </a:rPr>
              <a:t>Assumes we have some sense-labeled data (like SemCor)</a:t>
            </a:r>
          </a:p>
          <a:p>
            <a:pPr algn="l">
              <a:spcBef>
                <a:spcPts val="400"/>
              </a:spcBef>
            </a:pPr>
            <a:r>
              <a:rPr sz="1400" b="0">
                <a:solidFill>
                  <a:srgbClr val="111111"/>
                </a:solidFill>
                <a:latin typeface="Inter"/>
              </a:rPr>
              <a:t>Now add these to the gloss + examples for each sense, call it the “signature” of a sense.</a:t>
            </a:r>
          </a:p>
          <a:p>
            <a:pPr algn="l">
              <a:spcBef>
                <a:spcPts val="400"/>
              </a:spcBef>
            </a:pPr>
            <a:r>
              <a:rPr sz="1400" b="0">
                <a:solidFill>
                  <a:srgbClr val="111111"/>
                </a:solidFill>
                <a:latin typeface="Inter"/>
              </a:rPr>
              <a:t>Choose sense with most word overlap between context and signature.</a:t>
            </a:r>
          </a:p>
        </p:txBody>
      </p:sp>
      <p:sp>
        <p:nvSpPr>
          <p:cNvPr id="10" name="Rounded Rectangle 9"/>
          <p:cNvSpPr/>
          <p:nvPr/>
        </p:nvSpPr>
        <p:spPr>
          <a:xfrm>
            <a:off x="457200" y="2547112"/>
            <a:ext cx="11274552" cy="1170918"/>
          </a:xfrm>
          <a:prstGeom prst="roundRect">
            <a:avLst>
              <a:gd name="adj" fmla="val 12026"/>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11704"/>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08046"/>
            <a:ext cx="10872216" cy="849050"/>
          </a:xfrm>
          <a:prstGeom prst="rect">
            <a:avLst/>
          </a:prstGeom>
          <a:noFill/>
        </p:spPr>
        <p:txBody>
          <a:bodyPr wrap="square" anchor="t" lIns="0" tIns="0" rIns="0" bIns="0">
            <a:spAutoFit/>
          </a:bodyPr>
          <a:lstStyle/>
          <a:p>
            <a:pPr algn="l"/>
            <a:r>
              <a:rPr sz="1620" b="1">
                <a:solidFill>
                  <a:srgbClr val="AF222A"/>
                </a:solidFill>
                <a:latin typeface="Bebas Neue"/>
              </a:rPr>
              <a:t>Take all the sentences with the relevant word sense</a:t>
            </a:r>
          </a:p>
          <a:p>
            <a:pPr algn="l" marL="256032" indent="-256032" lvl="0">
              <a:spcBef>
                <a:spcPts val="700"/>
              </a:spcBef>
              <a:buClr>
                <a:srgbClr val="52C7D0"/>
              </a:buClr>
              <a:buFont typeface="Arial"/>
              <a:buChar char="•"/>
            </a:pPr>
            <a:r>
              <a:rPr sz="1300" b="0">
                <a:solidFill>
                  <a:srgbClr val="111111"/>
                </a:solidFill>
                <a:latin typeface="Inter"/>
              </a:rPr>
              <a:t>These short, "streamlined" meetings usually are sponsored by local banks1, Chambers of Commerce, trade associations, or other civic organizations.</a:t>
            </a:r>
          </a:p>
        </p:txBody>
      </p:sp>
      <p:sp>
        <p:nvSpPr>
          <p:cNvPr id="13" name="Rounded Rectangle 12"/>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The corpus Lesk algorithm uses sense-labeled data to gather all sentences associated with a specific word sense. It adds these sentences to the dictionary gloss and examples to create a comprehensive signature for that sense. The algorithm then chooses the sense with the most word overlap between the context and the signature. For example, combining meeting sentences with dictionary glosses to form a sense signature.</a:t>
            </a:r>
          </a:p>
        </p:txBody>
      </p:sp>
      <p:sp>
        <p:nvSpPr>
          <p:cNvPr id="16" name="Rounded Rectangle 15"/>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F222A"/>
                </a:solidFill>
                <a:latin typeface="Bebas Neue"/>
              </a:rPr>
              <a:t>Key terms:  </a:t>
            </a:r>
            <a:r>
              <a:rPr sz="1550" b="1">
                <a:solidFill>
                  <a:srgbClr val="111111"/>
                </a:solidFill>
                <a:latin typeface="Bebas Neue"/>
              </a:rPr>
              <a:t>Signature — The combined set of glosses, examples, and labeled sentences for a word sense.  ·  Word overlap — The count of shared words between a sentence context and a sense signature.</a:t>
            </a:r>
          </a:p>
        </p:txBody>
      </p:sp>
      <p:sp>
        <p:nvSpPr>
          <p:cNvPr id="17" name="Rectangle 16"/>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Inverse document frequency weighting improves word overlap calculations in corpus Lesk</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44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32659"/>
            <a:ext cx="82296" cy="268787"/>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96083"/>
            <a:ext cx="6963576" cy="287075"/>
          </a:xfrm>
          <a:prstGeom prst="rect">
            <a:avLst/>
          </a:prstGeom>
          <a:noFill/>
        </p:spPr>
        <p:txBody>
          <a:bodyPr wrap="square" anchor="t" lIns="0" tIns="0" rIns="0" bIns="0">
            <a:spAutoFit/>
          </a:bodyPr>
          <a:lstStyle/>
          <a:p>
            <a:pPr algn="l"/>
            <a:r>
              <a:rPr sz="1789" b="1">
                <a:solidFill>
                  <a:srgbClr val="AF222A"/>
                </a:solidFill>
                <a:latin typeface="Bebas Neue"/>
              </a:rPr>
              <a:t>Instead of just removing function words.</a:t>
            </a:r>
          </a:p>
        </p:txBody>
      </p:sp>
      <p:sp>
        <p:nvSpPr>
          <p:cNvPr id="10" name="TextBox 9"/>
          <p:cNvSpPr txBox="1"/>
          <p:nvPr/>
        </p:nvSpPr>
        <p:spPr>
          <a:xfrm>
            <a:off x="720547" y="1875182"/>
            <a:ext cx="6963576" cy="208025"/>
          </a:xfrm>
          <a:prstGeom prst="rect">
            <a:avLst/>
          </a:prstGeom>
          <a:noFill/>
        </p:spPr>
        <p:txBody>
          <a:bodyPr wrap="square" lIns="0" rIns="0" tIns="0" bIns="0">
            <a:spAutoFit/>
          </a:bodyPr>
          <a:lstStyle/>
          <a:p>
            <a:r>
              <a:rPr sz="1300">
                <a:solidFill>
                  <a:srgbClr val="111111"/>
                </a:solidFill>
                <a:latin typeface="Inter"/>
              </a:rPr>
              <a:t>Weigh each word by its `promiscuity’ across documents.</a:t>
            </a:r>
          </a:p>
        </p:txBody>
      </p:sp>
      <p:sp>
        <p:nvSpPr>
          <p:cNvPr id="11" name="TextBox 10"/>
          <p:cNvSpPr txBox="1"/>
          <p:nvPr/>
        </p:nvSpPr>
        <p:spPr>
          <a:xfrm>
            <a:off x="720547" y="2211224"/>
            <a:ext cx="6963576" cy="208025"/>
          </a:xfrm>
          <a:prstGeom prst="rect">
            <a:avLst/>
          </a:prstGeom>
          <a:noFill/>
        </p:spPr>
        <p:txBody>
          <a:bodyPr wrap="square" lIns="0" rIns="0" tIns="0" bIns="0">
            <a:spAutoFit/>
          </a:bodyPr>
          <a:lstStyle/>
          <a:p>
            <a:r>
              <a:rPr sz="1300">
                <a:solidFill>
                  <a:srgbClr val="111111"/>
                </a:solidFill>
                <a:latin typeface="Inter"/>
              </a:rPr>
              <a:t>Down-weights words that occur in every `document’ (gloss, example, etc).</a:t>
            </a:r>
          </a:p>
        </p:txBody>
      </p:sp>
      <p:sp>
        <p:nvSpPr>
          <p:cNvPr id="12" name="TextBox 11"/>
          <p:cNvSpPr txBox="1"/>
          <p:nvPr/>
        </p:nvSpPr>
        <p:spPr>
          <a:xfrm>
            <a:off x="994867" y="2547266"/>
            <a:ext cx="6689256" cy="208025"/>
          </a:xfrm>
          <a:prstGeom prst="rect">
            <a:avLst/>
          </a:prstGeom>
          <a:noFill/>
        </p:spPr>
        <p:txBody>
          <a:bodyPr wrap="square" lIns="0" rIns="0" tIns="0" bIns="0">
            <a:spAutoFit/>
          </a:bodyPr>
          <a:lstStyle/>
          <a:p>
            <a:r>
              <a:rPr sz="1300">
                <a:solidFill>
                  <a:srgbClr val="111111"/>
                </a:solidFill>
                <a:latin typeface="Inter"/>
              </a:rPr>
              <a:t>These are generally function words, </a:t>
            </a:r>
            <a:r>
              <a:rPr sz="1300" b="1">
                <a:solidFill>
                  <a:srgbClr val="C2410C"/>
                </a:solidFill>
                <a:latin typeface="Bebas Neue"/>
              </a:rPr>
              <a:t>but</a:t>
            </a:r>
            <a:r>
              <a:rPr sz="1300">
                <a:solidFill>
                  <a:srgbClr val="111111"/>
                </a:solidFill>
                <a:latin typeface="Inter"/>
              </a:rPr>
              <a:t> is a more fine-grained measure.</a:t>
            </a:r>
          </a:p>
        </p:txBody>
      </p:sp>
      <p:sp>
        <p:nvSpPr>
          <p:cNvPr id="13" name="TextBox 12"/>
          <p:cNvSpPr txBox="1"/>
          <p:nvPr/>
        </p:nvSpPr>
        <p:spPr>
          <a:xfrm>
            <a:off x="720547" y="2883308"/>
            <a:ext cx="6963576" cy="208025"/>
          </a:xfrm>
          <a:prstGeom prst="rect">
            <a:avLst/>
          </a:prstGeom>
          <a:noFill/>
        </p:spPr>
        <p:txBody>
          <a:bodyPr wrap="square" lIns="0" rIns="0" tIns="0" bIns="0">
            <a:spAutoFit/>
          </a:bodyPr>
          <a:lstStyle/>
          <a:p>
            <a:r>
              <a:rPr sz="1300">
                <a:solidFill>
                  <a:srgbClr val="111111"/>
                </a:solidFill>
                <a:latin typeface="Inter"/>
              </a:rPr>
              <a:t>Weigh each overlapping word by inverse document frequency.</a:t>
            </a:r>
          </a:p>
        </p:txBody>
      </p:sp>
      <p:sp>
        <p:nvSpPr>
          <p:cNvPr id="14" name="TextBox 13"/>
          <p:cNvSpPr txBox="1"/>
          <p:nvPr/>
        </p:nvSpPr>
        <p:spPr>
          <a:xfrm>
            <a:off x="720547" y="3219350"/>
            <a:ext cx="6963576" cy="416051"/>
          </a:xfrm>
          <a:prstGeom prst="rect">
            <a:avLst/>
          </a:prstGeom>
          <a:noFill/>
        </p:spPr>
        <p:txBody>
          <a:bodyPr wrap="square" lIns="0" rIns="0" tIns="0" bIns="0">
            <a:spAutoFit/>
          </a:bodyPr>
          <a:lstStyle/>
          <a:p>
            <a:r>
              <a:rPr sz="1300">
                <a:solidFill>
                  <a:srgbClr val="111111"/>
                </a:solidFill>
                <a:latin typeface="Inter"/>
              </a:rPr>
              <a:t>Corpus Lesk uses inverse document frequency to weigh overlapping words </a:t>
            </a:r>
            <a:r>
              <a:rPr sz="1300" b="1">
                <a:solidFill>
                  <a:srgbClr val="C2410C"/>
                </a:solidFill>
                <a:latin typeface="Bebas Neue"/>
              </a:rPr>
              <a:t>rather than</a:t>
            </a:r>
            <a:r>
              <a:rPr sz="1300">
                <a:solidFill>
                  <a:srgbClr val="111111"/>
                </a:solidFill>
                <a:latin typeface="Inter"/>
              </a:rPr>
              <a:t> simply removing function words.</a:t>
            </a:r>
          </a:p>
        </p:txBody>
      </p:sp>
      <p:sp>
        <p:nvSpPr>
          <p:cNvPr id="15" name="TextBox 14"/>
          <p:cNvSpPr txBox="1"/>
          <p:nvPr/>
        </p:nvSpPr>
        <p:spPr>
          <a:xfrm>
            <a:off x="994867" y="3763418"/>
            <a:ext cx="6689256" cy="416051"/>
          </a:xfrm>
          <a:prstGeom prst="rect">
            <a:avLst/>
          </a:prstGeom>
          <a:noFill/>
        </p:spPr>
        <p:txBody>
          <a:bodyPr wrap="square" lIns="0" rIns="0" tIns="0" bIns="0">
            <a:spAutoFit/>
          </a:bodyPr>
          <a:lstStyle/>
          <a:p>
            <a:r>
              <a:rPr sz="1300">
                <a:solidFill>
                  <a:srgbClr val="111111"/>
                </a:solidFill>
                <a:latin typeface="Inter"/>
              </a:rPr>
              <a:t>This fine-grained measure down-weights promiscuous words that appear in every document or gloss.</a:t>
            </a:r>
          </a:p>
        </p:txBody>
      </p:sp>
      <p:sp>
        <p:nvSpPr>
          <p:cNvPr id="16" name="TextBox 15"/>
          <p:cNvSpPr txBox="1"/>
          <p:nvPr/>
        </p:nvSpPr>
        <p:spPr>
          <a:xfrm>
            <a:off x="720547" y="4307486"/>
            <a:ext cx="6963576" cy="416051"/>
          </a:xfrm>
          <a:prstGeom prst="rect">
            <a:avLst/>
          </a:prstGeom>
          <a:noFill/>
        </p:spPr>
        <p:txBody>
          <a:bodyPr wrap="square" lIns="0" rIns="0" tIns="0" bIns="0">
            <a:spAutoFit/>
          </a:bodyPr>
          <a:lstStyle/>
          <a:p>
            <a:r>
              <a:rPr sz="810" b="1">
                <a:solidFill>
                  <a:srgbClr val="1D4ED8"/>
                </a:solidFill>
                <a:latin typeface="Bebas Neue"/>
              </a:rPr>
              <a:t>SO   </a:t>
            </a:r>
            <a:r>
              <a:rPr sz="1300" b="1">
                <a:solidFill>
                  <a:srgbClr val="1D4ED8"/>
                </a:solidFill>
                <a:latin typeface="Bebas Neue"/>
              </a:rPr>
              <a:t>Consequently</a:t>
            </a:r>
            <a:r>
              <a:rPr sz="1300">
                <a:solidFill>
                  <a:srgbClr val="111111"/>
                </a:solidFill>
                <a:latin typeface="Inter"/>
              </a:rPr>
              <a:t>, important content words receive higher emphasis during sense disambiguation.</a:t>
            </a:r>
          </a:p>
        </p:txBody>
      </p:sp>
      <p:sp>
        <p:nvSpPr>
          <p:cNvPr id="17" name="TextBox 16"/>
          <p:cNvSpPr txBox="1"/>
          <p:nvPr/>
        </p:nvSpPr>
        <p:spPr>
          <a:xfrm>
            <a:off x="720547" y="4851554"/>
            <a:ext cx="6963576" cy="208025"/>
          </a:xfrm>
          <a:prstGeom prst="rect">
            <a:avLst/>
          </a:prstGeom>
          <a:noFill/>
        </p:spPr>
        <p:txBody>
          <a:bodyPr wrap="square" lIns="0" rIns="0" tIns="0" bIns="0">
            <a:spAutoFit/>
          </a:bodyPr>
          <a:lstStyle/>
          <a:p>
            <a:r>
              <a:rPr sz="1300">
                <a:solidFill>
                  <a:srgbClr val="111111"/>
                </a:solidFill>
                <a:latin typeface="Inter"/>
              </a:rPr>
              <a:t>Example: Down-weighting common words that appear across all glosses and examples.</a:t>
            </a:r>
          </a:p>
        </p:txBody>
      </p:sp>
      <p:sp>
        <p:nvSpPr>
          <p:cNvPr id="18" name="Rounded Rectangle 1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Inverse document frequency — A measure that weighs overlapping words by their promiscuity across documents.  ·  Promiscuity — The tendency of certain words to occur frequently across every document or gloss.</a:t>
            </a:r>
          </a:p>
        </p:txBody>
      </p:sp>
      <p:sp>
        <p:nvSpPr>
          <p:cNvPr id="19" name="Rectangle 1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9</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 measure that weighs overlapping words by their promiscuity across documents.”?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Inverse document frequency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POS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wsj</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Sense Translation</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550" b="0">
                <a:solidFill>
                  <a:srgbClr val="FFFFFF"/>
                </a:solidFill>
                <a:latin typeface="Inter"/>
              </a:rPr>
              <a:t>Inverse document frequency: A measure that weighs overlapping words by their promiscuity across documents.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Corpus Lesk weighs overlapping words by inverse document frequency</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46 / 58</a:t>
            </a:r>
          </a:p>
        </p:txBody>
      </p:sp>
      <p:sp>
        <p:nvSpPr>
          <p:cNvPr id="8" name="Rounded Rectangle 7"/>
          <p:cNvSpPr/>
          <p:nvPr/>
        </p:nvSpPr>
        <p:spPr>
          <a:xfrm>
            <a:off x="457200" y="1298448"/>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66215"/>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246430"/>
          </a:xfrm>
          <a:prstGeom prst="rect">
            <a:avLst/>
          </a:prstGeom>
          <a:noFill/>
        </p:spPr>
        <p:txBody>
          <a:bodyPr wrap="square" anchor="ctr" lIns="0" tIns="0" rIns="0" bIns="0">
            <a:spAutoFit/>
          </a:bodyPr>
          <a:lstStyle/>
          <a:p>
            <a:pPr algn="l"/>
            <a:r>
              <a:rPr sz="1490" b="1">
                <a:solidFill>
                  <a:srgbClr val="AF222A"/>
                </a:solidFill>
                <a:latin typeface="Bebas Neue"/>
              </a:rPr>
              <a:t>Weigh each overlapping word by inverse document frequency</a:t>
            </a:r>
          </a:p>
        </p:txBody>
      </p:sp>
      <p:sp>
        <p:nvSpPr>
          <p:cNvPr id="11" name="Rounded Rectangle 10"/>
          <p:cNvSpPr/>
          <p:nvPr/>
        </p:nvSpPr>
        <p:spPr>
          <a:xfrm>
            <a:off x="457200" y="1811883"/>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779651"/>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885035"/>
            <a:ext cx="10213848" cy="246430"/>
          </a:xfrm>
          <a:prstGeom prst="rect">
            <a:avLst/>
          </a:prstGeom>
          <a:noFill/>
        </p:spPr>
        <p:txBody>
          <a:bodyPr wrap="square" anchor="ctr" lIns="0" tIns="0" rIns="0" bIns="0">
            <a:spAutoFit/>
          </a:bodyPr>
          <a:lstStyle/>
          <a:p>
            <a:pPr algn="l"/>
            <a:r>
              <a:rPr sz="1490" b="1">
                <a:solidFill>
                  <a:srgbClr val="AF222A"/>
                </a:solidFill>
                <a:latin typeface="Bebas Neue"/>
              </a:rPr>
              <a:t>N is the total number of documents</a:t>
            </a:r>
          </a:p>
        </p:txBody>
      </p:sp>
      <p:sp>
        <p:nvSpPr>
          <p:cNvPr id="14" name="Rounded Rectangle 13"/>
          <p:cNvSpPr/>
          <p:nvPr/>
        </p:nvSpPr>
        <p:spPr>
          <a:xfrm>
            <a:off x="457200" y="2325319"/>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293086"/>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398471"/>
            <a:ext cx="10213848" cy="246430"/>
          </a:xfrm>
          <a:prstGeom prst="rect">
            <a:avLst/>
          </a:prstGeom>
          <a:noFill/>
        </p:spPr>
        <p:txBody>
          <a:bodyPr wrap="square" anchor="ctr" lIns="0" tIns="0" rIns="0" bIns="0">
            <a:spAutoFit/>
          </a:bodyPr>
          <a:lstStyle/>
          <a:p>
            <a:pPr algn="l"/>
            <a:r>
              <a:rPr sz="1490" b="1">
                <a:solidFill>
                  <a:srgbClr val="AF222A"/>
                </a:solidFill>
                <a:latin typeface="Bebas Neue"/>
              </a:rPr>
              <a:t>idfi = log N</a:t>
            </a:r>
          </a:p>
        </p:txBody>
      </p:sp>
      <p:sp>
        <p:nvSpPr>
          <p:cNvPr id="17" name="Rounded Rectangle 16"/>
          <p:cNvSpPr/>
          <p:nvPr/>
        </p:nvSpPr>
        <p:spPr>
          <a:xfrm>
            <a:off x="457200" y="2838754"/>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806522"/>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2911906"/>
            <a:ext cx="10213848" cy="246430"/>
          </a:xfrm>
          <a:prstGeom prst="rect">
            <a:avLst/>
          </a:prstGeom>
          <a:noFill/>
        </p:spPr>
        <p:txBody>
          <a:bodyPr wrap="square" anchor="ctr" lIns="0" tIns="0" rIns="0" bIns="0">
            <a:spAutoFit/>
          </a:bodyPr>
          <a:lstStyle/>
          <a:p>
            <a:pPr algn="l"/>
            <a:r>
              <a:rPr sz="1490" b="1">
                <a:solidFill>
                  <a:srgbClr val="AF222A"/>
                </a:solidFill>
                <a:latin typeface="Bebas Neue"/>
              </a:rPr>
              <a:t>dfi = “document frequency of word i”</a:t>
            </a:r>
          </a:p>
        </p:txBody>
      </p:sp>
      <p:sp>
        <p:nvSpPr>
          <p:cNvPr id="20" name="Rounded Rectangle 19"/>
          <p:cNvSpPr/>
          <p:nvPr/>
        </p:nvSpPr>
        <p:spPr>
          <a:xfrm>
            <a:off x="457200" y="3352190"/>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319957"/>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425342"/>
            <a:ext cx="10213848" cy="246430"/>
          </a:xfrm>
          <a:prstGeom prst="rect">
            <a:avLst/>
          </a:prstGeom>
          <a:noFill/>
        </p:spPr>
        <p:txBody>
          <a:bodyPr wrap="square" anchor="ctr" lIns="0" tIns="0" rIns="0" bIns="0">
            <a:spAutoFit/>
          </a:bodyPr>
          <a:lstStyle/>
          <a:p>
            <a:pPr algn="l"/>
            <a:r>
              <a:rPr sz="1490" b="1">
                <a:solidFill>
                  <a:srgbClr val="AF222A"/>
                </a:solidFill>
                <a:latin typeface="Bebas Neue"/>
              </a:rPr>
              <a:t>= # of documents with word I</a:t>
            </a:r>
          </a:p>
        </p:txBody>
      </p:sp>
      <p:sp>
        <p:nvSpPr>
          <p:cNvPr id="23" name="Rounded Rectangle 22"/>
          <p:cNvSpPr/>
          <p:nvPr/>
        </p:nvSpPr>
        <p:spPr>
          <a:xfrm>
            <a:off x="457200" y="3865626"/>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3833393"/>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3938778"/>
            <a:ext cx="10213848" cy="246430"/>
          </a:xfrm>
          <a:prstGeom prst="rect">
            <a:avLst/>
          </a:prstGeom>
          <a:noFill/>
        </p:spPr>
        <p:txBody>
          <a:bodyPr wrap="square" anchor="ctr" lIns="0" tIns="0" rIns="0" bIns="0">
            <a:spAutoFit/>
          </a:bodyPr>
          <a:lstStyle/>
          <a:p>
            <a:pPr algn="l"/>
            <a:r>
              <a:rPr sz="1490" b="1">
                <a:solidFill>
                  <a:srgbClr val="AF222A"/>
                </a:solidFill>
                <a:latin typeface="Bebas Neue"/>
              </a:rPr>
              <a:t>dfi</a:t>
            </a:r>
          </a:p>
        </p:txBody>
      </p:sp>
      <p:sp>
        <p:nvSpPr>
          <p:cNvPr id="26" name="Rounded Rectangle 25"/>
          <p:cNvSpPr/>
          <p:nvPr/>
        </p:nvSpPr>
        <p:spPr>
          <a:xfrm>
            <a:off x="457200" y="4379061"/>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346829"/>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4452213"/>
            <a:ext cx="10213848" cy="246430"/>
          </a:xfrm>
          <a:prstGeom prst="rect">
            <a:avLst/>
          </a:prstGeom>
          <a:noFill/>
        </p:spPr>
        <p:txBody>
          <a:bodyPr wrap="square" anchor="ctr" lIns="0" tIns="0" rIns="0" bIns="0">
            <a:spAutoFit/>
          </a:bodyPr>
          <a:lstStyle/>
          <a:p>
            <a:pPr algn="l"/>
            <a:r>
              <a:rPr sz="1490" b="1">
                <a:solidFill>
                  <a:srgbClr val="AF222A"/>
                </a:solidFill>
                <a:latin typeface="Bebas Neue"/>
              </a:rPr>
              <a:t>score(sensei, contextj) =</a:t>
            </a:r>
          </a:p>
        </p:txBody>
      </p:sp>
      <p:sp>
        <p:nvSpPr>
          <p:cNvPr id="29" name="Rounded Rectangle 28"/>
          <p:cNvSpPr/>
          <p:nvPr/>
        </p:nvSpPr>
        <p:spPr>
          <a:xfrm>
            <a:off x="457200" y="4892497"/>
            <a:ext cx="11274552" cy="392734"/>
          </a:xfrm>
          <a:prstGeom prst="roundRect">
            <a:avLst>
              <a:gd name="adj" fmla="val 3585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4860264"/>
            <a:ext cx="457200" cy="457200"/>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4965649"/>
            <a:ext cx="10213848" cy="246430"/>
          </a:xfrm>
          <a:prstGeom prst="rect">
            <a:avLst/>
          </a:prstGeom>
          <a:noFill/>
        </p:spPr>
        <p:txBody>
          <a:bodyPr wrap="square" anchor="ctr" lIns="0" tIns="0" rIns="0" bIns="0">
            <a:spAutoFit/>
          </a:bodyPr>
          <a:lstStyle/>
          <a:p>
            <a:pPr algn="l"/>
            <a:r>
              <a:rPr sz="1490" b="1">
                <a:solidFill>
                  <a:srgbClr val="AF222A"/>
                </a:solidFill>
                <a:latin typeface="Bebas Neue"/>
              </a:rPr>
              <a:t>idfw</a:t>
            </a:r>
          </a:p>
        </p:txBody>
      </p:sp>
      <p:sp>
        <p:nvSpPr>
          <p:cNvPr id="32" name="Rounded Rectangle 31"/>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F222A"/>
                </a:solidFill>
                <a:latin typeface="Bebas Neue"/>
              </a:rPr>
              <a:t>Key terms:  </a:t>
            </a:r>
            <a:r>
              <a:rPr sz="1500" b="1">
                <a:solidFill>
                  <a:srgbClr val="111111"/>
                </a:solidFill>
                <a:latin typeface="Bebas Neue"/>
              </a:rPr>
              <a:t>inverse document frequency — A measure of how common a word is across documents, higher for rarer words.  ·  sense signature — A set of words that typically appear with a particular sense of a target word.</a:t>
            </a:r>
          </a:p>
        </p:txBody>
      </p:sp>
      <p:sp>
        <p:nvSpPr>
          <p:cNvPr id="33" name="Rectangle 32"/>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Graph-based methods represent WordNet as a graph of senses and relations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47 / 58</a:t>
            </a:r>
          </a:p>
        </p:txBody>
      </p:sp>
      <p:pic>
        <p:nvPicPr>
          <p:cNvPr id="7" name="Picture 6" descr="image.png"/>
          <p:cNvPicPr>
            <a:picLocks noChangeAspect="1"/>
          </p:cNvPicPr>
          <p:nvPr/>
        </p:nvPicPr>
        <p:blipFill>
          <a:blip r:embed="rId3"/>
          <a:stretch>
            <a:fillRect/>
          </a:stretch>
        </p:blipFill>
        <p:spPr>
          <a:xfrm>
            <a:off x="7672913" y="2363190"/>
            <a:ext cx="4058838" cy="1857298"/>
          </a:xfrm>
          <a:prstGeom prst="rect">
            <a:avLst/>
          </a:prstGeom>
        </p:spPr>
      </p:pic>
      <p:sp>
        <p:nvSpPr>
          <p:cNvPr id="8" name="Rectangle 7"/>
          <p:cNvSpPr/>
          <p:nvPr/>
        </p:nvSpPr>
        <p:spPr>
          <a:xfrm>
            <a:off x="457200" y="1447140"/>
            <a:ext cx="82296" cy="279829"/>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10564"/>
            <a:ext cx="6278614" cy="298117"/>
          </a:xfrm>
          <a:prstGeom prst="rect">
            <a:avLst/>
          </a:prstGeom>
          <a:noFill/>
        </p:spPr>
        <p:txBody>
          <a:bodyPr wrap="square" anchor="t" lIns="0" tIns="0" rIns="0" bIns="0">
            <a:spAutoFit/>
          </a:bodyPr>
          <a:lstStyle/>
          <a:p>
            <a:pPr algn="l"/>
            <a:r>
              <a:rPr sz="1860" b="1">
                <a:solidFill>
                  <a:srgbClr val="AF222A"/>
                </a:solidFill>
                <a:latin typeface="Bebas Neue"/>
              </a:rPr>
              <a:t>First, WordNet can be viewed as a graph.</a:t>
            </a:r>
          </a:p>
        </p:txBody>
      </p:sp>
      <p:sp>
        <p:nvSpPr>
          <p:cNvPr id="10" name="TextBox 9"/>
          <p:cNvSpPr txBox="1"/>
          <p:nvPr/>
        </p:nvSpPr>
        <p:spPr>
          <a:xfrm>
            <a:off x="720547" y="1900706"/>
            <a:ext cx="6278614" cy="216027"/>
          </a:xfrm>
          <a:prstGeom prst="rect">
            <a:avLst/>
          </a:prstGeom>
          <a:noFill/>
        </p:spPr>
        <p:txBody>
          <a:bodyPr wrap="square" lIns="0" rIns="0" tIns="0" bIns="0">
            <a:spAutoFit/>
          </a:bodyPr>
          <a:lstStyle/>
          <a:p>
            <a:r>
              <a:rPr sz="1350">
                <a:solidFill>
                  <a:srgbClr val="111111"/>
                </a:solidFill>
                <a:latin typeface="Inter"/>
              </a:rPr>
              <a:t>senses are nodes.</a:t>
            </a:r>
          </a:p>
        </p:txBody>
      </p:sp>
      <p:sp>
        <p:nvSpPr>
          <p:cNvPr id="11" name="TextBox 10"/>
          <p:cNvSpPr txBox="1"/>
          <p:nvPr/>
        </p:nvSpPr>
        <p:spPr>
          <a:xfrm>
            <a:off x="720547" y="2244749"/>
            <a:ext cx="6278614" cy="216027"/>
          </a:xfrm>
          <a:prstGeom prst="rect">
            <a:avLst/>
          </a:prstGeom>
          <a:noFill/>
        </p:spPr>
        <p:txBody>
          <a:bodyPr wrap="square" lIns="0" rIns="0" tIns="0" bIns="0">
            <a:spAutoFit/>
          </a:bodyPr>
          <a:lstStyle/>
          <a:p>
            <a:r>
              <a:rPr sz="1350">
                <a:solidFill>
                  <a:srgbClr val="111111"/>
                </a:solidFill>
                <a:latin typeface="Inter"/>
              </a:rPr>
              <a:t>relations (hypernymy, meronymy) are edges.</a:t>
            </a:r>
          </a:p>
        </p:txBody>
      </p:sp>
      <p:sp>
        <p:nvSpPr>
          <p:cNvPr id="12" name="TextBox 11"/>
          <p:cNvSpPr txBox="1"/>
          <p:nvPr/>
        </p:nvSpPr>
        <p:spPr>
          <a:xfrm>
            <a:off x="720547" y="2588792"/>
            <a:ext cx="6278614" cy="216027"/>
          </a:xfrm>
          <a:prstGeom prst="rect">
            <a:avLst/>
          </a:prstGeom>
          <a:noFill/>
        </p:spPr>
        <p:txBody>
          <a:bodyPr wrap="square" lIns="0" rIns="0" tIns="0" bIns="0">
            <a:spAutoFit/>
          </a:bodyPr>
          <a:lstStyle/>
          <a:p>
            <a:r>
              <a:rPr sz="840" b="1">
                <a:solidFill>
                  <a:srgbClr val="0F766E"/>
                </a:solidFill>
                <a:latin typeface="Bebas Neue"/>
              </a:rPr>
              <a:t>ALSO   </a:t>
            </a:r>
            <a:r>
              <a:rPr sz="1350" b="1">
                <a:solidFill>
                  <a:srgbClr val="0F766E"/>
                </a:solidFill>
                <a:latin typeface="Bebas Neue"/>
              </a:rPr>
              <a:t>Also</a:t>
            </a:r>
            <a:r>
              <a:rPr sz="1350">
                <a:solidFill>
                  <a:srgbClr val="111111"/>
                </a:solidFill>
                <a:latin typeface="Inter"/>
              </a:rPr>
              <a:t> add edge between word and unambiguous gloss words.</a:t>
            </a:r>
          </a:p>
        </p:txBody>
      </p:sp>
      <p:sp>
        <p:nvSpPr>
          <p:cNvPr id="13" name="TextBox 12"/>
          <p:cNvSpPr txBox="1"/>
          <p:nvPr/>
        </p:nvSpPr>
        <p:spPr>
          <a:xfrm>
            <a:off x="994867" y="2932835"/>
            <a:ext cx="6004294" cy="432054"/>
          </a:xfrm>
          <a:prstGeom prst="rect">
            <a:avLst/>
          </a:prstGeom>
          <a:noFill/>
        </p:spPr>
        <p:txBody>
          <a:bodyPr wrap="square" lIns="0" rIns="0" tIns="0" bIns="0">
            <a:spAutoFit/>
          </a:bodyPr>
          <a:lstStyle/>
          <a:p>
            <a:r>
              <a:rPr sz="840" b="1">
                <a:solidFill>
                  <a:srgbClr val="0F766E"/>
                </a:solidFill>
                <a:latin typeface="Bebas Neue"/>
              </a:rPr>
              <a:t>E.G.   </a:t>
            </a:r>
            <a:r>
              <a:rPr sz="1350">
                <a:solidFill>
                  <a:srgbClr val="111111"/>
                </a:solidFill>
                <a:latin typeface="Inter"/>
              </a:rPr>
              <a:t>WordNet can be modeled as a graph where each node is a sense and edges encode semantic relations </a:t>
            </a:r>
            <a:r>
              <a:rPr sz="1350" b="1">
                <a:solidFill>
                  <a:srgbClr val="0F766E"/>
                </a:solidFill>
                <a:latin typeface="Bebas Neue"/>
              </a:rPr>
              <a:t>such as</a:t>
            </a:r>
            <a:r>
              <a:rPr sz="1350">
                <a:solidFill>
                  <a:srgbClr val="111111"/>
                </a:solidFill>
                <a:latin typeface="Inter"/>
              </a:rPr>
              <a:t> hypernymy and meronymy.</a:t>
            </a:r>
          </a:p>
        </p:txBody>
      </p:sp>
      <p:sp>
        <p:nvSpPr>
          <p:cNvPr id="14" name="TextBox 13"/>
          <p:cNvSpPr txBox="1"/>
          <p:nvPr/>
        </p:nvSpPr>
        <p:spPr>
          <a:xfrm>
            <a:off x="720547" y="3492905"/>
            <a:ext cx="6278614" cy="432054"/>
          </a:xfrm>
          <a:prstGeom prst="rect">
            <a:avLst/>
          </a:prstGeom>
          <a:noFill/>
        </p:spPr>
        <p:txBody>
          <a:bodyPr wrap="square" lIns="0" rIns="0" tIns="0" bIns="0">
            <a:spAutoFit/>
          </a:bodyPr>
          <a:lstStyle/>
          <a:p>
            <a:r>
              <a:rPr sz="1350">
                <a:solidFill>
                  <a:srgbClr val="111111"/>
                </a:solidFill>
                <a:latin typeface="Inter"/>
              </a:rPr>
              <a:t>Additional edges connect a word to unambiguous gloss words, linking senses to concrete terms.</a:t>
            </a:r>
          </a:p>
        </p:txBody>
      </p:sp>
      <p:sp>
        <p:nvSpPr>
          <p:cNvPr id="15" name="TextBox 14"/>
          <p:cNvSpPr txBox="1"/>
          <p:nvPr/>
        </p:nvSpPr>
        <p:spPr>
          <a:xfrm>
            <a:off x="994867" y="4052975"/>
            <a:ext cx="6004294" cy="432054"/>
          </a:xfrm>
          <a:prstGeom prst="rect">
            <a:avLst/>
          </a:prstGeom>
          <a:noFill/>
        </p:spPr>
        <p:txBody>
          <a:bodyPr wrap="square" lIns="0" rIns="0" tIns="0" bIns="0">
            <a:spAutoFit/>
          </a:bodyPr>
          <a:lstStyle/>
          <a:p>
            <a:r>
              <a:rPr sz="1350">
                <a:solidFill>
                  <a:srgbClr val="111111"/>
                </a:solidFill>
                <a:latin typeface="Inter"/>
              </a:rPr>
              <a:t>This structure allows algorithms to traverse and analyze semantic relationships.</a:t>
            </a:r>
          </a:p>
        </p:txBody>
      </p:sp>
      <p:sp>
        <p:nvSpPr>
          <p:cNvPr id="16" name="TextBox 15"/>
          <p:cNvSpPr txBox="1"/>
          <p:nvPr/>
        </p:nvSpPr>
        <p:spPr>
          <a:xfrm>
            <a:off x="720547" y="4613045"/>
            <a:ext cx="6278614" cy="432054"/>
          </a:xfrm>
          <a:prstGeom prst="rect">
            <a:avLst/>
          </a:prstGeom>
          <a:noFill/>
        </p:spPr>
        <p:txBody>
          <a:bodyPr wrap="square" lIns="0" rIns="0" tIns="0" bIns="0">
            <a:spAutoFit/>
          </a:bodyPr>
          <a:lstStyle/>
          <a:p>
            <a:r>
              <a:rPr sz="1350">
                <a:solidFill>
                  <a:srgbClr val="111111"/>
                </a:solidFill>
                <a:latin typeface="Inter"/>
              </a:rPr>
              <a:t>Example: The sense of "drink" is connected to the gloss word "consume" through a direct edge.</a:t>
            </a:r>
          </a:p>
        </p:txBody>
      </p:sp>
      <p:sp>
        <p:nvSpPr>
          <p:cNvPr id="17" name="Rounded Rectangle 1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hypernymy — A 'is-a' relationship where one concept is a more general category of another.  ·  meronymy — A part-whole relationship between two concepts.</a:t>
            </a:r>
          </a:p>
        </p:txBody>
      </p:sp>
      <p:sp>
        <p:nvSpPr>
          <p:cNvPr id="18" name="Rectangle 1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Using the graph for WSD by inserting context and computing centrality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48 / 58</a:t>
            </a:r>
          </a:p>
        </p:txBody>
      </p:sp>
      <p:pic>
        <p:nvPicPr>
          <p:cNvPr id="7" name="Picture 6" descr="image.png"/>
          <p:cNvPicPr>
            <a:picLocks noChangeAspect="1"/>
          </p:cNvPicPr>
          <p:nvPr/>
        </p:nvPicPr>
        <p:blipFill>
          <a:blip r:embed="rId3"/>
          <a:stretch>
            <a:fillRect/>
          </a:stretch>
        </p:blipFill>
        <p:spPr>
          <a:xfrm>
            <a:off x="7672913" y="2431238"/>
            <a:ext cx="4058838" cy="1721203"/>
          </a:xfrm>
          <a:prstGeom prst="rect">
            <a:avLst/>
          </a:prstGeom>
        </p:spPr>
      </p:pic>
      <p:sp>
        <p:nvSpPr>
          <p:cNvPr id="8" name="Rounded Rectangle 7"/>
          <p:cNvSpPr/>
          <p:nvPr/>
        </p:nvSpPr>
        <p:spPr>
          <a:xfrm>
            <a:off x="457200" y="1298448"/>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2175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435137"/>
            <a:ext cx="340156" cy="340156"/>
          </a:xfrm>
          <a:prstGeom prst="rect">
            <a:avLst/>
          </a:prstGeom>
        </p:spPr>
      </p:pic>
      <p:sp>
        <p:nvSpPr>
          <p:cNvPr id="11" name="TextBox 10"/>
          <p:cNvSpPr txBox="1"/>
          <p:nvPr/>
        </p:nvSpPr>
        <p:spPr>
          <a:xfrm>
            <a:off x="1408175" y="1371600"/>
            <a:ext cx="2254544" cy="467231"/>
          </a:xfrm>
          <a:prstGeom prst="rect">
            <a:avLst/>
          </a:prstGeom>
          <a:noFill/>
        </p:spPr>
        <p:txBody>
          <a:bodyPr wrap="square" anchor="ctr" lIns="0" tIns="0" rIns="0" bIns="0">
            <a:spAutoFit/>
          </a:bodyPr>
          <a:lstStyle/>
          <a:p>
            <a:pPr algn="l"/>
            <a:r>
              <a:rPr sz="1100" b="0">
                <a:solidFill>
                  <a:srgbClr val="111111"/>
                </a:solidFill>
                <a:latin typeface="Inter"/>
              </a:rPr>
              <a:t>Insert target word and words in its sentential context into the</a:t>
            </a:r>
          </a:p>
        </p:txBody>
      </p:sp>
      <p:sp>
        <p:nvSpPr>
          <p:cNvPr id="12" name="Rounded Rectangle 11"/>
          <p:cNvSpPr/>
          <p:nvPr/>
        </p:nvSpPr>
        <p:spPr>
          <a:xfrm>
            <a:off x="4065056" y="1298448"/>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32175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435137"/>
            <a:ext cx="340156" cy="340156"/>
          </a:xfrm>
          <a:prstGeom prst="rect">
            <a:avLst/>
          </a:prstGeom>
        </p:spPr>
      </p:pic>
      <p:sp>
        <p:nvSpPr>
          <p:cNvPr id="15" name="TextBox 14"/>
          <p:cNvSpPr txBox="1"/>
          <p:nvPr/>
        </p:nvSpPr>
        <p:spPr>
          <a:xfrm>
            <a:off x="5016032" y="1371600"/>
            <a:ext cx="2254544" cy="467231"/>
          </a:xfrm>
          <a:prstGeom prst="rect">
            <a:avLst/>
          </a:prstGeom>
          <a:noFill/>
        </p:spPr>
        <p:txBody>
          <a:bodyPr wrap="square" anchor="ctr" lIns="0" tIns="0" rIns="0" bIns="0">
            <a:spAutoFit/>
          </a:bodyPr>
          <a:lstStyle/>
          <a:p>
            <a:pPr algn="l"/>
            <a:r>
              <a:rPr sz="1120" b="0">
                <a:solidFill>
                  <a:srgbClr val="111111"/>
                </a:solidFill>
                <a:latin typeface="Inter"/>
              </a:rPr>
              <a:t>graph, with directed edges to their senses</a:t>
            </a:r>
          </a:p>
        </p:txBody>
      </p:sp>
      <p:sp>
        <p:nvSpPr>
          <p:cNvPr id="16" name="Rounded Rectangle 15"/>
          <p:cNvSpPr/>
          <p:nvPr/>
        </p:nvSpPr>
        <p:spPr>
          <a:xfrm>
            <a:off x="457200" y="2113151"/>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3645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2249840"/>
            <a:ext cx="340156" cy="340156"/>
          </a:xfrm>
          <a:prstGeom prst="rect">
            <a:avLst/>
          </a:prstGeom>
        </p:spPr>
      </p:pic>
      <p:sp>
        <p:nvSpPr>
          <p:cNvPr id="19" name="TextBox 18"/>
          <p:cNvSpPr txBox="1"/>
          <p:nvPr/>
        </p:nvSpPr>
        <p:spPr>
          <a:xfrm>
            <a:off x="1408175" y="2186303"/>
            <a:ext cx="2254544" cy="467231"/>
          </a:xfrm>
          <a:prstGeom prst="rect">
            <a:avLst/>
          </a:prstGeom>
          <a:noFill/>
        </p:spPr>
        <p:txBody>
          <a:bodyPr wrap="square" anchor="ctr" lIns="0" tIns="0" rIns="0" bIns="0">
            <a:spAutoFit/>
          </a:bodyPr>
          <a:lstStyle/>
          <a:p>
            <a:pPr algn="l"/>
            <a:r>
              <a:rPr sz="1120" b="0">
                <a:solidFill>
                  <a:srgbClr val="111111"/>
                </a:solidFill>
                <a:latin typeface="Inter"/>
              </a:rPr>
              <a:t>“She drank some milk”</a:t>
            </a:r>
          </a:p>
        </p:txBody>
      </p:sp>
      <p:sp>
        <p:nvSpPr>
          <p:cNvPr id="20" name="Rounded Rectangle 19"/>
          <p:cNvSpPr/>
          <p:nvPr/>
        </p:nvSpPr>
        <p:spPr>
          <a:xfrm>
            <a:off x="4065056" y="2113151"/>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6224" y="2136455"/>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379610" y="2249840"/>
            <a:ext cx="340156" cy="340156"/>
          </a:xfrm>
          <a:prstGeom prst="rect">
            <a:avLst/>
          </a:prstGeom>
        </p:spPr>
      </p:pic>
      <p:sp>
        <p:nvSpPr>
          <p:cNvPr id="23" name="TextBox 22"/>
          <p:cNvSpPr txBox="1"/>
          <p:nvPr/>
        </p:nvSpPr>
        <p:spPr>
          <a:xfrm>
            <a:off x="5016032" y="2186303"/>
            <a:ext cx="2254544" cy="467231"/>
          </a:xfrm>
          <a:prstGeom prst="rect">
            <a:avLst/>
          </a:prstGeom>
          <a:noFill/>
        </p:spPr>
        <p:txBody>
          <a:bodyPr wrap="square" anchor="ctr" lIns="0" tIns="0" rIns="0" bIns="0">
            <a:spAutoFit/>
          </a:bodyPr>
          <a:lstStyle/>
          <a:p>
            <a:pPr algn="l"/>
            <a:r>
              <a:rPr sz="1120" b="0">
                <a:solidFill>
                  <a:srgbClr val="111111"/>
                </a:solidFill>
                <a:latin typeface="Inter"/>
              </a:rPr>
              <a:t>Now choose the</a:t>
            </a:r>
          </a:p>
        </p:txBody>
      </p:sp>
      <p:sp>
        <p:nvSpPr>
          <p:cNvPr id="24" name="Rounded Rectangle 23"/>
          <p:cNvSpPr/>
          <p:nvPr/>
        </p:nvSpPr>
        <p:spPr>
          <a:xfrm>
            <a:off x="457200" y="2927855"/>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2951158"/>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3064544"/>
            <a:ext cx="340156" cy="340156"/>
          </a:xfrm>
          <a:prstGeom prst="rect">
            <a:avLst/>
          </a:prstGeom>
        </p:spPr>
      </p:pic>
      <p:sp>
        <p:nvSpPr>
          <p:cNvPr id="27" name="TextBox 26"/>
          <p:cNvSpPr txBox="1"/>
          <p:nvPr/>
        </p:nvSpPr>
        <p:spPr>
          <a:xfrm>
            <a:off x="1408175" y="3001007"/>
            <a:ext cx="2254544" cy="467231"/>
          </a:xfrm>
          <a:prstGeom prst="rect">
            <a:avLst/>
          </a:prstGeom>
          <a:noFill/>
        </p:spPr>
        <p:txBody>
          <a:bodyPr wrap="square" anchor="ctr" lIns="0" tIns="0" rIns="0" bIns="0">
            <a:spAutoFit/>
          </a:bodyPr>
          <a:lstStyle/>
          <a:p>
            <a:pPr algn="l"/>
            <a:r>
              <a:rPr sz="1120" b="0">
                <a:solidFill>
                  <a:srgbClr val="111111"/>
                </a:solidFill>
                <a:latin typeface="Inter"/>
              </a:rPr>
              <a:t>most central sense</a:t>
            </a:r>
          </a:p>
        </p:txBody>
      </p:sp>
      <p:sp>
        <p:nvSpPr>
          <p:cNvPr id="28" name="Rounded Rectangle 27"/>
          <p:cNvSpPr/>
          <p:nvPr/>
        </p:nvSpPr>
        <p:spPr>
          <a:xfrm>
            <a:off x="4065056" y="2927855"/>
            <a:ext cx="3406688" cy="613535"/>
          </a:xfrm>
          <a:prstGeom prst="roundRect">
            <a:avLst>
              <a:gd name="adj" fmla="val 22951"/>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66224" y="2951158"/>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9"/>
          <a:stretch>
            <a:fillRect/>
          </a:stretch>
        </p:blipFill>
        <p:spPr>
          <a:xfrm>
            <a:off x="4379610" y="3064544"/>
            <a:ext cx="340156" cy="340156"/>
          </a:xfrm>
          <a:prstGeom prst="rect">
            <a:avLst/>
          </a:prstGeom>
        </p:spPr>
      </p:pic>
      <p:sp>
        <p:nvSpPr>
          <p:cNvPr id="31" name="TextBox 30"/>
          <p:cNvSpPr txBox="1"/>
          <p:nvPr/>
        </p:nvSpPr>
        <p:spPr>
          <a:xfrm>
            <a:off x="5016032" y="3001007"/>
            <a:ext cx="2254544" cy="467231"/>
          </a:xfrm>
          <a:prstGeom prst="rect">
            <a:avLst/>
          </a:prstGeom>
          <a:noFill/>
        </p:spPr>
        <p:txBody>
          <a:bodyPr wrap="square" anchor="ctr" lIns="0" tIns="0" rIns="0" bIns="0">
            <a:spAutoFit/>
          </a:bodyPr>
          <a:lstStyle/>
          <a:p>
            <a:pPr algn="l"/>
            <a:r>
              <a:rPr sz="1120" b="0">
                <a:solidFill>
                  <a:srgbClr val="111111"/>
                </a:solidFill>
                <a:latin typeface="Inter"/>
              </a:rPr>
              <a:t>Add some probability to</a:t>
            </a:r>
          </a:p>
        </p:txBody>
      </p:sp>
      <p:sp>
        <p:nvSpPr>
          <p:cNvPr id="32" name="Rounded Rectangle 31"/>
          <p:cNvSpPr/>
          <p:nvPr/>
        </p:nvSpPr>
        <p:spPr>
          <a:xfrm>
            <a:off x="457200" y="3742558"/>
            <a:ext cx="7014545" cy="154267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742558"/>
            <a:ext cx="73152" cy="154267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3815710"/>
            <a:ext cx="6619524" cy="1396369"/>
          </a:xfrm>
          <a:prstGeom prst="rect">
            <a:avLst/>
          </a:prstGeom>
          <a:noFill/>
        </p:spPr>
        <p:txBody>
          <a:bodyPr wrap="square" anchor="ctr" lIns="0" tIns="0" rIns="0" bIns="0">
            <a:spAutoFit/>
          </a:bodyPr>
          <a:lstStyle/>
          <a:p>
            <a:pPr algn="l"/>
            <a:r>
              <a:rPr sz="790" b="1">
                <a:solidFill>
                  <a:srgbClr val="AF222A"/>
                </a:solidFill>
                <a:latin typeface="Bebas Neue"/>
              </a:rPr>
              <a:t>IN PLAIN WORDS</a:t>
            </a:r>
          </a:p>
          <a:p>
            <a:pPr algn="l">
              <a:spcBef>
                <a:spcPts val="300"/>
              </a:spcBef>
            </a:pPr>
            <a:r>
              <a:rPr sz="1100" b="0">
                <a:solidFill>
                  <a:srgbClr val="111111"/>
                </a:solidFill>
                <a:latin typeface="Inter"/>
              </a:rPr>
              <a:t>To disambiguate a target word, its senses and the words from the sentence are added to the graph with directed edges to their senses. The algorithm then calculates a centrality score, such as PageRank, for each sense. The sense with the highest score is chosen as the most likely meaning. For example, in "She drank some milk", the sense of "drink" linked to "milk" receives the highest PageRank.</a:t>
            </a:r>
          </a:p>
          <a:p>
            <a:pPr algn="l">
              <a:spcBef>
                <a:spcPts val="300"/>
              </a:spcBef>
            </a:pPr>
            <a:r>
              <a:rPr sz="1100" b="0">
                <a:solidFill>
                  <a:srgbClr val="111111"/>
                </a:solidFill>
                <a:latin typeface="Inter"/>
              </a:rPr>
              <a:t>drinkv milkn drinkn beveragen</a:t>
            </a:r>
          </a:p>
        </p:txBody>
      </p:sp>
      <p:sp>
        <p:nvSpPr>
          <p:cNvPr id="35" name="Rounded Rectangle 34"/>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PageRank — A centrality measure that ranks nodes based on incoming link importance.</a:t>
            </a:r>
          </a:p>
        </p:txBody>
      </p:sp>
      <p:sp>
        <p:nvSpPr>
          <p:cNvPr id="36" name="Rectangle 35"/>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49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2711378"/>
            <a:ext cx="82296" cy="51169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674802"/>
            <a:ext cx="7087166" cy="529986"/>
          </a:xfrm>
          <a:prstGeom prst="rect">
            <a:avLst/>
          </a:prstGeom>
          <a:noFill/>
        </p:spPr>
        <p:txBody>
          <a:bodyPr wrap="square" anchor="t" lIns="0" tIns="0" rIns="0" bIns="0">
            <a:spAutoFit/>
          </a:bodyPr>
          <a:lstStyle/>
          <a:p>
            <a:pPr algn="l"/>
            <a:r>
              <a:rPr sz="3310" b="1">
                <a:solidFill>
                  <a:srgbClr val="AF222A"/>
                </a:solidFill>
                <a:latin typeface="Bebas Neue"/>
              </a:rPr>
              <a:t>Semi-Supervised.</a:t>
            </a:r>
          </a:p>
        </p:txBody>
      </p:sp>
      <p:sp>
        <p:nvSpPr>
          <p:cNvPr id="10" name="TextBox 9"/>
          <p:cNvSpPr txBox="1"/>
          <p:nvPr/>
        </p:nvSpPr>
        <p:spPr>
          <a:xfrm>
            <a:off x="720547" y="3396813"/>
            <a:ext cx="7087166" cy="384048"/>
          </a:xfrm>
          <a:prstGeom prst="rect">
            <a:avLst/>
          </a:prstGeom>
          <a:noFill/>
        </p:spPr>
        <p:txBody>
          <a:bodyPr wrap="square" lIns="0" rIns="0" tIns="0" bIns="0">
            <a:spAutoFit/>
          </a:bodyPr>
          <a:lstStyle/>
          <a:p>
            <a:r>
              <a:rPr sz="2400">
                <a:solidFill>
                  <a:srgbClr val="111111"/>
                </a:solidFill>
                <a:latin typeface="Bebas Neue"/>
              </a:rPr>
              <a:t>Learning.</a:t>
            </a:r>
          </a:p>
        </p:txBody>
      </p:sp>
      <p:sp>
        <p:nvSpPr>
          <p:cNvPr id="11" name="Rounded Rectangle 10"/>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Also in this lecture:  </a:t>
            </a:r>
            <a:r>
              <a:rPr sz="1600" b="1">
                <a:solidFill>
                  <a:srgbClr val="111111"/>
                </a:solidFill>
                <a:latin typeface="Bebas Neue"/>
              </a:rPr>
              <a:t>For bass Rely on “One sense per collocation” rule A word reoccurring in collocation with the same word will almost surely have the same sense.</a:t>
            </a:r>
          </a:p>
        </p:txBody>
      </p:sp>
      <p:sp>
        <p:nvSpPr>
          <p:cNvPr id="12" name="Rectangle 11"/>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10</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50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 centrality measure that ranks nodes based on incoming link importance.”?</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training set</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Human inter-annotator agreement</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bag-of-words feature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PageRank</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PageRank: A centrality measure that ranks nodes based on incoming link importance.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500" b="1">
                <a:solidFill>
                  <a:srgbClr val="FFFFFF"/>
                </a:solidFill>
              </a:defRPr>
            </a:pPr>
            <a:r>
              <a:rPr>
                <a:latin typeface="Bebas Neue"/>
              </a:rPr>
              <a:t>Semi-supervised learning bootstraps WSD from a small seed set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51 / 58</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276486"/>
          </a:xfrm>
          <a:prstGeom prst="roundRect">
            <a:avLst>
              <a:gd name="adj" fmla="val 61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160918"/>
          </a:xfrm>
          <a:prstGeom prst="rect">
            <a:avLst/>
          </a:prstGeom>
          <a:noFill/>
        </p:spPr>
        <p:txBody>
          <a:bodyPr wrap="square" anchor="t" lIns="0" tIns="0" rIns="0" bIns="0">
            <a:spAutoFit/>
          </a:bodyPr>
          <a:lstStyle/>
          <a:p>
            <a:pPr algn="l"/>
            <a:r>
              <a:rPr sz="1440" b="1">
                <a:solidFill>
                  <a:srgbClr val="AF222A"/>
                </a:solidFill>
                <a:latin typeface="Bebas Neue"/>
              </a:rPr>
              <a:t>Problem</a:t>
            </a:r>
          </a:p>
          <a:p>
            <a:pPr algn="l">
              <a:spcBef>
                <a:spcPts val="500"/>
              </a:spcBef>
            </a:pPr>
            <a:r>
              <a:rPr sz="1200" b="0">
                <a:solidFill>
                  <a:srgbClr val="111111"/>
                </a:solidFill>
                <a:latin typeface="Inter"/>
              </a:rPr>
              <a:t>supervised and dictionary-based approaches require large hand-built resources</a:t>
            </a:r>
          </a:p>
        </p:txBody>
      </p:sp>
      <p:sp>
        <p:nvSpPr>
          <p:cNvPr id="12" name="Rounded Rectangle 11"/>
          <p:cNvSpPr/>
          <p:nvPr/>
        </p:nvSpPr>
        <p:spPr>
          <a:xfrm>
            <a:off x="3152241" y="1298448"/>
            <a:ext cx="2493873" cy="2276486"/>
          </a:xfrm>
          <a:prstGeom prst="roundRect">
            <a:avLst>
              <a:gd name="adj" fmla="val 61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160918"/>
          </a:xfrm>
          <a:prstGeom prst="rect">
            <a:avLst/>
          </a:prstGeom>
          <a:noFill/>
        </p:spPr>
        <p:txBody>
          <a:bodyPr wrap="square" anchor="t" lIns="0" tIns="0" rIns="0" bIns="0">
            <a:spAutoFit/>
          </a:bodyPr>
          <a:lstStyle/>
          <a:p>
            <a:pPr algn="l"/>
            <a:r>
              <a:rPr sz="1440" b="1">
                <a:solidFill>
                  <a:srgbClr val="AF222A"/>
                </a:solidFill>
                <a:latin typeface="Bebas Neue"/>
              </a:rPr>
              <a:t>Solution</a:t>
            </a:r>
          </a:p>
          <a:p>
            <a:pPr algn="l">
              <a:spcBef>
                <a:spcPts val="500"/>
              </a:spcBef>
            </a:pPr>
            <a:r>
              <a:rPr sz="1200" b="0">
                <a:solidFill>
                  <a:srgbClr val="111111"/>
                </a:solidFill>
                <a:latin typeface="Inter"/>
              </a:rPr>
              <a:t>Bootstrapping</a:t>
            </a:r>
          </a:p>
        </p:txBody>
      </p:sp>
      <p:sp>
        <p:nvSpPr>
          <p:cNvPr id="16" name="Rounded Rectangle 15"/>
          <p:cNvSpPr/>
          <p:nvPr/>
        </p:nvSpPr>
        <p:spPr>
          <a:xfrm>
            <a:off x="5847283" y="1298448"/>
            <a:ext cx="2493873" cy="2276486"/>
          </a:xfrm>
          <a:prstGeom prst="roundRect">
            <a:avLst>
              <a:gd name="adj" fmla="val 618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160918"/>
          </a:xfrm>
          <a:prstGeom prst="rect">
            <a:avLst/>
          </a:prstGeom>
          <a:noFill/>
        </p:spPr>
        <p:txBody>
          <a:bodyPr wrap="square" anchor="t" lIns="0" tIns="0" rIns="0" bIns="0">
            <a:spAutoFit/>
          </a:bodyPr>
          <a:lstStyle/>
          <a:p>
            <a:pPr algn="l"/>
            <a:r>
              <a:rPr sz="1440" b="1">
                <a:solidFill>
                  <a:srgbClr val="AF222A"/>
                </a:solidFill>
                <a:latin typeface="Bebas Neue"/>
              </a:rPr>
              <a:t>Example</a:t>
            </a:r>
          </a:p>
          <a:p>
            <a:pPr algn="l">
              <a:spcBef>
                <a:spcPts val="500"/>
              </a:spcBef>
            </a:pPr>
            <a:r>
              <a:rPr sz="1200" b="0">
                <a:solidFill>
                  <a:srgbClr val="111111"/>
                </a:solidFill>
                <a:latin typeface="Inter"/>
              </a:rPr>
              <a:t>A seed set containing the sense of "bass" in music can be expanded to include other musical contexts</a:t>
            </a:r>
          </a:p>
        </p:txBody>
      </p:sp>
      <p:sp>
        <p:nvSpPr>
          <p:cNvPr id="20" name="Rounded Rectangle 19"/>
          <p:cNvSpPr/>
          <p:nvPr/>
        </p:nvSpPr>
        <p:spPr>
          <a:xfrm>
            <a:off x="457200" y="3776102"/>
            <a:ext cx="7883956" cy="1509129"/>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AF222A"/>
                </a:solidFill>
                <a:latin typeface="Bebas Neue"/>
              </a:rPr>
              <a:t>ALSO ON THIS SLIDE</a:t>
            </a:r>
          </a:p>
          <a:p>
            <a:pPr algn="l">
              <a:spcBef>
                <a:spcPts val="300"/>
              </a:spcBef>
            </a:pPr>
            <a:r>
              <a:rPr sz="1300" b="0">
                <a:solidFill>
                  <a:srgbClr val="111111"/>
                </a:solidFill>
                <a:latin typeface="Inter"/>
              </a:rPr>
              <a:t>What if you don’t have so much training data? Generalize from a very small hand-labeled seed-set. When large labeled corpora are unavailable, semi-supervised learning starts with a tiny hand-labeled seed set. The algorithm iteratively expands this set by applying rules and patterns, gradually improving its coverage without requiring extensive manual annotation.</a:t>
            </a:r>
          </a:p>
        </p:txBody>
      </p:sp>
      <p:sp>
        <p:nvSpPr>
          <p:cNvPr id="23" name="Rounded Rectangle 2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bootstrapping — A learning approach that builds larger datasets from a small initial labeled set.</a:t>
            </a:r>
          </a:p>
        </p:txBody>
      </p:sp>
      <p:sp>
        <p:nvSpPr>
          <p:cNvPr id="24" name="Rectangle 2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50" b="1">
                <a:solidFill>
                  <a:srgbClr val="FFFFFF"/>
                </a:solidFill>
              </a:defRPr>
            </a:pPr>
            <a:r>
              <a:rPr>
                <a:latin typeface="Bebas Neue"/>
              </a:rPr>
              <a:t>Bootstrapping relies on the one-sense-per-collocation rule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52 / 58</a:t>
            </a:r>
          </a:p>
        </p:txBody>
      </p:sp>
      <p:sp>
        <p:nvSpPr>
          <p:cNvPr id="7" name="Rounded Rectangle 6">
            <a:hlinkClick r:id="rId3"/>
          </p:cNvPr>
          <p:cNvSpPr/>
          <p:nvPr/>
        </p:nvSpPr>
        <p:spPr>
          <a:xfrm>
            <a:off x="2894076" y="6455664"/>
            <a:ext cx="6400800" cy="310896"/>
          </a:xfrm>
          <a:prstGeom prst="round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Bootstrapping relies on the one-sense-per-collocation rule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1149993"/>
          </a:xfrm>
          <a:prstGeom prst="roundRect">
            <a:avLst>
              <a:gd name="adj" fmla="val 1224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8998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703366"/>
            <a:ext cx="340156" cy="340156"/>
          </a:xfrm>
          <a:prstGeom prst="rect">
            <a:avLst/>
          </a:prstGeom>
        </p:spPr>
      </p:pic>
      <p:sp>
        <p:nvSpPr>
          <p:cNvPr id="12" name="TextBox 11"/>
          <p:cNvSpPr txBox="1"/>
          <p:nvPr/>
        </p:nvSpPr>
        <p:spPr>
          <a:xfrm>
            <a:off x="1408175" y="1371600"/>
            <a:ext cx="2689250" cy="1003689"/>
          </a:xfrm>
          <a:prstGeom prst="rect">
            <a:avLst/>
          </a:prstGeom>
          <a:noFill/>
        </p:spPr>
        <p:txBody>
          <a:bodyPr wrap="square" anchor="ctr" lIns="0" tIns="0" rIns="0" bIns="0">
            <a:spAutoFit/>
          </a:bodyPr>
          <a:lstStyle/>
          <a:p>
            <a:pPr algn="l"/>
            <a:r>
              <a:rPr sz="1440" b="1">
                <a:solidFill>
                  <a:srgbClr val="AF222A"/>
                </a:solidFill>
                <a:latin typeface="Bebas Neue"/>
              </a:rPr>
              <a:t>Bass</a:t>
            </a:r>
          </a:p>
          <a:p>
            <a:pPr algn="l">
              <a:spcBef>
                <a:spcPts val="500"/>
              </a:spcBef>
            </a:pPr>
            <a:r>
              <a:rPr sz="1200" b="0">
                <a:solidFill>
                  <a:srgbClr val="111111"/>
                </a:solidFill>
                <a:latin typeface="Inter"/>
              </a:rPr>
              <a:t>For bass</a:t>
            </a:r>
          </a:p>
        </p:txBody>
      </p:sp>
      <p:sp>
        <p:nvSpPr>
          <p:cNvPr id="13" name="Rounded Rectangle 12"/>
          <p:cNvSpPr/>
          <p:nvPr/>
        </p:nvSpPr>
        <p:spPr>
          <a:xfrm>
            <a:off x="4499762" y="1298448"/>
            <a:ext cx="3841394" cy="1149993"/>
          </a:xfrm>
          <a:prstGeom prst="roundRect">
            <a:avLst>
              <a:gd name="adj" fmla="val 1224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58998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703366"/>
            <a:ext cx="340156" cy="340156"/>
          </a:xfrm>
          <a:prstGeom prst="rect">
            <a:avLst/>
          </a:prstGeom>
        </p:spPr>
      </p:pic>
      <p:sp>
        <p:nvSpPr>
          <p:cNvPr id="16" name="TextBox 15"/>
          <p:cNvSpPr txBox="1"/>
          <p:nvPr/>
        </p:nvSpPr>
        <p:spPr>
          <a:xfrm>
            <a:off x="5450738" y="1371600"/>
            <a:ext cx="2689250" cy="1003689"/>
          </a:xfrm>
          <a:prstGeom prst="rect">
            <a:avLst/>
          </a:prstGeom>
          <a:noFill/>
        </p:spPr>
        <p:txBody>
          <a:bodyPr wrap="square" anchor="ctr" lIns="0" tIns="0" rIns="0" bIns="0">
            <a:spAutoFit/>
          </a:bodyPr>
          <a:lstStyle/>
          <a:p>
            <a:pPr algn="l"/>
            <a:r>
              <a:rPr sz="1440" b="1">
                <a:solidFill>
                  <a:srgbClr val="AF222A"/>
                </a:solidFill>
                <a:latin typeface="Bebas Neue"/>
              </a:rPr>
              <a:t>Rely on “One sense per collocation” rule</a:t>
            </a:r>
          </a:p>
        </p:txBody>
      </p:sp>
      <p:sp>
        <p:nvSpPr>
          <p:cNvPr id="17" name="Rounded Rectangle 16"/>
          <p:cNvSpPr/>
          <p:nvPr/>
        </p:nvSpPr>
        <p:spPr>
          <a:xfrm>
            <a:off x="457200" y="2649609"/>
            <a:ext cx="3841394" cy="1149993"/>
          </a:xfrm>
          <a:prstGeom prst="roundRect">
            <a:avLst>
              <a:gd name="adj" fmla="val 1224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94114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3054527"/>
            <a:ext cx="340156" cy="340156"/>
          </a:xfrm>
          <a:prstGeom prst="rect">
            <a:avLst/>
          </a:prstGeom>
        </p:spPr>
      </p:pic>
      <p:sp>
        <p:nvSpPr>
          <p:cNvPr id="20" name="TextBox 19"/>
          <p:cNvSpPr txBox="1"/>
          <p:nvPr/>
        </p:nvSpPr>
        <p:spPr>
          <a:xfrm>
            <a:off x="1408175" y="2722761"/>
            <a:ext cx="2689250" cy="1003689"/>
          </a:xfrm>
          <a:prstGeom prst="rect">
            <a:avLst/>
          </a:prstGeom>
          <a:noFill/>
        </p:spPr>
        <p:txBody>
          <a:bodyPr wrap="square" anchor="ctr" lIns="0" tIns="0" rIns="0" bIns="0">
            <a:spAutoFit/>
          </a:bodyPr>
          <a:lstStyle/>
          <a:p>
            <a:pPr algn="l"/>
            <a:r>
              <a:rPr sz="1440" b="1">
                <a:solidFill>
                  <a:srgbClr val="AF222A"/>
                </a:solidFill>
                <a:latin typeface="Bebas Neue"/>
              </a:rPr>
              <a:t>Word reoccurring</a:t>
            </a:r>
          </a:p>
          <a:p>
            <a:pPr algn="l">
              <a:spcBef>
                <a:spcPts val="500"/>
              </a:spcBef>
            </a:pPr>
            <a:r>
              <a:rPr sz="1200" b="0">
                <a:solidFill>
                  <a:srgbClr val="111111"/>
                </a:solidFill>
                <a:latin typeface="Inter"/>
              </a:rPr>
              <a:t>A word reoccurring in collocation with the same word will almost surely have the same sense</a:t>
            </a:r>
          </a:p>
        </p:txBody>
      </p:sp>
      <p:sp>
        <p:nvSpPr>
          <p:cNvPr id="21" name="Rounded Rectangle 20"/>
          <p:cNvSpPr/>
          <p:nvPr/>
        </p:nvSpPr>
        <p:spPr>
          <a:xfrm>
            <a:off x="4499762" y="2649609"/>
            <a:ext cx="3841394" cy="1149993"/>
          </a:xfrm>
          <a:prstGeom prst="roundRect">
            <a:avLst>
              <a:gd name="adj" fmla="val 12245"/>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00930" y="2941141"/>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4814315" y="3054527"/>
            <a:ext cx="340156" cy="340156"/>
          </a:xfrm>
          <a:prstGeom prst="rect">
            <a:avLst/>
          </a:prstGeom>
        </p:spPr>
      </p:pic>
      <p:sp>
        <p:nvSpPr>
          <p:cNvPr id="24" name="TextBox 23"/>
          <p:cNvSpPr txBox="1"/>
          <p:nvPr/>
        </p:nvSpPr>
        <p:spPr>
          <a:xfrm>
            <a:off x="5450738" y="2722761"/>
            <a:ext cx="2689250" cy="1003689"/>
          </a:xfrm>
          <a:prstGeom prst="rect">
            <a:avLst/>
          </a:prstGeom>
          <a:noFill/>
        </p:spPr>
        <p:txBody>
          <a:bodyPr wrap="square" anchor="ctr" lIns="0" tIns="0" rIns="0" bIns="0">
            <a:spAutoFit/>
          </a:bodyPr>
          <a:lstStyle/>
          <a:p>
            <a:pPr algn="l"/>
            <a:r>
              <a:rPr sz="1440" b="1">
                <a:solidFill>
                  <a:srgbClr val="AF222A"/>
                </a:solidFill>
                <a:latin typeface="Bebas Neue"/>
              </a:rPr>
              <a:t>Word play occurs</a:t>
            </a:r>
          </a:p>
          <a:p>
            <a:pPr algn="l">
              <a:spcBef>
                <a:spcPts val="500"/>
              </a:spcBef>
            </a:pPr>
            <a:r>
              <a:rPr sz="1200" b="0">
                <a:solidFill>
                  <a:srgbClr val="111111"/>
                </a:solidFill>
                <a:latin typeface="Inter"/>
              </a:rPr>
              <a:t>the word play occurs with the music sense of bass</a:t>
            </a:r>
          </a:p>
        </p:txBody>
      </p:sp>
      <p:sp>
        <p:nvSpPr>
          <p:cNvPr id="25" name="Rounded Rectangle 24"/>
          <p:cNvSpPr/>
          <p:nvPr/>
        </p:nvSpPr>
        <p:spPr>
          <a:xfrm>
            <a:off x="457200" y="4000770"/>
            <a:ext cx="7883956" cy="1284461"/>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000770"/>
            <a:ext cx="73152" cy="1284461"/>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1286" y="4073922"/>
            <a:ext cx="7488935" cy="1138157"/>
          </a:xfrm>
          <a:prstGeom prst="rect">
            <a:avLst/>
          </a:prstGeom>
          <a:noFill/>
        </p:spPr>
        <p:txBody>
          <a:bodyPr wrap="square" anchor="ctr" lIns="0" tIns="0" rIns="0" bIns="0">
            <a:spAutoFit/>
          </a:bodyPr>
          <a:lstStyle/>
          <a:p>
            <a:pPr algn="l"/>
            <a:r>
              <a:rPr sz="940" b="1">
                <a:solidFill>
                  <a:srgbClr val="AF222A"/>
                </a:solidFill>
                <a:latin typeface="Bebas Neue"/>
              </a:rPr>
              <a:t>IN PLAIN WORDS</a:t>
            </a:r>
          </a:p>
          <a:p>
            <a:pPr algn="l">
              <a:spcBef>
                <a:spcPts val="300"/>
              </a:spcBef>
            </a:pPr>
            <a:r>
              <a:rPr sz="1300" b="0">
                <a:solidFill>
                  <a:srgbClr val="111111"/>
                </a:solidFill>
                <a:latin typeface="Inter"/>
              </a:rPr>
              <a:t>The rule states that a word appearing in the same collocation with another word will almost always have the same sense. By identifying frequent collocations, the algorithm can assign senses to new occurrences with high confidence. For example, the word "bass" collocates with "music" to indicate the musical sense, not the fish sense.</a:t>
            </a:r>
          </a:p>
        </p:txBody>
      </p:sp>
      <p:sp>
        <p:nvSpPr>
          <p:cNvPr id="28" name="Rounded Rectangle 27"/>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collocation — A pair or group of words that frequently appear together.</a:t>
            </a:r>
          </a:p>
        </p:txBody>
      </p:sp>
      <p:sp>
        <p:nvSpPr>
          <p:cNvPr id="29" name="Rectangle 28"/>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par>
                                <p:cTn id="57" presetID="10" presetClass="entr" presetSubtype="0"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par>
                                <p:cTn id="71" presetID="10"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Sentences containing "fish" and "play" illustrate collocation-based sense assignment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53 / 58</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07027"/>
            <a:ext cx="82296" cy="87462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70451"/>
            <a:ext cx="6907734" cy="892911"/>
          </a:xfrm>
          <a:prstGeom prst="rect">
            <a:avLst/>
          </a:prstGeom>
          <a:noFill/>
        </p:spPr>
        <p:txBody>
          <a:bodyPr wrap="square" anchor="t" lIns="0" tIns="0" rIns="0" bIns="0">
            <a:spAutoFit/>
          </a:bodyPr>
          <a:lstStyle/>
          <a:p>
            <a:pPr algn="l"/>
            <a:r>
              <a:rPr sz="1860" b="1">
                <a:solidFill>
                  <a:srgbClr val="AF222A"/>
                </a:solidFill>
                <a:latin typeface="Bebas Neue"/>
              </a:rPr>
              <a:t>We need more good teachers – right now, there are only a half a dozen who can play the free bass with ease.</a:t>
            </a:r>
          </a:p>
        </p:txBody>
      </p:sp>
      <p:sp>
        <p:nvSpPr>
          <p:cNvPr id="10" name="TextBox 9"/>
          <p:cNvSpPr txBox="1"/>
          <p:nvPr/>
        </p:nvSpPr>
        <p:spPr>
          <a:xfrm>
            <a:off x="720547" y="2455387"/>
            <a:ext cx="6907734" cy="720090"/>
          </a:xfrm>
          <a:prstGeom prst="rect">
            <a:avLst/>
          </a:prstGeom>
          <a:noFill/>
        </p:spPr>
        <p:txBody>
          <a:bodyPr wrap="square" lIns="0" rIns="0" tIns="0" bIns="0">
            <a:spAutoFit/>
          </a:bodyPr>
          <a:lstStyle/>
          <a:p>
            <a:r>
              <a:rPr sz="1500">
                <a:solidFill>
                  <a:srgbClr val="111111"/>
                </a:solidFill>
                <a:latin typeface="Inter"/>
              </a:rPr>
              <a:t>An electric guitar and bass player stand off to one side, not really part of the scene, just as a sort of nod to gringo expectations perhaps.</a:t>
            </a:r>
          </a:p>
        </p:txBody>
      </p:sp>
      <p:sp>
        <p:nvSpPr>
          <p:cNvPr id="11" name="TextBox 10"/>
          <p:cNvSpPr txBox="1"/>
          <p:nvPr/>
        </p:nvSpPr>
        <p:spPr>
          <a:xfrm>
            <a:off x="720547" y="3303493"/>
            <a:ext cx="6907734" cy="480059"/>
          </a:xfrm>
          <a:prstGeom prst="rect">
            <a:avLst/>
          </a:prstGeom>
          <a:noFill/>
        </p:spPr>
        <p:txBody>
          <a:bodyPr wrap="square" lIns="0" rIns="0" tIns="0" bIns="0">
            <a:spAutoFit/>
          </a:bodyPr>
          <a:lstStyle/>
          <a:p>
            <a:r>
              <a:rPr sz="1500">
                <a:solidFill>
                  <a:srgbClr val="111111"/>
                </a:solidFill>
                <a:latin typeface="Inter"/>
              </a:rPr>
              <a:t>The researchers said the worms spend part of their life cycle in such ﬁsh as Paciﬁc salmon and striped bass and Paciﬁc rockﬁsh or snapper.</a:t>
            </a:r>
          </a:p>
        </p:txBody>
      </p:sp>
      <p:sp>
        <p:nvSpPr>
          <p:cNvPr id="12" name="TextBox 11"/>
          <p:cNvSpPr txBox="1"/>
          <p:nvPr/>
        </p:nvSpPr>
        <p:spPr>
          <a:xfrm>
            <a:off x="720547" y="3911569"/>
            <a:ext cx="6907734" cy="480059"/>
          </a:xfrm>
          <a:prstGeom prst="rect">
            <a:avLst/>
          </a:prstGeom>
          <a:noFill/>
        </p:spPr>
        <p:txBody>
          <a:bodyPr wrap="square" lIns="0" rIns="0" tIns="0" bIns="0">
            <a:spAutoFit/>
          </a:bodyPr>
          <a:lstStyle/>
          <a:p>
            <a:r>
              <a:rPr sz="1500">
                <a:solidFill>
                  <a:srgbClr val="111111"/>
                </a:solidFill>
                <a:latin typeface="Inter"/>
              </a:rPr>
              <a:t>And it all started when ﬁshermen decided the striped bass in Lake Mead were too skinny.</a:t>
            </a:r>
          </a:p>
        </p:txBody>
      </p:sp>
      <p:sp>
        <p:nvSpPr>
          <p:cNvPr id="13" name="Rounded Rectangle 12"/>
          <p:cNvSpPr/>
          <p:nvPr/>
        </p:nvSpPr>
        <p:spPr>
          <a:xfrm>
            <a:off x="457200" y="4792816"/>
            <a:ext cx="7691018" cy="160798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792816"/>
            <a:ext cx="73152" cy="160798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4865968"/>
            <a:ext cx="7295997" cy="146167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These sentences show how the word "fish" appears in contexts related to music and biology. By observing the collocated words, one can infer whether "fish" refers to the animal or the musical instrument. This demonstrates the practical application of the one-sense-per-collocation rule. For example, "The bass player played the fish" could be interpreted as a musical reference.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Generating seeds combines hand labeling with collocation and discourse rules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54 / 58</a:t>
            </a:r>
          </a:p>
        </p:txBody>
      </p:sp>
      <p:sp>
        <p:nvSpPr>
          <p:cNvPr id="8" name="Rounded Rectangle 7"/>
          <p:cNvSpPr/>
          <p:nvPr/>
        </p:nvSpPr>
        <p:spPr>
          <a:xfrm>
            <a:off x="457200"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097714"/>
          </a:xfrm>
          <a:prstGeom prst="rect">
            <a:avLst/>
          </a:prstGeom>
          <a:noFill/>
        </p:spPr>
        <p:txBody>
          <a:bodyPr wrap="square" anchor="t" lIns="0" tIns="0" rIns="0" bIns="0">
            <a:spAutoFit/>
          </a:bodyPr>
          <a:lstStyle/>
          <a:p>
            <a:pPr algn="l"/>
            <a:r>
              <a:rPr sz="2380" b="1">
                <a:solidFill>
                  <a:srgbClr val="AF222A"/>
                </a:solidFill>
                <a:latin typeface="Bebas Neue"/>
              </a:rPr>
              <a:t>1) Hand labeling 2) “One sense per collocation”</a:t>
            </a:r>
          </a:p>
          <a:p>
            <a:pPr algn="l" marL="256032" indent="-256032" lvl="0">
              <a:spcBef>
                <a:spcPts val="700"/>
              </a:spcBef>
              <a:buClr>
                <a:srgbClr val="52C7D0"/>
              </a:buClr>
              <a:buFont typeface="Arial"/>
              <a:buChar char="•"/>
            </a:pPr>
            <a:r>
              <a:rPr sz="1900" b="0">
                <a:solidFill>
                  <a:srgbClr val="111111"/>
                </a:solidFill>
                <a:latin typeface="Inter"/>
              </a:rPr>
              <a:t>A word reoccurring in collocation with the same word will almost surely have the same sense.</a:t>
            </a:r>
          </a:p>
        </p:txBody>
      </p:sp>
      <p:sp>
        <p:nvSpPr>
          <p:cNvPr id="11" name="Rounded Rectangle 10"/>
          <p:cNvSpPr/>
          <p:nvPr/>
        </p:nvSpPr>
        <p:spPr>
          <a:xfrm>
            <a:off x="6195059" y="1298448"/>
            <a:ext cx="5536692" cy="2419582"/>
          </a:xfrm>
          <a:prstGeom prst="roundRect">
            <a:avLst>
              <a:gd name="adj" fmla="val 5819"/>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097714"/>
          </a:xfrm>
          <a:prstGeom prst="rect">
            <a:avLst/>
          </a:prstGeom>
          <a:noFill/>
        </p:spPr>
        <p:txBody>
          <a:bodyPr wrap="square" anchor="t" lIns="0" tIns="0" rIns="0" bIns="0">
            <a:spAutoFit/>
          </a:bodyPr>
          <a:lstStyle/>
          <a:p>
            <a:pPr algn="l"/>
            <a:r>
              <a:rPr sz="2380" b="1">
                <a:solidFill>
                  <a:srgbClr val="AF222A"/>
                </a:solidFill>
                <a:latin typeface="Bebas Neue"/>
              </a:rPr>
              <a:t>3) “One sense per discourse”</a:t>
            </a:r>
          </a:p>
          <a:p>
            <a:pPr algn="l" marL="256032" indent="-256032" lvl="0">
              <a:spcBef>
                <a:spcPts val="700"/>
              </a:spcBef>
              <a:buClr>
                <a:srgbClr val="52C7D0"/>
              </a:buClr>
              <a:buFont typeface="Arial"/>
              <a:buChar char="•"/>
            </a:pPr>
            <a:r>
              <a:rPr sz="1900" b="0">
                <a:solidFill>
                  <a:srgbClr val="111111"/>
                </a:solidFill>
                <a:latin typeface="Inter"/>
              </a:rPr>
              <a:t>The sense of a word is highly consistent within a document -- Yarowsky (1995)</a:t>
            </a:r>
          </a:p>
          <a:p>
            <a:pPr algn="l" marL="256032" indent="-256032" lvl="0">
              <a:spcBef>
                <a:spcPts val="700"/>
              </a:spcBef>
              <a:buClr>
                <a:srgbClr val="52C7D0"/>
              </a:buClr>
              <a:buFont typeface="Arial"/>
              <a:buChar char="•"/>
            </a:pPr>
            <a:r>
              <a:rPr sz="1900" b="0">
                <a:solidFill>
                  <a:srgbClr val="111111"/>
                </a:solidFill>
                <a:latin typeface="Inter"/>
              </a:rPr>
              <a:t>(At least for non-function words, and especially topic-specific words)</a:t>
            </a:r>
          </a:p>
        </p:txBody>
      </p:sp>
      <p:sp>
        <p:nvSpPr>
          <p:cNvPr id="14" name="Rounded Rectangle 13"/>
          <p:cNvSpPr/>
          <p:nvPr/>
        </p:nvSpPr>
        <p:spPr>
          <a:xfrm>
            <a:off x="457200" y="3919198"/>
            <a:ext cx="11274552" cy="136603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19198"/>
            <a:ext cx="73152" cy="136603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AF222A"/>
                </a:solidFill>
                <a:latin typeface="Bebas Neue"/>
              </a:rPr>
              <a:t>IN PLAIN WORDS</a:t>
            </a:r>
          </a:p>
          <a:p>
            <a:pPr algn="l">
              <a:spcBef>
                <a:spcPts val="300"/>
              </a:spcBef>
            </a:pPr>
            <a:r>
              <a:rPr sz="1400" b="0">
                <a:solidFill>
                  <a:srgbClr val="111111"/>
                </a:solidFill>
                <a:latin typeface="Inter"/>
              </a:rPr>
              <a:t>Seed sets are created by manually labeling a few instances, then applying the one-sense-per-collocation rule and the one-sense-per-discourse rule. The latter assumes a word maintains the same sense throughout a document, especially for content words. These combined methods produce a robust initial dataset. For example, in a news article about fishing, all occurrences of "bass" are likely the fish sense.</a:t>
            </a:r>
          </a:p>
        </p:txBody>
      </p:sp>
      <p:sp>
        <p:nvSpPr>
          <p:cNvPr id="17" name="Rounded Rectangle 16"/>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one-sense-per-discourse — Assumption that a word keeps the same sense within a single document.</a:t>
            </a:r>
          </a:p>
        </p:txBody>
      </p:sp>
      <p:sp>
        <p:nvSpPr>
          <p:cNvPr id="18" name="Rectangle 17"/>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55 / 58</a:t>
            </a:r>
          </a:p>
        </p:txBody>
      </p:sp>
      <p:sp>
        <p:nvSpPr>
          <p:cNvPr id="7" name="Rounded Rectangle 6"/>
          <p:cNvSpPr/>
          <p:nvPr/>
        </p:nvSpPr>
        <p:spPr>
          <a:xfrm>
            <a:off x="457200" y="1298448"/>
            <a:ext cx="11274552" cy="1326611"/>
          </a:xfrm>
          <a:prstGeom prst="roundRect">
            <a:avLst>
              <a:gd name="adj" fmla="val 10614"/>
            </a:avLst>
          </a:prstGeom>
          <a:solidFill>
            <a:srgbClr val="F7E8E9"/>
          </a:solidFill>
          <a:ln w="12700">
            <a:solidFill>
              <a:srgbClr val="AF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F222A"/>
                </a:solidFill>
                <a:latin typeface="Bebas Neue"/>
              </a:rPr>
              <a:t>Which term matches this description: “Assumption that a word keeps the same sense within a single document.”?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classifier</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Class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one-sense-per-discourse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Gloss</a:t>
            </a:r>
          </a:p>
        </p:txBody>
      </p:sp>
      <p:sp>
        <p:nvSpPr>
          <p:cNvPr id="22" name="Rounded Rectangle 21"/>
          <p:cNvSpPr/>
          <p:nvPr/>
        </p:nvSpPr>
        <p:spPr>
          <a:xfrm>
            <a:off x="457200" y="5380329"/>
            <a:ext cx="11274552" cy="1020470"/>
          </a:xfrm>
          <a:prstGeom prst="roundRect">
            <a:avLst>
              <a:gd name="adj" fmla="val 12000"/>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one-sense-per-discourse: Assumption that a word keeps the same sense within a single document.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Yarowsky bootstrapping stages for the word "plant" illustrate iterative sense expansion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56 / 58</a:t>
            </a:r>
          </a:p>
        </p:txBody>
      </p:sp>
      <p:pic>
        <p:nvPicPr>
          <p:cNvPr id="7" name="Picture 6" descr="image.png"/>
          <p:cNvPicPr>
            <a:picLocks noChangeAspect="1"/>
          </p:cNvPicPr>
          <p:nvPr/>
        </p:nvPicPr>
        <p:blipFill>
          <a:blip r:embed="rId3"/>
          <a:stretch>
            <a:fillRect/>
          </a:stretch>
        </p:blipFill>
        <p:spPr>
          <a:xfrm>
            <a:off x="7672913" y="2430437"/>
            <a:ext cx="4058838" cy="1722804"/>
          </a:xfrm>
          <a:prstGeom prst="rect">
            <a:avLst/>
          </a:prstGeom>
        </p:spPr>
      </p:pic>
      <p:sp>
        <p:nvSpPr>
          <p:cNvPr id="8" name="Rounded Rectangle 7"/>
          <p:cNvSpPr/>
          <p:nvPr/>
        </p:nvSpPr>
        <p:spPr>
          <a:xfrm>
            <a:off x="457200" y="1298448"/>
            <a:ext cx="3406688" cy="2242942"/>
          </a:xfrm>
          <a:prstGeom prst="roundRect">
            <a:avLst>
              <a:gd name="adj" fmla="val 627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613001"/>
            <a:ext cx="340156" cy="340156"/>
          </a:xfrm>
          <a:prstGeom prst="rect">
            <a:avLst/>
          </a:prstGeom>
        </p:spPr>
      </p:pic>
      <p:sp>
        <p:nvSpPr>
          <p:cNvPr id="11" name="TextBox 10"/>
          <p:cNvSpPr txBox="1"/>
          <p:nvPr/>
        </p:nvSpPr>
        <p:spPr>
          <a:xfrm>
            <a:off x="658368" y="2176272"/>
            <a:ext cx="3004352" cy="1163950"/>
          </a:xfrm>
          <a:prstGeom prst="rect">
            <a:avLst/>
          </a:prstGeom>
          <a:noFill/>
        </p:spPr>
        <p:txBody>
          <a:bodyPr wrap="square" anchor="b" lIns="0" tIns="0" rIns="0" bIns="0">
            <a:spAutoFit/>
          </a:bodyPr>
          <a:lstStyle/>
          <a:p>
            <a:pPr algn="l"/>
            <a:r>
              <a:rPr sz="4100" b="1">
                <a:solidFill>
                  <a:srgbClr val="AF222A"/>
                </a:solidFill>
                <a:latin typeface="Bebas Neue"/>
              </a:rPr>
              <a:t>0</a:t>
            </a:r>
          </a:p>
          <a:p>
            <a:pPr algn="l">
              <a:spcBef>
                <a:spcPts val="200"/>
              </a:spcBef>
            </a:pPr>
            <a:r>
              <a:rPr sz="1390" b="1">
                <a:solidFill>
                  <a:srgbClr val="AF222A"/>
                </a:solidFill>
                <a:latin typeface="Bebas Neue"/>
              </a:rPr>
              <a:t>V</a:t>
            </a:r>
          </a:p>
          <a:p>
            <a:pPr algn="l">
              <a:spcBef>
                <a:spcPts val="400"/>
              </a:spcBef>
            </a:pPr>
            <a:r>
              <a:rPr sz="1230" b="0">
                <a:solidFill>
                  <a:srgbClr val="111111"/>
                </a:solidFill>
                <a:latin typeface="Inter"/>
              </a:rPr>
              <a:t>V0</a:t>
            </a:r>
          </a:p>
        </p:txBody>
      </p:sp>
      <p:sp>
        <p:nvSpPr>
          <p:cNvPr id="12" name="Rounded Rectangle 11"/>
          <p:cNvSpPr/>
          <p:nvPr/>
        </p:nvSpPr>
        <p:spPr>
          <a:xfrm>
            <a:off x="4065056" y="1298448"/>
            <a:ext cx="3406688" cy="2242942"/>
          </a:xfrm>
          <a:prstGeom prst="roundRect">
            <a:avLst>
              <a:gd name="adj" fmla="val 627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499616"/>
            <a:ext cx="566928" cy="566928"/>
          </a:xfrm>
          <a:prstGeom prst="ellipse">
            <a:avLst/>
          </a:prstGeom>
          <a:solidFill>
            <a:srgbClr val="C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613001"/>
            <a:ext cx="340156" cy="340156"/>
          </a:xfrm>
          <a:prstGeom prst="rect">
            <a:avLst/>
          </a:prstGeom>
        </p:spPr>
      </p:pic>
      <p:sp>
        <p:nvSpPr>
          <p:cNvPr id="15" name="TextBox 14"/>
          <p:cNvSpPr txBox="1"/>
          <p:nvPr/>
        </p:nvSpPr>
        <p:spPr>
          <a:xfrm>
            <a:off x="4266224" y="2176272"/>
            <a:ext cx="3004352" cy="1163950"/>
          </a:xfrm>
          <a:prstGeom prst="rect">
            <a:avLst/>
          </a:prstGeom>
          <a:noFill/>
        </p:spPr>
        <p:txBody>
          <a:bodyPr wrap="square" anchor="b" lIns="0" tIns="0" rIns="0" bIns="0">
            <a:spAutoFit/>
          </a:bodyPr>
          <a:lstStyle/>
          <a:p>
            <a:pPr algn="l"/>
            <a:r>
              <a:rPr sz="4100" b="1">
                <a:solidFill>
                  <a:srgbClr val="AF222A"/>
                </a:solidFill>
                <a:latin typeface="Bebas Neue"/>
              </a:rPr>
              <a:t>1</a:t>
            </a:r>
          </a:p>
          <a:p>
            <a:pPr algn="l">
              <a:spcBef>
                <a:spcPts val="200"/>
              </a:spcBef>
            </a:pPr>
            <a:r>
              <a:rPr sz="1390" b="1">
                <a:solidFill>
                  <a:srgbClr val="AF222A"/>
                </a:solidFill>
                <a:latin typeface="Bebas Neue"/>
              </a:rPr>
              <a:t>V</a:t>
            </a:r>
          </a:p>
          <a:p>
            <a:pPr algn="l">
              <a:spcBef>
                <a:spcPts val="400"/>
              </a:spcBef>
            </a:pPr>
            <a:r>
              <a:rPr sz="1230" b="0">
                <a:solidFill>
                  <a:srgbClr val="111111"/>
                </a:solidFill>
                <a:latin typeface="Inter"/>
              </a:rPr>
              <a:t>V1</a:t>
            </a:r>
          </a:p>
        </p:txBody>
      </p:sp>
      <p:sp>
        <p:nvSpPr>
          <p:cNvPr id="16" name="Rounded Rectangle 15"/>
          <p:cNvSpPr/>
          <p:nvPr/>
        </p:nvSpPr>
        <p:spPr>
          <a:xfrm>
            <a:off x="457200" y="3742558"/>
            <a:ext cx="7014545" cy="1542673"/>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2558"/>
            <a:ext cx="73152" cy="1542673"/>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15710"/>
            <a:ext cx="6619524" cy="1396369"/>
          </a:xfrm>
          <a:prstGeom prst="rect">
            <a:avLst/>
          </a:prstGeom>
          <a:noFill/>
        </p:spPr>
        <p:txBody>
          <a:bodyPr wrap="square" anchor="ctr" lIns="0" tIns="0" rIns="0" bIns="0">
            <a:spAutoFit/>
          </a:bodyPr>
          <a:lstStyle/>
          <a:p>
            <a:pPr algn="l"/>
            <a:r>
              <a:rPr sz="790" b="1">
                <a:solidFill>
                  <a:srgbClr val="AF222A"/>
                </a:solidFill>
                <a:latin typeface="Bebas Neue"/>
              </a:rPr>
              <a:t>IN PLAIN WORDS</a:t>
            </a:r>
          </a:p>
          <a:p>
            <a:pPr algn="l">
              <a:spcBef>
                <a:spcPts val="300"/>
              </a:spcBef>
            </a:pPr>
            <a:r>
              <a:rPr sz="1100" b="0">
                <a:solidFill>
                  <a:srgbClr val="111111"/>
                </a:solidFill>
                <a:latin typeface="Inter"/>
              </a:rPr>
              <a:t>The algorithm alternates between labeling new instances and updating sense assignments. Starting from a seed set, it expands by applying rules, then revises labels based on newly added data. This iterative process gradually builds a comprehensive sense inventory for the target word. For example, initially labeling "plant" as a living organism, then adding new contexts like "plant a seed".</a:t>
            </a:r>
          </a:p>
          <a:p>
            <a:pPr algn="l">
              <a:spcBef>
                <a:spcPts val="300"/>
              </a:spcBef>
            </a:pPr>
            <a:r>
              <a:rPr sz="1100" b="0">
                <a:solidFill>
                  <a:srgbClr val="111111"/>
                </a:solidFill>
                <a:latin typeface="Inter"/>
              </a:rPr>
              <a:t>ANIMAL EMPLOYEE</a:t>
            </a:r>
          </a:p>
        </p:txBody>
      </p:sp>
      <p:sp>
        <p:nvSpPr>
          <p:cNvPr id="19" name="Rounded Rectangle 18"/>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F222A"/>
                </a:solidFill>
                <a:latin typeface="Bebas Neue"/>
              </a:rPr>
              <a:t>Key takeaway:  </a:t>
            </a:r>
            <a:r>
              <a:rPr sz="1300" b="0">
                <a:solidFill>
                  <a:srgbClr val="111111"/>
                </a:solidFill>
                <a:latin typeface="Inter"/>
              </a:rPr>
              <a:t>Headline: 0 — v.</a:t>
            </a:r>
          </a:p>
          <a:p>
            <a:pPr algn="l"/>
            <a:r>
              <a:rPr b="1" sz="1300">
                <a:solidFill>
                  <a:srgbClr val="AF222A"/>
                </a:solidFill>
                <a:latin typeface="Bebas Neue"/>
              </a:rPr>
              <a:t>Key terms:  </a:t>
            </a:r>
            <a:r>
              <a:rPr sz="1300" b="0">
                <a:solidFill>
                  <a:srgbClr val="111111"/>
                </a:solidFill>
                <a:latin typeface="Inter"/>
              </a:rPr>
              <a:t>Yarowsky algorithm — A semi-supervised bootstrapping method for word sense disambiguation.</a:t>
            </a:r>
          </a:p>
        </p:txBody>
      </p:sp>
      <p:sp>
        <p:nvSpPr>
          <p:cNvPr id="20" name="Rectangle 19"/>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57 / 58</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115939"/>
          </a:xfrm>
          <a:prstGeom prst="roundRect">
            <a:avLst>
              <a:gd name="adj" fmla="val 1261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2953"/>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6339"/>
            <a:ext cx="340156" cy="340156"/>
          </a:xfrm>
          <a:prstGeom prst="rect">
            <a:avLst/>
          </a:prstGeom>
        </p:spPr>
      </p:pic>
      <p:sp>
        <p:nvSpPr>
          <p:cNvPr id="11" name="TextBox 10"/>
          <p:cNvSpPr txBox="1"/>
          <p:nvPr/>
        </p:nvSpPr>
        <p:spPr>
          <a:xfrm>
            <a:off x="1408175" y="1371600"/>
            <a:ext cx="2622804" cy="969635"/>
          </a:xfrm>
          <a:prstGeom prst="rect">
            <a:avLst/>
          </a:prstGeom>
          <a:noFill/>
        </p:spPr>
        <p:txBody>
          <a:bodyPr wrap="square" anchor="ctr" lIns="0" tIns="0" rIns="0" bIns="0">
            <a:spAutoFit/>
          </a:bodyPr>
          <a:lstStyle/>
          <a:p>
            <a:pPr algn="l"/>
            <a:r>
              <a:rPr sz="1500" b="1">
                <a:solidFill>
                  <a:srgbClr val="AF222A"/>
                </a:solidFill>
                <a:latin typeface="Bebas Neue"/>
              </a:rPr>
              <a:t>Word Sense Disambiguation</a:t>
            </a:r>
          </a:p>
          <a:p>
            <a:pPr algn="l">
              <a:spcBef>
                <a:spcPts val="500"/>
              </a:spcBef>
            </a:pPr>
            <a:r>
              <a:rPr sz="1250" b="0">
                <a:solidFill>
                  <a:srgbClr val="111111"/>
                </a:solidFill>
                <a:latin typeface="Inter"/>
              </a:rPr>
              <a:t>choosing correct sense in context</a:t>
            </a:r>
          </a:p>
        </p:txBody>
      </p:sp>
      <p:sp>
        <p:nvSpPr>
          <p:cNvPr id="12" name="Rounded Rectangle 11"/>
          <p:cNvSpPr/>
          <p:nvPr/>
        </p:nvSpPr>
        <p:spPr>
          <a:xfrm>
            <a:off x="4433315" y="1298448"/>
            <a:ext cx="3774947" cy="1115939"/>
          </a:xfrm>
          <a:prstGeom prst="roundRect">
            <a:avLst>
              <a:gd name="adj" fmla="val 1261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72953"/>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86339"/>
            <a:ext cx="340156" cy="340156"/>
          </a:xfrm>
          <a:prstGeom prst="rect">
            <a:avLst/>
          </a:prstGeom>
        </p:spPr>
      </p:pic>
      <p:sp>
        <p:nvSpPr>
          <p:cNvPr id="15" name="TextBox 14"/>
          <p:cNvSpPr txBox="1"/>
          <p:nvPr/>
        </p:nvSpPr>
        <p:spPr>
          <a:xfrm>
            <a:off x="5384291" y="1371600"/>
            <a:ext cx="2622804" cy="969635"/>
          </a:xfrm>
          <a:prstGeom prst="rect">
            <a:avLst/>
          </a:prstGeom>
          <a:noFill/>
        </p:spPr>
        <p:txBody>
          <a:bodyPr wrap="square" anchor="ctr" lIns="0" tIns="0" rIns="0" bIns="0">
            <a:spAutoFit/>
          </a:bodyPr>
          <a:lstStyle/>
          <a:p>
            <a:pPr algn="l"/>
            <a:r>
              <a:rPr sz="2060" b="1">
                <a:solidFill>
                  <a:srgbClr val="AF222A"/>
                </a:solidFill>
                <a:latin typeface="Bebas Neue"/>
              </a:rPr>
              <a:t>Applications</a:t>
            </a:r>
          </a:p>
          <a:p>
            <a:pPr algn="l">
              <a:spcBef>
                <a:spcPts val="500"/>
              </a:spcBef>
            </a:pPr>
            <a:r>
              <a:rPr sz="1710" b="0">
                <a:solidFill>
                  <a:srgbClr val="111111"/>
                </a:solidFill>
                <a:latin typeface="Inter"/>
              </a:rPr>
              <a:t>MT, QA, etc</a:t>
            </a:r>
          </a:p>
        </p:txBody>
      </p:sp>
      <p:sp>
        <p:nvSpPr>
          <p:cNvPr id="16" name="Rounded Rectangle 15"/>
          <p:cNvSpPr/>
          <p:nvPr/>
        </p:nvSpPr>
        <p:spPr>
          <a:xfrm>
            <a:off x="457200" y="2615555"/>
            <a:ext cx="7751064" cy="1115939"/>
          </a:xfrm>
          <a:prstGeom prst="roundRect">
            <a:avLst>
              <a:gd name="adj" fmla="val 12618"/>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9006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03446"/>
            <a:ext cx="340156" cy="340156"/>
          </a:xfrm>
          <a:prstGeom prst="rect">
            <a:avLst/>
          </a:prstGeom>
        </p:spPr>
      </p:pic>
      <p:sp>
        <p:nvSpPr>
          <p:cNvPr id="19" name="TextBox 18"/>
          <p:cNvSpPr txBox="1"/>
          <p:nvPr/>
        </p:nvSpPr>
        <p:spPr>
          <a:xfrm>
            <a:off x="1408175" y="2688707"/>
            <a:ext cx="6598919" cy="969635"/>
          </a:xfrm>
          <a:prstGeom prst="rect">
            <a:avLst/>
          </a:prstGeom>
          <a:noFill/>
        </p:spPr>
        <p:txBody>
          <a:bodyPr wrap="square" anchor="ctr" lIns="0" tIns="0" rIns="0" bIns="0">
            <a:spAutoFit/>
          </a:bodyPr>
          <a:lstStyle/>
          <a:p>
            <a:pPr algn="l"/>
            <a:r>
              <a:rPr sz="2060" b="1">
                <a:solidFill>
                  <a:srgbClr val="AF222A"/>
                </a:solidFill>
                <a:latin typeface="Bebas Neue"/>
              </a:rPr>
              <a:t>Supervised Machine Learning</a:t>
            </a:r>
          </a:p>
          <a:p>
            <a:pPr algn="l">
              <a:spcBef>
                <a:spcPts val="500"/>
              </a:spcBef>
            </a:pPr>
            <a:r>
              <a:rPr sz="1710" b="0">
                <a:solidFill>
                  <a:srgbClr val="111111"/>
                </a:solidFill>
                <a:latin typeface="Inter"/>
              </a:rPr>
              <a:t>Naive Bayes classifier</a:t>
            </a:r>
          </a:p>
        </p:txBody>
      </p:sp>
      <p:sp>
        <p:nvSpPr>
          <p:cNvPr id="20" name="Rounded Rectangle 19"/>
          <p:cNvSpPr/>
          <p:nvPr/>
        </p:nvSpPr>
        <p:spPr>
          <a:xfrm>
            <a:off x="457200" y="3932662"/>
            <a:ext cx="7751064" cy="1352569"/>
          </a:xfrm>
          <a:prstGeom prst="roundRect">
            <a:avLst>
              <a:gd name="adj" fmla="val 8000"/>
            </a:avLst>
          </a:prstGeom>
          <a:solidFill>
            <a:srgbClr val="F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32662"/>
            <a:ext cx="73152" cy="1352569"/>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005814"/>
            <a:ext cx="7356043" cy="1206265"/>
          </a:xfrm>
          <a:prstGeom prst="rect">
            <a:avLst/>
          </a:prstGeom>
          <a:noFill/>
        </p:spPr>
        <p:txBody>
          <a:bodyPr wrap="square" anchor="ctr" lIns="0" tIns="0" rIns="0" bIns="0">
            <a:spAutoFit/>
          </a:bodyPr>
          <a:lstStyle/>
          <a:p>
            <a:pPr algn="l"/>
            <a:r>
              <a:rPr sz="790" b="1">
                <a:solidFill>
                  <a:srgbClr val="AF222A"/>
                </a:solidFill>
                <a:latin typeface="Bebas Neue"/>
              </a:rPr>
              <a:t>IN PLAIN WORDS</a:t>
            </a:r>
          </a:p>
          <a:p>
            <a:pPr algn="l">
              <a:spcBef>
                <a:spcPts val="300"/>
              </a:spcBef>
            </a:pPr>
            <a:r>
              <a:rPr sz="1100" b="0">
                <a:solidFill>
                  <a:srgbClr val="111111"/>
                </a:solidFill>
                <a:latin typeface="Inter"/>
              </a:rPr>
              <a:t>WSD selects the correct sense of a word in context. Supervised methods use labeled data, dictionary-based methods rely on lexical resources, and semi-supervised methods start with a small seed set and expand it. Simple count-based algorithms can perform surprisingly well. For example, a Naive Bayes classifier can disambiguate "bank" as financial or riverbank using word counts.</a:t>
            </a:r>
          </a:p>
          <a:p>
            <a:pPr algn="l">
              <a:spcBef>
                <a:spcPts val="300"/>
              </a:spcBef>
            </a:pPr>
            <a:r>
              <a:rPr sz="1100" b="0">
                <a:solidFill>
                  <a:srgbClr val="111111"/>
                </a:solidFill>
                <a:latin typeface="Inter"/>
              </a:rPr>
              <a:t>Three classes of Methods Thesaurus/Dictionary Methods Semi-Supervised Learning Main intuition</a:t>
            </a:r>
          </a:p>
        </p:txBody>
      </p:sp>
      <p:sp>
        <p:nvSpPr>
          <p:cNvPr id="23" name="Rounded Rectangle 22"/>
          <p:cNvSpPr/>
          <p:nvPr/>
        </p:nvSpPr>
        <p:spPr>
          <a:xfrm>
            <a:off x="457200" y="5486400"/>
            <a:ext cx="11274552" cy="914400"/>
          </a:xfrm>
          <a:prstGeom prst="roundRect">
            <a:avLst>
              <a:gd name="adj" fmla="val 20000"/>
            </a:avLst>
          </a:prstGeom>
          <a:solidFill>
            <a:srgbClr val="D8F2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F222A"/>
                </a:solidFill>
                <a:latin typeface="Bebas Neue"/>
              </a:rPr>
              <a:t>Key terms:  </a:t>
            </a:r>
            <a:r>
              <a:rPr sz="1600" b="1">
                <a:solidFill>
                  <a:srgbClr val="111111"/>
                </a:solidFill>
                <a:latin typeface="Bebas Neue"/>
              </a:rPr>
              <a:t>Naive Bayes classifier — A probabilistic model that predicts sense based on word frequency.</a:t>
            </a:r>
          </a:p>
        </p:txBody>
      </p:sp>
      <p:sp>
        <p:nvSpPr>
          <p:cNvPr id="24" name="Rectangle 23"/>
          <p:cNvSpPr/>
          <p:nvPr/>
        </p:nvSpPr>
        <p:spPr>
          <a:xfrm>
            <a:off x="457200" y="5614416"/>
            <a:ext cx="82296" cy="658368"/>
          </a:xfrm>
          <a:prstGeom prst="rect">
            <a:avLst/>
          </a:prstGeom>
          <a:solidFill>
            <a:srgbClr val="52C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F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52C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58 / 58</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124712"/>
          </a:xfrm>
          <a:prstGeom prst="roundRect">
            <a:avLst>
              <a:gd name="adj" fmla="val 1252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725"/>
            <a:ext cx="340156" cy="340156"/>
          </a:xfrm>
          <a:prstGeom prst="rect">
            <a:avLst/>
          </a:prstGeom>
        </p:spPr>
      </p:pic>
      <p:sp>
        <p:nvSpPr>
          <p:cNvPr id="11" name="TextBox 10"/>
          <p:cNvSpPr txBox="1"/>
          <p:nvPr/>
        </p:nvSpPr>
        <p:spPr>
          <a:xfrm>
            <a:off x="1408175" y="1371600"/>
            <a:ext cx="6538874" cy="978408"/>
          </a:xfrm>
          <a:prstGeom prst="rect">
            <a:avLst/>
          </a:prstGeom>
          <a:noFill/>
        </p:spPr>
        <p:txBody>
          <a:bodyPr wrap="square" anchor="ctr" lIns="0" tIns="0" rIns="0" bIns="0">
            <a:spAutoFit/>
          </a:bodyPr>
          <a:lstStyle/>
          <a:p>
            <a:pPr algn="l"/>
            <a:r>
              <a:rPr sz="1750" b="0">
                <a:solidFill>
                  <a:srgbClr val="111111"/>
                </a:solidFill>
                <a:latin typeface="Inter"/>
              </a:rPr>
              <a:t>Word Sense Disambiguation (WSD): Given</a:t>
            </a:r>
          </a:p>
        </p:txBody>
      </p:sp>
      <p:sp>
        <p:nvSpPr>
          <p:cNvPr id="12" name="Rounded Rectangle 11"/>
          <p:cNvSpPr/>
          <p:nvPr/>
        </p:nvSpPr>
        <p:spPr>
          <a:xfrm>
            <a:off x="457200" y="2624328"/>
            <a:ext cx="7691018" cy="1124712"/>
          </a:xfrm>
          <a:prstGeom prst="roundRect">
            <a:avLst>
              <a:gd name="adj" fmla="val 1252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16605"/>
            <a:ext cx="340156" cy="340156"/>
          </a:xfrm>
          <a:prstGeom prst="rect">
            <a:avLst/>
          </a:prstGeom>
        </p:spPr>
      </p:pic>
      <p:sp>
        <p:nvSpPr>
          <p:cNvPr id="15" name="TextBox 14"/>
          <p:cNvSpPr txBox="1"/>
          <p:nvPr/>
        </p:nvSpPr>
        <p:spPr>
          <a:xfrm>
            <a:off x="1408175" y="2697480"/>
            <a:ext cx="6538874" cy="978408"/>
          </a:xfrm>
          <a:prstGeom prst="rect">
            <a:avLst/>
          </a:prstGeom>
          <a:noFill/>
        </p:spPr>
        <p:txBody>
          <a:bodyPr wrap="square" anchor="ctr" lIns="0" tIns="0" rIns="0" bIns="0">
            <a:spAutoFit/>
          </a:bodyPr>
          <a:lstStyle/>
          <a:p>
            <a:pPr algn="l"/>
            <a:r>
              <a:rPr sz="1750" b="0">
                <a:solidFill>
                  <a:srgbClr val="111111"/>
                </a:solidFill>
                <a:latin typeface="Inter"/>
              </a:rPr>
              <a:t>8 senses of “bass” in WordNet: 1. bass -- (the lowest part of the musical range) 2</a:t>
            </a:r>
          </a:p>
        </p:txBody>
      </p:sp>
      <p:sp>
        <p:nvSpPr>
          <p:cNvPr id="16" name="Rounded Rectangle 15"/>
          <p:cNvSpPr/>
          <p:nvPr/>
        </p:nvSpPr>
        <p:spPr>
          <a:xfrm>
            <a:off x="457200" y="3950208"/>
            <a:ext cx="7691018" cy="1124712"/>
          </a:xfrm>
          <a:prstGeom prst="roundRect">
            <a:avLst>
              <a:gd name="adj" fmla="val 1252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342485"/>
            <a:ext cx="340156" cy="340156"/>
          </a:xfrm>
          <a:prstGeom prst="rect">
            <a:avLst/>
          </a:prstGeom>
        </p:spPr>
      </p:pic>
      <p:sp>
        <p:nvSpPr>
          <p:cNvPr id="19" name="TextBox 18"/>
          <p:cNvSpPr txBox="1"/>
          <p:nvPr/>
        </p:nvSpPr>
        <p:spPr>
          <a:xfrm>
            <a:off x="1408175" y="4023360"/>
            <a:ext cx="6538874" cy="978408"/>
          </a:xfrm>
          <a:prstGeom prst="rect">
            <a:avLst/>
          </a:prstGeom>
          <a:noFill/>
        </p:spPr>
        <p:txBody>
          <a:bodyPr wrap="square" anchor="ctr" lIns="0" tIns="0" rIns="0" bIns="0">
            <a:spAutoFit/>
          </a:bodyPr>
          <a:lstStyle/>
          <a:p>
            <a:pPr algn="l"/>
            <a:r>
              <a:rPr sz="1750" b="0">
                <a:solidFill>
                  <a:srgbClr val="111111"/>
                </a:solidFill>
                <a:latin typeface="Inter"/>
              </a:rPr>
              <a:t>Two kinds of features in the vectors: Collocational features and bag-of-words features</a:t>
            </a:r>
          </a:p>
        </p:txBody>
      </p:sp>
      <p:sp>
        <p:nvSpPr>
          <p:cNvPr id="20" name="Rounded Rectangle 19"/>
          <p:cNvSpPr/>
          <p:nvPr/>
        </p:nvSpPr>
        <p:spPr>
          <a:xfrm>
            <a:off x="457200" y="5276088"/>
            <a:ext cx="7691018" cy="1124712"/>
          </a:xfrm>
          <a:prstGeom prst="roundRect">
            <a:avLst>
              <a:gd name="adj" fmla="val 12520"/>
            </a:avLst>
          </a:prstGeom>
          <a:solidFill>
            <a:srgbClr val="F5F6F8"/>
          </a:solidFill>
          <a:ln w="12700">
            <a:solidFill>
              <a:srgbClr val="E8C1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F3E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5668365"/>
            <a:ext cx="340156" cy="340156"/>
          </a:xfrm>
          <a:prstGeom prst="rect">
            <a:avLst/>
          </a:prstGeom>
        </p:spPr>
      </p:pic>
      <p:sp>
        <p:nvSpPr>
          <p:cNvPr id="23" name="TextBox 22"/>
          <p:cNvSpPr txBox="1"/>
          <p:nvPr/>
        </p:nvSpPr>
        <p:spPr>
          <a:xfrm>
            <a:off x="1408175" y="5349240"/>
            <a:ext cx="6538874" cy="978408"/>
          </a:xfrm>
          <a:prstGeom prst="rect">
            <a:avLst/>
          </a:prstGeom>
          <a:noFill/>
        </p:spPr>
        <p:txBody>
          <a:bodyPr wrap="square" anchor="ctr" lIns="0" tIns="0" rIns="0" bIns="0">
            <a:spAutoFit/>
          </a:bodyPr>
          <a:lstStyle/>
          <a:p>
            <a:pPr algn="l"/>
            <a:r>
              <a:rPr sz="2100" b="1">
                <a:solidFill>
                  <a:srgbClr val="AF222A"/>
                </a:solidFill>
                <a:latin typeface="Bebas Neue"/>
              </a:rPr>
              <a:t>Simplified Lesk algorithm:</a:t>
            </a:r>
          </a:p>
          <a:p>
            <a:pPr algn="l">
              <a:spcBef>
                <a:spcPts val="500"/>
              </a:spcBef>
            </a:pPr>
            <a:r>
              <a:rPr sz="1750" b="0">
                <a:solidFill>
                  <a:srgbClr val="111111"/>
                </a:solidFill>
                <a:latin typeface="Inter"/>
              </a:rPr>
              <a:t>The Simplified Lesk algorithm: Choose sense with most word overlap between gloss and context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AF222A"/>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63C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C35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FFFF"/>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