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Linear Regression</a:t>
            </a:r>
          </a:p>
          <a:p>
            <a:r>
              <a:t>  2. Gradient Descent</a:t>
            </a:r>
          </a:p>
          <a:p>
            <a:r>
              <a:t>  3. Lasso and Ridge Regression</a:t>
            </a:r>
          </a:p>
          <a:p>
            <a:r>
              <a:t>  4. Polynomial Regression</a:t>
            </a:r>
          </a:p>
          <a:p>
            <a:r>
              <a:t>  5. Logistic Regression</a:t>
            </a:r>
          </a:p>
          <a:p>
            <a:r>
              <a:t>  6. Maximum Likelihood Function</a:t>
            </a:r>
          </a:p>
          <a:p/>
          <a:p>
            <a:r>
              <a:t>Say what these mean, in your own words:</a:t>
            </a:r>
          </a:p>
          <a:p>
            <a:r>
              <a:t>  - Regression: supervised machine learning technique which is used to predict continuous values</a:t>
            </a:r>
          </a:p>
          <a:p/>
          <a:p>
            <a:r>
              <a:t>Pause: ask the class what they already know about “The syllabus outlines key supervised learning techniques and their mathematical foundations” before revealing the slide.</a:t>
            </a:r>
          </a:p>
          <a:p/>
          <a:p>
            <a:r>
              <a:t>~54s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these mean, in your own words:</a:t>
            </a:r>
          </a:p>
          <a:p>
            <a:r>
              <a:t>  - dependent variable: the outcome we aim to predict in regression analysis</a:t>
            </a:r>
          </a:p>
          <a:p>
            <a:r>
              <a:t>  - independent variable: the predictor or feature used to estimate the dependent variable</a:t>
            </a:r>
          </a:p>
          <a:p/>
          <a:p>
            <a:r>
              <a:t>Pause: ask the class what they already know about “Regression”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Which of the following is a regression task?ch of the following is a regression task?</a:t>
            </a:r>
          </a:p>
          <a:p>
            <a:r>
              <a:t>  2. Predict age of a</a:t>
            </a:r>
          </a:p>
          <a:p>
            <a:r>
              <a:t>  3. Predict the country</a:t>
            </a:r>
          </a:p>
          <a:p>
            <a:r>
              <a:t>  4. Predicting whether</a:t>
            </a:r>
          </a:p>
          <a:p>
            <a:r>
              <a:t>  5. person</a:t>
            </a:r>
          </a:p>
          <a:p>
            <a:r>
              <a:t>  6. from where the</a:t>
            </a:r>
          </a:p>
          <a:p>
            <a:r>
              <a:t>  7. stock price of a</a:t>
            </a:r>
          </a:p>
          <a:p/>
          <a:p>
            <a:r>
              <a:t>Pause: ask the class what they already know about “Predicting a person's age from features is a regression task, not a classification task”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Regression (continued)</a:t>
            </a:r>
          </a:p>
          <a:p/>
          <a:p>
            <a:r>
              <a:t>Pause: ask the class what they already know about “Regression (continued)” before revealing the slide.</a:t>
            </a:r>
          </a:p>
          <a:p/>
          <a:p>
            <a:r>
              <a:t>Wording matters here — slow down, keep it precise.</a:t>
            </a:r>
          </a:p>
          <a:p/>
          <a:p>
            <a:r>
              <a:t>~19s</a:t>
            </a:r>
          </a:p>
          <a:p>
            <a:r>
              <a:t>Text in the figure: A Simple Example: Fitting a Polynomial The green curve is the true function (which is nota | polynomial) yj We may use a loss function that measures the squared error in the prediction of y(x) from x. from Bishop’s book on Machine Learning</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“Some fits to the data : which is the best?”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“Types of regression models” before revealing the slide.</a:t>
            </a:r>
          </a:p>
          <a:p/>
          <a:p>
            <a:r>
              <a:t>~19s</a:t>
            </a:r>
          </a:p>
          <a:p>
            <a:r>
              <a:t>Text in the figure: Regression No of Type of Shape of the independent dependent Regression line variables variable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Types of regression models (continued)</a:t>
            </a:r>
          </a:p>
          <a:p/>
          <a:p>
            <a:r>
              <a:t>Pause: ask the class what they already know about “Types of regression models (continued)” before revealing the slide.</a:t>
            </a:r>
          </a:p>
          <a:p/>
          <a:p>
            <a:r>
              <a:t>Wording matters here — slow down, keep it precise.</a:t>
            </a:r>
          </a:p>
          <a:p/>
          <a:p>
            <a:r>
              <a:t>~19s</a:t>
            </a:r>
          </a:p>
          <a:p>
            <a:r>
              <a:t>Text in the figure: Regression 1 feature Models 2+ features Non- Non- Linear 5 Linear Linear</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1. 500000</a:t>
            </a:r>
          </a:p>
          <a:p>
            <a:r>
              <a:t>  2. 500000</a:t>
            </a:r>
          </a:p>
          <a:p>
            <a:r>
              <a:t>  3. 400000</a:t>
            </a:r>
          </a:p>
          <a:p>
            <a:r>
              <a:t>  4. 400000</a:t>
            </a:r>
          </a:p>
          <a:p>
            <a:r>
              <a:t>  5. 300000</a:t>
            </a:r>
          </a:p>
          <a:p>
            <a:r>
              <a:t>  6. 300000</a:t>
            </a:r>
          </a:p>
          <a:p>
            <a:r>
              <a:t>  7. Price</a:t>
            </a:r>
          </a:p>
          <a:p/>
          <a:p>
            <a:r>
              <a:t>Read these exactly (do not paraphrase):</a:t>
            </a:r>
          </a:p>
          <a:p>
            <a:r>
              <a:t>  - Housing price prediction is a supervised regression problem using size as the input feature 500000 500000 400000 400000 300000 300000 Price 200000 200000 100000 100000 1000 1000 1500 1500 2000 2000 2500 2500 3000 3000 Size (feet2) Supervised Learning Regression Problem Given the “right answer” for Predict real-valued output each example in the data.</a:t>
            </a:r>
          </a:p>
          <a:p/>
          <a:p>
            <a:r>
              <a:t>Pause: ask the class what they already know about “Housing price prediction is a supervised regression problem using size as the input feature”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Training Set</a:t>
            </a:r>
          </a:p>
          <a:p>
            <a:r>
              <a:t>  2. Learning Algorithm</a:t>
            </a:r>
          </a:p>
          <a:p>
            <a:r>
              <a:t>  3. Size of</a:t>
            </a:r>
          </a:p>
          <a:p>
            <a:r>
              <a:t>  4. Estimated</a:t>
            </a:r>
          </a:p>
          <a:p>
            <a:r>
              <a:t>  5. house</a:t>
            </a:r>
          </a:p>
          <a:p>
            <a:r>
              <a:t>  6. price</a:t>
            </a:r>
          </a:p>
          <a:p>
            <a:r>
              <a:t>  7. Linear regression with one variable. Univariate linear regression.</a:t>
            </a:r>
          </a:p>
          <a:p/>
          <a:p>
            <a:r>
              <a:t>Pause: ask the class what they already know about “How do we represent h ?”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Relationship Between Variables Is a Linear Function</a:t>
            </a:r>
          </a:p>
          <a:p>
            <a:r>
              <a:t>  2. Population Population Random Y-Intercept Slope Error</a:t>
            </a:r>
          </a:p>
          <a:p/>
          <a:p>
            <a:r>
              <a:t>Pause: ask the class what they already know about “Linear Regression Model” before revealing the slide.</a:t>
            </a:r>
          </a:p>
          <a:p/>
          <a:p>
            <a:r>
              <a:t>~26s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“Assumptions about the error” before revealing the slide.</a:t>
            </a:r>
          </a:p>
          <a:p/>
          <a:p>
            <a:r>
              <a:t>~19s</a:t>
            </a:r>
          </a:p>
          <a:p>
            <a:r>
              <a:t>Text in the figure: Assumptions about the Error E(é)=0 2,...,n. ) = o where o, is unknown. The errors are independent. The &amp; are normally distributed (with mean 0 and e standard deviation o,).</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Size in feet2 (x)</a:t>
            </a:r>
          </a:p>
          <a:p>
            <a:r>
              <a:t>  2. Price ($) in 1000's (y)</a:t>
            </a:r>
          </a:p>
          <a:p>
            <a:r>
              <a:t>  3. Hypothesis:</a:t>
            </a:r>
          </a:p>
          <a:p>
            <a:r>
              <a:t>  4. hb,w(x)= b+wx</a:t>
            </a:r>
          </a:p>
          <a:p>
            <a:r>
              <a:t>  5. ‘s: Parameters</a:t>
            </a:r>
          </a:p>
          <a:p>
            <a:r>
              <a:t>  6. b,w How to choose ‘s?</a:t>
            </a:r>
          </a:p>
          <a:p>
            <a:r>
              <a:t>  7. b,w</a:t>
            </a:r>
          </a:p>
          <a:p/>
          <a:p>
            <a:r>
              <a:t>Read these exactly (do not paraphrase):</a:t>
            </a:r>
          </a:p>
          <a:p>
            <a:r>
              <a:t>  - Training Set Size in feet2 (x) Price ($) in 1000's (y) Hypothesis: hb,w(x)= b+wx ‘s: Parameters b,w How to choose ‘s?</a:t>
            </a:r>
          </a:p>
          <a:p/>
          <a:p>
            <a:r>
              <a:t>Pause: ask the class what they already know about “Training Set”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hb,w(x)= b+wx</a:t>
            </a:r>
          </a:p>
          <a:p>
            <a:r>
              <a:t>  2. b = 1.5</a:t>
            </a:r>
          </a:p>
          <a:p>
            <a:r>
              <a:t>  3. b = 0</a:t>
            </a:r>
          </a:p>
          <a:p>
            <a:r>
              <a:t>  4. b = 1</a:t>
            </a:r>
          </a:p>
          <a:p>
            <a:r>
              <a:t>  5. w = 0</a:t>
            </a:r>
          </a:p>
          <a:p>
            <a:r>
              <a:t>  6. w = 0.5</a:t>
            </a:r>
          </a:p>
          <a:p/>
          <a:p>
            <a:r>
              <a:t>Read these exactly (do not paraphrase):</a:t>
            </a:r>
          </a:p>
          <a:p>
            <a:r>
              <a:t>  - Training Set: Hb,w(x)= b+wx hb,w(x)= b+wx b = 1.5 b = 0 b = 1 w = 0 w = 0.5</a:t>
            </a:r>
          </a:p>
          <a:p/>
          <a:p>
            <a:r>
              <a:t>Pause: ask the class what they already know about “Training Set: Hb,w(x)= b+wx”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We select b and w so that the hypothesis hb,w(x) closely matches the training data Choose b, w so that hb,w(x) is close to y for training examples (x,y)</a:t>
            </a:r>
          </a:p>
          <a:p/>
          <a:p>
            <a:r>
              <a:t>Pause: ask the class what they already know about “We select b and w so that the hypothesis hb,w(x) closely matches the training data”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Training Set (continued)</a:t>
            </a:r>
          </a:p>
          <a:p/>
          <a:p>
            <a:r>
              <a:t>Pause: ask the class what they already know about “Training Set (continued)” before revealing the slide.</a:t>
            </a:r>
          </a:p>
          <a:p/>
          <a:p>
            <a:r>
              <a:t>Wording matters here — slow down, keep it precise.</a:t>
            </a:r>
          </a:p>
          <a:p/>
          <a:p>
            <a:r>
              <a:t>~19s</a:t>
            </a:r>
          </a:p>
          <a:p>
            <a:r>
              <a:t>Text in the figure: The regression line The least-squares regression line is the unique line such that the sum of the squared vertical (y) distances between the data points and the line is the smallest possible. 12 Observed y = 0.070, distance to line = 10 “za Predicted y = 0.048 distance,to line = y-y=- 0.028 Observed y = 0.020 0 1 2 3 4 5 6 7 8 9 Number of Beers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method of least squares The method of least squares chooses the line ( Bo and By) that makes the sum of squares of the residuals €;2 as small Minimizes for the given observations (x,, y,)</a:t>
            </a:r>
          </a:p>
          <a:p/>
          <a:p>
            <a:r>
              <a:t>Pause: ask the class what they already know about “Criterion for choosing what line to draw”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(continued)</a:t>
            </a:r>
          </a:p>
          <a:p/>
          <a:p>
            <a:r>
              <a:t>Pause: ask the class what they already know about “Criterion for choosing what line to draw (continued)” before revealing the slide.</a:t>
            </a:r>
          </a:p>
          <a:p/>
          <a:p>
            <a:r>
              <a:t>Wording matters here — slow down, keep it precise.</a:t>
            </a:r>
          </a:p>
          <a:p/>
          <a:p>
            <a:r>
              <a:t>~19s</a:t>
            </a:r>
          </a:p>
          <a:p>
            <a:r>
              <a:t>Text in the figure: How do we "learn" parameters Forthe 2-d problem To find the values for the coefficients which minimize the objective function we take the partial derivates of the objective function (SSE) with respect to the coefficients. Set these to O, and solve.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(continued)</a:t>
            </a:r>
          </a:p>
          <a:p/>
          <a:p>
            <a:r>
              <a:t>Pause: ask the class what they already know about “Criterion for choosing what line to draw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(continued)</a:t>
            </a:r>
          </a:p>
          <a:p/>
          <a:p>
            <a:r>
              <a:t>Pause: ask the class what they already know about “Criterion for choosing what line to draw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(continued)</a:t>
            </a:r>
          </a:p>
          <a:p/>
          <a:p>
            <a:r>
              <a:t>Pause: ask the class what they already know about “Criterion for choosing what line to draw (continued)” before revealing the slide.</a:t>
            </a:r>
          </a:p>
          <a:p/>
          <a:p>
            <a:r>
              <a:t>Wording matters here — slow down, keep it precise.</a:t>
            </a:r>
          </a:p>
          <a:p/>
          <a:p>
            <a:r>
              <a:t>~19s</a:t>
            </a:r>
          </a:p>
          <a:p>
            <a:r>
              <a:t>Text in the figure: = (4) + =0 =0 Xi ((¥i - ¥) - — X)) =0 Xi(¥i ¥) — Xi, X)) =0 —¥) = (% — X) X;(¥; — Y) — X)</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(continued)</a:t>
            </a:r>
          </a:p>
          <a:p/>
          <a:p>
            <a:r>
              <a:t>Pause: ask the class what they already know about “Criterion for choosing what line to draw (continued)” before revealing the slide.</a:t>
            </a:r>
          </a:p>
          <a:p/>
          <a:p>
            <a:r>
              <a:t>Wording matters here — slow down, keep it precise.</a:t>
            </a:r>
          </a:p>
          <a:p/>
          <a:p>
            <a:r>
              <a:t>~19s</a:t>
            </a:r>
          </a:p>
          <a:p>
            <a:r>
              <a:t>Text in the figure: Ht | g, = i(¥; —-Y) —nX i(¥; —Y 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Criterion for choosing what line to draw (continued)</a:t>
            </a:r>
          </a:p>
          <a:p/>
          <a:p>
            <a:r>
              <a:t>Pause: ask the class what they already know about “Criterion for choosing what line to draw (continued)” before revealing the slide.</a:t>
            </a:r>
          </a:p>
          <a:p/>
          <a:p>
            <a:r>
              <a:t>Wording matters here — slow down, keep it precise.</a:t>
            </a:r>
          </a:p>
          <a:p/>
          <a:p>
            <a:r>
              <a:t>~19s</a:t>
            </a:r>
          </a:p>
          <a:p>
            <a:r>
              <a:t>Text in the figure: XY X) =&gt; — X) - X) = Xi(Xi - X) — nk) = — X) ) X)</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“Example” before revealing the slide.</a:t>
            </a:r>
          </a:p>
          <a:p/>
          <a:p>
            <a:r>
              <a:t>~19s</a:t>
            </a:r>
          </a:p>
          <a:p>
            <a:r>
              <a:t>Text in the figure: Calculate the regression coefficient and obtain the lines of regression for the following</a:t>
            </a:r>
          </a:p>
          <a:p>
            <a:r>
              <a:t>data</a:t>
            </a:r>
          </a:p>
          <a:p/>
          <a:p>
            <a:r>
              <a:t>mM: Ee: Ba:</a:t>
            </a:r>
          </a:p>
          <a:p/>
          <a:p>
            <a:r>
              <a:t>Mao s ob 2p on BB hw“</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Example (continued) XY</a:t>
            </a:r>
          </a:p>
          <a:p/>
          <a:p>
            <a:r>
              <a:t>Pause: ask the class what they already know about “Example (continued)” before revealing the slide.</a:t>
            </a:r>
          </a:p>
          <a:p/>
          <a:p>
            <a:r>
              <a:t>Wording matters here — slow down, keep it precise.</a:t>
            </a:r>
          </a:p>
          <a:p/>
          <a:p>
            <a:r>
              <a:t>~19s</a:t>
            </a:r>
          </a:p>
          <a:p>
            <a:r>
              <a:t>Text in the figure: 1 9 1 81 9 2 8 64 16 3 10 9 100 30 4 12 16 144 48 5 11 25 121 55 6 13 36 169 78 7 14 49 196 98 X=28 k= 140 &gt; XY = 334</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Example (continued)</a:t>
            </a:r>
          </a:p>
          <a:p/>
          <a:p>
            <a:r>
              <a:t>Pause: ask the class what they already know about “Example (continued)” before revealing the slide.</a:t>
            </a:r>
          </a:p>
          <a:p/>
          <a:p>
            <a:r>
              <a:t>Wording matters here — slow down, keep it precise.</a:t>
            </a:r>
          </a:p>
          <a:p/>
          <a:p>
            <a:r>
              <a:t>~19s</a:t>
            </a:r>
          </a:p>
          <a:p>
            <a:r>
              <a:t>Text in the figure: (ii) Regression coefficient of Y on X —(2X)(ZY) mx NN _ 7(334)—(28)(77) 7(140) _ 2156 980 — 784 _ 182 ~ 196 b = 0.929 (iii) Regression equation of Y on X Y-Y =b (X-X) Y-11 =0.929 (X-4) 3 = 0.929.X4+7.284 The regression equation of Yon Y1s Y= 0.929X + 7.284</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Example (continued)</a:t>
            </a:r>
          </a:p>
          <a:p/>
          <a:p>
            <a:r>
              <a:t>Pause: ask the class what they already know about “Example (continued)” before revealing the slide.</a:t>
            </a:r>
          </a:p>
          <a:p/>
          <a:p>
            <a:r>
              <a:t>Wording matters here — slow down, keep it precise.</a:t>
            </a:r>
          </a:p>
          <a:p/>
          <a:p>
            <a:r>
              <a:t>~19s</a:t>
            </a:r>
          </a:p>
          <a:p>
            <a:r>
              <a:t>Text in the figure: House Number Y: Actual Selling xX: House Size (100s Price ft2)</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more susceptible to outliers hence;</a:t>
            </a:r>
          </a:p>
          <a:p>
            <a:r>
              <a:t>  2. it should not be used in the case of big-size data.</a:t>
            </a:r>
          </a:p>
          <a:p>
            <a:r>
              <a:t>  3. There should be a linear relationship between independent and dependent variables.</a:t>
            </a:r>
          </a:p>
          <a:p>
            <a:r>
              <a:t>  4. There is only one independent and dependent variable.</a:t>
            </a:r>
          </a:p>
          <a:p>
            <a:r>
              <a:t>  5. The type of regression line: a best fit straight line.</a:t>
            </a:r>
          </a:p>
          <a:p/>
          <a:p>
            <a:r>
              <a:t>Read these exactly (do not paraphrase):</a:t>
            </a:r>
          </a:p>
          <a:p>
            <a:r>
              <a:t>  - Linear regression requires a single linear relationship between variables more susceptible to outliers hence; it should not be used in the case of big-size data.</a:t>
            </a:r>
          </a:p>
          <a:p/>
          <a:p>
            <a:r>
              <a:t>Say what these mean, in your own words:</a:t>
            </a:r>
          </a:p>
          <a:p>
            <a:r>
              <a:t>  - Regression: supervised machine learning technique which is used to predict continuous values</a:t>
            </a:r>
          </a:p>
          <a:p>
            <a:r>
              <a:t>  - outliers: Data points that differ markedly from other observations.</a:t>
            </a:r>
          </a:p>
          <a:p>
            <a:r>
              <a:t>  - best-fit line: The straight line that minimizes the sum of squared errors.</a:t>
            </a:r>
          </a:p>
          <a:p/>
          <a:p>
            <a:r>
              <a:t>Pause: ask the class what they already know about “Linear regression requires a single linear relationship between variables”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detail (from the source):</a:t>
            </a:r>
          </a:p>
          <a:p>
            <a:r>
              <a:t>  [TABLE DATA] | Advantages | Disadvantages | | --- | --- | | Linear regression performs exceptionally well for linearly separable data | The assumption of linearity between dependent and independent variables | | Easier to implement, interpret and efficient to train | It is often quite prone to noise and overfitting | | It handles overfitting pretty well using dimensionally reduction techniques, regularization, and cross-validation | Linear regression is quite sensitive to outliers Hence, it should not be used in the case of big-size data.</a:t>
            </a:r>
          </a:p>
          <a:p>
            <a:r>
              <a:t>  |</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7”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Multiple linear regression is used to estimate the relationship between two or more independent variables and one depend</a:t>
            </a:r>
          </a:p>
          <a:p>
            <a:r>
              <a:t>  2. Example:</a:t>
            </a:r>
          </a:p>
          <a:p>
            <a:r>
              <a:t>  3. The selling price of a house can depend on the desirability of the location, the number of bedrooms, the number of bathr</a:t>
            </a:r>
          </a:p>
          <a:p>
            <a:r>
              <a:t>  4. The height of a child can depend on the height of the mother, the height of the father, nutrition, and environmental fac</a:t>
            </a:r>
          </a:p>
          <a:p/>
          <a:p>
            <a:r>
              <a:t>Say what these mean, in your own words:</a:t>
            </a:r>
          </a:p>
          <a:p>
            <a:r>
              <a:t>  - independent variables: Predictor variables that influence the outcome.</a:t>
            </a:r>
          </a:p>
          <a:p>
            <a:r>
              <a:t>  - dependent variable: Outcome variable that the model aims to predict.</a:t>
            </a:r>
          </a:p>
          <a:p/>
          <a:p>
            <a:r>
              <a:t>Pause: ask the class what they already know about “Multiple linear regression estimates one outcome from several predictors”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“Multiple linear regression model”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“The regression model is the equation we aim to estimate”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Multiple linear regression model (2)</a:t>
            </a:r>
          </a:p>
          <a:p/>
          <a:p>
            <a:r>
              <a:t>Pause: ask the class what they already know about “Multiple linear regression model (2)” before revealing the slide.</a:t>
            </a:r>
          </a:p>
          <a:p/>
          <a:p>
            <a:r>
              <a:t>Wording matters here — slow down, keep it precise.</a:t>
            </a:r>
          </a:p>
          <a:p/>
          <a:p>
            <a:r>
              <a:t>~19s</a:t>
            </a:r>
          </a:p>
          <a:p>
            <a:r>
              <a:t>Text in the figure: Firewall Authentication multiple regression ca ion/Chapter3-Regression-MultipleLinearRegressionModel.pdf tr I= Mail - Computation 9 Pages - PremiumPai Member Portal [9 DJ (4 Conferen i robu.in Manager® &amp; nesis Let an experiment be conducted n times, and the data is obtained as follows: Observation number | Response Explanatory variables Assuming that the model is Bot BX, the n-tuples of observations are also assumed to follow the same model. Thus they satis Be Bo + Bx Bia * These n equations can be written as In general, the model with &amp; explanatory variables can be ex is a vector of 1 observa</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Cost function seeks parameters that minimize prediction error Find b and w to minimize J ()</a:t>
            </a:r>
          </a:p>
          <a:p/>
          <a:p>
            <a:r>
              <a:t>Pause: ask the class what they already know about “Cost function seeks parameters that minimize prediction error”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J(b,w)</a:t>
            </a:r>
          </a:p>
          <a:p>
            <a:r>
              <a:t>  2. Outline:</a:t>
            </a:r>
          </a:p>
          <a:p>
            <a:r>
              <a:t>  3. b,w</a:t>
            </a:r>
          </a:p>
          <a:p>
            <a:r>
              <a:t>  4. Start with some</a:t>
            </a:r>
          </a:p>
          <a:p>
            <a:r>
              <a:t>  5. Keep changing to reduce</a:t>
            </a:r>
          </a:p>
          <a:p>
            <a:r>
              <a:t>  6. until we hopefully end up at a minimum</a:t>
            </a:r>
          </a:p>
          <a:p/>
          <a:p>
            <a:r>
              <a:t>Read these exactly (do not paraphrase):</a:t>
            </a:r>
          </a:p>
          <a:p>
            <a:r>
              <a:t>  - Gradient descent iteratively adjusts parameters to reduce the cost function J(b,w) Outline: b,w Start with some Keep changing to reduce until we hopefully end up at a minimum</a:t>
            </a:r>
          </a:p>
          <a:p/>
          <a:p>
            <a:r>
              <a:t>Pause: ask the class what they already know about “Gradient descent iteratively adjusts parameters to reduce the cost function”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“Gradient descent/delta rule/LMS method” before revealing the slide.</a:t>
            </a:r>
          </a:p>
          <a:p/>
          <a:p>
            <a:r>
              <a:t>~19s</a:t>
            </a:r>
          </a:p>
          <a:p>
            <a:r>
              <a:t>Text in the figure: Initial Gradient Weight \ 1 Cost / U Incremental Step Minimum Cost Derivative of Cost</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Simplified</a:t>
            </a:r>
          </a:p>
          <a:p>
            <a:r>
              <a:t>  2. Hypothesis: hb,w(x)= b+wx</a:t>
            </a:r>
          </a:p>
          <a:p>
            <a:r>
              <a:t>  3. hw(x)= wx b=0</a:t>
            </a:r>
          </a:p>
          <a:p>
            <a:r>
              <a:t>  4. Parameters:</a:t>
            </a:r>
          </a:p>
          <a:p>
            <a:r>
              <a:t>  5. b, w Cost Function:</a:t>
            </a:r>
          </a:p>
          <a:p>
            <a:r>
              <a:t>  6. Goal:</a:t>
            </a:r>
          </a:p>
          <a:p/>
          <a:p>
            <a:r>
              <a:t>Read these exactly (do not paraphrase):</a:t>
            </a:r>
          </a:p>
          <a:p>
            <a:r>
              <a:t>  - Simplified hypothesis uses a linear model with zero bias and slope w Simplified Hypothesis: hb,w(x)= b+wx hw(x)= wx b=0 Parameters: b, w Cost Function: Goal:</a:t>
            </a:r>
          </a:p>
          <a:p/>
          <a:p>
            <a:r>
              <a:t>Pause: ask the class what they already know about “Simplified hypothesis uses a linear model with zero bias and slope w”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hw(x)</a:t>
            </a:r>
          </a:p>
          <a:p>
            <a:r>
              <a:t>  2. J(w)</a:t>
            </a:r>
          </a:p>
          <a:p>
            <a:r>
              <a:t>  3. (for fixed, this is a function of x)</a:t>
            </a:r>
          </a:p>
          <a:p>
            <a:r>
              <a:t>  4. (function of the parameter)</a:t>
            </a:r>
          </a:p>
          <a:p>
            <a:r>
              <a:t>  5. hw(x) w = 1</a:t>
            </a:r>
          </a:p>
          <a:p/>
          <a:p>
            <a:r>
              <a:t>Read these exactly (do not paraphrase):</a:t>
            </a:r>
          </a:p>
          <a:p>
            <a:r>
              <a:t>  - Setting w to one yields a hypothesis function hw(x) = x hw(x) J(w) (for fixed, this is a function of x) (function of the parameter) hw(x) w = 1</a:t>
            </a:r>
          </a:p>
          <a:p/>
          <a:p>
            <a:r>
              <a:t>Pause: ask the class what they already know about “Setting w to one yields a hypothesis function hw(x) = x” before revealing the slide.</a:t>
            </a:r>
          </a:p>
          <a:p/>
          <a:p>
            <a:r>
              <a:t>Wording matters here — slow down, keep it precise.</a:t>
            </a:r>
          </a:p>
          <a:p/>
          <a:p>
            <a:r>
              <a:t>~47s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hw(x)</a:t>
            </a:r>
          </a:p>
          <a:p>
            <a:r>
              <a:t>  2. J(w)</a:t>
            </a:r>
          </a:p>
          <a:p>
            <a:r>
              <a:t>  3. (function of the parameter)</a:t>
            </a:r>
          </a:p>
          <a:p>
            <a:r>
              <a:t>  4. (for fixed, this is a function of x)</a:t>
            </a:r>
          </a:p>
          <a:p>
            <a:r>
              <a:t>  5. w = 0.5</a:t>
            </a:r>
          </a:p>
          <a:p/>
          <a:p>
            <a:r>
              <a:t>Read these exactly (do not paraphrase):</a:t>
            </a:r>
          </a:p>
          <a:p>
            <a:r>
              <a:t>  - Setting w to 0.5 yields a hypothesis function hw(x) = 0.5x hw(x) J(w) (function of the parameter) (for fixed, this is a function of x) w = 0.5</a:t>
            </a:r>
          </a:p>
          <a:p/>
          <a:p>
            <a:r>
              <a:t>Pause: ask the class what they already know about “Setting w to 0.5 yields a hypothesis function hw(x) = 0.5x” before revealing the slide.</a:t>
            </a:r>
          </a:p>
          <a:p/>
          <a:p>
            <a:r>
              <a:t>Wording matters here — slow down, keep it precise.</a:t>
            </a:r>
          </a:p>
          <a:p/>
          <a:p>
            <a:r>
              <a:t>~47s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hw(x)</a:t>
            </a:r>
          </a:p>
          <a:p>
            <a:r>
              <a:t>  2. J(w)</a:t>
            </a:r>
          </a:p>
          <a:p>
            <a:r>
              <a:t>  3. (function of the parameter)</a:t>
            </a:r>
          </a:p>
          <a:p>
            <a:r>
              <a:t>  4. (for fixed, this is a function of x)</a:t>
            </a:r>
          </a:p>
          <a:p>
            <a:r>
              <a:t>  5. hw(x) w = 0</a:t>
            </a:r>
          </a:p>
          <a:p/>
          <a:p>
            <a:r>
              <a:t>Read these exactly (do not paraphrase):</a:t>
            </a:r>
          </a:p>
          <a:p>
            <a:r>
              <a:t>  - Setting w to zero yields a hypothesis function hw(x) = 0 hw(x) J(w) (function of the parameter) (for fixed, this is a function of x) hw(x) w = 0</a:t>
            </a:r>
          </a:p>
          <a:p/>
          <a:p>
            <a:r>
              <a:t>Pause: ask the class what they already know about “Setting w to zero yields a hypothesis function hw(x) = 0” before revealing the slide.</a:t>
            </a:r>
          </a:p>
          <a:p/>
          <a:p>
            <a:r>
              <a:t>Wording matters here — slow down, keep it precise.</a:t>
            </a:r>
          </a:p>
          <a:p/>
          <a:p>
            <a:r>
              <a:t>~47s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hb,w(x)</a:t>
            </a:r>
          </a:p>
          <a:p>
            <a:r>
              <a:t>  2. J(b,w)</a:t>
            </a:r>
          </a:p>
          <a:p>
            <a:r>
              <a:t>  3. b,w</a:t>
            </a:r>
          </a:p>
          <a:p>
            <a:r>
              <a:t>  4. b, w</a:t>
            </a:r>
          </a:p>
          <a:p>
            <a:r>
              <a:t>  5. (for fixed , this is a function of x)</a:t>
            </a:r>
          </a:p>
          <a:p>
            <a:r>
              <a:t>  6. (function of the parameters )</a:t>
            </a:r>
          </a:p>
          <a:p>
            <a:r>
              <a:t>  7. 500000</a:t>
            </a:r>
          </a:p>
          <a:p/>
          <a:p>
            <a:r>
              <a:t>Read these exactly (do not paraphrase):</a:t>
            </a:r>
          </a:p>
          <a:p>
            <a:r>
              <a:t>  - The hypothesis hb,w(x) predicts price from size using a linear equation hb,w(x) J(b,w) b,w b, w (for fixed , this is a function of x) (function of the parameters ) 500000 400000 Price ($) 300000 in 1000’s 200000 100000 1000 1500 2000 2500 3000 Size in feet2 (x) hb,w(x) = 50 + 0.06x</a:t>
            </a:r>
          </a:p>
          <a:p/>
          <a:p>
            <a:r>
              <a:t>Pause: ask the class what they already know about “The hypothesis hb,w(x) predicts price from size using a linear equation” before revealing the slide.</a:t>
            </a:r>
          </a:p>
          <a:p/>
          <a:p>
            <a:r>
              <a:t>Wording matters here — slow down, keep it precise.</a:t>
            </a:r>
          </a:p>
          <a:p/>
          <a:p>
            <a:r>
              <a:t>~61s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(continued)</a:t>
            </a:r>
          </a:p>
          <a:p/>
          <a:p>
            <a:r>
              <a:t>Pause: ask the class what they already know about “Gradient descent/delta rule/LMS method (continued)” before revealing the slide.</a:t>
            </a:r>
          </a:p>
          <a:p/>
          <a:p>
            <a:r>
              <a:t>Wording matters here — slow down, keep it precise.</a:t>
            </a:r>
          </a:p>
          <a:p/>
          <a:p>
            <a:r>
              <a:t>~19s</a:t>
            </a:r>
          </a:p>
          <a:p>
            <a:r>
              <a:t>Text in the figure: ae EN SOO KLE &lt;&gt;</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Fixed (for fixed, this is a function of x)</a:t>
            </a:r>
          </a:p>
          <a:p/>
          <a:p>
            <a:r>
              <a:t>Pause: ask the class what they already know about “Gradient descent/delta rule/LMS method: Fixed”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1. Batch Gradient Descent</a:t>
            </a:r>
          </a:p>
          <a:p>
            <a:r>
              <a:t>  2. Batch: Each step of gradient descent uses all the training examples.</a:t>
            </a:r>
          </a:p>
          <a:p>
            <a:r>
              <a:t>  3. 2. Stochastic Gradient Descent (SGD)</a:t>
            </a:r>
          </a:p>
          <a:p>
            <a:r>
              <a:t>  4. Uses one training sample at a time.</a:t>
            </a:r>
          </a:p>
          <a:p>
            <a:r>
              <a:t>  5. Parameters are updated after every sample.</a:t>
            </a:r>
          </a:p>
          <a:p>
            <a:r>
              <a:t>  6. 3. Mini-Batch Gradient Descent (MBGD) This is a compromise between Batch GD and SGD.</a:t>
            </a:r>
          </a:p>
          <a:p>
            <a:r>
              <a:t>  7. Instead of using: all samples (Batch),</a:t>
            </a:r>
          </a:p>
          <a:p/>
          <a:p>
            <a:r>
              <a:t>Read these exactly (do not paraphrase):</a:t>
            </a:r>
          </a:p>
          <a:p>
            <a:r>
              <a:t>  - Stochastic Gradient Descent (SGD) Uses one training sample at a time.</a:t>
            </a:r>
          </a:p>
          <a:p>
            <a:r>
              <a:t>  - Mini-Batch Gradient Descent (MBGD) This is a compromise between Batch GD and SGD.</a:t>
            </a:r>
          </a:p>
          <a:p>
            <a:r>
              <a:t>  - Instead of using: all samples (Batch), or one sample (SGD), it uses a small group (mini-batch).</a:t>
            </a:r>
          </a:p>
          <a:p/>
          <a:p>
            <a:r>
              <a:t>Pause: ask the class what they already know about “Gradient descent/delta rule/LMS method: 1. Batch Gradient”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Gradient descent/delta rule/LMS method (continued)</a:t>
            </a:r>
          </a:p>
          <a:p/>
          <a:p>
            <a:r>
              <a:t>Pause: ask the class what they already know about “Gradient descent/delta rule/LMS method (continued)”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“Property of gradient descent”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“Gradient descent algorithm” before revealing the slide.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Simultaneous update</a:t>
            </a:r>
          </a:p>
          <a:p>
            <a:r>
              <a:t>  2. Correct: Simultaneous update</a:t>
            </a:r>
          </a:p>
          <a:p>
            <a:r>
              <a:t>  3. Incorrect:</a:t>
            </a:r>
          </a:p>
          <a:p>
            <a:r>
              <a:t>  4. Gradient descent depends on updating weights simultaneously rather than sequentially.</a:t>
            </a:r>
          </a:p>
          <a:p>
            <a:r>
              <a:t>  5. This ensures that all parameters are adjusted based on the same gradient calculations at the current step.</a:t>
            </a:r>
          </a:p>
          <a:p>
            <a:r>
              <a:t>  6. Using correct simultaneous updates prevents calculation errors during optimization.</a:t>
            </a:r>
          </a:p>
          <a:p>
            <a:r>
              <a:t>  7. Example: Adjusting multiple steering angles at once instead of one wheel at a time.</a:t>
            </a:r>
          </a:p>
          <a:p/>
          <a:p>
            <a:r>
              <a:t>Say what these mean, in your own words:</a:t>
            </a:r>
          </a:p>
          <a:p>
            <a:r>
              <a:t>  - Simultaneous update: Updating all model parameters together at the end of a single iteration.</a:t>
            </a:r>
          </a:p>
          <a:p/>
          <a:p>
            <a:r>
              <a:t>Pause: ask the class what they already know about “Gradient descent requires simultaneous updates for correct weight adjustments”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If α is too small, gradient descent can be slow.</a:t>
            </a:r>
          </a:p>
          <a:p>
            <a:r>
              <a:t>  2. If α is too large, gradient descent can overshoot the minimum. It may fail to converge, or even diverge.</a:t>
            </a:r>
          </a:p>
          <a:p>
            <a:r>
              <a:t>  3. The learning rate alpha controls the step size taken during gradient descent.</a:t>
            </a:r>
          </a:p>
          <a:p>
            <a:r>
              <a:t>  4. If alpha is too small, the algorithm becomes very slow.</a:t>
            </a:r>
          </a:p>
          <a:p>
            <a:r>
              <a:t>  5. If alpha is too large, it can overshoot the minimum and fail to converge or even diverge.</a:t>
            </a:r>
          </a:p>
          <a:p>
            <a:r>
              <a:t>  6. Example: Taking tiny steps down a mountain takes forever, while giant leaps cause you to jump right past the bottom.</a:t>
            </a:r>
          </a:p>
          <a:p/>
          <a:p>
            <a:r>
              <a:t>Say what these mean, in your own words:</a:t>
            </a:r>
          </a:p>
          <a:p>
            <a:r>
              <a:t>  - Learning rate: A tuning parameter that determines the step size at each iteration.</a:t>
            </a:r>
          </a:p>
          <a:p>
            <a:r>
              <a:t>  - Diverge: Moving further away from the optimal minimum instead of getting closer.</a:t>
            </a:r>
          </a:p>
          <a:p/>
          <a:p>
            <a:r>
              <a:t>Pause: ask the class what they already know about “Learning rate size determines whether gradient descent converges or diverges”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 at local optima</a:t>
            </a:r>
          </a:p>
          <a:p>
            <a:r>
              <a:t>  2. Current value of w</a:t>
            </a:r>
          </a:p>
          <a:p>
            <a:r>
              <a:t>  3. The algorithm evaluates the current value of the weight at local optima.</a:t>
            </a:r>
          </a:p>
          <a:p>
            <a:r>
              <a:t>  4. This helps determine the ongoing optimization path of the model parameters.</a:t>
            </a:r>
          </a:p>
          <a:p>
            <a:r>
              <a:t>  5. The weight value continuously shifts according to the gradient.</a:t>
            </a:r>
          </a:p>
          <a:p>
            <a:r>
              <a:t>  6. Example: Checking your current elevation on a hiking trail to decide the next step.</a:t>
            </a:r>
          </a:p>
          <a:p/>
          <a:p>
            <a:r>
              <a:t>Say what these mean, in your own words:</a:t>
            </a:r>
          </a:p>
          <a:p>
            <a:r>
              <a:t>  - Local optima: A point where the function value is smaller than surrounding points.</a:t>
            </a:r>
          </a:p>
          <a:p>
            <a:r>
              <a:t>  - Current value of w: The active parameter weight being evaluated in the optimization step.</a:t>
            </a:r>
          </a:p>
          <a:p/>
          <a:p>
            <a:r>
              <a:t>Pause: ask the class what they already know about “Gradient descent updates the current value of weight at local optima”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Gradient descent can converge to a local minimum, even with the learning rate α fixed.</a:t>
            </a:r>
          </a:p>
          <a:p>
            <a:r>
              <a:t>  2. As we approach a local minimum, gradient descent will automatically take smaller steps. So, no need to decrease α over t</a:t>
            </a:r>
          </a:p>
          <a:p>
            <a:r>
              <a:t>  3. Gradient descent can converge to a local minimum even with a fixed learning rate.</a:t>
            </a:r>
          </a:p>
          <a:p>
            <a:r>
              <a:t>  4. As the algorithm approaches the minimum, the gradient naturally shrinks.</a:t>
            </a:r>
          </a:p>
          <a:p>
            <a:r>
              <a:t>  5. This causes gradient descent to automatically take smaller steps without needing to decrease alpha over time.</a:t>
            </a:r>
          </a:p>
          <a:p>
            <a:r>
              <a:t>  6. Example: Rolling a ball into a bowl slows down automatically as it nears the bottom.</a:t>
            </a:r>
          </a:p>
          <a:p/>
          <a:p>
            <a:r>
              <a:t>Say what these mean, in your own words:</a:t>
            </a:r>
          </a:p>
          <a:p>
            <a:r>
              <a:t>  - Local minimum: The lowest point in a local neighborhood of the cost function.</a:t>
            </a:r>
          </a:p>
          <a:p>
            <a:r>
              <a:t>  - Fixed learning rate: A constant step-size multiplier that does not change manually over time.</a:t>
            </a:r>
          </a:p>
          <a:p/>
          <a:p>
            <a:r>
              <a:t>Pause: ask the class what they already know about “Gradient descent automatically takes smaller steps as it approaches a local minimum”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Establishes a functional relationship between one dependent variable</a:t>
            </a:r>
          </a:p>
          <a:p>
            <a:r>
              <a:t>  2. and one or more independent variables.</a:t>
            </a:r>
          </a:p>
          <a:p>
            <a:r>
              <a:t>  3. Predicts and forecasts future values based on historical data.</a:t>
            </a:r>
          </a:p>
          <a:p>
            <a:r>
              <a:t>  4. Identifies the effect of independent variables on the dependent variable:</a:t>
            </a:r>
          </a:p>
          <a:p>
            <a:r>
              <a:t>  5. Identifies significant factors influencing the target variable.</a:t>
            </a:r>
          </a:p>
          <a:p>
            <a:r>
              <a:t>  6. Supports data-driven decision making in business, healthcare, finance,</a:t>
            </a:r>
          </a:p>
          <a:p>
            <a:r>
              <a:t>  7. and engineering.</a:t>
            </a:r>
          </a:p>
          <a:p/>
          <a:p>
            <a:r>
              <a:t>Read these exactly (do not paraphrase):</a:t>
            </a:r>
          </a:p>
          <a:p>
            <a:r>
              <a:t>  - Helps evaluate model performance by analysing prediction errors (e.g., MSE, RMSE, MAE) and improving the model.</a:t>
            </a:r>
          </a:p>
          <a:p/>
          <a:p>
            <a:r>
              <a:t>Say what these mean, in your own words:</a:t>
            </a:r>
          </a:p>
          <a:p>
            <a:r>
              <a:t>  - Dependent variable: The target outcome variable predicted or explained by the model.</a:t>
            </a:r>
          </a:p>
          <a:p>
            <a:r>
              <a:t>  - Independent variables: The predictor factors used to analyze effects on the dependent variable.</a:t>
            </a:r>
          </a:p>
          <a:p/>
          <a:p>
            <a:r>
              <a:t>Pause: ask the class what they already know about “Regression analysis establishes functional relationships and supports data-driven decisions”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Assumes a linear and stable relationship between variables.</a:t>
            </a:r>
          </a:p>
          <a:p>
            <a:r>
              <a:t>  2. Sensitive to outliers and noisy data.</a:t>
            </a:r>
          </a:p>
          <a:p>
            <a:r>
              <a:t>  3. Requires statistical assumptions to be satisfied.</a:t>
            </a:r>
          </a:p>
          <a:p>
            <a:r>
              <a:t>  4. Does not imply causation.</a:t>
            </a:r>
          </a:p>
          <a:p>
            <a:r>
              <a:t>  5. Standard linear regression cannot predict categorical outcomes.</a:t>
            </a:r>
          </a:p>
          <a:p>
            <a:r>
              <a:t>  6. Prediction accuracy depends on data quality and feature selection.</a:t>
            </a:r>
          </a:p>
          <a:p>
            <a:r>
              <a:t>  7. Regression models assume a linear and stable relationship between variables.</a:t>
            </a:r>
          </a:p>
          <a:p/>
          <a:p>
            <a:r>
              <a:t>Say what these mean, in your own words:</a:t>
            </a:r>
          </a:p>
          <a:p>
            <a:r>
              <a:t>  - Regression: supervised machine learning technique which is used to predict continuous values</a:t>
            </a:r>
          </a:p>
          <a:p>
            <a:r>
              <a:t>  - Outliers: Extreme data points that significantly differ from other observations.</a:t>
            </a:r>
          </a:p>
          <a:p>
            <a:r>
              <a:t>  - Causation: Indication that one event is the direct result of the occurrence of another.</a:t>
            </a:r>
          </a:p>
          <a:p/>
          <a:p>
            <a:r>
              <a:t>Pause: ask the class what they already know about “Regression analysis assumes linear relationships and remains sensitive to outliers”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Regression: supervised machine learning technique which is used to predict continuous values</a:t>
            </a:r>
          </a:p>
          <a:p>
            <a:r>
              <a:t>  2. Sgd: Stochastic Gradient Descent</a:t>
            </a:r>
          </a:p>
          <a:p>
            <a:r>
              <a:t>  3. Regression analysis: set of statistical methods used for the estimation of relationships between a dependent variable an</a:t>
            </a:r>
          </a:p>
          <a:p>
            <a:r>
              <a:t>  4. Mbgd: Mini-Batch Gradient Descent</a:t>
            </a:r>
          </a:p>
          <a:p/>
          <a:p>
            <a:r>
              <a:t>Pause: ask the class what they already know about “Glossary” before revealing the slide.</a:t>
            </a:r>
          </a:p>
          <a:p/>
          <a:p>
            <a:r>
              <a:t>~40s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Syllabus: Linear Regression</a:t>
            </a:r>
          </a:p>
          <a:p>
            <a:r>
              <a:t>  2. Linear Regression Model: Relationship Between Variables Is a Linear Function</a:t>
            </a:r>
          </a:p>
          <a:p>
            <a:r>
              <a:t>  3. Example: XY</a:t>
            </a:r>
          </a:p>
          <a:p>
            <a:r>
              <a:t>  4. Have some function Want: J(b,w)</a:t>
            </a:r>
          </a:p>
          <a:p>
            <a:r>
              <a:t>  5. Gradient descent/delta rule/LMS method: (for fixed, this is a function of x)</a:t>
            </a:r>
          </a:p>
          <a:p>
            <a:r>
              <a:t>  6. Gradient descent/delta rule/LMS method: (for fixed, this is a function of x)</a:t>
            </a:r>
          </a:p>
          <a:p>
            <a:r>
              <a:t>  7. Gradient descent algorithm: Simultaneous update</a:t>
            </a:r>
          </a:p>
          <a:p/>
          <a:p>
            <a:r>
              <a:t>Read these exactly (do not paraphrase):</a:t>
            </a:r>
          </a:p>
          <a:p>
            <a:r>
              <a:t>  - Key takeaways Syllabus: Linear Regression Linear Regression Model: Relationship Between Variables Is a Linear Function Example: XY Have some function Want: J(b,w) Gradient descent/delta rule/LMS method: (for fixed, this is a function of x) Gradient descent/delta rule/LMS method: (for fixed, this is a function of x) Gradient descent algorithm: Simultaneous update</a:t>
            </a:r>
          </a:p>
          <a:p/>
          <a:p>
            <a:r>
              <a:t>Pause: ask the class what they already know about “Key takeaways” before revealing the slide.</a:t>
            </a:r>
          </a:p>
          <a:p/>
          <a:p>
            <a:r>
              <a:t>Wording matters here — slow down, keep it precise.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e69ef76c5d73a0b75ab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localhost:8000/api/labs/auto-34f231f23d85" TargetMode="Externa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localhost:8000/api/art/49934332e13a7cb2e629" TargetMode="External"/><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localhost:8000/api/art/da0e2cecd997c8704af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hyperlink" Target="http://localhost:8000/api/art/613c0128e0a49300dbe3" TargetMode="External"/><Relationship Id="rId5" Type="http://schemas.openxmlformats.org/officeDocument/2006/relationships/hyperlink" Target="http://localhost:8000/api/labs/auto-cd8c9018e14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localhost:8000/api/labs/auto-2b822bc3ad29" TargetMode="External"/><Relationship Id="rId4" Type="http://schemas.openxmlformats.org/officeDocument/2006/relationships/image" Target="../media/image14.png"/><Relationship Id="rId5" Type="http://schemas.openxmlformats.org/officeDocument/2006/relationships/hyperlink" Target="http://localhost:8000/api/art/be120af9a8a09dc4d29a" TargetMode="External"/><Relationship Id="rId6" Type="http://schemas.openxmlformats.org/officeDocument/2006/relationships/image" Target="../media/image15.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localhost:8000/api/labs/auto-0d60d8f56c6f" TargetMode="External"/><Relationship Id="rId4" Type="http://schemas.openxmlformats.org/officeDocument/2006/relationships/image" Target="../media/image18.png"/><Relationship Id="rId5" Type="http://schemas.openxmlformats.org/officeDocument/2006/relationships/hyperlink" Target="http://localhost:8000/api/art/cc6d27f4740425c2d183" TargetMode="External"/><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hyperlink" Target="http://localhost:8000/api/art/3d028ab0c0cbbc5a151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localhost:8000/api/labs/auto-d59690495e1b" TargetMode="External"/><Relationship Id="rId4" Type="http://schemas.openxmlformats.org/officeDocument/2006/relationships/image" Target="../media/image25.png"/><Relationship Id="rId5" Type="http://schemas.openxmlformats.org/officeDocument/2006/relationships/hyperlink" Target="http://localhost:8000/api/art/a6c310910a4aff4b2ca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6.png"/><Relationship Id="rId4" Type="http://schemas.openxmlformats.org/officeDocument/2006/relationships/hyperlink" Target="http://localhost:8000/api/art/318f49ab21bf192ca712"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hyperlink" Target="http://localhost:8000/api/art/f9a8d2604f6af067c5cb" TargetMode="External"/><Relationship Id="rId5" Type="http://schemas.openxmlformats.org/officeDocument/2006/relationships/hyperlink" Target="http://localhost:8000/api/labs/auto-cae7dc3a575f"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8.png"/><Relationship Id="rId4" Type="http://schemas.openxmlformats.org/officeDocument/2006/relationships/hyperlink" Target="http://localhost:8000/api/art/8c27dea6e3e47f9cd9f2" TargetMode="External"/><Relationship Id="rId5" Type="http://schemas.openxmlformats.org/officeDocument/2006/relationships/image" Target="../media/image21.png"/><Relationship Id="rId6" Type="http://schemas.openxmlformats.org/officeDocument/2006/relationships/image" Target="../media/image39.png"/><Relationship Id="rId7"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4.png"/><Relationship Id="rId4" Type="http://schemas.openxmlformats.org/officeDocument/2006/relationships/hyperlink" Target="http://localhost:8000/api/art/1c9ffc3302eb0dc230b9" TargetMode="External"/><Relationship Id="rId5" Type="http://schemas.openxmlformats.org/officeDocument/2006/relationships/image" Target="../media/image45.png"/><Relationship Id="rId6" Type="http://schemas.openxmlformats.org/officeDocument/2006/relationships/image" Target="../media/image21.png"/><Relationship Id="rId7"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8.png"/><Relationship Id="rId4" Type="http://schemas.openxmlformats.org/officeDocument/2006/relationships/hyperlink" Target="http://localhost:8000/api/art/5336b10f23ba97aa3d8f"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0.png"/><Relationship Id="rId4" Type="http://schemas.openxmlformats.org/officeDocument/2006/relationships/image" Target="../media/image21.png"/><Relationship Id="rId5" Type="http://schemas.openxmlformats.org/officeDocument/2006/relationships/image" Target="../media/image15.png"/><Relationship Id="rId6" Type="http://schemas.openxmlformats.org/officeDocument/2006/relationships/image" Target="../media/image7.png"/><Relationship Id="rId7" Type="http://schemas.openxmlformats.org/officeDocument/2006/relationships/image" Target="../media/image46.png"/><Relationship Id="rId8"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2.png"/><Relationship Id="rId4" Type="http://schemas.openxmlformats.org/officeDocument/2006/relationships/hyperlink" Target="http://localhost:8000/api/art/3b264d0ed6f3fd339bb1"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5.jp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1.png"/><Relationship Id="rId4" Type="http://schemas.openxmlformats.org/officeDocument/2006/relationships/hyperlink" Target="http://localhost:8000/api/art/12c52968c49157d72876"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72.png"/><Relationship Id="rId4" Type="http://schemas.openxmlformats.org/officeDocument/2006/relationships/hyperlink" Target="http://localhost:8000/api/art/caf3debcc0c79f197975" TargetMode="External"/><Relationship Id="rId5" Type="http://schemas.openxmlformats.org/officeDocument/2006/relationships/image" Target="../media/image73.png"/><Relationship Id="rId6" Type="http://schemas.openxmlformats.org/officeDocument/2006/relationships/image" Target="../media/image68.png"/><Relationship Id="rId7" Type="http://schemas.openxmlformats.org/officeDocument/2006/relationships/image" Target="../media/image15.png"/><Relationship Id="rId8" Type="http://schemas.openxmlformats.org/officeDocument/2006/relationships/image" Target="../media/image74.png"/><Relationship Id="rId9" Type="http://schemas.openxmlformats.org/officeDocument/2006/relationships/image" Target="../media/image67.png"/><Relationship Id="rId10" Type="http://schemas.openxmlformats.org/officeDocument/2006/relationships/image" Target="../media/image7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6.png"/><Relationship Id="rId4" Type="http://schemas.openxmlformats.org/officeDocument/2006/relationships/hyperlink" Target="http://localhost:8000/api/art/24c555d0c7880add8b32"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77.png"/><Relationship Id="rId4" Type="http://schemas.openxmlformats.org/officeDocument/2006/relationships/hyperlink" Target="http://localhost:8000/api/art/4a70ed06d33c978096cb"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78.png"/><Relationship Id="rId4" Type="http://schemas.openxmlformats.org/officeDocument/2006/relationships/hyperlink" Target="http://localhost:8000/api/art/2ead53b7a1ec8dad88d1" TargetMode="External"/><Relationship Id="rId5" Type="http://schemas.openxmlformats.org/officeDocument/2006/relationships/image" Target="../media/image79.png"/><Relationship Id="rId6" Type="http://schemas.openxmlformats.org/officeDocument/2006/relationships/image" Target="../media/image19.png"/><Relationship Id="rId7" Type="http://schemas.openxmlformats.org/officeDocument/2006/relationships/image" Target="../media/image80.png"/><Relationship Id="rId8" Type="http://schemas.openxmlformats.org/officeDocument/2006/relationships/image" Target="../media/image21.png"/><Relationship Id="rId9" Type="http://schemas.openxmlformats.org/officeDocument/2006/relationships/image" Target="../media/image51.png"/><Relationship Id="rId10" Type="http://schemas.openxmlformats.org/officeDocument/2006/relationships/image" Target="../media/image8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82.png"/><Relationship Id="rId4" Type="http://schemas.openxmlformats.org/officeDocument/2006/relationships/hyperlink" Target="http://localhost:8000/api/art/ca1661a9cbc8a1adbd46" TargetMode="External"/><Relationship Id="rId5" Type="http://schemas.openxmlformats.org/officeDocument/2006/relationships/image" Target="../media/image83.png"/><Relationship Id="rId6" Type="http://schemas.openxmlformats.org/officeDocument/2006/relationships/image" Target="../media/image21.png"/><Relationship Id="rId7" Type="http://schemas.openxmlformats.org/officeDocument/2006/relationships/image" Target="../media/image84.png"/><Relationship Id="rId8" Type="http://schemas.openxmlformats.org/officeDocument/2006/relationships/image" Target="../media/image4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85.png"/><Relationship Id="rId4" Type="http://schemas.openxmlformats.org/officeDocument/2006/relationships/hyperlink" Target="http://localhost:8000/api/art/bea2a0808a79c8772caa" TargetMode="External"/><Relationship Id="rId5" Type="http://schemas.openxmlformats.org/officeDocument/2006/relationships/image" Target="../media/image86.png"/><Relationship Id="rId6" Type="http://schemas.openxmlformats.org/officeDocument/2006/relationships/image" Target="../media/image15.png"/><Relationship Id="rId7" Type="http://schemas.openxmlformats.org/officeDocument/2006/relationships/image" Target="../media/image6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8306E"/>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57F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BD63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A2FB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Bebas Neue"/>
              </a:rPr>
              <a:t>Regression</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FFFFFF"/>
                </a:solidFill>
              </a:defRPr>
            </a:pPr>
            <a:r>
              <a:rPr>
                <a:latin typeface="Inter"/>
              </a:rPr>
              <a:t>Dr. Mrunal Rane · Andrew Ng  •  69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The syllabus outlines key supervised learning techniques and their mathematical foundations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 / 69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7"/>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67255"/>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98448" y="1371599"/>
            <a:ext cx="2732532" cy="1048512"/>
          </a:xfrm>
          <a:prstGeom prst="rect">
            <a:avLst/>
          </a:prstGeom>
          <a:noFill/>
        </p:spPr>
        <p:txBody>
          <a:bodyPr wrap="square" anchor="ctr" lIns="0" tIns="0" rIns="0" bIns="0">
            <a:spAutoFit/>
          </a:bodyPr>
          <a:lstStyle/>
          <a:p>
            <a:pPr algn="l"/>
            <a:r>
              <a:rPr sz="2160" b="1">
                <a:solidFill>
                  <a:srgbClr val="A8306E"/>
                </a:solidFill>
                <a:latin typeface="Bebas Neue"/>
              </a:rPr>
              <a:t>Linear Regression</a:t>
            </a:r>
          </a:p>
        </p:txBody>
      </p:sp>
      <p:sp>
        <p:nvSpPr>
          <p:cNvPr id="11" name="Rounded Rectangle 10"/>
          <p:cNvSpPr/>
          <p:nvPr/>
        </p:nvSpPr>
        <p:spPr>
          <a:xfrm>
            <a:off x="4433315" y="1298447"/>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34483" y="1667255"/>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5274563" y="1371599"/>
            <a:ext cx="2732532" cy="1048512"/>
          </a:xfrm>
          <a:prstGeom prst="rect">
            <a:avLst/>
          </a:prstGeom>
          <a:noFill/>
        </p:spPr>
        <p:txBody>
          <a:bodyPr wrap="square" anchor="ctr" lIns="0" tIns="0" rIns="0" bIns="0">
            <a:spAutoFit/>
          </a:bodyPr>
          <a:lstStyle/>
          <a:p>
            <a:pPr algn="l"/>
            <a:r>
              <a:rPr sz="2160" b="1">
                <a:solidFill>
                  <a:srgbClr val="A8306E"/>
                </a:solidFill>
                <a:latin typeface="Bebas Neue"/>
              </a:rPr>
              <a:t>Gradient Descent</a:t>
            </a:r>
          </a:p>
        </p:txBody>
      </p:sp>
      <p:sp>
        <p:nvSpPr>
          <p:cNvPr id="14" name="Rounded Rectangle 13"/>
          <p:cNvSpPr/>
          <p:nvPr/>
        </p:nvSpPr>
        <p:spPr>
          <a:xfrm>
            <a:off x="457200" y="2694431"/>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063239"/>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298448" y="2767583"/>
            <a:ext cx="2732532" cy="1048512"/>
          </a:xfrm>
          <a:prstGeom prst="rect">
            <a:avLst/>
          </a:prstGeom>
          <a:noFill/>
        </p:spPr>
        <p:txBody>
          <a:bodyPr wrap="square" anchor="ctr" lIns="0" tIns="0" rIns="0" bIns="0">
            <a:spAutoFit/>
          </a:bodyPr>
          <a:lstStyle/>
          <a:p>
            <a:pPr algn="l"/>
            <a:r>
              <a:rPr sz="2160" b="1">
                <a:solidFill>
                  <a:srgbClr val="A8306E"/>
                </a:solidFill>
                <a:latin typeface="Bebas Neue"/>
              </a:rPr>
              <a:t>Lasso and Ridge Regression</a:t>
            </a:r>
          </a:p>
        </p:txBody>
      </p:sp>
      <p:sp>
        <p:nvSpPr>
          <p:cNvPr id="17" name="Rounded Rectangle 16"/>
          <p:cNvSpPr/>
          <p:nvPr/>
        </p:nvSpPr>
        <p:spPr>
          <a:xfrm>
            <a:off x="4433315" y="2694431"/>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34483" y="3063239"/>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5274563" y="2767583"/>
            <a:ext cx="2732532" cy="1048512"/>
          </a:xfrm>
          <a:prstGeom prst="rect">
            <a:avLst/>
          </a:prstGeom>
          <a:noFill/>
        </p:spPr>
        <p:txBody>
          <a:bodyPr wrap="square" anchor="ctr" lIns="0" tIns="0" rIns="0" bIns="0">
            <a:spAutoFit/>
          </a:bodyPr>
          <a:lstStyle/>
          <a:p>
            <a:pPr algn="l"/>
            <a:r>
              <a:rPr sz="2160" b="1">
                <a:solidFill>
                  <a:srgbClr val="A8306E"/>
                </a:solidFill>
                <a:latin typeface="Bebas Neue"/>
              </a:rPr>
              <a:t>Polynomial Regression</a:t>
            </a:r>
          </a:p>
        </p:txBody>
      </p:sp>
      <p:sp>
        <p:nvSpPr>
          <p:cNvPr id="20" name="Rounded Rectangle 19"/>
          <p:cNvSpPr/>
          <p:nvPr/>
        </p:nvSpPr>
        <p:spPr>
          <a:xfrm>
            <a:off x="457200" y="4090415"/>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459223"/>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298448" y="4163567"/>
            <a:ext cx="2732532" cy="1048512"/>
          </a:xfrm>
          <a:prstGeom prst="rect">
            <a:avLst/>
          </a:prstGeom>
          <a:noFill/>
        </p:spPr>
        <p:txBody>
          <a:bodyPr wrap="square" anchor="ctr" lIns="0" tIns="0" rIns="0" bIns="0">
            <a:spAutoFit/>
          </a:bodyPr>
          <a:lstStyle/>
          <a:p>
            <a:pPr algn="l"/>
            <a:r>
              <a:rPr sz="2160" b="1">
                <a:solidFill>
                  <a:srgbClr val="A8306E"/>
                </a:solidFill>
                <a:latin typeface="Bebas Neue"/>
              </a:rPr>
              <a:t>Logistic Regression</a:t>
            </a:r>
          </a:p>
        </p:txBody>
      </p:sp>
      <p:sp>
        <p:nvSpPr>
          <p:cNvPr id="23" name="Rounded Rectangle 22"/>
          <p:cNvSpPr/>
          <p:nvPr/>
        </p:nvSpPr>
        <p:spPr>
          <a:xfrm>
            <a:off x="4433315" y="4090415"/>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34483" y="4459223"/>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5274563" y="4163567"/>
            <a:ext cx="2732532" cy="1048512"/>
          </a:xfrm>
          <a:prstGeom prst="rect">
            <a:avLst/>
          </a:prstGeom>
          <a:noFill/>
        </p:spPr>
        <p:txBody>
          <a:bodyPr wrap="square" anchor="ctr" lIns="0" tIns="0" rIns="0" bIns="0">
            <a:spAutoFit/>
          </a:bodyPr>
          <a:lstStyle/>
          <a:p>
            <a:pPr algn="l"/>
            <a:r>
              <a:rPr sz="2160" b="1">
                <a:solidFill>
                  <a:srgbClr val="A8306E"/>
                </a:solidFill>
                <a:latin typeface="Bebas Neue"/>
              </a:rPr>
              <a:t>Maximum Likelihood Function</a:t>
            </a:r>
          </a:p>
        </p:txBody>
      </p:sp>
      <p:sp>
        <p:nvSpPr>
          <p:cNvPr id="26" name="Rounded Rectangle 25"/>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8306E"/>
                </a:solidFill>
                <a:latin typeface="Bebas Neue"/>
              </a:rPr>
              <a:t>Key takeaway:  </a:t>
            </a:r>
            <a:r>
              <a:rPr sz="1300" b="0">
                <a:solidFill>
                  <a:srgbClr val="111111"/>
                </a:solidFill>
                <a:latin typeface="Inter"/>
              </a:rPr>
              <a:t>The syllabus covers supervised learning techniques like linear regression, gradient descent, and logistic regression.</a:t>
            </a:r>
          </a:p>
          <a:p>
            <a:pPr algn="l"/>
            <a:r>
              <a:rPr b="1" sz="1300">
                <a:solidFill>
                  <a:srgbClr val="A8306E"/>
                </a:solidFill>
                <a:latin typeface="Bebas Neue"/>
              </a:rPr>
              <a:t>Key terms:  </a:t>
            </a:r>
            <a:r>
              <a:rPr sz="1300" b="0">
                <a:solidFill>
                  <a:srgbClr val="111111"/>
                </a:solidFill>
                <a:latin typeface="Inter"/>
              </a:rPr>
              <a:t>Regression — supervised machine learning technique which is used to predict continuous values</a:t>
            </a:r>
          </a:p>
        </p:txBody>
      </p:sp>
      <p:sp>
        <p:nvSpPr>
          <p:cNvPr id="27" name="Rectangle 26"/>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Regression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 / 69</a:t>
            </a:r>
          </a:p>
        </p:txBody>
      </p:sp>
      <p:sp>
        <p:nvSpPr>
          <p:cNvPr id="7" name="Rounded Rectangle 6">
            <a:hlinkClick r:id="rId3"/>
          </p:cNvPr>
          <p:cNvSpPr/>
          <p:nvPr/>
        </p:nvSpPr>
        <p:spPr>
          <a:xfrm>
            <a:off x="3642055" y="6455664"/>
            <a:ext cx="4904841" cy="310896"/>
          </a:xfrm>
          <a:prstGeom prst="round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Regression — step-through</a:t>
            </a:r>
          </a:p>
        </p:txBody>
      </p:sp>
      <p:pic>
        <p:nvPicPr>
          <p:cNvPr id="8" name="Picture 7" descr="image.jpg"/>
          <p:cNvPicPr>
            <a:picLocks noChangeAspect="1"/>
          </p:cNvPicPr>
          <p:nvPr/>
        </p:nvPicPr>
        <p:blipFill>
          <a:blip r:embed="rId4"/>
          <a:stretch>
            <a:fillRect/>
          </a:stretch>
        </p:blipFill>
        <p:spPr>
          <a:xfrm>
            <a:off x="7672913" y="2371836"/>
            <a:ext cx="4058838" cy="1840006"/>
          </a:xfrm>
          <a:prstGeom prst="rect">
            <a:avLst/>
          </a:prstGeom>
        </p:spPr>
      </p:pic>
      <p:sp>
        <p:nvSpPr>
          <p:cNvPr id="9" name="Rounded Rectangle 8"/>
          <p:cNvSpPr/>
          <p:nvPr/>
        </p:nvSpPr>
        <p:spPr>
          <a:xfrm>
            <a:off x="457200" y="1298448"/>
            <a:ext cx="7014545" cy="1390624"/>
          </a:xfrm>
          <a:prstGeom prst="roundRect">
            <a:avLst>
              <a:gd name="adj" fmla="val 14466"/>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99616"/>
            <a:ext cx="91440" cy="98828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1499616"/>
            <a:ext cx="6429329" cy="988288"/>
          </a:xfrm>
          <a:prstGeom prst="rect">
            <a:avLst/>
          </a:prstGeom>
          <a:noFill/>
        </p:spPr>
        <p:txBody>
          <a:bodyPr wrap="square" anchor="ctr" lIns="0" tIns="0" rIns="0" bIns="0">
            <a:spAutoFit/>
          </a:bodyPr>
          <a:lstStyle/>
          <a:p>
            <a:pPr algn="l"/>
            <a:r>
              <a:rPr sz="2460" b="1">
                <a:solidFill>
                  <a:srgbClr val="A8306E"/>
                </a:solidFill>
                <a:latin typeface="Bebas Neue"/>
              </a:rPr>
              <a:t>Regression</a:t>
            </a:r>
          </a:p>
          <a:p>
            <a:pPr algn="l">
              <a:spcBef>
                <a:spcPts val="800"/>
              </a:spcBef>
            </a:pPr>
            <a:r>
              <a:rPr sz="1450" b="0">
                <a:solidFill>
                  <a:srgbClr val="111111"/>
                </a:solidFill>
                <a:latin typeface="Inter"/>
              </a:rPr>
              <a:t>Regression is a supervised machine learning technique which is used to predict continuous values.</a:t>
            </a:r>
          </a:p>
        </p:txBody>
      </p:sp>
      <p:sp>
        <p:nvSpPr>
          <p:cNvPr id="12" name="Rounded Rectangle 11"/>
          <p:cNvSpPr/>
          <p:nvPr/>
        </p:nvSpPr>
        <p:spPr>
          <a:xfrm>
            <a:off x="457200" y="2890240"/>
            <a:ext cx="3406688" cy="651150"/>
          </a:xfrm>
          <a:prstGeom prst="roundRect">
            <a:avLst>
              <a:gd name="adj" fmla="val 2162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091408"/>
            <a:ext cx="3004352" cy="248814"/>
          </a:xfrm>
          <a:prstGeom prst="rect">
            <a:avLst/>
          </a:prstGeom>
          <a:noFill/>
        </p:spPr>
        <p:txBody>
          <a:bodyPr wrap="square" anchor="ctr" lIns="0" tIns="0" rIns="0" bIns="0">
            <a:spAutoFit/>
          </a:bodyPr>
          <a:lstStyle/>
          <a:p>
            <a:pPr algn="l"/>
            <a:r>
              <a:rPr sz="1050" b="0">
                <a:solidFill>
                  <a:srgbClr val="111111"/>
                </a:solidFill>
                <a:latin typeface="Inter"/>
              </a:rPr>
              <a:t>Regression analysis is a set of statistical methods used for the estimation of relationships between a dependent variable and one or more independent variables.</a:t>
            </a:r>
          </a:p>
        </p:txBody>
      </p:sp>
      <p:sp>
        <p:nvSpPr>
          <p:cNvPr id="14" name="Rounded Rectangle 13"/>
          <p:cNvSpPr/>
          <p:nvPr/>
        </p:nvSpPr>
        <p:spPr>
          <a:xfrm>
            <a:off x="4065056" y="2890240"/>
            <a:ext cx="3406688" cy="651150"/>
          </a:xfrm>
          <a:prstGeom prst="roundRect">
            <a:avLst>
              <a:gd name="adj" fmla="val 2162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66224" y="3091408"/>
            <a:ext cx="3004352" cy="248814"/>
          </a:xfrm>
          <a:prstGeom prst="rect">
            <a:avLst/>
          </a:prstGeom>
          <a:noFill/>
        </p:spPr>
        <p:txBody>
          <a:bodyPr wrap="square" anchor="ctr" lIns="0" tIns="0" rIns="0" bIns="0">
            <a:spAutoFit/>
          </a:bodyPr>
          <a:lstStyle/>
          <a:p>
            <a:pPr algn="l"/>
            <a:r>
              <a:rPr sz="1050" b="0">
                <a:solidFill>
                  <a:srgbClr val="111111"/>
                </a:solidFill>
                <a:latin typeface="Inter"/>
              </a:rPr>
              <a:t>It can be utilized to assess the strength of the relationship between variables and for modeling the future relationship between them.</a:t>
            </a:r>
          </a:p>
        </p:txBody>
      </p:sp>
      <p:sp>
        <p:nvSpPr>
          <p:cNvPr id="16" name="Rounded Rectangle 15"/>
          <p:cNvSpPr/>
          <p:nvPr/>
        </p:nvSpPr>
        <p:spPr>
          <a:xfrm>
            <a:off x="457200" y="3742558"/>
            <a:ext cx="7014545" cy="1542673"/>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2558"/>
            <a:ext cx="73152" cy="1542673"/>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15710"/>
            <a:ext cx="6619524" cy="1396369"/>
          </a:xfrm>
          <a:prstGeom prst="rect">
            <a:avLst/>
          </a:prstGeom>
          <a:noFill/>
        </p:spPr>
        <p:txBody>
          <a:bodyPr wrap="square" anchor="ctr" lIns="0" tIns="0" rIns="0" bIns="0">
            <a:spAutoFit/>
          </a:bodyPr>
          <a:lstStyle/>
          <a:p>
            <a:pPr algn="l"/>
            <a:r>
              <a:rPr sz="790" b="1">
                <a:solidFill>
                  <a:srgbClr val="A8306E"/>
                </a:solidFill>
                <a:latin typeface="Bebas Neue"/>
              </a:rPr>
              <a:t>IN PLAIN WORDS</a:t>
            </a:r>
          </a:p>
          <a:p>
            <a:pPr algn="l">
              <a:spcBef>
                <a:spcPts val="300"/>
              </a:spcBef>
            </a:pPr>
            <a:r>
              <a:rPr sz="1100" b="0">
                <a:solidFill>
                  <a:srgbClr val="111111"/>
                </a:solidFill>
                <a:latin typeface="Inter"/>
              </a:rPr>
              <a:t>Regression learns from labeled data to estimate how a dependent variable changes with one or more independent variables. It measures the strength of these relationships and can forecast future values. The technique is essential for tasks where outcomes are numeric, such as predicting house prices or stock returns. For example, estimating a student's final grade from hours studied and attendance.</a:t>
            </a:r>
          </a:p>
          <a:p>
            <a:pPr algn="l">
              <a:spcBef>
                <a:spcPts val="300"/>
              </a:spcBef>
            </a:pPr>
            <a:r>
              <a:rPr sz="1100" b="0">
                <a:solidFill>
                  <a:srgbClr val="111111"/>
                </a:solidFill>
                <a:latin typeface="Inter"/>
              </a:rPr>
              <a:t>Is Supervised or Unsupervised? What is the basic requirement of Supervised learning?</a:t>
            </a:r>
          </a:p>
        </p:txBody>
      </p:sp>
      <p:sp>
        <p:nvSpPr>
          <p:cNvPr id="19" name="Rounded Rectangle 18"/>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100">
                <a:solidFill>
                  <a:srgbClr val="A8306E"/>
                </a:solidFill>
                <a:latin typeface="Bebas Neue"/>
              </a:rPr>
              <a:t>Key takeaway:  </a:t>
            </a:r>
            <a:r>
              <a:rPr sz="1100" b="0">
                <a:solidFill>
                  <a:srgbClr val="111111"/>
                </a:solidFill>
                <a:latin typeface="Inter"/>
              </a:rPr>
              <a:t>Regression is a supervised machine learning technique used to predict continuous values and estimate variable relationships.</a:t>
            </a:r>
          </a:p>
          <a:p>
            <a:pPr algn="l"/>
            <a:r>
              <a:rPr b="1" sz="1100">
                <a:solidFill>
                  <a:srgbClr val="A8306E"/>
                </a:solidFill>
                <a:latin typeface="Bebas Neue"/>
              </a:rPr>
              <a:t>Key terms:  </a:t>
            </a:r>
            <a:r>
              <a:rPr sz="1100" b="0">
                <a:solidFill>
                  <a:srgbClr val="111111"/>
                </a:solidFill>
                <a:latin typeface="Inter"/>
              </a:rPr>
              <a:t>dependent variable — the outcome we aim to predict in regression analysis  ·  independent variable — the predictor or feature used to estimate the dependent variable</a:t>
            </a:r>
          </a:p>
        </p:txBody>
      </p:sp>
      <p:sp>
        <p:nvSpPr>
          <p:cNvPr id="20" name="Rectangle 19"/>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Predicting a person's age from features is a regression task, not a classification task</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 / 69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ounded Rectangle 7"/>
          <p:cNvSpPr/>
          <p:nvPr/>
        </p:nvSpPr>
        <p:spPr>
          <a:xfrm>
            <a:off x="457200" y="1298448"/>
            <a:ext cx="7691018" cy="1205571"/>
          </a:xfrm>
          <a:prstGeom prst="roundRect">
            <a:avLst>
              <a:gd name="adj" fmla="val 116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776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31155"/>
            <a:ext cx="340156" cy="340156"/>
          </a:xfrm>
          <a:prstGeom prst="rect">
            <a:avLst/>
          </a:prstGeom>
        </p:spPr>
      </p:pic>
      <p:sp>
        <p:nvSpPr>
          <p:cNvPr id="11" name="TextBox 10"/>
          <p:cNvSpPr txBox="1"/>
          <p:nvPr/>
        </p:nvSpPr>
        <p:spPr>
          <a:xfrm>
            <a:off x="1408175" y="1371600"/>
            <a:ext cx="6538874" cy="1059267"/>
          </a:xfrm>
          <a:prstGeom prst="rect">
            <a:avLst/>
          </a:prstGeom>
          <a:noFill/>
        </p:spPr>
        <p:txBody>
          <a:bodyPr wrap="square" anchor="ctr" lIns="0" tIns="0" rIns="0" bIns="0">
            <a:spAutoFit/>
          </a:bodyPr>
          <a:lstStyle/>
          <a:p>
            <a:pPr algn="l"/>
            <a:r>
              <a:rPr sz="2280" b="1">
                <a:solidFill>
                  <a:srgbClr val="A8306E"/>
                </a:solidFill>
                <a:latin typeface="Bebas Neue"/>
              </a:rPr>
              <a:t>Predict age of a person</a:t>
            </a:r>
          </a:p>
          <a:p>
            <a:pPr algn="l">
              <a:spcBef>
                <a:spcPts val="500"/>
              </a:spcBef>
            </a:pPr>
            <a:r>
              <a:rPr sz="1900" b="0">
                <a:solidFill>
                  <a:srgbClr val="111111"/>
                </a:solidFill>
                <a:latin typeface="Inter"/>
              </a:rPr>
              <a:t>A regression task to predict a continuous value (age) for a person from features.</a:t>
            </a:r>
          </a:p>
        </p:txBody>
      </p:sp>
      <p:sp>
        <p:nvSpPr>
          <p:cNvPr id="12" name="Rounded Rectangle 11"/>
          <p:cNvSpPr/>
          <p:nvPr/>
        </p:nvSpPr>
        <p:spPr>
          <a:xfrm>
            <a:off x="457200" y="2705187"/>
            <a:ext cx="7691018" cy="1205571"/>
          </a:xfrm>
          <a:prstGeom prst="roundRect">
            <a:avLst>
              <a:gd name="adj" fmla="val 116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02450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137895"/>
            <a:ext cx="340156" cy="340156"/>
          </a:xfrm>
          <a:prstGeom prst="rect">
            <a:avLst/>
          </a:prstGeom>
        </p:spPr>
      </p:pic>
      <p:sp>
        <p:nvSpPr>
          <p:cNvPr id="15" name="TextBox 14"/>
          <p:cNvSpPr txBox="1"/>
          <p:nvPr/>
        </p:nvSpPr>
        <p:spPr>
          <a:xfrm>
            <a:off x="1408175" y="2778339"/>
            <a:ext cx="6538874" cy="1059267"/>
          </a:xfrm>
          <a:prstGeom prst="rect">
            <a:avLst/>
          </a:prstGeom>
          <a:noFill/>
        </p:spPr>
        <p:txBody>
          <a:bodyPr wrap="square" anchor="ctr" lIns="0" tIns="0" rIns="0" bIns="0">
            <a:spAutoFit/>
          </a:bodyPr>
          <a:lstStyle/>
          <a:p>
            <a:pPr algn="l"/>
            <a:r>
              <a:rPr sz="2280" b="1">
                <a:solidFill>
                  <a:srgbClr val="A8306E"/>
                </a:solidFill>
                <a:latin typeface="Bebas Neue"/>
              </a:rPr>
              <a:t>Predict the country</a:t>
            </a:r>
          </a:p>
          <a:p>
            <a:pPr algn="l">
              <a:spcBef>
                <a:spcPts val="500"/>
              </a:spcBef>
            </a:pPr>
            <a:r>
              <a:rPr sz="1900" b="0">
                <a:solidFill>
                  <a:srgbClr val="111111"/>
                </a:solidFill>
                <a:latin typeface="Inter"/>
              </a:rPr>
              <a:t>A classification task to determine the origin country of a person.</a:t>
            </a:r>
          </a:p>
        </p:txBody>
      </p:sp>
      <p:sp>
        <p:nvSpPr>
          <p:cNvPr id="16" name="Rounded Rectangle 15"/>
          <p:cNvSpPr/>
          <p:nvPr/>
        </p:nvSpPr>
        <p:spPr>
          <a:xfrm>
            <a:off x="457200" y="4111927"/>
            <a:ext cx="7691018" cy="1205571"/>
          </a:xfrm>
          <a:prstGeom prst="roundRect">
            <a:avLst>
              <a:gd name="adj" fmla="val 116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43124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544635"/>
            <a:ext cx="340156" cy="340156"/>
          </a:xfrm>
          <a:prstGeom prst="rect">
            <a:avLst/>
          </a:prstGeom>
        </p:spPr>
      </p:pic>
      <p:sp>
        <p:nvSpPr>
          <p:cNvPr id="19" name="TextBox 18"/>
          <p:cNvSpPr txBox="1"/>
          <p:nvPr/>
        </p:nvSpPr>
        <p:spPr>
          <a:xfrm>
            <a:off x="1408175" y="4185079"/>
            <a:ext cx="6538874" cy="1059267"/>
          </a:xfrm>
          <a:prstGeom prst="rect">
            <a:avLst/>
          </a:prstGeom>
          <a:noFill/>
        </p:spPr>
        <p:txBody>
          <a:bodyPr wrap="square" anchor="ctr" lIns="0" tIns="0" rIns="0" bIns="0">
            <a:spAutoFit/>
          </a:bodyPr>
          <a:lstStyle/>
          <a:p>
            <a:pPr algn="l"/>
            <a:r>
              <a:rPr sz="2280" b="1">
                <a:solidFill>
                  <a:srgbClr val="A8306E"/>
                </a:solidFill>
                <a:latin typeface="Bebas Neue"/>
              </a:rPr>
              <a:t>Stock price prediction</a:t>
            </a:r>
          </a:p>
          <a:p>
            <a:pPr algn="l">
              <a:spcBef>
                <a:spcPts val="500"/>
              </a:spcBef>
            </a:pPr>
            <a:r>
              <a:rPr sz="1900" b="0">
                <a:solidFill>
                  <a:srgbClr val="111111"/>
                </a:solidFill>
                <a:latin typeface="Inter"/>
              </a:rPr>
              <a:t>Predicting whether the stock price of a company will increase tomorrow (binary classification).</a:t>
            </a:r>
          </a:p>
        </p:txBody>
      </p:sp>
      <p:sp>
        <p:nvSpPr>
          <p:cNvPr id="20" name="Rounded Rectangle 19"/>
          <p:cNvSpPr/>
          <p:nvPr/>
        </p:nvSpPr>
        <p:spPr>
          <a:xfrm>
            <a:off x="457200" y="5518667"/>
            <a:ext cx="7691018" cy="88213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518667"/>
            <a:ext cx="73152" cy="88213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5591819"/>
            <a:ext cx="7295997" cy="73582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Which of the following is a regression task?ch of the following is a regression task? from where the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Regression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 / 69</a:t>
            </a:r>
          </a:p>
        </p:txBody>
      </p:sp>
      <p:sp>
        <p:nvSpPr>
          <p:cNvPr id="7" name="Rounded Rectangle 6"/>
          <p:cNvSpPr/>
          <p:nvPr/>
        </p:nvSpPr>
        <p:spPr>
          <a:xfrm>
            <a:off x="1687068" y="1298448"/>
            <a:ext cx="8814815"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51660" y="1463040"/>
            <a:ext cx="8485632" cy="4773168"/>
          </a:xfrm>
          <a:prstGeom prst="rect">
            <a:avLst/>
          </a:prstGeom>
        </p:spPr>
      </p:pic>
    </p:spTree>
  </p:cSld>
  <p:clrMapOvr>
    <a:masterClrMapping/>
  </p:clrMapOvr>
  <p:transition spd="med">
    <p:zoom dir="in"/>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8306E"/>
                </a:solidFill>
                <a:latin typeface="Bebas Neue"/>
              </a:rPr>
              <a:t>Which term matches this description: “the outcome we aim to predict in regression analysis”?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independent variable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Fixed learning rate</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Diverge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dependent variable</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D</a:t>
            </a:r>
          </a:p>
          <a:p>
            <a:pPr algn="l">
              <a:spcBef>
                <a:spcPts val="200"/>
              </a:spcBef>
            </a:pPr>
            <a:r>
              <a:rPr sz="1600" b="0">
                <a:solidFill>
                  <a:srgbClr val="FFFFFF"/>
                </a:solidFill>
                <a:latin typeface="Inter"/>
              </a:rPr>
              <a:t>dependent variable: the outcome we aim to predict in regression analysis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Some fits to the data : which is the best?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 / 69</a:t>
            </a:r>
          </a:p>
        </p:txBody>
      </p:sp>
      <p:sp>
        <p:nvSpPr>
          <p:cNvPr id="7" name="Rounded Rectangle 6"/>
          <p:cNvSpPr/>
          <p:nvPr/>
        </p:nvSpPr>
        <p:spPr>
          <a:xfrm>
            <a:off x="2738719" y="1298448"/>
            <a:ext cx="6711513"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03311" y="1463040"/>
            <a:ext cx="6382329" cy="4773168"/>
          </a:xfrm>
          <a:prstGeom prst="rect">
            <a:avLst/>
          </a:prstGeom>
        </p:spPr>
      </p:pic>
    </p:spTree>
  </p:cSld>
  <p:clrMapOvr>
    <a:masterClrMapping/>
  </p:clrMapOvr>
  <p:transition spd="med">
    <p:cover dir="r"/>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Types of regression models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 / 69</a:t>
            </a:r>
          </a:p>
        </p:txBody>
      </p:sp>
      <p:sp>
        <p:nvSpPr>
          <p:cNvPr id="7" name="Rounded Rectangle 6"/>
          <p:cNvSpPr/>
          <p:nvPr/>
        </p:nvSpPr>
        <p:spPr>
          <a:xfrm>
            <a:off x="457199" y="1374956"/>
            <a:ext cx="11274552" cy="4537854"/>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1539548"/>
            <a:ext cx="10945368" cy="4208670"/>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No of Type of independent pees ai wie dependent ‘ Regression line : variables variable</a:t>
            </a:r>
          </a:p>
        </p:txBody>
      </p:sp>
    </p:spTree>
  </p:cSld>
  <p:clrMapOvr>
    <a:masterClrMapping/>
  </p:clrMapOvr>
  <p:transition spd="med">
    <p:zoom dir="in"/>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Types of regression models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 / 69</a:t>
            </a:r>
          </a:p>
        </p:txBody>
      </p:sp>
      <p:sp>
        <p:nvSpPr>
          <p:cNvPr id="7" name="Rounded Rectangle 6"/>
          <p:cNvSpPr/>
          <p:nvPr/>
        </p:nvSpPr>
        <p:spPr>
          <a:xfrm>
            <a:off x="892877" y="1298448"/>
            <a:ext cx="10403196" cy="469087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057469" y="1463040"/>
            <a:ext cx="10074012"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Regression 1 feature Models 2+ features = Non- F Non- Linear Linear c Linear Linear</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Housing price prediction is a supervised regression problem using size as the input feature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 / 69</a:t>
            </a:r>
          </a:p>
        </p:txBody>
      </p:sp>
      <p:sp>
        <p:nvSpPr>
          <p:cNvPr id="8" name="Rounded Rectangle 7"/>
          <p:cNvSpPr/>
          <p:nvPr/>
        </p:nvSpPr>
        <p:spPr>
          <a:xfrm>
            <a:off x="457200" y="1443323"/>
            <a:ext cx="11274552" cy="1270139"/>
          </a:xfrm>
          <a:prstGeom prst="roundRect">
            <a:avLst>
              <a:gd name="adj" fmla="val 1108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849793"/>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516475"/>
            <a:ext cx="10213848" cy="1123835"/>
          </a:xfrm>
          <a:prstGeom prst="rect">
            <a:avLst/>
          </a:prstGeom>
          <a:noFill/>
        </p:spPr>
        <p:txBody>
          <a:bodyPr wrap="square" anchor="ctr" lIns="0" tIns="0" rIns="0" bIns="0">
            <a:spAutoFit/>
          </a:bodyPr>
          <a:lstStyle/>
          <a:p>
            <a:pPr algn="l"/>
            <a:r>
              <a:rPr sz="2180" b="1">
                <a:solidFill>
                  <a:srgbClr val="A8306E"/>
                </a:solidFill>
                <a:latin typeface="Bebas Neue"/>
              </a:rPr>
              <a:t>Identify the target values</a:t>
            </a:r>
          </a:p>
          <a:p>
            <a:pPr algn="l">
              <a:spcBef>
                <a:spcPts val="300"/>
              </a:spcBef>
            </a:pPr>
            <a:r>
              <a:rPr sz="1900" b="0">
                <a:solidFill>
                  <a:srgbClr val="111111"/>
                </a:solidFill>
                <a:latin typeface="Inter"/>
              </a:rPr>
              <a:t>We first list all the given housing prices from the dataset.</a:t>
            </a:r>
          </a:p>
        </p:txBody>
      </p:sp>
      <p:sp>
        <p:nvSpPr>
          <p:cNvPr id="11" name="Rounded Rectangle 10"/>
          <p:cNvSpPr/>
          <p:nvPr/>
        </p:nvSpPr>
        <p:spPr>
          <a:xfrm>
            <a:off x="457200" y="2834163"/>
            <a:ext cx="11274552" cy="1270139"/>
          </a:xfrm>
          <a:prstGeom prst="roundRect">
            <a:avLst>
              <a:gd name="adj" fmla="val 1108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3240633"/>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907315"/>
            <a:ext cx="10213848" cy="1123835"/>
          </a:xfrm>
          <a:prstGeom prst="rect">
            <a:avLst/>
          </a:prstGeom>
          <a:noFill/>
        </p:spPr>
        <p:txBody>
          <a:bodyPr wrap="square" anchor="ctr" lIns="0" tIns="0" rIns="0" bIns="0">
            <a:spAutoFit/>
          </a:bodyPr>
          <a:lstStyle/>
          <a:p>
            <a:pPr algn="l"/>
            <a:r>
              <a:rPr sz="2180" b="1">
                <a:solidFill>
                  <a:srgbClr val="A8306E"/>
                </a:solidFill>
                <a:latin typeface="Bebas Neue"/>
              </a:rPr>
              <a:t>Count the number of houses  —  N = 10</a:t>
            </a:r>
          </a:p>
          <a:p>
            <a:pPr algn="l">
              <a:spcBef>
                <a:spcPts val="300"/>
              </a:spcBef>
            </a:pPr>
            <a:r>
              <a:rPr sz="1900" b="0">
                <a:solidFill>
                  <a:srgbClr val="111111"/>
                </a:solidFill>
                <a:latin typeface="Inter"/>
              </a:rPr>
              <a:t>There are 10 price values in total in this dataset.</a:t>
            </a:r>
          </a:p>
        </p:txBody>
      </p:sp>
      <p:sp>
        <p:nvSpPr>
          <p:cNvPr id="14" name="Rounded Rectangle 13"/>
          <p:cNvSpPr/>
          <p:nvPr/>
        </p:nvSpPr>
        <p:spPr>
          <a:xfrm>
            <a:off x="457200" y="4225004"/>
            <a:ext cx="11274552" cy="1270139"/>
          </a:xfrm>
          <a:prstGeom prst="roundRect">
            <a:avLst>
              <a:gd name="adj" fmla="val 1108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4631474"/>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4298156"/>
            <a:ext cx="10213848" cy="1123835"/>
          </a:xfrm>
          <a:prstGeom prst="rect">
            <a:avLst/>
          </a:prstGeom>
          <a:noFill/>
        </p:spPr>
        <p:txBody>
          <a:bodyPr wrap="square" anchor="ctr" lIns="0" tIns="0" rIns="0" bIns="0">
            <a:spAutoFit/>
          </a:bodyPr>
          <a:lstStyle/>
          <a:p>
            <a:pPr algn="l"/>
            <a:r>
              <a:rPr sz="2180" b="1">
                <a:solidFill>
                  <a:srgbClr val="A8306E"/>
                </a:solidFill>
                <a:latin typeface="Bebas Neue"/>
              </a:rPr>
              <a:t>Calculate the average price  —  Average = (3000000)/(10) = 300000</a:t>
            </a:r>
          </a:p>
          <a:p>
            <a:pPr algn="l">
              <a:spcBef>
                <a:spcPts val="300"/>
              </a:spcBef>
            </a:pPr>
            <a:r>
              <a:rPr sz="1900" b="0">
                <a:solidFill>
                  <a:srgbClr val="111111"/>
                </a:solidFill>
                <a:latin typeface="Inter"/>
              </a:rPr>
              <a:t>Divide the total sum by the number of houses to get the mean price, which is a baseline regression prediction.</a:t>
            </a:r>
          </a:p>
        </p:txBody>
      </p:sp>
      <p:sp>
        <p:nvSpPr>
          <p:cNvPr id="17" name="Rounded Rectangle 16"/>
          <p:cNvSpPr/>
          <p:nvPr/>
        </p:nvSpPr>
        <p:spPr>
          <a:xfrm>
            <a:off x="457200" y="5760720"/>
            <a:ext cx="11274552" cy="640080"/>
          </a:xfrm>
          <a:prstGeom prst="roundRect">
            <a:avLst>
              <a:gd name="adj" fmla="val 2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2200" b="1">
                <a:solidFill>
                  <a:srgbClr val="FFFFFF"/>
                </a:solidFill>
                <a:latin typeface="Bebas Neue"/>
              </a:rPr>
              <a:t>Answer: 300000</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APPLY</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A8306E"/>
                </a:solidFill>
                <a:latin typeface="Bebas Neue"/>
              </a:rPr>
              <a:t>Which statement describes Advantages?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1850" b="0">
                <a:solidFill>
                  <a:srgbClr val="111111"/>
                </a:solidFill>
                <a:latin typeface="Inter"/>
              </a:rPr>
              <a:t>Lasso and Ridge Regression</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1850" b="0">
                <a:solidFill>
                  <a:srgbClr val="111111"/>
                </a:solidFill>
                <a:latin typeface="Inter"/>
              </a:rPr>
              <a:t>It is often quite prone to noise and overfitting</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1850" b="0">
                <a:solidFill>
                  <a:srgbClr val="111111"/>
                </a:solidFill>
                <a:latin typeface="Inter"/>
              </a:rPr>
              <a:t>What is the basic requirement of Supervised learning?</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1850" b="0">
                <a:solidFill>
                  <a:srgbClr val="111111"/>
                </a:solidFill>
                <a:latin typeface="Inter"/>
              </a:rPr>
              <a:t>Linear regression performs exceptionally well for linearly separable data</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D</a:t>
            </a:r>
          </a:p>
          <a:p>
            <a:pPr algn="l">
              <a:spcBef>
                <a:spcPts val="200"/>
              </a:spcBef>
            </a:pPr>
            <a:r>
              <a:rPr sz="1450" b="0">
                <a:solidFill>
                  <a:srgbClr val="FFFFFF"/>
                </a:solidFill>
                <a:latin typeface="Inter"/>
              </a:rPr>
              <a:t>Advantages: Linear regression performs exceptionally well for linearly separable data. Disadvantages: The assumption of linearity between dependent and independent variables.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How do we represent h ?</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 / 69</a:t>
            </a:r>
          </a:p>
        </p:txBody>
      </p:sp>
      <p:sp>
        <p:nvSpPr>
          <p:cNvPr id="8" name="Rounded Rectangle 7">
            <a:hlinkClick r:id="rId5"/>
          </p:cNvPr>
          <p:cNvSpPr/>
          <p:nvPr/>
        </p:nvSpPr>
        <p:spPr>
          <a:xfrm>
            <a:off x="3119018" y="6455664"/>
            <a:ext cx="5950915" cy="310896"/>
          </a:xfrm>
          <a:prstGeom prst="round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How do we represent h ? — step-through</a:t>
            </a:r>
          </a:p>
        </p:txBody>
      </p:sp>
      <p:sp>
        <p:nvSpPr>
          <p:cNvPr id="9" name="Rounded Rectangle 8"/>
          <p:cNvSpPr/>
          <p:nvPr/>
        </p:nvSpPr>
        <p:spPr>
          <a:xfrm>
            <a:off x="457200" y="1727031"/>
            <a:ext cx="3502152" cy="3403833"/>
          </a:xfrm>
          <a:prstGeom prst="roundRect">
            <a:avLst>
              <a:gd name="adj" fmla="val 4137"/>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928199"/>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1" name="TextBox 10"/>
          <p:cNvSpPr txBox="1"/>
          <p:nvPr/>
        </p:nvSpPr>
        <p:spPr>
          <a:xfrm>
            <a:off x="658368" y="2531703"/>
            <a:ext cx="3099816" cy="2397993"/>
          </a:xfrm>
          <a:prstGeom prst="rect">
            <a:avLst/>
          </a:prstGeom>
          <a:noFill/>
        </p:spPr>
        <p:txBody>
          <a:bodyPr wrap="square" anchor="t" lIns="0" tIns="0" rIns="0" bIns="0">
            <a:spAutoFit/>
          </a:bodyPr>
          <a:lstStyle/>
          <a:p>
            <a:pPr algn="l"/>
            <a:r>
              <a:rPr sz="2640" b="1">
                <a:solidFill>
                  <a:srgbClr val="A8306E"/>
                </a:solidFill>
                <a:latin typeface="Bebas Neue"/>
              </a:rPr>
              <a:t>Training Set</a:t>
            </a:r>
          </a:p>
          <a:p>
            <a:pPr algn="l">
              <a:spcBef>
                <a:spcPts val="500"/>
              </a:spcBef>
            </a:pPr>
            <a:r>
              <a:rPr sz="2200" b="0">
                <a:solidFill>
                  <a:srgbClr val="111111"/>
                </a:solidFill>
                <a:latin typeface="Inter"/>
              </a:rPr>
              <a:t>Input data (Size of house)</a:t>
            </a:r>
          </a:p>
        </p:txBody>
      </p:sp>
      <p:sp>
        <p:nvSpPr>
          <p:cNvPr id="12" name="Right Arrow 11"/>
          <p:cNvSpPr/>
          <p:nvPr/>
        </p:nvSpPr>
        <p:spPr>
          <a:xfrm>
            <a:off x="4014215" y="3273500"/>
            <a:ext cx="274320" cy="310896"/>
          </a:xfrm>
          <a:prstGeom prst="rightArrow">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727031"/>
            <a:ext cx="3502152" cy="3403833"/>
          </a:xfrm>
          <a:prstGeom prst="roundRect">
            <a:avLst>
              <a:gd name="adj" fmla="val 4137"/>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4568" y="1928199"/>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5" name="TextBox 14"/>
          <p:cNvSpPr txBox="1"/>
          <p:nvPr/>
        </p:nvSpPr>
        <p:spPr>
          <a:xfrm>
            <a:off x="4544568" y="2531703"/>
            <a:ext cx="3099816" cy="2397993"/>
          </a:xfrm>
          <a:prstGeom prst="rect">
            <a:avLst/>
          </a:prstGeom>
          <a:noFill/>
        </p:spPr>
        <p:txBody>
          <a:bodyPr wrap="square" anchor="t" lIns="0" tIns="0" rIns="0" bIns="0">
            <a:spAutoFit/>
          </a:bodyPr>
          <a:lstStyle/>
          <a:p>
            <a:pPr algn="l"/>
            <a:r>
              <a:rPr sz="2640" b="1">
                <a:solidFill>
                  <a:srgbClr val="A8306E"/>
                </a:solidFill>
                <a:latin typeface="Bebas Neue"/>
              </a:rPr>
              <a:t>Learning Algorithm</a:t>
            </a:r>
          </a:p>
          <a:p>
            <a:pPr algn="l">
              <a:spcBef>
                <a:spcPts val="500"/>
              </a:spcBef>
            </a:pPr>
            <a:r>
              <a:rPr sz="2200" b="0">
                <a:solidFill>
                  <a:srgbClr val="111111"/>
                </a:solidFill>
                <a:latin typeface="Inter"/>
              </a:rPr>
              <a:t>Univariate linear regression</a:t>
            </a:r>
          </a:p>
        </p:txBody>
      </p:sp>
      <p:sp>
        <p:nvSpPr>
          <p:cNvPr id="16" name="Right Arrow 15"/>
          <p:cNvSpPr/>
          <p:nvPr/>
        </p:nvSpPr>
        <p:spPr>
          <a:xfrm>
            <a:off x="7900416" y="3273500"/>
            <a:ext cx="274320" cy="310896"/>
          </a:xfrm>
          <a:prstGeom prst="rightArrow">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1727031"/>
            <a:ext cx="3502152" cy="3403833"/>
          </a:xfrm>
          <a:prstGeom prst="roundRect">
            <a:avLst>
              <a:gd name="adj" fmla="val 4137"/>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1928199"/>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9" name="TextBox 18"/>
          <p:cNvSpPr txBox="1"/>
          <p:nvPr/>
        </p:nvSpPr>
        <p:spPr>
          <a:xfrm>
            <a:off x="8430768" y="2531703"/>
            <a:ext cx="3099816" cy="2397993"/>
          </a:xfrm>
          <a:prstGeom prst="rect">
            <a:avLst/>
          </a:prstGeom>
          <a:noFill/>
        </p:spPr>
        <p:txBody>
          <a:bodyPr wrap="square" anchor="t" lIns="0" tIns="0" rIns="0" bIns="0">
            <a:spAutoFit/>
          </a:bodyPr>
          <a:lstStyle/>
          <a:p>
            <a:pPr algn="l"/>
            <a:r>
              <a:rPr sz="2640" b="1">
                <a:solidFill>
                  <a:srgbClr val="A8306E"/>
                </a:solidFill>
                <a:latin typeface="Bebas Neue"/>
              </a:rPr>
              <a:t>Estimated Price</a:t>
            </a:r>
          </a:p>
          <a:p>
            <a:pPr algn="l">
              <a:spcBef>
                <a:spcPts val="500"/>
              </a:spcBef>
            </a:pPr>
            <a:r>
              <a:rPr sz="2200" b="0">
                <a:solidFill>
                  <a:srgbClr val="111111"/>
                </a:solidFill>
                <a:latin typeface="Inter"/>
              </a:rPr>
              <a:t>Output prediction</a:t>
            </a:r>
          </a:p>
        </p:txBody>
      </p:sp>
      <p:sp>
        <p:nvSpPr>
          <p:cNvPr id="20" name="Rounded Rectangle 19"/>
          <p:cNvSpPr/>
          <p:nvPr/>
        </p:nvSpPr>
        <p:spPr>
          <a:xfrm>
            <a:off x="457200" y="5760617"/>
            <a:ext cx="11274552" cy="64018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60617"/>
            <a:ext cx="73152" cy="64018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5833769"/>
            <a:ext cx="10879531" cy="49387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Linear regression with one variable.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Linear Regression Model</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 / 69</a:t>
            </a:r>
          </a:p>
        </p:txBody>
      </p:sp>
      <p:sp>
        <p:nvSpPr>
          <p:cNvPr id="7" name="Rounded Rectangle 6">
            <a:hlinkClick r:id="rId3"/>
          </p:cNvPr>
          <p:cNvSpPr/>
          <p:nvPr/>
        </p:nvSpPr>
        <p:spPr>
          <a:xfrm>
            <a:off x="3521354" y="6455664"/>
            <a:ext cx="5146243" cy="310896"/>
          </a:xfrm>
          <a:prstGeom prst="round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Simple Linear Regression Lab</a:t>
            </a:r>
          </a:p>
        </p:txBody>
      </p:sp>
      <p:pic>
        <p:nvPicPr>
          <p:cNvPr id="8" name="Picture 7" descr="image.png">
            <a:hlinkClick r:id="rId5"/>
          </p:cNvPr>
          <p:cNvPicPr>
            <a:picLocks noChangeAspect="1"/>
          </p:cNvPicPr>
          <p:nvPr/>
        </p:nvPicPr>
        <p:blipFill>
          <a:blip r:embed="rId4"/>
          <a:stretch>
            <a:fillRect/>
          </a:stretch>
        </p:blipFill>
        <p:spPr>
          <a:xfrm>
            <a:off x="8409432" y="1298448"/>
            <a:ext cx="3322320" cy="3986784"/>
          </a:xfrm>
          <a:prstGeom prst="rect">
            <a:avLst/>
          </a:prstGeom>
        </p:spPr>
      </p:pic>
      <p:sp>
        <p:nvSpPr>
          <p:cNvPr id="9" name="Rounded Rectangle 8"/>
          <p:cNvSpPr/>
          <p:nvPr/>
        </p:nvSpPr>
        <p:spPr>
          <a:xfrm>
            <a:off x="457200" y="1298448"/>
            <a:ext cx="7751064"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961388"/>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2074773"/>
            <a:ext cx="340156" cy="340156"/>
          </a:xfrm>
          <a:prstGeom prst="rect">
            <a:avLst/>
          </a:prstGeom>
        </p:spPr>
      </p:pic>
      <p:sp>
        <p:nvSpPr>
          <p:cNvPr id="12" name="TextBox 11"/>
          <p:cNvSpPr txBox="1"/>
          <p:nvPr/>
        </p:nvSpPr>
        <p:spPr>
          <a:xfrm>
            <a:off x="1408175" y="1371600"/>
            <a:ext cx="6598919" cy="1746504"/>
          </a:xfrm>
          <a:prstGeom prst="rect">
            <a:avLst/>
          </a:prstGeom>
          <a:noFill/>
        </p:spPr>
        <p:txBody>
          <a:bodyPr wrap="square" anchor="ctr" lIns="0" tIns="0" rIns="0" bIns="0">
            <a:spAutoFit/>
          </a:bodyPr>
          <a:lstStyle/>
          <a:p>
            <a:pPr algn="l"/>
            <a:r>
              <a:rPr sz="3120" b="1">
                <a:solidFill>
                  <a:srgbClr val="A8306E"/>
                </a:solidFill>
                <a:latin typeface="Bebas Neue"/>
              </a:rPr>
              <a:t>Linear Function</a:t>
            </a:r>
          </a:p>
          <a:p>
            <a:pPr algn="l">
              <a:spcBef>
                <a:spcPts val="500"/>
              </a:spcBef>
            </a:pPr>
            <a:r>
              <a:rPr sz="2600" b="0">
                <a:solidFill>
                  <a:srgbClr val="111111"/>
                </a:solidFill>
                <a:latin typeface="Bebas Neue"/>
              </a:rPr>
              <a:t>Relationship between variables is a linear function.</a:t>
            </a:r>
          </a:p>
        </p:txBody>
      </p:sp>
      <p:sp>
        <p:nvSpPr>
          <p:cNvPr id="13" name="Rounded Rectangle 12"/>
          <p:cNvSpPr/>
          <p:nvPr/>
        </p:nvSpPr>
        <p:spPr>
          <a:xfrm>
            <a:off x="457200" y="3392424"/>
            <a:ext cx="7751064"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05536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771753" y="4168749"/>
            <a:ext cx="340156" cy="340156"/>
          </a:xfrm>
          <a:prstGeom prst="rect">
            <a:avLst/>
          </a:prstGeom>
        </p:spPr>
      </p:pic>
      <p:sp>
        <p:nvSpPr>
          <p:cNvPr id="16" name="TextBox 15"/>
          <p:cNvSpPr txBox="1"/>
          <p:nvPr/>
        </p:nvSpPr>
        <p:spPr>
          <a:xfrm>
            <a:off x="1408175" y="3465576"/>
            <a:ext cx="6598919" cy="1746504"/>
          </a:xfrm>
          <a:prstGeom prst="rect">
            <a:avLst/>
          </a:prstGeom>
          <a:noFill/>
        </p:spPr>
        <p:txBody>
          <a:bodyPr wrap="square" anchor="ctr" lIns="0" tIns="0" rIns="0" bIns="0">
            <a:spAutoFit/>
          </a:bodyPr>
          <a:lstStyle/>
          <a:p>
            <a:pPr algn="l"/>
            <a:r>
              <a:rPr sz="3120" b="1">
                <a:solidFill>
                  <a:srgbClr val="A8306E"/>
                </a:solidFill>
                <a:latin typeface="Bebas Neue"/>
              </a:rPr>
              <a:t>Parameters</a:t>
            </a:r>
          </a:p>
          <a:p>
            <a:pPr algn="l">
              <a:spcBef>
                <a:spcPts val="500"/>
              </a:spcBef>
            </a:pPr>
            <a:r>
              <a:rPr sz="2600" b="0">
                <a:solidFill>
                  <a:srgbClr val="111111"/>
                </a:solidFill>
                <a:latin typeface="Bebas Neue"/>
              </a:rPr>
              <a:t>Population, random Y-intercept, slope, and error.</a:t>
            </a:r>
          </a:p>
        </p:txBody>
      </p:sp>
      <p:sp>
        <p:nvSpPr>
          <p:cNvPr id="17" name="Rounded Rectangle 16"/>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Linear regression models assume a linear function relationship containing a population, slope, y-intercept, and error.</a:t>
            </a:r>
          </a:p>
        </p:txBody>
      </p:sp>
      <p:sp>
        <p:nvSpPr>
          <p:cNvPr id="18" name="Rectangle 17"/>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Assumptions about the error</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 / 69</a:t>
            </a:r>
          </a:p>
        </p:txBody>
      </p:sp>
      <p:sp>
        <p:nvSpPr>
          <p:cNvPr id="7" name="Rounded Rectangle 6"/>
          <p:cNvSpPr/>
          <p:nvPr/>
        </p:nvSpPr>
        <p:spPr>
          <a:xfrm>
            <a:off x="2227241" y="1298448"/>
            <a:ext cx="7734469"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391833" y="1463040"/>
            <a:ext cx="7405285" cy="4773168"/>
          </a:xfrm>
          <a:prstGeom prst="rect">
            <a:avLst/>
          </a:prstGeom>
        </p:spPr>
      </p:pic>
    </p:spTree>
  </p:cSld>
  <p:clrMapOvr>
    <a:masterClrMapping/>
  </p:clrMapOvr>
  <p:transition spd="med">
    <p:zoom dir="in"/>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Training Set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 / 69</a:t>
            </a:r>
          </a:p>
        </p:txBody>
      </p:sp>
      <p:sp>
        <p:nvSpPr>
          <p:cNvPr id="7" name="Rounded Rectangle 6">
            <a:hlinkClick r:id="rId3"/>
          </p:cNvPr>
          <p:cNvSpPr/>
          <p:nvPr/>
        </p:nvSpPr>
        <p:spPr>
          <a:xfrm>
            <a:off x="3561588" y="6455664"/>
            <a:ext cx="5065776" cy="310896"/>
          </a:xfrm>
          <a:prstGeom prst="round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Training Set — step-through</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307591"/>
            <a:ext cx="7883956" cy="1188720"/>
          </a:xfrm>
          <a:prstGeom prst="roundRect">
            <a:avLst>
              <a:gd name="adj" fmla="val 1184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7"/>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731873"/>
            <a:ext cx="340156" cy="340156"/>
          </a:xfrm>
          <a:prstGeom prst="rect">
            <a:avLst/>
          </a:prstGeom>
        </p:spPr>
      </p:pic>
      <p:sp>
        <p:nvSpPr>
          <p:cNvPr id="12" name="TextBox 11"/>
          <p:cNvSpPr txBox="1"/>
          <p:nvPr/>
        </p:nvSpPr>
        <p:spPr>
          <a:xfrm>
            <a:off x="1408175" y="1380743"/>
            <a:ext cx="6731812" cy="1042416"/>
          </a:xfrm>
          <a:prstGeom prst="rect">
            <a:avLst/>
          </a:prstGeom>
          <a:noFill/>
        </p:spPr>
        <p:txBody>
          <a:bodyPr wrap="square" anchor="ctr" lIns="0" tIns="0" rIns="0" bIns="0">
            <a:spAutoFit/>
          </a:bodyPr>
          <a:lstStyle/>
          <a:p>
            <a:pPr algn="l"/>
            <a:r>
              <a:rPr sz="3120" b="1">
                <a:solidFill>
                  <a:srgbClr val="A8306E"/>
                </a:solidFill>
                <a:latin typeface="Bebas Neue"/>
              </a:rPr>
              <a:t>Data Representation</a:t>
            </a:r>
          </a:p>
        </p:txBody>
      </p:sp>
      <p:sp>
        <p:nvSpPr>
          <p:cNvPr id="13" name="Rounded Rectangle 12"/>
          <p:cNvSpPr/>
          <p:nvPr/>
        </p:nvSpPr>
        <p:spPr>
          <a:xfrm>
            <a:off x="457200" y="2697479"/>
            <a:ext cx="7883956" cy="1188720"/>
          </a:xfrm>
          <a:prstGeom prst="roundRect">
            <a:avLst>
              <a:gd name="adj" fmla="val 1184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3008375"/>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771753" y="3121761"/>
            <a:ext cx="340156" cy="340156"/>
          </a:xfrm>
          <a:prstGeom prst="rect">
            <a:avLst/>
          </a:prstGeom>
        </p:spPr>
      </p:pic>
      <p:sp>
        <p:nvSpPr>
          <p:cNvPr id="16" name="TextBox 15"/>
          <p:cNvSpPr txBox="1"/>
          <p:nvPr/>
        </p:nvSpPr>
        <p:spPr>
          <a:xfrm>
            <a:off x="1408175" y="2770632"/>
            <a:ext cx="6731812" cy="1042416"/>
          </a:xfrm>
          <a:prstGeom prst="rect">
            <a:avLst/>
          </a:prstGeom>
          <a:noFill/>
        </p:spPr>
        <p:txBody>
          <a:bodyPr wrap="square" anchor="ctr" lIns="0" tIns="0" rIns="0" bIns="0">
            <a:spAutoFit/>
          </a:bodyPr>
          <a:lstStyle/>
          <a:p>
            <a:pPr algn="l"/>
            <a:r>
              <a:rPr sz="3120" b="1">
                <a:solidFill>
                  <a:srgbClr val="A8306E"/>
                </a:solidFill>
                <a:latin typeface="Bebas Neue"/>
              </a:rPr>
              <a:t>Hypothesis Function</a:t>
            </a:r>
          </a:p>
        </p:txBody>
      </p:sp>
      <p:sp>
        <p:nvSpPr>
          <p:cNvPr id="17" name="Rounded Rectangle 16"/>
          <p:cNvSpPr/>
          <p:nvPr/>
        </p:nvSpPr>
        <p:spPr>
          <a:xfrm>
            <a:off x="457200" y="4087368"/>
            <a:ext cx="7883956" cy="1188720"/>
          </a:xfrm>
          <a:prstGeom prst="roundRect">
            <a:avLst>
              <a:gd name="adj" fmla="val 1184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39826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4511649"/>
            <a:ext cx="340156" cy="340156"/>
          </a:xfrm>
          <a:prstGeom prst="rect">
            <a:avLst/>
          </a:prstGeom>
        </p:spPr>
      </p:pic>
      <p:sp>
        <p:nvSpPr>
          <p:cNvPr id="20" name="TextBox 19"/>
          <p:cNvSpPr txBox="1"/>
          <p:nvPr/>
        </p:nvSpPr>
        <p:spPr>
          <a:xfrm>
            <a:off x="1408175" y="4160520"/>
            <a:ext cx="6731812" cy="1042416"/>
          </a:xfrm>
          <a:prstGeom prst="rect">
            <a:avLst/>
          </a:prstGeom>
          <a:noFill/>
        </p:spPr>
        <p:txBody>
          <a:bodyPr wrap="square" anchor="ctr" lIns="0" tIns="0" rIns="0" bIns="0">
            <a:spAutoFit/>
          </a:bodyPr>
          <a:lstStyle/>
          <a:p>
            <a:pPr algn="l"/>
            <a:r>
              <a:rPr sz="3120" b="1">
                <a:solidFill>
                  <a:srgbClr val="A8306E"/>
                </a:solidFill>
                <a:latin typeface="Bebas Neue"/>
              </a:rPr>
              <a:t>Parameters</a:t>
            </a:r>
          </a:p>
        </p:txBody>
      </p:sp>
      <p:sp>
        <p:nvSpPr>
          <p:cNvPr id="21" name="Rounded Rectangle 2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8306E"/>
                </a:solidFill>
                <a:latin typeface="Bebas Neue"/>
              </a:rPr>
              <a:t>Key takeaway:  </a:t>
            </a:r>
            <a:r>
              <a:rPr sz="1300" b="0">
                <a:solidFill>
                  <a:srgbClr val="111111"/>
                </a:solidFill>
                <a:latin typeface="Inter"/>
              </a:rPr>
              <a:t>Training sets use features like house size in square feet to predict prices using parameters b and w.</a:t>
            </a:r>
          </a:p>
          <a:p>
            <a:pPr algn="l"/>
            <a:r>
              <a:rPr b="1" sz="1300">
                <a:solidFill>
                  <a:srgbClr val="A8306E"/>
                </a:solidFill>
                <a:latin typeface="Bebas Neue"/>
              </a:rPr>
              <a:t>Also in this lecture:  </a:t>
            </a:r>
            <a:r>
              <a:rPr sz="1300" b="0">
                <a:solidFill>
                  <a:srgbClr val="111111"/>
                </a:solidFill>
                <a:latin typeface="Inter"/>
              </a:rPr>
              <a:t>Batch Gradient Descent Batch: Each step of gradient descent uses all the training examples.</a:t>
            </a:r>
          </a:p>
        </p:txBody>
      </p:sp>
      <p:sp>
        <p:nvSpPr>
          <p:cNvPr id="22" name="Rectangle 2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300" b="1">
                <a:solidFill>
                  <a:srgbClr val="A8306E"/>
                </a:solidFill>
                <a:latin typeface="Bebas Neue"/>
              </a:rPr>
              <a:t>Fill in the blank: “Actual line from which the _____ are drawn.”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improving</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cause</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house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examples</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D</a:t>
            </a:r>
          </a:p>
          <a:p>
            <a:pPr algn="l">
              <a:spcBef>
                <a:spcPts val="200"/>
              </a:spcBef>
            </a:pPr>
            <a:r>
              <a:rPr sz="1600" b="0">
                <a:solidFill>
                  <a:srgbClr val="FFFFFF"/>
                </a:solidFill>
                <a:latin typeface="Inter"/>
              </a:rPr>
              <a:t>“Actual line from which the examples are drawn.”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Training Set: Hb,w(x)= b+wx</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 / 69</a:t>
            </a:r>
          </a:p>
        </p:txBody>
      </p:sp>
      <p:sp>
        <p:nvSpPr>
          <p:cNvPr id="8" name="Rounded Rectangle 7"/>
          <p:cNvSpPr/>
          <p:nvPr/>
        </p:nvSpPr>
        <p:spPr>
          <a:xfrm>
            <a:off x="457200" y="1298448"/>
            <a:ext cx="11274552" cy="3986784"/>
          </a:xfrm>
          <a:prstGeom prst="roundRect">
            <a:avLst>
              <a:gd name="adj" fmla="val 7064"/>
            </a:avLst>
          </a:prstGeom>
          <a:solidFill>
            <a:srgbClr val="FBF6F9"/>
          </a:solidFill>
          <a:ln w="12700">
            <a:solidFill>
              <a:srgbClr val="E4C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98448"/>
            <a:ext cx="11274552" cy="384048"/>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0" rIns="201168" bIns="0"/>
          <a:lstStyle/>
          <a:p>
            <a:pPr algn="l"/>
            <a:r>
              <a:rPr sz="1300" b="1">
                <a:solidFill>
                  <a:srgbClr val="FFFFFF"/>
                </a:solidFill>
                <a:latin typeface="Bebas Neue"/>
              </a:rPr>
              <a:t>EQUATIONS</a:t>
            </a:r>
          </a:p>
        </p:txBody>
      </p:sp>
      <p:sp>
        <p:nvSpPr>
          <p:cNvPr id="10" name="TextBox 9"/>
          <p:cNvSpPr txBox="1"/>
          <p:nvPr/>
        </p:nvSpPr>
        <p:spPr>
          <a:xfrm>
            <a:off x="658368" y="2282952"/>
            <a:ext cx="10872216" cy="368808"/>
          </a:xfrm>
          <a:prstGeom prst="rect">
            <a:avLst/>
          </a:prstGeom>
          <a:noFill/>
        </p:spPr>
        <p:txBody>
          <a:bodyPr wrap="square" lIns="0" rIns="0" tIns="0" bIns="0">
            <a:sp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2200" i="1" dirty="0">
                          <a:solidFill>
                            <a:srgbClr val="111111"/>
                          </a:solidFill>
                          <a:latin typeface="Cambria Math"/>
                        </a:rPr>
                        <m:t>h</m:t>
                      </m:r>
                      <m:r>
                        <a:rPr lang="en-US" sz="2200" i="1" dirty="0">
                          <a:solidFill>
                            <a:srgbClr val="111111"/>
                          </a:solidFill>
                          <a:latin typeface="Cambria Math"/>
                        </a:rPr>
                        <m:t>b</m:t>
                      </m:r>
                      <m:r>
                        <m:rPr>
                          <m:sty m:val="p"/>
                        </m:rPr>
                        <a:rPr lang="en-US" sz="2200" i="0" dirty="0">
                          <a:solidFill>
                            <a:srgbClr val="111111"/>
                          </a:solidFill>
                          <a:latin typeface="Cambria Math"/>
                        </a:rPr>
                        <m:t>,</m:t>
                      </m:r>
                      <m:r>
                        <a:rPr lang="en-US" sz="2200" i="1" dirty="0">
                          <a:solidFill>
                            <a:srgbClr val="111111"/>
                          </a:solidFill>
                          <a:latin typeface="Cambria Math"/>
                        </a:rPr>
                        <m:t>w</m:t>
                      </m:r>
                      <m:d>
                        <m:dPr>
                          <m:begChr m:val="("/>
                          <m:endChr m:val=")"/>
                        </m:dPr>
                        <m:e>
                          <m:r>
                            <a:rPr lang="en-US" sz="2200" i="1" dirty="0">
                              <a:solidFill>
                                <a:srgbClr val="111111"/>
                              </a:solidFill>
                              <a:latin typeface="Cambria Math"/>
                            </a:rPr>
                            <m:t>x</m:t>
                          </m:r>
                        </m:e>
                      </m:d>
                      <m:r>
                        <m:rPr>
                          <m:sty m:val="p"/>
                        </m:rPr>
                        <a:rPr lang="en-US" sz="2200" i="0" dirty="0">
                          <a:solidFill>
                            <a:srgbClr val="111111"/>
                          </a:solidFill>
                          <a:latin typeface="Cambria Math"/>
                        </a:rPr>
                        <m:t>=</m:t>
                      </m:r>
                      <m:r>
                        <a:rPr lang="en-US" sz="2200" i="1" dirty="0">
                          <a:solidFill>
                            <a:srgbClr val="111111"/>
                          </a:solidFill>
                          <a:latin typeface="Cambria Math"/>
                        </a:rPr>
                        <m:t>b</m:t>
                      </m:r>
                      <m:r>
                        <m:rPr>
                          <m:sty m:val="p"/>
                        </m:rPr>
                        <a:rPr lang="en-US" sz="2200" i="0" dirty="0">
                          <a:solidFill>
                            <a:srgbClr val="111111"/>
                          </a:solidFill>
                          <a:latin typeface="Cambria Math"/>
                        </a:rPr>
                        <m:t>+</m:t>
                      </m:r>
                      <m:r>
                        <a:rPr lang="en-US" sz="2200" i="1" dirty="0">
                          <a:solidFill>
                            <a:srgbClr val="111111"/>
                          </a:solidFill>
                          <a:latin typeface="Cambria Math"/>
                        </a:rPr>
                        <m:t>w</m:t>
                      </m:r>
                      <m:r>
                        <a:rPr lang="en-US" sz="2200" i="1" dirty="0">
                          <a:solidFill>
                            <a:srgbClr val="111111"/>
                          </a:solidFill>
                          <a:latin typeface="Cambria Math"/>
                        </a:rPr>
                        <m:t>x</m:t>
                      </m:r>
                    </m:oMath>
                  </m:oMathPara>
                </a14:m>
              </mc:Choice>
              <mc:Fallback>
                <a:r>
                  <a:rPr lang="en-US" sz="2200">
                    <a:solidFill>
                      <a:srgbClr val="111111"/>
                    </a:solidFill>
                    <a:latin typeface="Cambria Math"/>
                  </a:rPr>
                  <a:t>hb,w(x) = b + wx</a:t>
                </a:r>
              </mc:Fallback>
            </mc:AlternateContent>
            <a:endParaRPr lang="en-US" sz="2200"/>
          </a:p>
        </p:txBody>
      </p:sp>
      <p:sp>
        <p:nvSpPr>
          <p:cNvPr id="11" name="TextBox 10"/>
          <p:cNvSpPr txBox="1"/>
          <p:nvPr/>
        </p:nvSpPr>
        <p:spPr>
          <a:xfrm>
            <a:off x="658368" y="2651760"/>
            <a:ext cx="10872216" cy="368808"/>
          </a:xfrm>
          <a:prstGeom prst="rect">
            <a:avLst/>
          </a:prstGeom>
          <a:noFill/>
        </p:spPr>
        <p:txBody>
          <a:bodyPr wrap="square" lIns="0" rIns="0" tIns="0" bIns="0">
            <a:sp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2200" i="1" dirty="0">
                          <a:solidFill>
                            <a:srgbClr val="111111"/>
                          </a:solidFill>
                          <a:latin typeface="Cambria Math"/>
                        </a:rPr>
                        <m:t>b</m:t>
                      </m:r>
                      <m:r>
                        <m:rPr>
                          <m:sty m:val="p"/>
                        </m:rPr>
                        <a:rPr lang="en-US" sz="2200" i="0" dirty="0">
                          <a:solidFill>
                            <a:srgbClr val="111111"/>
                          </a:solidFill>
                          <a:latin typeface="Cambria Math"/>
                        </a:rPr>
                        <m:t>=</m:t>
                      </m:r>
                      <m:r>
                        <m:rPr>
                          <m:sty m:val="p"/>
                        </m:rPr>
                        <a:rPr lang="en-US" sz="2200" i="0" dirty="0">
                          <a:solidFill>
                            <a:srgbClr val="111111"/>
                          </a:solidFill>
                          <a:latin typeface="Cambria Math"/>
                        </a:rPr>
                        <m:t>0</m:t>
                      </m:r>
                    </m:oMath>
                  </m:oMathPara>
                </a14:m>
              </mc:Choice>
              <mc:Fallback>
                <a:r>
                  <a:rPr lang="en-US" sz="2200">
                    <a:solidFill>
                      <a:srgbClr val="111111"/>
                    </a:solidFill>
                    <a:latin typeface="Cambria Math"/>
                  </a:rPr>
                  <a:t>b = 0</a:t>
                </a:r>
              </mc:Fallback>
            </mc:AlternateContent>
            <a:endParaRPr lang="en-US" sz="2200"/>
          </a:p>
        </p:txBody>
      </p:sp>
      <p:sp>
        <p:nvSpPr>
          <p:cNvPr id="12" name="TextBox 11"/>
          <p:cNvSpPr txBox="1"/>
          <p:nvPr/>
        </p:nvSpPr>
        <p:spPr>
          <a:xfrm>
            <a:off x="658368" y="3020568"/>
            <a:ext cx="10872216" cy="368808"/>
          </a:xfrm>
          <a:prstGeom prst="rect">
            <a:avLst/>
          </a:prstGeom>
          <a:noFill/>
        </p:spPr>
        <p:txBody>
          <a:bodyPr wrap="square" lIns="0" rIns="0" tIns="0" bIns="0">
            <a:sp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2200" i="1" dirty="0">
                          <a:solidFill>
                            <a:srgbClr val="111111"/>
                          </a:solidFill>
                          <a:latin typeface="Cambria Math"/>
                        </a:rPr>
                        <m:t>b</m:t>
                      </m:r>
                      <m:r>
                        <m:rPr>
                          <m:sty m:val="p"/>
                        </m:rPr>
                        <a:rPr lang="en-US" sz="2200" i="0" dirty="0">
                          <a:solidFill>
                            <a:srgbClr val="111111"/>
                          </a:solidFill>
                          <a:latin typeface="Cambria Math"/>
                        </a:rPr>
                        <m:t>=</m:t>
                      </m:r>
                      <m:r>
                        <m:rPr>
                          <m:sty m:val="p"/>
                        </m:rPr>
                        <a:rPr lang="en-US" sz="2200" i="0" dirty="0">
                          <a:solidFill>
                            <a:srgbClr val="111111"/>
                          </a:solidFill>
                          <a:latin typeface="Cambria Math"/>
                        </a:rPr>
                        <m:t>1</m:t>
                      </m:r>
                    </m:oMath>
                  </m:oMathPara>
                </a14:m>
              </mc:Choice>
              <mc:Fallback>
                <a:r>
                  <a:rPr lang="en-US" sz="2200">
                    <a:solidFill>
                      <a:srgbClr val="111111"/>
                    </a:solidFill>
                    <a:latin typeface="Cambria Math"/>
                  </a:rPr>
                  <a:t>b = 1</a:t>
                </a:r>
              </mc:Fallback>
            </mc:AlternateContent>
            <a:endParaRPr lang="en-US" sz="2200"/>
          </a:p>
        </p:txBody>
      </p:sp>
      <p:sp>
        <p:nvSpPr>
          <p:cNvPr id="13" name="TextBox 12"/>
          <p:cNvSpPr txBox="1"/>
          <p:nvPr/>
        </p:nvSpPr>
        <p:spPr>
          <a:xfrm>
            <a:off x="658368" y="3389376"/>
            <a:ext cx="10872216" cy="368808"/>
          </a:xfrm>
          <a:prstGeom prst="rect">
            <a:avLst/>
          </a:prstGeom>
          <a:noFill/>
        </p:spPr>
        <p:txBody>
          <a:bodyPr wrap="square" lIns="0" rIns="0" tIns="0" bIns="0">
            <a:spAutoFit/>
          </a:bodyPr>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2200" i="1" dirty="0">
                          <a:solidFill>
                            <a:srgbClr val="111111"/>
                          </a:solidFill>
                          <a:latin typeface="Cambria Math"/>
                        </a:rPr>
                        <m:t>w</m:t>
                      </m:r>
                      <m:r>
                        <m:rPr>
                          <m:sty m:val="p"/>
                        </m:rPr>
                        <a:rPr lang="en-US" sz="2200" i="0" dirty="0">
                          <a:solidFill>
                            <a:srgbClr val="111111"/>
                          </a:solidFill>
                          <a:latin typeface="Cambria Math"/>
                        </a:rPr>
                        <m:t>=</m:t>
                      </m:r>
                      <m:r>
                        <m:rPr>
                          <m:sty m:val="p"/>
                        </m:rPr>
                        <a:rPr lang="en-US" sz="2200" i="0" dirty="0">
                          <a:solidFill>
                            <a:srgbClr val="111111"/>
                          </a:solidFill>
                          <a:latin typeface="Cambria Math"/>
                        </a:rPr>
                        <m:t>0</m:t>
                      </m:r>
                    </m:oMath>
                  </m:oMathPara>
                </a14:m>
              </mc:Choice>
              <mc:Fallback>
                <a:r>
                  <a:rPr lang="en-US" sz="2200">
                    <a:solidFill>
                      <a:srgbClr val="111111"/>
                    </a:solidFill>
                    <a:latin typeface="Cambria Math"/>
                  </a:rPr>
                  <a:t>w = 0</a:t>
                </a:r>
              </mc:Fallback>
            </mc:AlternateContent>
            <a:endParaRPr lang="en-US" sz="2200"/>
          </a:p>
        </p:txBody>
      </p:sp>
      <p:sp>
        <p:nvSpPr>
          <p:cNvPr id="14" name="Rounded Rectangle 13"/>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Hypothesis functions compute predicted values using varying parameters for slope and intercept.</a:t>
            </a:r>
          </a:p>
        </p:txBody>
      </p:sp>
      <p:sp>
        <p:nvSpPr>
          <p:cNvPr id="15" name="Rectangle 14"/>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We select b and w so that the hypothesis hb,w(x) closely matches the training data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 / 69</a:t>
            </a:r>
          </a:p>
        </p:txBody>
      </p:sp>
      <p:pic>
        <p:nvPicPr>
          <p:cNvPr id="7" name="Picture 6" descr="image.jpg"/>
          <p:cNvPicPr>
            <a:picLocks noChangeAspect="1"/>
          </p:cNvPicPr>
          <p:nvPr/>
        </p:nvPicPr>
        <p:blipFill>
          <a:blip r:embed="rId3"/>
          <a:stretch>
            <a:fillRect/>
          </a:stretch>
        </p:blipFill>
        <p:spPr>
          <a:xfrm>
            <a:off x="7672913" y="1794727"/>
            <a:ext cx="4058838" cy="2994225"/>
          </a:xfrm>
          <a:prstGeom prst="rect">
            <a:avLst/>
          </a:prstGeom>
        </p:spPr>
      </p:pic>
      <p:sp>
        <p:nvSpPr>
          <p:cNvPr id="8" name="Rounded Rectangle 7"/>
          <p:cNvSpPr/>
          <p:nvPr/>
        </p:nvSpPr>
        <p:spPr>
          <a:xfrm>
            <a:off x="457200" y="1298448"/>
            <a:ext cx="7014545" cy="2111517"/>
          </a:xfrm>
          <a:prstGeom prst="roundRect">
            <a:avLst>
              <a:gd name="adj" fmla="val 9527"/>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99616"/>
            <a:ext cx="91440" cy="1709181"/>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499616"/>
            <a:ext cx="6429329" cy="1709181"/>
          </a:xfrm>
          <a:prstGeom prst="rect">
            <a:avLst/>
          </a:prstGeom>
          <a:noFill/>
        </p:spPr>
        <p:txBody>
          <a:bodyPr wrap="square" anchor="ctr" lIns="0" tIns="0" rIns="0" bIns="0">
            <a:spAutoFit/>
          </a:bodyPr>
          <a:lstStyle/>
          <a:p>
            <a:pPr algn="l"/>
            <a:r>
              <a:rPr sz="3820" b="1">
                <a:solidFill>
                  <a:srgbClr val="A8306E"/>
                </a:solidFill>
                <a:latin typeface="Bebas Neue"/>
              </a:rPr>
              <a:t>Hypothesis Optimization</a:t>
            </a:r>
          </a:p>
          <a:p>
            <a:pPr algn="l">
              <a:spcBef>
                <a:spcPts val="800"/>
              </a:spcBef>
            </a:pPr>
            <a:r>
              <a:rPr sz="2250" b="0">
                <a:solidFill>
                  <a:srgbClr val="111111"/>
                </a:solidFill>
                <a:latin typeface="Inter"/>
              </a:rPr>
              <a:t>Choose b and w so that hb,w(x) is close to y for training examples (x,y)</a:t>
            </a:r>
          </a:p>
        </p:txBody>
      </p:sp>
      <p:sp>
        <p:nvSpPr>
          <p:cNvPr id="11" name="Rounded Rectangle 10"/>
          <p:cNvSpPr/>
          <p:nvPr/>
        </p:nvSpPr>
        <p:spPr>
          <a:xfrm>
            <a:off x="457200" y="3611133"/>
            <a:ext cx="7014545" cy="1674098"/>
          </a:xfrm>
          <a:prstGeom prst="roundRect">
            <a:avLst>
              <a:gd name="adj" fmla="val 8411"/>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812301"/>
            <a:ext cx="6612209" cy="1271762"/>
          </a:xfrm>
          <a:prstGeom prst="rect">
            <a:avLst/>
          </a:prstGeom>
          <a:noFill/>
        </p:spPr>
        <p:txBody>
          <a:bodyPr wrap="square" anchor="ctr" lIns="0" tIns="0" rIns="0" bIns="0">
            <a:spAutoFit/>
          </a:bodyPr>
          <a:lstStyle/>
          <a:p>
            <a:pPr algn="l"/>
            <a:r>
              <a:rPr sz="1800" b="0">
                <a:solidFill>
                  <a:srgbClr val="111111"/>
                </a:solidFill>
                <a:latin typeface="Inter"/>
              </a:rPr>
              <a:t>Ensures close match to training data</a:t>
            </a:r>
          </a:p>
        </p:txBody>
      </p:sp>
      <p:sp>
        <p:nvSpPr>
          <p:cNvPr id="13" name="Rounded Rectangle 12"/>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Parameters b and w are selected so the hypothesis closely matches the training data.</a:t>
            </a:r>
          </a:p>
        </p:txBody>
      </p:sp>
      <p:sp>
        <p:nvSpPr>
          <p:cNvPr id="14" name="Rectangle 13"/>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Training Set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 / 69</a:t>
            </a:r>
          </a:p>
        </p:txBody>
      </p:sp>
      <p:sp>
        <p:nvSpPr>
          <p:cNvPr id="7" name="Rounded Rectangle 6"/>
          <p:cNvSpPr/>
          <p:nvPr/>
        </p:nvSpPr>
        <p:spPr>
          <a:xfrm>
            <a:off x="2641417" y="1298448"/>
            <a:ext cx="6906116"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806009" y="1463040"/>
            <a:ext cx="6576932" cy="4773168"/>
          </a:xfrm>
          <a:prstGeom prst="rect">
            <a:avLst/>
          </a:prstGeom>
        </p:spPr>
      </p:pic>
    </p:spTree>
  </p:cSld>
  <p:clrMapOvr>
    <a:masterClrMapping/>
  </p:clrMapOvr>
  <p:transition spd="med">
    <p:zoom dir="in"/>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Criterion for choosing what line to draw</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 / 69</a:t>
            </a:r>
          </a:p>
        </p:txBody>
      </p:sp>
      <p:sp>
        <p:nvSpPr>
          <p:cNvPr id="7" name="Rounded Rectangle 6">
            <a:hlinkClick r:id="rId3"/>
          </p:cNvPr>
          <p:cNvSpPr/>
          <p:nvPr/>
        </p:nvSpPr>
        <p:spPr>
          <a:xfrm>
            <a:off x="3440887" y="6455664"/>
            <a:ext cx="5307177" cy="310896"/>
          </a:xfrm>
          <a:prstGeom prst="round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Least‑Squares Line‑Drawing Lab</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7883956" cy="2471806"/>
          </a:xfrm>
          <a:prstGeom prst="roundRect">
            <a:avLst>
              <a:gd name="adj" fmla="val 8138"/>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99616"/>
            <a:ext cx="91440" cy="206947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1499616"/>
            <a:ext cx="7298740" cy="2069470"/>
          </a:xfrm>
          <a:prstGeom prst="rect">
            <a:avLst/>
          </a:prstGeom>
          <a:noFill/>
        </p:spPr>
        <p:txBody>
          <a:bodyPr wrap="square" anchor="ctr" lIns="0" tIns="0" rIns="0" bIns="0">
            <a:spAutoFit/>
          </a:bodyPr>
          <a:lstStyle/>
          <a:p>
            <a:pPr algn="l"/>
            <a:r>
              <a:rPr sz="4340" b="1">
                <a:solidFill>
                  <a:srgbClr val="A8306E"/>
                </a:solidFill>
                <a:latin typeface="Bebas Neue"/>
              </a:rPr>
              <a:t>Method of Least Squares</a:t>
            </a:r>
          </a:p>
          <a:p>
            <a:pPr algn="l">
              <a:spcBef>
                <a:spcPts val="800"/>
              </a:spcBef>
            </a:pPr>
            <a:r>
              <a:rPr sz="2550" b="0">
                <a:solidFill>
                  <a:srgbClr val="111111"/>
                </a:solidFill>
                <a:latin typeface="Bebas Neue"/>
              </a:rPr>
              <a:t>The method of least squares chooses the line that makes the sum of squares of the residuals as small as possible.</a:t>
            </a:r>
          </a:p>
        </p:txBody>
      </p:sp>
      <p:sp>
        <p:nvSpPr>
          <p:cNvPr id="12" name="Rounded Rectangle 11"/>
          <p:cNvSpPr/>
          <p:nvPr/>
        </p:nvSpPr>
        <p:spPr>
          <a:xfrm>
            <a:off x="457200" y="3971422"/>
            <a:ext cx="7883956" cy="1313809"/>
          </a:xfrm>
          <a:prstGeom prst="roundRect">
            <a:avLst>
              <a:gd name="adj" fmla="val 1071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72590"/>
            <a:ext cx="7481620" cy="911473"/>
          </a:xfrm>
          <a:prstGeom prst="rect">
            <a:avLst/>
          </a:prstGeom>
          <a:noFill/>
        </p:spPr>
        <p:txBody>
          <a:bodyPr wrap="square" anchor="ctr" lIns="0" tIns="0" rIns="0" bIns="0">
            <a:spAutoFit/>
          </a:bodyPr>
          <a:lstStyle/>
          <a:p>
            <a:pPr algn="l"/>
            <a:r>
              <a:rPr sz="1800" b="0">
                <a:solidFill>
                  <a:srgbClr val="111111"/>
                </a:solidFill>
                <a:latin typeface="Inter"/>
              </a:rPr>
              <a:t>Minimizes errors for the given observations (x, y)</a:t>
            </a:r>
          </a:p>
        </p:txBody>
      </p:sp>
      <p:sp>
        <p:nvSpPr>
          <p:cNvPr id="14" name="Rounded Rectangle 13"/>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The method of least squares minimizes the sum of squared residuals to draw the best line.</a:t>
            </a:r>
          </a:p>
        </p:txBody>
      </p:sp>
      <p:sp>
        <p:nvSpPr>
          <p:cNvPr id="15" name="Rectangle 14"/>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APPLY</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8306E"/>
                </a:solidFill>
                <a:latin typeface="Bebas Neue"/>
              </a:rPr>
              <a:t>Which expression gives Setting w to zero yields a hypothesis function hw(x) = 0?</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Key takeaways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Setting w to zero</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Regression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w = 0</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D</a:t>
            </a:r>
          </a:p>
          <a:p>
            <a:pPr algn="l">
              <a:spcBef>
                <a:spcPts val="200"/>
              </a:spcBef>
            </a:pPr>
            <a:r>
              <a:rPr sz="1600" b="0">
                <a:solidFill>
                  <a:srgbClr val="FFFFFF"/>
                </a:solidFill>
                <a:latin typeface="Inter"/>
              </a:rPr>
              <a:t>w = 0</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45F771"/>
                </a:solidFill>
              </a:defRPr>
            </a:pPr>
            <a:r>
              <a:rPr>
                <a:latin typeface="Bebas Neue"/>
              </a:rPr>
              <a:t>Criterion for choosing what line to draw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 / 69</a:t>
            </a:r>
          </a:p>
        </p:txBody>
      </p:sp>
      <p:sp>
        <p:nvSpPr>
          <p:cNvPr id="7" name="Rounded Rectangle 6"/>
          <p:cNvSpPr/>
          <p:nvPr/>
        </p:nvSpPr>
        <p:spPr>
          <a:xfrm>
            <a:off x="969838" y="1298448"/>
            <a:ext cx="10249275"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134430" y="1463040"/>
            <a:ext cx="9920091" cy="4773168"/>
          </a:xfrm>
          <a:prstGeom prst="rect">
            <a:avLst/>
          </a:prstGeom>
        </p:spPr>
      </p:pic>
    </p:spTree>
  </p:cSld>
  <p:clrMapOvr>
    <a:masterClrMapping/>
  </p:clrMapOvr>
  <p:transition spd="med">
    <p:cover dir="r"/>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45F771"/>
                </a:solidFill>
              </a:defRPr>
            </a:pPr>
            <a:r>
              <a:rPr>
                <a:latin typeface="Bebas Neue"/>
              </a:rPr>
              <a:t>Criterion for choosing what line to draw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 / 69</a:t>
            </a:r>
          </a:p>
        </p:txBody>
      </p:sp>
      <p:sp>
        <p:nvSpPr>
          <p:cNvPr id="7" name="Rounded Rectangle 6"/>
          <p:cNvSpPr/>
          <p:nvPr/>
        </p:nvSpPr>
        <p:spPr>
          <a:xfrm>
            <a:off x="457199" y="2100834"/>
            <a:ext cx="11274552" cy="3497580"/>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2265426"/>
            <a:ext cx="10945368" cy="316839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45F771"/>
                </a:solidFill>
              </a:defRPr>
            </a:pPr>
            <a:r>
              <a:rPr>
                <a:latin typeface="Bebas Neue"/>
              </a:rPr>
              <a:t>Criterion for choosing what line to draw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23 / 69</a:t>
            </a:r>
          </a:p>
        </p:txBody>
      </p:sp>
      <p:sp>
        <p:nvSpPr>
          <p:cNvPr id="7" name="Rounded Rectangle 6"/>
          <p:cNvSpPr/>
          <p:nvPr/>
        </p:nvSpPr>
        <p:spPr>
          <a:xfrm>
            <a:off x="1067497" y="1298448"/>
            <a:ext cx="10053956"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232089" y="1463040"/>
            <a:ext cx="9724772" cy="477316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45F771"/>
                </a:solidFill>
              </a:defRPr>
            </a:pPr>
            <a:r>
              <a:rPr>
                <a:latin typeface="Bebas Neue"/>
              </a:rPr>
              <a:t>Criterion for choosing what line to draw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24 / 69</a:t>
            </a:r>
          </a:p>
        </p:txBody>
      </p:sp>
      <p:sp>
        <p:nvSpPr>
          <p:cNvPr id="7" name="Rounded Rectangle 6"/>
          <p:cNvSpPr/>
          <p:nvPr/>
        </p:nvSpPr>
        <p:spPr>
          <a:xfrm>
            <a:off x="2330251" y="1298448"/>
            <a:ext cx="7528448"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494843" y="1463040"/>
            <a:ext cx="7199264" cy="477316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25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8306E"/>
                </a:solidFill>
                <a:latin typeface="Bebas Neue"/>
              </a:rPr>
              <a:t>Fill in the blank: “Batch: Each step of gradient descent uses all the training _____.”</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optima</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examples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satisfied</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mathematical</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B</a:t>
            </a:r>
          </a:p>
          <a:p>
            <a:pPr algn="l">
              <a:spcBef>
                <a:spcPts val="200"/>
              </a:spcBef>
            </a:pPr>
            <a:r>
              <a:rPr sz="1600" b="0">
                <a:solidFill>
                  <a:srgbClr val="FFFFFF"/>
                </a:solidFill>
                <a:latin typeface="Inter"/>
              </a:rPr>
              <a:t>“Batch: Each step of gradient descent uses all the training examples.”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45F771"/>
                </a:solidFill>
              </a:defRPr>
            </a:pPr>
            <a:r>
              <a:rPr>
                <a:latin typeface="Bebas Neue"/>
              </a:rPr>
              <a:t>Criterion for choosing what line to draw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26 / 69</a:t>
            </a:r>
          </a:p>
        </p:txBody>
      </p:sp>
      <p:sp>
        <p:nvSpPr>
          <p:cNvPr id="7" name="Rounded Rectangle 6"/>
          <p:cNvSpPr/>
          <p:nvPr/>
        </p:nvSpPr>
        <p:spPr>
          <a:xfrm>
            <a:off x="1387675" y="1298448"/>
            <a:ext cx="9413600"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552267" y="1463040"/>
            <a:ext cx="9084416" cy="4773168"/>
          </a:xfrm>
          <a:prstGeom prst="rect">
            <a:avLst/>
          </a:prstGeom>
        </p:spPr>
      </p:pic>
    </p:spTree>
  </p:cSld>
  <p:clrMapOvr>
    <a:masterClrMapping/>
  </p:clrMapOvr>
  <p:transition spd="med">
    <p:cover dir="r"/>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45F771"/>
                </a:solidFill>
              </a:defRPr>
            </a:pPr>
            <a:r>
              <a:rPr>
                <a:latin typeface="Bebas Neue"/>
              </a:rPr>
              <a:t>Criterion for choosing what line to draw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27 / 69</a:t>
            </a:r>
          </a:p>
        </p:txBody>
      </p:sp>
      <p:sp>
        <p:nvSpPr>
          <p:cNvPr id="7" name="Rounded Rectangle 6"/>
          <p:cNvSpPr/>
          <p:nvPr/>
        </p:nvSpPr>
        <p:spPr>
          <a:xfrm>
            <a:off x="1601079" y="1298448"/>
            <a:ext cx="8986792"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765671" y="1463040"/>
            <a:ext cx="8657608" cy="477316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Example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28 / 69</a:t>
            </a:r>
          </a:p>
        </p:txBody>
      </p:sp>
      <p:sp>
        <p:nvSpPr>
          <p:cNvPr id="7" name="Rounded Rectangle 6"/>
          <p:cNvSpPr/>
          <p:nvPr/>
        </p:nvSpPr>
        <p:spPr>
          <a:xfrm>
            <a:off x="457199" y="2510267"/>
            <a:ext cx="11274552" cy="2678713"/>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2674859"/>
            <a:ext cx="10945368" cy="2349529"/>
          </a:xfrm>
          <a:prstGeom prst="rect">
            <a:avLst/>
          </a:prstGeom>
        </p:spPr>
      </p:pic>
    </p:spTree>
  </p:cSld>
  <p:clrMapOvr>
    <a:masterClrMapping/>
  </p:clrMapOvr>
  <p:transition spd="med">
    <p:zoom dir="in"/>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Example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29 / 69</a:t>
            </a:r>
          </a:p>
        </p:txBody>
      </p:sp>
      <p:sp>
        <p:nvSpPr>
          <p:cNvPr id="7" name="Rounded Rectangle 6"/>
          <p:cNvSpPr/>
          <p:nvPr/>
        </p:nvSpPr>
        <p:spPr>
          <a:xfrm>
            <a:off x="2649254" y="1298448"/>
            <a:ext cx="6890442"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813846" y="1463040"/>
            <a:ext cx="6561258" cy="4773168"/>
          </a:xfrm>
          <a:prstGeom prst="rect">
            <a:avLst/>
          </a:prstGeom>
        </p:spPr>
      </p:pic>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30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8306E"/>
                </a:solidFill>
                <a:latin typeface="Bebas Neue"/>
              </a:rPr>
              <a:t>Which term matches this description: “A tuning parameter that determines the step size at each iteration.”?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Local minimum</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Causation</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Diverge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Learning rate</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D</a:t>
            </a:r>
          </a:p>
          <a:p>
            <a:pPr algn="l">
              <a:spcBef>
                <a:spcPts val="200"/>
              </a:spcBef>
            </a:pPr>
            <a:r>
              <a:rPr sz="1600" b="0">
                <a:solidFill>
                  <a:srgbClr val="FFFFFF"/>
                </a:solidFill>
                <a:latin typeface="Inter"/>
              </a:rPr>
              <a:t>Learning rate: A tuning parameter that determines the step size at each iteration.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Example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31 / 69</a:t>
            </a:r>
          </a:p>
        </p:txBody>
      </p:sp>
      <p:sp>
        <p:nvSpPr>
          <p:cNvPr id="7" name="Rounded Rectangle 6"/>
          <p:cNvSpPr/>
          <p:nvPr/>
        </p:nvSpPr>
        <p:spPr>
          <a:xfrm>
            <a:off x="4280294" y="1298448"/>
            <a:ext cx="3628363"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4444886" y="1463040"/>
            <a:ext cx="3299179" cy="4773168"/>
          </a:xfrm>
          <a:prstGeom prst="rect">
            <a:avLst/>
          </a:prstGeom>
        </p:spPr>
      </p:pic>
    </p:spTree>
  </p:cSld>
  <p:clrMapOvr>
    <a:masterClrMapping/>
  </p:clrMapOvr>
  <p:transition spd="med">
    <p:zoom dir="in"/>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Example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32 / 69</a:t>
            </a:r>
          </a:p>
        </p:txBody>
      </p:sp>
      <p:sp>
        <p:nvSpPr>
          <p:cNvPr id="7" name="Rounded Rectangle 6"/>
          <p:cNvSpPr/>
          <p:nvPr/>
        </p:nvSpPr>
        <p:spPr>
          <a:xfrm>
            <a:off x="2465721" y="1298448"/>
            <a:ext cx="7257509"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630313" y="1463040"/>
            <a:ext cx="6928325" cy="477316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Linear regression requires a single linear relationship between variables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33 / 69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418245"/>
          </a:xfrm>
          <a:prstGeom prst="roundRect">
            <a:avLst>
              <a:gd name="adj" fmla="val 3366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78970"/>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98448" y="1371600"/>
            <a:ext cx="6708647" cy="271941"/>
          </a:xfrm>
          <a:prstGeom prst="rect">
            <a:avLst/>
          </a:prstGeom>
          <a:noFill/>
        </p:spPr>
        <p:txBody>
          <a:bodyPr wrap="square" anchor="ctr" lIns="0" tIns="0" rIns="0" bIns="0">
            <a:spAutoFit/>
          </a:bodyPr>
          <a:lstStyle/>
          <a:p>
            <a:pPr algn="l"/>
            <a:r>
              <a:rPr sz="1200" b="0">
                <a:solidFill>
                  <a:srgbClr val="111111"/>
                </a:solidFill>
                <a:latin typeface="Inter"/>
              </a:rPr>
              <a:t>There is only one independent and dependent variable.</a:t>
            </a:r>
          </a:p>
        </p:txBody>
      </p:sp>
      <p:sp>
        <p:nvSpPr>
          <p:cNvPr id="11" name="Rounded Rectangle 10"/>
          <p:cNvSpPr/>
          <p:nvPr/>
        </p:nvSpPr>
        <p:spPr>
          <a:xfrm>
            <a:off x="457200" y="1917861"/>
            <a:ext cx="7751064" cy="418245"/>
          </a:xfrm>
          <a:prstGeom prst="roundRect">
            <a:avLst>
              <a:gd name="adj" fmla="val 3366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898384"/>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298448" y="1991013"/>
            <a:ext cx="6708647" cy="271941"/>
          </a:xfrm>
          <a:prstGeom prst="rect">
            <a:avLst/>
          </a:prstGeom>
          <a:noFill/>
        </p:spPr>
        <p:txBody>
          <a:bodyPr wrap="square" anchor="ctr" lIns="0" tIns="0" rIns="0" bIns="0">
            <a:spAutoFit/>
          </a:bodyPr>
          <a:lstStyle/>
          <a:p>
            <a:pPr algn="l"/>
            <a:r>
              <a:rPr sz="1200" b="0">
                <a:solidFill>
                  <a:srgbClr val="111111"/>
                </a:solidFill>
                <a:latin typeface="Inter"/>
              </a:rPr>
              <a:t>There should be a linear relationship between independent and dependent variables.</a:t>
            </a:r>
          </a:p>
        </p:txBody>
      </p:sp>
      <p:sp>
        <p:nvSpPr>
          <p:cNvPr id="14" name="Rounded Rectangle 13"/>
          <p:cNvSpPr/>
          <p:nvPr/>
        </p:nvSpPr>
        <p:spPr>
          <a:xfrm>
            <a:off x="457200" y="2537275"/>
            <a:ext cx="7751064" cy="418245"/>
          </a:xfrm>
          <a:prstGeom prst="roundRect">
            <a:avLst>
              <a:gd name="adj" fmla="val 3366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17798"/>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298448" y="2610427"/>
            <a:ext cx="6708647" cy="271941"/>
          </a:xfrm>
          <a:prstGeom prst="rect">
            <a:avLst/>
          </a:prstGeom>
          <a:noFill/>
        </p:spPr>
        <p:txBody>
          <a:bodyPr wrap="square" anchor="ctr" lIns="0" tIns="0" rIns="0" bIns="0">
            <a:spAutoFit/>
          </a:bodyPr>
          <a:lstStyle/>
          <a:p>
            <a:pPr algn="l"/>
            <a:r>
              <a:rPr sz="1200" b="0">
                <a:solidFill>
                  <a:srgbClr val="111111"/>
                </a:solidFill>
                <a:latin typeface="Inter"/>
              </a:rPr>
              <a:t>The type of regression line is a best fit straight line.</a:t>
            </a:r>
          </a:p>
        </p:txBody>
      </p:sp>
      <p:sp>
        <p:nvSpPr>
          <p:cNvPr id="17" name="Rounded Rectangle 16"/>
          <p:cNvSpPr/>
          <p:nvPr/>
        </p:nvSpPr>
        <p:spPr>
          <a:xfrm>
            <a:off x="457200" y="3156688"/>
            <a:ext cx="7751064" cy="418245"/>
          </a:xfrm>
          <a:prstGeom prst="roundRect">
            <a:avLst>
              <a:gd name="adj" fmla="val 3366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137211"/>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298448" y="3229840"/>
            <a:ext cx="6708647" cy="271941"/>
          </a:xfrm>
          <a:prstGeom prst="rect">
            <a:avLst/>
          </a:prstGeom>
          <a:noFill/>
        </p:spPr>
        <p:txBody>
          <a:bodyPr wrap="square" anchor="ctr" lIns="0" tIns="0" rIns="0" bIns="0">
            <a:spAutoFit/>
          </a:bodyPr>
          <a:lstStyle/>
          <a:p>
            <a:pPr algn="l"/>
            <a:r>
              <a:rPr sz="1200" b="0">
                <a:solidFill>
                  <a:srgbClr val="111111"/>
                </a:solidFill>
                <a:latin typeface="Inter"/>
              </a:rPr>
              <a:t>More susceptible to outliers; should not be used for big-size data.</a:t>
            </a:r>
          </a:p>
        </p:txBody>
      </p:sp>
      <p:sp>
        <p:nvSpPr>
          <p:cNvPr id="20" name="Rounded Rectangle 19"/>
          <p:cNvSpPr/>
          <p:nvPr/>
        </p:nvSpPr>
        <p:spPr>
          <a:xfrm>
            <a:off x="457200" y="3776102"/>
            <a:ext cx="7751064" cy="1509129"/>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76102"/>
            <a:ext cx="73152" cy="1509129"/>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49254"/>
            <a:ext cx="7356043" cy="1362825"/>
          </a:xfrm>
          <a:prstGeom prst="rect">
            <a:avLst/>
          </a:prstGeom>
          <a:noFill/>
        </p:spPr>
        <p:txBody>
          <a:bodyPr wrap="square" anchor="ctr" lIns="0" tIns="0" rIns="0" bIns="0">
            <a:spAutoFit/>
          </a:bodyPr>
          <a:lstStyle/>
          <a:p>
            <a:pPr algn="l"/>
            <a:r>
              <a:rPr sz="940" b="1">
                <a:solidFill>
                  <a:srgbClr val="A8306E"/>
                </a:solidFill>
                <a:latin typeface="Bebas Neue"/>
              </a:rPr>
              <a:t>IN PLAIN WORDS</a:t>
            </a:r>
          </a:p>
          <a:p>
            <a:pPr algn="l">
              <a:spcBef>
                <a:spcPts val="300"/>
              </a:spcBef>
            </a:pPr>
            <a:r>
              <a:rPr sz="1300" b="0">
                <a:solidFill>
                  <a:srgbClr val="111111"/>
                </a:solidFill>
                <a:latin typeface="Inter"/>
              </a:rPr>
              <a:t>Linear regression models a straight-line relationship between one independent variable and one dependent variable. It is sensitive to outliers, so it is not ideal for large datasets with extreme values. The model assumes a linear trend and uses a best-fit line to describe the data. For example, predicting a person’s weight from their height using a straight line.</a:t>
            </a:r>
          </a:p>
        </p:txBody>
      </p:sp>
      <p:sp>
        <p:nvSpPr>
          <p:cNvPr id="23" name="Rounded Rectangle 22"/>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8306E"/>
                </a:solidFill>
                <a:latin typeface="Bebas Neue"/>
              </a:rPr>
              <a:t>Key terms:  </a:t>
            </a:r>
            <a:r>
              <a:rPr sz="1500" b="1">
                <a:solidFill>
                  <a:srgbClr val="111111"/>
                </a:solidFill>
                <a:latin typeface="Bebas Neue"/>
              </a:rPr>
              <a:t>Regression — supervised machine learning technique which is used to predict continuous values  ·  outliers — Data points that differ markedly from other observations.  ·  best-fit line — The straight line that minimizes the sum of squared errors.</a:t>
            </a:r>
          </a:p>
        </p:txBody>
      </p:sp>
      <p:sp>
        <p:nvSpPr>
          <p:cNvPr id="24" name="Rectangle 23"/>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Advantages and Disadvantages of LR</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34 / 69</a:t>
            </a:r>
          </a:p>
        </p:txBody>
      </p:sp>
      <p:sp>
        <p:nvSpPr>
          <p:cNvPr id="8" name="Rounded Rectangle 7">
            <a:hlinkClick r:id="rId5"/>
          </p:cNvPr>
          <p:cNvSpPr/>
          <p:nvPr/>
        </p:nvSpPr>
        <p:spPr>
          <a:xfrm>
            <a:off x="2894076" y="6455664"/>
            <a:ext cx="6400800" cy="310896"/>
          </a:xfrm>
          <a:prstGeom prst="round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Advantages and Disadvantages of LR — step-through</a:t>
            </a:r>
          </a:p>
        </p:txBody>
      </p:sp>
      <p:graphicFrame>
        <p:nvGraphicFramePr>
          <p:cNvPr id="9" name="Table 8"/>
          <p:cNvGraphicFramePr>
            <a:graphicFrameLocks noGrp="1"/>
          </p:cNvGraphicFramePr>
          <p:nvPr/>
        </p:nvGraphicFramePr>
        <p:xfrm>
          <a:off x="457200" y="1326261"/>
          <a:ext cx="11274552" cy="3931158"/>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Advantages</a:t>
                      </a:r>
                    </a:p>
                  </a:txBody>
                  <a:tcPr marL="146304" marR="146304" anchor="ctr">
                    <a:solidFill>
                      <a:srgbClr val="A8306E"/>
                    </a:solidFill>
                  </a:tcPr>
                </a:tc>
                <a:tc>
                  <a:txBody>
                    <a:bodyPr/>
                    <a:lstStyle/>
                    <a:p>
                      <a:pPr algn="l"/>
                      <a:r>
                        <a:rPr sz="2000" b="1">
                          <a:solidFill>
                            <a:srgbClr val="FFFFFF"/>
                          </a:solidFill>
                          <a:latin typeface="Bebas Neue"/>
                        </a:rPr>
                        <a:t>Disadvantages</a:t>
                      </a:r>
                    </a:p>
                  </a:txBody>
                  <a:tcPr marL="146304" marR="146304" anchor="ctr">
                    <a:solidFill>
                      <a:srgbClr val="A8306E"/>
                    </a:solidFill>
                  </a:tcPr>
                </a:tc>
              </a:tr>
              <a:tr h="1051560">
                <a:tc>
                  <a:txBody>
                    <a:bodyPr/>
                    <a:lstStyle/>
                    <a:p>
                      <a:pPr algn="l"/>
                      <a:r>
                        <a:rPr sz="1900" b="1">
                          <a:solidFill>
                            <a:srgbClr val="A8306E"/>
                          </a:solidFill>
                          <a:latin typeface="Bebas Neue"/>
                        </a:rPr>
                        <a:t>Linear regression performs exceptionally well for linearly separable data</a:t>
                      </a:r>
                    </a:p>
                  </a:txBody>
                  <a:tcPr marL="146304" marR="146304" anchor="ctr">
                    <a:solidFill>
                      <a:srgbClr val="F5F6F8"/>
                    </a:solidFill>
                  </a:tcPr>
                </a:tc>
                <a:tc>
                  <a:txBody>
                    <a:bodyPr/>
                    <a:lstStyle/>
                    <a:p>
                      <a:pPr algn="l"/>
                      <a:r>
                        <a:rPr sz="1900" b="0">
                          <a:solidFill>
                            <a:srgbClr val="111111"/>
                          </a:solidFill>
                          <a:latin typeface="Inter"/>
                        </a:rPr>
                        <a:t>The assumption of linearity between dependent and independent variables</a:t>
                      </a:r>
                    </a:p>
                  </a:txBody>
                  <a:tcPr marL="146304" marR="146304" anchor="ctr">
                    <a:solidFill>
                      <a:srgbClr val="F5F6F8"/>
                    </a:solidFill>
                  </a:tcPr>
                </a:tc>
              </a:tr>
              <a:tr h="1051560">
                <a:tc>
                  <a:txBody>
                    <a:bodyPr/>
                    <a:lstStyle/>
                    <a:p>
                      <a:pPr algn="l"/>
                      <a:r>
                        <a:rPr sz="1900" b="1">
                          <a:solidFill>
                            <a:srgbClr val="A8306E"/>
                          </a:solidFill>
                          <a:latin typeface="Bebas Neue"/>
                        </a:rPr>
                        <a:t>Easier to implement, interpret and efficient to train</a:t>
                      </a:r>
                    </a:p>
                  </a:txBody>
                  <a:tcPr marL="146304" marR="146304" anchor="ctr">
                    <a:solidFill>
                      <a:srgbClr val="F8EEF3"/>
                    </a:solidFill>
                  </a:tcPr>
                </a:tc>
                <a:tc>
                  <a:txBody>
                    <a:bodyPr/>
                    <a:lstStyle/>
                    <a:p>
                      <a:pPr algn="l"/>
                      <a:r>
                        <a:rPr sz="1900" b="0">
                          <a:solidFill>
                            <a:srgbClr val="111111"/>
                          </a:solidFill>
                          <a:latin typeface="Inter"/>
                        </a:rPr>
                        <a:t>It is often quite prone to noise and overfitting</a:t>
                      </a:r>
                    </a:p>
                  </a:txBody>
                  <a:tcPr marL="146304" marR="146304" anchor="ctr">
                    <a:solidFill>
                      <a:srgbClr val="F8EEF3"/>
                    </a:solidFill>
                  </a:tcPr>
                </a:tc>
              </a:tr>
              <a:tr h="1142238">
                <a:tc>
                  <a:txBody>
                    <a:bodyPr/>
                    <a:lstStyle/>
                    <a:p>
                      <a:pPr algn="l"/>
                      <a:r>
                        <a:rPr sz="1900" b="1">
                          <a:solidFill>
                            <a:srgbClr val="A8306E"/>
                          </a:solidFill>
                          <a:latin typeface="Bebas Neue"/>
                        </a:rPr>
                        <a:t>It handles overfitting pretty well using dimensionally reduction techniques, regularization, and cross-validation</a:t>
                      </a:r>
                    </a:p>
                  </a:txBody>
                  <a:tcPr marL="146304" marR="146304" anchor="ctr">
                    <a:solidFill>
                      <a:srgbClr val="F5F6F8"/>
                    </a:solidFill>
                  </a:tcPr>
                </a:tc>
                <a:tc>
                  <a:txBody>
                    <a:bodyPr/>
                    <a:lstStyle/>
                    <a:p>
                      <a:pPr algn="l"/>
                      <a:r>
                        <a:rPr sz="1900" b="0">
                          <a:solidFill>
                            <a:srgbClr val="111111"/>
                          </a:solidFill>
                          <a:latin typeface="Inter"/>
                        </a:rPr>
                        <a:t>Linear regression is quite sensitive to outliers Hence, it should not be used in the case of big-size data.</a:t>
                      </a:r>
                    </a:p>
                  </a:txBody>
                  <a:tcPr marL="146304" marR="146304" anchor="ctr">
                    <a:solidFill>
                      <a:srgbClr val="F5F6F8"/>
                    </a:solidFill>
                  </a:tcPr>
                </a:tc>
              </a:tr>
            </a:tbl>
          </a:graphicData>
        </a:graphic>
      </p:graphicFrame>
      <p:sp>
        <p:nvSpPr>
          <p:cNvPr id="10" name="Rounded Rectangle 9"/>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Linear regression is efficient and handles linearly separable data, but is sensitive to outliers and noise.</a:t>
            </a:r>
          </a:p>
        </p:txBody>
      </p:sp>
      <p:sp>
        <p:nvSpPr>
          <p:cNvPr id="11" name="Rectangle 10"/>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Checkpoint 7</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35 / 69</a:t>
            </a:r>
          </a:p>
        </p:txBody>
      </p:sp>
      <p:sp>
        <p:nvSpPr>
          <p:cNvPr id="7" name="Rounded Rectangle 6"/>
          <p:cNvSpPr/>
          <p:nvPr/>
        </p:nvSpPr>
        <p:spPr>
          <a:xfrm>
            <a:off x="457200" y="1298448"/>
            <a:ext cx="11274552" cy="1326611"/>
          </a:xfrm>
          <a:prstGeom prst="roundRect">
            <a:avLst>
              <a:gd name="adj" fmla="val 10614"/>
            </a:avLst>
          </a:prstGeom>
          <a:solidFill>
            <a:srgbClr val="F6EAF0"/>
          </a:solidFill>
          <a:ln w="12700">
            <a:solidFill>
              <a:srgbClr val="A83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A8306E"/>
                </a:solidFill>
                <a:latin typeface="Bebas Neue"/>
              </a:rPr>
              <a:t>Which term matches this description: “supervised machine learning technique which is used to predict continuous values”?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dependent variable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independent variables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Local optima</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Regression</a:t>
            </a:r>
          </a:p>
        </p:txBody>
      </p:sp>
      <p:sp>
        <p:nvSpPr>
          <p:cNvPr id="22" name="Rounded Rectangle 21"/>
          <p:cNvSpPr/>
          <p:nvPr/>
        </p:nvSpPr>
        <p:spPr>
          <a:xfrm>
            <a:off x="457200" y="5380329"/>
            <a:ext cx="11274552" cy="1020470"/>
          </a:xfrm>
          <a:prstGeom prst="roundRect">
            <a:avLst>
              <a:gd name="adj" fmla="val 12000"/>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45F771"/>
                </a:solidFill>
                <a:latin typeface="Bebas Neue"/>
              </a:rPr>
              <a:t>Answer: D</a:t>
            </a:r>
          </a:p>
          <a:p>
            <a:pPr algn="l">
              <a:spcBef>
                <a:spcPts val="200"/>
              </a:spcBef>
            </a:pPr>
            <a:r>
              <a:rPr sz="1600" b="0">
                <a:solidFill>
                  <a:srgbClr val="FFFFFF"/>
                </a:solidFill>
                <a:latin typeface="Inter"/>
              </a:rPr>
              <a:t>Regression: supervised machine learning technique which is used to predict continuous values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Multiple linear regression estimates one outcome from several predictors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36 / 69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624716"/>
          </a:xfrm>
          <a:prstGeom prst="roundRect">
            <a:avLst>
              <a:gd name="adj" fmla="val 22541"/>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27342"/>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40728"/>
            <a:ext cx="340156" cy="340156"/>
          </a:xfrm>
          <a:prstGeom prst="rect">
            <a:avLst/>
          </a:prstGeom>
        </p:spPr>
      </p:pic>
      <p:sp>
        <p:nvSpPr>
          <p:cNvPr id="11" name="TextBox 10"/>
          <p:cNvSpPr txBox="1"/>
          <p:nvPr/>
        </p:nvSpPr>
        <p:spPr>
          <a:xfrm>
            <a:off x="1408175" y="1371600"/>
            <a:ext cx="6598919" cy="478412"/>
          </a:xfrm>
          <a:prstGeom prst="rect">
            <a:avLst/>
          </a:prstGeom>
          <a:noFill/>
        </p:spPr>
        <p:txBody>
          <a:bodyPr wrap="square" anchor="ctr" lIns="0" tIns="0" rIns="0" bIns="0">
            <a:spAutoFit/>
          </a:bodyPr>
          <a:lstStyle/>
          <a:p>
            <a:pPr algn="l"/>
            <a:r>
              <a:rPr sz="1260" b="1">
                <a:solidFill>
                  <a:srgbClr val="A8306E"/>
                </a:solidFill>
                <a:latin typeface="Bebas Neue"/>
              </a:rPr>
              <a:t>Definition</a:t>
            </a:r>
          </a:p>
          <a:p>
            <a:pPr algn="l">
              <a:spcBef>
                <a:spcPts val="500"/>
              </a:spcBef>
            </a:pPr>
            <a:r>
              <a:rPr sz="1050" b="0">
                <a:solidFill>
                  <a:srgbClr val="111111"/>
                </a:solidFill>
                <a:latin typeface="Inter"/>
              </a:rPr>
              <a:t>Multiple linear regression is used to estimate the relationship between two or more independent variables and one dependent variable.</a:t>
            </a:r>
          </a:p>
        </p:txBody>
      </p:sp>
      <p:sp>
        <p:nvSpPr>
          <p:cNvPr id="12" name="Rounded Rectangle 11"/>
          <p:cNvSpPr/>
          <p:nvPr/>
        </p:nvSpPr>
        <p:spPr>
          <a:xfrm>
            <a:off x="457200" y="2124332"/>
            <a:ext cx="7751064" cy="624716"/>
          </a:xfrm>
          <a:prstGeom prst="roundRect">
            <a:avLst>
              <a:gd name="adj" fmla="val 22541"/>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153227"/>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266612"/>
            <a:ext cx="340156" cy="340156"/>
          </a:xfrm>
          <a:prstGeom prst="rect">
            <a:avLst/>
          </a:prstGeom>
        </p:spPr>
      </p:pic>
      <p:sp>
        <p:nvSpPr>
          <p:cNvPr id="15" name="TextBox 14"/>
          <p:cNvSpPr txBox="1"/>
          <p:nvPr/>
        </p:nvSpPr>
        <p:spPr>
          <a:xfrm>
            <a:off x="1408175" y="2197484"/>
            <a:ext cx="6598919" cy="478412"/>
          </a:xfrm>
          <a:prstGeom prst="rect">
            <a:avLst/>
          </a:prstGeom>
          <a:noFill/>
        </p:spPr>
        <p:txBody>
          <a:bodyPr wrap="square" anchor="ctr" lIns="0" tIns="0" rIns="0" bIns="0">
            <a:spAutoFit/>
          </a:bodyPr>
          <a:lstStyle/>
          <a:p>
            <a:pPr algn="l"/>
            <a:r>
              <a:rPr sz="1260" b="1">
                <a:solidFill>
                  <a:srgbClr val="A8306E"/>
                </a:solidFill>
                <a:latin typeface="Bebas Neue"/>
              </a:rPr>
              <a:t>House Price Example</a:t>
            </a:r>
          </a:p>
          <a:p>
            <a:pPr algn="l">
              <a:spcBef>
                <a:spcPts val="500"/>
              </a:spcBef>
            </a:pPr>
            <a:r>
              <a:rPr sz="1050" b="0">
                <a:solidFill>
                  <a:srgbClr val="111111"/>
                </a:solidFill>
                <a:latin typeface="Inter"/>
              </a:rPr>
              <a:t>Depends on location, bedrooms, bathrooms, year built, and square footage.</a:t>
            </a:r>
          </a:p>
        </p:txBody>
      </p:sp>
      <p:sp>
        <p:nvSpPr>
          <p:cNvPr id="16" name="Rounded Rectangle 15"/>
          <p:cNvSpPr/>
          <p:nvPr/>
        </p:nvSpPr>
        <p:spPr>
          <a:xfrm>
            <a:off x="457200" y="2950217"/>
            <a:ext cx="7751064" cy="624716"/>
          </a:xfrm>
          <a:prstGeom prst="roundRect">
            <a:avLst>
              <a:gd name="adj" fmla="val 22541"/>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979112"/>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092497"/>
            <a:ext cx="340156" cy="340156"/>
          </a:xfrm>
          <a:prstGeom prst="rect">
            <a:avLst/>
          </a:prstGeom>
        </p:spPr>
      </p:pic>
      <p:sp>
        <p:nvSpPr>
          <p:cNvPr id="19" name="TextBox 18"/>
          <p:cNvSpPr txBox="1"/>
          <p:nvPr/>
        </p:nvSpPr>
        <p:spPr>
          <a:xfrm>
            <a:off x="1408175" y="3023369"/>
            <a:ext cx="6598919" cy="478412"/>
          </a:xfrm>
          <a:prstGeom prst="rect">
            <a:avLst/>
          </a:prstGeom>
          <a:noFill/>
        </p:spPr>
        <p:txBody>
          <a:bodyPr wrap="square" anchor="ctr" lIns="0" tIns="0" rIns="0" bIns="0">
            <a:spAutoFit/>
          </a:bodyPr>
          <a:lstStyle/>
          <a:p>
            <a:pPr algn="l"/>
            <a:r>
              <a:rPr sz="1260" b="1">
                <a:solidFill>
                  <a:srgbClr val="A8306E"/>
                </a:solidFill>
                <a:latin typeface="Bebas Neue"/>
              </a:rPr>
              <a:t>Child Height Example</a:t>
            </a:r>
          </a:p>
          <a:p>
            <a:pPr algn="l">
              <a:spcBef>
                <a:spcPts val="500"/>
              </a:spcBef>
            </a:pPr>
            <a:r>
              <a:rPr sz="1050" b="0">
                <a:solidFill>
                  <a:srgbClr val="111111"/>
                </a:solidFill>
                <a:latin typeface="Inter"/>
              </a:rPr>
              <a:t>Depends on mother's height, father's height, nutrition, and environmental factors.</a:t>
            </a:r>
          </a:p>
        </p:txBody>
      </p:sp>
      <p:sp>
        <p:nvSpPr>
          <p:cNvPr id="20" name="Rounded Rectangle 19"/>
          <p:cNvSpPr/>
          <p:nvPr/>
        </p:nvSpPr>
        <p:spPr>
          <a:xfrm>
            <a:off x="457200" y="3776102"/>
            <a:ext cx="7751064" cy="1509129"/>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76102"/>
            <a:ext cx="73152" cy="1509129"/>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49254"/>
            <a:ext cx="7356043" cy="1362825"/>
          </a:xfrm>
          <a:prstGeom prst="rect">
            <a:avLst/>
          </a:prstGeom>
          <a:noFill/>
        </p:spPr>
        <p:txBody>
          <a:bodyPr wrap="square" anchor="ctr" lIns="0" tIns="0" rIns="0" bIns="0">
            <a:spAutoFit/>
          </a:bodyPr>
          <a:lstStyle/>
          <a:p>
            <a:pPr algn="l"/>
            <a:r>
              <a:rPr sz="940" b="1">
                <a:solidFill>
                  <a:srgbClr val="A8306E"/>
                </a:solidFill>
                <a:latin typeface="Bebas Neue"/>
              </a:rPr>
              <a:t>IN PLAIN WORDS</a:t>
            </a:r>
          </a:p>
          <a:p>
            <a:pPr algn="l">
              <a:spcBef>
                <a:spcPts val="300"/>
              </a:spcBef>
            </a:pPr>
            <a:r>
              <a:rPr sz="1300" b="0">
                <a:solidFill>
                  <a:srgbClr val="111111"/>
                </a:solidFill>
                <a:latin typeface="Inter"/>
              </a:rPr>
              <a:t>Multiple linear regression extends simple regression by using two or more independent variables to predict a single dependent variable. It captures how each predictor contributes to the outcome while controlling for the others. This method is common in real-world problems like house pricing or child growth studies. For example, estimating house price from location, size, and age of the property.</a:t>
            </a:r>
          </a:p>
        </p:txBody>
      </p:sp>
      <p:sp>
        <p:nvSpPr>
          <p:cNvPr id="23" name="Rounded Rectangle 22"/>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terms:  </a:t>
            </a:r>
            <a:r>
              <a:rPr sz="1600" b="1">
                <a:solidFill>
                  <a:srgbClr val="111111"/>
                </a:solidFill>
                <a:latin typeface="Bebas Neue"/>
              </a:rPr>
              <a:t>independent variables — Predictor variables that influence the outcome.  ·  dependent variable — Outcome variable that the model aims to predict.</a:t>
            </a:r>
          </a:p>
        </p:txBody>
      </p:sp>
      <p:sp>
        <p:nvSpPr>
          <p:cNvPr id="24" name="Rectangle 23"/>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Multiple linear regression model</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37 / 69</a:t>
            </a:r>
          </a:p>
        </p:txBody>
      </p:sp>
      <p:sp>
        <p:nvSpPr>
          <p:cNvPr id="7" name="Rounded Rectangle 6"/>
          <p:cNvSpPr/>
          <p:nvPr/>
        </p:nvSpPr>
        <p:spPr>
          <a:xfrm>
            <a:off x="457199" y="2579970"/>
            <a:ext cx="11274552" cy="2539306"/>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2744562"/>
            <a:ext cx="10945368" cy="2210122"/>
          </a:xfrm>
          <a:prstGeom prst="rect">
            <a:avLst/>
          </a:prstGeom>
        </p:spPr>
      </p:pic>
    </p:spTree>
  </p:cSld>
  <p:clrMapOvr>
    <a:masterClrMapping/>
  </p:clrMapOvr>
  <p:transition spd="med">
    <p:zoom dir="in"/>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45F771"/>
                </a:solidFill>
              </a:defRPr>
            </a:pPr>
            <a:r>
              <a:rPr>
                <a:latin typeface="Bebas Neue"/>
              </a:rPr>
              <a:t>The regression model is the equation we aim to estimate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38 / 69</a:t>
            </a:r>
          </a:p>
        </p:txBody>
      </p:sp>
      <p:pic>
        <p:nvPicPr>
          <p:cNvPr id="7" name="Picture 6" descr="image.png"/>
          <p:cNvPicPr>
            <a:picLocks noChangeAspect="1"/>
          </p:cNvPicPr>
          <p:nvPr/>
        </p:nvPicPr>
        <p:blipFill>
          <a:blip r:embed="rId3"/>
          <a:stretch>
            <a:fillRect/>
          </a:stretch>
        </p:blipFill>
        <p:spPr>
          <a:xfrm>
            <a:off x="7672913" y="2391544"/>
            <a:ext cx="4058838" cy="2916159"/>
          </a:xfrm>
          <a:prstGeom prst="rect">
            <a:avLst/>
          </a:prstGeom>
        </p:spPr>
      </p:pic>
      <p:sp>
        <p:nvSpPr>
          <p:cNvPr id="8" name="Rounded Rectangle 7"/>
          <p:cNvSpPr/>
          <p:nvPr/>
        </p:nvSpPr>
        <p:spPr>
          <a:xfrm>
            <a:off x="457200" y="2446477"/>
            <a:ext cx="7014545" cy="2806293"/>
          </a:xfrm>
          <a:prstGeom prst="roundRect">
            <a:avLst>
              <a:gd name="adj" fmla="val 5017"/>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647645"/>
            <a:ext cx="109728" cy="2403957"/>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47645"/>
            <a:ext cx="6155009" cy="2403957"/>
          </a:xfrm>
          <a:prstGeom prst="rect">
            <a:avLst/>
          </a:prstGeom>
          <a:noFill/>
        </p:spPr>
        <p:txBody>
          <a:bodyPr wrap="square" anchor="ctr" lIns="0" tIns="0" rIns="0" bIns="0">
            <a:spAutoFit/>
          </a:bodyPr>
          <a:lstStyle/>
          <a:p>
            <a:pPr algn="l"/>
            <a:r>
              <a:rPr sz="2800" b="1">
                <a:solidFill>
                  <a:srgbClr val="A8306E"/>
                </a:solidFill>
                <a:latin typeface="Bebas Neue"/>
              </a:rPr>
              <a:t>“Actual line from which the examples are drawn”</a:t>
            </a:r>
          </a:p>
          <a:p>
            <a:pPr algn="l">
              <a:spcBef>
                <a:spcPts val="1000"/>
              </a:spcBef>
            </a:pPr>
            <a:r>
              <a:rPr sz="1400" b="0">
                <a:solidFill>
                  <a:srgbClr val="111111"/>
                </a:solidFill>
                <a:latin typeface="Inter"/>
              </a:rPr>
              <a:t>— The regression model is the equation we aim to estimate</a:t>
            </a:r>
          </a:p>
        </p:txBody>
      </p:sp>
    </p:spTree>
  </p:cSld>
  <p:clrMapOvr>
    <a:masterClrMapping/>
  </p:clrMapOvr>
  <p:transition spd="med">
    <p:cover dir="r"/>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Multiple linear regression model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39 / 69</a:t>
            </a:r>
          </a:p>
        </p:txBody>
      </p:sp>
      <p:sp>
        <p:nvSpPr>
          <p:cNvPr id="7" name="Rounded Rectangle 6"/>
          <p:cNvSpPr/>
          <p:nvPr/>
        </p:nvSpPr>
        <p:spPr>
          <a:xfrm>
            <a:off x="1687068" y="1298448"/>
            <a:ext cx="8814815"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51660" y="1463040"/>
            <a:ext cx="8485632" cy="4773168"/>
          </a:xfrm>
          <a:prstGeom prst="rect">
            <a:avLst/>
          </a:prstGeom>
        </p:spPr>
      </p:pic>
    </p:spTree>
  </p:cSld>
  <p:clrMapOvr>
    <a:masterClrMapping/>
  </p:clrMapOvr>
  <p:transition spd="med">
    <p:zoom dir="in"/>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500" b="1">
                <a:solidFill>
                  <a:srgbClr val="45F771"/>
                </a:solidFill>
              </a:defRPr>
            </a:pPr>
            <a:r>
              <a:rPr>
                <a:latin typeface="Bebas Neue"/>
              </a:rPr>
              <a:t>Cost function seeks parameters that minimize prediction error</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40 / 69</a:t>
            </a:r>
          </a:p>
        </p:txBody>
      </p:sp>
      <p:sp>
        <p:nvSpPr>
          <p:cNvPr id="7" name="Rectangle 6"/>
          <p:cNvSpPr/>
          <p:nvPr/>
        </p:nvSpPr>
        <p:spPr>
          <a:xfrm>
            <a:off x="457200" y="2967410"/>
            <a:ext cx="82296" cy="51169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547" y="2930834"/>
            <a:ext cx="10240420" cy="529986"/>
          </a:xfrm>
          <a:prstGeom prst="rect">
            <a:avLst/>
          </a:prstGeom>
          <a:noFill/>
        </p:spPr>
        <p:txBody>
          <a:bodyPr wrap="square" anchor="t" lIns="0" tIns="0" rIns="0" bIns="0">
            <a:spAutoFit/>
          </a:bodyPr>
          <a:lstStyle/>
          <a:p>
            <a:pPr algn="l"/>
            <a:r>
              <a:rPr sz="3310" b="1">
                <a:solidFill>
                  <a:srgbClr val="A8306E"/>
                </a:solidFill>
                <a:latin typeface="Bebas Neue"/>
              </a:rPr>
              <a:t>Find b and w to minimize J ().</a:t>
            </a:r>
          </a:p>
        </p:txBody>
      </p:sp>
      <p:sp>
        <p:nvSpPr>
          <p:cNvPr id="9" name="Rounded Rectangle 8"/>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The cost function searches for parameters b and w that minimize overall prediction error.</a:t>
            </a:r>
          </a:p>
        </p:txBody>
      </p:sp>
      <p:sp>
        <p:nvSpPr>
          <p:cNvPr id="10" name="Rectangle 9"/>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Gradient descent iteratively adjusts parameters to reduce the cost function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41 / 69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ounded Rectangle 7"/>
          <p:cNvSpPr/>
          <p:nvPr/>
        </p:nvSpPr>
        <p:spPr>
          <a:xfrm>
            <a:off x="457200" y="1298448"/>
            <a:ext cx="769101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5809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71480"/>
            <a:ext cx="340156" cy="340156"/>
          </a:xfrm>
          <a:prstGeom prst="rect">
            <a:avLst/>
          </a:prstGeom>
        </p:spPr>
      </p:pic>
      <p:sp>
        <p:nvSpPr>
          <p:cNvPr id="11" name="TextBox 10"/>
          <p:cNvSpPr txBox="1"/>
          <p:nvPr/>
        </p:nvSpPr>
        <p:spPr>
          <a:xfrm>
            <a:off x="1408175" y="1371600"/>
            <a:ext cx="6538874" cy="1139917"/>
          </a:xfrm>
          <a:prstGeom prst="rect">
            <a:avLst/>
          </a:prstGeom>
          <a:noFill/>
        </p:spPr>
        <p:txBody>
          <a:bodyPr wrap="square" anchor="ctr" lIns="0" tIns="0" rIns="0" bIns="0">
            <a:spAutoFit/>
          </a:bodyPr>
          <a:lstStyle/>
          <a:p>
            <a:pPr algn="l"/>
            <a:r>
              <a:rPr sz="3120" b="1">
                <a:solidFill>
                  <a:srgbClr val="A8306E"/>
                </a:solidFill>
                <a:latin typeface="Bebas Neue"/>
              </a:rPr>
              <a:t>Start with some</a:t>
            </a:r>
          </a:p>
        </p:txBody>
      </p:sp>
      <p:sp>
        <p:nvSpPr>
          <p:cNvPr id="12" name="Rounded Rectangle 11"/>
          <p:cNvSpPr/>
          <p:nvPr/>
        </p:nvSpPr>
        <p:spPr>
          <a:xfrm>
            <a:off x="457200" y="2785837"/>
            <a:ext cx="769101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14548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258870"/>
            <a:ext cx="340156" cy="340156"/>
          </a:xfrm>
          <a:prstGeom prst="rect">
            <a:avLst/>
          </a:prstGeom>
        </p:spPr>
      </p:pic>
      <p:sp>
        <p:nvSpPr>
          <p:cNvPr id="15" name="TextBox 14"/>
          <p:cNvSpPr txBox="1"/>
          <p:nvPr/>
        </p:nvSpPr>
        <p:spPr>
          <a:xfrm>
            <a:off x="1408175" y="2858989"/>
            <a:ext cx="6538874" cy="1139917"/>
          </a:xfrm>
          <a:prstGeom prst="rect">
            <a:avLst/>
          </a:prstGeom>
          <a:noFill/>
        </p:spPr>
        <p:txBody>
          <a:bodyPr wrap="square" anchor="ctr" lIns="0" tIns="0" rIns="0" bIns="0">
            <a:spAutoFit/>
          </a:bodyPr>
          <a:lstStyle/>
          <a:p>
            <a:pPr algn="l"/>
            <a:r>
              <a:rPr sz="3120" b="1">
                <a:solidFill>
                  <a:srgbClr val="A8306E"/>
                </a:solidFill>
                <a:latin typeface="Bebas Neue"/>
              </a:rPr>
              <a:t>Keep changing to reduce</a:t>
            </a:r>
          </a:p>
        </p:txBody>
      </p:sp>
      <p:sp>
        <p:nvSpPr>
          <p:cNvPr id="16" name="Rounded Rectangle 15"/>
          <p:cNvSpPr/>
          <p:nvPr/>
        </p:nvSpPr>
        <p:spPr>
          <a:xfrm>
            <a:off x="457200" y="4273227"/>
            <a:ext cx="769101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63287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746260"/>
            <a:ext cx="340156" cy="340156"/>
          </a:xfrm>
          <a:prstGeom prst="rect">
            <a:avLst/>
          </a:prstGeom>
        </p:spPr>
      </p:pic>
      <p:sp>
        <p:nvSpPr>
          <p:cNvPr id="19" name="TextBox 18"/>
          <p:cNvSpPr txBox="1"/>
          <p:nvPr/>
        </p:nvSpPr>
        <p:spPr>
          <a:xfrm>
            <a:off x="1408175" y="4346379"/>
            <a:ext cx="6538874" cy="1139917"/>
          </a:xfrm>
          <a:prstGeom prst="rect">
            <a:avLst/>
          </a:prstGeom>
          <a:noFill/>
        </p:spPr>
        <p:txBody>
          <a:bodyPr wrap="square" anchor="ctr" lIns="0" tIns="0" rIns="0" bIns="0">
            <a:spAutoFit/>
          </a:bodyPr>
          <a:lstStyle/>
          <a:p>
            <a:pPr algn="l"/>
            <a:r>
              <a:rPr sz="3120" b="1">
                <a:solidFill>
                  <a:srgbClr val="A8306E"/>
                </a:solidFill>
                <a:latin typeface="Bebas Neue"/>
              </a:rPr>
              <a:t>until we hopefully end up at a minimum</a:t>
            </a:r>
          </a:p>
        </p:txBody>
      </p:sp>
      <p:sp>
        <p:nvSpPr>
          <p:cNvPr id="20" name="Rounded Rectangle 19"/>
          <p:cNvSpPr/>
          <p:nvPr/>
        </p:nvSpPr>
        <p:spPr>
          <a:xfrm>
            <a:off x="457200" y="5760617"/>
            <a:ext cx="7691018" cy="64018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60617"/>
            <a:ext cx="73152" cy="64018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5833769"/>
            <a:ext cx="7295997" cy="49387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Outline: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42 / 69</a:t>
            </a:r>
          </a:p>
        </p:txBody>
      </p:sp>
      <p:sp>
        <p:nvSpPr>
          <p:cNvPr id="7" name="Rounded Rectangle 6"/>
          <p:cNvSpPr/>
          <p:nvPr/>
        </p:nvSpPr>
        <p:spPr>
          <a:xfrm>
            <a:off x="2084831" y="1298448"/>
            <a:ext cx="8019288"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49424" y="1463040"/>
            <a:ext cx="7690104" cy="4773168"/>
          </a:xfrm>
          <a:prstGeom prst="rect">
            <a:avLst/>
          </a:prstGeom>
        </p:spPr>
      </p:pic>
    </p:spTree>
  </p:cSld>
  <p:clrMapOvr>
    <a:masterClrMapping/>
  </p:clrMapOvr>
  <p:transition spd="med">
    <p:zoom dir="in"/>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Simplified hypothesis uses a linear model with zero bias and slope w</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43 / 69</a:t>
            </a:r>
          </a:p>
        </p:txBody>
      </p:sp>
      <p:sp>
        <p:nvSpPr>
          <p:cNvPr id="8" name="Rounded Rectangle 7"/>
          <p:cNvSpPr/>
          <p:nvPr/>
        </p:nvSpPr>
        <p:spPr>
          <a:xfrm>
            <a:off x="457200" y="1298448"/>
            <a:ext cx="11274552" cy="749808"/>
          </a:xfrm>
          <a:prstGeom prst="roundRect">
            <a:avLst>
              <a:gd name="adj" fmla="val 187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44751"/>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603503"/>
          </a:xfrm>
          <a:prstGeom prst="rect">
            <a:avLst/>
          </a:prstGeom>
          <a:noFill/>
        </p:spPr>
        <p:txBody>
          <a:bodyPr wrap="square" anchor="ctr" lIns="0" tIns="0" rIns="0" bIns="0">
            <a:spAutoFit/>
          </a:bodyPr>
          <a:lstStyle/>
          <a:p>
            <a:pPr algn="l"/>
            <a:r>
              <a:rPr sz="2990" b="1">
                <a:solidFill>
                  <a:srgbClr val="A8306E"/>
                </a:solidFill>
                <a:latin typeface="Bebas Neue"/>
              </a:rPr>
              <a:t>Simplified</a:t>
            </a:r>
          </a:p>
        </p:txBody>
      </p:sp>
      <p:sp>
        <p:nvSpPr>
          <p:cNvPr id="11" name="Rounded Rectangle 10"/>
          <p:cNvSpPr/>
          <p:nvPr/>
        </p:nvSpPr>
        <p:spPr>
          <a:xfrm>
            <a:off x="457200" y="2168956"/>
            <a:ext cx="11274552" cy="749808"/>
          </a:xfrm>
          <a:prstGeom prst="roundRect">
            <a:avLst>
              <a:gd name="adj" fmla="val 187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315260"/>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242108"/>
            <a:ext cx="10213848" cy="603503"/>
          </a:xfrm>
          <a:prstGeom prst="rect">
            <a:avLst/>
          </a:prstGeom>
          <a:noFill/>
        </p:spPr>
        <p:txBody>
          <a:bodyPr wrap="square" anchor="ctr" lIns="0" tIns="0" rIns="0" bIns="0">
            <a:spAutoFit/>
          </a:bodyPr>
          <a:lstStyle/>
          <a:p>
            <a:pPr algn="l"/>
            <a:r>
              <a:rPr sz="2990" b="1">
                <a:solidFill>
                  <a:srgbClr val="A8306E"/>
                </a:solidFill>
                <a:latin typeface="Bebas Neue"/>
              </a:rPr>
              <a:t>Hypothesis: hb,w(x)= b+wx</a:t>
            </a:r>
          </a:p>
        </p:txBody>
      </p:sp>
      <p:sp>
        <p:nvSpPr>
          <p:cNvPr id="14" name="Rounded Rectangle 13"/>
          <p:cNvSpPr/>
          <p:nvPr/>
        </p:nvSpPr>
        <p:spPr>
          <a:xfrm>
            <a:off x="457200" y="3039465"/>
            <a:ext cx="11274552" cy="749808"/>
          </a:xfrm>
          <a:prstGeom prst="roundRect">
            <a:avLst>
              <a:gd name="adj" fmla="val 187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185769"/>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3112617"/>
            <a:ext cx="10213848" cy="603503"/>
          </a:xfrm>
          <a:prstGeom prst="rect">
            <a:avLst/>
          </a:prstGeom>
          <a:noFill/>
        </p:spPr>
        <p:txBody>
          <a:bodyPr wrap="square" anchor="ctr" lIns="0" tIns="0" rIns="0" bIns="0">
            <a:spAutoFit/>
          </a:bodyPr>
          <a:lstStyle/>
          <a:p>
            <a:pPr algn="l"/>
            <a:r>
              <a:rPr sz="2990" b="1">
                <a:solidFill>
                  <a:srgbClr val="A8306E"/>
                </a:solidFill>
                <a:latin typeface="Bebas Neue"/>
              </a:rPr>
              <a:t>hw(x)= wx b=0</a:t>
            </a:r>
          </a:p>
        </p:txBody>
      </p:sp>
      <p:sp>
        <p:nvSpPr>
          <p:cNvPr id="17" name="Rounded Rectangle 16"/>
          <p:cNvSpPr/>
          <p:nvPr/>
        </p:nvSpPr>
        <p:spPr>
          <a:xfrm>
            <a:off x="457200" y="3909974"/>
            <a:ext cx="11274552" cy="749808"/>
          </a:xfrm>
          <a:prstGeom prst="roundRect">
            <a:avLst>
              <a:gd name="adj" fmla="val 187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056278"/>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983126"/>
            <a:ext cx="10213848" cy="603503"/>
          </a:xfrm>
          <a:prstGeom prst="rect">
            <a:avLst/>
          </a:prstGeom>
          <a:noFill/>
        </p:spPr>
        <p:txBody>
          <a:bodyPr wrap="square" anchor="ctr" lIns="0" tIns="0" rIns="0" bIns="0">
            <a:spAutoFit/>
          </a:bodyPr>
          <a:lstStyle/>
          <a:p>
            <a:pPr algn="l"/>
            <a:r>
              <a:rPr sz="2990" b="1">
                <a:solidFill>
                  <a:srgbClr val="A8306E"/>
                </a:solidFill>
                <a:latin typeface="Bebas Neue"/>
              </a:rPr>
              <a:t>Parameters:</a:t>
            </a:r>
          </a:p>
        </p:txBody>
      </p:sp>
      <p:sp>
        <p:nvSpPr>
          <p:cNvPr id="20" name="Rounded Rectangle 19"/>
          <p:cNvSpPr/>
          <p:nvPr/>
        </p:nvSpPr>
        <p:spPr>
          <a:xfrm>
            <a:off x="457200" y="4780483"/>
            <a:ext cx="11274552" cy="749808"/>
          </a:xfrm>
          <a:prstGeom prst="roundRect">
            <a:avLst>
              <a:gd name="adj" fmla="val 187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926787"/>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4853635"/>
            <a:ext cx="10213848" cy="603503"/>
          </a:xfrm>
          <a:prstGeom prst="rect">
            <a:avLst/>
          </a:prstGeom>
          <a:noFill/>
        </p:spPr>
        <p:txBody>
          <a:bodyPr wrap="square" anchor="ctr" lIns="0" tIns="0" rIns="0" bIns="0">
            <a:spAutoFit/>
          </a:bodyPr>
          <a:lstStyle/>
          <a:p>
            <a:pPr algn="l"/>
            <a:r>
              <a:rPr sz="2990" b="1">
                <a:solidFill>
                  <a:srgbClr val="A8306E"/>
                </a:solidFill>
                <a:latin typeface="Bebas Neue"/>
              </a:rPr>
              <a:t>b, w Cost Function:</a:t>
            </a:r>
          </a:p>
        </p:txBody>
      </p:sp>
      <p:sp>
        <p:nvSpPr>
          <p:cNvPr id="23" name="Rounded Rectangle 22"/>
          <p:cNvSpPr/>
          <p:nvPr/>
        </p:nvSpPr>
        <p:spPr>
          <a:xfrm>
            <a:off x="457200" y="5650992"/>
            <a:ext cx="11274552" cy="749808"/>
          </a:xfrm>
          <a:prstGeom prst="roundRect">
            <a:avLst>
              <a:gd name="adj" fmla="val 1878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5797296"/>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5724144"/>
            <a:ext cx="10213848" cy="603503"/>
          </a:xfrm>
          <a:prstGeom prst="rect">
            <a:avLst/>
          </a:prstGeom>
          <a:noFill/>
        </p:spPr>
        <p:txBody>
          <a:bodyPr wrap="square" anchor="ctr" lIns="0" tIns="0" rIns="0" bIns="0">
            <a:spAutoFit/>
          </a:bodyPr>
          <a:lstStyle/>
          <a:p>
            <a:pPr algn="l"/>
            <a:r>
              <a:rPr sz="2990" b="1">
                <a:solidFill>
                  <a:srgbClr val="A8306E"/>
                </a:solidFill>
                <a:latin typeface="Bebas Neue"/>
              </a:rPr>
              <a:t>Goal:</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45F771"/>
                </a:solidFill>
              </a:defRPr>
            </a:pPr>
            <a:r>
              <a:rPr>
                <a:latin typeface="Bebas Neue"/>
              </a:rPr>
              <a:t>Setting w to one yields a hypothesis function hw(x) = x</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44 / 69</a:t>
            </a:r>
          </a:p>
        </p:txBody>
      </p:sp>
      <p:pic>
        <p:nvPicPr>
          <p:cNvPr id="7" name="Picture 6" descr="image.png"/>
          <p:cNvPicPr>
            <a:picLocks noChangeAspect="1"/>
          </p:cNvPicPr>
          <p:nvPr/>
        </p:nvPicPr>
        <p:blipFill>
          <a:blip r:embed="rId3"/>
          <a:stretch>
            <a:fillRect/>
          </a:stretch>
        </p:blipFill>
        <p:spPr>
          <a:xfrm>
            <a:off x="7672913" y="1777058"/>
            <a:ext cx="4058838" cy="3029563"/>
          </a:xfrm>
          <a:prstGeom prst="rect">
            <a:avLst/>
          </a:prstGeom>
        </p:spPr>
      </p:pic>
      <p:sp>
        <p:nvSpPr>
          <p:cNvPr id="8" name="TextBox 7"/>
          <p:cNvSpPr txBox="1"/>
          <p:nvPr/>
        </p:nvSpPr>
        <p:spPr>
          <a:xfrm>
            <a:off x="457200" y="1298448"/>
            <a:ext cx="7014545" cy="365760"/>
          </a:xfrm>
          <a:prstGeom prst="rect">
            <a:avLst/>
          </a:prstGeom>
          <a:noFill/>
        </p:spPr>
        <p:txBody>
          <a:bodyPr wrap="square" anchor="ctr" lIns="0" tIns="0" rIns="0" bIns="0">
            <a:spAutoFit/>
          </a:bodyPr>
          <a:lstStyle/>
          <a:p>
            <a:pPr algn="l"/>
            <a:r>
              <a:rPr sz="1500" b="1">
                <a:solidFill>
                  <a:srgbClr val="A8306E"/>
                </a:solidFill>
                <a:latin typeface="Bebas Neue"/>
              </a:rPr>
              <a:t>SETTING W TO ONE YIELDS A HYPOTHESIS FUNCTION HW(X) = X</a:t>
            </a:r>
          </a:p>
        </p:txBody>
      </p:sp>
      <p:sp>
        <p:nvSpPr>
          <p:cNvPr id="9" name="TextBox 8"/>
          <p:cNvSpPr txBox="1"/>
          <p:nvPr/>
        </p:nvSpPr>
        <p:spPr>
          <a:xfrm>
            <a:off x="457200" y="1847088"/>
            <a:ext cx="7014545" cy="429768"/>
          </a:xfrm>
          <a:prstGeom prst="rect">
            <a:avLst/>
          </a:prstGeom>
          <a:noFill/>
        </p:spPr>
        <p:txBody>
          <a:bodyPr wrap="square" anchor="t" lIns="0" tIns="0" rIns="0" bIns="0">
            <a:spAutoFit/>
          </a:bodyPr>
          <a:lstStyle/>
          <a:p>
            <a:pPr algn="l"/>
            <a:r>
              <a:rPr sz="2400" b="0">
                <a:solidFill>
                  <a:srgbClr val="111111"/>
                </a:solidFill>
                <a:latin typeface="Bebas Neue"/>
              </a:rPr>
              <a:t>Hw(x)</a:t>
            </a:r>
          </a:p>
        </p:txBody>
      </p:sp>
      <p:sp>
        <p:nvSpPr>
          <p:cNvPr id="10" name="Rounded Rectangle 9"/>
          <p:cNvSpPr/>
          <p:nvPr/>
        </p:nvSpPr>
        <p:spPr>
          <a:xfrm>
            <a:off x="457200" y="2459736"/>
            <a:ext cx="7014545" cy="1286256"/>
          </a:xfrm>
          <a:prstGeom prst="roundRect">
            <a:avLst>
              <a:gd name="adj" fmla="val 10663"/>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4000" i="1" dirty="0">
                          <a:solidFill>
                            <a:srgbClr val="FFFFFF"/>
                          </a:solidFill>
                          <a:latin typeface="Cambria Math"/>
                        </a:rPr>
                        <m:t>w</m:t>
                      </m:r>
                      <m:r>
                        <m:rPr>
                          <m:sty m:val="p"/>
                        </m:rPr>
                        <a:rPr lang="en-US" sz="4000" i="0" dirty="0">
                          <a:solidFill>
                            <a:srgbClr val="FFFFFF"/>
                          </a:solidFill>
                          <a:latin typeface="Cambria Math"/>
                        </a:rPr>
                        <m:t>=</m:t>
                      </m:r>
                      <m:r>
                        <m:rPr>
                          <m:sty m:val="p"/>
                        </m:rPr>
                        <a:rPr lang="en-US" sz="4000" i="0" dirty="0">
                          <a:solidFill>
                            <a:srgbClr val="FFFFFF"/>
                          </a:solidFill>
                          <a:latin typeface="Cambria Math"/>
                        </a:rPr>
                        <m:t>1</m:t>
                      </m:r>
                    </m:oMath>
                  </m:oMathPara>
                </a14:m>
              </mc:Choice>
              <mc:Fallback>
                <a:r>
                  <a:rPr lang="en-US" sz="4000">
                    <a:solidFill>
                      <a:srgbClr val="FFFFFF"/>
                    </a:solidFill>
                    <a:latin typeface="Cambria Math"/>
                  </a:rPr>
                  <a:t>w = 1</a:t>
                </a:r>
              </mc:Fallback>
            </mc:AlternateContent>
            <a:endParaRPr lang="en-US" sz="4000"/>
          </a:p>
        </p:txBody>
      </p:sp>
      <p:sp>
        <p:nvSpPr>
          <p:cNvPr id="11" name="TextBox 10"/>
          <p:cNvSpPr txBox="1"/>
          <p:nvPr/>
        </p:nvSpPr>
        <p:spPr>
          <a:xfrm>
            <a:off x="457200" y="3928872"/>
            <a:ext cx="7014545" cy="1356359"/>
          </a:xfrm>
          <a:prstGeom prst="rect">
            <a:avLst/>
          </a:prstGeom>
          <a:noFill/>
        </p:spPr>
        <p:txBody>
          <a:bodyPr wrap="square" anchor="t" lIns="0" tIns="0" rIns="0" bIns="0">
            <a:spAutoFit/>
          </a:bodyPr>
          <a:lstStyle/>
          <a:p>
            <a:pPr algn="l" marL="256032" indent="-256032" lvl="0">
              <a:buClr>
                <a:srgbClr val="45F771"/>
              </a:buClr>
              <a:buFont typeface="Arial"/>
              <a:buChar char="•"/>
            </a:pPr>
            <a:r>
              <a:rPr sz="1500" b="0">
                <a:solidFill>
                  <a:srgbClr val="111111"/>
                </a:solidFill>
                <a:latin typeface="Inter"/>
              </a:rPr>
              <a:t>J(w)</a:t>
            </a:r>
          </a:p>
          <a:p>
            <a:pPr algn="l" marL="256032" indent="-256032" lvl="0">
              <a:spcBef>
                <a:spcPts val="800"/>
              </a:spcBef>
              <a:buClr>
                <a:srgbClr val="45F771"/>
              </a:buClr>
              <a:buFont typeface="Arial"/>
              <a:buChar char="•"/>
            </a:pPr>
            <a:r>
              <a:rPr sz="1500" b="0">
                <a:solidFill>
                  <a:srgbClr val="111111"/>
                </a:solidFill>
                <a:latin typeface="Inter"/>
              </a:rPr>
              <a:t>(for fixed, this is a function of x)</a:t>
            </a:r>
          </a:p>
          <a:p>
            <a:pPr algn="l" marL="256032" indent="-256032" lvl="0">
              <a:spcBef>
                <a:spcPts val="800"/>
              </a:spcBef>
              <a:buClr>
                <a:srgbClr val="45F771"/>
              </a:buClr>
              <a:buFont typeface="Arial"/>
              <a:buChar char="•"/>
            </a:pPr>
            <a:r>
              <a:rPr sz="1500" b="0">
                <a:solidFill>
                  <a:srgbClr val="111111"/>
                </a:solidFill>
                <a:latin typeface="Inter"/>
              </a:rPr>
              <a:t>(function of the parameter)</a:t>
            </a:r>
          </a:p>
          <a:p>
            <a:pPr algn="l" marL="256032" indent="-256032" lvl="0">
              <a:spcBef>
                <a:spcPts val="800"/>
              </a:spcBef>
              <a:buClr>
                <a:srgbClr val="45F771"/>
              </a:buClr>
              <a:buFont typeface="Arial"/>
              <a:buChar char="•"/>
            </a:pPr>
            <a:r>
              <a:rPr sz="1500" b="0">
                <a:solidFill>
                  <a:srgbClr val="111111"/>
                </a:solidFill>
                <a:latin typeface="Inter"/>
              </a:rPr>
              <a:t>hw(x) w = 1</a:t>
            </a:r>
          </a:p>
        </p:txBody>
      </p:sp>
      <p:sp>
        <p:nvSpPr>
          <p:cNvPr id="12" name="Rounded Rectangle 11"/>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Setting slope w to 1 defines a hypothesis function where prediction equals the input feature.</a:t>
            </a:r>
          </a:p>
        </p:txBody>
      </p:sp>
      <p:sp>
        <p:nvSpPr>
          <p:cNvPr id="13" name="Rectangle 12"/>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50" b="1">
                <a:solidFill>
                  <a:srgbClr val="45F771"/>
                </a:solidFill>
              </a:defRPr>
            </a:pPr>
            <a:r>
              <a:rPr>
                <a:latin typeface="Bebas Neue"/>
              </a:rPr>
              <a:t>Setting w to 0.5 yields a hypothesis function hw(x) = 0.5x</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45 / 69</a:t>
            </a:r>
          </a:p>
        </p:txBody>
      </p:sp>
      <p:pic>
        <p:nvPicPr>
          <p:cNvPr id="7" name="Picture 6" descr="image.png"/>
          <p:cNvPicPr>
            <a:picLocks noChangeAspect="1"/>
          </p:cNvPicPr>
          <p:nvPr/>
        </p:nvPicPr>
        <p:blipFill>
          <a:blip r:embed="rId3"/>
          <a:stretch>
            <a:fillRect/>
          </a:stretch>
        </p:blipFill>
        <p:spPr>
          <a:xfrm>
            <a:off x="7672913" y="1777058"/>
            <a:ext cx="4058838" cy="3029563"/>
          </a:xfrm>
          <a:prstGeom prst="rect">
            <a:avLst/>
          </a:prstGeom>
        </p:spPr>
      </p:pic>
      <p:sp>
        <p:nvSpPr>
          <p:cNvPr id="8" name="TextBox 7"/>
          <p:cNvSpPr txBox="1"/>
          <p:nvPr/>
        </p:nvSpPr>
        <p:spPr>
          <a:xfrm>
            <a:off x="457200" y="1298448"/>
            <a:ext cx="7014545" cy="365760"/>
          </a:xfrm>
          <a:prstGeom prst="rect">
            <a:avLst/>
          </a:prstGeom>
          <a:noFill/>
        </p:spPr>
        <p:txBody>
          <a:bodyPr wrap="square" anchor="ctr" lIns="0" tIns="0" rIns="0" bIns="0">
            <a:spAutoFit/>
          </a:bodyPr>
          <a:lstStyle/>
          <a:p>
            <a:pPr algn="l"/>
            <a:r>
              <a:rPr sz="1500" b="1">
                <a:solidFill>
                  <a:srgbClr val="A8306E"/>
                </a:solidFill>
                <a:latin typeface="Bebas Neue"/>
              </a:rPr>
              <a:t>SETTING W TO 0.5 YIELDS A HYPOTHESIS FUNCTION HW(X) = 0.5X</a:t>
            </a:r>
          </a:p>
        </p:txBody>
      </p:sp>
      <p:sp>
        <p:nvSpPr>
          <p:cNvPr id="9" name="TextBox 8"/>
          <p:cNvSpPr txBox="1"/>
          <p:nvPr/>
        </p:nvSpPr>
        <p:spPr>
          <a:xfrm>
            <a:off x="457200" y="1847088"/>
            <a:ext cx="7014545" cy="429768"/>
          </a:xfrm>
          <a:prstGeom prst="rect">
            <a:avLst/>
          </a:prstGeom>
          <a:noFill/>
        </p:spPr>
        <p:txBody>
          <a:bodyPr wrap="square" anchor="t" lIns="0" tIns="0" rIns="0" bIns="0">
            <a:spAutoFit/>
          </a:bodyPr>
          <a:lstStyle/>
          <a:p>
            <a:pPr algn="l"/>
            <a:r>
              <a:rPr sz="2400" b="0">
                <a:solidFill>
                  <a:srgbClr val="111111"/>
                </a:solidFill>
                <a:latin typeface="Bebas Neue"/>
              </a:rPr>
              <a:t>Hw(x)</a:t>
            </a:r>
          </a:p>
        </p:txBody>
      </p:sp>
      <p:sp>
        <p:nvSpPr>
          <p:cNvPr id="10" name="Rounded Rectangle 9"/>
          <p:cNvSpPr/>
          <p:nvPr/>
        </p:nvSpPr>
        <p:spPr>
          <a:xfrm>
            <a:off x="457200" y="2459736"/>
            <a:ext cx="7014545" cy="1286256"/>
          </a:xfrm>
          <a:prstGeom prst="roundRect">
            <a:avLst>
              <a:gd name="adj" fmla="val 10663"/>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4000" i="1" dirty="0">
                          <a:solidFill>
                            <a:srgbClr val="FFFFFF"/>
                          </a:solidFill>
                          <a:latin typeface="Cambria Math"/>
                        </a:rPr>
                        <m:t>w</m:t>
                      </m:r>
                      <m:r>
                        <m:rPr>
                          <m:sty m:val="p"/>
                        </m:rPr>
                        <a:rPr lang="en-US" sz="4000" i="0" dirty="0">
                          <a:solidFill>
                            <a:srgbClr val="FFFFFF"/>
                          </a:solidFill>
                          <a:latin typeface="Cambria Math"/>
                        </a:rPr>
                        <m:t>=</m:t>
                      </m:r>
                      <m:r>
                        <m:rPr>
                          <m:sty m:val="p"/>
                        </m:rPr>
                        <a:rPr lang="en-US" sz="4000" i="0" dirty="0">
                          <a:solidFill>
                            <a:srgbClr val="FFFFFF"/>
                          </a:solidFill>
                          <a:latin typeface="Cambria Math"/>
                        </a:rPr>
                        <m:t>0</m:t>
                      </m:r>
                    </m:oMath>
                  </m:oMathPara>
                </a14:m>
              </mc:Choice>
              <mc:Fallback>
                <a:r>
                  <a:rPr lang="en-US" sz="4000">
                    <a:solidFill>
                      <a:srgbClr val="FFFFFF"/>
                    </a:solidFill>
                    <a:latin typeface="Cambria Math"/>
                  </a:rPr>
                  <a:t>w = 0</a:t>
                </a:r>
              </mc:Fallback>
            </mc:AlternateContent>
            <a:endParaRPr lang="en-US" sz="4000"/>
          </a:p>
        </p:txBody>
      </p:sp>
      <p:sp>
        <p:nvSpPr>
          <p:cNvPr id="11" name="TextBox 10"/>
          <p:cNvSpPr txBox="1"/>
          <p:nvPr/>
        </p:nvSpPr>
        <p:spPr>
          <a:xfrm>
            <a:off x="457200" y="3928872"/>
            <a:ext cx="7014545" cy="1356359"/>
          </a:xfrm>
          <a:prstGeom prst="rect">
            <a:avLst/>
          </a:prstGeom>
          <a:noFill/>
        </p:spPr>
        <p:txBody>
          <a:bodyPr wrap="square" anchor="t" lIns="0" tIns="0" rIns="0" bIns="0">
            <a:spAutoFit/>
          </a:bodyPr>
          <a:lstStyle/>
          <a:p>
            <a:pPr algn="l" marL="256032" indent="-256032" lvl="0">
              <a:buClr>
                <a:srgbClr val="45F771"/>
              </a:buClr>
              <a:buFont typeface="Arial"/>
              <a:buChar char="•"/>
            </a:pPr>
            <a:r>
              <a:rPr sz="1500" b="0">
                <a:solidFill>
                  <a:srgbClr val="111111"/>
                </a:solidFill>
                <a:latin typeface="Inter"/>
              </a:rPr>
              <a:t>J(w)</a:t>
            </a:r>
          </a:p>
          <a:p>
            <a:pPr algn="l" marL="256032" indent="-256032" lvl="0">
              <a:spcBef>
                <a:spcPts val="800"/>
              </a:spcBef>
              <a:buClr>
                <a:srgbClr val="45F771"/>
              </a:buClr>
              <a:buFont typeface="Arial"/>
              <a:buChar char="•"/>
            </a:pPr>
            <a:r>
              <a:rPr sz="1500" b="0">
                <a:solidFill>
                  <a:srgbClr val="111111"/>
                </a:solidFill>
                <a:latin typeface="Inter"/>
              </a:rPr>
              <a:t>(function of the parameter)</a:t>
            </a:r>
          </a:p>
          <a:p>
            <a:pPr algn="l" marL="256032" indent="-256032" lvl="0">
              <a:spcBef>
                <a:spcPts val="800"/>
              </a:spcBef>
              <a:buClr>
                <a:srgbClr val="45F771"/>
              </a:buClr>
              <a:buFont typeface="Arial"/>
              <a:buChar char="•"/>
            </a:pPr>
            <a:r>
              <a:rPr sz="1500" b="0">
                <a:solidFill>
                  <a:srgbClr val="111111"/>
                </a:solidFill>
                <a:latin typeface="Inter"/>
              </a:rPr>
              <a:t>(for fixed, this is a function of x)</a:t>
            </a:r>
          </a:p>
          <a:p>
            <a:pPr algn="l" marL="256032" indent="-256032" lvl="0">
              <a:spcBef>
                <a:spcPts val="800"/>
              </a:spcBef>
              <a:buClr>
                <a:srgbClr val="45F771"/>
              </a:buClr>
              <a:buFont typeface="Arial"/>
              <a:buChar char="•"/>
            </a:pPr>
            <a:r>
              <a:rPr sz="1500" b="0">
                <a:solidFill>
                  <a:srgbClr val="111111"/>
                </a:solidFill>
                <a:latin typeface="Inter"/>
              </a:rPr>
              <a:t>w = 0.5</a:t>
            </a:r>
          </a:p>
        </p:txBody>
      </p:sp>
      <p:sp>
        <p:nvSpPr>
          <p:cNvPr id="12" name="Rounded Rectangle 11"/>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Setting slope w to 0.5 yields a hypothesis function scaling the input feature by half.</a:t>
            </a:r>
          </a:p>
        </p:txBody>
      </p:sp>
      <p:sp>
        <p:nvSpPr>
          <p:cNvPr id="13" name="Rectangle 12"/>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50" b="1">
                <a:solidFill>
                  <a:srgbClr val="45F771"/>
                </a:solidFill>
              </a:defRPr>
            </a:pPr>
            <a:r>
              <a:rPr>
                <a:latin typeface="Bebas Neue"/>
              </a:rPr>
              <a:t>Setting w to zero yields a hypothesis function hw(x) = 0</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46 / 69</a:t>
            </a:r>
          </a:p>
        </p:txBody>
      </p:sp>
      <p:pic>
        <p:nvPicPr>
          <p:cNvPr id="7" name="Picture 6" descr="image.png"/>
          <p:cNvPicPr>
            <a:picLocks noChangeAspect="1"/>
          </p:cNvPicPr>
          <p:nvPr/>
        </p:nvPicPr>
        <p:blipFill>
          <a:blip r:embed="rId3"/>
          <a:stretch>
            <a:fillRect/>
          </a:stretch>
        </p:blipFill>
        <p:spPr>
          <a:xfrm>
            <a:off x="7672913" y="1777058"/>
            <a:ext cx="4058838" cy="3029563"/>
          </a:xfrm>
          <a:prstGeom prst="rect">
            <a:avLst/>
          </a:prstGeom>
        </p:spPr>
      </p:pic>
      <p:sp>
        <p:nvSpPr>
          <p:cNvPr id="8" name="TextBox 7"/>
          <p:cNvSpPr txBox="1"/>
          <p:nvPr/>
        </p:nvSpPr>
        <p:spPr>
          <a:xfrm>
            <a:off x="457200" y="1298448"/>
            <a:ext cx="7014545" cy="365760"/>
          </a:xfrm>
          <a:prstGeom prst="rect">
            <a:avLst/>
          </a:prstGeom>
          <a:noFill/>
        </p:spPr>
        <p:txBody>
          <a:bodyPr wrap="square" anchor="ctr" lIns="0" tIns="0" rIns="0" bIns="0">
            <a:spAutoFit/>
          </a:bodyPr>
          <a:lstStyle/>
          <a:p>
            <a:pPr algn="l"/>
            <a:r>
              <a:rPr sz="1500" b="1">
                <a:solidFill>
                  <a:srgbClr val="A8306E"/>
                </a:solidFill>
                <a:latin typeface="Bebas Neue"/>
              </a:rPr>
              <a:t>SETTING W TO ZERO YIELDS A HYPOTHESIS FUNCTION HW(X) = 0</a:t>
            </a:r>
          </a:p>
        </p:txBody>
      </p:sp>
      <p:sp>
        <p:nvSpPr>
          <p:cNvPr id="9" name="TextBox 8"/>
          <p:cNvSpPr txBox="1"/>
          <p:nvPr/>
        </p:nvSpPr>
        <p:spPr>
          <a:xfrm>
            <a:off x="457200" y="1847088"/>
            <a:ext cx="7014545" cy="429768"/>
          </a:xfrm>
          <a:prstGeom prst="rect">
            <a:avLst/>
          </a:prstGeom>
          <a:noFill/>
        </p:spPr>
        <p:txBody>
          <a:bodyPr wrap="square" anchor="t" lIns="0" tIns="0" rIns="0" bIns="0">
            <a:spAutoFit/>
          </a:bodyPr>
          <a:lstStyle/>
          <a:p>
            <a:pPr algn="l"/>
            <a:r>
              <a:rPr sz="2400" b="0">
                <a:solidFill>
                  <a:srgbClr val="111111"/>
                </a:solidFill>
                <a:latin typeface="Bebas Neue"/>
              </a:rPr>
              <a:t>Hw(x)</a:t>
            </a:r>
          </a:p>
        </p:txBody>
      </p:sp>
      <p:sp>
        <p:nvSpPr>
          <p:cNvPr id="10" name="Rounded Rectangle 9"/>
          <p:cNvSpPr/>
          <p:nvPr/>
        </p:nvSpPr>
        <p:spPr>
          <a:xfrm>
            <a:off x="457200" y="2459736"/>
            <a:ext cx="7014545" cy="1286256"/>
          </a:xfrm>
          <a:prstGeom prst="roundRect">
            <a:avLst>
              <a:gd name="adj" fmla="val 10663"/>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91440" rIns="201168" bIns="91440"/>
          <a:lstStyle/>
          <a:p>
            <a:pPr algn="ctr"/>
            <mc:AlternateContent xmlns:mc="http://schemas.openxmlformats.org/markup-compatibility/2006">
              <mc:Choice xmlns:a14="http://schemas.microsoft.com/office/drawing/2010/main" Requires="a14">
                <a14:m>
                  <m:oMathPara xmlns:m="http://schemas.openxmlformats.org/officeDocument/2006/math">
                    <m:oMathParaPr>
                      <m:jc m:val="centerGroup"/>
                    </m:oMathParaPr>
                    <m:oMath>
                      <m:r>
                        <a:rPr lang="en-US" sz="4000" i="1" dirty="0">
                          <a:solidFill>
                            <a:srgbClr val="FFFFFF"/>
                          </a:solidFill>
                          <a:latin typeface="Cambria Math"/>
                        </a:rPr>
                        <m:t>w</m:t>
                      </m:r>
                      <m:r>
                        <m:rPr>
                          <m:sty m:val="p"/>
                        </m:rPr>
                        <a:rPr lang="en-US" sz="4000" i="0" dirty="0">
                          <a:solidFill>
                            <a:srgbClr val="FFFFFF"/>
                          </a:solidFill>
                          <a:latin typeface="Cambria Math"/>
                        </a:rPr>
                        <m:t>=</m:t>
                      </m:r>
                      <m:r>
                        <m:rPr>
                          <m:sty m:val="p"/>
                        </m:rPr>
                        <a:rPr lang="en-US" sz="4000" i="0" dirty="0">
                          <a:solidFill>
                            <a:srgbClr val="FFFFFF"/>
                          </a:solidFill>
                          <a:latin typeface="Cambria Math"/>
                        </a:rPr>
                        <m:t>0</m:t>
                      </m:r>
                    </m:oMath>
                  </m:oMathPara>
                </a14:m>
              </mc:Choice>
              <mc:Fallback>
                <a:r>
                  <a:rPr lang="en-US" sz="4000">
                    <a:solidFill>
                      <a:srgbClr val="FFFFFF"/>
                    </a:solidFill>
                    <a:latin typeface="Cambria Math"/>
                  </a:rPr>
                  <a:t>w = 0</a:t>
                </a:r>
              </mc:Fallback>
            </mc:AlternateContent>
            <a:endParaRPr lang="en-US" sz="4000"/>
          </a:p>
        </p:txBody>
      </p:sp>
      <p:sp>
        <p:nvSpPr>
          <p:cNvPr id="11" name="TextBox 10"/>
          <p:cNvSpPr txBox="1"/>
          <p:nvPr/>
        </p:nvSpPr>
        <p:spPr>
          <a:xfrm>
            <a:off x="457200" y="3928872"/>
            <a:ext cx="7014545" cy="1356359"/>
          </a:xfrm>
          <a:prstGeom prst="rect">
            <a:avLst/>
          </a:prstGeom>
          <a:noFill/>
        </p:spPr>
        <p:txBody>
          <a:bodyPr wrap="square" anchor="t" lIns="0" tIns="0" rIns="0" bIns="0">
            <a:spAutoFit/>
          </a:bodyPr>
          <a:lstStyle/>
          <a:p>
            <a:pPr algn="l" marL="256032" indent="-256032" lvl="0">
              <a:buClr>
                <a:srgbClr val="45F771"/>
              </a:buClr>
              <a:buFont typeface="Arial"/>
              <a:buChar char="•"/>
            </a:pPr>
            <a:r>
              <a:rPr sz="1500" b="0">
                <a:solidFill>
                  <a:srgbClr val="111111"/>
                </a:solidFill>
                <a:latin typeface="Inter"/>
              </a:rPr>
              <a:t>J(w)</a:t>
            </a:r>
          </a:p>
          <a:p>
            <a:pPr algn="l" marL="256032" indent="-256032" lvl="0">
              <a:spcBef>
                <a:spcPts val="800"/>
              </a:spcBef>
              <a:buClr>
                <a:srgbClr val="45F771"/>
              </a:buClr>
              <a:buFont typeface="Arial"/>
              <a:buChar char="•"/>
            </a:pPr>
            <a:r>
              <a:rPr sz="1500" b="0">
                <a:solidFill>
                  <a:srgbClr val="111111"/>
                </a:solidFill>
                <a:latin typeface="Inter"/>
              </a:rPr>
              <a:t>(function of the parameter)</a:t>
            </a:r>
          </a:p>
          <a:p>
            <a:pPr algn="l" marL="256032" indent="-256032" lvl="0">
              <a:spcBef>
                <a:spcPts val="800"/>
              </a:spcBef>
              <a:buClr>
                <a:srgbClr val="45F771"/>
              </a:buClr>
              <a:buFont typeface="Arial"/>
              <a:buChar char="•"/>
            </a:pPr>
            <a:r>
              <a:rPr sz="1500" b="0">
                <a:solidFill>
                  <a:srgbClr val="111111"/>
                </a:solidFill>
                <a:latin typeface="Inter"/>
              </a:rPr>
              <a:t>(for fixed, this is a function of x)</a:t>
            </a:r>
          </a:p>
          <a:p>
            <a:pPr algn="l" marL="256032" indent="-256032" lvl="0">
              <a:spcBef>
                <a:spcPts val="800"/>
              </a:spcBef>
              <a:buClr>
                <a:srgbClr val="45F771"/>
              </a:buClr>
              <a:buFont typeface="Arial"/>
              <a:buChar char="•"/>
            </a:pPr>
            <a:r>
              <a:rPr sz="1500" b="0">
                <a:solidFill>
                  <a:srgbClr val="111111"/>
                </a:solidFill>
                <a:latin typeface="Inter"/>
              </a:rPr>
              <a:t>hw(x) w = 0</a:t>
            </a:r>
          </a:p>
        </p:txBody>
      </p:sp>
      <p:sp>
        <p:nvSpPr>
          <p:cNvPr id="12" name="Rounded Rectangle 11"/>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Setting slope w to zero produces a flat hypothesis function outputting zero for inputs.</a:t>
            </a:r>
          </a:p>
        </p:txBody>
      </p:sp>
      <p:sp>
        <p:nvSpPr>
          <p:cNvPr id="13" name="Rectangle 12"/>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The hypothesis hb,w(x) predicts price from size using a linear equation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47 / 69</a:t>
            </a:r>
          </a:p>
        </p:txBody>
      </p:sp>
      <p:pic>
        <p:nvPicPr>
          <p:cNvPr id="7" name="Picture 6" descr="image.png"/>
          <p:cNvPicPr>
            <a:picLocks noChangeAspect="1"/>
          </p:cNvPicPr>
          <p:nvPr/>
        </p:nvPicPr>
        <p:blipFill>
          <a:blip r:embed="rId3"/>
          <a:stretch>
            <a:fillRect/>
          </a:stretch>
        </p:blipFill>
        <p:spPr>
          <a:xfrm>
            <a:off x="7672913" y="2865663"/>
            <a:ext cx="4058838" cy="1967921"/>
          </a:xfrm>
          <a:prstGeom prst="rect">
            <a:avLst/>
          </a:prstGeom>
        </p:spPr>
      </p:pic>
      <p:sp>
        <p:nvSpPr>
          <p:cNvPr id="8" name="Rounded Rectangle 7"/>
          <p:cNvSpPr/>
          <p:nvPr/>
        </p:nvSpPr>
        <p:spPr>
          <a:xfrm>
            <a:off x="457200" y="1298448"/>
            <a:ext cx="340668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5809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771480"/>
            <a:ext cx="340156" cy="340156"/>
          </a:xfrm>
          <a:prstGeom prst="rect">
            <a:avLst/>
          </a:prstGeom>
        </p:spPr>
      </p:pic>
      <p:sp>
        <p:nvSpPr>
          <p:cNvPr id="11" name="TextBox 10"/>
          <p:cNvSpPr txBox="1"/>
          <p:nvPr/>
        </p:nvSpPr>
        <p:spPr>
          <a:xfrm>
            <a:off x="1408175" y="1371600"/>
            <a:ext cx="2254544" cy="1139917"/>
          </a:xfrm>
          <a:prstGeom prst="rect">
            <a:avLst/>
          </a:prstGeom>
          <a:noFill/>
        </p:spPr>
        <p:txBody>
          <a:bodyPr wrap="square" anchor="ctr" lIns="0" tIns="0" rIns="0" bIns="0">
            <a:spAutoFit/>
          </a:bodyPr>
          <a:lstStyle/>
          <a:p>
            <a:pPr algn="l"/>
            <a:r>
              <a:rPr sz="2180" b="1">
                <a:solidFill>
                  <a:srgbClr val="A8306E"/>
                </a:solidFill>
                <a:latin typeface="Bebas Neue"/>
              </a:rPr>
              <a:t>b, w</a:t>
            </a:r>
          </a:p>
        </p:txBody>
      </p:sp>
      <p:sp>
        <p:nvSpPr>
          <p:cNvPr id="12" name="Rounded Rectangle 11"/>
          <p:cNvSpPr/>
          <p:nvPr/>
        </p:nvSpPr>
        <p:spPr>
          <a:xfrm>
            <a:off x="4065056" y="1298448"/>
            <a:ext cx="340668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65809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771480"/>
            <a:ext cx="340156" cy="340156"/>
          </a:xfrm>
          <a:prstGeom prst="rect">
            <a:avLst/>
          </a:prstGeom>
        </p:spPr>
      </p:pic>
      <p:sp>
        <p:nvSpPr>
          <p:cNvPr id="15" name="TextBox 14"/>
          <p:cNvSpPr txBox="1"/>
          <p:nvPr/>
        </p:nvSpPr>
        <p:spPr>
          <a:xfrm>
            <a:off x="5016032" y="1371600"/>
            <a:ext cx="2254544" cy="1139917"/>
          </a:xfrm>
          <a:prstGeom prst="rect">
            <a:avLst/>
          </a:prstGeom>
          <a:noFill/>
        </p:spPr>
        <p:txBody>
          <a:bodyPr wrap="square" anchor="ctr" lIns="0" tIns="0" rIns="0" bIns="0">
            <a:spAutoFit/>
          </a:bodyPr>
          <a:lstStyle/>
          <a:p>
            <a:pPr algn="l"/>
            <a:r>
              <a:rPr sz="2160" b="1">
                <a:solidFill>
                  <a:srgbClr val="A8306E"/>
                </a:solidFill>
                <a:latin typeface="Bebas Neue"/>
              </a:rPr>
              <a:t>(for fixed , this is a function of x)</a:t>
            </a:r>
          </a:p>
        </p:txBody>
      </p:sp>
      <p:sp>
        <p:nvSpPr>
          <p:cNvPr id="16" name="Rounded Rectangle 15"/>
          <p:cNvSpPr/>
          <p:nvPr/>
        </p:nvSpPr>
        <p:spPr>
          <a:xfrm>
            <a:off x="457200" y="2785837"/>
            <a:ext cx="340668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14548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3258870"/>
            <a:ext cx="340156" cy="340156"/>
          </a:xfrm>
          <a:prstGeom prst="rect">
            <a:avLst/>
          </a:prstGeom>
        </p:spPr>
      </p:pic>
      <p:sp>
        <p:nvSpPr>
          <p:cNvPr id="19" name="TextBox 18"/>
          <p:cNvSpPr txBox="1"/>
          <p:nvPr/>
        </p:nvSpPr>
        <p:spPr>
          <a:xfrm>
            <a:off x="1408175" y="2858989"/>
            <a:ext cx="2254544" cy="1139917"/>
          </a:xfrm>
          <a:prstGeom prst="rect">
            <a:avLst/>
          </a:prstGeom>
          <a:noFill/>
        </p:spPr>
        <p:txBody>
          <a:bodyPr wrap="square" anchor="ctr" lIns="0" tIns="0" rIns="0" bIns="0">
            <a:spAutoFit/>
          </a:bodyPr>
          <a:lstStyle/>
          <a:p>
            <a:pPr algn="l"/>
            <a:r>
              <a:rPr sz="2180" b="1">
                <a:solidFill>
                  <a:srgbClr val="A8306E"/>
                </a:solidFill>
                <a:latin typeface="Bebas Neue"/>
              </a:rPr>
              <a:t>Price ()</a:t>
            </a:r>
          </a:p>
        </p:txBody>
      </p:sp>
      <p:sp>
        <p:nvSpPr>
          <p:cNvPr id="20" name="Rounded Rectangle 19"/>
          <p:cNvSpPr/>
          <p:nvPr/>
        </p:nvSpPr>
        <p:spPr>
          <a:xfrm>
            <a:off x="4065056" y="2785837"/>
            <a:ext cx="3406688"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6224" y="314548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4379610" y="3258870"/>
            <a:ext cx="340156" cy="340156"/>
          </a:xfrm>
          <a:prstGeom prst="rect">
            <a:avLst/>
          </a:prstGeom>
        </p:spPr>
      </p:pic>
      <p:sp>
        <p:nvSpPr>
          <p:cNvPr id="23" name="TextBox 22"/>
          <p:cNvSpPr txBox="1"/>
          <p:nvPr/>
        </p:nvSpPr>
        <p:spPr>
          <a:xfrm>
            <a:off x="5016032" y="2858989"/>
            <a:ext cx="2254544" cy="1139917"/>
          </a:xfrm>
          <a:prstGeom prst="rect">
            <a:avLst/>
          </a:prstGeom>
          <a:noFill/>
        </p:spPr>
        <p:txBody>
          <a:bodyPr wrap="square" anchor="ctr" lIns="0" tIns="0" rIns="0" bIns="0">
            <a:spAutoFit/>
          </a:bodyPr>
          <a:lstStyle/>
          <a:p>
            <a:pPr algn="l"/>
            <a:r>
              <a:rPr sz="2180" b="1">
                <a:solidFill>
                  <a:srgbClr val="A8306E"/>
                </a:solidFill>
                <a:latin typeface="Bebas Neue"/>
              </a:rPr>
              <a:t>1000’s</a:t>
            </a:r>
          </a:p>
          <a:p>
            <a:pPr algn="l">
              <a:spcBef>
                <a:spcPts val="500"/>
              </a:spcBef>
            </a:pPr>
            <a:r>
              <a:rPr sz="1820" b="0">
                <a:solidFill>
                  <a:srgbClr val="111111"/>
                </a:solidFill>
                <a:latin typeface="Inter"/>
              </a:rPr>
              <a:t>in 1000’s</a:t>
            </a:r>
          </a:p>
        </p:txBody>
      </p:sp>
      <p:sp>
        <p:nvSpPr>
          <p:cNvPr id="24" name="Rounded Rectangle 23"/>
          <p:cNvSpPr/>
          <p:nvPr/>
        </p:nvSpPr>
        <p:spPr>
          <a:xfrm>
            <a:off x="457200" y="4273227"/>
            <a:ext cx="7014545" cy="1286221"/>
          </a:xfrm>
          <a:prstGeom prst="roundRect">
            <a:avLst>
              <a:gd name="adj" fmla="val 10948"/>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632874"/>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771753" y="4746260"/>
            <a:ext cx="340156" cy="340156"/>
          </a:xfrm>
          <a:prstGeom prst="rect">
            <a:avLst/>
          </a:prstGeom>
        </p:spPr>
      </p:pic>
      <p:sp>
        <p:nvSpPr>
          <p:cNvPr id="27" name="TextBox 26"/>
          <p:cNvSpPr txBox="1"/>
          <p:nvPr/>
        </p:nvSpPr>
        <p:spPr>
          <a:xfrm>
            <a:off x="1408175" y="4346379"/>
            <a:ext cx="5862401" cy="1139917"/>
          </a:xfrm>
          <a:prstGeom prst="rect">
            <a:avLst/>
          </a:prstGeom>
          <a:noFill/>
        </p:spPr>
        <p:txBody>
          <a:bodyPr wrap="square" anchor="ctr" lIns="0" tIns="0" rIns="0" bIns="0">
            <a:spAutoFit/>
          </a:bodyPr>
          <a:lstStyle/>
          <a:p>
            <a:pPr algn="l"/>
            <a:r>
              <a:rPr sz="2180" b="1">
                <a:solidFill>
                  <a:srgbClr val="A8306E"/>
                </a:solidFill>
                <a:latin typeface="Bebas Neue"/>
              </a:rPr>
              <a:t>1000 1500 2000 2500 3000</a:t>
            </a:r>
          </a:p>
        </p:txBody>
      </p:sp>
      <p:sp>
        <p:nvSpPr>
          <p:cNvPr id="28" name="Rounded Rectangle 27"/>
          <p:cNvSpPr/>
          <p:nvPr/>
        </p:nvSpPr>
        <p:spPr>
          <a:xfrm>
            <a:off x="457200" y="5760617"/>
            <a:ext cx="7014545" cy="64018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760617"/>
            <a:ext cx="73152" cy="64018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5833769"/>
            <a:ext cx="6619524" cy="49387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Size in feet2 (x)</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par>
                                <p:cTn id="78" presetID="10" presetClass="entr" presetSubtype="0" fill="hold"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48 / 69</a:t>
            </a:r>
          </a:p>
        </p:txBody>
      </p:sp>
      <p:sp>
        <p:nvSpPr>
          <p:cNvPr id="7" name="Rounded Rectangle 6"/>
          <p:cNvSpPr/>
          <p:nvPr/>
        </p:nvSpPr>
        <p:spPr>
          <a:xfrm>
            <a:off x="2797193" y="1298448"/>
            <a:ext cx="6594564"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961785" y="1463040"/>
            <a:ext cx="6265380" cy="4773168"/>
          </a:xfrm>
          <a:prstGeom prst="rect">
            <a:avLst/>
          </a:prstGeom>
        </p:spPr>
      </p:pic>
    </p:spTree>
  </p:cSld>
  <p:clrMapOvr>
    <a:masterClrMapping/>
  </p:clrMapOvr>
  <p:transition spd="med">
    <p:zoom dir="in"/>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49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With parameters fixed, cost functions evaluate prediction error exclusively as a function of data.</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50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Fixed parameter evaluations plot how cost varies with respect to hypothesis inputs.</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51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Cost function curves illustrate error values corresponding to fixed model parameters.</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52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Analyzing fixed parameters helps visualize the error landscape during gradient descent optimization.</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53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Fixed parameter states map the relationship between input features and resulting hypothesis costs.</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54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Error surfaces demonstrate how specific parameter choices impact overall hypothesis performance.</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55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Holding parameters constant isolates the mathematical behavior of the hypothesis function.</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56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Fixed-parameter analyses assist in understanding gradient descent convergence mechanics.</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Fixed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57 / 69</a:t>
            </a:r>
          </a:p>
        </p:txBody>
      </p:sp>
      <p:pic>
        <p:nvPicPr>
          <p:cNvPr id="7" name="Picture 6" descr="image.png"/>
          <p:cNvPicPr>
            <a:picLocks noChangeAspect="1"/>
          </p:cNvPicPr>
          <p:nvPr/>
        </p:nvPicPr>
        <p:blipFill>
          <a:blip r:embed="rId3"/>
          <a:stretch>
            <a:fillRect/>
          </a:stretch>
        </p:blipFill>
        <p:spPr>
          <a:xfrm>
            <a:off x="7672913" y="1769775"/>
            <a:ext cx="4058838" cy="3044129"/>
          </a:xfrm>
          <a:prstGeom prst="rect">
            <a:avLst/>
          </a:prstGeom>
        </p:spPr>
      </p:pic>
      <p:sp>
        <p:nvSpPr>
          <p:cNvPr id="8" name="Rounded Rectangle 7"/>
          <p:cNvSpPr/>
          <p:nvPr/>
        </p:nvSpPr>
        <p:spPr>
          <a:xfrm>
            <a:off x="457200" y="2137410"/>
            <a:ext cx="7014545" cy="2308860"/>
          </a:xfrm>
          <a:prstGeom prst="roundRect">
            <a:avLst>
              <a:gd name="adj" fmla="val 6099"/>
            </a:avLst>
          </a:prstGeom>
          <a:solidFill>
            <a:srgbClr val="F6EAF0"/>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8578"/>
            <a:ext cx="109728" cy="1906524"/>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8578"/>
            <a:ext cx="6155009" cy="1906524"/>
          </a:xfrm>
          <a:prstGeom prst="rect">
            <a:avLst/>
          </a:prstGeom>
          <a:noFill/>
        </p:spPr>
        <p:txBody>
          <a:bodyPr wrap="square" anchor="ctr" lIns="0" tIns="0" rIns="0" bIns="0">
            <a:spAutoFit/>
          </a:bodyPr>
          <a:lstStyle/>
          <a:p>
            <a:pPr algn="l"/>
            <a:r>
              <a:rPr sz="2800" b="1">
                <a:solidFill>
                  <a:srgbClr val="A8306E"/>
                </a:solidFill>
                <a:latin typeface="Bebas Neue"/>
              </a:rPr>
              <a:t>“(for fixed, this is a function of x)”</a:t>
            </a:r>
          </a:p>
          <a:p>
            <a:pPr algn="l">
              <a:spcBef>
                <a:spcPts val="1000"/>
              </a:spcBef>
            </a:pPr>
            <a:r>
              <a:rPr sz="1400" b="0">
                <a:solidFill>
                  <a:srgbClr val="111111"/>
                </a:solidFill>
                <a:latin typeface="Inter"/>
              </a:rPr>
              <a:t>— Gradient descent/delta rule/LMS method: Fixed</a:t>
            </a:r>
          </a:p>
        </p:txBody>
      </p:sp>
      <p:sp>
        <p:nvSpPr>
          <p:cNvPr id="11" name="Rounded Rectangle 1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takeaway:  </a:t>
            </a:r>
            <a:r>
              <a:rPr sz="1600" b="1">
                <a:solidFill>
                  <a:srgbClr val="111111"/>
                </a:solidFill>
                <a:latin typeface="Bebas Neue"/>
              </a:rPr>
              <a:t>Cost functions plotted against fixed parameters reveal the optimal direction for gradient updates.</a:t>
            </a:r>
          </a:p>
        </p:txBody>
      </p:sp>
      <p:sp>
        <p:nvSpPr>
          <p:cNvPr id="12" name="Rectangle 1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45F771"/>
                </a:solidFill>
              </a:defRPr>
            </a:pPr>
            <a:r>
              <a:rPr>
                <a:latin typeface="Bebas Neue"/>
              </a:rPr>
              <a:t>Gradient descent/delta rule/LMS method: 1. Batch Gradient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58 / 69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ectangle 7"/>
          <p:cNvSpPr/>
          <p:nvPr/>
        </p:nvSpPr>
        <p:spPr>
          <a:xfrm>
            <a:off x="457200" y="1457096"/>
            <a:ext cx="82296" cy="423367"/>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0520"/>
            <a:ext cx="6907734" cy="441655"/>
          </a:xfrm>
          <a:prstGeom prst="rect">
            <a:avLst/>
          </a:prstGeom>
          <a:noFill/>
        </p:spPr>
        <p:txBody>
          <a:bodyPr wrap="square" anchor="t" lIns="0" tIns="0" rIns="0" bIns="0">
            <a:spAutoFit/>
          </a:bodyPr>
          <a:lstStyle/>
          <a:p>
            <a:pPr algn="l"/>
            <a:r>
              <a:rPr sz="2760" b="1">
                <a:solidFill>
                  <a:srgbClr val="A8306E"/>
                </a:solidFill>
                <a:latin typeface="Bebas Neue"/>
              </a:rPr>
              <a:t>1. Batch Gradient Descent.</a:t>
            </a:r>
          </a:p>
        </p:txBody>
      </p:sp>
      <p:sp>
        <p:nvSpPr>
          <p:cNvPr id="10" name="TextBox 9"/>
          <p:cNvSpPr txBox="1"/>
          <p:nvPr/>
        </p:nvSpPr>
        <p:spPr>
          <a:xfrm>
            <a:off x="720547" y="2054199"/>
            <a:ext cx="6907734" cy="640080"/>
          </a:xfrm>
          <a:prstGeom prst="rect">
            <a:avLst/>
          </a:prstGeom>
          <a:noFill/>
        </p:spPr>
        <p:txBody>
          <a:bodyPr wrap="square" lIns="0" rIns="0" tIns="0" bIns="0">
            <a:spAutoFit/>
          </a:bodyPr>
          <a:lstStyle/>
          <a:p>
            <a:r>
              <a:rPr sz="2000">
                <a:solidFill>
                  <a:srgbClr val="111111"/>
                </a:solidFill>
                <a:latin typeface="Inter"/>
              </a:rPr>
              <a:t>Batch: Each step of gradient descent uses all the training examples.</a:t>
            </a:r>
          </a:p>
        </p:txBody>
      </p:sp>
      <p:sp>
        <p:nvSpPr>
          <p:cNvPr id="11" name="TextBox 10"/>
          <p:cNvSpPr txBox="1"/>
          <p:nvPr/>
        </p:nvSpPr>
        <p:spPr>
          <a:xfrm>
            <a:off x="720547" y="2822295"/>
            <a:ext cx="6907734" cy="320040"/>
          </a:xfrm>
          <a:prstGeom prst="rect">
            <a:avLst/>
          </a:prstGeom>
          <a:noFill/>
        </p:spPr>
        <p:txBody>
          <a:bodyPr wrap="square" lIns="0" rIns="0" tIns="0" bIns="0">
            <a:spAutoFit/>
          </a:bodyPr>
          <a:lstStyle/>
          <a:p>
            <a:r>
              <a:rPr sz="2000">
                <a:solidFill>
                  <a:srgbClr val="111111"/>
                </a:solidFill>
                <a:latin typeface="Inter"/>
              </a:rPr>
              <a:t>2. Stochastic Gradient Descent (SGD).</a:t>
            </a:r>
          </a:p>
        </p:txBody>
      </p:sp>
      <p:sp>
        <p:nvSpPr>
          <p:cNvPr id="12" name="TextBox 11"/>
          <p:cNvSpPr txBox="1"/>
          <p:nvPr/>
        </p:nvSpPr>
        <p:spPr>
          <a:xfrm>
            <a:off x="720547" y="3270351"/>
            <a:ext cx="6907734" cy="320040"/>
          </a:xfrm>
          <a:prstGeom prst="rect">
            <a:avLst/>
          </a:prstGeom>
          <a:noFill/>
        </p:spPr>
        <p:txBody>
          <a:bodyPr wrap="square" lIns="0" rIns="0" tIns="0" bIns="0">
            <a:spAutoFit/>
          </a:bodyPr>
          <a:lstStyle/>
          <a:p>
            <a:r>
              <a:rPr sz="2000">
                <a:solidFill>
                  <a:srgbClr val="111111"/>
                </a:solidFill>
                <a:latin typeface="Inter"/>
              </a:rPr>
              <a:t>Uses one training sample at a time.</a:t>
            </a:r>
          </a:p>
        </p:txBody>
      </p:sp>
      <p:sp>
        <p:nvSpPr>
          <p:cNvPr id="13" name="TextBox 12"/>
          <p:cNvSpPr txBox="1"/>
          <p:nvPr/>
        </p:nvSpPr>
        <p:spPr>
          <a:xfrm>
            <a:off x="720547" y="3718407"/>
            <a:ext cx="6907734" cy="320040"/>
          </a:xfrm>
          <a:prstGeom prst="rect">
            <a:avLst/>
          </a:prstGeom>
          <a:noFill/>
        </p:spPr>
        <p:txBody>
          <a:bodyPr wrap="square" lIns="0" rIns="0" tIns="0" bIns="0">
            <a:spAutoFit/>
          </a:bodyPr>
          <a:lstStyle/>
          <a:p>
            <a:r>
              <a:rPr sz="2000">
                <a:solidFill>
                  <a:srgbClr val="111111"/>
                </a:solidFill>
                <a:latin typeface="Inter"/>
              </a:rPr>
              <a:t>Parameters are updated after every sample.</a:t>
            </a:r>
          </a:p>
        </p:txBody>
      </p:sp>
      <p:sp>
        <p:nvSpPr>
          <p:cNvPr id="14" name="TextBox 13"/>
          <p:cNvSpPr txBox="1"/>
          <p:nvPr/>
        </p:nvSpPr>
        <p:spPr>
          <a:xfrm>
            <a:off x="720547" y="4166463"/>
            <a:ext cx="6907734" cy="640080"/>
          </a:xfrm>
          <a:prstGeom prst="rect">
            <a:avLst/>
          </a:prstGeom>
          <a:noFill/>
        </p:spPr>
        <p:txBody>
          <a:bodyPr wrap="square" lIns="0" rIns="0" tIns="0" bIns="0">
            <a:spAutoFit/>
          </a:bodyPr>
          <a:lstStyle/>
          <a:p>
            <a:r>
              <a:rPr sz="2000">
                <a:solidFill>
                  <a:srgbClr val="111111"/>
                </a:solidFill>
                <a:latin typeface="Inter"/>
              </a:rPr>
              <a:t>3. Mini-Batch Gradient Descent (MBGD) This is a compromise between Batch GD and SGD.</a:t>
            </a:r>
          </a:p>
        </p:txBody>
      </p:sp>
      <p:sp>
        <p:nvSpPr>
          <p:cNvPr id="15" name="TextBox 14"/>
          <p:cNvSpPr txBox="1"/>
          <p:nvPr/>
        </p:nvSpPr>
        <p:spPr>
          <a:xfrm>
            <a:off x="720547" y="4934559"/>
            <a:ext cx="6907734" cy="320040"/>
          </a:xfrm>
          <a:prstGeom prst="rect">
            <a:avLst/>
          </a:prstGeom>
          <a:noFill/>
        </p:spPr>
        <p:txBody>
          <a:bodyPr wrap="square" lIns="0" rIns="0" tIns="0" bIns="0">
            <a:spAutoFit/>
          </a:bodyPr>
          <a:lstStyle/>
          <a:p>
            <a:r>
              <a:rPr sz="1240" b="1">
                <a:solidFill>
                  <a:srgbClr val="C2410C"/>
                </a:solidFill>
                <a:latin typeface="Bebas Neue"/>
              </a:rPr>
              <a:t>BUT   </a:t>
            </a:r>
            <a:r>
              <a:rPr sz="2000" b="1">
                <a:solidFill>
                  <a:srgbClr val="C2410C"/>
                </a:solidFill>
                <a:latin typeface="Bebas Neue"/>
              </a:rPr>
              <a:t>Instead</a:t>
            </a:r>
            <a:r>
              <a:rPr sz="2000">
                <a:solidFill>
                  <a:srgbClr val="111111"/>
                </a:solidFill>
                <a:latin typeface="Inter"/>
              </a:rPr>
              <a:t> of using: all samples (Batch).</a:t>
            </a:r>
          </a:p>
        </p:txBody>
      </p:sp>
      <p:sp>
        <p:nvSpPr>
          <p:cNvPr id="16" name="TextBox 15"/>
          <p:cNvSpPr txBox="1"/>
          <p:nvPr/>
        </p:nvSpPr>
        <p:spPr>
          <a:xfrm>
            <a:off x="720547" y="5382615"/>
            <a:ext cx="6907734" cy="320040"/>
          </a:xfrm>
          <a:prstGeom prst="rect">
            <a:avLst/>
          </a:prstGeom>
          <a:noFill/>
        </p:spPr>
        <p:txBody>
          <a:bodyPr wrap="square" lIns="0" rIns="0" tIns="0" bIns="0">
            <a:spAutoFit/>
          </a:bodyPr>
          <a:lstStyle/>
          <a:p>
            <a:r>
              <a:rPr sz="2000">
                <a:solidFill>
                  <a:srgbClr val="111111"/>
                </a:solidFill>
                <a:latin typeface="Inter"/>
              </a:rPr>
              <a:t>or one sample (SGD).</a:t>
            </a:r>
          </a:p>
        </p:txBody>
      </p:sp>
      <p:sp>
        <p:nvSpPr>
          <p:cNvPr id="17" name="TextBox 16"/>
          <p:cNvSpPr txBox="1"/>
          <p:nvPr/>
        </p:nvSpPr>
        <p:spPr>
          <a:xfrm>
            <a:off x="994867" y="5830671"/>
            <a:ext cx="6633414" cy="320040"/>
          </a:xfrm>
          <a:prstGeom prst="rect">
            <a:avLst/>
          </a:prstGeom>
          <a:noFill/>
        </p:spPr>
        <p:txBody>
          <a:bodyPr wrap="square" lIns="0" rIns="0" tIns="0" bIns="0">
            <a:spAutoFit/>
          </a:bodyPr>
          <a:lstStyle/>
          <a:p>
            <a:r>
              <a:rPr sz="2000">
                <a:solidFill>
                  <a:srgbClr val="111111"/>
                </a:solidFill>
                <a:latin typeface="Inter"/>
              </a:rPr>
              <a:t>it uses a small group (mini-batch).</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descent/delta rule/LMS method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59 / 69</a:t>
            </a:r>
          </a:p>
        </p:txBody>
      </p:sp>
      <p:sp>
        <p:nvSpPr>
          <p:cNvPr id="7" name="Rounded Rectangle 6"/>
          <p:cNvSpPr/>
          <p:nvPr/>
        </p:nvSpPr>
        <p:spPr>
          <a:xfrm>
            <a:off x="2521532" y="1298448"/>
            <a:ext cx="7145887"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686124" y="1463040"/>
            <a:ext cx="6816703" cy="4773168"/>
          </a:xfrm>
          <a:prstGeom prst="rect">
            <a:avLst/>
          </a:prstGeom>
        </p:spPr>
      </p:pic>
    </p:spTree>
  </p:cSld>
  <p:clrMapOvr>
    <a:masterClrMapping/>
  </p:clrMapOvr>
  <p:transition spd="med">
    <p:zoom dir="in"/>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Property of gradient descent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60 / 69</a:t>
            </a:r>
          </a:p>
        </p:txBody>
      </p:sp>
      <p:sp>
        <p:nvSpPr>
          <p:cNvPr id="7" name="Rounded Rectangle 6"/>
          <p:cNvSpPr/>
          <p:nvPr/>
        </p:nvSpPr>
        <p:spPr>
          <a:xfrm>
            <a:off x="2521532" y="1298448"/>
            <a:ext cx="7145887"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686124" y="1463040"/>
            <a:ext cx="6816703" cy="4773168"/>
          </a:xfrm>
          <a:prstGeom prst="rect">
            <a:avLst/>
          </a:prstGeom>
        </p:spPr>
      </p:pic>
    </p:spTree>
  </p:cSld>
  <p:clrMapOvr>
    <a:masterClrMapping/>
  </p:clrMapOvr>
  <p:transition spd="med">
    <p:push dir="l"/>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Gradient descent algorithm</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61 / 69</a:t>
            </a:r>
          </a:p>
        </p:txBody>
      </p:sp>
      <p:sp>
        <p:nvSpPr>
          <p:cNvPr id="7" name="Rounded Rectangle 6"/>
          <p:cNvSpPr/>
          <p:nvPr/>
        </p:nvSpPr>
        <p:spPr>
          <a:xfrm>
            <a:off x="2400688" y="1298448"/>
            <a:ext cx="7387575" cy="5102352"/>
          </a:xfrm>
          <a:prstGeom prst="roundRect">
            <a:avLst>
              <a:gd name="adj" fmla="val 3000"/>
            </a:avLst>
          </a:prstGeom>
          <a:solidFill>
            <a:srgbClr val="FFFFFF"/>
          </a:solidFill>
          <a:ln w="12700">
            <a:solidFill>
              <a:srgbClr val="DCAC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565280" y="1463040"/>
            <a:ext cx="7058391" cy="4773168"/>
          </a:xfrm>
          <a:prstGeom prst="rect">
            <a:avLst/>
          </a:prstGeom>
        </p:spPr>
      </p:pic>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Gradient descent requires simultaneous updates for correct weight adjustments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62 / 69</a:t>
            </a:r>
          </a:p>
        </p:txBody>
      </p:sp>
      <p:pic>
        <p:nvPicPr>
          <p:cNvPr id="7" name="Picture 6" descr="image.jpg"/>
          <p:cNvPicPr>
            <a:picLocks noChangeAspect="1"/>
          </p:cNvPicPr>
          <p:nvPr/>
        </p:nvPicPr>
        <p:blipFill>
          <a:blip r:embed="rId3"/>
          <a:stretch>
            <a:fillRect/>
          </a:stretch>
        </p:blipFill>
        <p:spPr>
          <a:xfrm>
            <a:off x="7672913" y="2272259"/>
            <a:ext cx="4058838" cy="2039160"/>
          </a:xfrm>
          <a:prstGeom prst="rect">
            <a:avLst/>
          </a:prstGeom>
        </p:spPr>
      </p:pic>
      <p:sp>
        <p:nvSpPr>
          <p:cNvPr id="8" name="Rounded Rectangle 7"/>
          <p:cNvSpPr/>
          <p:nvPr/>
        </p:nvSpPr>
        <p:spPr>
          <a:xfrm>
            <a:off x="457200" y="1298448"/>
            <a:ext cx="7014545" cy="468152"/>
          </a:xfrm>
          <a:prstGeom prst="roundRect">
            <a:avLst>
              <a:gd name="adj" fmla="val 3007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4906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362445"/>
            <a:ext cx="340156" cy="340156"/>
          </a:xfrm>
          <a:prstGeom prst="rect">
            <a:avLst/>
          </a:prstGeom>
        </p:spPr>
      </p:pic>
      <p:sp>
        <p:nvSpPr>
          <p:cNvPr id="11" name="TextBox 10"/>
          <p:cNvSpPr txBox="1"/>
          <p:nvPr/>
        </p:nvSpPr>
        <p:spPr>
          <a:xfrm>
            <a:off x="1408175" y="1371600"/>
            <a:ext cx="5862401" cy="321848"/>
          </a:xfrm>
          <a:prstGeom prst="rect">
            <a:avLst/>
          </a:prstGeom>
          <a:noFill/>
        </p:spPr>
        <p:txBody>
          <a:bodyPr wrap="square" anchor="ctr" lIns="0" tIns="0" rIns="0" bIns="0">
            <a:spAutoFit/>
          </a:bodyPr>
          <a:lstStyle/>
          <a:p>
            <a:pPr algn="l"/>
            <a:r>
              <a:rPr sz="1050" b="0">
                <a:solidFill>
                  <a:srgbClr val="111111"/>
                </a:solidFill>
                <a:latin typeface="Inter"/>
              </a:rPr>
              <a:t>Simultaneous update</a:t>
            </a:r>
          </a:p>
        </p:txBody>
      </p:sp>
      <p:sp>
        <p:nvSpPr>
          <p:cNvPr id="12" name="Rounded Rectangle 11"/>
          <p:cNvSpPr/>
          <p:nvPr/>
        </p:nvSpPr>
        <p:spPr>
          <a:xfrm>
            <a:off x="457200" y="1967768"/>
            <a:ext cx="7014545" cy="468152"/>
          </a:xfrm>
          <a:prstGeom prst="roundRect">
            <a:avLst>
              <a:gd name="adj" fmla="val 3007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91838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753" y="2031766"/>
            <a:ext cx="340156" cy="340156"/>
          </a:xfrm>
          <a:prstGeom prst="rect">
            <a:avLst/>
          </a:prstGeom>
        </p:spPr>
      </p:pic>
      <p:sp>
        <p:nvSpPr>
          <p:cNvPr id="15" name="TextBox 14"/>
          <p:cNvSpPr txBox="1"/>
          <p:nvPr/>
        </p:nvSpPr>
        <p:spPr>
          <a:xfrm>
            <a:off x="1408175" y="2040920"/>
            <a:ext cx="5862401" cy="321848"/>
          </a:xfrm>
          <a:prstGeom prst="rect">
            <a:avLst/>
          </a:prstGeom>
          <a:noFill/>
        </p:spPr>
        <p:txBody>
          <a:bodyPr wrap="square" anchor="ctr" lIns="0" tIns="0" rIns="0" bIns="0">
            <a:spAutoFit/>
          </a:bodyPr>
          <a:lstStyle/>
          <a:p>
            <a:pPr algn="l"/>
            <a:r>
              <a:rPr sz="1050" b="0">
                <a:solidFill>
                  <a:srgbClr val="111111"/>
                </a:solidFill>
                <a:latin typeface="Inter"/>
              </a:rPr>
              <a:t>Gradient descent depends on updating weights simultaneously rather than sequentially</a:t>
            </a:r>
          </a:p>
        </p:txBody>
      </p:sp>
      <p:sp>
        <p:nvSpPr>
          <p:cNvPr id="16" name="Rounded Rectangle 15"/>
          <p:cNvSpPr/>
          <p:nvPr/>
        </p:nvSpPr>
        <p:spPr>
          <a:xfrm>
            <a:off x="457200" y="2637088"/>
            <a:ext cx="7014545" cy="468152"/>
          </a:xfrm>
          <a:prstGeom prst="roundRect">
            <a:avLst>
              <a:gd name="adj" fmla="val 3007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58770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2701086"/>
            <a:ext cx="340156" cy="340156"/>
          </a:xfrm>
          <a:prstGeom prst="rect">
            <a:avLst/>
          </a:prstGeom>
        </p:spPr>
      </p:pic>
      <p:sp>
        <p:nvSpPr>
          <p:cNvPr id="19" name="TextBox 18"/>
          <p:cNvSpPr txBox="1"/>
          <p:nvPr/>
        </p:nvSpPr>
        <p:spPr>
          <a:xfrm>
            <a:off x="1408175" y="2710240"/>
            <a:ext cx="5862401" cy="321848"/>
          </a:xfrm>
          <a:prstGeom prst="rect">
            <a:avLst/>
          </a:prstGeom>
          <a:noFill/>
        </p:spPr>
        <p:txBody>
          <a:bodyPr wrap="square" anchor="ctr" lIns="0" tIns="0" rIns="0" bIns="0">
            <a:spAutoFit/>
          </a:bodyPr>
          <a:lstStyle/>
          <a:p>
            <a:pPr algn="l"/>
            <a:r>
              <a:rPr sz="1260" b="1">
                <a:solidFill>
                  <a:srgbClr val="A8306E"/>
                </a:solidFill>
                <a:latin typeface="Bebas Neue"/>
              </a:rPr>
              <a:t>Ensures that all</a:t>
            </a:r>
          </a:p>
          <a:p>
            <a:pPr algn="l">
              <a:spcBef>
                <a:spcPts val="500"/>
              </a:spcBef>
            </a:pPr>
            <a:r>
              <a:rPr sz="1050" b="0">
                <a:solidFill>
                  <a:srgbClr val="111111"/>
                </a:solidFill>
                <a:latin typeface="Inter"/>
              </a:rPr>
              <a:t>This ensures that all parameters are adjusted based on the same gradient calculations at the current step</a:t>
            </a:r>
          </a:p>
        </p:txBody>
      </p:sp>
      <p:sp>
        <p:nvSpPr>
          <p:cNvPr id="20" name="Rounded Rectangle 19"/>
          <p:cNvSpPr/>
          <p:nvPr/>
        </p:nvSpPr>
        <p:spPr>
          <a:xfrm>
            <a:off x="457200" y="3306408"/>
            <a:ext cx="7014545" cy="468152"/>
          </a:xfrm>
          <a:prstGeom prst="roundRect">
            <a:avLst>
              <a:gd name="adj" fmla="val 3007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25702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771753" y="3370406"/>
            <a:ext cx="340156" cy="340156"/>
          </a:xfrm>
          <a:prstGeom prst="rect">
            <a:avLst/>
          </a:prstGeom>
        </p:spPr>
      </p:pic>
      <p:sp>
        <p:nvSpPr>
          <p:cNvPr id="23" name="TextBox 22"/>
          <p:cNvSpPr txBox="1"/>
          <p:nvPr/>
        </p:nvSpPr>
        <p:spPr>
          <a:xfrm>
            <a:off x="1408175" y="3379560"/>
            <a:ext cx="5862401" cy="321848"/>
          </a:xfrm>
          <a:prstGeom prst="rect">
            <a:avLst/>
          </a:prstGeom>
          <a:noFill/>
        </p:spPr>
        <p:txBody>
          <a:bodyPr wrap="square" anchor="ctr" lIns="0" tIns="0" rIns="0" bIns="0">
            <a:spAutoFit/>
          </a:bodyPr>
          <a:lstStyle/>
          <a:p>
            <a:pPr algn="l"/>
            <a:r>
              <a:rPr sz="1050" b="0">
                <a:solidFill>
                  <a:srgbClr val="111111"/>
                </a:solidFill>
                <a:latin typeface="Inter"/>
              </a:rPr>
              <a:t>Using correct simultaneous updates prevents calculation errors during optimization</a:t>
            </a:r>
          </a:p>
        </p:txBody>
      </p:sp>
      <p:sp>
        <p:nvSpPr>
          <p:cNvPr id="24" name="Rounded Rectangle 23"/>
          <p:cNvSpPr/>
          <p:nvPr/>
        </p:nvSpPr>
        <p:spPr>
          <a:xfrm>
            <a:off x="457200" y="3975729"/>
            <a:ext cx="7014545" cy="468152"/>
          </a:xfrm>
          <a:prstGeom prst="roundRect">
            <a:avLst>
              <a:gd name="adj" fmla="val 3007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92634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771753" y="4039727"/>
            <a:ext cx="340156" cy="340156"/>
          </a:xfrm>
          <a:prstGeom prst="rect">
            <a:avLst/>
          </a:prstGeom>
        </p:spPr>
      </p:pic>
      <p:sp>
        <p:nvSpPr>
          <p:cNvPr id="27" name="TextBox 26"/>
          <p:cNvSpPr txBox="1"/>
          <p:nvPr/>
        </p:nvSpPr>
        <p:spPr>
          <a:xfrm>
            <a:off x="1408175" y="4048881"/>
            <a:ext cx="5862401" cy="321848"/>
          </a:xfrm>
          <a:prstGeom prst="rect">
            <a:avLst/>
          </a:prstGeom>
          <a:noFill/>
        </p:spPr>
        <p:txBody>
          <a:bodyPr wrap="square" anchor="ctr" lIns="0" tIns="0" rIns="0" bIns="0">
            <a:spAutoFit/>
          </a:bodyPr>
          <a:lstStyle/>
          <a:p>
            <a:pPr algn="l"/>
            <a:r>
              <a:rPr sz="1050" b="0">
                <a:solidFill>
                  <a:srgbClr val="111111"/>
                </a:solidFill>
                <a:latin typeface="Inter"/>
              </a:rPr>
              <a:t>Example: Adjusting multiple steering angles at once instead of one wheel at a time</a:t>
            </a:r>
          </a:p>
        </p:txBody>
      </p:sp>
      <p:sp>
        <p:nvSpPr>
          <p:cNvPr id="28" name="Rounded Rectangle 27"/>
          <p:cNvSpPr/>
          <p:nvPr/>
        </p:nvSpPr>
        <p:spPr>
          <a:xfrm>
            <a:off x="457200" y="4645049"/>
            <a:ext cx="7014545" cy="64018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645049"/>
            <a:ext cx="73152" cy="64018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718201"/>
            <a:ext cx="6619524" cy="49387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Incorrect:</a:t>
            </a:r>
          </a:p>
        </p:txBody>
      </p:sp>
      <p:sp>
        <p:nvSpPr>
          <p:cNvPr id="31" name="Rounded Rectangle 30"/>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terms:  </a:t>
            </a:r>
            <a:r>
              <a:rPr sz="1600" b="1">
                <a:solidFill>
                  <a:srgbClr val="111111"/>
                </a:solidFill>
                <a:latin typeface="Bebas Neue"/>
              </a:rPr>
              <a:t>Simultaneous update — Updating all model parameters together at the end of a single iteration.</a:t>
            </a:r>
          </a:p>
        </p:txBody>
      </p:sp>
      <p:sp>
        <p:nvSpPr>
          <p:cNvPr id="32" name="Rectangle 31"/>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Learning rate size determines whether gradient descent converges or diverges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63 / 69</a:t>
            </a:r>
          </a:p>
        </p:txBody>
      </p:sp>
      <p:sp>
        <p:nvSpPr>
          <p:cNvPr id="8" name="Rounded Rectangle 7"/>
          <p:cNvSpPr/>
          <p:nvPr/>
        </p:nvSpPr>
        <p:spPr>
          <a:xfrm>
            <a:off x="457200" y="1298448"/>
            <a:ext cx="11274552" cy="3986784"/>
          </a:xfrm>
          <a:prstGeom prst="roundRect">
            <a:avLst>
              <a:gd name="adj" fmla="val 7064"/>
            </a:avLst>
          </a:prstGeom>
          <a:solidFill>
            <a:srgbClr val="FBF6F9"/>
          </a:solidFill>
          <a:ln w="12700">
            <a:solidFill>
              <a:srgbClr val="E4C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98448"/>
            <a:ext cx="11274552" cy="384048"/>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0" rIns="201168" bIns="0"/>
          <a:lstStyle/>
          <a:p>
            <a:pPr algn="l"/>
            <a:r>
              <a:rPr sz="1300" b="1">
                <a:solidFill>
                  <a:srgbClr val="FFFFFF"/>
                </a:solidFill>
                <a:latin typeface="Bebas Neue"/>
              </a:rPr>
              <a:t>ALGORITHM</a:t>
            </a:r>
          </a:p>
        </p:txBody>
      </p:sp>
      <p:sp>
        <p:nvSpPr>
          <p:cNvPr id="10" name="TextBox 9"/>
          <p:cNvSpPr txBox="1"/>
          <p:nvPr/>
        </p:nvSpPr>
        <p:spPr>
          <a:xfrm>
            <a:off x="577900" y="1819655"/>
            <a:ext cx="411480" cy="301752"/>
          </a:xfrm>
          <a:prstGeom prst="rect">
            <a:avLst/>
          </a:prstGeom>
          <a:noFill/>
        </p:spPr>
        <p:txBody>
          <a:bodyPr wrap="none">
            <a:spAutoFit/>
          </a:bodyPr>
          <a:lstStyle/>
          <a:p>
            <a:r>
              <a:rPr sz="1350">
                <a:solidFill>
                  <a:srgbClr val="888888"/>
                </a:solidFill>
                <a:latin typeface="Inter"/>
              </a:rPr>
              <a:t>1</a:t>
            </a:r>
          </a:p>
        </p:txBody>
      </p:sp>
      <p:sp>
        <p:nvSpPr>
          <p:cNvPr id="11" name="TextBox 10"/>
          <p:cNvSpPr txBox="1"/>
          <p:nvPr/>
        </p:nvSpPr>
        <p:spPr>
          <a:xfrm>
            <a:off x="1069848" y="1819655"/>
            <a:ext cx="10460736" cy="301752"/>
          </a:xfrm>
          <a:prstGeom prst="rect">
            <a:avLst/>
          </a:prstGeom>
          <a:noFill/>
        </p:spPr>
        <p:txBody>
          <a:bodyPr wrap="square" lIns="0" rIns="0" tIns="0" bIns="0">
            <a:spAutoFit/>
          </a:bodyPr>
          <a:lstStyle/>
          <a:p>
            <a:r>
              <a:rPr sz="1800" b="1">
                <a:solidFill>
                  <a:srgbClr val="A8306E"/>
                </a:solidFill>
                <a:latin typeface="Bebas Neue"/>
              </a:rPr>
              <a:t>If</a:t>
            </a:r>
            <a:r>
              <a:rPr sz="1800" b="0">
                <a:solidFill>
                  <a:srgbClr val="111111"/>
                </a:solidFill>
                <a:latin typeface="Inter"/>
              </a:rPr>
              <a:t> α is too small, gradient descent can be slow.</a:t>
            </a:r>
          </a:p>
        </p:txBody>
      </p:sp>
      <p:sp>
        <p:nvSpPr>
          <p:cNvPr id="12" name="TextBox 11"/>
          <p:cNvSpPr txBox="1"/>
          <p:nvPr/>
        </p:nvSpPr>
        <p:spPr>
          <a:xfrm>
            <a:off x="577900" y="2121408"/>
            <a:ext cx="411480" cy="603504"/>
          </a:xfrm>
          <a:prstGeom prst="rect">
            <a:avLst/>
          </a:prstGeom>
          <a:noFill/>
        </p:spPr>
        <p:txBody>
          <a:bodyPr wrap="none">
            <a:spAutoFit/>
          </a:bodyPr>
          <a:lstStyle/>
          <a:p>
            <a:r>
              <a:rPr sz="1350">
                <a:solidFill>
                  <a:srgbClr val="888888"/>
                </a:solidFill>
                <a:latin typeface="Inter"/>
              </a:rPr>
              <a:t>2</a:t>
            </a:r>
          </a:p>
        </p:txBody>
      </p:sp>
      <p:sp>
        <p:nvSpPr>
          <p:cNvPr id="13" name="TextBox 12"/>
          <p:cNvSpPr txBox="1"/>
          <p:nvPr/>
        </p:nvSpPr>
        <p:spPr>
          <a:xfrm>
            <a:off x="1362456" y="2121408"/>
            <a:ext cx="10168128" cy="603504"/>
          </a:xfrm>
          <a:prstGeom prst="rect">
            <a:avLst/>
          </a:prstGeom>
          <a:noFill/>
        </p:spPr>
        <p:txBody>
          <a:bodyPr wrap="square" lIns="0" rIns="0" tIns="0" bIns="0">
            <a:spAutoFit/>
          </a:bodyPr>
          <a:lstStyle/>
          <a:p>
            <a:r>
              <a:rPr sz="1800" b="1">
                <a:solidFill>
                  <a:srgbClr val="A8306E"/>
                </a:solidFill>
                <a:latin typeface="Bebas Neue"/>
              </a:rPr>
              <a:t>If</a:t>
            </a:r>
            <a:r>
              <a:rPr sz="1800" b="0">
                <a:solidFill>
                  <a:srgbClr val="111111"/>
                </a:solidFill>
                <a:latin typeface="Inter"/>
              </a:rPr>
              <a:t> α is too large, gradient descent can overshoot the minimum. It may fail to converge, or even diverge.</a:t>
            </a:r>
          </a:p>
        </p:txBody>
      </p:sp>
      <p:sp>
        <p:nvSpPr>
          <p:cNvPr id="14" name="TextBox 13"/>
          <p:cNvSpPr txBox="1"/>
          <p:nvPr/>
        </p:nvSpPr>
        <p:spPr>
          <a:xfrm>
            <a:off x="577900" y="2724912"/>
            <a:ext cx="411480" cy="301752"/>
          </a:xfrm>
          <a:prstGeom prst="rect">
            <a:avLst/>
          </a:prstGeom>
          <a:noFill/>
        </p:spPr>
        <p:txBody>
          <a:bodyPr wrap="none">
            <a:spAutoFit/>
          </a:bodyPr>
          <a:lstStyle/>
          <a:p>
            <a:r>
              <a:rPr sz="1350">
                <a:solidFill>
                  <a:srgbClr val="888888"/>
                </a:solidFill>
                <a:latin typeface="Inter"/>
              </a:rPr>
              <a:t>3</a:t>
            </a:r>
          </a:p>
        </p:txBody>
      </p:sp>
      <p:sp>
        <p:nvSpPr>
          <p:cNvPr id="15" name="TextBox 14"/>
          <p:cNvSpPr txBox="1"/>
          <p:nvPr/>
        </p:nvSpPr>
        <p:spPr>
          <a:xfrm>
            <a:off x="1655064" y="2724912"/>
            <a:ext cx="9875520" cy="301752"/>
          </a:xfrm>
          <a:prstGeom prst="rect">
            <a:avLst/>
          </a:prstGeom>
          <a:noFill/>
        </p:spPr>
        <p:txBody>
          <a:bodyPr wrap="square" lIns="0" rIns="0" tIns="0" bIns="0">
            <a:spAutoFit/>
          </a:bodyPr>
          <a:lstStyle/>
          <a:p>
            <a:r>
              <a:rPr sz="1800" b="0">
                <a:solidFill>
                  <a:srgbClr val="111111"/>
                </a:solidFill>
                <a:latin typeface="Inter"/>
              </a:rPr>
              <a:t>The learning rate alpha controls the step size taken during gradient descent.</a:t>
            </a:r>
          </a:p>
        </p:txBody>
      </p:sp>
      <p:sp>
        <p:nvSpPr>
          <p:cNvPr id="16" name="TextBox 15"/>
          <p:cNvSpPr txBox="1"/>
          <p:nvPr/>
        </p:nvSpPr>
        <p:spPr>
          <a:xfrm>
            <a:off x="577900" y="3026664"/>
            <a:ext cx="411480" cy="301752"/>
          </a:xfrm>
          <a:prstGeom prst="rect">
            <a:avLst/>
          </a:prstGeom>
          <a:noFill/>
        </p:spPr>
        <p:txBody>
          <a:bodyPr wrap="none">
            <a:spAutoFit/>
          </a:bodyPr>
          <a:lstStyle/>
          <a:p>
            <a:r>
              <a:rPr sz="1350">
                <a:solidFill>
                  <a:srgbClr val="888888"/>
                </a:solidFill>
                <a:latin typeface="Inter"/>
              </a:rPr>
              <a:t>4</a:t>
            </a:r>
          </a:p>
        </p:txBody>
      </p:sp>
      <p:sp>
        <p:nvSpPr>
          <p:cNvPr id="17" name="TextBox 16"/>
          <p:cNvSpPr txBox="1"/>
          <p:nvPr/>
        </p:nvSpPr>
        <p:spPr>
          <a:xfrm>
            <a:off x="1655064" y="3026664"/>
            <a:ext cx="9875520" cy="301752"/>
          </a:xfrm>
          <a:prstGeom prst="rect">
            <a:avLst/>
          </a:prstGeom>
          <a:noFill/>
        </p:spPr>
        <p:txBody>
          <a:bodyPr wrap="square" lIns="0" rIns="0" tIns="0" bIns="0">
            <a:spAutoFit/>
          </a:bodyPr>
          <a:lstStyle/>
          <a:p>
            <a:r>
              <a:rPr sz="1800" b="1">
                <a:solidFill>
                  <a:srgbClr val="A8306E"/>
                </a:solidFill>
                <a:latin typeface="Bebas Neue"/>
              </a:rPr>
              <a:t>If</a:t>
            </a:r>
            <a:r>
              <a:rPr sz="1800" b="0">
                <a:solidFill>
                  <a:srgbClr val="111111"/>
                </a:solidFill>
                <a:latin typeface="Inter"/>
              </a:rPr>
              <a:t> alpha is too small, the algorithm becomes very slow.</a:t>
            </a:r>
          </a:p>
        </p:txBody>
      </p:sp>
      <p:sp>
        <p:nvSpPr>
          <p:cNvPr id="18" name="TextBox 17"/>
          <p:cNvSpPr txBox="1"/>
          <p:nvPr/>
        </p:nvSpPr>
        <p:spPr>
          <a:xfrm>
            <a:off x="577900" y="3328416"/>
            <a:ext cx="411480" cy="603504"/>
          </a:xfrm>
          <a:prstGeom prst="rect">
            <a:avLst/>
          </a:prstGeom>
          <a:noFill/>
        </p:spPr>
        <p:txBody>
          <a:bodyPr wrap="none">
            <a:spAutoFit/>
          </a:bodyPr>
          <a:lstStyle/>
          <a:p>
            <a:r>
              <a:rPr sz="1350">
                <a:solidFill>
                  <a:srgbClr val="888888"/>
                </a:solidFill>
                <a:latin typeface="Inter"/>
              </a:rPr>
              <a:t>5</a:t>
            </a:r>
          </a:p>
        </p:txBody>
      </p:sp>
      <p:sp>
        <p:nvSpPr>
          <p:cNvPr id="19" name="TextBox 18"/>
          <p:cNvSpPr txBox="1"/>
          <p:nvPr/>
        </p:nvSpPr>
        <p:spPr>
          <a:xfrm>
            <a:off x="1947672" y="3328416"/>
            <a:ext cx="9582912" cy="603504"/>
          </a:xfrm>
          <a:prstGeom prst="rect">
            <a:avLst/>
          </a:prstGeom>
          <a:noFill/>
        </p:spPr>
        <p:txBody>
          <a:bodyPr wrap="square" lIns="0" rIns="0" tIns="0" bIns="0">
            <a:spAutoFit/>
          </a:bodyPr>
          <a:lstStyle/>
          <a:p>
            <a:r>
              <a:rPr sz="1800" b="1">
                <a:solidFill>
                  <a:srgbClr val="A8306E"/>
                </a:solidFill>
                <a:latin typeface="Bebas Neue"/>
              </a:rPr>
              <a:t>If</a:t>
            </a:r>
            <a:r>
              <a:rPr sz="1800" b="0">
                <a:solidFill>
                  <a:srgbClr val="111111"/>
                </a:solidFill>
                <a:latin typeface="Inter"/>
              </a:rPr>
              <a:t> alpha is too large, it can overshoot the minimum and fail to converge or even diverge.</a:t>
            </a:r>
          </a:p>
        </p:txBody>
      </p:sp>
      <p:sp>
        <p:nvSpPr>
          <p:cNvPr id="20" name="TextBox 19"/>
          <p:cNvSpPr txBox="1"/>
          <p:nvPr/>
        </p:nvSpPr>
        <p:spPr>
          <a:xfrm>
            <a:off x="577900" y="3931920"/>
            <a:ext cx="411480" cy="603504"/>
          </a:xfrm>
          <a:prstGeom prst="rect">
            <a:avLst/>
          </a:prstGeom>
          <a:noFill/>
        </p:spPr>
        <p:txBody>
          <a:bodyPr wrap="none">
            <a:spAutoFit/>
          </a:bodyPr>
          <a:lstStyle/>
          <a:p>
            <a:r>
              <a:rPr sz="1350">
                <a:solidFill>
                  <a:srgbClr val="888888"/>
                </a:solidFill>
                <a:latin typeface="Inter"/>
              </a:rPr>
              <a:t>6</a:t>
            </a:r>
          </a:p>
        </p:txBody>
      </p:sp>
      <p:sp>
        <p:nvSpPr>
          <p:cNvPr id="21" name="TextBox 20"/>
          <p:cNvSpPr txBox="1"/>
          <p:nvPr/>
        </p:nvSpPr>
        <p:spPr>
          <a:xfrm>
            <a:off x="2240280" y="3931920"/>
            <a:ext cx="9290304" cy="603504"/>
          </a:xfrm>
          <a:prstGeom prst="rect">
            <a:avLst/>
          </a:prstGeom>
          <a:noFill/>
        </p:spPr>
        <p:txBody>
          <a:bodyPr wrap="square" lIns="0" rIns="0" tIns="0" bIns="0">
            <a:spAutoFit/>
          </a:bodyPr>
          <a:lstStyle/>
          <a:p>
            <a:r>
              <a:rPr sz="1800" b="0">
                <a:solidFill>
                  <a:srgbClr val="111111"/>
                </a:solidFill>
                <a:latin typeface="Inter"/>
              </a:rPr>
              <a:t>Example: Taking tiny steps down a mountain takes forever, while giant leaps cause you to jump right past the bottom.</a:t>
            </a:r>
          </a:p>
        </p:txBody>
      </p:sp>
      <p:sp>
        <p:nvSpPr>
          <p:cNvPr id="22" name="Rounded Rectangle 21"/>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A8306E"/>
                </a:solidFill>
                <a:latin typeface="Bebas Neue"/>
              </a:rPr>
              <a:t>Key terms:  </a:t>
            </a:r>
            <a:r>
              <a:rPr sz="1600" b="1">
                <a:solidFill>
                  <a:srgbClr val="111111"/>
                </a:solidFill>
                <a:latin typeface="Bebas Neue"/>
              </a:rPr>
              <a:t>Learning rate — A tuning parameter that determines the step size at each iteration.  ·  Diverge — Moving further away from the optimal minimum instead of getting closer.</a:t>
            </a:r>
          </a:p>
        </p:txBody>
      </p:sp>
      <p:sp>
        <p:nvSpPr>
          <p:cNvPr id="23" name="Rectangle 22"/>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Gradient descent updates the current value of weight at local optima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64 / 69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7"/>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22804" cy="1048512"/>
          </a:xfrm>
          <a:prstGeom prst="rect">
            <a:avLst/>
          </a:prstGeom>
          <a:noFill/>
        </p:spPr>
        <p:txBody>
          <a:bodyPr wrap="square" anchor="ctr" lIns="0" tIns="0" rIns="0" bIns="0">
            <a:spAutoFit/>
          </a:bodyPr>
          <a:lstStyle/>
          <a:p>
            <a:pPr algn="l"/>
            <a:r>
              <a:rPr sz="1450" b="0">
                <a:solidFill>
                  <a:srgbClr val="111111"/>
                </a:solidFill>
                <a:latin typeface="Inter"/>
              </a:rPr>
              <a:t>w at local optima</a:t>
            </a:r>
          </a:p>
        </p:txBody>
      </p:sp>
      <p:sp>
        <p:nvSpPr>
          <p:cNvPr id="12" name="Rounded Rectangle 11"/>
          <p:cNvSpPr/>
          <p:nvPr/>
        </p:nvSpPr>
        <p:spPr>
          <a:xfrm>
            <a:off x="4433315" y="1298447"/>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61239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725777"/>
            <a:ext cx="340156" cy="340156"/>
          </a:xfrm>
          <a:prstGeom prst="rect">
            <a:avLst/>
          </a:prstGeom>
        </p:spPr>
      </p:pic>
      <p:sp>
        <p:nvSpPr>
          <p:cNvPr id="15" name="TextBox 14"/>
          <p:cNvSpPr txBox="1"/>
          <p:nvPr/>
        </p:nvSpPr>
        <p:spPr>
          <a:xfrm>
            <a:off x="5384291" y="1371599"/>
            <a:ext cx="2622804" cy="1048512"/>
          </a:xfrm>
          <a:prstGeom prst="rect">
            <a:avLst/>
          </a:prstGeom>
          <a:noFill/>
        </p:spPr>
        <p:txBody>
          <a:bodyPr wrap="square" anchor="ctr" lIns="0" tIns="0" rIns="0" bIns="0">
            <a:spAutoFit/>
          </a:bodyPr>
          <a:lstStyle/>
          <a:p>
            <a:pPr algn="l"/>
            <a:r>
              <a:rPr sz="1450" b="0">
                <a:solidFill>
                  <a:srgbClr val="111111"/>
                </a:solidFill>
                <a:latin typeface="Inter"/>
              </a:rPr>
              <a:t>Current value of w</a:t>
            </a:r>
          </a:p>
        </p:txBody>
      </p:sp>
      <p:sp>
        <p:nvSpPr>
          <p:cNvPr id="16" name="Rounded Rectangle 15"/>
          <p:cNvSpPr/>
          <p:nvPr/>
        </p:nvSpPr>
        <p:spPr>
          <a:xfrm>
            <a:off x="457200" y="2694431"/>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22804" cy="1048512"/>
          </a:xfrm>
          <a:prstGeom prst="rect">
            <a:avLst/>
          </a:prstGeom>
          <a:noFill/>
        </p:spPr>
        <p:txBody>
          <a:bodyPr wrap="square" anchor="ctr" lIns="0" tIns="0" rIns="0" bIns="0">
            <a:spAutoFit/>
          </a:bodyPr>
          <a:lstStyle/>
          <a:p>
            <a:pPr algn="l"/>
            <a:r>
              <a:rPr sz="1739" b="1">
                <a:solidFill>
                  <a:srgbClr val="A8306E"/>
                </a:solidFill>
                <a:latin typeface="Bebas Neue"/>
              </a:rPr>
              <a:t>Algorithm evaluates</a:t>
            </a:r>
          </a:p>
          <a:p>
            <a:pPr algn="l">
              <a:spcBef>
                <a:spcPts val="500"/>
              </a:spcBef>
            </a:pPr>
            <a:r>
              <a:rPr sz="1450" b="0">
                <a:solidFill>
                  <a:srgbClr val="111111"/>
                </a:solidFill>
                <a:latin typeface="Inter"/>
              </a:rPr>
              <a:t>The algorithm evaluates the current value of the weight at local optima</a:t>
            </a:r>
          </a:p>
        </p:txBody>
      </p:sp>
      <p:sp>
        <p:nvSpPr>
          <p:cNvPr id="20" name="Rounded Rectangle 19"/>
          <p:cNvSpPr/>
          <p:nvPr/>
        </p:nvSpPr>
        <p:spPr>
          <a:xfrm>
            <a:off x="4433315" y="2694431"/>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3008375"/>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121761"/>
            <a:ext cx="340156" cy="340156"/>
          </a:xfrm>
          <a:prstGeom prst="rect">
            <a:avLst/>
          </a:prstGeom>
        </p:spPr>
      </p:pic>
      <p:sp>
        <p:nvSpPr>
          <p:cNvPr id="23" name="TextBox 22"/>
          <p:cNvSpPr txBox="1"/>
          <p:nvPr/>
        </p:nvSpPr>
        <p:spPr>
          <a:xfrm>
            <a:off x="5384291" y="2767583"/>
            <a:ext cx="2622804" cy="1048512"/>
          </a:xfrm>
          <a:prstGeom prst="rect">
            <a:avLst/>
          </a:prstGeom>
          <a:noFill/>
        </p:spPr>
        <p:txBody>
          <a:bodyPr wrap="square" anchor="ctr" lIns="0" tIns="0" rIns="0" bIns="0">
            <a:spAutoFit/>
          </a:bodyPr>
          <a:lstStyle/>
          <a:p>
            <a:pPr algn="l"/>
            <a:r>
              <a:rPr sz="1739" b="1">
                <a:solidFill>
                  <a:srgbClr val="A8306E"/>
                </a:solidFill>
                <a:latin typeface="Bebas Neue"/>
              </a:rPr>
              <a:t>Helps determine</a:t>
            </a:r>
          </a:p>
          <a:p>
            <a:pPr algn="l">
              <a:spcBef>
                <a:spcPts val="500"/>
              </a:spcBef>
            </a:pPr>
            <a:r>
              <a:rPr sz="1450" b="0">
                <a:solidFill>
                  <a:srgbClr val="111111"/>
                </a:solidFill>
                <a:latin typeface="Inter"/>
              </a:rPr>
              <a:t>This helps determine the ongoing optimization path of the model parameters</a:t>
            </a:r>
          </a:p>
        </p:txBody>
      </p:sp>
      <p:sp>
        <p:nvSpPr>
          <p:cNvPr id="24" name="Rounded Rectangle 23"/>
          <p:cNvSpPr/>
          <p:nvPr/>
        </p:nvSpPr>
        <p:spPr>
          <a:xfrm>
            <a:off x="457200" y="4090415"/>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2622804" cy="1048512"/>
          </a:xfrm>
          <a:prstGeom prst="rect">
            <a:avLst/>
          </a:prstGeom>
          <a:noFill/>
        </p:spPr>
        <p:txBody>
          <a:bodyPr wrap="square" anchor="ctr" lIns="0" tIns="0" rIns="0" bIns="0">
            <a:spAutoFit/>
          </a:bodyPr>
          <a:lstStyle/>
          <a:p>
            <a:pPr algn="l"/>
            <a:r>
              <a:rPr sz="1739" b="1">
                <a:solidFill>
                  <a:srgbClr val="A8306E"/>
                </a:solidFill>
                <a:latin typeface="Bebas Neue"/>
              </a:rPr>
              <a:t>Weight value</a:t>
            </a:r>
          </a:p>
          <a:p>
            <a:pPr algn="l">
              <a:spcBef>
                <a:spcPts val="500"/>
              </a:spcBef>
            </a:pPr>
            <a:r>
              <a:rPr sz="1450" b="0">
                <a:solidFill>
                  <a:srgbClr val="111111"/>
                </a:solidFill>
                <a:latin typeface="Inter"/>
              </a:rPr>
              <a:t>The weight value continuously shifts according to the gradient</a:t>
            </a:r>
          </a:p>
        </p:txBody>
      </p:sp>
      <p:sp>
        <p:nvSpPr>
          <p:cNvPr id="28" name="Rounded Rectangle 27"/>
          <p:cNvSpPr/>
          <p:nvPr/>
        </p:nvSpPr>
        <p:spPr>
          <a:xfrm>
            <a:off x="4433315" y="4090415"/>
            <a:ext cx="3774947" cy="1194816"/>
          </a:xfrm>
          <a:prstGeom prst="roundRect">
            <a:avLst>
              <a:gd name="adj" fmla="val 11785"/>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34483" y="440436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47869" y="4517745"/>
            <a:ext cx="340156" cy="340156"/>
          </a:xfrm>
          <a:prstGeom prst="rect">
            <a:avLst/>
          </a:prstGeom>
        </p:spPr>
      </p:pic>
      <p:sp>
        <p:nvSpPr>
          <p:cNvPr id="31" name="TextBox 30"/>
          <p:cNvSpPr txBox="1"/>
          <p:nvPr/>
        </p:nvSpPr>
        <p:spPr>
          <a:xfrm>
            <a:off x="5384291" y="4163567"/>
            <a:ext cx="2622804" cy="1048512"/>
          </a:xfrm>
          <a:prstGeom prst="rect">
            <a:avLst/>
          </a:prstGeom>
          <a:noFill/>
        </p:spPr>
        <p:txBody>
          <a:bodyPr wrap="square" anchor="ctr" lIns="0" tIns="0" rIns="0" bIns="0">
            <a:spAutoFit/>
          </a:bodyPr>
          <a:lstStyle/>
          <a:p>
            <a:pPr algn="l"/>
            <a:r>
              <a:rPr sz="1450" b="0">
                <a:solidFill>
                  <a:srgbClr val="111111"/>
                </a:solidFill>
                <a:latin typeface="Inter"/>
              </a:rPr>
              <a:t>Example: Checking your current elevation on a hiking trail to decide the next step</a:t>
            </a:r>
          </a:p>
        </p:txBody>
      </p:sp>
      <p:sp>
        <p:nvSpPr>
          <p:cNvPr id="32" name="Rounded Rectangle 31"/>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8306E"/>
                </a:solidFill>
                <a:latin typeface="Bebas Neue"/>
              </a:rPr>
              <a:t>Key terms:  </a:t>
            </a:r>
            <a:r>
              <a:rPr sz="1300" b="0">
                <a:solidFill>
                  <a:srgbClr val="111111"/>
                </a:solidFill>
                <a:latin typeface="Inter"/>
              </a:rPr>
              <a:t>Local optima — A point where the function value is smaller than surrounding points.  ·  Current value of w — The active parameter weight being evaluated in the optimization step.</a:t>
            </a:r>
          </a:p>
          <a:p>
            <a:pPr algn="l"/>
            <a:r>
              <a:rPr b="1" sz="1300">
                <a:solidFill>
                  <a:srgbClr val="A8306E"/>
                </a:solidFill>
                <a:latin typeface="Bebas Neue"/>
              </a:rPr>
              <a:t>Also in this lecture:  </a:t>
            </a:r>
            <a:r>
              <a:rPr sz="1300" b="0">
                <a:solidFill>
                  <a:srgbClr val="111111"/>
                </a:solidFill>
                <a:latin typeface="Inter"/>
              </a:rPr>
              <a:t>If α is too small, gradient descent can be slow.</a:t>
            </a:r>
          </a:p>
        </p:txBody>
      </p:sp>
      <p:sp>
        <p:nvSpPr>
          <p:cNvPr id="33" name="Rectangle 32"/>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Gradient descent automatically takes smaller steps as it approaches a local minimum</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65 / 69</a:t>
            </a:r>
          </a:p>
        </p:txBody>
      </p:sp>
      <p:sp>
        <p:nvSpPr>
          <p:cNvPr id="8" name="Rounded Rectangle 7"/>
          <p:cNvSpPr/>
          <p:nvPr/>
        </p:nvSpPr>
        <p:spPr>
          <a:xfrm>
            <a:off x="457200" y="1298448"/>
            <a:ext cx="3502152"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016252"/>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80160" y="1499616"/>
            <a:ext cx="2478024" cy="1490472"/>
          </a:xfrm>
          <a:prstGeom prst="rect">
            <a:avLst/>
          </a:prstGeom>
          <a:noFill/>
        </p:spPr>
        <p:txBody>
          <a:bodyPr wrap="square" anchor="ctr" lIns="0" tIns="0" rIns="0" bIns="0">
            <a:spAutoFit/>
          </a:bodyPr>
          <a:lstStyle/>
          <a:p>
            <a:pPr algn="l"/>
            <a:r>
              <a:rPr sz="1620" b="1">
                <a:solidFill>
                  <a:srgbClr val="A8306E"/>
                </a:solidFill>
                <a:latin typeface="Bebas Neue"/>
              </a:rPr>
              <a:t>Gradient descent can converge</a:t>
            </a:r>
          </a:p>
          <a:p>
            <a:pPr algn="l">
              <a:spcBef>
                <a:spcPts val="500"/>
              </a:spcBef>
            </a:pPr>
            <a:r>
              <a:rPr sz="1350" b="0">
                <a:solidFill>
                  <a:srgbClr val="111111"/>
                </a:solidFill>
                <a:latin typeface="Inter"/>
              </a:rPr>
              <a:t>to a local minimum, even with the learning rate α fixed</a:t>
            </a:r>
          </a:p>
        </p:txBody>
      </p:sp>
      <p:sp>
        <p:nvSpPr>
          <p:cNvPr id="11" name="Right Arrow 10"/>
          <p:cNvSpPr/>
          <p:nvPr/>
        </p:nvSpPr>
        <p:spPr>
          <a:xfrm>
            <a:off x="4014215" y="2089404"/>
            <a:ext cx="274320" cy="310896"/>
          </a:xfrm>
          <a:prstGeom prst="rightArrow">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298448"/>
            <a:ext cx="3502152"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2016252"/>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5166359" y="1499616"/>
            <a:ext cx="2478024" cy="1490472"/>
          </a:xfrm>
          <a:prstGeom prst="rect">
            <a:avLst/>
          </a:prstGeom>
          <a:noFill/>
        </p:spPr>
        <p:txBody>
          <a:bodyPr wrap="square" anchor="ctr" lIns="0" tIns="0" rIns="0" bIns="0">
            <a:spAutoFit/>
          </a:bodyPr>
          <a:lstStyle/>
          <a:p>
            <a:pPr algn="l"/>
            <a:r>
              <a:rPr sz="1620" b="1">
                <a:solidFill>
                  <a:srgbClr val="A8306E"/>
                </a:solidFill>
                <a:latin typeface="Bebas Neue"/>
              </a:rPr>
              <a:t>As we approach a local</a:t>
            </a:r>
          </a:p>
          <a:p>
            <a:pPr algn="l">
              <a:spcBef>
                <a:spcPts val="500"/>
              </a:spcBef>
            </a:pPr>
            <a:r>
              <a:rPr sz="1350" b="0">
                <a:solidFill>
                  <a:srgbClr val="111111"/>
                </a:solidFill>
                <a:latin typeface="Inter"/>
              </a:rPr>
              <a:t>minimum, gradient descent will automatically take smaller steps</a:t>
            </a:r>
          </a:p>
        </p:txBody>
      </p:sp>
      <p:sp>
        <p:nvSpPr>
          <p:cNvPr id="15" name="Right Arrow 14"/>
          <p:cNvSpPr/>
          <p:nvPr/>
        </p:nvSpPr>
        <p:spPr>
          <a:xfrm>
            <a:off x="7900416" y="2089404"/>
            <a:ext cx="274320" cy="310896"/>
          </a:xfrm>
          <a:prstGeom prst="rightArrow">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298448"/>
            <a:ext cx="3502152"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8" y="2016252"/>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9052560" y="1499616"/>
            <a:ext cx="2478024" cy="1490472"/>
          </a:xfrm>
          <a:prstGeom prst="rect">
            <a:avLst/>
          </a:prstGeom>
          <a:noFill/>
        </p:spPr>
        <p:txBody>
          <a:bodyPr wrap="square" anchor="ctr" lIns="0" tIns="0" rIns="0" bIns="0">
            <a:spAutoFit/>
          </a:bodyPr>
          <a:lstStyle/>
          <a:p>
            <a:pPr algn="l"/>
            <a:r>
              <a:rPr sz="1620" b="1">
                <a:solidFill>
                  <a:srgbClr val="A8306E"/>
                </a:solidFill>
                <a:latin typeface="Bebas Neue"/>
              </a:rPr>
              <a:t>So</a:t>
            </a:r>
          </a:p>
          <a:p>
            <a:pPr algn="l">
              <a:spcBef>
                <a:spcPts val="500"/>
              </a:spcBef>
            </a:pPr>
            <a:r>
              <a:rPr sz="1350" b="0">
                <a:solidFill>
                  <a:srgbClr val="111111"/>
                </a:solidFill>
                <a:latin typeface="Inter"/>
              </a:rPr>
              <a:t>So, no need to decrease α over time</a:t>
            </a:r>
          </a:p>
        </p:txBody>
      </p:sp>
      <p:sp>
        <p:nvSpPr>
          <p:cNvPr id="19" name="Rounded Rectangle 18"/>
          <p:cNvSpPr/>
          <p:nvPr/>
        </p:nvSpPr>
        <p:spPr>
          <a:xfrm>
            <a:off x="457200" y="3392424"/>
            <a:ext cx="3502152"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4110228"/>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1" name="TextBox 20"/>
          <p:cNvSpPr txBox="1"/>
          <p:nvPr/>
        </p:nvSpPr>
        <p:spPr>
          <a:xfrm>
            <a:off x="1280160" y="3593592"/>
            <a:ext cx="2478024" cy="1490472"/>
          </a:xfrm>
          <a:prstGeom prst="rect">
            <a:avLst/>
          </a:prstGeom>
          <a:noFill/>
        </p:spPr>
        <p:txBody>
          <a:bodyPr wrap="square" anchor="ctr" lIns="0" tIns="0" rIns="0" bIns="0">
            <a:spAutoFit/>
          </a:bodyPr>
          <a:lstStyle/>
          <a:p>
            <a:pPr algn="l"/>
            <a:r>
              <a:rPr sz="1620" b="1">
                <a:solidFill>
                  <a:srgbClr val="A8306E"/>
                </a:solidFill>
                <a:latin typeface="Bebas Neue"/>
              </a:rPr>
              <a:t>As the algorithm approaches</a:t>
            </a:r>
          </a:p>
          <a:p>
            <a:pPr algn="l">
              <a:spcBef>
                <a:spcPts val="500"/>
              </a:spcBef>
            </a:pPr>
            <a:r>
              <a:rPr sz="1350" b="0">
                <a:solidFill>
                  <a:srgbClr val="111111"/>
                </a:solidFill>
                <a:latin typeface="Inter"/>
              </a:rPr>
              <a:t>the minimum, the gradient naturally shrinks</a:t>
            </a:r>
          </a:p>
        </p:txBody>
      </p:sp>
      <p:sp>
        <p:nvSpPr>
          <p:cNvPr id="22" name="Right Arrow 21"/>
          <p:cNvSpPr/>
          <p:nvPr/>
        </p:nvSpPr>
        <p:spPr>
          <a:xfrm>
            <a:off x="4014215" y="4183380"/>
            <a:ext cx="274320" cy="310896"/>
          </a:xfrm>
          <a:prstGeom prst="rightArrow">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3392424"/>
            <a:ext cx="3502152"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44568" y="4110228"/>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5" name="TextBox 24"/>
          <p:cNvSpPr txBox="1"/>
          <p:nvPr/>
        </p:nvSpPr>
        <p:spPr>
          <a:xfrm>
            <a:off x="5166359" y="3593592"/>
            <a:ext cx="2478024" cy="1490472"/>
          </a:xfrm>
          <a:prstGeom prst="rect">
            <a:avLst/>
          </a:prstGeom>
          <a:noFill/>
        </p:spPr>
        <p:txBody>
          <a:bodyPr wrap="square" anchor="ctr" lIns="0" tIns="0" rIns="0" bIns="0">
            <a:spAutoFit/>
          </a:bodyPr>
          <a:lstStyle/>
          <a:p>
            <a:pPr algn="l"/>
            <a:r>
              <a:rPr sz="1620" b="1">
                <a:solidFill>
                  <a:srgbClr val="A8306E"/>
                </a:solidFill>
                <a:latin typeface="Bebas Neue"/>
              </a:rPr>
              <a:t>This causes gradient descent</a:t>
            </a:r>
          </a:p>
          <a:p>
            <a:pPr algn="l">
              <a:spcBef>
                <a:spcPts val="500"/>
              </a:spcBef>
            </a:pPr>
            <a:r>
              <a:rPr sz="1350" b="0">
                <a:solidFill>
                  <a:srgbClr val="111111"/>
                </a:solidFill>
                <a:latin typeface="Inter"/>
              </a:rPr>
              <a:t>to automatically take smaller steps without needing to decrease alpha over time</a:t>
            </a:r>
          </a:p>
        </p:txBody>
      </p:sp>
      <p:sp>
        <p:nvSpPr>
          <p:cNvPr id="26" name="Right Arrow 25"/>
          <p:cNvSpPr/>
          <p:nvPr/>
        </p:nvSpPr>
        <p:spPr>
          <a:xfrm>
            <a:off x="7900416" y="4183380"/>
            <a:ext cx="274320" cy="310896"/>
          </a:xfrm>
          <a:prstGeom prst="rightArrow">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0" y="3392424"/>
            <a:ext cx="3502152" cy="1892808"/>
          </a:xfrm>
          <a:prstGeom prst="roundRect">
            <a:avLst>
              <a:gd name="adj" fmla="val 7439"/>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30768" y="4110228"/>
            <a:ext cx="457200" cy="457200"/>
          </a:xfrm>
          <a:prstGeom prst="ellipse">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9" name="TextBox 28"/>
          <p:cNvSpPr txBox="1"/>
          <p:nvPr/>
        </p:nvSpPr>
        <p:spPr>
          <a:xfrm>
            <a:off x="9052560" y="3593592"/>
            <a:ext cx="2478024" cy="1490472"/>
          </a:xfrm>
          <a:prstGeom prst="rect">
            <a:avLst/>
          </a:prstGeom>
          <a:noFill/>
        </p:spPr>
        <p:txBody>
          <a:bodyPr wrap="square" anchor="ctr" lIns="0" tIns="0" rIns="0" bIns="0">
            <a:spAutoFit/>
          </a:bodyPr>
          <a:lstStyle/>
          <a:p>
            <a:pPr algn="l"/>
            <a:r>
              <a:rPr sz="1620" b="1">
                <a:solidFill>
                  <a:srgbClr val="A8306E"/>
                </a:solidFill>
                <a:latin typeface="Bebas Neue"/>
              </a:rPr>
              <a:t>Example</a:t>
            </a:r>
          </a:p>
          <a:p>
            <a:pPr algn="l">
              <a:spcBef>
                <a:spcPts val="500"/>
              </a:spcBef>
            </a:pPr>
            <a:r>
              <a:rPr sz="1350" b="0">
                <a:solidFill>
                  <a:srgbClr val="111111"/>
                </a:solidFill>
                <a:latin typeface="Inter"/>
              </a:rPr>
              <a:t>Example: Rolling a ball into a bowl slows down automatically as it nears the bottom</a:t>
            </a:r>
          </a:p>
        </p:txBody>
      </p:sp>
      <p:sp>
        <p:nvSpPr>
          <p:cNvPr id="30" name="Rounded Rectangle 29"/>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A8306E"/>
                </a:solidFill>
                <a:latin typeface="Bebas Neue"/>
              </a:rPr>
              <a:t>Key takeaway:  </a:t>
            </a:r>
            <a:r>
              <a:rPr sz="1300" b="0">
                <a:solidFill>
                  <a:srgbClr val="111111"/>
                </a:solidFill>
                <a:latin typeface="Inter"/>
              </a:rPr>
              <a:t>One trigger sets off a chain of 6 effects.</a:t>
            </a:r>
          </a:p>
          <a:p>
            <a:pPr algn="l"/>
            <a:r>
              <a:rPr b="1" sz="1300">
                <a:solidFill>
                  <a:srgbClr val="A8306E"/>
                </a:solidFill>
                <a:latin typeface="Bebas Neue"/>
              </a:rPr>
              <a:t>Key terms:  </a:t>
            </a:r>
            <a:r>
              <a:rPr sz="1300" b="0">
                <a:solidFill>
                  <a:srgbClr val="111111"/>
                </a:solidFill>
                <a:latin typeface="Inter"/>
              </a:rPr>
              <a:t>Local minimum — The lowest point in a local neighborhood of the cost function.  ·  Fixed learning rate — A constant step-size multiplier that does not change manually over time.</a:t>
            </a:r>
          </a:p>
        </p:txBody>
      </p:sp>
      <p:sp>
        <p:nvSpPr>
          <p:cNvPr id="31" name="Rectangle 30"/>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5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5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5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50"/>
                                        <p:tgtEl>
                                          <p:spTgt spid="30"/>
                                        </p:tgtEl>
                                      </p:cBhvr>
                                    </p:animEffect>
                                  </p:childTnLst>
                                </p:cTn>
                              </p:par>
                              <p:par>
                                <p:cTn id="73" presetID="10"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Regression analysis establishes functional relationships and supports data-driven decisions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66 / 69</a:t>
            </a:r>
          </a:p>
        </p:txBody>
      </p:sp>
      <p:sp>
        <p:nvSpPr>
          <p:cNvPr id="8" name="Rectangle 7"/>
          <p:cNvSpPr/>
          <p:nvPr/>
        </p:nvSpPr>
        <p:spPr>
          <a:xfrm>
            <a:off x="457200" y="1325880"/>
            <a:ext cx="73152" cy="68122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A8306E"/>
                </a:solidFill>
                <a:latin typeface="Bebas Neue"/>
              </a:rPr>
              <a:t>Predicts and forecasts future values based on historical data.</a:t>
            </a:r>
          </a:p>
          <a:p>
            <a:pPr algn="l">
              <a:spcBef>
                <a:spcPts val="400"/>
              </a:spcBef>
            </a:pPr>
            <a:r>
              <a:rPr sz="1400" b="0">
                <a:solidFill>
                  <a:srgbClr val="111111"/>
                </a:solidFill>
                <a:latin typeface="Inter"/>
              </a:rPr>
              <a:t>Measures the strength and direction of relationships between variables.</a:t>
            </a:r>
          </a:p>
        </p:txBody>
      </p:sp>
      <p:sp>
        <p:nvSpPr>
          <p:cNvPr id="10" name="Rounded Rectangle 9"/>
          <p:cNvSpPr/>
          <p:nvPr/>
        </p:nvSpPr>
        <p:spPr>
          <a:xfrm>
            <a:off x="457200" y="2272284"/>
            <a:ext cx="3624072" cy="1405890"/>
          </a:xfrm>
          <a:prstGeom prst="roundRect">
            <a:avLst>
              <a:gd name="adj" fmla="val 1001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36876"/>
            <a:ext cx="64008" cy="50292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33218"/>
            <a:ext cx="3221736" cy="1084021"/>
          </a:xfrm>
          <a:prstGeom prst="rect">
            <a:avLst/>
          </a:prstGeom>
          <a:noFill/>
        </p:spPr>
        <p:txBody>
          <a:bodyPr wrap="square" anchor="t" lIns="0" tIns="0" rIns="0" bIns="0">
            <a:spAutoFit/>
          </a:bodyPr>
          <a:lstStyle/>
          <a:p>
            <a:pPr algn="l"/>
            <a:r>
              <a:rPr sz="1250" b="1">
                <a:solidFill>
                  <a:srgbClr val="A8306E"/>
                </a:solidFill>
                <a:latin typeface="Bebas Neue"/>
              </a:rPr>
              <a:t>Establishes a functional relationship between one dependent variable</a:t>
            </a:r>
          </a:p>
          <a:p>
            <a:pPr algn="l" marL="256032" indent="-256032" lvl="0">
              <a:spcBef>
                <a:spcPts val="700"/>
              </a:spcBef>
              <a:buClr>
                <a:srgbClr val="45F771"/>
              </a:buClr>
              <a:buFont typeface="Arial"/>
              <a:buChar char="•"/>
            </a:pPr>
            <a:r>
              <a:rPr sz="1000" b="0">
                <a:solidFill>
                  <a:srgbClr val="111111"/>
                </a:solidFill>
                <a:latin typeface="Inter"/>
              </a:rPr>
              <a:t>and one or more independent variables.</a:t>
            </a:r>
          </a:p>
        </p:txBody>
      </p:sp>
      <p:sp>
        <p:nvSpPr>
          <p:cNvPr id="13" name="Rounded Rectangle 12"/>
          <p:cNvSpPr/>
          <p:nvPr/>
        </p:nvSpPr>
        <p:spPr>
          <a:xfrm>
            <a:off x="4282440" y="2272284"/>
            <a:ext cx="3624072" cy="1405890"/>
          </a:xfrm>
          <a:prstGeom prst="roundRect">
            <a:avLst>
              <a:gd name="adj" fmla="val 1001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436876"/>
            <a:ext cx="64008" cy="50292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608" y="2433218"/>
            <a:ext cx="3221736" cy="1084021"/>
          </a:xfrm>
          <a:prstGeom prst="rect">
            <a:avLst/>
          </a:prstGeom>
          <a:noFill/>
        </p:spPr>
        <p:txBody>
          <a:bodyPr wrap="square" anchor="t" lIns="0" tIns="0" rIns="0" bIns="0">
            <a:spAutoFit/>
          </a:bodyPr>
          <a:lstStyle/>
          <a:p>
            <a:pPr algn="l"/>
            <a:r>
              <a:rPr sz="1250" b="1">
                <a:solidFill>
                  <a:srgbClr val="A8306E"/>
                </a:solidFill>
                <a:latin typeface="Bebas Neue"/>
              </a:rPr>
              <a:t>Identifies the effect of independent variables on the dependent variable</a:t>
            </a:r>
          </a:p>
          <a:p>
            <a:pPr algn="l" marL="256032" indent="-256032" lvl="0">
              <a:spcBef>
                <a:spcPts val="700"/>
              </a:spcBef>
              <a:buClr>
                <a:srgbClr val="45F771"/>
              </a:buClr>
              <a:buFont typeface="Arial"/>
              <a:buChar char="•"/>
            </a:pPr>
            <a:r>
              <a:rPr sz="1000" b="0">
                <a:solidFill>
                  <a:srgbClr val="111111"/>
                </a:solidFill>
                <a:latin typeface="Inter"/>
              </a:rPr>
              <a:t>Identifies significant factors influencing the target variable.</a:t>
            </a:r>
          </a:p>
        </p:txBody>
      </p:sp>
      <p:sp>
        <p:nvSpPr>
          <p:cNvPr id="16" name="Rounded Rectangle 15"/>
          <p:cNvSpPr/>
          <p:nvPr/>
        </p:nvSpPr>
        <p:spPr>
          <a:xfrm>
            <a:off x="8107680" y="2272284"/>
            <a:ext cx="3624072" cy="1405890"/>
          </a:xfrm>
          <a:prstGeom prst="roundRect">
            <a:avLst>
              <a:gd name="adj" fmla="val 1001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680" y="2436876"/>
            <a:ext cx="64008" cy="50292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2433218"/>
            <a:ext cx="3221736" cy="1084021"/>
          </a:xfrm>
          <a:prstGeom prst="rect">
            <a:avLst/>
          </a:prstGeom>
          <a:noFill/>
        </p:spPr>
        <p:txBody>
          <a:bodyPr wrap="square" anchor="t" lIns="0" tIns="0" rIns="0" bIns="0">
            <a:spAutoFit/>
          </a:bodyPr>
          <a:lstStyle/>
          <a:p>
            <a:pPr algn="l"/>
            <a:r>
              <a:rPr sz="1250" b="1">
                <a:solidFill>
                  <a:srgbClr val="A8306E"/>
                </a:solidFill>
                <a:latin typeface="Bebas Neue"/>
              </a:rPr>
              <a:t>Supports data-driven decision making in business, healthcare, finance,</a:t>
            </a:r>
          </a:p>
          <a:p>
            <a:pPr algn="l" marL="256032" indent="-256032" lvl="0">
              <a:spcBef>
                <a:spcPts val="700"/>
              </a:spcBef>
              <a:buClr>
                <a:srgbClr val="45F771"/>
              </a:buClr>
              <a:buFont typeface="Arial"/>
              <a:buChar char="•"/>
            </a:pPr>
            <a:r>
              <a:rPr sz="1000" b="0">
                <a:solidFill>
                  <a:srgbClr val="111111"/>
                </a:solidFill>
                <a:latin typeface="Inter"/>
              </a:rPr>
              <a:t>and engineering.</a:t>
            </a:r>
          </a:p>
        </p:txBody>
      </p:sp>
      <p:sp>
        <p:nvSpPr>
          <p:cNvPr id="19" name="Rounded Rectangle 18"/>
          <p:cNvSpPr/>
          <p:nvPr/>
        </p:nvSpPr>
        <p:spPr>
          <a:xfrm>
            <a:off x="457200" y="3879341"/>
            <a:ext cx="3624072" cy="1405890"/>
          </a:xfrm>
          <a:prstGeom prst="roundRect">
            <a:avLst>
              <a:gd name="adj" fmla="val 1001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043933"/>
            <a:ext cx="64008" cy="50292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040276"/>
            <a:ext cx="3221736" cy="1084021"/>
          </a:xfrm>
          <a:prstGeom prst="rect">
            <a:avLst/>
          </a:prstGeom>
          <a:noFill/>
        </p:spPr>
        <p:txBody>
          <a:bodyPr wrap="square" anchor="t" lIns="0" tIns="0" rIns="0" bIns="0">
            <a:spAutoFit/>
          </a:bodyPr>
          <a:lstStyle/>
          <a:p>
            <a:pPr algn="l"/>
            <a:r>
              <a:rPr sz="1250" b="1">
                <a:solidFill>
                  <a:srgbClr val="A8306E"/>
                </a:solidFill>
                <a:latin typeface="Bebas Neue"/>
              </a:rPr>
              <a:t>Improves planning and resource allocation by identifying trends and</a:t>
            </a:r>
          </a:p>
          <a:p>
            <a:pPr algn="l" marL="256032" indent="-256032" lvl="0">
              <a:spcBef>
                <a:spcPts val="700"/>
              </a:spcBef>
              <a:buClr>
                <a:srgbClr val="45F771"/>
              </a:buClr>
              <a:buFont typeface="Arial"/>
              <a:buChar char="•"/>
            </a:pPr>
            <a:r>
              <a:rPr sz="1000" b="0">
                <a:solidFill>
                  <a:srgbClr val="111111"/>
                </a:solidFill>
                <a:latin typeface="Inter"/>
              </a:rPr>
              <a:t>patterns.</a:t>
            </a:r>
          </a:p>
        </p:txBody>
      </p:sp>
      <p:sp>
        <p:nvSpPr>
          <p:cNvPr id="22" name="Rounded Rectangle 21"/>
          <p:cNvSpPr/>
          <p:nvPr/>
        </p:nvSpPr>
        <p:spPr>
          <a:xfrm>
            <a:off x="4282440" y="3879341"/>
            <a:ext cx="3624072" cy="1405890"/>
          </a:xfrm>
          <a:prstGeom prst="roundRect">
            <a:avLst>
              <a:gd name="adj" fmla="val 1001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82440" y="4043933"/>
            <a:ext cx="64008" cy="50292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3608" y="4040276"/>
            <a:ext cx="3221736" cy="1084021"/>
          </a:xfrm>
          <a:prstGeom prst="rect">
            <a:avLst/>
          </a:prstGeom>
          <a:noFill/>
        </p:spPr>
        <p:txBody>
          <a:bodyPr wrap="square" anchor="t" lIns="0" tIns="0" rIns="0" bIns="0">
            <a:spAutoFit/>
          </a:bodyPr>
          <a:lstStyle/>
          <a:p>
            <a:pPr algn="l"/>
            <a:r>
              <a:rPr sz="1250" b="1">
                <a:solidFill>
                  <a:srgbClr val="A8306E"/>
                </a:solidFill>
                <a:latin typeface="Bebas Neue"/>
              </a:rPr>
              <a:t>Helps evaluate model performance by analysing prediction errors (e.g.,</a:t>
            </a:r>
          </a:p>
          <a:p>
            <a:pPr algn="l" marL="256032" indent="-256032" lvl="0">
              <a:spcBef>
                <a:spcPts val="700"/>
              </a:spcBef>
              <a:buClr>
                <a:srgbClr val="45F771"/>
              </a:buClr>
              <a:buFont typeface="Arial"/>
              <a:buChar char="•"/>
            </a:pPr>
            <a:r>
              <a:rPr sz="1000" b="0">
                <a:solidFill>
                  <a:srgbClr val="111111"/>
                </a:solidFill>
                <a:latin typeface="Inter"/>
              </a:rPr>
              <a:t>MSE, RMSE, MAE) and improving the model.</a:t>
            </a:r>
          </a:p>
        </p:txBody>
      </p:sp>
      <p:sp>
        <p:nvSpPr>
          <p:cNvPr id="25" name="Rounded Rectangle 24"/>
          <p:cNvSpPr/>
          <p:nvPr/>
        </p:nvSpPr>
        <p:spPr>
          <a:xfrm>
            <a:off x="8107680" y="3879341"/>
            <a:ext cx="3624072" cy="1405890"/>
          </a:xfrm>
          <a:prstGeom prst="roundRect">
            <a:avLst>
              <a:gd name="adj" fmla="val 1001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7680" y="4043933"/>
            <a:ext cx="64008" cy="502920"/>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8848" y="4040276"/>
            <a:ext cx="3221736" cy="1084021"/>
          </a:xfrm>
          <a:prstGeom prst="rect">
            <a:avLst/>
          </a:prstGeom>
          <a:noFill/>
        </p:spPr>
        <p:txBody>
          <a:bodyPr wrap="square" anchor="t" lIns="0" tIns="0" rIns="0" bIns="0">
            <a:spAutoFit/>
          </a:bodyPr>
          <a:lstStyle/>
          <a:p>
            <a:pPr algn="l"/>
            <a:r>
              <a:rPr sz="1250" b="1">
                <a:solidFill>
                  <a:srgbClr val="A8306E"/>
                </a:solidFill>
                <a:latin typeface="Bebas Neue"/>
              </a:rPr>
              <a:t>Discovers trends and opportunities for business growth and</a:t>
            </a:r>
          </a:p>
          <a:p>
            <a:pPr algn="l" marL="256032" indent="-256032" lvl="0">
              <a:spcBef>
                <a:spcPts val="700"/>
              </a:spcBef>
              <a:buClr>
                <a:srgbClr val="45F771"/>
              </a:buClr>
              <a:buFont typeface="Arial"/>
              <a:buChar char="•"/>
            </a:pPr>
            <a:r>
              <a:rPr sz="1000" b="0">
                <a:solidFill>
                  <a:srgbClr val="111111"/>
                </a:solidFill>
                <a:latin typeface="Inter"/>
              </a:rPr>
              <a:t>optimisation.</a:t>
            </a:r>
          </a:p>
        </p:txBody>
      </p:sp>
      <p:sp>
        <p:nvSpPr>
          <p:cNvPr id="28" name="Rounded Rectangle 27"/>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A8306E"/>
                </a:solidFill>
                <a:latin typeface="Bebas Neue"/>
              </a:rPr>
              <a:t>Key terms:  </a:t>
            </a:r>
            <a:r>
              <a:rPr sz="1550" b="1">
                <a:solidFill>
                  <a:srgbClr val="111111"/>
                </a:solidFill>
                <a:latin typeface="Bebas Neue"/>
              </a:rPr>
              <a:t>Dependent variable — The target outcome variable predicted or explained by the model.  ·  Independent variables — The predictor factors used to analyze effects on the dependent variable.</a:t>
            </a:r>
          </a:p>
        </p:txBody>
      </p:sp>
      <p:sp>
        <p:nvSpPr>
          <p:cNvPr id="29" name="Rectangle 28"/>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par>
                                <p:cTn id="36" presetID="10"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450"/>
                                        <p:tgtEl>
                                          <p:spTgt spid="19"/>
                                        </p:tgtEl>
                                      </p:cBhvr>
                                    </p:animEffect>
                                  </p:childTnLst>
                                </p:cTn>
                              </p:par>
                              <p:par>
                                <p:cTn id="39" presetID="10"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50"/>
                                        <p:tgtEl>
                                          <p:spTgt spid="20"/>
                                        </p:tgtEl>
                                      </p:cBhvr>
                                    </p:animEffect>
                                  </p:childTnLst>
                                </p:cTn>
                              </p:par>
                              <p:par>
                                <p:cTn id="42" presetID="10"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5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5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5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50"/>
                                        <p:tgtEl>
                                          <p:spTgt spid="2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50"/>
                                        <p:tgtEl>
                                          <p:spTgt spid="25"/>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50"/>
                                        <p:tgtEl>
                                          <p:spTgt spid="26"/>
                                        </p:tgtEl>
                                      </p:cBhvr>
                                    </p:animEffect>
                                  </p:childTnLst>
                                </p:cTn>
                              </p:par>
                              <p:par>
                                <p:cTn id="64" presetID="10" presetClass="entr" presetSubtype="0" fill="hold"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5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50"/>
                                        <p:tgtEl>
                                          <p:spTgt spid="28"/>
                                        </p:tgtEl>
                                      </p:cBhvr>
                                    </p:animEffect>
                                  </p:childTnLst>
                                </p:cTn>
                              </p:par>
                              <p:par>
                                <p:cTn id="72" presetID="10" presetClass="entr" presetSubtype="0"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45F771"/>
                </a:solidFill>
              </a:defRPr>
            </a:pPr>
            <a:r>
              <a:rPr>
                <a:latin typeface="Bebas Neue"/>
              </a:rPr>
              <a:t>Regression analysis assumes linear relationships and remains sensitive to outliers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67 / 69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833715"/>
          </a:xfrm>
          <a:prstGeom prst="roundRect">
            <a:avLst>
              <a:gd name="adj" fmla="val 1689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3184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45227"/>
            <a:ext cx="340156" cy="340156"/>
          </a:xfrm>
          <a:prstGeom prst="rect">
            <a:avLst/>
          </a:prstGeom>
        </p:spPr>
      </p:pic>
      <p:sp>
        <p:nvSpPr>
          <p:cNvPr id="11" name="TextBox 10"/>
          <p:cNvSpPr txBox="1"/>
          <p:nvPr/>
        </p:nvSpPr>
        <p:spPr>
          <a:xfrm>
            <a:off x="1408175" y="1371600"/>
            <a:ext cx="2622804" cy="687411"/>
          </a:xfrm>
          <a:prstGeom prst="rect">
            <a:avLst/>
          </a:prstGeom>
          <a:noFill/>
        </p:spPr>
        <p:txBody>
          <a:bodyPr wrap="square" anchor="ctr" lIns="0" tIns="0" rIns="0" bIns="0">
            <a:spAutoFit/>
          </a:bodyPr>
          <a:lstStyle/>
          <a:p>
            <a:pPr algn="l"/>
            <a:r>
              <a:rPr sz="1400" b="0">
                <a:solidFill>
                  <a:srgbClr val="111111"/>
                </a:solidFill>
                <a:latin typeface="Inter"/>
              </a:rPr>
              <a:t>Assumes a linear and stable relationship between variables</a:t>
            </a:r>
          </a:p>
        </p:txBody>
      </p:sp>
      <p:sp>
        <p:nvSpPr>
          <p:cNvPr id="12" name="Rounded Rectangle 11"/>
          <p:cNvSpPr/>
          <p:nvPr/>
        </p:nvSpPr>
        <p:spPr>
          <a:xfrm>
            <a:off x="4433315" y="1298448"/>
            <a:ext cx="3774947" cy="833715"/>
          </a:xfrm>
          <a:prstGeom prst="roundRect">
            <a:avLst>
              <a:gd name="adj" fmla="val 1689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43184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545227"/>
            <a:ext cx="340156" cy="340156"/>
          </a:xfrm>
          <a:prstGeom prst="rect">
            <a:avLst/>
          </a:prstGeom>
        </p:spPr>
      </p:pic>
      <p:sp>
        <p:nvSpPr>
          <p:cNvPr id="15" name="TextBox 14"/>
          <p:cNvSpPr txBox="1"/>
          <p:nvPr/>
        </p:nvSpPr>
        <p:spPr>
          <a:xfrm>
            <a:off x="5384291" y="1371600"/>
            <a:ext cx="2622804" cy="687411"/>
          </a:xfrm>
          <a:prstGeom prst="rect">
            <a:avLst/>
          </a:prstGeom>
          <a:noFill/>
        </p:spPr>
        <p:txBody>
          <a:bodyPr wrap="square" anchor="ctr" lIns="0" tIns="0" rIns="0" bIns="0">
            <a:spAutoFit/>
          </a:bodyPr>
          <a:lstStyle/>
          <a:p>
            <a:pPr algn="l"/>
            <a:r>
              <a:rPr sz="1400" b="0">
                <a:solidFill>
                  <a:srgbClr val="111111"/>
                </a:solidFill>
                <a:latin typeface="Inter"/>
              </a:rPr>
              <a:t>Sensitive to outliers and noisy data</a:t>
            </a:r>
          </a:p>
        </p:txBody>
      </p:sp>
      <p:sp>
        <p:nvSpPr>
          <p:cNvPr id="16" name="Rounded Rectangle 15"/>
          <p:cNvSpPr/>
          <p:nvPr/>
        </p:nvSpPr>
        <p:spPr>
          <a:xfrm>
            <a:off x="457200" y="2333331"/>
            <a:ext cx="3774947" cy="833715"/>
          </a:xfrm>
          <a:prstGeom prst="roundRect">
            <a:avLst>
              <a:gd name="adj" fmla="val 1689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466725"/>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580111"/>
            <a:ext cx="340156" cy="340156"/>
          </a:xfrm>
          <a:prstGeom prst="rect">
            <a:avLst/>
          </a:prstGeom>
        </p:spPr>
      </p:pic>
      <p:sp>
        <p:nvSpPr>
          <p:cNvPr id="19" name="TextBox 18"/>
          <p:cNvSpPr txBox="1"/>
          <p:nvPr/>
        </p:nvSpPr>
        <p:spPr>
          <a:xfrm>
            <a:off x="1408175" y="2406483"/>
            <a:ext cx="2622804" cy="687411"/>
          </a:xfrm>
          <a:prstGeom prst="rect">
            <a:avLst/>
          </a:prstGeom>
          <a:noFill/>
        </p:spPr>
        <p:txBody>
          <a:bodyPr wrap="square" anchor="ctr" lIns="0" tIns="0" rIns="0" bIns="0">
            <a:spAutoFit/>
          </a:bodyPr>
          <a:lstStyle/>
          <a:p>
            <a:pPr algn="l"/>
            <a:r>
              <a:rPr sz="1400" b="0">
                <a:solidFill>
                  <a:srgbClr val="111111"/>
                </a:solidFill>
                <a:latin typeface="Inter"/>
              </a:rPr>
              <a:t>Requires statistical assumptions to be satisfied</a:t>
            </a:r>
          </a:p>
        </p:txBody>
      </p:sp>
      <p:sp>
        <p:nvSpPr>
          <p:cNvPr id="20" name="Rounded Rectangle 19"/>
          <p:cNvSpPr/>
          <p:nvPr/>
        </p:nvSpPr>
        <p:spPr>
          <a:xfrm>
            <a:off x="4433315" y="2333331"/>
            <a:ext cx="3774947" cy="833715"/>
          </a:xfrm>
          <a:prstGeom prst="roundRect">
            <a:avLst>
              <a:gd name="adj" fmla="val 1689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466725"/>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580111"/>
            <a:ext cx="340156" cy="340156"/>
          </a:xfrm>
          <a:prstGeom prst="rect">
            <a:avLst/>
          </a:prstGeom>
        </p:spPr>
      </p:pic>
      <p:sp>
        <p:nvSpPr>
          <p:cNvPr id="23" name="TextBox 22"/>
          <p:cNvSpPr txBox="1"/>
          <p:nvPr/>
        </p:nvSpPr>
        <p:spPr>
          <a:xfrm>
            <a:off x="5384291" y="2406483"/>
            <a:ext cx="2622804" cy="687411"/>
          </a:xfrm>
          <a:prstGeom prst="rect">
            <a:avLst/>
          </a:prstGeom>
          <a:noFill/>
        </p:spPr>
        <p:txBody>
          <a:bodyPr wrap="square" anchor="ctr" lIns="0" tIns="0" rIns="0" bIns="0">
            <a:spAutoFit/>
          </a:bodyPr>
          <a:lstStyle/>
          <a:p>
            <a:pPr algn="l"/>
            <a:r>
              <a:rPr sz="1400" b="0">
                <a:solidFill>
                  <a:srgbClr val="111111"/>
                </a:solidFill>
                <a:latin typeface="Inter"/>
              </a:rPr>
              <a:t>Does not imply causation</a:t>
            </a:r>
          </a:p>
        </p:txBody>
      </p:sp>
      <p:sp>
        <p:nvSpPr>
          <p:cNvPr id="24" name="Rounded Rectangle 23"/>
          <p:cNvSpPr/>
          <p:nvPr/>
        </p:nvSpPr>
        <p:spPr>
          <a:xfrm>
            <a:off x="457200" y="3368215"/>
            <a:ext cx="3774947" cy="833715"/>
          </a:xfrm>
          <a:prstGeom prst="roundRect">
            <a:avLst>
              <a:gd name="adj" fmla="val 1689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50160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614995"/>
            <a:ext cx="340156" cy="340156"/>
          </a:xfrm>
          <a:prstGeom prst="rect">
            <a:avLst/>
          </a:prstGeom>
        </p:spPr>
      </p:pic>
      <p:sp>
        <p:nvSpPr>
          <p:cNvPr id="27" name="TextBox 26"/>
          <p:cNvSpPr txBox="1"/>
          <p:nvPr/>
        </p:nvSpPr>
        <p:spPr>
          <a:xfrm>
            <a:off x="1408175" y="3441367"/>
            <a:ext cx="2622804" cy="687411"/>
          </a:xfrm>
          <a:prstGeom prst="rect">
            <a:avLst/>
          </a:prstGeom>
          <a:noFill/>
        </p:spPr>
        <p:txBody>
          <a:bodyPr wrap="square" anchor="ctr" lIns="0" tIns="0" rIns="0" bIns="0">
            <a:spAutoFit/>
          </a:bodyPr>
          <a:lstStyle/>
          <a:p>
            <a:pPr algn="l"/>
            <a:r>
              <a:rPr sz="1400" b="0">
                <a:solidFill>
                  <a:srgbClr val="111111"/>
                </a:solidFill>
                <a:latin typeface="Inter"/>
              </a:rPr>
              <a:t>Standard linear regression cannot predict categorical outcomes</a:t>
            </a:r>
          </a:p>
        </p:txBody>
      </p:sp>
      <p:sp>
        <p:nvSpPr>
          <p:cNvPr id="28" name="Rounded Rectangle 27"/>
          <p:cNvSpPr/>
          <p:nvPr/>
        </p:nvSpPr>
        <p:spPr>
          <a:xfrm>
            <a:off x="4433315" y="3368215"/>
            <a:ext cx="3774947" cy="833715"/>
          </a:xfrm>
          <a:prstGeom prst="roundRect">
            <a:avLst>
              <a:gd name="adj" fmla="val 1689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34483" y="350160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47869" y="3614995"/>
            <a:ext cx="340156" cy="340156"/>
          </a:xfrm>
          <a:prstGeom prst="rect">
            <a:avLst/>
          </a:prstGeom>
        </p:spPr>
      </p:pic>
      <p:sp>
        <p:nvSpPr>
          <p:cNvPr id="31" name="TextBox 30"/>
          <p:cNvSpPr txBox="1"/>
          <p:nvPr/>
        </p:nvSpPr>
        <p:spPr>
          <a:xfrm>
            <a:off x="5384291" y="3441367"/>
            <a:ext cx="2622804" cy="687411"/>
          </a:xfrm>
          <a:prstGeom prst="rect">
            <a:avLst/>
          </a:prstGeom>
          <a:noFill/>
        </p:spPr>
        <p:txBody>
          <a:bodyPr wrap="square" anchor="ctr" lIns="0" tIns="0" rIns="0" bIns="0">
            <a:spAutoFit/>
          </a:bodyPr>
          <a:lstStyle/>
          <a:p>
            <a:pPr algn="l"/>
            <a:r>
              <a:rPr sz="1400" b="0">
                <a:solidFill>
                  <a:srgbClr val="111111"/>
                </a:solidFill>
                <a:latin typeface="Inter"/>
              </a:rPr>
              <a:t>Prediction accuracy depends on data quality and feature selection</a:t>
            </a:r>
          </a:p>
        </p:txBody>
      </p:sp>
      <p:sp>
        <p:nvSpPr>
          <p:cNvPr id="32" name="Rounded Rectangle 31"/>
          <p:cNvSpPr/>
          <p:nvPr/>
        </p:nvSpPr>
        <p:spPr>
          <a:xfrm>
            <a:off x="457200" y="4403099"/>
            <a:ext cx="7751064" cy="88213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403099"/>
            <a:ext cx="73152" cy="88213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476251"/>
            <a:ext cx="7356043" cy="73582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Example: A single extreme data point drastically skews the fitted regression line.</a:t>
            </a:r>
          </a:p>
        </p:txBody>
      </p:sp>
      <p:sp>
        <p:nvSpPr>
          <p:cNvPr id="35" name="Rounded Rectangle 34"/>
          <p:cNvSpPr/>
          <p:nvPr/>
        </p:nvSpPr>
        <p:spPr>
          <a:xfrm>
            <a:off x="457200" y="5486400"/>
            <a:ext cx="11274552" cy="914400"/>
          </a:xfrm>
          <a:prstGeom prst="roundRect">
            <a:avLst>
              <a:gd name="adj" fmla="val 20000"/>
            </a:avLst>
          </a:prstGeom>
          <a:solidFill>
            <a:srgbClr val="D6FDDF"/>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A8306E"/>
                </a:solidFill>
                <a:latin typeface="Bebas Neue"/>
              </a:rPr>
              <a:t>Key terms:  </a:t>
            </a:r>
            <a:r>
              <a:rPr sz="1500" b="1">
                <a:solidFill>
                  <a:srgbClr val="111111"/>
                </a:solidFill>
                <a:latin typeface="Bebas Neue"/>
              </a:rPr>
              <a:t>Regression — supervised machine learning technique which is used to predict continuous values  ·  Outliers — Extreme data points that significantly differ from other observations.  ·  Causation — Indication that one event is the direct result of the occurrence of another.</a:t>
            </a:r>
          </a:p>
        </p:txBody>
      </p:sp>
      <p:sp>
        <p:nvSpPr>
          <p:cNvPr id="36" name="Rectangle 35"/>
          <p:cNvSpPr/>
          <p:nvPr/>
        </p:nvSpPr>
        <p:spPr>
          <a:xfrm>
            <a:off x="457200" y="5614416"/>
            <a:ext cx="82296" cy="658368"/>
          </a:xfrm>
          <a:prstGeom prst="rect">
            <a:avLst/>
          </a:prstGeom>
          <a:solidFill>
            <a:srgbClr val="45F7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Glossary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68 / 69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1124712"/>
          </a:xfrm>
          <a:prstGeom prst="roundRect">
            <a:avLst>
              <a:gd name="adj" fmla="val 1252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33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90725"/>
            <a:ext cx="340156" cy="340156"/>
          </a:xfrm>
          <a:prstGeom prst="rect">
            <a:avLst/>
          </a:prstGeom>
        </p:spPr>
      </p:pic>
      <p:sp>
        <p:nvSpPr>
          <p:cNvPr id="11" name="TextBox 10"/>
          <p:cNvSpPr txBox="1"/>
          <p:nvPr/>
        </p:nvSpPr>
        <p:spPr>
          <a:xfrm>
            <a:off x="1408175" y="1371600"/>
            <a:ext cx="6538874" cy="978408"/>
          </a:xfrm>
          <a:prstGeom prst="rect">
            <a:avLst/>
          </a:prstGeom>
          <a:noFill/>
        </p:spPr>
        <p:txBody>
          <a:bodyPr wrap="square" anchor="ctr" lIns="0" tIns="0" rIns="0" bIns="0">
            <a:spAutoFit/>
          </a:bodyPr>
          <a:lstStyle/>
          <a:p>
            <a:pPr algn="l"/>
            <a:r>
              <a:rPr sz="2100" b="1">
                <a:solidFill>
                  <a:srgbClr val="A8306E"/>
                </a:solidFill>
                <a:latin typeface="Bebas Neue"/>
              </a:rPr>
              <a:t>Regression</a:t>
            </a:r>
          </a:p>
          <a:p>
            <a:pPr algn="l">
              <a:spcBef>
                <a:spcPts val="500"/>
              </a:spcBef>
            </a:pPr>
            <a:r>
              <a:rPr sz="1750" b="0">
                <a:solidFill>
                  <a:srgbClr val="111111"/>
                </a:solidFill>
                <a:latin typeface="Inter"/>
              </a:rPr>
              <a:t>supervised machine learning technique which is used to predict continuous values</a:t>
            </a:r>
          </a:p>
        </p:txBody>
      </p:sp>
      <p:sp>
        <p:nvSpPr>
          <p:cNvPr id="12" name="Rounded Rectangle 11"/>
          <p:cNvSpPr/>
          <p:nvPr/>
        </p:nvSpPr>
        <p:spPr>
          <a:xfrm>
            <a:off x="457200" y="2624328"/>
            <a:ext cx="7691018" cy="1124712"/>
          </a:xfrm>
          <a:prstGeom prst="roundRect">
            <a:avLst>
              <a:gd name="adj" fmla="val 1252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90322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016605"/>
            <a:ext cx="340156" cy="340156"/>
          </a:xfrm>
          <a:prstGeom prst="rect">
            <a:avLst/>
          </a:prstGeom>
        </p:spPr>
      </p:pic>
      <p:sp>
        <p:nvSpPr>
          <p:cNvPr id="15" name="TextBox 14"/>
          <p:cNvSpPr txBox="1"/>
          <p:nvPr/>
        </p:nvSpPr>
        <p:spPr>
          <a:xfrm>
            <a:off x="1408175" y="2697480"/>
            <a:ext cx="6538874" cy="978408"/>
          </a:xfrm>
          <a:prstGeom prst="rect">
            <a:avLst/>
          </a:prstGeom>
          <a:noFill/>
        </p:spPr>
        <p:txBody>
          <a:bodyPr wrap="square" anchor="ctr" lIns="0" tIns="0" rIns="0" bIns="0">
            <a:spAutoFit/>
          </a:bodyPr>
          <a:lstStyle/>
          <a:p>
            <a:pPr algn="l"/>
            <a:r>
              <a:rPr sz="2140" b="1">
                <a:solidFill>
                  <a:srgbClr val="A8306E"/>
                </a:solidFill>
                <a:latin typeface="Bebas Neue"/>
              </a:rPr>
              <a:t>Sgd</a:t>
            </a:r>
          </a:p>
          <a:p>
            <a:pPr algn="l">
              <a:spcBef>
                <a:spcPts val="500"/>
              </a:spcBef>
            </a:pPr>
            <a:r>
              <a:rPr sz="1780" b="0">
                <a:solidFill>
                  <a:srgbClr val="111111"/>
                </a:solidFill>
                <a:latin typeface="Inter"/>
              </a:rPr>
              <a:t>Stochastic Gradient Descent</a:t>
            </a:r>
          </a:p>
        </p:txBody>
      </p:sp>
      <p:sp>
        <p:nvSpPr>
          <p:cNvPr id="16" name="Rounded Rectangle 15"/>
          <p:cNvSpPr/>
          <p:nvPr/>
        </p:nvSpPr>
        <p:spPr>
          <a:xfrm>
            <a:off x="457200" y="3950208"/>
            <a:ext cx="7691018" cy="1124712"/>
          </a:xfrm>
          <a:prstGeom prst="roundRect">
            <a:avLst>
              <a:gd name="adj" fmla="val 1252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229100"/>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342485"/>
            <a:ext cx="340156" cy="340156"/>
          </a:xfrm>
          <a:prstGeom prst="rect">
            <a:avLst/>
          </a:prstGeom>
        </p:spPr>
      </p:pic>
      <p:sp>
        <p:nvSpPr>
          <p:cNvPr id="19" name="TextBox 18"/>
          <p:cNvSpPr txBox="1"/>
          <p:nvPr/>
        </p:nvSpPr>
        <p:spPr>
          <a:xfrm>
            <a:off x="1408175" y="4023360"/>
            <a:ext cx="6538874" cy="978408"/>
          </a:xfrm>
          <a:prstGeom prst="rect">
            <a:avLst/>
          </a:prstGeom>
          <a:noFill/>
        </p:spPr>
        <p:txBody>
          <a:bodyPr wrap="square" anchor="ctr" lIns="0" tIns="0" rIns="0" bIns="0">
            <a:spAutoFit/>
          </a:bodyPr>
          <a:lstStyle/>
          <a:p>
            <a:pPr algn="l"/>
            <a:r>
              <a:rPr sz="1739" b="1">
                <a:solidFill>
                  <a:srgbClr val="A8306E"/>
                </a:solidFill>
                <a:latin typeface="Bebas Neue"/>
              </a:rPr>
              <a:t>Regression analysis</a:t>
            </a:r>
          </a:p>
          <a:p>
            <a:pPr algn="l">
              <a:spcBef>
                <a:spcPts val="500"/>
              </a:spcBef>
            </a:pPr>
            <a:r>
              <a:rPr sz="1450" b="0">
                <a:solidFill>
                  <a:srgbClr val="111111"/>
                </a:solidFill>
                <a:latin typeface="Inter"/>
              </a:rPr>
              <a:t>set of statistical methods used for the estimation of relationships between a dependent variable and one or more independent variables</a:t>
            </a:r>
          </a:p>
        </p:txBody>
      </p:sp>
      <p:sp>
        <p:nvSpPr>
          <p:cNvPr id="20" name="Rounded Rectangle 19"/>
          <p:cNvSpPr/>
          <p:nvPr/>
        </p:nvSpPr>
        <p:spPr>
          <a:xfrm>
            <a:off x="457200" y="5276088"/>
            <a:ext cx="7691018" cy="1124712"/>
          </a:xfrm>
          <a:prstGeom prst="roundRect">
            <a:avLst>
              <a:gd name="adj" fmla="val 12520"/>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55497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5668365"/>
            <a:ext cx="340156" cy="340156"/>
          </a:xfrm>
          <a:prstGeom prst="rect">
            <a:avLst/>
          </a:prstGeom>
        </p:spPr>
      </p:pic>
      <p:sp>
        <p:nvSpPr>
          <p:cNvPr id="23" name="TextBox 22"/>
          <p:cNvSpPr txBox="1"/>
          <p:nvPr/>
        </p:nvSpPr>
        <p:spPr>
          <a:xfrm>
            <a:off x="1408175" y="5349240"/>
            <a:ext cx="6538874" cy="978408"/>
          </a:xfrm>
          <a:prstGeom prst="rect">
            <a:avLst/>
          </a:prstGeom>
          <a:noFill/>
        </p:spPr>
        <p:txBody>
          <a:bodyPr wrap="square" anchor="ctr" lIns="0" tIns="0" rIns="0" bIns="0">
            <a:spAutoFit/>
          </a:bodyPr>
          <a:lstStyle/>
          <a:p>
            <a:pPr algn="l"/>
            <a:r>
              <a:rPr sz="2140" b="1">
                <a:solidFill>
                  <a:srgbClr val="A8306E"/>
                </a:solidFill>
                <a:latin typeface="Bebas Neue"/>
              </a:rPr>
              <a:t>Mbgd</a:t>
            </a:r>
          </a:p>
          <a:p>
            <a:pPr algn="l">
              <a:spcBef>
                <a:spcPts val="500"/>
              </a:spcBef>
            </a:pPr>
            <a:r>
              <a:rPr sz="1780" b="0">
                <a:solidFill>
                  <a:srgbClr val="111111"/>
                </a:solidFill>
                <a:latin typeface="Inter"/>
              </a:rPr>
              <a:t>Mini-Batch Gradient Descent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A8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45F771"/>
                </a:solidFill>
              </a:defRPr>
            </a:pPr>
            <a:r>
              <a:rPr>
                <a:latin typeface="Bebas Neue"/>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69 / 69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323725"/>
            <a:ext cx="7691018" cy="1188720"/>
          </a:xfrm>
          <a:prstGeom prst="roundRect">
            <a:avLst>
              <a:gd name="adj" fmla="val 1184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34621"/>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48007"/>
            <a:ext cx="340156" cy="340156"/>
          </a:xfrm>
          <a:prstGeom prst="rect">
            <a:avLst/>
          </a:prstGeom>
        </p:spPr>
      </p:pic>
      <p:sp>
        <p:nvSpPr>
          <p:cNvPr id="11" name="TextBox 10"/>
          <p:cNvSpPr txBox="1"/>
          <p:nvPr/>
        </p:nvSpPr>
        <p:spPr>
          <a:xfrm>
            <a:off x="1408175" y="1396877"/>
            <a:ext cx="6538874" cy="1042416"/>
          </a:xfrm>
          <a:prstGeom prst="rect">
            <a:avLst/>
          </a:prstGeom>
          <a:noFill/>
        </p:spPr>
        <p:txBody>
          <a:bodyPr wrap="square" anchor="ctr" lIns="0" tIns="0" rIns="0" bIns="0">
            <a:spAutoFit/>
          </a:bodyPr>
          <a:lstStyle/>
          <a:p>
            <a:pPr algn="l"/>
            <a:r>
              <a:rPr sz="2280" b="1">
                <a:solidFill>
                  <a:srgbClr val="A8306E"/>
                </a:solidFill>
                <a:latin typeface="Bebas Neue"/>
              </a:rPr>
              <a:t>Syllabus</a:t>
            </a:r>
          </a:p>
          <a:p>
            <a:pPr algn="l">
              <a:spcBef>
                <a:spcPts val="500"/>
              </a:spcBef>
            </a:pPr>
            <a:r>
              <a:rPr sz="1900" b="0">
                <a:solidFill>
                  <a:srgbClr val="111111"/>
                </a:solidFill>
                <a:latin typeface="Inter"/>
              </a:rPr>
              <a:t>Linear Regression</a:t>
            </a:r>
          </a:p>
        </p:txBody>
      </p:sp>
      <p:sp>
        <p:nvSpPr>
          <p:cNvPr id="12" name="Rounded Rectangle 11"/>
          <p:cNvSpPr/>
          <p:nvPr/>
        </p:nvSpPr>
        <p:spPr>
          <a:xfrm>
            <a:off x="457200" y="2713613"/>
            <a:ext cx="7691018" cy="1188720"/>
          </a:xfrm>
          <a:prstGeom prst="roundRect">
            <a:avLst>
              <a:gd name="adj" fmla="val 1184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024509"/>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137895"/>
            <a:ext cx="340156" cy="340156"/>
          </a:xfrm>
          <a:prstGeom prst="rect">
            <a:avLst/>
          </a:prstGeom>
        </p:spPr>
      </p:pic>
      <p:sp>
        <p:nvSpPr>
          <p:cNvPr id="15" name="TextBox 14"/>
          <p:cNvSpPr txBox="1"/>
          <p:nvPr/>
        </p:nvSpPr>
        <p:spPr>
          <a:xfrm>
            <a:off x="1408175" y="2786765"/>
            <a:ext cx="6538874" cy="1042416"/>
          </a:xfrm>
          <a:prstGeom prst="rect">
            <a:avLst/>
          </a:prstGeom>
          <a:noFill/>
        </p:spPr>
        <p:txBody>
          <a:bodyPr wrap="square" anchor="ctr" lIns="0" tIns="0" rIns="0" bIns="0">
            <a:spAutoFit/>
          </a:bodyPr>
          <a:lstStyle/>
          <a:p>
            <a:pPr algn="l"/>
            <a:r>
              <a:rPr sz="2280" b="1">
                <a:solidFill>
                  <a:srgbClr val="A8306E"/>
                </a:solidFill>
                <a:latin typeface="Bebas Neue"/>
              </a:rPr>
              <a:t>Linear Regression Model</a:t>
            </a:r>
          </a:p>
          <a:p>
            <a:pPr algn="l">
              <a:spcBef>
                <a:spcPts val="500"/>
              </a:spcBef>
            </a:pPr>
            <a:r>
              <a:rPr sz="1900" b="0">
                <a:solidFill>
                  <a:srgbClr val="111111"/>
                </a:solidFill>
                <a:latin typeface="Inter"/>
              </a:rPr>
              <a:t>Relationship Between Variables Is a Linear Function</a:t>
            </a:r>
          </a:p>
        </p:txBody>
      </p:sp>
      <p:sp>
        <p:nvSpPr>
          <p:cNvPr id="16" name="Rounded Rectangle 15"/>
          <p:cNvSpPr/>
          <p:nvPr/>
        </p:nvSpPr>
        <p:spPr>
          <a:xfrm>
            <a:off x="457200" y="4103501"/>
            <a:ext cx="7691018" cy="1188720"/>
          </a:xfrm>
          <a:prstGeom prst="roundRect">
            <a:avLst>
              <a:gd name="adj" fmla="val 11846"/>
            </a:avLst>
          </a:prstGeom>
          <a:solidFill>
            <a:srgbClr val="F5F6F8"/>
          </a:solidFill>
          <a:ln w="12700">
            <a:solidFill>
              <a:srgbClr val="E6C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414397"/>
            <a:ext cx="566928" cy="566928"/>
          </a:xfrm>
          <a:prstGeom prst="ellipse">
            <a:avLst/>
          </a:prstGeom>
          <a:solidFill>
            <a:srgbClr val="F2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527783"/>
            <a:ext cx="340156" cy="340156"/>
          </a:xfrm>
          <a:prstGeom prst="rect">
            <a:avLst/>
          </a:prstGeom>
        </p:spPr>
      </p:pic>
      <p:sp>
        <p:nvSpPr>
          <p:cNvPr id="19" name="TextBox 18"/>
          <p:cNvSpPr txBox="1"/>
          <p:nvPr/>
        </p:nvSpPr>
        <p:spPr>
          <a:xfrm>
            <a:off x="1408175" y="4176653"/>
            <a:ext cx="6538874" cy="1042416"/>
          </a:xfrm>
          <a:prstGeom prst="rect">
            <a:avLst/>
          </a:prstGeom>
          <a:noFill/>
        </p:spPr>
        <p:txBody>
          <a:bodyPr wrap="square" anchor="ctr" lIns="0" tIns="0" rIns="0" bIns="0">
            <a:spAutoFit/>
          </a:bodyPr>
          <a:lstStyle/>
          <a:p>
            <a:pPr algn="l"/>
            <a:r>
              <a:rPr sz="2280" b="1">
                <a:solidFill>
                  <a:srgbClr val="A8306E"/>
                </a:solidFill>
                <a:latin typeface="Bebas Neue"/>
              </a:rPr>
              <a:t>Gradient descent algorithm</a:t>
            </a:r>
          </a:p>
          <a:p>
            <a:pPr algn="l">
              <a:spcBef>
                <a:spcPts val="500"/>
              </a:spcBef>
            </a:pPr>
            <a:r>
              <a:rPr sz="1900" b="0">
                <a:solidFill>
                  <a:srgbClr val="111111"/>
                </a:solidFill>
                <a:latin typeface="Inter"/>
              </a:rPr>
              <a:t>Simultaneous update</a:t>
            </a:r>
          </a:p>
        </p:txBody>
      </p:sp>
      <p:sp>
        <p:nvSpPr>
          <p:cNvPr id="20" name="Rounded Rectangle 19"/>
          <p:cNvSpPr/>
          <p:nvPr/>
        </p:nvSpPr>
        <p:spPr>
          <a:xfrm>
            <a:off x="457200" y="5518667"/>
            <a:ext cx="7691018" cy="882132"/>
          </a:xfrm>
          <a:prstGeom prst="roundRect">
            <a:avLst>
              <a:gd name="adj" fmla="val 8000"/>
            </a:avLst>
          </a:prstGeom>
          <a:solidFill>
            <a:srgbClr val="F8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518667"/>
            <a:ext cx="73152" cy="882132"/>
          </a:xfrm>
          <a:prstGeom prst="rect">
            <a:avLst/>
          </a:prstGeom>
          <a:solidFill>
            <a:srgbClr val="45F7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5591819"/>
            <a:ext cx="7295997" cy="735828"/>
          </a:xfrm>
          <a:prstGeom prst="rect">
            <a:avLst/>
          </a:prstGeom>
          <a:noFill/>
        </p:spPr>
        <p:txBody>
          <a:bodyPr wrap="square" anchor="ctr" lIns="0" tIns="0" rIns="0" bIns="0">
            <a:spAutoFit/>
          </a:bodyPr>
          <a:lstStyle/>
          <a:p>
            <a:pPr algn="l"/>
            <a:r>
              <a:rPr sz="1010" b="1">
                <a:solidFill>
                  <a:srgbClr val="A8306E"/>
                </a:solidFill>
                <a:latin typeface="Bebas Neue"/>
              </a:rPr>
              <a:t>ALSO ON THIS SLIDE</a:t>
            </a:r>
          </a:p>
          <a:p>
            <a:pPr algn="l">
              <a:spcBef>
                <a:spcPts val="300"/>
              </a:spcBef>
            </a:pPr>
            <a:r>
              <a:rPr sz="1400" b="0">
                <a:solidFill>
                  <a:srgbClr val="111111"/>
                </a:solidFill>
                <a:latin typeface="Inter"/>
              </a:rPr>
              <a:t>Example: XY Have some function Want: J(b,w) Gradient descent/delta rule/LMS method: (for fixed, this is a function of x)</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A8306E"/>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57F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BD63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Bebas Neue"/>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45F771"/>
                </a:solidFill>
              </a:defRPr>
            </a:pPr>
            <a:r>
              <a:rPr>
                <a:latin typeface="Bebas Neue"/>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