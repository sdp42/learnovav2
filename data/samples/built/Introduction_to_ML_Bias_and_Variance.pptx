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Syllabus</a:t>
            </a:r>
          </a:p>
          <a:p>
            <a:r>
              <a:t>  2. Supervised Learning</a:t>
            </a:r>
          </a:p>
          <a:p>
            <a:r>
              <a:t>  3. Feature space</a:t>
            </a:r>
          </a:p>
          <a:p>
            <a:r>
              <a:t>  4. Hypothesis</a:t>
            </a:r>
          </a:p>
          <a:p>
            <a:r>
              <a:t>  5. Inductive bias</a:t>
            </a:r>
          </a:p>
          <a:p>
            <a:r>
              <a:t>  6. Bias and variance</a:t>
            </a:r>
          </a:p>
          <a:p>
            <a:r>
              <a:t>  7. Low Bias</a:t>
            </a:r>
          </a:p>
          <a:p>
            <a:r>
              <a:t>  8. Variance</a:t>
            </a:r>
          </a:p>
          <a:p/>
          <a:p>
            <a:r>
              <a:t>Pause: ask the class what they already know about “Agenda” before revealing the slide.</a:t>
            </a:r>
          </a:p>
          <a:p/>
          <a:p>
            <a:r>
              <a:t>~68s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Introduction to Machine Learning:</a:t>
            </a:r>
          </a:p>
          <a:p>
            <a:r>
              <a:t>  2. Types of Machine Learning, Issues in Machine</a:t>
            </a:r>
          </a:p>
          <a:p>
            <a:r>
              <a:t>  3. Learning,</a:t>
            </a:r>
          </a:p>
          <a:p>
            <a:r>
              <a:t>  4. Application of Machine Learning,</a:t>
            </a:r>
          </a:p>
          <a:p>
            <a:r>
              <a:t>  5. Steps involved in developing a Machine Learning</a:t>
            </a:r>
          </a:p>
          <a:p>
            <a:r>
              <a:t>  6. Application.</a:t>
            </a:r>
          </a:p>
          <a:p>
            <a:r>
              <a:t>  7. Hypothesis and Inductive Bias</a:t>
            </a:r>
          </a:p>
          <a:p/>
          <a:p>
            <a:r>
              <a:t>Say what these mean, in your own words:</a:t>
            </a:r>
          </a:p>
          <a:p>
            <a:r>
              <a:t>  - Inductive bias: Assumptions a learning algorithm uses to predict unseen outputs.</a:t>
            </a:r>
          </a:p>
          <a:p/>
          <a:p>
            <a:r>
              <a:t>Pause: ask the class what they already know about “Syllabus”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Syllabus (continued)</a:t>
            </a:r>
          </a:p>
          <a:p/>
          <a:p>
            <a:r>
              <a:t>Pause: ask the class what they already know about “Syllabus (continued)” before revealing the slide.</a:t>
            </a:r>
          </a:p>
          <a:p/>
          <a:p>
            <a:r>
              <a:t>Wording matters here — slow down, keep it precise.</a:t>
            </a:r>
          </a:p>
          <a:p/>
          <a:p>
            <a:r>
              <a:t>~19s</a:t>
            </a:r>
          </a:p>
          <a:p>
            <a:r>
              <a:t>Text in the figure: Inductive Using specific observations to form a general conclusion VS _Deductive I Using a general premise to form a specific conclusion =</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Training data</a:t>
            </a:r>
          </a:p>
          <a:p>
            <a:r>
              <a:t>  2. Incomplete information</a:t>
            </a:r>
          </a:p>
          <a:p>
            <a:r>
              <a:t>  3. Model makes assumptions</a:t>
            </a:r>
          </a:p>
          <a:p>
            <a:r>
              <a:t>  4. Prediction</a:t>
            </a:r>
          </a:p>
          <a:p>
            <a:r>
              <a:t>  5. Training data supplies the examples the model learns from.</a:t>
            </a:r>
          </a:p>
          <a:p>
            <a:r>
              <a:t>  6. Because data is often incomplete, the model must make assumptions to generalize.</a:t>
            </a:r>
          </a:p>
          <a:p>
            <a:r>
              <a:t>  7. These assumptions guide how the model predicts new instances.</a:t>
            </a:r>
          </a:p>
          <a:p/>
          <a:p>
            <a:r>
              <a:t>Say what these mean, in your own words:</a:t>
            </a:r>
          </a:p>
          <a:p>
            <a:r>
              <a:t>  - Model: A mathematical representation that maps inputs to outputs.</a:t>
            </a:r>
          </a:p>
          <a:p/>
          <a:p>
            <a:r>
              <a:t>Pause: ask the class what they already know about “Training data shapes the model by providing incomplete information and influencing predictions”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1”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Features (X)</a:t>
            </a:r>
          </a:p>
          <a:p>
            <a:r>
              <a:t>  2. Output (Y)</a:t>
            </a:r>
          </a:p>
          <a:p>
            <a:r>
              <a:t>  3. Instances</a:t>
            </a:r>
          </a:p>
          <a:p>
            <a:r>
              <a:t>  4. Continuous</a:t>
            </a:r>
          </a:p>
          <a:p>
            <a:r>
              <a:t>  5. Discrete</a:t>
            </a:r>
          </a:p>
          <a:p>
            <a:r>
              <a:t>  6. In supervised learning, each instance has input features (X) and an output label (Y).</a:t>
            </a:r>
          </a:p>
          <a:p>
            <a:r>
              <a:t>  7. The algorithm learns a mapping that can predict continuous values or discrete categories.</a:t>
            </a:r>
          </a:p>
          <a:p/>
          <a:p>
            <a:r>
              <a:t>Read these exactly (do not paraphrase):</a:t>
            </a:r>
          </a:p>
          <a:p>
            <a:r>
              <a:t>  - Supervised learning uses features and outputs to learn continuous or discrete patterns Features (X) Output (Y) Instances Continuous Discrete In supervised learning, each instance has input features (X) and an output label (Y).</a:t>
            </a:r>
          </a:p>
          <a:p>
            <a:r>
              <a:t>  - Example: Predicting house prices (continuous) or spam emails (discrete).</a:t>
            </a:r>
          </a:p>
          <a:p/>
          <a:p>
            <a:r>
              <a:t>Say what these mean, in your own words:</a:t>
            </a:r>
          </a:p>
          <a:p>
            <a:r>
              <a:t>  - Features: Input variables that describe each instance.</a:t>
            </a:r>
          </a:p>
          <a:p/>
          <a:p>
            <a:r>
              <a:t>Pause: ask the class what they already know about “Supervised learning uses features and outputs to learn continuous or discrete patterns”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“Feature space” before revealing the slide.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Hypothesis (h) A hypothesis is a function that best describes the target in supervised machine learning. The hypothesis </a:t>
            </a:r>
          </a:p>
          <a:p>
            <a:r>
              <a:t>  2. The hypothesis represents the model’s guess of the underlying relationship.</a:t>
            </a:r>
          </a:p>
          <a:p>
            <a:r>
              <a:t>  3. Its form depends on the training data and any constraints or biases we set.</a:t>
            </a:r>
          </a:p>
          <a:p>
            <a:r>
              <a:t>  4. The algorithm selects the hypothesis that best fits the data.</a:t>
            </a:r>
          </a:p>
          <a:p>
            <a:r>
              <a:t>  5. Example: Choosing a straight line when data points lie roughly along a line.</a:t>
            </a:r>
          </a:p>
          <a:p/>
          <a:p>
            <a:r>
              <a:t>Read these exactly (do not paraphrase):</a:t>
            </a:r>
          </a:p>
          <a:p>
            <a:r>
              <a:t>  - Hypothesis Hypothesis (h) A hypothesis is a function that best describes the target in supervised machine learning.</a:t>
            </a:r>
          </a:p>
          <a:p/>
          <a:p>
            <a:r>
              <a:t>Say what these mean, in your own words:</a:t>
            </a:r>
          </a:p>
          <a:p>
            <a:r>
              <a:t>  - Hypothesis: A candidate function mapping inputs to predicted outputs.</a:t>
            </a:r>
          </a:p>
          <a:p/>
          <a:p>
            <a:r>
              <a:t>Pause: ask the class what they already know about “Hypothesis” before revealing the slide.</a:t>
            </a:r>
          </a:p>
          <a:p/>
          <a:p>
            <a:r>
              <a:t>~47s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Hypothesis (continued)</a:t>
            </a:r>
          </a:p>
          <a:p/>
          <a:p>
            <a:r>
              <a:t>Pause: ask the class what they already know about “Hypothesis (continued)” before revealing the slide.</a:t>
            </a:r>
          </a:p>
          <a:p/>
          <a:p>
            <a:r>
              <a:t>Wording matters here — slow down, keep it precise.</a:t>
            </a:r>
          </a:p>
          <a:p/>
          <a:p>
            <a:r>
              <a:t>~19s</a:t>
            </a:r>
          </a:p>
          <a:p>
            <a:r>
              <a:t>Text in the figure: &gt;| &gt;| POSSIBLE HYPOTHESIS &gt;| —- HYPOTHESIS SPACE</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2”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Hypothesis Space (H) Hypothesis space is the set of all the possible legal hypothesis. This is the set from which the ma</a:t>
            </a:r>
          </a:p>
          <a:p>
            <a:r>
              <a:t>  2. The hypothesis space is the set of all possible models the algorithm can consider.</a:t>
            </a:r>
          </a:p>
          <a:p>
            <a:r>
              <a:t>  3. The learning process searches this space to find the single hypothesis that best explains the target function.</a:t>
            </a:r>
          </a:p>
          <a:p>
            <a:r>
              <a:t>  4. Example: All possible decision trees of a given depth form the hypothesis space.</a:t>
            </a:r>
          </a:p>
          <a:p/>
          <a:p>
            <a:r>
              <a:t>Read these exactly (do not paraphrase):</a:t>
            </a:r>
          </a:p>
          <a:p>
            <a:r>
              <a:t>  - The hypothesis space contains all legal hypotheses from which the algorithm selects the best one Hypothesis Space (H) Hypothesis space is the set of all the possible legal hypothesis.</a:t>
            </a:r>
          </a:p>
          <a:p>
            <a:r>
              <a:t>  - This is the set from which the machine learning algorithm would determine the best possible (only one) which would best describe the target function or the outputs.</a:t>
            </a:r>
          </a:p>
          <a:p/>
          <a:p>
            <a:r>
              <a:t>Say what these mean, in your own words:</a:t>
            </a:r>
          </a:p>
          <a:p>
            <a:r>
              <a:t>  - Hypothesis space: The set of all permissible hypotheses the algorithm can choose.</a:t>
            </a:r>
          </a:p>
          <a:p/>
          <a:p>
            <a:r>
              <a:t>Pause: ask the class what they already know about “The hypothesis space contains all legal hypotheses from which the algorithm selects the best one” before revealing the slide.</a:t>
            </a:r>
          </a:p>
          <a:p/>
          <a:p>
            <a:r>
              <a:t>Wording matters here — slow down, keep it precise.</a:t>
            </a:r>
          </a:p>
          <a:p/>
          <a:p>
            <a:r>
              <a:t>~40s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Data:</a:t>
            </a:r>
          </a:p>
          <a:p>
            <a:r>
              <a:t>  2. Model?</a:t>
            </a:r>
          </a:p>
          <a:p>
            <a:r>
              <a:t>  3. Hypothesis?</a:t>
            </a:r>
          </a:p>
          <a:p/>
          <a:p>
            <a:r>
              <a:t>Pause: ask the class what they already know about “Hypothesis: Data” before revealing the slide.</a:t>
            </a:r>
          </a:p>
          <a:p/>
          <a:p>
            <a:r>
              <a:t>~33s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Hypothesis?</a:t>
            </a:r>
          </a:p>
          <a:p>
            <a:r>
              <a:t>  2. Data</a:t>
            </a:r>
          </a:p>
          <a:p>
            <a:r>
              <a:t>  3. Inductive bias</a:t>
            </a:r>
          </a:p>
          <a:p>
            <a:r>
              <a:t>  4. The hypothesis is derived from data, but its selection is guided by inductive bias.</a:t>
            </a:r>
          </a:p>
          <a:p>
            <a:r>
              <a:t>  5. Bias determines which hypotheses the algorithm considers plausible given the data.</a:t>
            </a:r>
          </a:p>
          <a:p>
            <a:r>
              <a:t>  6. Example: Assuming linearity biases the algorithm toward linear models.</a:t>
            </a:r>
          </a:p>
          <a:p/>
          <a:p>
            <a:r>
              <a:t>Say what these mean, in your own words:</a:t>
            </a:r>
          </a:p>
          <a:p>
            <a:r>
              <a:t>  - Inductive bias: Assumptions that influence hypothesis selection.</a:t>
            </a:r>
          </a:p>
          <a:p/>
          <a:p>
            <a:r>
              <a:t>Pause: ask the class what they already know about “Hypothesis, data, and inductive bias are interrelated in learning” before revealing the slide.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The inductive bias (also known as learning bias) of a learning algorithm is the set of assumptions that the learner uses</a:t>
            </a:r>
          </a:p>
          <a:p>
            <a:r>
              <a:t>  2. Y = a + b*X</a:t>
            </a:r>
          </a:p>
          <a:p>
            <a:r>
              <a:t>  3. This bias shapes how the algorithm generalizes from training data to unseen data.</a:t>
            </a:r>
          </a:p>
          <a:p>
            <a:r>
              <a:t>  4. For example, a linear bias assumes a relationship like Y = a + b*X, guiding the model toward linear solutions.</a:t>
            </a:r>
          </a:p>
          <a:p>
            <a:r>
              <a:t>  5. Example: Choosing a straight line when data roughly follows a linear trend.</a:t>
            </a:r>
          </a:p>
          <a:p/>
          <a:p>
            <a:r>
              <a:t>Read these exactly (do not paraphrase):</a:t>
            </a:r>
          </a:p>
          <a:p>
            <a:r>
              <a:t>  - Inductive bias consists of assumptions a learning algorithm uses to predict outputs The inductive bias (also known as learning bias) of a learning algorithm is the set of assumptions that the learner uses to predict outputs.</a:t>
            </a:r>
          </a:p>
          <a:p>
            <a:r>
              <a:t>  - Y = a + b*X This bias shapes how the algorithm generalizes from training data to unseen data.</a:t>
            </a:r>
          </a:p>
          <a:p>
            <a:r>
              <a:t>  - For example, a linear bias assumes a relationship like Y = a + b*X, guiding the model toward linear solutions.</a:t>
            </a:r>
          </a:p>
          <a:p/>
          <a:p>
            <a:r>
              <a:t>Say what these mean, in your own words:</a:t>
            </a:r>
          </a:p>
          <a:p>
            <a:r>
              <a:t>  - Learning bias: Another name for inductive bias.</a:t>
            </a:r>
          </a:p>
          <a:p/>
          <a:p>
            <a:r>
              <a:t>Pause: ask the class what they already know about “Inductive bias consists of assumptions a learning algorithm uses to predict outputs” before revealing the slide.</a:t>
            </a:r>
          </a:p>
          <a:p/>
          <a:p>
            <a:r>
              <a:t>Wording matters here — slow down, keep it precise.</a:t>
            </a:r>
          </a:p>
          <a:p/>
          <a:p>
            <a:r>
              <a:t>~47s</a:t>
            </a:r>
          </a:p>
          <a:p>
            <a:r>
              <a:t>Ask the class: What happens to the result if one of the inputs doubles?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3”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Rule for Labelling</a:t>
            </a:r>
          </a:p>
          <a:p>
            <a:r>
              <a:t>  2. Class 1 0 h ′: IF x ≥ 20 THEN “1” ELSE “0”.</a:t>
            </a:r>
          </a:p>
          <a:p>
            <a:r>
              <a:t>  3. h ′ is consistent with the training examples in the table. For example, h ′ (27) = 1, c(27) = 1, h′ (27) = c(27) h ′ (15</a:t>
            </a:r>
          </a:p>
          <a:p>
            <a:r>
              <a:t>  4. h ′ (5) = 0, h′ (28) = 1.</a:t>
            </a:r>
          </a:p>
          <a:p>
            <a:r>
              <a:t>  5. The following proposition also explains the data: h ′′: IF x ≥ 19 THEN “0” ELSE “1”.</a:t>
            </a:r>
          </a:p>
          <a:p/>
          <a:p>
            <a:r>
              <a:t>Read these exactly (do not paraphrase):</a:t>
            </a:r>
          </a:p>
          <a:p>
            <a:r>
              <a:t>  - Inductive bias: Rule for Labelling Rule for Labelling Class 1 0 h ′: IF x ≥ 20 THEN “1” ELSE “0”.</a:t>
            </a:r>
          </a:p>
          <a:p>
            <a:r>
              <a:t>  - For example, h ′ (27) = 1, c(27) = 1, h′ (27) = c(27) h ′ (15) = 0, c(15) = 0, h′ (15) = c(15) for x = 5 and x = 28 (not in training data), h ′ (5) = 0, h′ (28) = 1.</a:t>
            </a:r>
          </a:p>
          <a:p>
            <a:r>
              <a:t>  - The following proposition also explains the data: h ′′: IF x ≥ 19 THEN “0” ELSE “1”.</a:t>
            </a:r>
          </a:p>
          <a:p/>
          <a:p>
            <a:r>
              <a:t>Pause: ask the class what they already know about “Inductive bias: Rule for Labelling” before revealing the slide.</a:t>
            </a:r>
          </a:p>
          <a:p/>
          <a:p>
            <a:r>
              <a:t>Wording matters here — slow down, keep it precise.</a:t>
            </a:r>
          </a:p>
          <a:p/>
          <a:p>
            <a:r>
              <a:t>~47s</a:t>
            </a:r>
          </a:p>
          <a:p>
            <a:r>
              <a:t>Ask the class: Where could you break this chain of events?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It is not enough that the hypothesis explains the given data; it must also predict correctly the class label of future o</a:t>
            </a:r>
          </a:p>
          <a:p>
            <a:r>
              <a:t>  2. So, consider a set of such hypotheses and choose the “best” one.</a:t>
            </a:r>
          </a:p>
          <a:p>
            <a:r>
              <a:t>  3. The set of hypotheses can be defined using a parameter, say m, as given below: hm: IF x ≥ m THEN “1” ELSE ”0”.</a:t>
            </a:r>
          </a:p>
          <a:p/>
          <a:p>
            <a:r>
              <a:t>Read these exactly (do not paraphrase):</a:t>
            </a:r>
          </a:p>
          <a:p>
            <a:r>
              <a:t>  - A hypothesis must predict future observations, not just fit training data It is not enough that the hypothesis explains the given data; it must also predict correctly the class label of future observations.</a:t>
            </a:r>
          </a:p>
          <a:p>
            <a:r>
              <a:t>  - The set of hypotheses can be defined using a parameter, say m, as given below: hm: IF x ≥ m THEN “1” ELSE ”0”.</a:t>
            </a:r>
          </a:p>
          <a:p/>
          <a:p>
            <a:r>
              <a:t>Say what these mean, in your own words:</a:t>
            </a:r>
          </a:p>
          <a:p>
            <a:r>
              <a:t>  - Hypothesis: A rule that predicts class labels.</a:t>
            </a:r>
          </a:p>
          <a:p/>
          <a:p>
            <a:r>
              <a:t>Pause: ask the class what they already know about “A hypothesis must predict future observations, not just fit training data” before revealing the slide.</a:t>
            </a:r>
          </a:p>
          <a:p/>
          <a:p>
            <a:r>
              <a:t>Wording matters here — slow down, keep it precise.</a:t>
            </a:r>
          </a:p>
          <a:p/>
          <a:p>
            <a:r>
              <a:t>~33s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used in supervised machine learning</a:t>
            </a:r>
          </a:p>
          <a:p>
            <a:r>
              <a:t>  2. The correct balance of bias and variance is vital</a:t>
            </a:r>
          </a:p>
          <a:p>
            <a:r>
              <a:t>  3. bias-variance trade-off</a:t>
            </a:r>
          </a:p>
          <a:p>
            <a:r>
              <a:t>  4. Bias</a:t>
            </a:r>
          </a:p>
          <a:p>
            <a:r>
              <a:t>  5. High bias = underfitting</a:t>
            </a:r>
          </a:p>
          <a:p>
            <a:r>
              <a:t>  6. High bias leads to underfitting, while high variance causes overfitting.</a:t>
            </a:r>
          </a:p>
          <a:p>
            <a:r>
              <a:t>  7. The goal is to find the sweet spot where the model captures underlying patterns without memorizing noise.</a:t>
            </a:r>
          </a:p>
          <a:p/>
          <a:p>
            <a:r>
              <a:t>Read these exactly (do not paraphrase):</a:t>
            </a:r>
          </a:p>
          <a:p>
            <a:r>
              <a:t>  - Bias and variance trade-off balances underfitting and overfitting in supervised learning used in supervised machine learning The correct balance of bias and variance is vital bias-variance trade-off Bias High bias = underfitting High bias leads to underfitting, while high variance causes overfitting.</a:t>
            </a:r>
          </a:p>
          <a:p/>
          <a:p>
            <a:r>
              <a:t>Say what these mean, in your own words:</a:t>
            </a:r>
          </a:p>
          <a:p>
            <a:r>
              <a:t>  - High bias: more assumptions are taken to build the target function</a:t>
            </a:r>
          </a:p>
          <a:p>
            <a:r>
              <a:t>  - Bias: Error from erroneous assumptions in the learning algorithm.</a:t>
            </a:r>
          </a:p>
          <a:p/>
          <a:p>
            <a:r>
              <a:t>Pause: ask the class what they already know about “Bias and variance trade-off balances underfitting and overfitting in supervised learning”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Low Bias means fewer assumptions are taken to build the target function.</a:t>
            </a:r>
          </a:p>
          <a:p>
            <a:r>
              <a:t>  2. the model will closely match the training dataset.</a:t>
            </a:r>
          </a:p>
          <a:p>
            <a:r>
              <a:t>  3. High Bias means more assumptions are taken to build the target function.</a:t>
            </a:r>
          </a:p>
          <a:p>
            <a:r>
              <a:t>  4. the model will not match the training dataset closely.</a:t>
            </a:r>
          </a:p>
          <a:p>
            <a:r>
              <a:t>  5. Low bias means the model makes fewer simplifying assumptions about the data.</a:t>
            </a:r>
          </a:p>
          <a:p>
            <a:r>
              <a:t>  6. This allows it to fit the training set more accurately.</a:t>
            </a:r>
          </a:p>
          <a:p>
            <a:r>
              <a:t>  7. High bias, in contrast, forces the model to follow a simpler pattern that may miss important details.</a:t>
            </a:r>
          </a:p>
          <a:p/>
          <a:p>
            <a:r>
              <a:t>Say what these mean, in your own words:</a:t>
            </a:r>
          </a:p>
          <a:p>
            <a:r>
              <a:t>  - bias: Systematic error introduced by approximating a complex problem with a simpler model.</a:t>
            </a:r>
          </a:p>
          <a:p>
            <a:r>
              <a:t>  - target function: The true relationship the model aims to learn from data.</a:t>
            </a:r>
          </a:p>
          <a:p/>
          <a:p>
            <a:r>
              <a:t>Pause: ask the class what they already know about “Low bias reduces assumptions, enabling the model to closely match training data” before revealing the slide.</a:t>
            </a:r>
          </a:p>
          <a:p/>
          <a:p>
            <a:r>
              <a:t>~61s</a:t>
            </a:r>
          </a:p>
          <a:p>
            <a:r>
              <a:t>Ask the class: Give one real-life example of this idea.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4”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High variance = overfitting</a:t>
            </a:r>
          </a:p>
          <a:p>
            <a:r>
              <a:t>  2. the measure of spread in data from its mean position.</a:t>
            </a:r>
          </a:p>
          <a:p>
            <a:r>
              <a:t>  3. is the amount by which the performance of a predictive model changes when it is trained on different subsets of the trai</a:t>
            </a:r>
          </a:p>
          <a:p>
            <a:r>
              <a:t>  4. is the variability of the model that how much it is sensitive to another subset of the training dataset. i.e. how much i</a:t>
            </a:r>
          </a:p>
          <a:p/>
          <a:p>
            <a:r>
              <a:t>Read these exactly (do not paraphrase):</a:t>
            </a:r>
          </a:p>
          <a:p>
            <a:r>
              <a:t>  - High variance measures how much a model’s predictions change across training subsets High variance = overfitting the measure of spread in data from its mean position.</a:t>
            </a:r>
          </a:p>
          <a:p/>
          <a:p>
            <a:r>
              <a:t>Say what these mean, in your own words:</a:t>
            </a:r>
          </a:p>
          <a:p>
            <a:r>
              <a:t>  - variance: Sensitivity of a model’s predictions to variations in the training data.</a:t>
            </a:r>
          </a:p>
          <a:p/>
          <a:p>
            <a:r>
              <a:t>Pause: ask the class what they already know about “High variance measures how much a model’s predictions change across training subsets” before revealing the slide.</a:t>
            </a:r>
          </a:p>
          <a:p/>
          <a:p>
            <a:r>
              <a:t>~40s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Low variance ensures consistent predictions across different training data subsets Low variance means that the model is less sensitive to changes in the training data and can produce consistent estimates of the target function with different subsets of data from the same distribution.</a:t>
            </a:r>
          </a:p>
          <a:p/>
          <a:p>
            <a:r>
              <a:t>Say what these mean, in your own words:</a:t>
            </a:r>
          </a:p>
          <a:p>
            <a:r>
              <a:t>  - underfitting: When a model is too simple to capture the underlying data pattern.</a:t>
            </a:r>
          </a:p>
          <a:p/>
          <a:p>
            <a:r>
              <a:t>Pause: ask the class what they already know about “Low variance ensures consistent predictions across different training data subsets” before revealing the slide.</a:t>
            </a:r>
          </a:p>
          <a:p/>
          <a:p>
            <a:r>
              <a:t>Wording matters here — slow down, keep it precise.</a:t>
            </a:r>
          </a:p>
          <a:p/>
          <a:p>
            <a:r>
              <a:t>~19s</a:t>
            </a:r>
          </a:p>
          <a:p>
            <a:r>
              <a:t>Ask the class: Give one real-life example of this idea.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High variance causes a model to change its predictions drastically with different training subsets High variance means that the model is very sensitive to changes in the training data and can result in significant changes in the estimate of the target function when trained on different subsets of data from the same distribution.</a:t>
            </a:r>
          </a:p>
          <a:p/>
          <a:p>
            <a:r>
              <a:t>Say what these mean, in your own words:</a:t>
            </a:r>
          </a:p>
          <a:p>
            <a:r>
              <a:t>  - overfitting: When a model learns noise in the training data, performing poorly on new data.</a:t>
            </a:r>
          </a:p>
          <a:p/>
          <a:p>
            <a:r>
              <a:t>Pause: ask the class what they already know about “High variance causes a model to change its predictions drastically with different training subsets” before revealing the slide.</a:t>
            </a:r>
          </a:p>
          <a:p/>
          <a:p>
            <a:r>
              <a:t>~19s</a:t>
            </a:r>
          </a:p>
          <a:p>
            <a:r>
              <a:t>Ask the class: Give one real-life example of this idea.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Low-Bias, Low-Variance: The combination of low bias and low variance shows an ideal machine learning model.</a:t>
            </a:r>
          </a:p>
          <a:p>
            <a:r>
              <a:t>  2. However, it is not possible practically.</a:t>
            </a:r>
          </a:p>
          <a:p>
            <a:r>
              <a:t>  3. Low-Bias, High-Variance: With low bias and high variance, model predictions are inconsistent and accurate on average.</a:t>
            </a:r>
          </a:p>
          <a:p>
            <a:r>
              <a:t>  4. This case occurs when the model learns with a large number of parameters and hence leads to an overfitting</a:t>
            </a:r>
          </a:p>
          <a:p>
            <a:r>
              <a:t>  5. High-Bias, Low-Variance: With High bias and low variance, predictions are consistent but inaccurate on average. This cas</a:t>
            </a:r>
          </a:p>
          <a:p>
            <a:r>
              <a:t>  6. High-Bias, High-Variance: With high bias and high variance, predictions are inconsistent and also inaccurate on average.</a:t>
            </a:r>
          </a:p>
          <a:p/>
          <a:p>
            <a:r>
              <a:t>Say what these mean, in your own words:</a:t>
            </a:r>
          </a:p>
          <a:p>
            <a:r>
              <a:t>  - Low bias: fewer assumptions are taken to build the target function</a:t>
            </a:r>
          </a:p>
          <a:p>
            <a:r>
              <a:t>  - bias-variance trade-off: The balance between a model’s simplicity (bias) and its sensitivity to data (variance).</a:t>
            </a:r>
          </a:p>
          <a:p/>
          <a:p>
            <a:r>
              <a:t>Pause: ask the class what they already know about “Combining bias and variance determines whether a model is accurate, consistent, or both” before revealing the slide.</a:t>
            </a:r>
          </a:p>
          <a:p/>
          <a:p>
            <a:r>
              <a:t>~54s</a:t>
            </a:r>
          </a:p>
          <a:p>
            <a:r>
              <a:t>Ask the class: Where could you break this chain of events?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5”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Combinations of Bias-Variance (continued)</a:t>
            </a:r>
          </a:p>
          <a:p/>
          <a:p>
            <a:r>
              <a:t>Pause: ask the class what they already know about “Combinations of Bias-Variance (continued)” before revealing the slide.</a:t>
            </a:r>
          </a:p>
          <a:p/>
          <a:p>
            <a:r>
              <a:t>Wording matters here — slow down, keep it precise.</a:t>
            </a:r>
          </a:p>
          <a:p/>
          <a:p>
            <a:r>
              <a:t>~19s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Combinations of Bias-Variance (continued)</a:t>
            </a:r>
          </a:p>
          <a:p/>
          <a:p>
            <a:r>
              <a:t>Pause: ask the class what they already know about “Combinations of Bias-Variance (continued)” before revealing the slide.</a:t>
            </a:r>
          </a:p>
          <a:p/>
          <a:p>
            <a:r>
              <a:t>Wording matters here — slow down, keep it precise.</a:t>
            </a:r>
          </a:p>
          <a:p/>
          <a:p>
            <a:r>
              <a:t>~19s</a:t>
            </a:r>
          </a:p>
          <a:p>
            <a:r>
              <a:t>Text in the figure: Height Weight</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Combinations of Bias-Variance (continued)</a:t>
            </a:r>
          </a:p>
          <a:p/>
          <a:p>
            <a:r>
              <a:t>Pause: ask the class what they already know about “Combinations of Bias-Variance (continued)” before revealing the slide.</a:t>
            </a:r>
          </a:p>
          <a:p/>
          <a:p>
            <a:r>
              <a:t>Wording matters here — slow down, keep it precise.</a:t>
            </a:r>
          </a:p>
          <a:p/>
          <a:p>
            <a:r>
              <a:t>~19s</a:t>
            </a:r>
          </a:p>
          <a:p>
            <a:r>
              <a:t>Text in the figure: The first thing we do is split the data into two</a:t>
            </a:r>
          </a:p>
          <a:p>
            <a:r>
              <a:t>sets, one for training the machine learning</a:t>
            </a:r>
          </a:p>
          <a:p>
            <a:r>
              <a:t>algorithms and one for testing them.</a:t>
            </a:r>
          </a:p>
          <a:p/>
          <a:p>
            <a:r>
              <a:t>e@</a:t>
            </a:r>
          </a:p>
          <a:p>
            <a:r>
              <a:t>e@</a:t>
            </a:r>
          </a:p>
          <a:p>
            <a:r>
              <a:t>Height ) e e</a:t>
            </a:r>
          </a:p>
          <a:p>
            <a:r>
              <a:t>e</a:t>
            </a:r>
          </a:p>
          <a:p>
            <a:r>
              <a:t>Ve</a:t>
            </a:r>
          </a:p>
          <a:p>
            <a:r>
              <a:t>LJ</a:t>
            </a:r>
          </a:p>
          <a:p>
            <a:r>
              <a:t>Weight</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Combinations of Bias-Variance (continued)</a:t>
            </a:r>
          </a:p>
          <a:p/>
          <a:p>
            <a:r>
              <a:t>Pause: ask the class what they already know about “Combinations of Bias-Variance (continued)” before revealing the slide.</a:t>
            </a:r>
          </a:p>
          <a:p/>
          <a:p>
            <a:r>
              <a:t>Wording matters here — slow down, keep it precise.</a:t>
            </a:r>
          </a:p>
          <a:p/>
          <a:p>
            <a:r>
              <a:t>~19s</a:t>
            </a:r>
          </a:p>
          <a:p>
            <a:r>
              <a:t>Text in the figure: NOTE: The Straight Line doesn’t have the flexibility to accurately replicate the arc in the “true” relationship. Weight</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Combinations of Bias-Variance (continued)</a:t>
            </a:r>
          </a:p>
          <a:p/>
          <a:p>
            <a:r>
              <a:t>Pause: ask the class what they already know about “Combinations of Bias-Variance (continued)” before revealing the slide.</a:t>
            </a:r>
          </a:p>
          <a:p/>
          <a:p>
            <a:r>
              <a:t>Wording matters here — slow down, keep it precise.</a:t>
            </a:r>
          </a:p>
          <a:p/>
          <a:p>
            <a:r>
              <a:t>~19s</a:t>
            </a:r>
          </a:p>
          <a:p>
            <a:r>
              <a:t>Text in the figure: Notice how the Squiggly Line fits the data so well that the distances between the line and the data are all 0.</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Combinations of Bias-Variance (continued)</a:t>
            </a:r>
          </a:p>
          <a:p/>
          <a:p>
            <a:r>
              <a:t>Pause: ask the class what they already know about “Combinations of Bias-Variance (continued)” before revealing the slide.</a:t>
            </a:r>
          </a:p>
          <a:p/>
          <a:p>
            <a:r>
              <a:t>Wording matters here — slow down, keep it precise.</a:t>
            </a:r>
          </a:p>
          <a:p/>
          <a:p>
            <a:r>
              <a:t>~19s</a:t>
            </a:r>
          </a:p>
          <a:p>
            <a:r>
              <a:t>Text in the figure: Even though Squiggly Line did a great did a terrible job fitting job fitting the training set... the testing set...</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Combinations of Bias-Variance (continued)</a:t>
            </a:r>
          </a:p>
          <a:p/>
          <a:p>
            <a:r>
              <a:t>Pause: ask the class what they already know about “Combinations of Bias-Variance (continued)” before revealing the slide.</a:t>
            </a:r>
          </a:p>
          <a:p/>
          <a:p>
            <a:r>
              <a:t>Wording matters here — slow down, keep it precise.</a:t>
            </a:r>
          </a:p>
          <a:p/>
          <a:p>
            <a:r>
              <a:t>~19s</a:t>
            </a:r>
          </a:p>
          <a:p>
            <a:r>
              <a:t>Text in the figure: In contrast, the Straight Line has relatively ...but the Straight Line has relatively low high bias, since it can not capture the curve in variance, because the Sums of Squares are the relationship between weight and height... very similar for different datasets.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“Trade-off” before revealing the slide.</a:t>
            </a:r>
          </a:p>
          <a:p/>
          <a:p>
            <a:r>
              <a:t>~19s</a:t>
            </a:r>
          </a:p>
          <a:p>
            <a:r>
              <a:t>Text in the figure: Total Error Variance Error Point of minimu Bias Total error Complexity</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Syllabus: Introduction to Machine Learning:</a:t>
            </a:r>
          </a:p>
          <a:p>
            <a:r>
              <a:t>  2. Supervised Learning: Features (X)</a:t>
            </a:r>
          </a:p>
          <a:p>
            <a:r>
              <a:t>  3. Hypothesis: Hypothesis Space (H) Hypothesis space is the set of all the possible legal hypothesis.</a:t>
            </a:r>
          </a:p>
          <a:p>
            <a:r>
              <a:t>  4. Hypothesis: Hypothesis?</a:t>
            </a:r>
          </a:p>
          <a:p>
            <a:r>
              <a:t>  5. Inductive bias: It is not enough that the hypothesis explains the given data;</a:t>
            </a:r>
          </a:p>
          <a:p>
            <a:r>
              <a:t>  6. Low Bias: Low Bias means fewer assumptions are taken to build the target function.</a:t>
            </a:r>
          </a:p>
          <a:p>
            <a:r>
              <a:t>  7. Low variance: Low variance means that the model is less sensitive to changes in the training data and can produce consis</a:t>
            </a:r>
          </a:p>
          <a:p/>
          <a:p>
            <a:r>
              <a:t>Read these exactly (do not paraphrase):</a:t>
            </a:r>
          </a:p>
          <a:p>
            <a:r>
              <a:t>  - Key takeaways Syllabus: Introduction to Machine Learning: Supervised Learning: Features (X) Hypothesis: Hypothesis Space (H) Hypothesis space is the set of all the possible legal hypothesis.</a:t>
            </a:r>
          </a:p>
          <a:p>
            <a:r>
              <a:t>  - Inductive bias: It is not enough that the hypothesis explains the given data; Low Bias: Low Bias means fewer assumptions are taken to build the target function.</a:t>
            </a:r>
          </a:p>
          <a:p>
            <a:r>
              <a:t>  - Low variance: Low variance means that the model is less sensitive to changes in the training data and can produce consistent estimates…</a:t>
            </a:r>
          </a:p>
          <a:p/>
          <a:p>
            <a:r>
              <a:t>Pause: ask the class what they already know about “Key takeaways” before revealing the slide.</a:t>
            </a:r>
          </a:p>
          <a:p/>
          <a:p>
            <a:r>
              <a:t>Wording matters here — slow down, keep it precise.</a:t>
            </a:r>
          </a:p>
          <a:p/>
          <a:p>
            <a:r>
              <a:t>~61s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hyperlink" Target="http://localhost:8000/api/art/cd15a99682e76358eb89"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hyperlink" Target="http://localhost:8000/api/labs/auto-81da060ad3f7" TargetMode="External"/><Relationship Id="rId4" Type="http://schemas.openxmlformats.org/officeDocument/2006/relationships/image" Target="../media/image3.png"/><Relationship Id="rId5" Type="http://schemas.openxmlformats.org/officeDocument/2006/relationships/hyperlink" Target="http://localhost:8000/api/art/fcb74516dd4d6e62c889" TargetMode="External"/><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6.png"/><Relationship Id="rId7" Type="http://schemas.openxmlformats.org/officeDocument/2006/relationships/image" Target="../media/image14.png"/><Relationship Id="rId8"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1.jpg"/><Relationship Id="rId4" Type="http://schemas.openxmlformats.org/officeDocument/2006/relationships/image" Target="../media/image13.png"/><Relationship Id="rId5" Type="http://schemas.openxmlformats.org/officeDocument/2006/relationships/image" Target="../media/image7.png"/><Relationship Id="rId6" Type="http://schemas.openxmlformats.org/officeDocument/2006/relationships/image" Target="../media/image22.png"/><Relationship Id="rId7"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3.png"/><Relationship Id="rId4" Type="http://schemas.openxmlformats.org/officeDocument/2006/relationships/hyperlink" Target="http://localhost:8000/api/art/c703edda30f5b9bffcfb"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4.png"/><Relationship Id="rId4" Type="http://schemas.openxmlformats.org/officeDocument/2006/relationships/hyperlink" Target="http://localhost:8000/api/art/88d6212c1b59f7598f25" TargetMode="External"/><Relationship Id="rId5" Type="http://schemas.openxmlformats.org/officeDocument/2006/relationships/hyperlink" Target="http://localhost:8000/api/labs/auto-2172002606b6"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5.png"/><Relationship Id="rId4" Type="http://schemas.openxmlformats.org/officeDocument/2006/relationships/hyperlink" Target="http://localhost:8000/api/art/41ff4bf68f3a000ac20c"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6.png"/><Relationship Id="rId4" Type="http://schemas.openxmlformats.org/officeDocument/2006/relationships/hyperlink" Target="http://localhost:8000/api/art/826f2586c305dc09711b"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7.png"/><Relationship Id="rId4" Type="http://schemas.openxmlformats.org/officeDocument/2006/relationships/hyperlink" Target="http://localhost:8000/api/art/48ce53ff0845e0ff97a2"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8.png"/><Relationship Id="rId4" Type="http://schemas.openxmlformats.org/officeDocument/2006/relationships/hyperlink" Target="http://localhost:8000/api/art/4f3d9f900c647ebe5f34"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9.png"/><Relationship Id="rId4" Type="http://schemas.openxmlformats.org/officeDocument/2006/relationships/hyperlink" Target="http://localhost:8000/api/art/9307ada332f694aa1fb9"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0.png"/><Relationship Id="rId4" Type="http://schemas.openxmlformats.org/officeDocument/2006/relationships/hyperlink" Target="http://localhost:8000/api/art/a26e4ac128ff0a8ca08e"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1.png"/><Relationship Id="rId4" Type="http://schemas.openxmlformats.org/officeDocument/2006/relationships/hyperlink" Target="http://localhost:8000/api/art/f98a170b753d41607ad1"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5.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6.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7.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8.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9.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40.png"/><Relationship Id="rId4" Type="http://schemas.openxmlformats.org/officeDocument/2006/relationships/hyperlink" Target="http://localhost:8000/api/art/bd9afecfb25fff774a93" TargetMode="External"/><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22.png"/><Relationship Id="rId9" Type="http://schemas.openxmlformats.org/officeDocument/2006/relationships/image" Target="../media/image4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CF392B"/>
        </a:solidFill>
        <a:effectLst/>
      </p:bgPr>
    </p:bg>
    <p:spTree>
      <p:nvGrpSpPr>
        <p:cNvPr id="1" name=""/>
        <p:cNvGrpSpPr/>
        <p:nvPr/>
      </p:nvGrpSpPr>
      <p:grpSpPr/>
      <p:sp>
        <p:nvSpPr>
          <p:cNvPr id="2" name="Oval 1"/>
          <p:cNvSpPr/>
          <p:nvPr/>
        </p:nvSpPr>
        <p:spPr>
          <a:xfrm>
            <a:off x="8595360" y="3566160"/>
            <a:ext cx="5669280" cy="5669280"/>
          </a:xfrm>
          <a:prstGeom prst="ellipse">
            <a:avLst/>
          </a:prstGeom>
          <a:solidFill>
            <a:srgbClr val="35B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498079" y="-1280160"/>
            <a:ext cx="3108960" cy="3108960"/>
          </a:xfrm>
          <a:prstGeom prst="ellipse">
            <a:avLst/>
          </a:prstGeom>
          <a:solidFill>
            <a:srgbClr val="DB6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548640"/>
            <a:ext cx="1463040" cy="1463040"/>
          </a:xfrm>
          <a:prstGeom prst="ellipse">
            <a:avLst/>
          </a:prstGeom>
          <a:solidFill>
            <a:srgbClr val="8FD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8092440" y="868680"/>
            <a:ext cx="3611880" cy="4517136"/>
          </a:xfrm>
          <a:prstGeom prst="rect">
            <a:avLst/>
          </a:prstGeom>
        </p:spPr>
      </p:pic>
      <p:sp>
        <p:nvSpPr>
          <p:cNvPr id="6" name="Rounded Rectangle 5"/>
          <p:cNvSpPr/>
          <p:nvPr/>
        </p:nvSpPr>
        <p:spPr>
          <a:xfrm>
            <a:off x="822960" y="1828800"/>
            <a:ext cx="1280160" cy="128016"/>
          </a:xfrm>
          <a:prstGeom prst="roundRect">
            <a:avLst>
              <a:gd name="adj" fmla="val 50000"/>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103120"/>
            <a:ext cx="7132320" cy="2377440"/>
          </a:xfrm>
          <a:prstGeom prst="rect">
            <a:avLst/>
          </a:prstGeom>
          <a:noFill/>
        </p:spPr>
        <p:txBody>
          <a:bodyPr wrap="square" anchor="t" lIns="0" rIns="0" tIns="0" bIns="0">
            <a:spAutoFit/>
          </a:bodyPr>
          <a:lstStyle/>
          <a:p>
            <a:pPr algn="l">
              <a:defRPr sz="4000" b="1">
                <a:solidFill>
                  <a:srgbClr val="FFFFFF"/>
                </a:solidFill>
              </a:defRPr>
            </a:pPr>
            <a:r>
              <a:rPr>
                <a:latin typeface="Bebas Neue"/>
              </a:rPr>
              <a:t>Module No. 1 Introduction to Machine Learning</a:t>
            </a:r>
          </a:p>
        </p:txBody>
      </p:sp>
      <p:sp>
        <p:nvSpPr>
          <p:cNvPr id="8" name="TextBox 7"/>
          <p:cNvSpPr txBox="1"/>
          <p:nvPr/>
        </p:nvSpPr>
        <p:spPr>
          <a:xfrm>
            <a:off x="822960" y="4572000"/>
            <a:ext cx="6949440" cy="457200"/>
          </a:xfrm>
          <a:prstGeom prst="rect">
            <a:avLst/>
          </a:prstGeom>
          <a:noFill/>
        </p:spPr>
        <p:txBody>
          <a:bodyPr wrap="square" anchor="ctr" lIns="0" rIns="0" tIns="0" bIns="0">
            <a:spAutoFit/>
          </a:bodyPr>
          <a:lstStyle/>
          <a:p>
            <a:pPr algn="l">
              <a:defRPr sz="1800" b="0">
                <a:solidFill>
                  <a:srgbClr val="FFFFFF"/>
                </a:solidFill>
              </a:defRPr>
            </a:pPr>
            <a:r>
              <a:rPr>
                <a:latin typeface="Inter"/>
              </a:rPr>
              <a:t>Dr. Mrunal Rane  •  34 slides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Agenda</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 / 34</a:t>
            </a:r>
          </a:p>
        </p:txBody>
      </p:sp>
      <p:sp>
        <p:nvSpPr>
          <p:cNvPr id="8" name="Rounded Rectangle 7"/>
          <p:cNvSpPr/>
          <p:nvPr/>
        </p:nvSpPr>
        <p:spPr>
          <a:xfrm>
            <a:off x="457200" y="1865375"/>
            <a:ext cx="5536692" cy="1188720"/>
          </a:xfrm>
          <a:prstGeom prst="roundRect">
            <a:avLst>
              <a:gd name="adj" fmla="val 11846"/>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2231135"/>
            <a:ext cx="457200" cy="457200"/>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1298448" y="1938527"/>
            <a:ext cx="4494276" cy="1042416"/>
          </a:xfrm>
          <a:prstGeom prst="rect">
            <a:avLst/>
          </a:prstGeom>
          <a:noFill/>
        </p:spPr>
        <p:txBody>
          <a:bodyPr wrap="square" anchor="ctr" lIns="0" tIns="0" rIns="0" bIns="0">
            <a:spAutoFit/>
          </a:bodyPr>
          <a:lstStyle/>
          <a:p>
            <a:pPr algn="l"/>
            <a:r>
              <a:rPr sz="3120" b="1">
                <a:solidFill>
                  <a:srgbClr val="CF392B"/>
                </a:solidFill>
                <a:latin typeface="Bebas Neue"/>
              </a:rPr>
              <a:t>Syllabus</a:t>
            </a:r>
          </a:p>
        </p:txBody>
      </p:sp>
      <p:sp>
        <p:nvSpPr>
          <p:cNvPr id="11" name="Rounded Rectangle 10"/>
          <p:cNvSpPr/>
          <p:nvPr/>
        </p:nvSpPr>
        <p:spPr>
          <a:xfrm>
            <a:off x="6195059" y="1865375"/>
            <a:ext cx="5536692" cy="1188720"/>
          </a:xfrm>
          <a:prstGeom prst="roundRect">
            <a:avLst>
              <a:gd name="adj" fmla="val 11846"/>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396227" y="2231135"/>
            <a:ext cx="457200" cy="457200"/>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3" name="TextBox 12"/>
          <p:cNvSpPr txBox="1"/>
          <p:nvPr/>
        </p:nvSpPr>
        <p:spPr>
          <a:xfrm>
            <a:off x="7036307" y="1938527"/>
            <a:ext cx="4494275" cy="1042416"/>
          </a:xfrm>
          <a:prstGeom prst="rect">
            <a:avLst/>
          </a:prstGeom>
          <a:noFill/>
        </p:spPr>
        <p:txBody>
          <a:bodyPr wrap="square" anchor="ctr" lIns="0" tIns="0" rIns="0" bIns="0">
            <a:spAutoFit/>
          </a:bodyPr>
          <a:lstStyle/>
          <a:p>
            <a:pPr algn="l"/>
            <a:r>
              <a:rPr sz="3120" b="1">
                <a:solidFill>
                  <a:srgbClr val="CF392B"/>
                </a:solidFill>
                <a:latin typeface="Bebas Neue"/>
              </a:rPr>
              <a:t>Supervised Learning</a:t>
            </a:r>
          </a:p>
        </p:txBody>
      </p:sp>
      <p:sp>
        <p:nvSpPr>
          <p:cNvPr id="14" name="Rounded Rectangle 13"/>
          <p:cNvSpPr/>
          <p:nvPr/>
        </p:nvSpPr>
        <p:spPr>
          <a:xfrm>
            <a:off x="457200" y="3255263"/>
            <a:ext cx="5536692" cy="1188720"/>
          </a:xfrm>
          <a:prstGeom prst="roundRect">
            <a:avLst>
              <a:gd name="adj" fmla="val 11846"/>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3621023"/>
            <a:ext cx="457200" cy="457200"/>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6" name="TextBox 15"/>
          <p:cNvSpPr txBox="1"/>
          <p:nvPr/>
        </p:nvSpPr>
        <p:spPr>
          <a:xfrm>
            <a:off x="1298448" y="3328415"/>
            <a:ext cx="4494276" cy="1042416"/>
          </a:xfrm>
          <a:prstGeom prst="rect">
            <a:avLst/>
          </a:prstGeom>
          <a:noFill/>
        </p:spPr>
        <p:txBody>
          <a:bodyPr wrap="square" anchor="ctr" lIns="0" tIns="0" rIns="0" bIns="0">
            <a:spAutoFit/>
          </a:bodyPr>
          <a:lstStyle/>
          <a:p>
            <a:pPr algn="l"/>
            <a:r>
              <a:rPr sz="3120" b="1">
                <a:solidFill>
                  <a:srgbClr val="CF392B"/>
                </a:solidFill>
                <a:latin typeface="Bebas Neue"/>
              </a:rPr>
              <a:t>Feature space</a:t>
            </a:r>
          </a:p>
        </p:txBody>
      </p:sp>
      <p:sp>
        <p:nvSpPr>
          <p:cNvPr id="17" name="Rounded Rectangle 16"/>
          <p:cNvSpPr/>
          <p:nvPr/>
        </p:nvSpPr>
        <p:spPr>
          <a:xfrm>
            <a:off x="6195059" y="3255263"/>
            <a:ext cx="5536692" cy="1188720"/>
          </a:xfrm>
          <a:prstGeom prst="roundRect">
            <a:avLst>
              <a:gd name="adj" fmla="val 11846"/>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96227" y="3621023"/>
            <a:ext cx="457200" cy="457200"/>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19" name="TextBox 18"/>
          <p:cNvSpPr txBox="1"/>
          <p:nvPr/>
        </p:nvSpPr>
        <p:spPr>
          <a:xfrm>
            <a:off x="7036307" y="3328415"/>
            <a:ext cx="4494275" cy="1042416"/>
          </a:xfrm>
          <a:prstGeom prst="rect">
            <a:avLst/>
          </a:prstGeom>
          <a:noFill/>
        </p:spPr>
        <p:txBody>
          <a:bodyPr wrap="square" anchor="ctr" lIns="0" tIns="0" rIns="0" bIns="0">
            <a:spAutoFit/>
          </a:bodyPr>
          <a:lstStyle/>
          <a:p>
            <a:pPr algn="l"/>
            <a:r>
              <a:rPr sz="3120" b="1">
                <a:solidFill>
                  <a:srgbClr val="CF392B"/>
                </a:solidFill>
                <a:latin typeface="Bebas Neue"/>
              </a:rPr>
              <a:t>Hypothesis</a:t>
            </a:r>
          </a:p>
        </p:txBody>
      </p:sp>
      <p:sp>
        <p:nvSpPr>
          <p:cNvPr id="20" name="Rounded Rectangle 19"/>
          <p:cNvSpPr/>
          <p:nvPr/>
        </p:nvSpPr>
        <p:spPr>
          <a:xfrm>
            <a:off x="457200" y="4645152"/>
            <a:ext cx="5536692" cy="1188720"/>
          </a:xfrm>
          <a:prstGeom prst="roundRect">
            <a:avLst>
              <a:gd name="adj" fmla="val 11846"/>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5010912"/>
            <a:ext cx="457200" cy="457200"/>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5</a:t>
            </a:r>
          </a:p>
        </p:txBody>
      </p:sp>
      <p:sp>
        <p:nvSpPr>
          <p:cNvPr id="22" name="TextBox 21"/>
          <p:cNvSpPr txBox="1"/>
          <p:nvPr/>
        </p:nvSpPr>
        <p:spPr>
          <a:xfrm>
            <a:off x="1298448" y="4718304"/>
            <a:ext cx="4494276" cy="1042416"/>
          </a:xfrm>
          <a:prstGeom prst="rect">
            <a:avLst/>
          </a:prstGeom>
          <a:noFill/>
        </p:spPr>
        <p:txBody>
          <a:bodyPr wrap="square" anchor="ctr" lIns="0" tIns="0" rIns="0" bIns="0">
            <a:spAutoFit/>
          </a:bodyPr>
          <a:lstStyle/>
          <a:p>
            <a:pPr algn="l"/>
            <a:r>
              <a:rPr sz="3120" b="1">
                <a:solidFill>
                  <a:srgbClr val="CF392B"/>
                </a:solidFill>
                <a:latin typeface="Bebas Neue"/>
              </a:rPr>
              <a:t>Inductive bias</a:t>
            </a:r>
          </a:p>
        </p:txBody>
      </p:sp>
      <p:sp>
        <p:nvSpPr>
          <p:cNvPr id="23" name="Rounded Rectangle 22"/>
          <p:cNvSpPr/>
          <p:nvPr/>
        </p:nvSpPr>
        <p:spPr>
          <a:xfrm>
            <a:off x="6195059" y="4645152"/>
            <a:ext cx="5536692" cy="1188720"/>
          </a:xfrm>
          <a:prstGeom prst="roundRect">
            <a:avLst>
              <a:gd name="adj" fmla="val 11846"/>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96227" y="5010912"/>
            <a:ext cx="457200" cy="457200"/>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6</a:t>
            </a:r>
          </a:p>
        </p:txBody>
      </p:sp>
      <p:sp>
        <p:nvSpPr>
          <p:cNvPr id="25" name="TextBox 24"/>
          <p:cNvSpPr txBox="1"/>
          <p:nvPr/>
        </p:nvSpPr>
        <p:spPr>
          <a:xfrm>
            <a:off x="7036307" y="4718304"/>
            <a:ext cx="4494275" cy="1042416"/>
          </a:xfrm>
          <a:prstGeom prst="rect">
            <a:avLst/>
          </a:prstGeom>
          <a:noFill/>
        </p:spPr>
        <p:txBody>
          <a:bodyPr wrap="square" anchor="ctr" lIns="0" tIns="0" rIns="0" bIns="0">
            <a:spAutoFit/>
          </a:bodyPr>
          <a:lstStyle/>
          <a:p>
            <a:pPr algn="l"/>
            <a:r>
              <a:rPr sz="3120" b="1">
                <a:solidFill>
                  <a:srgbClr val="CF392B"/>
                </a:solidFill>
                <a:latin typeface="Bebas Neue"/>
              </a:rPr>
              <a:t>Variance</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50"/>
                                        <p:tgtEl>
                                          <p:spTgt spid="21"/>
                                        </p:tgtEl>
                                      </p:cBhvr>
                                    </p:animEffect>
                                  </p:childTnLst>
                                </p:cTn>
                              </p:par>
                              <p:par>
                                <p:cTn id="44" presetID="10" presetClass="entr" presetSubtype="0"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5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50"/>
                                        <p:tgtEl>
                                          <p:spTgt spid="23"/>
                                        </p:tgtEl>
                                      </p:cBhvr>
                                    </p:animEffect>
                                  </p:childTnLst>
                                </p:cTn>
                              </p:par>
                              <p:par>
                                <p:cTn id="52" presetID="10" presetClass="entr" presetSubtype="0" fill="hold"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450"/>
                                        <p:tgtEl>
                                          <p:spTgt spid="24"/>
                                        </p:tgtEl>
                                      </p:cBhvr>
                                    </p:animEffect>
                                  </p:childTnLst>
                                </p:cTn>
                              </p:par>
                              <p:par>
                                <p:cTn id="55" presetID="10" presetClass="entr" presetSubtype="0" fill="hold"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Syllabus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 / 34</a:t>
            </a:r>
          </a:p>
        </p:txBody>
      </p:sp>
      <p:sp>
        <p:nvSpPr>
          <p:cNvPr id="7" name="Rounded Rectangle 6">
            <a:hlinkClick r:id="rId3"/>
          </p:cNvPr>
          <p:cNvSpPr/>
          <p:nvPr/>
        </p:nvSpPr>
        <p:spPr>
          <a:xfrm>
            <a:off x="3722522" y="6455664"/>
            <a:ext cx="4743907" cy="310896"/>
          </a:xfrm>
          <a:prstGeom prst="roundRect">
            <a:avLst/>
          </a:prstGeom>
          <a:solidFill>
            <a:srgbClr val="1FAEDD"/>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Syllabus — step-through</a:t>
            </a:r>
          </a:p>
        </p:txBody>
      </p:sp>
      <p:pic>
        <p:nvPicPr>
          <p:cNvPr id="8" name="Picture 7" descr="image.png">
            <a:hlinkClick r:id="rId5"/>
          </p:cNvPr>
          <p:cNvPicPr>
            <a:picLocks noChangeAspect="1"/>
          </p:cNvPicPr>
          <p:nvPr/>
        </p:nvPicPr>
        <p:blipFill>
          <a:blip r:embed="rId4"/>
          <a:stretch>
            <a:fillRect/>
          </a:stretch>
        </p:blipFill>
        <p:spPr>
          <a:xfrm>
            <a:off x="8542324" y="1298448"/>
            <a:ext cx="3189427" cy="3986784"/>
          </a:xfrm>
          <a:prstGeom prst="rect">
            <a:avLst/>
          </a:prstGeom>
        </p:spPr>
      </p:pic>
      <p:sp>
        <p:nvSpPr>
          <p:cNvPr id="9" name="Rounded Rectangle 8"/>
          <p:cNvSpPr/>
          <p:nvPr/>
        </p:nvSpPr>
        <p:spPr>
          <a:xfrm>
            <a:off x="457200" y="1298448"/>
            <a:ext cx="7883956" cy="371372"/>
          </a:xfrm>
          <a:prstGeom prst="roundRect">
            <a:avLst>
              <a:gd name="adj" fmla="val 37918"/>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200670"/>
            <a:ext cx="566928" cy="566928"/>
          </a:xfrm>
          <a:prstGeom prst="ellipse">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6"/>
          <a:stretch>
            <a:fillRect/>
          </a:stretch>
        </p:blipFill>
        <p:spPr>
          <a:xfrm>
            <a:off x="771753" y="1314055"/>
            <a:ext cx="340156" cy="340156"/>
          </a:xfrm>
          <a:prstGeom prst="rect">
            <a:avLst/>
          </a:prstGeom>
        </p:spPr>
      </p:pic>
      <p:sp>
        <p:nvSpPr>
          <p:cNvPr id="12" name="TextBox 11"/>
          <p:cNvSpPr txBox="1"/>
          <p:nvPr/>
        </p:nvSpPr>
        <p:spPr>
          <a:xfrm>
            <a:off x="1408175" y="1371600"/>
            <a:ext cx="6731812" cy="225068"/>
          </a:xfrm>
          <a:prstGeom prst="rect">
            <a:avLst/>
          </a:prstGeom>
          <a:noFill/>
        </p:spPr>
        <p:txBody>
          <a:bodyPr wrap="square" anchor="ctr" lIns="0" tIns="0" rIns="0" bIns="0">
            <a:spAutoFit/>
          </a:bodyPr>
          <a:lstStyle/>
          <a:p>
            <a:pPr algn="l"/>
            <a:r>
              <a:rPr sz="1050" b="0">
                <a:solidFill>
                  <a:srgbClr val="111111"/>
                </a:solidFill>
                <a:latin typeface="Inter"/>
              </a:rPr>
              <a:t>Introduction to Machine Learning</a:t>
            </a:r>
          </a:p>
        </p:txBody>
      </p:sp>
      <p:sp>
        <p:nvSpPr>
          <p:cNvPr id="13" name="Rounded Rectangle 12"/>
          <p:cNvSpPr/>
          <p:nvPr/>
        </p:nvSpPr>
        <p:spPr>
          <a:xfrm>
            <a:off x="457200" y="1870988"/>
            <a:ext cx="7883956" cy="371372"/>
          </a:xfrm>
          <a:prstGeom prst="roundRect">
            <a:avLst>
              <a:gd name="adj" fmla="val 37918"/>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8368" y="1773210"/>
            <a:ext cx="566928" cy="566928"/>
          </a:xfrm>
          <a:prstGeom prst="ellipse">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7"/>
          <a:stretch>
            <a:fillRect/>
          </a:stretch>
        </p:blipFill>
        <p:spPr>
          <a:xfrm>
            <a:off x="771753" y="1886595"/>
            <a:ext cx="340156" cy="340156"/>
          </a:xfrm>
          <a:prstGeom prst="rect">
            <a:avLst/>
          </a:prstGeom>
        </p:spPr>
      </p:pic>
      <p:sp>
        <p:nvSpPr>
          <p:cNvPr id="16" name="TextBox 15"/>
          <p:cNvSpPr txBox="1"/>
          <p:nvPr/>
        </p:nvSpPr>
        <p:spPr>
          <a:xfrm>
            <a:off x="1408175" y="1944140"/>
            <a:ext cx="6731812" cy="225068"/>
          </a:xfrm>
          <a:prstGeom prst="rect">
            <a:avLst/>
          </a:prstGeom>
          <a:noFill/>
        </p:spPr>
        <p:txBody>
          <a:bodyPr wrap="square" anchor="ctr" lIns="0" tIns="0" rIns="0" bIns="0">
            <a:spAutoFit/>
          </a:bodyPr>
          <a:lstStyle/>
          <a:p>
            <a:pPr algn="l"/>
            <a:r>
              <a:rPr sz="1050" b="0">
                <a:solidFill>
                  <a:srgbClr val="111111"/>
                </a:solidFill>
                <a:latin typeface="Inter"/>
              </a:rPr>
              <a:t>Types of Machine Learning, Issues in Machine</a:t>
            </a:r>
          </a:p>
        </p:txBody>
      </p:sp>
      <p:sp>
        <p:nvSpPr>
          <p:cNvPr id="17" name="Rounded Rectangle 16"/>
          <p:cNvSpPr/>
          <p:nvPr/>
        </p:nvSpPr>
        <p:spPr>
          <a:xfrm>
            <a:off x="457200" y="2443528"/>
            <a:ext cx="7883956" cy="371372"/>
          </a:xfrm>
          <a:prstGeom prst="roundRect">
            <a:avLst>
              <a:gd name="adj" fmla="val 37918"/>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2345750"/>
            <a:ext cx="566928" cy="566928"/>
          </a:xfrm>
          <a:prstGeom prst="ellipse">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8"/>
          <a:stretch>
            <a:fillRect/>
          </a:stretch>
        </p:blipFill>
        <p:spPr>
          <a:xfrm>
            <a:off x="771753" y="2459136"/>
            <a:ext cx="340156" cy="340156"/>
          </a:xfrm>
          <a:prstGeom prst="rect">
            <a:avLst/>
          </a:prstGeom>
        </p:spPr>
      </p:pic>
      <p:sp>
        <p:nvSpPr>
          <p:cNvPr id="20" name="TextBox 19"/>
          <p:cNvSpPr txBox="1"/>
          <p:nvPr/>
        </p:nvSpPr>
        <p:spPr>
          <a:xfrm>
            <a:off x="1408175" y="2516680"/>
            <a:ext cx="6731812" cy="225068"/>
          </a:xfrm>
          <a:prstGeom prst="rect">
            <a:avLst/>
          </a:prstGeom>
          <a:noFill/>
        </p:spPr>
        <p:txBody>
          <a:bodyPr wrap="square" anchor="ctr" lIns="0" tIns="0" rIns="0" bIns="0">
            <a:spAutoFit/>
          </a:bodyPr>
          <a:lstStyle/>
          <a:p>
            <a:pPr algn="l"/>
            <a:r>
              <a:rPr sz="1050" b="0">
                <a:solidFill>
                  <a:srgbClr val="111111"/>
                </a:solidFill>
                <a:latin typeface="Inter"/>
              </a:rPr>
              <a:t>Steps involved in developing a Machine Learning</a:t>
            </a:r>
          </a:p>
        </p:txBody>
      </p:sp>
      <p:sp>
        <p:nvSpPr>
          <p:cNvPr id="21" name="Rounded Rectangle 20"/>
          <p:cNvSpPr/>
          <p:nvPr/>
        </p:nvSpPr>
        <p:spPr>
          <a:xfrm>
            <a:off x="457200" y="3016068"/>
            <a:ext cx="7883956" cy="371372"/>
          </a:xfrm>
          <a:prstGeom prst="roundRect">
            <a:avLst>
              <a:gd name="adj" fmla="val 37918"/>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58368" y="2918290"/>
            <a:ext cx="566928" cy="566928"/>
          </a:xfrm>
          <a:prstGeom prst="ellipse">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9"/>
          <a:stretch>
            <a:fillRect/>
          </a:stretch>
        </p:blipFill>
        <p:spPr>
          <a:xfrm>
            <a:off x="771753" y="3031676"/>
            <a:ext cx="340156" cy="340156"/>
          </a:xfrm>
          <a:prstGeom prst="rect">
            <a:avLst/>
          </a:prstGeom>
        </p:spPr>
      </p:pic>
      <p:sp>
        <p:nvSpPr>
          <p:cNvPr id="24" name="TextBox 23"/>
          <p:cNvSpPr txBox="1"/>
          <p:nvPr/>
        </p:nvSpPr>
        <p:spPr>
          <a:xfrm>
            <a:off x="1408175" y="3089220"/>
            <a:ext cx="6731812" cy="225068"/>
          </a:xfrm>
          <a:prstGeom prst="rect">
            <a:avLst/>
          </a:prstGeom>
          <a:noFill/>
        </p:spPr>
        <p:txBody>
          <a:bodyPr wrap="square" anchor="ctr" lIns="0" tIns="0" rIns="0" bIns="0">
            <a:spAutoFit/>
          </a:bodyPr>
          <a:lstStyle/>
          <a:p>
            <a:pPr algn="l"/>
            <a:r>
              <a:rPr sz="1050" b="0">
                <a:solidFill>
                  <a:srgbClr val="111111"/>
                </a:solidFill>
                <a:latin typeface="Inter"/>
              </a:rPr>
              <a:t>Hypothesis and Inductive Bias</a:t>
            </a:r>
          </a:p>
        </p:txBody>
      </p:sp>
      <p:sp>
        <p:nvSpPr>
          <p:cNvPr id="25" name="Rounded Rectangle 24"/>
          <p:cNvSpPr/>
          <p:nvPr/>
        </p:nvSpPr>
        <p:spPr>
          <a:xfrm>
            <a:off x="457200" y="3588608"/>
            <a:ext cx="7883956" cy="371372"/>
          </a:xfrm>
          <a:prstGeom prst="roundRect">
            <a:avLst>
              <a:gd name="adj" fmla="val 37918"/>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58368" y="3490830"/>
            <a:ext cx="566928" cy="566928"/>
          </a:xfrm>
          <a:prstGeom prst="ellipse">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10"/>
          <a:stretch>
            <a:fillRect/>
          </a:stretch>
        </p:blipFill>
        <p:spPr>
          <a:xfrm>
            <a:off x="771753" y="3604216"/>
            <a:ext cx="340156" cy="340156"/>
          </a:xfrm>
          <a:prstGeom prst="rect">
            <a:avLst/>
          </a:prstGeom>
        </p:spPr>
      </p:pic>
      <p:sp>
        <p:nvSpPr>
          <p:cNvPr id="28" name="TextBox 27"/>
          <p:cNvSpPr txBox="1"/>
          <p:nvPr/>
        </p:nvSpPr>
        <p:spPr>
          <a:xfrm>
            <a:off x="1408175" y="3661760"/>
            <a:ext cx="6731812" cy="225068"/>
          </a:xfrm>
          <a:prstGeom prst="rect">
            <a:avLst/>
          </a:prstGeom>
          <a:noFill/>
        </p:spPr>
        <p:txBody>
          <a:bodyPr wrap="square" anchor="ctr" lIns="0" tIns="0" rIns="0" bIns="0">
            <a:spAutoFit/>
          </a:bodyPr>
          <a:lstStyle/>
          <a:p>
            <a:pPr algn="l"/>
            <a:r>
              <a:rPr sz="1260" b="1">
                <a:solidFill>
                  <a:srgbClr val="CF392B"/>
                </a:solidFill>
                <a:latin typeface="Bebas Neue"/>
              </a:rPr>
              <a:t>Slide outlines</a:t>
            </a:r>
          </a:p>
          <a:p>
            <a:pPr algn="l">
              <a:spcBef>
                <a:spcPts val="500"/>
              </a:spcBef>
            </a:pPr>
            <a:r>
              <a:rPr sz="1050" b="0">
                <a:solidFill>
                  <a:srgbClr val="111111"/>
                </a:solidFill>
                <a:latin typeface="Inter"/>
              </a:rPr>
              <a:t>This slide outlines the course content, covering different machine learning categories, common challenges, real-world uses, the stages of building an ML system, and key concepts like hypothesis and inductive bias</a:t>
            </a:r>
          </a:p>
        </p:txBody>
      </p:sp>
      <p:sp>
        <p:nvSpPr>
          <p:cNvPr id="29" name="Rounded Rectangle 28"/>
          <p:cNvSpPr/>
          <p:nvPr/>
        </p:nvSpPr>
        <p:spPr>
          <a:xfrm>
            <a:off x="457200" y="4161149"/>
            <a:ext cx="7883956" cy="1124082"/>
          </a:xfrm>
          <a:prstGeom prst="roundRect">
            <a:avLst>
              <a:gd name="adj" fmla="val 8000"/>
            </a:avLst>
          </a:prstGeom>
          <a:solidFill>
            <a:srgbClr val="FB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4161149"/>
            <a:ext cx="73152" cy="1124082"/>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1286" y="4234301"/>
            <a:ext cx="7488935" cy="977778"/>
          </a:xfrm>
          <a:prstGeom prst="rect">
            <a:avLst/>
          </a:prstGeom>
          <a:noFill/>
        </p:spPr>
        <p:txBody>
          <a:bodyPr wrap="square" anchor="ctr" lIns="0" tIns="0" rIns="0" bIns="0">
            <a:spAutoFit/>
          </a:bodyPr>
          <a:lstStyle/>
          <a:p>
            <a:pPr algn="l"/>
            <a:r>
              <a:rPr sz="1010" b="1">
                <a:solidFill>
                  <a:srgbClr val="1FAEDD"/>
                </a:solidFill>
                <a:latin typeface="Bebas Neue"/>
              </a:rPr>
              <a:t>ALSO ON THIS SLIDE</a:t>
            </a:r>
          </a:p>
          <a:p>
            <a:pPr algn="l">
              <a:spcBef>
                <a:spcPts val="300"/>
              </a:spcBef>
            </a:pPr>
            <a:r>
              <a:rPr sz="1400" b="0">
                <a:solidFill>
                  <a:srgbClr val="111111"/>
                </a:solidFill>
                <a:latin typeface="Inter"/>
              </a:rPr>
              <a:t>Understanding these foundations helps students grasp how ML models are designed and evaluated. Example: Think of the syllabus as a roadmap for a journey into machine learning.</a:t>
            </a:r>
          </a:p>
        </p:txBody>
      </p:sp>
      <p:sp>
        <p:nvSpPr>
          <p:cNvPr id="32" name="Rounded Rectangle 31"/>
          <p:cNvSpPr/>
          <p:nvPr/>
        </p:nvSpPr>
        <p:spPr>
          <a:xfrm>
            <a:off x="457200" y="5486400"/>
            <a:ext cx="11274552" cy="914400"/>
          </a:xfrm>
          <a:prstGeom prst="roundRect">
            <a:avLst>
              <a:gd name="adj" fmla="val 20000"/>
            </a:avLst>
          </a:prstGeom>
          <a:solidFill>
            <a:srgbClr val="CDEDF7"/>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11422"/>
                </a:solidFill>
                <a:latin typeface="Bebas Neue"/>
              </a:rPr>
              <a:t>Key takeaway:  </a:t>
            </a:r>
            <a:r>
              <a:rPr sz="1300" b="0">
                <a:solidFill>
                  <a:srgbClr val="111111"/>
                </a:solidFill>
                <a:latin typeface="Inter"/>
              </a:rPr>
              <a:t>The syllabus maps ML types, challenges, applications, development steps, and core concepts.</a:t>
            </a:r>
          </a:p>
          <a:p>
            <a:pPr algn="l"/>
            <a:r>
              <a:rPr b="1" sz="1300">
                <a:solidFill>
                  <a:srgbClr val="111422"/>
                </a:solidFill>
                <a:latin typeface="Bebas Neue"/>
              </a:rPr>
              <a:t>Key terms:  </a:t>
            </a:r>
            <a:r>
              <a:rPr sz="1300" b="0">
                <a:solidFill>
                  <a:srgbClr val="111111"/>
                </a:solidFill>
                <a:latin typeface="Inter"/>
              </a:rPr>
              <a:t>Inductive bias — Assumptions a learning algorithm uses to predict unseen outputs.</a:t>
            </a:r>
          </a:p>
        </p:txBody>
      </p:sp>
      <p:sp>
        <p:nvSpPr>
          <p:cNvPr id="33" name="Rectangle 32"/>
          <p:cNvSpPr/>
          <p:nvPr/>
        </p:nvSpPr>
        <p:spPr>
          <a:xfrm>
            <a:off x="457200" y="5614416"/>
            <a:ext cx="82296" cy="658368"/>
          </a:xfrm>
          <a:prstGeom prst="rect">
            <a:avLst/>
          </a:prstGeom>
          <a:solidFill>
            <a:srgbClr val="1FA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5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5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50"/>
                                        <p:tgtEl>
                                          <p:spTgt spid="13"/>
                                        </p:tgtEl>
                                      </p:cBhvr>
                                    </p:animEffect>
                                  </p:childTnLst>
                                </p:cTn>
                              </p:par>
                              <p:par>
                                <p:cTn id="22" presetID="10"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50"/>
                                        <p:tgtEl>
                                          <p:spTgt spid="14"/>
                                        </p:tgtEl>
                                      </p:cBhvr>
                                    </p:animEffect>
                                  </p:childTnLst>
                                </p:cTn>
                              </p:par>
                              <p:par>
                                <p:cTn id="25" presetID="10"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50"/>
                                        <p:tgtEl>
                                          <p:spTgt spid="15"/>
                                        </p:tgtEl>
                                      </p:cBhvr>
                                    </p:animEffect>
                                  </p:childTnLst>
                                </p:cTn>
                              </p:par>
                              <p:par>
                                <p:cTn id="28" presetID="10" presetClass="entr" presetSubtype="0"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5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5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50"/>
                                        <p:tgtEl>
                                          <p:spTgt spid="18"/>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50"/>
                                        <p:tgtEl>
                                          <p:spTgt spid="19"/>
                                        </p:tgtEl>
                                      </p:cBhvr>
                                    </p:animEffect>
                                  </p:childTnLst>
                                </p:cTn>
                              </p:par>
                              <p:par>
                                <p:cTn id="42" presetID="10" presetClass="entr" presetSubtype="0" fill="hold"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50"/>
                                        <p:tgtEl>
                                          <p:spTgt spid="20"/>
                                        </p:tgtEl>
                                      </p:cBhvr>
                                    </p:animEffect>
                                  </p:childTnLst>
                                </p:cTn>
                              </p:par>
                              <p:par>
                                <p:cTn id="45" presetID="10" presetClass="entr" presetSubtype="0"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450"/>
                                        <p:tgtEl>
                                          <p:spTgt spid="21"/>
                                        </p:tgtEl>
                                      </p:cBhvr>
                                    </p:animEffect>
                                  </p:childTnLst>
                                </p:cTn>
                              </p:par>
                              <p:par>
                                <p:cTn id="48" presetID="10" presetClass="entr" presetSubtype="0" fill="hold"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450"/>
                                        <p:tgtEl>
                                          <p:spTgt spid="22"/>
                                        </p:tgtEl>
                                      </p:cBhvr>
                                    </p:animEffect>
                                  </p:childTnLst>
                                </p:cTn>
                              </p:par>
                              <p:par>
                                <p:cTn id="51" presetID="10" presetClass="entr" presetSubtype="0" fill="hold"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450"/>
                                        <p:tgtEl>
                                          <p:spTgt spid="23"/>
                                        </p:tgtEl>
                                      </p:cBhvr>
                                    </p:animEffect>
                                  </p:childTnLst>
                                </p:cTn>
                              </p:par>
                              <p:par>
                                <p:cTn id="54" presetID="10" presetClass="entr" presetSubtype="0" fill="hold"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450"/>
                                        <p:tgtEl>
                                          <p:spTgt spid="24"/>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450"/>
                                        <p:tgtEl>
                                          <p:spTgt spid="25"/>
                                        </p:tgtEl>
                                      </p:cBhvr>
                                    </p:animEffect>
                                  </p:childTnLst>
                                </p:cTn>
                              </p:par>
                              <p:par>
                                <p:cTn id="62" presetID="10" presetClass="entr" presetSubtype="0" fill="hold"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50"/>
                                        <p:tgtEl>
                                          <p:spTgt spid="26"/>
                                        </p:tgtEl>
                                      </p:cBhvr>
                                    </p:animEffect>
                                  </p:childTnLst>
                                </p:cTn>
                              </p:par>
                              <p:par>
                                <p:cTn id="65" presetID="10" presetClass="entr" presetSubtype="0" fill="hold"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450"/>
                                        <p:tgtEl>
                                          <p:spTgt spid="27"/>
                                        </p:tgtEl>
                                      </p:cBhvr>
                                    </p:animEffect>
                                  </p:childTnLst>
                                </p:cTn>
                              </p:par>
                              <p:par>
                                <p:cTn id="68" presetID="10" presetClass="entr" presetSubtype="0" fill="hold" nodeType="with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fade">
                                      <p:cBhvr>
                                        <p:cTn id="70" dur="450"/>
                                        <p:tgtEl>
                                          <p:spTgt spid="28"/>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450"/>
                                        <p:tgtEl>
                                          <p:spTgt spid="29"/>
                                        </p:tgtEl>
                                      </p:cBhvr>
                                    </p:animEffect>
                                  </p:childTnLst>
                                </p:cTn>
                              </p:par>
                              <p:par>
                                <p:cTn id="76" presetID="10" presetClass="entr" presetSubtype="0" fill="hold" nodeType="with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fade">
                                      <p:cBhvr>
                                        <p:cTn id="78" dur="450"/>
                                        <p:tgtEl>
                                          <p:spTgt spid="30"/>
                                        </p:tgtEl>
                                      </p:cBhvr>
                                    </p:animEffect>
                                  </p:childTnLst>
                                </p:cTn>
                              </p:par>
                              <p:par>
                                <p:cTn id="79" presetID="10" presetClass="entr" presetSubtype="0" fill="hold" nodeType="with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fade">
                                      <p:cBhvr>
                                        <p:cTn id="81" dur="450"/>
                                        <p:tgtEl>
                                          <p:spTgt spid="31"/>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32"/>
                                        </p:tgtEl>
                                        <p:attrNameLst>
                                          <p:attrName>style.visibility</p:attrName>
                                        </p:attrNameLst>
                                      </p:cBhvr>
                                      <p:to>
                                        <p:strVal val="visible"/>
                                      </p:to>
                                    </p:set>
                                    <p:animEffect transition="in" filter="fade">
                                      <p:cBhvr>
                                        <p:cTn id="86" dur="450"/>
                                        <p:tgtEl>
                                          <p:spTgt spid="32"/>
                                        </p:tgtEl>
                                      </p:cBhvr>
                                    </p:animEffect>
                                  </p:childTnLst>
                                </p:cTn>
                              </p:par>
                              <p:par>
                                <p:cTn id="87" presetID="10" presetClass="entr" presetSubtype="0" fill="hold" nodeType="withEffect">
                                  <p:stCondLst>
                                    <p:cond delay="0"/>
                                  </p:stCondLst>
                                  <p:childTnLst>
                                    <p:set>
                                      <p:cBhvr>
                                        <p:cTn id="88" dur="1" fill="hold">
                                          <p:stCondLst>
                                            <p:cond delay="0"/>
                                          </p:stCondLst>
                                        </p:cTn>
                                        <p:tgtEl>
                                          <p:spTgt spid="33"/>
                                        </p:tgtEl>
                                        <p:attrNameLst>
                                          <p:attrName>style.visibility</p:attrName>
                                        </p:attrNameLst>
                                      </p:cBhvr>
                                      <p:to>
                                        <p:strVal val="visible"/>
                                      </p:to>
                                    </p:set>
                                    <p:animEffect transition="in" filter="fade">
                                      <p:cBhvr>
                                        <p:cTn id="89" dur="4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Syllabus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 / 34</a:t>
            </a:r>
          </a:p>
        </p:txBody>
      </p:sp>
      <p:sp>
        <p:nvSpPr>
          <p:cNvPr id="7" name="Rounded Rectangle 6"/>
          <p:cNvSpPr/>
          <p:nvPr/>
        </p:nvSpPr>
        <p:spPr>
          <a:xfrm>
            <a:off x="1687068" y="1298448"/>
            <a:ext cx="8814815" cy="5102352"/>
          </a:xfrm>
          <a:prstGeom prst="roundRect">
            <a:avLst>
              <a:gd name="adj" fmla="val 3000"/>
            </a:avLst>
          </a:prstGeom>
          <a:solidFill>
            <a:srgbClr val="FFFFFF"/>
          </a:solidFill>
          <a:ln w="12700">
            <a:solidFill>
              <a:srgbClr val="EBAF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851660" y="1463040"/>
            <a:ext cx="8485632" cy="4773168"/>
          </a:xfrm>
          <a:prstGeom prst="rect">
            <a:avLst/>
          </a:prstGeom>
        </p:spPr>
      </p:pic>
    </p:spTree>
  </p:cSld>
  <p:clrMapOvr>
    <a:masterClrMapping/>
  </p:clrMapOvr>
  <p:transition spd="med">
    <p:zoom dir="in"/>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Training data shapes the model by providing incomplete information and influencing predictions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 / 34</a:t>
            </a:r>
          </a:p>
        </p:txBody>
      </p:sp>
      <p:pic>
        <p:nvPicPr>
          <p:cNvPr id="7" name="Picture 6" descr="image.jpg"/>
          <p:cNvPicPr>
            <a:picLocks noChangeAspect="1"/>
          </p:cNvPicPr>
          <p:nvPr/>
        </p:nvPicPr>
        <p:blipFill>
          <a:blip r:embed="rId3"/>
          <a:stretch>
            <a:fillRect/>
          </a:stretch>
        </p:blipFill>
        <p:spPr>
          <a:xfrm>
            <a:off x="7672913" y="2113587"/>
            <a:ext cx="4058838" cy="2356505"/>
          </a:xfrm>
          <a:prstGeom prst="rect">
            <a:avLst/>
          </a:prstGeom>
        </p:spPr>
      </p:pic>
      <p:sp>
        <p:nvSpPr>
          <p:cNvPr id="8" name="Rectangle 7"/>
          <p:cNvSpPr/>
          <p:nvPr/>
        </p:nvSpPr>
        <p:spPr>
          <a:xfrm>
            <a:off x="457200" y="1519549"/>
            <a:ext cx="82296" cy="335036"/>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82973"/>
            <a:ext cx="6278614" cy="353324"/>
          </a:xfrm>
          <a:prstGeom prst="rect">
            <a:avLst/>
          </a:prstGeom>
          <a:noFill/>
        </p:spPr>
        <p:txBody>
          <a:bodyPr wrap="square" anchor="t" lIns="0" tIns="0" rIns="0" bIns="0">
            <a:spAutoFit/>
          </a:bodyPr>
          <a:lstStyle/>
          <a:p>
            <a:pPr algn="l"/>
            <a:r>
              <a:rPr sz="2210" b="1">
                <a:solidFill>
                  <a:srgbClr val="CF392B"/>
                </a:solidFill>
                <a:latin typeface="Bebas Neue"/>
              </a:rPr>
              <a:t>Training data.</a:t>
            </a:r>
          </a:p>
        </p:txBody>
      </p:sp>
      <p:sp>
        <p:nvSpPr>
          <p:cNvPr id="10" name="TextBox 9"/>
          <p:cNvSpPr txBox="1"/>
          <p:nvPr/>
        </p:nvSpPr>
        <p:spPr>
          <a:xfrm>
            <a:off x="720547" y="2028322"/>
            <a:ext cx="6278614" cy="256032"/>
          </a:xfrm>
          <a:prstGeom prst="rect">
            <a:avLst/>
          </a:prstGeom>
          <a:noFill/>
        </p:spPr>
        <p:txBody>
          <a:bodyPr wrap="square" lIns="0" rIns="0" tIns="0" bIns="0">
            <a:spAutoFit/>
          </a:bodyPr>
          <a:lstStyle/>
          <a:p>
            <a:r>
              <a:rPr sz="1600">
                <a:solidFill>
                  <a:srgbClr val="111111"/>
                </a:solidFill>
                <a:latin typeface="Inter"/>
              </a:rPr>
              <a:t>Incomplete information.</a:t>
            </a:r>
          </a:p>
        </p:txBody>
      </p:sp>
      <p:sp>
        <p:nvSpPr>
          <p:cNvPr id="11" name="TextBox 10"/>
          <p:cNvSpPr txBox="1"/>
          <p:nvPr/>
        </p:nvSpPr>
        <p:spPr>
          <a:xfrm>
            <a:off x="720547" y="2412370"/>
            <a:ext cx="6278614" cy="256032"/>
          </a:xfrm>
          <a:prstGeom prst="rect">
            <a:avLst/>
          </a:prstGeom>
          <a:noFill/>
        </p:spPr>
        <p:txBody>
          <a:bodyPr wrap="square" lIns="0" rIns="0" tIns="0" bIns="0">
            <a:spAutoFit/>
          </a:bodyPr>
          <a:lstStyle/>
          <a:p>
            <a:r>
              <a:rPr sz="1600">
                <a:solidFill>
                  <a:srgbClr val="111111"/>
                </a:solidFill>
                <a:latin typeface="Inter"/>
              </a:rPr>
              <a:t>Model makes assumptions.</a:t>
            </a:r>
          </a:p>
        </p:txBody>
      </p:sp>
      <p:sp>
        <p:nvSpPr>
          <p:cNvPr id="12" name="TextBox 11"/>
          <p:cNvSpPr txBox="1"/>
          <p:nvPr/>
        </p:nvSpPr>
        <p:spPr>
          <a:xfrm>
            <a:off x="720547" y="2796418"/>
            <a:ext cx="6278614" cy="256032"/>
          </a:xfrm>
          <a:prstGeom prst="rect">
            <a:avLst/>
          </a:prstGeom>
          <a:noFill/>
        </p:spPr>
        <p:txBody>
          <a:bodyPr wrap="square" lIns="0" rIns="0" tIns="0" bIns="0">
            <a:spAutoFit/>
          </a:bodyPr>
          <a:lstStyle/>
          <a:p>
            <a:r>
              <a:rPr sz="1600">
                <a:solidFill>
                  <a:srgbClr val="111111"/>
                </a:solidFill>
                <a:latin typeface="Inter"/>
              </a:rPr>
              <a:t>Training data supplies the examples the model learns from.</a:t>
            </a:r>
          </a:p>
        </p:txBody>
      </p:sp>
      <p:sp>
        <p:nvSpPr>
          <p:cNvPr id="13" name="TextBox 12"/>
          <p:cNvSpPr txBox="1"/>
          <p:nvPr/>
        </p:nvSpPr>
        <p:spPr>
          <a:xfrm>
            <a:off x="720547" y="3180466"/>
            <a:ext cx="6278614" cy="512064"/>
          </a:xfrm>
          <a:prstGeom prst="rect">
            <a:avLst/>
          </a:prstGeom>
          <a:noFill/>
        </p:spPr>
        <p:txBody>
          <a:bodyPr wrap="square" lIns="0" rIns="0" tIns="0" bIns="0">
            <a:spAutoFit/>
          </a:bodyPr>
          <a:lstStyle/>
          <a:p>
            <a:r>
              <a:rPr sz="990" b="1">
                <a:solidFill>
                  <a:srgbClr val="1D4ED8"/>
                </a:solidFill>
                <a:latin typeface="Bebas Neue"/>
              </a:rPr>
              <a:t>BECAUSE   </a:t>
            </a:r>
            <a:r>
              <a:rPr sz="1600" b="1">
                <a:solidFill>
                  <a:srgbClr val="1D4ED8"/>
                </a:solidFill>
                <a:latin typeface="Bebas Neue"/>
              </a:rPr>
              <a:t>Because</a:t>
            </a:r>
            <a:r>
              <a:rPr sz="1600">
                <a:solidFill>
                  <a:srgbClr val="111111"/>
                </a:solidFill>
                <a:latin typeface="Inter"/>
              </a:rPr>
              <a:t> data is often incomplete, the model must make assumptions to generalize.</a:t>
            </a:r>
          </a:p>
        </p:txBody>
      </p:sp>
      <p:sp>
        <p:nvSpPr>
          <p:cNvPr id="14" name="TextBox 13"/>
          <p:cNvSpPr txBox="1"/>
          <p:nvPr/>
        </p:nvSpPr>
        <p:spPr>
          <a:xfrm>
            <a:off x="994867" y="3820546"/>
            <a:ext cx="6004294" cy="512064"/>
          </a:xfrm>
          <a:prstGeom prst="rect">
            <a:avLst/>
          </a:prstGeom>
          <a:noFill/>
        </p:spPr>
        <p:txBody>
          <a:bodyPr wrap="square" lIns="0" rIns="0" tIns="0" bIns="0">
            <a:spAutoFit/>
          </a:bodyPr>
          <a:lstStyle/>
          <a:p>
            <a:r>
              <a:rPr sz="1600">
                <a:solidFill>
                  <a:srgbClr val="111111"/>
                </a:solidFill>
                <a:latin typeface="Inter"/>
              </a:rPr>
              <a:t>These assumptions guide how the model predicts new instances.</a:t>
            </a:r>
          </a:p>
        </p:txBody>
      </p:sp>
      <p:sp>
        <p:nvSpPr>
          <p:cNvPr id="15" name="TextBox 14"/>
          <p:cNvSpPr txBox="1"/>
          <p:nvPr/>
        </p:nvSpPr>
        <p:spPr>
          <a:xfrm>
            <a:off x="994867" y="4460626"/>
            <a:ext cx="6004294" cy="512064"/>
          </a:xfrm>
          <a:prstGeom prst="rect">
            <a:avLst/>
          </a:prstGeom>
          <a:noFill/>
        </p:spPr>
        <p:txBody>
          <a:bodyPr wrap="square" lIns="0" rIns="0" tIns="0" bIns="0">
            <a:spAutoFit/>
          </a:bodyPr>
          <a:lstStyle/>
          <a:p>
            <a:r>
              <a:rPr sz="990" b="1">
                <a:solidFill>
                  <a:srgbClr val="0F766E"/>
                </a:solidFill>
                <a:latin typeface="Bebas Neue"/>
              </a:rPr>
              <a:t>E.G.   </a:t>
            </a:r>
            <a:r>
              <a:rPr sz="1600">
                <a:solidFill>
                  <a:srgbClr val="111111"/>
                </a:solidFill>
                <a:latin typeface="Inter"/>
              </a:rPr>
              <a:t>Example: </a:t>
            </a:r>
            <a:r>
              <a:rPr sz="1600" b="1">
                <a:solidFill>
                  <a:srgbClr val="0F766E"/>
                </a:solidFill>
                <a:latin typeface="Bebas Neue"/>
              </a:rPr>
              <a:t>Like</a:t>
            </a:r>
            <a:r>
              <a:rPr sz="1600">
                <a:solidFill>
                  <a:srgbClr val="111111"/>
                </a:solidFill>
                <a:latin typeface="Inter"/>
              </a:rPr>
              <a:t> learning to recognize cats from a few pictures, the model infers unseen features.</a:t>
            </a:r>
          </a:p>
        </p:txBody>
      </p:sp>
      <p:sp>
        <p:nvSpPr>
          <p:cNvPr id="16" name="Rounded Rectangle 15"/>
          <p:cNvSpPr/>
          <p:nvPr/>
        </p:nvSpPr>
        <p:spPr>
          <a:xfrm>
            <a:off x="457200" y="5486400"/>
            <a:ext cx="11274552" cy="914400"/>
          </a:xfrm>
          <a:prstGeom prst="roundRect">
            <a:avLst>
              <a:gd name="adj" fmla="val 20000"/>
            </a:avLst>
          </a:prstGeom>
          <a:solidFill>
            <a:srgbClr val="CDEDF7"/>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11422"/>
                </a:solidFill>
                <a:latin typeface="Bebas Neue"/>
              </a:rPr>
              <a:t>Key takeaway:  </a:t>
            </a:r>
            <a:r>
              <a:rPr sz="1300" b="0">
                <a:solidFill>
                  <a:srgbClr val="111111"/>
                </a:solidFill>
                <a:latin typeface="Inter"/>
              </a:rPr>
              <a:t>Training data gives incomplete clues, forcing the model to assume patterns for new cases.</a:t>
            </a:r>
          </a:p>
          <a:p>
            <a:pPr algn="l"/>
            <a:r>
              <a:rPr b="1" sz="1300">
                <a:solidFill>
                  <a:srgbClr val="111422"/>
                </a:solidFill>
                <a:latin typeface="Bebas Neue"/>
              </a:rPr>
              <a:t>Key terms:  </a:t>
            </a:r>
            <a:r>
              <a:rPr sz="1300" b="0">
                <a:solidFill>
                  <a:srgbClr val="111111"/>
                </a:solidFill>
                <a:latin typeface="Inter"/>
              </a:rPr>
              <a:t>Model — A mathematical representation that maps inputs to outputs.</a:t>
            </a:r>
          </a:p>
        </p:txBody>
      </p:sp>
      <p:sp>
        <p:nvSpPr>
          <p:cNvPr id="17" name="Rectangle 16"/>
          <p:cNvSpPr/>
          <p:nvPr/>
        </p:nvSpPr>
        <p:spPr>
          <a:xfrm>
            <a:off x="457200" y="5614416"/>
            <a:ext cx="82296" cy="658368"/>
          </a:xfrm>
          <a:prstGeom prst="rect">
            <a:avLst/>
          </a:prstGeom>
          <a:solidFill>
            <a:srgbClr val="1FA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par>
                                <p:cTn id="34" presetID="10" presetClass="entr" presetSubtype="0"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par>
                                <p:cTn id="42" presetID="10" presetClass="entr" presetSubtype="0" fill="hold"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1</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 / 34</a:t>
            </a:r>
          </a:p>
        </p:txBody>
      </p:sp>
      <p:sp>
        <p:nvSpPr>
          <p:cNvPr id="7" name="Rounded Rectangle 6"/>
          <p:cNvSpPr/>
          <p:nvPr/>
        </p:nvSpPr>
        <p:spPr>
          <a:xfrm>
            <a:off x="457200" y="1298448"/>
            <a:ext cx="11274552" cy="1326611"/>
          </a:xfrm>
          <a:prstGeom prst="roundRect">
            <a:avLst>
              <a:gd name="adj" fmla="val 10614"/>
            </a:avLst>
          </a:prstGeom>
          <a:solidFill>
            <a:srgbClr val="FAEBE9"/>
          </a:solidFill>
          <a:ln w="12700">
            <a:solidFill>
              <a:srgbClr val="CF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CF392B"/>
                </a:solidFill>
                <a:latin typeface="Bebas Neue"/>
              </a:rPr>
              <a:t>Which term matches this description: “A mathematical representation that maps inputs to outputs.”?</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Bias</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overfitting</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variance</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Model</a:t>
            </a:r>
          </a:p>
        </p:txBody>
      </p:sp>
      <p:sp>
        <p:nvSpPr>
          <p:cNvPr id="22" name="Rounded Rectangle 21"/>
          <p:cNvSpPr/>
          <p:nvPr/>
        </p:nvSpPr>
        <p:spPr>
          <a:xfrm>
            <a:off x="457200" y="5380329"/>
            <a:ext cx="11274552" cy="1020470"/>
          </a:xfrm>
          <a:prstGeom prst="roundRect">
            <a:avLst>
              <a:gd name="adj" fmla="val 12000"/>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D</a:t>
            </a:r>
          </a:p>
          <a:p>
            <a:pPr algn="l">
              <a:spcBef>
                <a:spcPts val="200"/>
              </a:spcBef>
            </a:pPr>
            <a:r>
              <a:rPr sz="1600" b="0">
                <a:solidFill>
                  <a:srgbClr val="FFFFFF"/>
                </a:solidFill>
                <a:latin typeface="Inter"/>
              </a:rPr>
              <a:t>Model: A mathematical representation that maps inputs to outputs.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Supervised learning uses features and outputs to learn continuous or discrete patterns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 / 34</a:t>
            </a:r>
          </a:p>
        </p:txBody>
      </p:sp>
      <p:pic>
        <p:nvPicPr>
          <p:cNvPr id="7" name="Picture 6" descr="image.png"/>
          <p:cNvPicPr>
            <a:picLocks noChangeAspect="1"/>
          </p:cNvPicPr>
          <p:nvPr/>
        </p:nvPicPr>
        <p:blipFill>
          <a:blip r:embed="rId3"/>
          <a:stretch>
            <a:fillRect/>
          </a:stretch>
        </p:blipFill>
        <p:spPr>
          <a:xfrm>
            <a:off x="7672913" y="2427808"/>
            <a:ext cx="4058838" cy="1728062"/>
          </a:xfrm>
          <a:prstGeom prst="rect">
            <a:avLst/>
          </a:prstGeom>
        </p:spPr>
      </p:pic>
      <p:sp>
        <p:nvSpPr>
          <p:cNvPr id="8" name="Rounded Rectangle 7"/>
          <p:cNvSpPr/>
          <p:nvPr/>
        </p:nvSpPr>
        <p:spPr>
          <a:xfrm>
            <a:off x="457200" y="1298448"/>
            <a:ext cx="3406688" cy="914365"/>
          </a:xfrm>
          <a:prstGeom prst="roundRect">
            <a:avLst>
              <a:gd name="adj" fmla="val 15400"/>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72166"/>
            <a:ext cx="566928" cy="566928"/>
          </a:xfrm>
          <a:prstGeom prst="ellipse">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4"/>
          <a:stretch>
            <a:fillRect/>
          </a:stretch>
        </p:blipFill>
        <p:spPr>
          <a:xfrm>
            <a:off x="771753" y="1585552"/>
            <a:ext cx="340156" cy="340156"/>
          </a:xfrm>
          <a:prstGeom prst="rect">
            <a:avLst/>
          </a:prstGeom>
        </p:spPr>
      </p:pic>
      <p:sp>
        <p:nvSpPr>
          <p:cNvPr id="11" name="TextBox 10"/>
          <p:cNvSpPr txBox="1"/>
          <p:nvPr/>
        </p:nvSpPr>
        <p:spPr>
          <a:xfrm>
            <a:off x="1408175" y="1371600"/>
            <a:ext cx="2254544" cy="768061"/>
          </a:xfrm>
          <a:prstGeom prst="rect">
            <a:avLst/>
          </a:prstGeom>
          <a:noFill/>
        </p:spPr>
        <p:txBody>
          <a:bodyPr wrap="square" anchor="ctr" lIns="0" tIns="0" rIns="0" bIns="0">
            <a:spAutoFit/>
          </a:bodyPr>
          <a:lstStyle/>
          <a:p>
            <a:pPr algn="l"/>
            <a:r>
              <a:rPr sz="1610" b="0">
                <a:solidFill>
                  <a:srgbClr val="111111"/>
                </a:solidFill>
                <a:latin typeface="Inter"/>
              </a:rPr>
              <a:t>Features (X)</a:t>
            </a:r>
          </a:p>
        </p:txBody>
      </p:sp>
      <p:sp>
        <p:nvSpPr>
          <p:cNvPr id="12" name="Rounded Rectangle 11"/>
          <p:cNvSpPr/>
          <p:nvPr/>
        </p:nvSpPr>
        <p:spPr>
          <a:xfrm>
            <a:off x="4065056" y="1298448"/>
            <a:ext cx="3406688" cy="914365"/>
          </a:xfrm>
          <a:prstGeom prst="roundRect">
            <a:avLst>
              <a:gd name="adj" fmla="val 15400"/>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266224" y="1472166"/>
            <a:ext cx="566928" cy="566928"/>
          </a:xfrm>
          <a:prstGeom prst="ellipse">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5"/>
          <a:stretch>
            <a:fillRect/>
          </a:stretch>
        </p:blipFill>
        <p:spPr>
          <a:xfrm>
            <a:off x="4379610" y="1585552"/>
            <a:ext cx="340156" cy="340156"/>
          </a:xfrm>
          <a:prstGeom prst="rect">
            <a:avLst/>
          </a:prstGeom>
        </p:spPr>
      </p:pic>
      <p:sp>
        <p:nvSpPr>
          <p:cNvPr id="15" name="TextBox 14"/>
          <p:cNvSpPr txBox="1"/>
          <p:nvPr/>
        </p:nvSpPr>
        <p:spPr>
          <a:xfrm>
            <a:off x="5016032" y="1371600"/>
            <a:ext cx="2254544" cy="768061"/>
          </a:xfrm>
          <a:prstGeom prst="rect">
            <a:avLst/>
          </a:prstGeom>
          <a:noFill/>
        </p:spPr>
        <p:txBody>
          <a:bodyPr wrap="square" anchor="ctr" lIns="0" tIns="0" rIns="0" bIns="0">
            <a:spAutoFit/>
          </a:bodyPr>
          <a:lstStyle/>
          <a:p>
            <a:pPr algn="l"/>
            <a:r>
              <a:rPr sz="1610" b="0">
                <a:solidFill>
                  <a:srgbClr val="111111"/>
                </a:solidFill>
                <a:latin typeface="Inter"/>
              </a:rPr>
              <a:t>Output (Y)</a:t>
            </a:r>
          </a:p>
        </p:txBody>
      </p:sp>
      <p:sp>
        <p:nvSpPr>
          <p:cNvPr id="16" name="Rounded Rectangle 15"/>
          <p:cNvSpPr/>
          <p:nvPr/>
        </p:nvSpPr>
        <p:spPr>
          <a:xfrm>
            <a:off x="457200" y="2413981"/>
            <a:ext cx="3406688" cy="914365"/>
          </a:xfrm>
          <a:prstGeom prst="roundRect">
            <a:avLst>
              <a:gd name="adj" fmla="val 15400"/>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587700"/>
            <a:ext cx="566928" cy="566928"/>
          </a:xfrm>
          <a:prstGeom prst="ellipse">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6"/>
          <a:stretch>
            <a:fillRect/>
          </a:stretch>
        </p:blipFill>
        <p:spPr>
          <a:xfrm>
            <a:off x="771753" y="2701086"/>
            <a:ext cx="340156" cy="340156"/>
          </a:xfrm>
          <a:prstGeom prst="rect">
            <a:avLst/>
          </a:prstGeom>
        </p:spPr>
      </p:pic>
      <p:sp>
        <p:nvSpPr>
          <p:cNvPr id="19" name="TextBox 18"/>
          <p:cNvSpPr txBox="1"/>
          <p:nvPr/>
        </p:nvSpPr>
        <p:spPr>
          <a:xfrm>
            <a:off x="1408175" y="2487133"/>
            <a:ext cx="2254544" cy="768061"/>
          </a:xfrm>
          <a:prstGeom prst="rect">
            <a:avLst/>
          </a:prstGeom>
          <a:noFill/>
        </p:spPr>
        <p:txBody>
          <a:bodyPr wrap="square" anchor="ctr" lIns="0" tIns="0" rIns="0" bIns="0">
            <a:spAutoFit/>
          </a:bodyPr>
          <a:lstStyle/>
          <a:p>
            <a:pPr algn="l"/>
            <a:r>
              <a:rPr sz="1260" b="1">
                <a:solidFill>
                  <a:srgbClr val="CF392B"/>
                </a:solidFill>
                <a:latin typeface="Bebas Neue"/>
              </a:rPr>
              <a:t>Supervised learning, each</a:t>
            </a:r>
          </a:p>
          <a:p>
            <a:pPr algn="l">
              <a:spcBef>
                <a:spcPts val="500"/>
              </a:spcBef>
            </a:pPr>
            <a:r>
              <a:rPr sz="1050" b="0">
                <a:solidFill>
                  <a:srgbClr val="111111"/>
                </a:solidFill>
                <a:latin typeface="Inter"/>
              </a:rPr>
              <a:t>In supervised learning, each instance has input features (X) and an output label (Y)</a:t>
            </a:r>
          </a:p>
        </p:txBody>
      </p:sp>
      <p:sp>
        <p:nvSpPr>
          <p:cNvPr id="20" name="Rounded Rectangle 19"/>
          <p:cNvSpPr/>
          <p:nvPr/>
        </p:nvSpPr>
        <p:spPr>
          <a:xfrm>
            <a:off x="4065056" y="2413981"/>
            <a:ext cx="3406688" cy="914365"/>
          </a:xfrm>
          <a:prstGeom prst="roundRect">
            <a:avLst>
              <a:gd name="adj" fmla="val 15400"/>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266224" y="2587700"/>
            <a:ext cx="566928" cy="566928"/>
          </a:xfrm>
          <a:prstGeom prst="ellipse">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7"/>
          <a:stretch>
            <a:fillRect/>
          </a:stretch>
        </p:blipFill>
        <p:spPr>
          <a:xfrm>
            <a:off x="4379610" y="2701086"/>
            <a:ext cx="340156" cy="340156"/>
          </a:xfrm>
          <a:prstGeom prst="rect">
            <a:avLst/>
          </a:prstGeom>
        </p:spPr>
      </p:pic>
      <p:sp>
        <p:nvSpPr>
          <p:cNvPr id="23" name="TextBox 22"/>
          <p:cNvSpPr txBox="1"/>
          <p:nvPr/>
        </p:nvSpPr>
        <p:spPr>
          <a:xfrm>
            <a:off x="5016032" y="2487133"/>
            <a:ext cx="2254544" cy="768061"/>
          </a:xfrm>
          <a:prstGeom prst="rect">
            <a:avLst/>
          </a:prstGeom>
          <a:noFill/>
        </p:spPr>
        <p:txBody>
          <a:bodyPr wrap="square" anchor="ctr" lIns="0" tIns="0" rIns="0" bIns="0">
            <a:spAutoFit/>
          </a:bodyPr>
          <a:lstStyle/>
          <a:p>
            <a:pPr algn="l"/>
            <a:r>
              <a:rPr sz="1260" b="1">
                <a:solidFill>
                  <a:srgbClr val="CF392B"/>
                </a:solidFill>
                <a:latin typeface="Bebas Neue"/>
              </a:rPr>
              <a:t>Algorithm learns</a:t>
            </a:r>
          </a:p>
          <a:p>
            <a:pPr algn="l">
              <a:spcBef>
                <a:spcPts val="500"/>
              </a:spcBef>
            </a:pPr>
            <a:r>
              <a:rPr sz="1050" b="0">
                <a:solidFill>
                  <a:srgbClr val="111111"/>
                </a:solidFill>
                <a:latin typeface="Inter"/>
              </a:rPr>
              <a:t>The algorithm learns a mapping that can predict continuous values or discrete categories</a:t>
            </a:r>
          </a:p>
        </p:txBody>
      </p:sp>
      <p:sp>
        <p:nvSpPr>
          <p:cNvPr id="24" name="Rounded Rectangle 23"/>
          <p:cNvSpPr/>
          <p:nvPr/>
        </p:nvSpPr>
        <p:spPr>
          <a:xfrm>
            <a:off x="457200" y="3529515"/>
            <a:ext cx="7014545" cy="914365"/>
          </a:xfrm>
          <a:prstGeom prst="roundRect">
            <a:avLst>
              <a:gd name="adj" fmla="val 15400"/>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3703234"/>
            <a:ext cx="566928" cy="566928"/>
          </a:xfrm>
          <a:prstGeom prst="ellipse">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8"/>
          <a:stretch>
            <a:fillRect/>
          </a:stretch>
        </p:blipFill>
        <p:spPr>
          <a:xfrm>
            <a:off x="771753" y="3816620"/>
            <a:ext cx="340156" cy="340156"/>
          </a:xfrm>
          <a:prstGeom prst="rect">
            <a:avLst/>
          </a:prstGeom>
        </p:spPr>
      </p:pic>
      <p:sp>
        <p:nvSpPr>
          <p:cNvPr id="27" name="TextBox 26"/>
          <p:cNvSpPr txBox="1"/>
          <p:nvPr/>
        </p:nvSpPr>
        <p:spPr>
          <a:xfrm>
            <a:off x="1408175" y="3602667"/>
            <a:ext cx="5862401" cy="768061"/>
          </a:xfrm>
          <a:prstGeom prst="rect">
            <a:avLst/>
          </a:prstGeom>
          <a:noFill/>
        </p:spPr>
        <p:txBody>
          <a:bodyPr wrap="square" anchor="ctr" lIns="0" tIns="0" rIns="0" bIns="0">
            <a:spAutoFit/>
          </a:bodyPr>
          <a:lstStyle/>
          <a:p>
            <a:pPr algn="l"/>
            <a:r>
              <a:rPr sz="1610" b="0">
                <a:solidFill>
                  <a:srgbClr val="111111"/>
                </a:solidFill>
                <a:latin typeface="Inter"/>
              </a:rPr>
              <a:t>Example: Predicting house prices (continuous) or spam emails (discrete)</a:t>
            </a:r>
          </a:p>
        </p:txBody>
      </p:sp>
      <p:sp>
        <p:nvSpPr>
          <p:cNvPr id="28" name="Rounded Rectangle 27"/>
          <p:cNvSpPr/>
          <p:nvPr/>
        </p:nvSpPr>
        <p:spPr>
          <a:xfrm>
            <a:off x="457200" y="4645049"/>
            <a:ext cx="7014545" cy="640182"/>
          </a:xfrm>
          <a:prstGeom prst="roundRect">
            <a:avLst>
              <a:gd name="adj" fmla="val 8000"/>
            </a:avLst>
          </a:prstGeom>
          <a:solidFill>
            <a:srgbClr val="FB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4645049"/>
            <a:ext cx="73152" cy="640182"/>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1286" y="4718201"/>
            <a:ext cx="6619524" cy="493878"/>
          </a:xfrm>
          <a:prstGeom prst="rect">
            <a:avLst/>
          </a:prstGeom>
          <a:noFill/>
        </p:spPr>
        <p:txBody>
          <a:bodyPr wrap="square" anchor="ctr" lIns="0" tIns="0" rIns="0" bIns="0">
            <a:spAutoFit/>
          </a:bodyPr>
          <a:lstStyle/>
          <a:p>
            <a:pPr algn="l"/>
            <a:r>
              <a:rPr sz="1010" b="1">
                <a:solidFill>
                  <a:srgbClr val="1FAEDD"/>
                </a:solidFill>
                <a:latin typeface="Bebas Neue"/>
              </a:rPr>
              <a:t>ALSO ON THIS SLIDE</a:t>
            </a:r>
          </a:p>
          <a:p>
            <a:pPr algn="l">
              <a:spcBef>
                <a:spcPts val="300"/>
              </a:spcBef>
            </a:pPr>
            <a:r>
              <a:rPr sz="1400" b="0">
                <a:solidFill>
                  <a:srgbClr val="111111"/>
                </a:solidFill>
                <a:latin typeface="Inter"/>
              </a:rPr>
              <a:t>Instances</a:t>
            </a:r>
          </a:p>
        </p:txBody>
      </p:sp>
      <p:sp>
        <p:nvSpPr>
          <p:cNvPr id="31" name="Rounded Rectangle 30"/>
          <p:cNvSpPr/>
          <p:nvPr/>
        </p:nvSpPr>
        <p:spPr>
          <a:xfrm>
            <a:off x="457200" y="5486400"/>
            <a:ext cx="11274552" cy="914400"/>
          </a:xfrm>
          <a:prstGeom prst="roundRect">
            <a:avLst>
              <a:gd name="adj" fmla="val 20000"/>
            </a:avLst>
          </a:prstGeom>
          <a:solidFill>
            <a:srgbClr val="CDEDF7"/>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11422"/>
                </a:solidFill>
                <a:latin typeface="Bebas Neue"/>
              </a:rPr>
              <a:t>Key terms:  </a:t>
            </a:r>
            <a:r>
              <a:rPr sz="1600" b="1">
                <a:solidFill>
                  <a:srgbClr val="111111"/>
                </a:solidFill>
                <a:latin typeface="Bebas Neue"/>
              </a:rPr>
              <a:t>Features — Input variables that describe each instance.</a:t>
            </a:r>
          </a:p>
        </p:txBody>
      </p:sp>
      <p:sp>
        <p:nvSpPr>
          <p:cNvPr id="32" name="Rectangle 31"/>
          <p:cNvSpPr/>
          <p:nvPr/>
        </p:nvSpPr>
        <p:spPr>
          <a:xfrm>
            <a:off x="457200" y="5614416"/>
            <a:ext cx="82296" cy="658368"/>
          </a:xfrm>
          <a:prstGeom prst="rect">
            <a:avLst/>
          </a:prstGeom>
          <a:solidFill>
            <a:srgbClr val="1FA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par>
                                <p:cTn id="79" presetID="10" presetClass="entr" presetSubtype="0" fill="hold"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450"/>
                                        <p:tgtEl>
                                          <p:spTgt spid="30"/>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450"/>
                                        <p:tgtEl>
                                          <p:spTgt spid="31"/>
                                        </p:tgtEl>
                                      </p:cBhvr>
                                    </p:animEffect>
                                  </p:childTnLst>
                                </p:cTn>
                              </p:par>
                              <p:par>
                                <p:cTn id="87" presetID="10" presetClass="entr" presetSubtype="0" fill="hold"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Feature space</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7 / 34</a:t>
            </a:r>
          </a:p>
        </p:txBody>
      </p:sp>
      <p:sp>
        <p:nvSpPr>
          <p:cNvPr id="7" name="Rounded Rectangle 6"/>
          <p:cNvSpPr/>
          <p:nvPr/>
        </p:nvSpPr>
        <p:spPr>
          <a:xfrm>
            <a:off x="793540" y="1298448"/>
            <a:ext cx="10601871" cy="5102352"/>
          </a:xfrm>
          <a:prstGeom prst="roundRect">
            <a:avLst>
              <a:gd name="adj" fmla="val 3000"/>
            </a:avLst>
          </a:prstGeom>
          <a:solidFill>
            <a:srgbClr val="FFFFFF"/>
          </a:solidFill>
          <a:ln w="12700">
            <a:solidFill>
              <a:srgbClr val="EBAF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958132" y="1463040"/>
            <a:ext cx="10272687" cy="4773168"/>
          </a:xfrm>
          <a:prstGeom prst="rect">
            <a:avLst/>
          </a:prstGeom>
        </p:spPr>
      </p:pic>
    </p:spTree>
  </p:cSld>
  <p:clrMapOvr>
    <a:masterClrMapping/>
  </p:clrMapOvr>
  <p:transition spd="med">
    <p:zoom dir="in"/>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Hypothesis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8 / 34</a:t>
            </a:r>
          </a:p>
        </p:txBody>
      </p:sp>
      <p:pic>
        <p:nvPicPr>
          <p:cNvPr id="7" name="Picture 6" descr="image.png"/>
          <p:cNvPicPr>
            <a:picLocks noChangeAspect="1"/>
          </p:cNvPicPr>
          <p:nvPr/>
        </p:nvPicPr>
        <p:blipFill>
          <a:blip r:embed="rId3"/>
          <a:stretch>
            <a:fillRect/>
          </a:stretch>
        </p:blipFill>
        <p:spPr>
          <a:xfrm>
            <a:off x="7672913" y="1927853"/>
            <a:ext cx="4058838" cy="2727973"/>
          </a:xfrm>
          <a:prstGeom prst="rect">
            <a:avLst/>
          </a:prstGeom>
        </p:spPr>
      </p:pic>
      <p:sp>
        <p:nvSpPr>
          <p:cNvPr id="8" name="Rectangle 7"/>
          <p:cNvSpPr/>
          <p:nvPr/>
        </p:nvSpPr>
        <p:spPr>
          <a:xfrm>
            <a:off x="457200" y="1439539"/>
            <a:ext cx="82296" cy="1487180"/>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02963"/>
            <a:ext cx="6278614" cy="1505468"/>
          </a:xfrm>
          <a:prstGeom prst="rect">
            <a:avLst/>
          </a:prstGeom>
          <a:noFill/>
        </p:spPr>
        <p:txBody>
          <a:bodyPr wrap="square" anchor="t" lIns="0" tIns="0" rIns="0" bIns="0">
            <a:spAutoFit/>
          </a:bodyPr>
          <a:lstStyle/>
          <a:p>
            <a:pPr algn="l"/>
            <a:r>
              <a:rPr sz="1570" b="1">
                <a:solidFill>
                  <a:srgbClr val="CF392B"/>
                </a:solidFill>
                <a:latin typeface="Bebas Neue"/>
              </a:rPr>
              <a:t>Hypothesis (h) A hypothesis is a function that best describes the target in supervised machine learning. The hypothesis that an algorithm would come up depends upon the data and also depends upon the restrictions and bias that we have imposed on the data.</a:t>
            </a:r>
          </a:p>
        </p:txBody>
      </p:sp>
      <p:sp>
        <p:nvSpPr>
          <p:cNvPr id="10" name="TextBox 9"/>
          <p:cNvSpPr txBox="1"/>
          <p:nvPr/>
        </p:nvSpPr>
        <p:spPr>
          <a:xfrm>
            <a:off x="720547" y="3100456"/>
            <a:ext cx="6278614" cy="448056"/>
          </a:xfrm>
          <a:prstGeom prst="rect">
            <a:avLst/>
          </a:prstGeom>
          <a:noFill/>
        </p:spPr>
        <p:txBody>
          <a:bodyPr wrap="square" lIns="0" rIns="0" tIns="0" bIns="0">
            <a:spAutoFit/>
          </a:bodyPr>
          <a:lstStyle/>
          <a:p>
            <a:r>
              <a:rPr sz="1400">
                <a:solidFill>
                  <a:srgbClr val="111111"/>
                </a:solidFill>
                <a:latin typeface="Inter"/>
              </a:rPr>
              <a:t>The hypothesis represents the model’s guess of the underlying relationship.</a:t>
            </a:r>
          </a:p>
        </p:txBody>
      </p:sp>
      <p:sp>
        <p:nvSpPr>
          <p:cNvPr id="11" name="TextBox 10"/>
          <p:cNvSpPr txBox="1"/>
          <p:nvPr/>
        </p:nvSpPr>
        <p:spPr>
          <a:xfrm>
            <a:off x="994867" y="3676528"/>
            <a:ext cx="6004294" cy="448056"/>
          </a:xfrm>
          <a:prstGeom prst="rect">
            <a:avLst/>
          </a:prstGeom>
          <a:noFill/>
        </p:spPr>
        <p:txBody>
          <a:bodyPr wrap="square" lIns="0" rIns="0" tIns="0" bIns="0">
            <a:spAutoFit/>
          </a:bodyPr>
          <a:lstStyle/>
          <a:p>
            <a:r>
              <a:rPr sz="1400">
                <a:solidFill>
                  <a:srgbClr val="111111"/>
                </a:solidFill>
                <a:latin typeface="Inter"/>
              </a:rPr>
              <a:t>Its form depends on the training data and any constraints or biases we set.</a:t>
            </a:r>
          </a:p>
        </p:txBody>
      </p:sp>
      <p:sp>
        <p:nvSpPr>
          <p:cNvPr id="12" name="TextBox 11"/>
          <p:cNvSpPr txBox="1"/>
          <p:nvPr/>
        </p:nvSpPr>
        <p:spPr>
          <a:xfrm>
            <a:off x="720547" y="4252600"/>
            <a:ext cx="6278614" cy="224028"/>
          </a:xfrm>
          <a:prstGeom prst="rect">
            <a:avLst/>
          </a:prstGeom>
          <a:noFill/>
        </p:spPr>
        <p:txBody>
          <a:bodyPr wrap="square" lIns="0" rIns="0" tIns="0" bIns="0">
            <a:spAutoFit/>
          </a:bodyPr>
          <a:lstStyle/>
          <a:p>
            <a:r>
              <a:rPr sz="1400">
                <a:solidFill>
                  <a:srgbClr val="111111"/>
                </a:solidFill>
                <a:latin typeface="Inter"/>
              </a:rPr>
              <a:t>The algorithm selects the hypothesis that best fits the data.</a:t>
            </a:r>
          </a:p>
        </p:txBody>
      </p:sp>
      <p:sp>
        <p:nvSpPr>
          <p:cNvPr id="13" name="TextBox 12"/>
          <p:cNvSpPr txBox="1"/>
          <p:nvPr/>
        </p:nvSpPr>
        <p:spPr>
          <a:xfrm>
            <a:off x="720547" y="4604644"/>
            <a:ext cx="6278614" cy="448056"/>
          </a:xfrm>
          <a:prstGeom prst="rect">
            <a:avLst/>
          </a:prstGeom>
          <a:noFill/>
        </p:spPr>
        <p:txBody>
          <a:bodyPr wrap="square" lIns="0" rIns="0" tIns="0" bIns="0">
            <a:spAutoFit/>
          </a:bodyPr>
          <a:lstStyle/>
          <a:p>
            <a:r>
              <a:rPr sz="1400">
                <a:solidFill>
                  <a:srgbClr val="111111"/>
                </a:solidFill>
                <a:latin typeface="Inter"/>
              </a:rPr>
              <a:t>Example: Choosing a straight line when data points lie roughly along a line.</a:t>
            </a:r>
          </a:p>
        </p:txBody>
      </p:sp>
      <p:sp>
        <p:nvSpPr>
          <p:cNvPr id="14" name="Rounded Rectangle 13"/>
          <p:cNvSpPr/>
          <p:nvPr/>
        </p:nvSpPr>
        <p:spPr>
          <a:xfrm>
            <a:off x="457200" y="5486400"/>
            <a:ext cx="11274552" cy="914400"/>
          </a:xfrm>
          <a:prstGeom prst="roundRect">
            <a:avLst>
              <a:gd name="adj" fmla="val 20000"/>
            </a:avLst>
          </a:prstGeom>
          <a:solidFill>
            <a:srgbClr val="CDEDF7"/>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11422"/>
                </a:solidFill>
                <a:latin typeface="Bebas Neue"/>
              </a:rPr>
              <a:t>Key takeaway:  </a:t>
            </a:r>
            <a:r>
              <a:rPr sz="1300" b="0">
                <a:solidFill>
                  <a:srgbClr val="111111"/>
                </a:solidFill>
                <a:latin typeface="Inter"/>
              </a:rPr>
              <a:t>A hypothesis is the algorithm’s chosen function that best fits the data under imposed biases.</a:t>
            </a:r>
          </a:p>
          <a:p>
            <a:pPr algn="l"/>
            <a:r>
              <a:rPr b="1" sz="1300">
                <a:solidFill>
                  <a:srgbClr val="111422"/>
                </a:solidFill>
                <a:latin typeface="Bebas Neue"/>
              </a:rPr>
              <a:t>Key terms:  </a:t>
            </a:r>
            <a:r>
              <a:rPr sz="1300" b="0">
                <a:solidFill>
                  <a:srgbClr val="111111"/>
                </a:solidFill>
                <a:latin typeface="Inter"/>
              </a:rPr>
              <a:t>Hypothesis — A candidate function mapping inputs to predicted outputs.</a:t>
            </a:r>
          </a:p>
        </p:txBody>
      </p:sp>
      <p:sp>
        <p:nvSpPr>
          <p:cNvPr id="15" name="Rectangle 14"/>
          <p:cNvSpPr/>
          <p:nvPr/>
        </p:nvSpPr>
        <p:spPr>
          <a:xfrm>
            <a:off x="457200" y="5614416"/>
            <a:ext cx="82296" cy="658368"/>
          </a:xfrm>
          <a:prstGeom prst="rect">
            <a:avLst/>
          </a:prstGeom>
          <a:solidFill>
            <a:srgbClr val="1FA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5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50"/>
                                        <p:tgtEl>
                                          <p:spTgt spid="14"/>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Hypothesis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9 / 34</a:t>
            </a:r>
          </a:p>
        </p:txBody>
      </p:sp>
      <p:sp>
        <p:nvSpPr>
          <p:cNvPr id="7" name="Rounded Rectangle 6"/>
          <p:cNvSpPr/>
          <p:nvPr/>
        </p:nvSpPr>
        <p:spPr>
          <a:xfrm>
            <a:off x="1554480" y="1298448"/>
            <a:ext cx="9079991" cy="5102352"/>
          </a:xfrm>
          <a:prstGeom prst="roundRect">
            <a:avLst>
              <a:gd name="adj" fmla="val 3000"/>
            </a:avLst>
          </a:prstGeom>
          <a:solidFill>
            <a:srgbClr val="FFFFFF"/>
          </a:solidFill>
          <a:ln w="12700">
            <a:solidFill>
              <a:srgbClr val="EBAF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719072" y="1463040"/>
            <a:ext cx="8750807" cy="4773168"/>
          </a:xfrm>
          <a:prstGeom prst="rect">
            <a:avLst/>
          </a:prstGeom>
        </p:spPr>
      </p:pic>
    </p:spTree>
  </p:cSld>
  <p:clrMapOvr>
    <a:masterClrMapping/>
  </p:clrMapOvr>
  <p:transition spd="med">
    <p:zoom dir="in"/>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2</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10 / 34</a:t>
            </a:r>
          </a:p>
        </p:txBody>
      </p:sp>
      <p:sp>
        <p:nvSpPr>
          <p:cNvPr id="7" name="Rounded Rectangle 6"/>
          <p:cNvSpPr/>
          <p:nvPr/>
        </p:nvSpPr>
        <p:spPr>
          <a:xfrm>
            <a:off x="457200" y="1298448"/>
            <a:ext cx="11274552" cy="1326611"/>
          </a:xfrm>
          <a:prstGeom prst="roundRect">
            <a:avLst>
              <a:gd name="adj" fmla="val 10614"/>
            </a:avLst>
          </a:prstGeom>
          <a:solidFill>
            <a:srgbClr val="FAEBE9"/>
          </a:solidFill>
          <a:ln w="12700">
            <a:solidFill>
              <a:srgbClr val="CF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CF392B"/>
                </a:solidFill>
                <a:latin typeface="Bebas Neue"/>
              </a:rPr>
              <a:t>Which term matches this description: “A candidate function mapping inputs to predicted outputs.”?</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Bias</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Hypothesis</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High bias</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underfitting</a:t>
            </a:r>
          </a:p>
        </p:txBody>
      </p:sp>
      <p:sp>
        <p:nvSpPr>
          <p:cNvPr id="22" name="Rounded Rectangle 21"/>
          <p:cNvSpPr/>
          <p:nvPr/>
        </p:nvSpPr>
        <p:spPr>
          <a:xfrm>
            <a:off x="457200" y="5380329"/>
            <a:ext cx="11274552" cy="1020470"/>
          </a:xfrm>
          <a:prstGeom prst="roundRect">
            <a:avLst>
              <a:gd name="adj" fmla="val 12000"/>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B</a:t>
            </a:r>
          </a:p>
          <a:p>
            <a:pPr algn="l">
              <a:spcBef>
                <a:spcPts val="200"/>
              </a:spcBef>
            </a:pPr>
            <a:r>
              <a:rPr sz="1600" b="0">
                <a:solidFill>
                  <a:srgbClr val="FFFFFF"/>
                </a:solidFill>
                <a:latin typeface="Inter"/>
              </a:rPr>
              <a:t>Hypothesis: A candidate function mapping inputs to predicted outputs.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The hypothesis space contains all legal hypotheses from which the algorithm selects the best one</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11 / 34</a:t>
            </a:r>
          </a:p>
        </p:txBody>
      </p:sp>
      <p:pic>
        <p:nvPicPr>
          <p:cNvPr id="7" name="Picture 6" descr="image.png"/>
          <p:cNvPicPr>
            <a:picLocks noChangeAspect="1"/>
          </p:cNvPicPr>
          <p:nvPr/>
        </p:nvPicPr>
        <p:blipFill>
          <a:blip r:embed="rId3"/>
          <a:stretch>
            <a:fillRect/>
          </a:stretch>
        </p:blipFill>
        <p:spPr>
          <a:xfrm>
            <a:off x="7672913" y="2023452"/>
            <a:ext cx="4058838" cy="2536774"/>
          </a:xfrm>
          <a:prstGeom prst="rect">
            <a:avLst/>
          </a:prstGeom>
        </p:spPr>
      </p:pic>
      <p:sp>
        <p:nvSpPr>
          <p:cNvPr id="8" name="Rectangle 7"/>
          <p:cNvSpPr/>
          <p:nvPr/>
        </p:nvSpPr>
        <p:spPr>
          <a:xfrm>
            <a:off x="457200" y="1513789"/>
            <a:ext cx="82296" cy="1594713"/>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77213"/>
            <a:ext cx="6278614" cy="1613001"/>
          </a:xfrm>
          <a:prstGeom prst="rect">
            <a:avLst/>
          </a:prstGeom>
          <a:noFill/>
        </p:spPr>
        <p:txBody>
          <a:bodyPr wrap="square" anchor="t" lIns="0" tIns="0" rIns="0" bIns="0">
            <a:spAutoFit/>
          </a:bodyPr>
          <a:lstStyle/>
          <a:p>
            <a:pPr algn="l"/>
            <a:r>
              <a:rPr sz="1680" b="1">
                <a:solidFill>
                  <a:srgbClr val="CF392B"/>
                </a:solidFill>
                <a:latin typeface="Bebas Neue"/>
              </a:rPr>
              <a:t>Hypothesis Space (H) Hypothesis space is the set of all the possible legal hypothesis. This is the set from which the machine learning algorithm would determine the best possible (only one) which would best describe the target function or the outputs.</a:t>
            </a:r>
          </a:p>
        </p:txBody>
      </p:sp>
      <p:sp>
        <p:nvSpPr>
          <p:cNvPr id="10" name="TextBox 9"/>
          <p:cNvSpPr txBox="1"/>
          <p:nvPr/>
        </p:nvSpPr>
        <p:spPr>
          <a:xfrm>
            <a:off x="720547" y="3282238"/>
            <a:ext cx="6278614" cy="480059"/>
          </a:xfrm>
          <a:prstGeom prst="rect">
            <a:avLst/>
          </a:prstGeom>
          <a:noFill/>
        </p:spPr>
        <p:txBody>
          <a:bodyPr wrap="square" lIns="0" rIns="0" tIns="0" bIns="0">
            <a:spAutoFit/>
          </a:bodyPr>
          <a:lstStyle/>
          <a:p>
            <a:r>
              <a:rPr sz="1500">
                <a:solidFill>
                  <a:srgbClr val="111111"/>
                </a:solidFill>
                <a:latin typeface="Inter"/>
              </a:rPr>
              <a:t>The hypothesis space is the set of all possible models the algorithm can consider.</a:t>
            </a:r>
          </a:p>
        </p:txBody>
      </p:sp>
      <p:sp>
        <p:nvSpPr>
          <p:cNvPr id="11" name="TextBox 10"/>
          <p:cNvSpPr txBox="1"/>
          <p:nvPr/>
        </p:nvSpPr>
        <p:spPr>
          <a:xfrm>
            <a:off x="720547" y="3890314"/>
            <a:ext cx="6278614" cy="480059"/>
          </a:xfrm>
          <a:prstGeom prst="rect">
            <a:avLst/>
          </a:prstGeom>
          <a:noFill/>
        </p:spPr>
        <p:txBody>
          <a:bodyPr wrap="square" lIns="0" rIns="0" tIns="0" bIns="0">
            <a:spAutoFit/>
          </a:bodyPr>
          <a:lstStyle/>
          <a:p>
            <a:r>
              <a:rPr sz="1500">
                <a:solidFill>
                  <a:srgbClr val="111111"/>
                </a:solidFill>
                <a:latin typeface="Inter"/>
              </a:rPr>
              <a:t>The learning process searches this space to find the single hypothesis that best explains the target function.</a:t>
            </a:r>
          </a:p>
        </p:txBody>
      </p:sp>
      <p:sp>
        <p:nvSpPr>
          <p:cNvPr id="12" name="TextBox 11"/>
          <p:cNvSpPr txBox="1"/>
          <p:nvPr/>
        </p:nvSpPr>
        <p:spPr>
          <a:xfrm>
            <a:off x="720547" y="4498390"/>
            <a:ext cx="6278614" cy="480059"/>
          </a:xfrm>
          <a:prstGeom prst="rect">
            <a:avLst/>
          </a:prstGeom>
          <a:noFill/>
        </p:spPr>
        <p:txBody>
          <a:bodyPr wrap="square" lIns="0" rIns="0" tIns="0" bIns="0">
            <a:spAutoFit/>
          </a:bodyPr>
          <a:lstStyle/>
          <a:p>
            <a:r>
              <a:rPr sz="1500">
                <a:solidFill>
                  <a:srgbClr val="111111"/>
                </a:solidFill>
                <a:latin typeface="Inter"/>
              </a:rPr>
              <a:t>Example: All possible decision trees of a given depth form the hypothesis space.</a:t>
            </a:r>
          </a:p>
        </p:txBody>
      </p:sp>
      <p:sp>
        <p:nvSpPr>
          <p:cNvPr id="13" name="Rounded Rectangle 12"/>
          <p:cNvSpPr/>
          <p:nvPr/>
        </p:nvSpPr>
        <p:spPr>
          <a:xfrm>
            <a:off x="457200" y="5486400"/>
            <a:ext cx="11274552" cy="914400"/>
          </a:xfrm>
          <a:prstGeom prst="roundRect">
            <a:avLst>
              <a:gd name="adj" fmla="val 20000"/>
            </a:avLst>
          </a:prstGeom>
          <a:solidFill>
            <a:srgbClr val="CDEDF7"/>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11422"/>
                </a:solidFill>
                <a:latin typeface="Bebas Neue"/>
              </a:rPr>
              <a:t>Key takeaway:  </a:t>
            </a:r>
            <a:r>
              <a:rPr sz="1300" b="0">
                <a:solidFill>
                  <a:srgbClr val="111111"/>
                </a:solidFill>
                <a:latin typeface="Inter"/>
              </a:rPr>
              <a:t>The hypothesis space contains every legal model the algorithm can evaluate to find the best fit.</a:t>
            </a:r>
          </a:p>
          <a:p>
            <a:pPr algn="l"/>
            <a:r>
              <a:rPr b="1" sz="1300">
                <a:solidFill>
                  <a:srgbClr val="111422"/>
                </a:solidFill>
                <a:latin typeface="Bebas Neue"/>
              </a:rPr>
              <a:t>Key terms:  </a:t>
            </a:r>
            <a:r>
              <a:rPr sz="1300" b="0">
                <a:solidFill>
                  <a:srgbClr val="111111"/>
                </a:solidFill>
                <a:latin typeface="Inter"/>
              </a:rPr>
              <a:t>Hypothesis space — The set of all permissible hypotheses the algorithm can choose.</a:t>
            </a:r>
          </a:p>
        </p:txBody>
      </p:sp>
      <p:sp>
        <p:nvSpPr>
          <p:cNvPr id="14" name="Rectangle 13"/>
          <p:cNvSpPr/>
          <p:nvPr/>
        </p:nvSpPr>
        <p:spPr>
          <a:xfrm>
            <a:off x="457200" y="5614416"/>
            <a:ext cx="82296" cy="658368"/>
          </a:xfrm>
          <a:prstGeom prst="rect">
            <a:avLst/>
          </a:prstGeom>
          <a:solidFill>
            <a:srgbClr val="1FA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50"/>
                                        <p:tgtEl>
                                          <p:spTgt spid="12"/>
                                        </p:tgtEl>
                                      </p:cBhvr>
                                    </p:animEffect>
                                  </p:childTnLst>
                                </p:cTn>
                              </p:par>
                              <p:par>
                                <p:cTn id="18" presetID="10" presetClass="entr" presetSubtype="0"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par>
                                <p:cTn id="21" presetID="10"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Hypothesis: Data</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12 / 34</a:t>
            </a:r>
          </a:p>
        </p:txBody>
      </p:sp>
      <p:sp>
        <p:nvSpPr>
          <p:cNvPr id="7" name="Rounded Rectangle 6"/>
          <p:cNvSpPr/>
          <p:nvPr/>
        </p:nvSpPr>
        <p:spPr>
          <a:xfrm>
            <a:off x="3310083" y="1298448"/>
            <a:ext cx="5568785" cy="5102352"/>
          </a:xfrm>
          <a:prstGeom prst="roundRect">
            <a:avLst>
              <a:gd name="adj" fmla="val 3000"/>
            </a:avLst>
          </a:prstGeom>
          <a:solidFill>
            <a:srgbClr val="FFFFFF"/>
          </a:solidFill>
          <a:ln w="12700">
            <a:solidFill>
              <a:srgbClr val="EBAF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3474675" y="1463040"/>
            <a:ext cx="5239601" cy="4773168"/>
          </a:xfrm>
          <a:prstGeom prst="rect">
            <a:avLst/>
          </a:prstGeom>
        </p:spPr>
      </p:pic>
    </p:spTree>
  </p:cSld>
  <p:clrMapOvr>
    <a:masterClrMapping/>
  </p:clrMapOvr>
  <p:transition spd="med">
    <p:zoom dir="in"/>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Hypothesis, data, and inductive bias are interrelated in learning</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13 / 34</a:t>
            </a:r>
          </a:p>
        </p:txBody>
      </p:sp>
      <p:pic>
        <p:nvPicPr>
          <p:cNvPr id="7" name="Picture 6" descr="image.jpg"/>
          <p:cNvPicPr>
            <a:picLocks noChangeAspect="1"/>
          </p:cNvPicPr>
          <p:nvPr/>
        </p:nvPicPr>
        <p:blipFill>
          <a:blip r:embed="rId3"/>
          <a:stretch>
            <a:fillRect/>
          </a:stretch>
        </p:blipFill>
        <p:spPr>
          <a:xfrm>
            <a:off x="8435747" y="1298448"/>
            <a:ext cx="3296004" cy="3986784"/>
          </a:xfrm>
          <a:prstGeom prst="rect">
            <a:avLst/>
          </a:prstGeom>
        </p:spPr>
      </p:pic>
      <p:sp>
        <p:nvSpPr>
          <p:cNvPr id="8" name="Rounded Rectangle 7"/>
          <p:cNvSpPr/>
          <p:nvPr/>
        </p:nvSpPr>
        <p:spPr>
          <a:xfrm>
            <a:off x="457200" y="1298448"/>
            <a:ext cx="3788105" cy="1892808"/>
          </a:xfrm>
          <a:prstGeom prst="roundRect">
            <a:avLst>
              <a:gd name="adj" fmla="val 7439"/>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961388"/>
            <a:ext cx="566928" cy="566928"/>
          </a:xfrm>
          <a:prstGeom prst="ellipse">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4"/>
          <a:stretch>
            <a:fillRect/>
          </a:stretch>
        </p:blipFill>
        <p:spPr>
          <a:xfrm>
            <a:off x="771753" y="2074773"/>
            <a:ext cx="340156" cy="340156"/>
          </a:xfrm>
          <a:prstGeom prst="rect">
            <a:avLst/>
          </a:prstGeom>
        </p:spPr>
      </p:pic>
      <p:sp>
        <p:nvSpPr>
          <p:cNvPr id="11" name="TextBox 10"/>
          <p:cNvSpPr txBox="1"/>
          <p:nvPr/>
        </p:nvSpPr>
        <p:spPr>
          <a:xfrm>
            <a:off x="1408175" y="1371600"/>
            <a:ext cx="2635961" cy="1746504"/>
          </a:xfrm>
          <a:prstGeom prst="rect">
            <a:avLst/>
          </a:prstGeom>
          <a:noFill/>
        </p:spPr>
        <p:txBody>
          <a:bodyPr wrap="square" anchor="ctr" lIns="0" tIns="0" rIns="0" bIns="0">
            <a:spAutoFit/>
          </a:bodyPr>
          <a:lstStyle/>
          <a:p>
            <a:pPr algn="l"/>
            <a:r>
              <a:rPr sz="1600" b="0">
                <a:solidFill>
                  <a:srgbClr val="111111"/>
                </a:solidFill>
                <a:latin typeface="Inter"/>
              </a:rPr>
              <a:t>Inductive bias</a:t>
            </a:r>
          </a:p>
        </p:txBody>
      </p:sp>
      <p:sp>
        <p:nvSpPr>
          <p:cNvPr id="12" name="Rounded Rectangle 11"/>
          <p:cNvSpPr/>
          <p:nvPr/>
        </p:nvSpPr>
        <p:spPr>
          <a:xfrm>
            <a:off x="4446473" y="1298448"/>
            <a:ext cx="3788105" cy="1892808"/>
          </a:xfrm>
          <a:prstGeom prst="roundRect">
            <a:avLst>
              <a:gd name="adj" fmla="val 7439"/>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47641" y="1961388"/>
            <a:ext cx="566928" cy="566928"/>
          </a:xfrm>
          <a:prstGeom prst="ellipse">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5"/>
          <a:stretch>
            <a:fillRect/>
          </a:stretch>
        </p:blipFill>
        <p:spPr>
          <a:xfrm>
            <a:off x="4761027" y="2074773"/>
            <a:ext cx="340156" cy="340156"/>
          </a:xfrm>
          <a:prstGeom prst="rect">
            <a:avLst/>
          </a:prstGeom>
        </p:spPr>
      </p:pic>
      <p:sp>
        <p:nvSpPr>
          <p:cNvPr id="15" name="TextBox 14"/>
          <p:cNvSpPr txBox="1"/>
          <p:nvPr/>
        </p:nvSpPr>
        <p:spPr>
          <a:xfrm>
            <a:off x="5397449" y="1371600"/>
            <a:ext cx="2635961" cy="1746504"/>
          </a:xfrm>
          <a:prstGeom prst="rect">
            <a:avLst/>
          </a:prstGeom>
          <a:noFill/>
        </p:spPr>
        <p:txBody>
          <a:bodyPr wrap="square" anchor="ctr" lIns="0" tIns="0" rIns="0" bIns="0">
            <a:spAutoFit/>
          </a:bodyPr>
          <a:lstStyle/>
          <a:p>
            <a:pPr algn="l"/>
            <a:r>
              <a:rPr sz="1920" b="1">
                <a:solidFill>
                  <a:srgbClr val="CF392B"/>
                </a:solidFill>
                <a:latin typeface="Bebas Neue"/>
              </a:rPr>
              <a:t>Hypothesis is derived</a:t>
            </a:r>
          </a:p>
          <a:p>
            <a:pPr algn="l">
              <a:spcBef>
                <a:spcPts val="500"/>
              </a:spcBef>
            </a:pPr>
            <a:r>
              <a:rPr sz="1600" b="0">
                <a:solidFill>
                  <a:srgbClr val="111111"/>
                </a:solidFill>
                <a:latin typeface="Inter"/>
              </a:rPr>
              <a:t>The hypothesis is derived from data, but its selection is guided by inductive bias</a:t>
            </a:r>
          </a:p>
        </p:txBody>
      </p:sp>
      <p:sp>
        <p:nvSpPr>
          <p:cNvPr id="16" name="Rounded Rectangle 15"/>
          <p:cNvSpPr/>
          <p:nvPr/>
        </p:nvSpPr>
        <p:spPr>
          <a:xfrm>
            <a:off x="457200" y="3392424"/>
            <a:ext cx="3788105" cy="1892808"/>
          </a:xfrm>
          <a:prstGeom prst="roundRect">
            <a:avLst>
              <a:gd name="adj" fmla="val 7439"/>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055364"/>
            <a:ext cx="566928" cy="566928"/>
          </a:xfrm>
          <a:prstGeom prst="ellipse">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6"/>
          <a:stretch>
            <a:fillRect/>
          </a:stretch>
        </p:blipFill>
        <p:spPr>
          <a:xfrm>
            <a:off x="771753" y="4168749"/>
            <a:ext cx="340156" cy="340156"/>
          </a:xfrm>
          <a:prstGeom prst="rect">
            <a:avLst/>
          </a:prstGeom>
        </p:spPr>
      </p:pic>
      <p:sp>
        <p:nvSpPr>
          <p:cNvPr id="19" name="TextBox 18"/>
          <p:cNvSpPr txBox="1"/>
          <p:nvPr/>
        </p:nvSpPr>
        <p:spPr>
          <a:xfrm>
            <a:off x="1408175" y="3465576"/>
            <a:ext cx="2635961" cy="1746504"/>
          </a:xfrm>
          <a:prstGeom prst="rect">
            <a:avLst/>
          </a:prstGeom>
          <a:noFill/>
        </p:spPr>
        <p:txBody>
          <a:bodyPr wrap="square" anchor="ctr" lIns="0" tIns="0" rIns="0" bIns="0">
            <a:spAutoFit/>
          </a:bodyPr>
          <a:lstStyle/>
          <a:p>
            <a:pPr algn="l"/>
            <a:r>
              <a:rPr sz="1600" b="0">
                <a:solidFill>
                  <a:srgbClr val="111111"/>
                </a:solidFill>
                <a:latin typeface="Inter"/>
              </a:rPr>
              <a:t>Bias determines which hypotheses the algorithm considers plausible given the data</a:t>
            </a:r>
          </a:p>
        </p:txBody>
      </p:sp>
      <p:sp>
        <p:nvSpPr>
          <p:cNvPr id="20" name="Rounded Rectangle 19"/>
          <p:cNvSpPr/>
          <p:nvPr/>
        </p:nvSpPr>
        <p:spPr>
          <a:xfrm>
            <a:off x="4446473" y="3392424"/>
            <a:ext cx="3788105" cy="1892808"/>
          </a:xfrm>
          <a:prstGeom prst="roundRect">
            <a:avLst>
              <a:gd name="adj" fmla="val 7439"/>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647641" y="4055364"/>
            <a:ext cx="566928" cy="566928"/>
          </a:xfrm>
          <a:prstGeom prst="ellipse">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7"/>
          <a:stretch>
            <a:fillRect/>
          </a:stretch>
        </p:blipFill>
        <p:spPr>
          <a:xfrm>
            <a:off x="4761027" y="4168749"/>
            <a:ext cx="340156" cy="340156"/>
          </a:xfrm>
          <a:prstGeom prst="rect">
            <a:avLst/>
          </a:prstGeom>
        </p:spPr>
      </p:pic>
      <p:sp>
        <p:nvSpPr>
          <p:cNvPr id="23" name="TextBox 22"/>
          <p:cNvSpPr txBox="1"/>
          <p:nvPr/>
        </p:nvSpPr>
        <p:spPr>
          <a:xfrm>
            <a:off x="5397449" y="3465576"/>
            <a:ext cx="2635961" cy="1746504"/>
          </a:xfrm>
          <a:prstGeom prst="rect">
            <a:avLst/>
          </a:prstGeom>
          <a:noFill/>
        </p:spPr>
        <p:txBody>
          <a:bodyPr wrap="square" anchor="ctr" lIns="0" tIns="0" rIns="0" bIns="0">
            <a:spAutoFit/>
          </a:bodyPr>
          <a:lstStyle/>
          <a:p>
            <a:pPr algn="l"/>
            <a:r>
              <a:rPr sz="1600" b="0">
                <a:solidFill>
                  <a:srgbClr val="111111"/>
                </a:solidFill>
                <a:latin typeface="Inter"/>
              </a:rPr>
              <a:t>Example: Assuming linearity biases the algorithm toward linear models</a:t>
            </a:r>
          </a:p>
        </p:txBody>
      </p:sp>
      <p:sp>
        <p:nvSpPr>
          <p:cNvPr id="24" name="Rounded Rectangle 23"/>
          <p:cNvSpPr/>
          <p:nvPr/>
        </p:nvSpPr>
        <p:spPr>
          <a:xfrm>
            <a:off x="457200" y="5486400"/>
            <a:ext cx="11274552" cy="914400"/>
          </a:xfrm>
          <a:prstGeom prst="roundRect">
            <a:avLst>
              <a:gd name="adj" fmla="val 20000"/>
            </a:avLst>
          </a:prstGeom>
          <a:solidFill>
            <a:srgbClr val="CDEDF7"/>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11422"/>
                </a:solidFill>
                <a:latin typeface="Bebas Neue"/>
              </a:rPr>
              <a:t>Key terms:  </a:t>
            </a:r>
            <a:r>
              <a:rPr sz="1600" b="1">
                <a:solidFill>
                  <a:srgbClr val="111111"/>
                </a:solidFill>
                <a:latin typeface="Bebas Neue"/>
              </a:rPr>
              <a:t>Inductive bias — Assumptions that influence hypothesis selection.</a:t>
            </a:r>
          </a:p>
        </p:txBody>
      </p:sp>
      <p:sp>
        <p:nvSpPr>
          <p:cNvPr id="25" name="Rectangle 24"/>
          <p:cNvSpPr/>
          <p:nvPr/>
        </p:nvSpPr>
        <p:spPr>
          <a:xfrm>
            <a:off x="457200" y="5614416"/>
            <a:ext cx="82296" cy="658368"/>
          </a:xfrm>
          <a:prstGeom prst="rect">
            <a:avLst/>
          </a:prstGeom>
          <a:solidFill>
            <a:srgbClr val="1FA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5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50"/>
                                        <p:tgtEl>
                                          <p:spTgt spid="22"/>
                                        </p:tgtEl>
                                      </p:cBhvr>
                                    </p:animEffect>
                                  </p:childTnLst>
                                </p:cTn>
                              </p:par>
                              <p:par>
                                <p:cTn id="56" presetID="10" presetClass="entr" presetSubtype="0" fill="hold"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50"/>
                                        <p:tgtEl>
                                          <p:spTgt spid="2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50"/>
                                        <p:tgtEl>
                                          <p:spTgt spid="24"/>
                                        </p:tgtEl>
                                      </p:cBhvr>
                                    </p:animEffect>
                                  </p:childTnLst>
                                </p:cTn>
                              </p:par>
                              <p:par>
                                <p:cTn id="64" presetID="10" presetClass="entr" presetSubtype="0" fill="hold"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Inductive bias consists of assumptions a learning algorithm uses to predict outputs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14 / 34</a:t>
            </a:r>
          </a:p>
        </p:txBody>
      </p:sp>
      <p:sp>
        <p:nvSpPr>
          <p:cNvPr id="8" name="Rounded Rectangle 7"/>
          <p:cNvSpPr/>
          <p:nvPr/>
        </p:nvSpPr>
        <p:spPr>
          <a:xfrm>
            <a:off x="457200" y="1298448"/>
            <a:ext cx="11274552" cy="466082"/>
          </a:xfrm>
          <a:prstGeom prst="roundRect">
            <a:avLst>
              <a:gd name="adj" fmla="val 30213"/>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302889"/>
            <a:ext cx="457200" cy="457200"/>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1316736" y="1371600"/>
            <a:ext cx="10213848" cy="319778"/>
          </a:xfrm>
          <a:prstGeom prst="rect">
            <a:avLst/>
          </a:prstGeom>
          <a:noFill/>
        </p:spPr>
        <p:txBody>
          <a:bodyPr wrap="square" anchor="ctr" lIns="0" tIns="0" rIns="0" bIns="0">
            <a:spAutoFit/>
          </a:bodyPr>
          <a:lstStyle/>
          <a:p>
            <a:pPr algn="l"/>
            <a:r>
              <a:rPr sz="1210" b="1">
                <a:solidFill>
                  <a:srgbClr val="CF392B"/>
                </a:solidFill>
                <a:latin typeface="Bebas Neue"/>
              </a:rPr>
              <a:t>The inductive bias (also known as learning bias) of a learning algorithm is the set of assumptions that the learner uses to predict outputs.</a:t>
            </a:r>
          </a:p>
        </p:txBody>
      </p:sp>
      <p:sp>
        <p:nvSpPr>
          <p:cNvPr id="11" name="Rounded Rectangle 10"/>
          <p:cNvSpPr/>
          <p:nvPr/>
        </p:nvSpPr>
        <p:spPr>
          <a:xfrm>
            <a:off x="457200" y="1885231"/>
            <a:ext cx="11274552" cy="466082"/>
          </a:xfrm>
          <a:prstGeom prst="roundRect">
            <a:avLst>
              <a:gd name="adj" fmla="val 30213"/>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1889672"/>
            <a:ext cx="457200" cy="457200"/>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3" name="TextBox 12"/>
          <p:cNvSpPr txBox="1"/>
          <p:nvPr/>
        </p:nvSpPr>
        <p:spPr>
          <a:xfrm>
            <a:off x="1316736" y="1958383"/>
            <a:ext cx="10213848" cy="319778"/>
          </a:xfrm>
          <a:prstGeom prst="rect">
            <a:avLst/>
          </a:prstGeom>
          <a:noFill/>
        </p:spPr>
        <p:txBody>
          <a:bodyPr wrap="square" anchor="ctr" lIns="0" tIns="0" rIns="0" bIns="0">
            <a:spAutoFit/>
          </a:bodyPr>
          <a:lstStyle/>
          <a:p>
            <a:pPr algn="l"/>
            <a:r>
              <a:rPr sz="1210" b="1">
                <a:solidFill>
                  <a:srgbClr val="CF392B"/>
                </a:solidFill>
                <a:latin typeface="Bebas Neue"/>
              </a:rPr>
              <a:t>Y = a + b*X</a:t>
            </a:r>
          </a:p>
        </p:txBody>
      </p:sp>
      <p:sp>
        <p:nvSpPr>
          <p:cNvPr id="14" name="Rounded Rectangle 13"/>
          <p:cNvSpPr/>
          <p:nvPr/>
        </p:nvSpPr>
        <p:spPr>
          <a:xfrm>
            <a:off x="457200" y="2472015"/>
            <a:ext cx="11274552" cy="466082"/>
          </a:xfrm>
          <a:prstGeom prst="roundRect">
            <a:avLst>
              <a:gd name="adj" fmla="val 30213"/>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2476456"/>
            <a:ext cx="457200" cy="457200"/>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6" name="TextBox 15"/>
          <p:cNvSpPr txBox="1"/>
          <p:nvPr/>
        </p:nvSpPr>
        <p:spPr>
          <a:xfrm>
            <a:off x="1316736" y="2545167"/>
            <a:ext cx="10213848" cy="319778"/>
          </a:xfrm>
          <a:prstGeom prst="rect">
            <a:avLst/>
          </a:prstGeom>
          <a:noFill/>
        </p:spPr>
        <p:txBody>
          <a:bodyPr wrap="square" anchor="ctr" lIns="0" tIns="0" rIns="0" bIns="0">
            <a:spAutoFit/>
          </a:bodyPr>
          <a:lstStyle/>
          <a:p>
            <a:pPr algn="l"/>
            <a:r>
              <a:rPr sz="1210" b="1">
                <a:solidFill>
                  <a:srgbClr val="CF392B"/>
                </a:solidFill>
                <a:latin typeface="Bebas Neue"/>
              </a:rPr>
              <a:t>The inductive bias (also known as learning bias) of a learning algorithm is the set of assumptions that the learner uses to predict outputs.</a:t>
            </a:r>
          </a:p>
        </p:txBody>
      </p:sp>
      <p:sp>
        <p:nvSpPr>
          <p:cNvPr id="17" name="Rounded Rectangle 16"/>
          <p:cNvSpPr/>
          <p:nvPr/>
        </p:nvSpPr>
        <p:spPr>
          <a:xfrm>
            <a:off x="457200" y="3058798"/>
            <a:ext cx="11274552" cy="466082"/>
          </a:xfrm>
          <a:prstGeom prst="roundRect">
            <a:avLst>
              <a:gd name="adj" fmla="val 30213"/>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3063240"/>
            <a:ext cx="457200" cy="457200"/>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19" name="TextBox 18"/>
          <p:cNvSpPr txBox="1"/>
          <p:nvPr/>
        </p:nvSpPr>
        <p:spPr>
          <a:xfrm>
            <a:off x="1316736" y="3131950"/>
            <a:ext cx="10213848" cy="319778"/>
          </a:xfrm>
          <a:prstGeom prst="rect">
            <a:avLst/>
          </a:prstGeom>
          <a:noFill/>
        </p:spPr>
        <p:txBody>
          <a:bodyPr wrap="square" anchor="ctr" lIns="0" tIns="0" rIns="0" bIns="0">
            <a:spAutoFit/>
          </a:bodyPr>
          <a:lstStyle/>
          <a:p>
            <a:pPr algn="l"/>
            <a:r>
              <a:rPr sz="1210" b="1">
                <a:solidFill>
                  <a:srgbClr val="CF392B"/>
                </a:solidFill>
                <a:latin typeface="Bebas Neue"/>
              </a:rPr>
              <a:t>Y = a + b*X</a:t>
            </a:r>
          </a:p>
        </p:txBody>
      </p:sp>
      <p:sp>
        <p:nvSpPr>
          <p:cNvPr id="20" name="Rounded Rectangle 19"/>
          <p:cNvSpPr/>
          <p:nvPr/>
        </p:nvSpPr>
        <p:spPr>
          <a:xfrm>
            <a:off x="457200" y="3645582"/>
            <a:ext cx="11274552" cy="466082"/>
          </a:xfrm>
          <a:prstGeom prst="roundRect">
            <a:avLst>
              <a:gd name="adj" fmla="val 30213"/>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3650023"/>
            <a:ext cx="457200" cy="457200"/>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5</a:t>
            </a:r>
          </a:p>
        </p:txBody>
      </p:sp>
      <p:sp>
        <p:nvSpPr>
          <p:cNvPr id="22" name="TextBox 21"/>
          <p:cNvSpPr txBox="1"/>
          <p:nvPr/>
        </p:nvSpPr>
        <p:spPr>
          <a:xfrm>
            <a:off x="1316736" y="3718734"/>
            <a:ext cx="10213848" cy="319778"/>
          </a:xfrm>
          <a:prstGeom prst="rect">
            <a:avLst/>
          </a:prstGeom>
          <a:noFill/>
        </p:spPr>
        <p:txBody>
          <a:bodyPr wrap="square" anchor="ctr" lIns="0" tIns="0" rIns="0" bIns="0">
            <a:spAutoFit/>
          </a:bodyPr>
          <a:lstStyle/>
          <a:p>
            <a:pPr algn="l"/>
            <a:r>
              <a:rPr sz="1210" b="1">
                <a:solidFill>
                  <a:srgbClr val="CF392B"/>
                </a:solidFill>
                <a:latin typeface="Bebas Neue"/>
              </a:rPr>
              <a:t>This bias shapes how the algorithm generalizes from training data to unseen data.</a:t>
            </a:r>
          </a:p>
        </p:txBody>
      </p:sp>
      <p:sp>
        <p:nvSpPr>
          <p:cNvPr id="23" name="Rounded Rectangle 22"/>
          <p:cNvSpPr/>
          <p:nvPr/>
        </p:nvSpPr>
        <p:spPr>
          <a:xfrm>
            <a:off x="457200" y="4232365"/>
            <a:ext cx="11274552" cy="466082"/>
          </a:xfrm>
          <a:prstGeom prst="roundRect">
            <a:avLst>
              <a:gd name="adj" fmla="val 30213"/>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58368" y="4236807"/>
            <a:ext cx="457200" cy="457200"/>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6</a:t>
            </a:r>
          </a:p>
        </p:txBody>
      </p:sp>
      <p:sp>
        <p:nvSpPr>
          <p:cNvPr id="25" name="TextBox 24"/>
          <p:cNvSpPr txBox="1"/>
          <p:nvPr/>
        </p:nvSpPr>
        <p:spPr>
          <a:xfrm>
            <a:off x="1316736" y="4305517"/>
            <a:ext cx="10213848" cy="319778"/>
          </a:xfrm>
          <a:prstGeom prst="rect">
            <a:avLst/>
          </a:prstGeom>
          <a:noFill/>
        </p:spPr>
        <p:txBody>
          <a:bodyPr wrap="square" anchor="ctr" lIns="0" tIns="0" rIns="0" bIns="0">
            <a:spAutoFit/>
          </a:bodyPr>
          <a:lstStyle/>
          <a:p>
            <a:pPr algn="l"/>
            <a:r>
              <a:rPr sz="1210" b="1">
                <a:solidFill>
                  <a:srgbClr val="CF392B"/>
                </a:solidFill>
                <a:latin typeface="Bebas Neue"/>
              </a:rPr>
              <a:t>For example, a linear bias assumes a relationship like Y = a + b*X, guiding the model toward linear solutions.</a:t>
            </a:r>
          </a:p>
        </p:txBody>
      </p:sp>
      <p:sp>
        <p:nvSpPr>
          <p:cNvPr id="26" name="Rounded Rectangle 25"/>
          <p:cNvSpPr/>
          <p:nvPr/>
        </p:nvSpPr>
        <p:spPr>
          <a:xfrm>
            <a:off x="457200" y="4819149"/>
            <a:ext cx="11274552" cy="466082"/>
          </a:xfrm>
          <a:prstGeom prst="roundRect">
            <a:avLst>
              <a:gd name="adj" fmla="val 30213"/>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58368" y="4823590"/>
            <a:ext cx="457200" cy="457200"/>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7</a:t>
            </a:r>
          </a:p>
        </p:txBody>
      </p:sp>
      <p:sp>
        <p:nvSpPr>
          <p:cNvPr id="28" name="TextBox 27"/>
          <p:cNvSpPr txBox="1"/>
          <p:nvPr/>
        </p:nvSpPr>
        <p:spPr>
          <a:xfrm>
            <a:off x="1316736" y="4892301"/>
            <a:ext cx="10213848" cy="319778"/>
          </a:xfrm>
          <a:prstGeom prst="rect">
            <a:avLst/>
          </a:prstGeom>
          <a:noFill/>
        </p:spPr>
        <p:txBody>
          <a:bodyPr wrap="square" anchor="ctr" lIns="0" tIns="0" rIns="0" bIns="0">
            <a:spAutoFit/>
          </a:bodyPr>
          <a:lstStyle/>
          <a:p>
            <a:pPr algn="l"/>
            <a:r>
              <a:rPr sz="1210" b="1">
                <a:solidFill>
                  <a:srgbClr val="CF392B"/>
                </a:solidFill>
                <a:latin typeface="Bebas Neue"/>
              </a:rPr>
              <a:t>Example: Choosing a straight line when data roughly follows a linear trend.</a:t>
            </a:r>
          </a:p>
        </p:txBody>
      </p:sp>
      <p:sp>
        <p:nvSpPr>
          <p:cNvPr id="29" name="Rounded Rectangle 28"/>
          <p:cNvSpPr/>
          <p:nvPr/>
        </p:nvSpPr>
        <p:spPr>
          <a:xfrm>
            <a:off x="457200" y="5486400"/>
            <a:ext cx="11274552" cy="914400"/>
          </a:xfrm>
          <a:prstGeom prst="roundRect">
            <a:avLst>
              <a:gd name="adj" fmla="val 20000"/>
            </a:avLst>
          </a:prstGeom>
          <a:solidFill>
            <a:srgbClr val="CDEDF7"/>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11422"/>
                </a:solidFill>
                <a:latin typeface="Bebas Neue"/>
              </a:rPr>
              <a:t>Key terms:  </a:t>
            </a:r>
            <a:r>
              <a:rPr sz="1600" b="1">
                <a:solidFill>
                  <a:srgbClr val="111111"/>
                </a:solidFill>
                <a:latin typeface="Bebas Neue"/>
              </a:rPr>
              <a:t>Learning bias — Another name for inductive bias.</a:t>
            </a:r>
          </a:p>
        </p:txBody>
      </p:sp>
      <p:sp>
        <p:nvSpPr>
          <p:cNvPr id="30" name="Rectangle 29"/>
          <p:cNvSpPr/>
          <p:nvPr/>
        </p:nvSpPr>
        <p:spPr>
          <a:xfrm>
            <a:off x="457200" y="5614416"/>
            <a:ext cx="82296" cy="658368"/>
          </a:xfrm>
          <a:prstGeom prst="rect">
            <a:avLst/>
          </a:prstGeom>
          <a:solidFill>
            <a:srgbClr val="1FA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5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45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450"/>
                                        <p:tgtEl>
                                          <p:spTgt spid="17"/>
                                        </p:tgtEl>
                                      </p:cBhvr>
                                    </p:animEffect>
                                  </p:childTnLst>
                                </p:cTn>
                              </p:par>
                              <p:par>
                                <p:cTn id="19" presetID="10"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450"/>
                                        <p:tgtEl>
                                          <p:spTgt spid="18"/>
                                        </p:tgtEl>
                                      </p:cBhvr>
                                    </p:animEffect>
                                  </p:childTnLst>
                                </p:cTn>
                              </p:par>
                              <p:par>
                                <p:cTn id="22" presetID="10" presetClass="entr" presetSubtype="0" fill="hold"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450"/>
                                        <p:tgtEl>
                                          <p:spTgt spid="19"/>
                                        </p:tgtEl>
                                      </p:cBhvr>
                                    </p:animEffect>
                                  </p:childTnLst>
                                </p:cTn>
                              </p:par>
                              <p:par>
                                <p:cTn id="25" presetID="10"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450"/>
                                        <p:tgtEl>
                                          <p:spTgt spid="20"/>
                                        </p:tgtEl>
                                      </p:cBhvr>
                                    </p:animEffect>
                                  </p:childTnLst>
                                </p:cTn>
                              </p:par>
                              <p:par>
                                <p:cTn id="28" presetID="10" presetClass="entr" presetSubtype="0" fill="hold"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450"/>
                                        <p:tgtEl>
                                          <p:spTgt spid="21"/>
                                        </p:tgtEl>
                                      </p:cBhvr>
                                    </p:animEffect>
                                  </p:childTnLst>
                                </p:cTn>
                              </p:par>
                              <p:par>
                                <p:cTn id="31" presetID="10"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450"/>
                                        <p:tgtEl>
                                          <p:spTgt spid="2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450"/>
                                        <p:tgtEl>
                                          <p:spTgt spid="23"/>
                                        </p:tgtEl>
                                      </p:cBhvr>
                                    </p:animEffect>
                                  </p:childTnLst>
                                </p:cTn>
                              </p:par>
                              <p:par>
                                <p:cTn id="39" presetID="10" presetClass="entr" presetSubtype="0" fill="hold" nodeType="with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450"/>
                                        <p:tgtEl>
                                          <p:spTgt spid="24"/>
                                        </p:tgtEl>
                                      </p:cBhvr>
                                    </p:animEffect>
                                  </p:childTnLst>
                                </p:cTn>
                              </p:par>
                              <p:par>
                                <p:cTn id="42" presetID="10" presetClass="entr" presetSubtype="0" fill="hold" nodeType="with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450"/>
                                        <p:tgtEl>
                                          <p:spTgt spid="2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450"/>
                                        <p:tgtEl>
                                          <p:spTgt spid="26"/>
                                        </p:tgtEl>
                                      </p:cBhvr>
                                    </p:animEffect>
                                  </p:childTnLst>
                                </p:cTn>
                              </p:par>
                              <p:par>
                                <p:cTn id="50" presetID="10" presetClass="entr" presetSubtype="0" fill="hold" nodeType="with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450"/>
                                        <p:tgtEl>
                                          <p:spTgt spid="27"/>
                                        </p:tgtEl>
                                      </p:cBhvr>
                                    </p:animEffect>
                                  </p:childTnLst>
                                </p:cTn>
                              </p:par>
                              <p:par>
                                <p:cTn id="53" presetID="10" presetClass="entr" presetSubtype="0" fill="hold" nodeType="with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450"/>
                                        <p:tgtEl>
                                          <p:spTgt spid="28"/>
                                        </p:tgtEl>
                                      </p:cBhvr>
                                    </p:animEffect>
                                  </p:childTnLst>
                                </p:cTn>
                              </p:par>
                              <p:par>
                                <p:cTn id="56" presetID="10" presetClass="entr" presetSubtype="0" fill="hold" nodeType="with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fade">
                                      <p:cBhvr>
                                        <p:cTn id="58" dur="450"/>
                                        <p:tgtEl>
                                          <p:spTgt spid="29"/>
                                        </p:tgtEl>
                                      </p:cBhvr>
                                    </p:animEffect>
                                  </p:childTnLst>
                                </p:cTn>
                              </p:par>
                              <p:par>
                                <p:cTn id="59" presetID="10" presetClass="entr" presetSubtype="0" fill="hold" nodeType="withEffect">
                                  <p:stCondLst>
                                    <p:cond delay="0"/>
                                  </p:stCondLst>
                                  <p:childTnLst>
                                    <p:set>
                                      <p:cBhvr>
                                        <p:cTn id="60" dur="1" fill="hold">
                                          <p:stCondLst>
                                            <p:cond delay="0"/>
                                          </p:stCondLst>
                                        </p:cTn>
                                        <p:tgtEl>
                                          <p:spTgt spid="30"/>
                                        </p:tgtEl>
                                        <p:attrNameLst>
                                          <p:attrName>style.visibility</p:attrName>
                                        </p:attrNameLst>
                                      </p:cBhvr>
                                      <p:to>
                                        <p:strVal val="visible"/>
                                      </p:to>
                                    </p:set>
                                    <p:animEffect transition="in" filter="fade">
                                      <p:cBhvr>
                                        <p:cTn id="61" dur="4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3</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15 / 34</a:t>
            </a:r>
          </a:p>
        </p:txBody>
      </p:sp>
      <p:sp>
        <p:nvSpPr>
          <p:cNvPr id="7" name="Rounded Rectangle 6"/>
          <p:cNvSpPr/>
          <p:nvPr/>
        </p:nvSpPr>
        <p:spPr>
          <a:xfrm>
            <a:off x="457200" y="1298448"/>
            <a:ext cx="11274552" cy="1326611"/>
          </a:xfrm>
          <a:prstGeom prst="roundRect">
            <a:avLst>
              <a:gd name="adj" fmla="val 10614"/>
            </a:avLst>
          </a:prstGeom>
          <a:solidFill>
            <a:srgbClr val="FAEBE9"/>
          </a:solidFill>
          <a:ln w="12700">
            <a:solidFill>
              <a:srgbClr val="CF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50" b="1">
                <a:solidFill>
                  <a:srgbClr val="CF392B"/>
                </a:solidFill>
                <a:latin typeface="Bebas Neue"/>
              </a:rPr>
              <a:t>Which term matches this description: “Another name for inductive bias.”?</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Learning bias</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underfitting</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Model</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target function</a:t>
            </a:r>
          </a:p>
        </p:txBody>
      </p:sp>
      <p:sp>
        <p:nvSpPr>
          <p:cNvPr id="22" name="Rounded Rectangle 21"/>
          <p:cNvSpPr/>
          <p:nvPr/>
        </p:nvSpPr>
        <p:spPr>
          <a:xfrm>
            <a:off x="457200" y="5380329"/>
            <a:ext cx="11274552" cy="1020470"/>
          </a:xfrm>
          <a:prstGeom prst="roundRect">
            <a:avLst>
              <a:gd name="adj" fmla="val 12000"/>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A</a:t>
            </a:r>
          </a:p>
          <a:p>
            <a:pPr algn="l">
              <a:spcBef>
                <a:spcPts val="200"/>
              </a:spcBef>
            </a:pPr>
            <a:r>
              <a:rPr sz="1600" b="0">
                <a:solidFill>
                  <a:srgbClr val="FFFFFF"/>
                </a:solidFill>
                <a:latin typeface="Inter"/>
              </a:rPr>
              <a:t>Learning bias: Another name for inductive bias.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Inductive bias: Rule for Labelling</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16 / 34</a:t>
            </a:r>
          </a:p>
        </p:txBody>
      </p:sp>
      <p:sp>
        <p:nvSpPr>
          <p:cNvPr id="8" name="Rounded Rectangle 7">
            <a:hlinkClick r:id="rId5"/>
          </p:cNvPr>
          <p:cNvSpPr/>
          <p:nvPr/>
        </p:nvSpPr>
        <p:spPr>
          <a:xfrm>
            <a:off x="2894076" y="6455664"/>
            <a:ext cx="6400800" cy="310896"/>
          </a:xfrm>
          <a:prstGeom prst="roundRect">
            <a:avLst/>
          </a:prstGeom>
          <a:solidFill>
            <a:srgbClr val="1FAEDD"/>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Inductive bias: Rule for Labelling — step-through</a:t>
            </a:r>
          </a:p>
        </p:txBody>
      </p:sp>
      <p:sp>
        <p:nvSpPr>
          <p:cNvPr id="9" name="Rounded Rectangle 8"/>
          <p:cNvSpPr/>
          <p:nvPr/>
        </p:nvSpPr>
        <p:spPr>
          <a:xfrm>
            <a:off x="457200" y="1298448"/>
            <a:ext cx="11274552" cy="700796"/>
          </a:xfrm>
          <a:prstGeom prst="roundRect">
            <a:avLst>
              <a:gd name="adj" fmla="val 20093"/>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420246"/>
            <a:ext cx="457200" cy="457200"/>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1" name="TextBox 10"/>
          <p:cNvSpPr txBox="1"/>
          <p:nvPr/>
        </p:nvSpPr>
        <p:spPr>
          <a:xfrm>
            <a:off x="1316736" y="1371600"/>
            <a:ext cx="10213848" cy="554492"/>
          </a:xfrm>
          <a:prstGeom prst="rect">
            <a:avLst/>
          </a:prstGeom>
          <a:noFill/>
        </p:spPr>
        <p:txBody>
          <a:bodyPr wrap="square" anchor="ctr" lIns="0" tIns="0" rIns="0" bIns="0">
            <a:spAutoFit/>
          </a:bodyPr>
          <a:lstStyle/>
          <a:p>
            <a:pPr algn="l"/>
            <a:r>
              <a:rPr sz="1380" b="1">
                <a:solidFill>
                  <a:srgbClr val="CF392B"/>
                </a:solidFill>
                <a:latin typeface="Bebas Neue"/>
              </a:rPr>
              <a:t>Rule for Labelling</a:t>
            </a:r>
          </a:p>
        </p:txBody>
      </p:sp>
      <p:sp>
        <p:nvSpPr>
          <p:cNvPr id="12" name="Rounded Rectangle 11"/>
          <p:cNvSpPr/>
          <p:nvPr/>
        </p:nvSpPr>
        <p:spPr>
          <a:xfrm>
            <a:off x="457200" y="2119944"/>
            <a:ext cx="11274552" cy="700796"/>
          </a:xfrm>
          <a:prstGeom prst="roundRect">
            <a:avLst>
              <a:gd name="adj" fmla="val 20093"/>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2241743"/>
            <a:ext cx="457200" cy="457200"/>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4" name="TextBox 13"/>
          <p:cNvSpPr txBox="1"/>
          <p:nvPr/>
        </p:nvSpPr>
        <p:spPr>
          <a:xfrm>
            <a:off x="1316736" y="2193096"/>
            <a:ext cx="10213848" cy="554492"/>
          </a:xfrm>
          <a:prstGeom prst="rect">
            <a:avLst/>
          </a:prstGeom>
          <a:noFill/>
        </p:spPr>
        <p:txBody>
          <a:bodyPr wrap="square" anchor="ctr" lIns="0" tIns="0" rIns="0" bIns="0">
            <a:spAutoFit/>
          </a:bodyPr>
          <a:lstStyle/>
          <a:p>
            <a:pPr algn="l"/>
            <a:r>
              <a:rPr sz="1380" b="1">
                <a:solidFill>
                  <a:srgbClr val="CF392B"/>
                </a:solidFill>
                <a:latin typeface="Bebas Neue"/>
              </a:rPr>
              <a:t>Class 1 0 h ′: IF x ≥ 20 THEN “1” ELSE “0”.</a:t>
            </a:r>
          </a:p>
        </p:txBody>
      </p:sp>
      <p:sp>
        <p:nvSpPr>
          <p:cNvPr id="15" name="Rounded Rectangle 14"/>
          <p:cNvSpPr/>
          <p:nvPr/>
        </p:nvSpPr>
        <p:spPr>
          <a:xfrm>
            <a:off x="457200" y="2941441"/>
            <a:ext cx="11274552" cy="700796"/>
          </a:xfrm>
          <a:prstGeom prst="roundRect">
            <a:avLst>
              <a:gd name="adj" fmla="val 20093"/>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58368" y="3063240"/>
            <a:ext cx="457200" cy="457200"/>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7" name="TextBox 16"/>
          <p:cNvSpPr txBox="1"/>
          <p:nvPr/>
        </p:nvSpPr>
        <p:spPr>
          <a:xfrm>
            <a:off x="1316736" y="3014593"/>
            <a:ext cx="10213848" cy="554492"/>
          </a:xfrm>
          <a:prstGeom prst="rect">
            <a:avLst/>
          </a:prstGeom>
          <a:noFill/>
        </p:spPr>
        <p:txBody>
          <a:bodyPr wrap="square" anchor="ctr" lIns="0" tIns="0" rIns="0" bIns="0">
            <a:spAutoFit/>
          </a:bodyPr>
          <a:lstStyle/>
          <a:p>
            <a:pPr algn="l"/>
            <a:r>
              <a:rPr sz="1380" b="1">
                <a:solidFill>
                  <a:srgbClr val="CF392B"/>
                </a:solidFill>
                <a:latin typeface="Bebas Neue"/>
              </a:rPr>
              <a:t>h ′ is consistent with the training examples in the table. For example, h ′ (27) = 1, c(27) = 1, h′ (27) = c(27) h ′ (15) = 0, c(15) = 0, h′ (15) = c(15) for x = 5 and x = 28 (not in training data),</a:t>
            </a:r>
          </a:p>
        </p:txBody>
      </p:sp>
      <p:sp>
        <p:nvSpPr>
          <p:cNvPr id="18" name="Rounded Rectangle 17"/>
          <p:cNvSpPr/>
          <p:nvPr/>
        </p:nvSpPr>
        <p:spPr>
          <a:xfrm>
            <a:off x="457200" y="3762938"/>
            <a:ext cx="11274552" cy="700796"/>
          </a:xfrm>
          <a:prstGeom prst="roundRect">
            <a:avLst>
              <a:gd name="adj" fmla="val 20093"/>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3884736"/>
            <a:ext cx="457200" cy="457200"/>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20" name="TextBox 19"/>
          <p:cNvSpPr txBox="1"/>
          <p:nvPr/>
        </p:nvSpPr>
        <p:spPr>
          <a:xfrm>
            <a:off x="1316736" y="3836090"/>
            <a:ext cx="10213848" cy="554492"/>
          </a:xfrm>
          <a:prstGeom prst="rect">
            <a:avLst/>
          </a:prstGeom>
          <a:noFill/>
        </p:spPr>
        <p:txBody>
          <a:bodyPr wrap="square" anchor="ctr" lIns="0" tIns="0" rIns="0" bIns="0">
            <a:spAutoFit/>
          </a:bodyPr>
          <a:lstStyle/>
          <a:p>
            <a:pPr algn="l"/>
            <a:r>
              <a:rPr sz="1380" b="1">
                <a:solidFill>
                  <a:srgbClr val="CF392B"/>
                </a:solidFill>
                <a:latin typeface="Bebas Neue"/>
              </a:rPr>
              <a:t>h ′ (5) = 0, h′ (28) = 1.</a:t>
            </a:r>
          </a:p>
        </p:txBody>
      </p:sp>
      <p:sp>
        <p:nvSpPr>
          <p:cNvPr id="21" name="Rounded Rectangle 20"/>
          <p:cNvSpPr/>
          <p:nvPr/>
        </p:nvSpPr>
        <p:spPr>
          <a:xfrm>
            <a:off x="457200" y="4584435"/>
            <a:ext cx="11274552" cy="700796"/>
          </a:xfrm>
          <a:prstGeom prst="roundRect">
            <a:avLst>
              <a:gd name="adj" fmla="val 20093"/>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58368" y="4706233"/>
            <a:ext cx="457200" cy="457200"/>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5</a:t>
            </a:r>
          </a:p>
        </p:txBody>
      </p:sp>
      <p:sp>
        <p:nvSpPr>
          <p:cNvPr id="23" name="TextBox 22"/>
          <p:cNvSpPr txBox="1"/>
          <p:nvPr/>
        </p:nvSpPr>
        <p:spPr>
          <a:xfrm>
            <a:off x="1316736" y="4657587"/>
            <a:ext cx="10213848" cy="554492"/>
          </a:xfrm>
          <a:prstGeom prst="rect">
            <a:avLst/>
          </a:prstGeom>
          <a:noFill/>
        </p:spPr>
        <p:txBody>
          <a:bodyPr wrap="square" anchor="ctr" lIns="0" tIns="0" rIns="0" bIns="0">
            <a:spAutoFit/>
          </a:bodyPr>
          <a:lstStyle/>
          <a:p>
            <a:pPr algn="l"/>
            <a:r>
              <a:rPr sz="1380" b="1">
                <a:solidFill>
                  <a:srgbClr val="CF392B"/>
                </a:solidFill>
                <a:latin typeface="Bebas Neue"/>
              </a:rPr>
              <a:t>The following proposition also explains the data: h ′′: IF x ≥ 19 THEN “0” ELSE “1”.</a:t>
            </a:r>
          </a:p>
        </p:txBody>
      </p:sp>
      <p:sp>
        <p:nvSpPr>
          <p:cNvPr id="24" name="Rounded Rectangle 23"/>
          <p:cNvSpPr/>
          <p:nvPr/>
        </p:nvSpPr>
        <p:spPr>
          <a:xfrm>
            <a:off x="457200" y="5486400"/>
            <a:ext cx="11274552" cy="914400"/>
          </a:xfrm>
          <a:prstGeom prst="roundRect">
            <a:avLst>
              <a:gd name="adj" fmla="val 20000"/>
            </a:avLst>
          </a:prstGeom>
          <a:solidFill>
            <a:srgbClr val="CDEDF7"/>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11422"/>
                </a:solidFill>
                <a:latin typeface="Bebas Neue"/>
              </a:rPr>
              <a:t>Key takeaway:  </a:t>
            </a:r>
            <a:r>
              <a:rPr sz="1600" b="1">
                <a:solidFill>
                  <a:srgbClr val="111111"/>
                </a:solidFill>
                <a:latin typeface="Bebas Neue"/>
              </a:rPr>
              <a:t>Inductive bias is a labeling rule that must be consistent with all training examples.</a:t>
            </a:r>
          </a:p>
        </p:txBody>
      </p:sp>
      <p:sp>
        <p:nvSpPr>
          <p:cNvPr id="25" name="Rectangle 24"/>
          <p:cNvSpPr/>
          <p:nvPr/>
        </p:nvSpPr>
        <p:spPr>
          <a:xfrm>
            <a:off x="457200" y="5614416"/>
            <a:ext cx="82296" cy="658368"/>
          </a:xfrm>
          <a:prstGeom prst="rect">
            <a:avLst/>
          </a:prstGeom>
          <a:solidFill>
            <a:srgbClr val="1FA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450"/>
                                        <p:tgtEl>
                                          <p:spTgt spid="15"/>
                                        </p:tgtEl>
                                      </p:cBhvr>
                                    </p:animEffect>
                                  </p:childTnLst>
                                </p:cTn>
                              </p:par>
                              <p:par>
                                <p:cTn id="19" presetID="10"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5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50"/>
                                        <p:tgtEl>
                                          <p:spTgt spid="17"/>
                                        </p:tgtEl>
                                      </p:cBhvr>
                                    </p:animEffect>
                                  </p:childTnLst>
                                </p:cTn>
                              </p:par>
                              <p:par>
                                <p:cTn id="25" presetID="10"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par>
                                <p:cTn id="31" presetID="10"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50"/>
                                        <p:tgtEl>
                                          <p:spTgt spid="2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50"/>
                                        <p:tgtEl>
                                          <p:spTgt spid="21"/>
                                        </p:tgtEl>
                                      </p:cBhvr>
                                    </p:animEffect>
                                  </p:childTnLst>
                                </p:cTn>
                              </p:par>
                              <p:par>
                                <p:cTn id="39" presetID="10" presetClass="entr" presetSubtype="0"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50"/>
                                        <p:tgtEl>
                                          <p:spTgt spid="22"/>
                                        </p:tgtEl>
                                      </p:cBhvr>
                                    </p:animEffect>
                                  </p:childTnLst>
                                </p:cTn>
                              </p:par>
                              <p:par>
                                <p:cTn id="42" presetID="10" presetClass="entr" presetSubtype="0" fill="hold"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50"/>
                                        <p:tgtEl>
                                          <p:spTgt spid="2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50"/>
                                        <p:tgtEl>
                                          <p:spTgt spid="24"/>
                                        </p:tgtEl>
                                      </p:cBhvr>
                                    </p:animEffect>
                                  </p:childTnLst>
                                </p:cTn>
                              </p:par>
                              <p:par>
                                <p:cTn id="50" presetID="10" presetClass="entr" presetSubtype="0" fill="hold"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A hypothesis must predict future observations, not just fit training data</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17 / 34</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ectangle 7"/>
          <p:cNvSpPr/>
          <p:nvPr/>
        </p:nvSpPr>
        <p:spPr>
          <a:xfrm>
            <a:off x="457200" y="1541169"/>
            <a:ext cx="82296" cy="844859"/>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504593"/>
            <a:ext cx="6963576" cy="863147"/>
          </a:xfrm>
          <a:prstGeom prst="rect">
            <a:avLst/>
          </a:prstGeom>
          <a:noFill/>
        </p:spPr>
        <p:txBody>
          <a:bodyPr wrap="square" anchor="t" lIns="0" tIns="0" rIns="0" bIns="0">
            <a:spAutoFit/>
          </a:bodyPr>
          <a:lstStyle/>
          <a:p>
            <a:pPr algn="l"/>
            <a:r>
              <a:rPr sz="1800" b="1">
                <a:solidFill>
                  <a:srgbClr val="CF392B"/>
                </a:solidFill>
                <a:latin typeface="Bebas Neue"/>
              </a:rPr>
              <a:t>It is not enough that the hypothesis explains the given data; it must also predict correctly the class label of future observations.</a:t>
            </a:r>
          </a:p>
        </p:txBody>
      </p:sp>
      <p:sp>
        <p:nvSpPr>
          <p:cNvPr id="10" name="TextBox 9"/>
          <p:cNvSpPr txBox="1"/>
          <p:nvPr/>
        </p:nvSpPr>
        <p:spPr>
          <a:xfrm>
            <a:off x="720547" y="2559765"/>
            <a:ext cx="6963576" cy="232028"/>
          </a:xfrm>
          <a:prstGeom prst="rect">
            <a:avLst/>
          </a:prstGeom>
          <a:noFill/>
        </p:spPr>
        <p:txBody>
          <a:bodyPr wrap="square" lIns="0" rIns="0" tIns="0" bIns="0">
            <a:spAutoFit/>
          </a:bodyPr>
          <a:lstStyle/>
          <a:p>
            <a:r>
              <a:rPr sz="1450">
                <a:solidFill>
                  <a:srgbClr val="111111"/>
                </a:solidFill>
                <a:latin typeface="Inter"/>
              </a:rPr>
              <a:t>So, consider a set of such hypotheses and choose the “best” one.</a:t>
            </a:r>
          </a:p>
        </p:txBody>
      </p:sp>
      <p:sp>
        <p:nvSpPr>
          <p:cNvPr id="11" name="TextBox 10"/>
          <p:cNvSpPr txBox="1"/>
          <p:nvPr/>
        </p:nvSpPr>
        <p:spPr>
          <a:xfrm>
            <a:off x="720547" y="2919810"/>
            <a:ext cx="6963576" cy="464057"/>
          </a:xfrm>
          <a:prstGeom prst="rect">
            <a:avLst/>
          </a:prstGeom>
          <a:noFill/>
        </p:spPr>
        <p:txBody>
          <a:bodyPr wrap="square" lIns="0" rIns="0" tIns="0" bIns="0">
            <a:spAutoFit/>
          </a:bodyPr>
          <a:lstStyle/>
          <a:p>
            <a:r>
              <a:rPr sz="1450">
                <a:solidFill>
                  <a:srgbClr val="111111"/>
                </a:solidFill>
                <a:latin typeface="Inter"/>
              </a:rPr>
              <a:t>The set of hypotheses can be defined using a parameter, say m, as given below: hm: IF x ≥ m </a:t>
            </a:r>
            <a:r>
              <a:rPr sz="1450" b="1">
                <a:solidFill>
                  <a:srgbClr val="6D28D9"/>
                </a:solidFill>
                <a:latin typeface="Bebas Neue"/>
              </a:rPr>
              <a:t>THEN</a:t>
            </a:r>
            <a:r>
              <a:rPr sz="1450">
                <a:solidFill>
                  <a:srgbClr val="111111"/>
                </a:solidFill>
                <a:latin typeface="Inter"/>
              </a:rPr>
              <a:t> “1” ELSE ”0”.</a:t>
            </a:r>
          </a:p>
        </p:txBody>
      </p:sp>
      <p:sp>
        <p:nvSpPr>
          <p:cNvPr id="12" name="Rounded Rectangle 11"/>
          <p:cNvSpPr/>
          <p:nvPr/>
        </p:nvSpPr>
        <p:spPr>
          <a:xfrm>
            <a:off x="457200" y="3919198"/>
            <a:ext cx="7751064" cy="1366033"/>
          </a:xfrm>
          <a:prstGeom prst="roundRect">
            <a:avLst>
              <a:gd name="adj" fmla="val 8000"/>
            </a:avLst>
          </a:prstGeom>
          <a:solidFill>
            <a:srgbClr val="FB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919198"/>
            <a:ext cx="73152" cy="1366033"/>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1286" y="3992350"/>
            <a:ext cx="7356043" cy="1219729"/>
          </a:xfrm>
          <a:prstGeom prst="rect">
            <a:avLst/>
          </a:prstGeom>
          <a:noFill/>
        </p:spPr>
        <p:txBody>
          <a:bodyPr wrap="square" anchor="ctr" lIns="0" tIns="0" rIns="0" bIns="0">
            <a:spAutoFit/>
          </a:bodyPr>
          <a:lstStyle/>
          <a:p>
            <a:pPr algn="l"/>
            <a:r>
              <a:rPr sz="1010" b="1">
                <a:solidFill>
                  <a:srgbClr val="1FAEDD"/>
                </a:solidFill>
                <a:latin typeface="Bebas Neue"/>
              </a:rPr>
              <a:t>IN PLAIN WORDS</a:t>
            </a:r>
          </a:p>
          <a:p>
            <a:pPr algn="l">
              <a:spcBef>
                <a:spcPts val="300"/>
              </a:spcBef>
            </a:pPr>
            <a:r>
              <a:rPr sz="1400" b="0">
                <a:solidFill>
                  <a:srgbClr val="111111"/>
                </a:solidFill>
                <a:latin typeface="Inter"/>
              </a:rPr>
              <a:t>The model should generalize beyond the training set. By considering a family of hypotheses parameterized by m, we choose the one that best balances fit and future prediction accuracy. For example, choosing the threshold that correctly classifies new numbers.</a:t>
            </a:r>
          </a:p>
        </p:txBody>
      </p:sp>
      <p:sp>
        <p:nvSpPr>
          <p:cNvPr id="15" name="Rounded Rectangle 14"/>
          <p:cNvSpPr/>
          <p:nvPr/>
        </p:nvSpPr>
        <p:spPr>
          <a:xfrm>
            <a:off x="457200" y="5486400"/>
            <a:ext cx="11274552" cy="914400"/>
          </a:xfrm>
          <a:prstGeom prst="roundRect">
            <a:avLst>
              <a:gd name="adj" fmla="val 20000"/>
            </a:avLst>
          </a:prstGeom>
          <a:solidFill>
            <a:srgbClr val="CDEDF7"/>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11422"/>
                </a:solidFill>
                <a:latin typeface="Bebas Neue"/>
              </a:rPr>
              <a:t>Key terms:  </a:t>
            </a:r>
            <a:r>
              <a:rPr sz="1600" b="1">
                <a:solidFill>
                  <a:srgbClr val="111111"/>
                </a:solidFill>
                <a:latin typeface="Bebas Neue"/>
              </a:rPr>
              <a:t>Hypothesis — A rule that predicts class labels.</a:t>
            </a:r>
          </a:p>
        </p:txBody>
      </p:sp>
      <p:sp>
        <p:nvSpPr>
          <p:cNvPr id="16" name="Rectangle 15"/>
          <p:cNvSpPr/>
          <p:nvPr/>
        </p:nvSpPr>
        <p:spPr>
          <a:xfrm>
            <a:off x="457200" y="5614416"/>
            <a:ext cx="82296" cy="658368"/>
          </a:xfrm>
          <a:prstGeom prst="rect">
            <a:avLst/>
          </a:prstGeom>
          <a:solidFill>
            <a:srgbClr val="1FA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50"/>
                                        <p:tgtEl>
                                          <p:spTgt spid="12"/>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50"/>
                                        <p:tgtEl>
                                          <p:spTgt spid="15"/>
                                        </p:tgtEl>
                                      </p:cBhvr>
                                    </p:animEffect>
                                  </p:childTnLst>
                                </p:cTn>
                              </p:par>
                              <p:par>
                                <p:cTn id="25" presetID="10"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Bias and variance trade-off balances underfitting and overfitting in supervised learning</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18 / 34</a:t>
            </a:r>
          </a:p>
        </p:txBody>
      </p:sp>
      <p:graphicFrame>
        <p:nvGraphicFramePr>
          <p:cNvPr id="8" name="Table 7"/>
          <p:cNvGraphicFramePr>
            <a:graphicFrameLocks noGrp="1"/>
          </p:cNvGraphicFramePr>
          <p:nvPr/>
        </p:nvGraphicFramePr>
        <p:xfrm>
          <a:off x="457200" y="1371600"/>
          <a:ext cx="11274552" cy="3840480"/>
        </p:xfrm>
        <a:graphic>
          <a:graphicData uri="http://schemas.openxmlformats.org/drawingml/2006/table">
            <a:tbl>
              <a:tblPr firstRow="1" bandRow="1">
                <a:tableStyleId>{5C22544A-7EE6-4342-B048-85BDC9FD1C3A}</a:tableStyleId>
              </a:tblPr>
              <a:tblGrid>
                <a:gridCol w="5637276"/>
                <a:gridCol w="5637276"/>
              </a:tblGrid>
              <a:tr h="685800">
                <a:tc>
                  <a:txBody>
                    <a:bodyPr/>
                    <a:lstStyle/>
                    <a:p>
                      <a:pPr algn="l"/>
                      <a:r>
                        <a:rPr sz="2000" b="1">
                          <a:solidFill>
                            <a:srgbClr val="FFFFFF"/>
                          </a:solidFill>
                          <a:latin typeface="Bebas Neue"/>
                        </a:rPr>
                        <a:t>Bias</a:t>
                      </a:r>
                    </a:p>
                  </a:txBody>
                  <a:tcPr marL="146304" marR="146304" anchor="ctr">
                    <a:solidFill>
                      <a:srgbClr val="CF392B"/>
                    </a:solidFill>
                  </a:tcPr>
                </a:tc>
                <a:tc>
                  <a:txBody>
                    <a:bodyPr/>
                    <a:lstStyle/>
                    <a:p>
                      <a:pPr algn="l"/>
                      <a:r>
                        <a:rPr sz="2000" b="1">
                          <a:solidFill>
                            <a:srgbClr val="FFFFFF"/>
                          </a:solidFill>
                          <a:latin typeface="Bebas Neue"/>
                        </a:rPr>
                        <a:t>Variance</a:t>
                      </a:r>
                    </a:p>
                  </a:txBody>
                  <a:tcPr marL="146304" marR="146304" anchor="ctr">
                    <a:solidFill>
                      <a:srgbClr val="CF392B"/>
                    </a:solidFill>
                  </a:tcPr>
                </a:tc>
              </a:tr>
              <a:tr h="1051560">
                <a:tc>
                  <a:txBody>
                    <a:bodyPr/>
                    <a:lstStyle/>
                    <a:p>
                      <a:pPr algn="l"/>
                      <a:r>
                        <a:rPr sz="2000" b="1">
                          <a:solidFill>
                            <a:srgbClr val="CF392B"/>
                          </a:solidFill>
                          <a:latin typeface="Bebas Neue"/>
                        </a:rPr>
                        <a:t>The correct balance of bias</a:t>
                      </a:r>
                    </a:p>
                  </a:txBody>
                  <a:tcPr marL="146304" marR="146304" anchor="ctr">
                    <a:solidFill>
                      <a:srgbClr val="F5F6F8"/>
                    </a:solidFill>
                  </a:tcPr>
                </a:tc>
                <a:tc>
                  <a:txBody>
                    <a:bodyPr/>
                    <a:lstStyle/>
                    <a:p>
                      <a:pPr algn="l"/>
                      <a:r>
                        <a:rPr sz="2000" b="0">
                          <a:solidFill>
                            <a:srgbClr val="111111"/>
                          </a:solidFill>
                          <a:latin typeface="Inter"/>
                        </a:rPr>
                        <a:t>Vital</a:t>
                      </a:r>
                    </a:p>
                  </a:txBody>
                  <a:tcPr marL="146304" marR="146304" anchor="ctr">
                    <a:solidFill>
                      <a:srgbClr val="F5F6F8"/>
                    </a:solidFill>
                  </a:tcPr>
                </a:tc>
              </a:tr>
              <a:tr h="1051560">
                <a:tc>
                  <a:txBody>
                    <a:bodyPr/>
                    <a:lstStyle/>
                    <a:p>
                      <a:pPr algn="l"/>
                      <a:r>
                        <a:rPr sz="2000" b="1">
                          <a:solidFill>
                            <a:srgbClr val="CF392B"/>
                          </a:solidFill>
                          <a:latin typeface="Bebas Neue"/>
                        </a:rPr>
                        <a:t>High bias = underfitting</a:t>
                      </a:r>
                    </a:p>
                  </a:txBody>
                  <a:tcPr marL="146304" marR="146304" anchor="ctr">
                    <a:solidFill>
                      <a:srgbClr val="FBEFEE"/>
                    </a:solidFill>
                  </a:tcPr>
                </a:tc>
                <a:tc>
                  <a:txBody>
                    <a:bodyPr/>
                    <a:lstStyle/>
                    <a:p>
                      <a:pPr algn="l"/>
                      <a:r>
                        <a:rPr sz="2000" b="0">
                          <a:solidFill>
                            <a:srgbClr val="111111"/>
                          </a:solidFill>
                          <a:latin typeface="Inter"/>
                        </a:rPr>
                        <a:t>Causes overfitting</a:t>
                      </a:r>
                    </a:p>
                  </a:txBody>
                  <a:tcPr marL="146304" marR="146304" anchor="ctr">
                    <a:solidFill>
                      <a:srgbClr val="FBEFEE"/>
                    </a:solidFill>
                  </a:tcPr>
                </a:tc>
              </a:tr>
              <a:tr h="1051560">
                <a:tc>
                  <a:txBody>
                    <a:bodyPr/>
                    <a:lstStyle/>
                    <a:p>
                      <a:pPr algn="l"/>
                      <a:r>
                        <a:rPr sz="2000" b="1">
                          <a:solidFill>
                            <a:srgbClr val="CF392B"/>
                          </a:solidFill>
                          <a:latin typeface="Bebas Neue"/>
                        </a:rPr>
                        <a:t>High bias leads to underfitting, while high</a:t>
                      </a:r>
                    </a:p>
                  </a:txBody>
                  <a:tcPr marL="146304" marR="146304" anchor="ctr">
                    <a:solidFill>
                      <a:srgbClr val="F5F6F8"/>
                    </a:solidFill>
                  </a:tcPr>
                </a:tc>
                <a:tc>
                  <a:txBody>
                    <a:bodyPr/>
                    <a:lstStyle/>
                    <a:p>
                      <a:pPr algn="l"/>
                    </a:p>
                  </a:txBody>
                  <a:tcPr marL="146304" marR="146304" anchor="ctr">
                    <a:solidFill>
                      <a:srgbClr val="F5F6F8"/>
                    </a:solidFill>
                  </a:tcPr>
                </a:tc>
              </a:tr>
            </a:tbl>
          </a:graphicData>
        </a:graphic>
      </p:graphicFrame>
      <p:sp>
        <p:nvSpPr>
          <p:cNvPr id="9" name="Rounded Rectangle 8"/>
          <p:cNvSpPr/>
          <p:nvPr/>
        </p:nvSpPr>
        <p:spPr>
          <a:xfrm>
            <a:off x="457200" y="5486400"/>
            <a:ext cx="11274552" cy="914400"/>
          </a:xfrm>
          <a:prstGeom prst="roundRect">
            <a:avLst>
              <a:gd name="adj" fmla="val 20000"/>
            </a:avLst>
          </a:prstGeom>
          <a:solidFill>
            <a:srgbClr val="CDEDF7"/>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11422"/>
                </a:solidFill>
                <a:latin typeface="Bebas Neue"/>
              </a:rPr>
              <a:t>Key takeaway:  </a:t>
            </a:r>
            <a:r>
              <a:rPr sz="1300" b="0">
                <a:solidFill>
                  <a:srgbClr val="111111"/>
                </a:solidFill>
                <a:latin typeface="Inter"/>
              </a:rPr>
              <a:t>3 bias compared on variance.</a:t>
            </a:r>
          </a:p>
          <a:p>
            <a:pPr algn="l"/>
            <a:r>
              <a:rPr b="1" sz="1300">
                <a:solidFill>
                  <a:srgbClr val="111422"/>
                </a:solidFill>
                <a:latin typeface="Bebas Neue"/>
              </a:rPr>
              <a:t>Key terms:  </a:t>
            </a:r>
            <a:r>
              <a:rPr sz="1300" b="0">
                <a:solidFill>
                  <a:srgbClr val="111111"/>
                </a:solidFill>
                <a:latin typeface="Inter"/>
              </a:rPr>
              <a:t>High bias — more assumptions are taken to build the target function  ·  Bias — Error from erroneous assumptions in the learning algorithm.</a:t>
            </a:r>
          </a:p>
        </p:txBody>
      </p:sp>
      <p:sp>
        <p:nvSpPr>
          <p:cNvPr id="10" name="Rectangle 9"/>
          <p:cNvSpPr/>
          <p:nvPr/>
        </p:nvSpPr>
        <p:spPr>
          <a:xfrm>
            <a:off x="457200" y="5614416"/>
            <a:ext cx="82296" cy="658368"/>
          </a:xfrm>
          <a:prstGeom prst="rect">
            <a:avLst/>
          </a:prstGeom>
          <a:solidFill>
            <a:srgbClr val="1FA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Low bias reduces assumptions, enabling the model to closely match training data</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19 / 34</a:t>
            </a:r>
          </a:p>
        </p:txBody>
      </p:sp>
      <p:sp>
        <p:nvSpPr>
          <p:cNvPr id="8" name="Rounded Rectangle 7"/>
          <p:cNvSpPr/>
          <p:nvPr/>
        </p:nvSpPr>
        <p:spPr>
          <a:xfrm>
            <a:off x="457200" y="1298448"/>
            <a:ext cx="3502152" cy="1472132"/>
          </a:xfrm>
          <a:prstGeom prst="roundRect">
            <a:avLst>
              <a:gd name="adj" fmla="val 9565"/>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805914"/>
            <a:ext cx="457200" cy="457200"/>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1280160" y="1499616"/>
            <a:ext cx="2478024" cy="1069796"/>
          </a:xfrm>
          <a:prstGeom prst="rect">
            <a:avLst/>
          </a:prstGeom>
          <a:noFill/>
        </p:spPr>
        <p:txBody>
          <a:bodyPr wrap="square" anchor="ctr" lIns="0" tIns="0" rIns="0" bIns="0">
            <a:spAutoFit/>
          </a:bodyPr>
          <a:lstStyle/>
          <a:p>
            <a:pPr algn="l"/>
            <a:r>
              <a:rPr sz="1440" b="1">
                <a:solidFill>
                  <a:srgbClr val="CF392B"/>
                </a:solidFill>
                <a:latin typeface="Bebas Neue"/>
              </a:rPr>
              <a:t>Low Bias means fewer assumptions</a:t>
            </a:r>
          </a:p>
          <a:p>
            <a:pPr algn="l">
              <a:spcBef>
                <a:spcPts val="500"/>
              </a:spcBef>
            </a:pPr>
            <a:r>
              <a:rPr sz="1200" b="0">
                <a:solidFill>
                  <a:srgbClr val="111111"/>
                </a:solidFill>
                <a:latin typeface="Inter"/>
              </a:rPr>
              <a:t>are taken to build the target function</a:t>
            </a:r>
          </a:p>
        </p:txBody>
      </p:sp>
      <p:sp>
        <p:nvSpPr>
          <p:cNvPr id="11" name="Right Arrow 10"/>
          <p:cNvSpPr/>
          <p:nvPr/>
        </p:nvSpPr>
        <p:spPr>
          <a:xfrm>
            <a:off x="4014215" y="1879066"/>
            <a:ext cx="274320" cy="310896"/>
          </a:xfrm>
          <a:prstGeom prst="rightArrow">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43400" y="1298448"/>
            <a:ext cx="3502152" cy="1472132"/>
          </a:xfrm>
          <a:prstGeom prst="roundRect">
            <a:avLst>
              <a:gd name="adj" fmla="val 9565"/>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44568" y="1805914"/>
            <a:ext cx="457200" cy="457200"/>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4" name="TextBox 13"/>
          <p:cNvSpPr txBox="1"/>
          <p:nvPr/>
        </p:nvSpPr>
        <p:spPr>
          <a:xfrm>
            <a:off x="5166359" y="1499616"/>
            <a:ext cx="2478024" cy="1069796"/>
          </a:xfrm>
          <a:prstGeom prst="rect">
            <a:avLst/>
          </a:prstGeom>
          <a:noFill/>
        </p:spPr>
        <p:txBody>
          <a:bodyPr wrap="square" anchor="ctr" lIns="0" tIns="0" rIns="0" bIns="0">
            <a:spAutoFit/>
          </a:bodyPr>
          <a:lstStyle/>
          <a:p>
            <a:pPr algn="l"/>
            <a:r>
              <a:rPr sz="1440" b="1">
                <a:solidFill>
                  <a:srgbClr val="CF392B"/>
                </a:solidFill>
                <a:latin typeface="Bebas Neue"/>
              </a:rPr>
              <a:t>The model will closely match</a:t>
            </a:r>
          </a:p>
          <a:p>
            <a:pPr algn="l">
              <a:spcBef>
                <a:spcPts val="500"/>
              </a:spcBef>
            </a:pPr>
            <a:r>
              <a:rPr sz="1200" b="0">
                <a:solidFill>
                  <a:srgbClr val="111111"/>
                </a:solidFill>
                <a:latin typeface="Inter"/>
              </a:rPr>
              <a:t>the training dataset</a:t>
            </a:r>
          </a:p>
        </p:txBody>
      </p:sp>
      <p:sp>
        <p:nvSpPr>
          <p:cNvPr id="15" name="Right Arrow 14"/>
          <p:cNvSpPr/>
          <p:nvPr/>
        </p:nvSpPr>
        <p:spPr>
          <a:xfrm>
            <a:off x="7900416" y="1879066"/>
            <a:ext cx="274320" cy="310896"/>
          </a:xfrm>
          <a:prstGeom prst="rightArrow">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0" y="1298448"/>
            <a:ext cx="3502152" cy="1472132"/>
          </a:xfrm>
          <a:prstGeom prst="roundRect">
            <a:avLst>
              <a:gd name="adj" fmla="val 9565"/>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30768" y="1805914"/>
            <a:ext cx="457200" cy="457200"/>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8" name="TextBox 17"/>
          <p:cNvSpPr txBox="1"/>
          <p:nvPr/>
        </p:nvSpPr>
        <p:spPr>
          <a:xfrm>
            <a:off x="9052560" y="1499616"/>
            <a:ext cx="2478024" cy="1069796"/>
          </a:xfrm>
          <a:prstGeom prst="rect">
            <a:avLst/>
          </a:prstGeom>
          <a:noFill/>
        </p:spPr>
        <p:txBody>
          <a:bodyPr wrap="square" anchor="ctr" lIns="0" tIns="0" rIns="0" bIns="0">
            <a:spAutoFit/>
          </a:bodyPr>
          <a:lstStyle/>
          <a:p>
            <a:pPr algn="l"/>
            <a:r>
              <a:rPr sz="1440" b="1">
                <a:solidFill>
                  <a:srgbClr val="CF392B"/>
                </a:solidFill>
                <a:latin typeface="Bebas Neue"/>
              </a:rPr>
              <a:t>Low bias means the model</a:t>
            </a:r>
          </a:p>
          <a:p>
            <a:pPr algn="l">
              <a:spcBef>
                <a:spcPts val="500"/>
              </a:spcBef>
            </a:pPr>
            <a:r>
              <a:rPr sz="1200" b="0">
                <a:solidFill>
                  <a:srgbClr val="111111"/>
                </a:solidFill>
                <a:latin typeface="Inter"/>
              </a:rPr>
              <a:t>makes fewer simplifying assumptions about the data</a:t>
            </a:r>
          </a:p>
        </p:txBody>
      </p:sp>
      <p:sp>
        <p:nvSpPr>
          <p:cNvPr id="19" name="Rounded Rectangle 18"/>
          <p:cNvSpPr/>
          <p:nvPr/>
        </p:nvSpPr>
        <p:spPr>
          <a:xfrm>
            <a:off x="457200" y="2971748"/>
            <a:ext cx="3502152" cy="1472132"/>
          </a:xfrm>
          <a:prstGeom prst="roundRect">
            <a:avLst>
              <a:gd name="adj" fmla="val 9565"/>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8368" y="3479215"/>
            <a:ext cx="457200" cy="457200"/>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21" name="TextBox 20"/>
          <p:cNvSpPr txBox="1"/>
          <p:nvPr/>
        </p:nvSpPr>
        <p:spPr>
          <a:xfrm>
            <a:off x="1280160" y="3172916"/>
            <a:ext cx="2478024" cy="1069796"/>
          </a:xfrm>
          <a:prstGeom prst="rect">
            <a:avLst/>
          </a:prstGeom>
          <a:noFill/>
        </p:spPr>
        <p:txBody>
          <a:bodyPr wrap="square" anchor="ctr" lIns="0" tIns="0" rIns="0" bIns="0">
            <a:spAutoFit/>
          </a:bodyPr>
          <a:lstStyle/>
          <a:p>
            <a:pPr algn="l"/>
            <a:r>
              <a:rPr sz="1440" b="1">
                <a:solidFill>
                  <a:srgbClr val="CF392B"/>
                </a:solidFill>
                <a:latin typeface="Bebas Neue"/>
              </a:rPr>
              <a:t>This allows it to fit</a:t>
            </a:r>
          </a:p>
          <a:p>
            <a:pPr algn="l">
              <a:spcBef>
                <a:spcPts val="500"/>
              </a:spcBef>
            </a:pPr>
            <a:r>
              <a:rPr sz="1200" b="0">
                <a:solidFill>
                  <a:srgbClr val="111111"/>
                </a:solidFill>
                <a:latin typeface="Inter"/>
              </a:rPr>
              <a:t>the training set more accurately</a:t>
            </a:r>
          </a:p>
        </p:txBody>
      </p:sp>
      <p:sp>
        <p:nvSpPr>
          <p:cNvPr id="22" name="Right Arrow 21"/>
          <p:cNvSpPr/>
          <p:nvPr/>
        </p:nvSpPr>
        <p:spPr>
          <a:xfrm>
            <a:off x="4014215" y="3552367"/>
            <a:ext cx="274320" cy="310896"/>
          </a:xfrm>
          <a:prstGeom prst="rightArrow">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343400" y="2971748"/>
            <a:ext cx="3502152" cy="1472132"/>
          </a:xfrm>
          <a:prstGeom prst="roundRect">
            <a:avLst>
              <a:gd name="adj" fmla="val 9565"/>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544568" y="3479215"/>
            <a:ext cx="457200" cy="457200"/>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5</a:t>
            </a:r>
          </a:p>
        </p:txBody>
      </p:sp>
      <p:sp>
        <p:nvSpPr>
          <p:cNvPr id="25" name="TextBox 24"/>
          <p:cNvSpPr txBox="1"/>
          <p:nvPr/>
        </p:nvSpPr>
        <p:spPr>
          <a:xfrm>
            <a:off x="5166359" y="3172916"/>
            <a:ext cx="2478024" cy="1069796"/>
          </a:xfrm>
          <a:prstGeom prst="rect">
            <a:avLst/>
          </a:prstGeom>
          <a:noFill/>
        </p:spPr>
        <p:txBody>
          <a:bodyPr wrap="square" anchor="ctr" lIns="0" tIns="0" rIns="0" bIns="0">
            <a:spAutoFit/>
          </a:bodyPr>
          <a:lstStyle/>
          <a:p>
            <a:pPr algn="l"/>
            <a:r>
              <a:rPr sz="1440" b="1">
                <a:solidFill>
                  <a:srgbClr val="CF392B"/>
                </a:solidFill>
                <a:latin typeface="Bebas Neue"/>
              </a:rPr>
              <a:t>High bias</a:t>
            </a:r>
          </a:p>
          <a:p>
            <a:pPr algn="l">
              <a:spcBef>
                <a:spcPts val="500"/>
              </a:spcBef>
            </a:pPr>
            <a:r>
              <a:rPr sz="1200" b="0">
                <a:solidFill>
                  <a:srgbClr val="111111"/>
                </a:solidFill>
                <a:latin typeface="Inter"/>
              </a:rPr>
              <a:t>in contrast, forces the model to follow a simpler pattern that may miss important details</a:t>
            </a:r>
          </a:p>
        </p:txBody>
      </p:sp>
      <p:sp>
        <p:nvSpPr>
          <p:cNvPr id="26" name="Right Arrow 25"/>
          <p:cNvSpPr/>
          <p:nvPr/>
        </p:nvSpPr>
        <p:spPr>
          <a:xfrm>
            <a:off x="7900416" y="3552367"/>
            <a:ext cx="274320" cy="310896"/>
          </a:xfrm>
          <a:prstGeom prst="rightArrow">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229600" y="2971748"/>
            <a:ext cx="3502152" cy="1472132"/>
          </a:xfrm>
          <a:prstGeom prst="roundRect">
            <a:avLst>
              <a:gd name="adj" fmla="val 9565"/>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430768" y="3479215"/>
            <a:ext cx="457200" cy="457200"/>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6</a:t>
            </a:r>
          </a:p>
        </p:txBody>
      </p:sp>
      <p:sp>
        <p:nvSpPr>
          <p:cNvPr id="29" name="TextBox 28"/>
          <p:cNvSpPr txBox="1"/>
          <p:nvPr/>
        </p:nvSpPr>
        <p:spPr>
          <a:xfrm>
            <a:off x="9052560" y="3172916"/>
            <a:ext cx="2478024" cy="1069796"/>
          </a:xfrm>
          <a:prstGeom prst="rect">
            <a:avLst/>
          </a:prstGeom>
          <a:noFill/>
        </p:spPr>
        <p:txBody>
          <a:bodyPr wrap="square" anchor="ctr" lIns="0" tIns="0" rIns="0" bIns="0">
            <a:spAutoFit/>
          </a:bodyPr>
          <a:lstStyle/>
          <a:p>
            <a:pPr algn="l"/>
            <a:r>
              <a:rPr sz="1440" b="1">
                <a:solidFill>
                  <a:srgbClr val="CF392B"/>
                </a:solidFill>
                <a:latin typeface="Bebas Neue"/>
              </a:rPr>
              <a:t>The trade-off is that too</a:t>
            </a:r>
          </a:p>
          <a:p>
            <a:pPr algn="l">
              <a:spcBef>
                <a:spcPts val="500"/>
              </a:spcBef>
            </a:pPr>
            <a:r>
              <a:rPr sz="1200" b="0">
                <a:solidFill>
                  <a:srgbClr val="111111"/>
                </a:solidFill>
                <a:latin typeface="Inter"/>
              </a:rPr>
              <a:t>low bias can lead to overfitting if not controlled</a:t>
            </a:r>
          </a:p>
        </p:txBody>
      </p:sp>
      <p:sp>
        <p:nvSpPr>
          <p:cNvPr id="30" name="Rounded Rectangle 29"/>
          <p:cNvSpPr/>
          <p:nvPr/>
        </p:nvSpPr>
        <p:spPr>
          <a:xfrm>
            <a:off x="457200" y="4645049"/>
            <a:ext cx="11274552" cy="640182"/>
          </a:xfrm>
          <a:prstGeom prst="roundRect">
            <a:avLst>
              <a:gd name="adj" fmla="val 8000"/>
            </a:avLst>
          </a:prstGeom>
          <a:solidFill>
            <a:srgbClr val="FB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4645049"/>
            <a:ext cx="73152" cy="640182"/>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1286" y="4718201"/>
            <a:ext cx="10879531" cy="493878"/>
          </a:xfrm>
          <a:prstGeom prst="rect">
            <a:avLst/>
          </a:prstGeom>
          <a:noFill/>
        </p:spPr>
        <p:txBody>
          <a:bodyPr wrap="square" anchor="ctr" lIns="0" tIns="0" rIns="0" bIns="0">
            <a:spAutoFit/>
          </a:bodyPr>
          <a:lstStyle/>
          <a:p>
            <a:pPr algn="l"/>
            <a:r>
              <a:rPr sz="1010" b="1">
                <a:solidFill>
                  <a:srgbClr val="1FAEDD"/>
                </a:solidFill>
                <a:latin typeface="Bebas Neue"/>
              </a:rPr>
              <a:t>ALSO ON THIS SLIDE</a:t>
            </a:r>
          </a:p>
          <a:p>
            <a:pPr algn="l">
              <a:spcBef>
                <a:spcPts val="300"/>
              </a:spcBef>
            </a:pPr>
            <a:r>
              <a:rPr sz="1400" b="0">
                <a:solidFill>
                  <a:srgbClr val="111111"/>
                </a:solidFill>
                <a:latin typeface="Inter"/>
              </a:rPr>
              <a:t>Example: A linear regression with many features can capture subtle patterns, reducing bias.</a:t>
            </a:r>
          </a:p>
        </p:txBody>
      </p:sp>
      <p:sp>
        <p:nvSpPr>
          <p:cNvPr id="33" name="Rounded Rectangle 32"/>
          <p:cNvSpPr/>
          <p:nvPr/>
        </p:nvSpPr>
        <p:spPr>
          <a:xfrm>
            <a:off x="457200" y="5486400"/>
            <a:ext cx="11274552" cy="914400"/>
          </a:xfrm>
          <a:prstGeom prst="roundRect">
            <a:avLst>
              <a:gd name="adj" fmla="val 20000"/>
            </a:avLst>
          </a:prstGeom>
          <a:solidFill>
            <a:srgbClr val="CDEDF7"/>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11422"/>
                </a:solidFill>
                <a:latin typeface="Bebas Neue"/>
              </a:rPr>
              <a:t>Key takeaway:  </a:t>
            </a:r>
            <a:r>
              <a:rPr sz="1300" b="0">
                <a:solidFill>
                  <a:srgbClr val="111111"/>
                </a:solidFill>
                <a:latin typeface="Inter"/>
              </a:rPr>
              <a:t>One trigger sets off a chain of 6 effects.</a:t>
            </a:r>
          </a:p>
          <a:p>
            <a:pPr algn="l"/>
            <a:r>
              <a:rPr b="1" sz="1300">
                <a:solidFill>
                  <a:srgbClr val="111422"/>
                </a:solidFill>
                <a:latin typeface="Bebas Neue"/>
              </a:rPr>
              <a:t>Key terms:  </a:t>
            </a:r>
            <a:r>
              <a:rPr sz="1300" b="0">
                <a:solidFill>
                  <a:srgbClr val="111111"/>
                </a:solidFill>
                <a:latin typeface="Inter"/>
              </a:rPr>
              <a:t>bias — Systematic error introduced by approximating a complex problem with a simpler model.  ·  target function — The true relationship the model aims to learn from data.</a:t>
            </a:r>
          </a:p>
        </p:txBody>
      </p:sp>
      <p:sp>
        <p:nvSpPr>
          <p:cNvPr id="34" name="Rectangle 33"/>
          <p:cNvSpPr/>
          <p:nvPr/>
        </p:nvSpPr>
        <p:spPr>
          <a:xfrm>
            <a:off x="457200" y="5614416"/>
            <a:ext cx="82296" cy="658368"/>
          </a:xfrm>
          <a:prstGeom prst="rect">
            <a:avLst/>
          </a:prstGeom>
          <a:solidFill>
            <a:srgbClr val="1FA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5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par>
                                <p:cTn id="25" presetID="10"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50"/>
                                        <p:tgtEl>
                                          <p:spTgt spid="17"/>
                                        </p:tgtEl>
                                      </p:cBhvr>
                                    </p:animEffect>
                                  </p:childTnLst>
                                </p:cTn>
                              </p:par>
                              <p:par>
                                <p:cTn id="28" presetID="10" presetClass="entr" presetSubtype="0" fill="hold"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5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par>
                                <p:cTn id="36" presetID="10" presetClass="entr" presetSubtype="0" fill="hold"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50"/>
                                        <p:tgtEl>
                                          <p:spTgt spid="20"/>
                                        </p:tgtEl>
                                      </p:cBhvr>
                                    </p:animEffect>
                                  </p:childTnLst>
                                </p:cTn>
                              </p:par>
                              <p:par>
                                <p:cTn id="39" presetID="10" presetClass="entr" presetSubtype="0" fill="hold"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50"/>
                                        <p:tgtEl>
                                          <p:spTgt spid="21"/>
                                        </p:tgtEl>
                                      </p:cBhvr>
                                    </p:animEffect>
                                  </p:childTnLst>
                                </p:cTn>
                              </p:par>
                              <p:par>
                                <p:cTn id="42" presetID="10" presetClass="entr" presetSubtype="0" fill="hold"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50"/>
                                        <p:tgtEl>
                                          <p:spTgt spid="22"/>
                                        </p:tgtEl>
                                      </p:cBhvr>
                                    </p:animEffect>
                                  </p:childTnLst>
                                </p:cTn>
                              </p:par>
                              <p:par>
                                <p:cTn id="45" presetID="10" presetClass="entr" presetSubtype="0" fill="hold"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50"/>
                                        <p:tgtEl>
                                          <p:spTgt spid="23"/>
                                        </p:tgtEl>
                                      </p:cBhvr>
                                    </p:animEffect>
                                  </p:childTnLst>
                                </p:cTn>
                              </p:par>
                              <p:par>
                                <p:cTn id="48" presetID="10" presetClass="entr" presetSubtype="0" fill="hold"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50"/>
                                        <p:tgtEl>
                                          <p:spTgt spid="24"/>
                                        </p:tgtEl>
                                      </p:cBhvr>
                                    </p:animEffect>
                                  </p:childTnLst>
                                </p:cTn>
                              </p:par>
                              <p:par>
                                <p:cTn id="51" presetID="10" presetClass="entr" presetSubtype="0" fill="hold"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50"/>
                                        <p:tgtEl>
                                          <p:spTgt spid="25"/>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450"/>
                                        <p:tgtEl>
                                          <p:spTgt spid="26"/>
                                        </p:tgtEl>
                                      </p:cBhvr>
                                    </p:animEffect>
                                  </p:childTnLst>
                                </p:cTn>
                              </p:par>
                              <p:par>
                                <p:cTn id="59" presetID="10" presetClass="entr" presetSubtype="0" fill="hold" nodeType="with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50"/>
                                        <p:tgtEl>
                                          <p:spTgt spid="27"/>
                                        </p:tgtEl>
                                      </p:cBhvr>
                                    </p:animEffect>
                                  </p:childTnLst>
                                </p:cTn>
                              </p:par>
                              <p:par>
                                <p:cTn id="62" presetID="10" presetClass="entr" presetSubtype="0" fill="hold"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50"/>
                                        <p:tgtEl>
                                          <p:spTgt spid="28"/>
                                        </p:tgtEl>
                                      </p:cBhvr>
                                    </p:animEffect>
                                  </p:childTnLst>
                                </p:cTn>
                              </p:par>
                              <p:par>
                                <p:cTn id="65" presetID="10" presetClass="entr" presetSubtype="0" fill="hold"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50"/>
                                        <p:tgtEl>
                                          <p:spTgt spid="29"/>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fade">
                                      <p:cBhvr>
                                        <p:cTn id="72" dur="450"/>
                                        <p:tgtEl>
                                          <p:spTgt spid="30"/>
                                        </p:tgtEl>
                                      </p:cBhvr>
                                    </p:animEffect>
                                  </p:childTnLst>
                                </p:cTn>
                              </p:par>
                              <p:par>
                                <p:cTn id="73" presetID="10" presetClass="entr" presetSubtype="0" fill="hold" nodeType="with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fade">
                                      <p:cBhvr>
                                        <p:cTn id="75" dur="450"/>
                                        <p:tgtEl>
                                          <p:spTgt spid="31"/>
                                        </p:tgtEl>
                                      </p:cBhvr>
                                    </p:animEffect>
                                  </p:childTnLst>
                                </p:cTn>
                              </p:par>
                              <p:par>
                                <p:cTn id="76" presetID="10" presetClass="entr" presetSubtype="0" fill="hold" nodeType="with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fade">
                                      <p:cBhvr>
                                        <p:cTn id="78" dur="450"/>
                                        <p:tgtEl>
                                          <p:spTgt spid="32"/>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33"/>
                                        </p:tgtEl>
                                        <p:attrNameLst>
                                          <p:attrName>style.visibility</p:attrName>
                                        </p:attrNameLst>
                                      </p:cBhvr>
                                      <p:to>
                                        <p:strVal val="visible"/>
                                      </p:to>
                                    </p:set>
                                    <p:animEffect transition="in" filter="fade">
                                      <p:cBhvr>
                                        <p:cTn id="83" dur="450"/>
                                        <p:tgtEl>
                                          <p:spTgt spid="33"/>
                                        </p:tgtEl>
                                      </p:cBhvr>
                                    </p:animEffect>
                                  </p:childTnLst>
                                </p:cTn>
                              </p:par>
                              <p:par>
                                <p:cTn id="84" presetID="10" presetClass="entr" presetSubtype="0" fill="hold" nodeType="withEffect">
                                  <p:stCondLst>
                                    <p:cond delay="0"/>
                                  </p:stCondLst>
                                  <p:childTnLst>
                                    <p:set>
                                      <p:cBhvr>
                                        <p:cTn id="85" dur="1" fill="hold">
                                          <p:stCondLst>
                                            <p:cond delay="0"/>
                                          </p:stCondLst>
                                        </p:cTn>
                                        <p:tgtEl>
                                          <p:spTgt spid="34"/>
                                        </p:tgtEl>
                                        <p:attrNameLst>
                                          <p:attrName>style.visibility</p:attrName>
                                        </p:attrNameLst>
                                      </p:cBhvr>
                                      <p:to>
                                        <p:strVal val="visible"/>
                                      </p:to>
                                    </p:set>
                                    <p:animEffect transition="in" filter="fade">
                                      <p:cBhvr>
                                        <p:cTn id="86" dur="4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4</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20 / 34</a:t>
            </a:r>
          </a:p>
        </p:txBody>
      </p:sp>
      <p:sp>
        <p:nvSpPr>
          <p:cNvPr id="7" name="Rounded Rectangle 6"/>
          <p:cNvSpPr/>
          <p:nvPr/>
        </p:nvSpPr>
        <p:spPr>
          <a:xfrm>
            <a:off x="457200" y="1298448"/>
            <a:ext cx="11274552" cy="1326611"/>
          </a:xfrm>
          <a:prstGeom prst="roundRect">
            <a:avLst>
              <a:gd name="adj" fmla="val 10614"/>
            </a:avLst>
          </a:prstGeom>
          <a:solidFill>
            <a:srgbClr val="FAEBE9"/>
          </a:solidFill>
          <a:ln w="12700">
            <a:solidFill>
              <a:srgbClr val="CF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CF392B"/>
                </a:solidFill>
                <a:latin typeface="Bebas Neue"/>
              </a:rPr>
              <a:t>Which term matches this description: “Systematic error introduced by approximating a complex problem with a simpler model.”?</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bias</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underfitting</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target function</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Hypothesis</a:t>
            </a:r>
          </a:p>
        </p:txBody>
      </p:sp>
      <p:sp>
        <p:nvSpPr>
          <p:cNvPr id="22" name="Rounded Rectangle 21"/>
          <p:cNvSpPr/>
          <p:nvPr/>
        </p:nvSpPr>
        <p:spPr>
          <a:xfrm>
            <a:off x="457200" y="5380329"/>
            <a:ext cx="11274552" cy="1020470"/>
          </a:xfrm>
          <a:prstGeom prst="roundRect">
            <a:avLst>
              <a:gd name="adj" fmla="val 12000"/>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A</a:t>
            </a:r>
          </a:p>
          <a:p>
            <a:pPr algn="l">
              <a:spcBef>
                <a:spcPts val="200"/>
              </a:spcBef>
            </a:pPr>
            <a:r>
              <a:rPr sz="1600" b="0">
                <a:solidFill>
                  <a:srgbClr val="FFFFFF"/>
                </a:solidFill>
                <a:latin typeface="Inter"/>
              </a:rPr>
              <a:t>bias: Systematic error introduced by approximating a complex problem with a simpler model.</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High variance measures how much a model’s predictions change across training subsets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21 / 34</a:t>
            </a:r>
          </a:p>
        </p:txBody>
      </p:sp>
      <p:sp>
        <p:nvSpPr>
          <p:cNvPr id="8" name="Rounded Rectangle 7"/>
          <p:cNvSpPr/>
          <p:nvPr/>
        </p:nvSpPr>
        <p:spPr>
          <a:xfrm>
            <a:off x="457200" y="1298448"/>
            <a:ext cx="2530602" cy="3986784"/>
          </a:xfrm>
          <a:prstGeom prst="roundRect">
            <a:avLst>
              <a:gd name="adj" fmla="val 5564"/>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99616"/>
            <a:ext cx="457200" cy="457200"/>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658368" y="2103120"/>
            <a:ext cx="2128266" cy="2980944"/>
          </a:xfrm>
          <a:prstGeom prst="rect">
            <a:avLst/>
          </a:prstGeom>
          <a:noFill/>
        </p:spPr>
        <p:txBody>
          <a:bodyPr wrap="square" anchor="t" lIns="0" tIns="0" rIns="0" bIns="0">
            <a:spAutoFit/>
          </a:bodyPr>
          <a:lstStyle/>
          <a:p>
            <a:pPr algn="l"/>
            <a:r>
              <a:rPr sz="1860" b="1">
                <a:solidFill>
                  <a:srgbClr val="CF392B"/>
                </a:solidFill>
                <a:latin typeface="Bebas Neue"/>
              </a:rPr>
              <a:t>High variance = overfitting</a:t>
            </a:r>
          </a:p>
        </p:txBody>
      </p:sp>
      <p:sp>
        <p:nvSpPr>
          <p:cNvPr id="11" name="Right Arrow 10"/>
          <p:cNvSpPr/>
          <p:nvPr/>
        </p:nvSpPr>
        <p:spPr>
          <a:xfrm>
            <a:off x="3042666" y="3136392"/>
            <a:ext cx="274320" cy="310896"/>
          </a:xfrm>
          <a:prstGeom prst="rightArrow">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71850" y="1298448"/>
            <a:ext cx="2530602" cy="3986784"/>
          </a:xfrm>
          <a:prstGeom prst="roundRect">
            <a:avLst>
              <a:gd name="adj" fmla="val 5564"/>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73018" y="1499616"/>
            <a:ext cx="457200" cy="457200"/>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4" name="TextBox 13"/>
          <p:cNvSpPr txBox="1"/>
          <p:nvPr/>
        </p:nvSpPr>
        <p:spPr>
          <a:xfrm>
            <a:off x="3573018" y="2103120"/>
            <a:ext cx="2128266" cy="2980944"/>
          </a:xfrm>
          <a:prstGeom prst="rect">
            <a:avLst/>
          </a:prstGeom>
          <a:noFill/>
        </p:spPr>
        <p:txBody>
          <a:bodyPr wrap="square" anchor="t" lIns="0" tIns="0" rIns="0" bIns="0">
            <a:spAutoFit/>
          </a:bodyPr>
          <a:lstStyle/>
          <a:p>
            <a:pPr algn="l"/>
            <a:r>
              <a:rPr sz="1860" b="1">
                <a:solidFill>
                  <a:srgbClr val="CF392B"/>
                </a:solidFill>
                <a:latin typeface="Bebas Neue"/>
              </a:rPr>
              <a:t>Measure of spread in data</a:t>
            </a:r>
          </a:p>
          <a:p>
            <a:pPr algn="l">
              <a:spcBef>
                <a:spcPts val="500"/>
              </a:spcBef>
            </a:pPr>
            <a:r>
              <a:rPr sz="1550" b="0">
                <a:solidFill>
                  <a:srgbClr val="111111"/>
                </a:solidFill>
                <a:latin typeface="Inter"/>
              </a:rPr>
              <a:t>from its mean position</a:t>
            </a:r>
          </a:p>
        </p:txBody>
      </p:sp>
      <p:sp>
        <p:nvSpPr>
          <p:cNvPr id="15" name="Right Arrow 14"/>
          <p:cNvSpPr/>
          <p:nvPr/>
        </p:nvSpPr>
        <p:spPr>
          <a:xfrm>
            <a:off x="5957316" y="3136392"/>
            <a:ext cx="274320" cy="310896"/>
          </a:xfrm>
          <a:prstGeom prst="rightArrow">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86500" y="1298448"/>
            <a:ext cx="2530602" cy="3986784"/>
          </a:xfrm>
          <a:prstGeom prst="roundRect">
            <a:avLst>
              <a:gd name="adj" fmla="val 5564"/>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1499616"/>
            <a:ext cx="457200" cy="457200"/>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8" name="TextBox 17"/>
          <p:cNvSpPr txBox="1"/>
          <p:nvPr/>
        </p:nvSpPr>
        <p:spPr>
          <a:xfrm>
            <a:off x="6487668" y="2103120"/>
            <a:ext cx="2128266" cy="2980944"/>
          </a:xfrm>
          <a:prstGeom prst="rect">
            <a:avLst/>
          </a:prstGeom>
          <a:noFill/>
        </p:spPr>
        <p:txBody>
          <a:bodyPr wrap="square" anchor="t" lIns="0" tIns="0" rIns="0" bIns="0">
            <a:spAutoFit/>
          </a:bodyPr>
          <a:lstStyle/>
          <a:p>
            <a:pPr algn="l"/>
            <a:r>
              <a:rPr sz="1860" b="1">
                <a:solidFill>
                  <a:srgbClr val="CF392B"/>
                </a:solidFill>
                <a:latin typeface="Bebas Neue"/>
              </a:rPr>
              <a:t>Is the amount</a:t>
            </a:r>
          </a:p>
          <a:p>
            <a:pPr algn="l">
              <a:spcBef>
                <a:spcPts val="500"/>
              </a:spcBef>
            </a:pPr>
            <a:r>
              <a:rPr sz="1550" b="0">
                <a:solidFill>
                  <a:srgbClr val="111111"/>
                </a:solidFill>
                <a:latin typeface="Inter"/>
              </a:rPr>
              <a:t>by which the performance of a predictive model changes when it is trained on different subsets of the training data</a:t>
            </a:r>
          </a:p>
        </p:txBody>
      </p:sp>
      <p:sp>
        <p:nvSpPr>
          <p:cNvPr id="19" name="Right Arrow 18"/>
          <p:cNvSpPr/>
          <p:nvPr/>
        </p:nvSpPr>
        <p:spPr>
          <a:xfrm>
            <a:off x="8871966" y="3136392"/>
            <a:ext cx="274320" cy="310896"/>
          </a:xfrm>
          <a:prstGeom prst="rightArrow">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201150" y="1298448"/>
            <a:ext cx="2530602" cy="3986784"/>
          </a:xfrm>
          <a:prstGeom prst="roundRect">
            <a:avLst>
              <a:gd name="adj" fmla="val 5564"/>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402318" y="1499616"/>
            <a:ext cx="457200" cy="457200"/>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22" name="TextBox 21"/>
          <p:cNvSpPr txBox="1"/>
          <p:nvPr/>
        </p:nvSpPr>
        <p:spPr>
          <a:xfrm>
            <a:off x="9402318" y="2103120"/>
            <a:ext cx="2128266" cy="2980944"/>
          </a:xfrm>
          <a:prstGeom prst="rect">
            <a:avLst/>
          </a:prstGeom>
          <a:noFill/>
        </p:spPr>
        <p:txBody>
          <a:bodyPr wrap="square" anchor="t" lIns="0" tIns="0" rIns="0" bIns="0">
            <a:spAutoFit/>
          </a:bodyPr>
          <a:lstStyle/>
          <a:p>
            <a:pPr algn="l"/>
            <a:r>
              <a:rPr sz="1860" b="1">
                <a:solidFill>
                  <a:srgbClr val="CF392B"/>
                </a:solidFill>
                <a:latin typeface="Bebas Neue"/>
              </a:rPr>
              <a:t>Is the variability</a:t>
            </a:r>
          </a:p>
          <a:p>
            <a:pPr algn="l">
              <a:spcBef>
                <a:spcPts val="500"/>
              </a:spcBef>
            </a:pPr>
            <a:r>
              <a:rPr sz="1550" b="0">
                <a:solidFill>
                  <a:srgbClr val="111111"/>
                </a:solidFill>
                <a:latin typeface="Inter"/>
              </a:rPr>
              <a:t>of the model that how much it is sensitive to another subset of the training dataset. i.e. how much it can adjust on the new subset of the training dataset</a:t>
            </a:r>
          </a:p>
        </p:txBody>
      </p:sp>
      <p:sp>
        <p:nvSpPr>
          <p:cNvPr id="23" name="Rounded Rectangle 22"/>
          <p:cNvSpPr/>
          <p:nvPr/>
        </p:nvSpPr>
        <p:spPr>
          <a:xfrm>
            <a:off x="457200" y="5486400"/>
            <a:ext cx="11274552" cy="914400"/>
          </a:xfrm>
          <a:prstGeom prst="roundRect">
            <a:avLst>
              <a:gd name="adj" fmla="val 20000"/>
            </a:avLst>
          </a:prstGeom>
          <a:solidFill>
            <a:srgbClr val="CDEDF7"/>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11422"/>
                </a:solidFill>
                <a:latin typeface="Bebas Neue"/>
              </a:rPr>
              <a:t>Key takeaway:  </a:t>
            </a:r>
            <a:r>
              <a:rPr sz="1300" b="0">
                <a:solidFill>
                  <a:srgbClr val="111111"/>
                </a:solidFill>
                <a:latin typeface="Inter"/>
              </a:rPr>
              <a:t>4 steps — from “High variance = overfitting” to “Is the variability”.</a:t>
            </a:r>
          </a:p>
          <a:p>
            <a:pPr algn="l"/>
            <a:r>
              <a:rPr b="1" sz="1300">
                <a:solidFill>
                  <a:srgbClr val="111422"/>
                </a:solidFill>
                <a:latin typeface="Bebas Neue"/>
              </a:rPr>
              <a:t>Key terms:  </a:t>
            </a:r>
            <a:r>
              <a:rPr sz="1300" b="0">
                <a:solidFill>
                  <a:srgbClr val="111111"/>
                </a:solidFill>
                <a:latin typeface="Inter"/>
              </a:rPr>
              <a:t>variance — Sensitivity of a model’s predictions to variations in the training data.</a:t>
            </a:r>
          </a:p>
        </p:txBody>
      </p:sp>
      <p:sp>
        <p:nvSpPr>
          <p:cNvPr id="24" name="Rectangle 23"/>
          <p:cNvSpPr/>
          <p:nvPr/>
        </p:nvSpPr>
        <p:spPr>
          <a:xfrm>
            <a:off x="457200" y="5614416"/>
            <a:ext cx="82296" cy="658368"/>
          </a:xfrm>
          <a:prstGeom prst="rect">
            <a:avLst/>
          </a:prstGeom>
          <a:solidFill>
            <a:srgbClr val="1FA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5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par>
                                <p:cTn id="25" presetID="10"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50"/>
                                        <p:tgtEl>
                                          <p:spTgt spid="17"/>
                                        </p:tgtEl>
                                      </p:cBhvr>
                                    </p:animEffect>
                                  </p:childTnLst>
                                </p:cTn>
                              </p:par>
                              <p:par>
                                <p:cTn id="28" presetID="10" presetClass="entr" presetSubtype="0" fill="hold"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50"/>
                                        <p:tgtEl>
                                          <p:spTgt spid="18"/>
                                        </p:tgtEl>
                                      </p:cBhvr>
                                    </p:animEffect>
                                  </p:childTnLst>
                                </p:cTn>
                              </p:par>
                              <p:par>
                                <p:cTn id="31" presetID="10"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50"/>
                                        <p:tgtEl>
                                          <p:spTgt spid="19"/>
                                        </p:tgtEl>
                                      </p:cBhvr>
                                    </p:animEffect>
                                  </p:childTnLst>
                                </p:cTn>
                              </p:par>
                              <p:par>
                                <p:cTn id="34" presetID="10" presetClass="entr" presetSubtype="0" fill="hold"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50"/>
                                        <p:tgtEl>
                                          <p:spTgt spid="20"/>
                                        </p:tgtEl>
                                      </p:cBhvr>
                                    </p:animEffect>
                                  </p:childTnLst>
                                </p:cTn>
                              </p:par>
                              <p:par>
                                <p:cTn id="37" presetID="10"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50"/>
                                        <p:tgtEl>
                                          <p:spTgt spid="21"/>
                                        </p:tgtEl>
                                      </p:cBhvr>
                                    </p:animEffect>
                                  </p:childTnLst>
                                </p:cTn>
                              </p:par>
                              <p:par>
                                <p:cTn id="40" presetID="10" presetClass="entr" presetSubtype="0" fill="hold"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5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50"/>
                                        <p:tgtEl>
                                          <p:spTgt spid="23"/>
                                        </p:tgtEl>
                                      </p:cBhvr>
                                    </p:animEffect>
                                  </p:childTnLst>
                                </p:cTn>
                              </p:par>
                              <p:par>
                                <p:cTn id="48" presetID="10" presetClass="entr" presetSubtype="0" fill="hold"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Low variance ensures consistent predictions across different training data subsets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22 / 34</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ounded Rectangle 7"/>
          <p:cNvSpPr/>
          <p:nvPr/>
        </p:nvSpPr>
        <p:spPr>
          <a:xfrm>
            <a:off x="457200" y="1298448"/>
            <a:ext cx="7751064" cy="1411421"/>
          </a:xfrm>
          <a:prstGeom prst="roundRect">
            <a:avLst>
              <a:gd name="adj" fmla="val 14252"/>
            </a:avLst>
          </a:prstGeom>
          <a:solidFill>
            <a:srgbClr val="FAEBE9"/>
          </a:solidFill>
          <a:ln w="12700">
            <a:solidFill>
              <a:srgbClr val="CF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499616"/>
            <a:ext cx="91440" cy="1009085"/>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1499616"/>
            <a:ext cx="7165848" cy="1009085"/>
          </a:xfrm>
          <a:prstGeom prst="rect">
            <a:avLst/>
          </a:prstGeom>
          <a:noFill/>
        </p:spPr>
        <p:txBody>
          <a:bodyPr wrap="square" anchor="ctr" lIns="0" tIns="0" rIns="0" bIns="0">
            <a:spAutoFit/>
          </a:bodyPr>
          <a:lstStyle/>
          <a:p>
            <a:pPr algn="l"/>
            <a:r>
              <a:rPr sz="2039" b="1">
                <a:solidFill>
                  <a:srgbClr val="CF392B"/>
                </a:solidFill>
                <a:latin typeface="Bebas Neue"/>
              </a:rPr>
              <a:t>Low variance</a:t>
            </a:r>
          </a:p>
          <a:p>
            <a:pPr algn="l">
              <a:spcBef>
                <a:spcPts val="800"/>
              </a:spcBef>
            </a:pPr>
            <a:r>
              <a:rPr sz="1200" b="0">
                <a:solidFill>
                  <a:srgbClr val="111111"/>
                </a:solidFill>
                <a:latin typeface="Inter"/>
              </a:rPr>
              <a:t>That the model is less sensitive to changes in the training data and can produce consistent estimates of the target function with different subsets of data from the same distribution</a:t>
            </a:r>
          </a:p>
        </p:txBody>
      </p:sp>
      <p:sp>
        <p:nvSpPr>
          <p:cNvPr id="11" name="Rounded Rectangle 10"/>
          <p:cNvSpPr/>
          <p:nvPr/>
        </p:nvSpPr>
        <p:spPr>
          <a:xfrm>
            <a:off x="457200" y="2911037"/>
            <a:ext cx="7751064" cy="663896"/>
          </a:xfrm>
          <a:prstGeom prst="roundRect">
            <a:avLst>
              <a:gd name="adj" fmla="val 21210"/>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3112205"/>
            <a:ext cx="7348728" cy="261560"/>
          </a:xfrm>
          <a:prstGeom prst="rect">
            <a:avLst/>
          </a:prstGeom>
          <a:noFill/>
        </p:spPr>
        <p:txBody>
          <a:bodyPr wrap="square" anchor="ctr" lIns="0" tIns="0" rIns="0" bIns="0">
            <a:spAutoFit/>
          </a:bodyPr>
          <a:lstStyle/>
          <a:p>
            <a:pPr algn="l"/>
            <a:r>
              <a:rPr sz="1100" b="0">
                <a:solidFill>
                  <a:srgbClr val="111111"/>
                </a:solidFill>
                <a:latin typeface="Inter"/>
              </a:rPr>
              <a:t>This is the case of underfitting when the model fails to generalize on both training and test data</a:t>
            </a:r>
          </a:p>
        </p:txBody>
      </p:sp>
      <p:sp>
        <p:nvSpPr>
          <p:cNvPr id="13" name="Rounded Rectangle 12"/>
          <p:cNvSpPr/>
          <p:nvPr/>
        </p:nvSpPr>
        <p:spPr>
          <a:xfrm>
            <a:off x="457200" y="3776102"/>
            <a:ext cx="7751064" cy="1509129"/>
          </a:xfrm>
          <a:prstGeom prst="roundRect">
            <a:avLst>
              <a:gd name="adj" fmla="val 8000"/>
            </a:avLst>
          </a:prstGeom>
          <a:solidFill>
            <a:srgbClr val="FB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776102"/>
            <a:ext cx="73152" cy="1509129"/>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1286" y="3849254"/>
            <a:ext cx="7356043" cy="1362825"/>
          </a:xfrm>
          <a:prstGeom prst="rect">
            <a:avLst/>
          </a:prstGeom>
          <a:noFill/>
        </p:spPr>
        <p:txBody>
          <a:bodyPr wrap="square" anchor="ctr" lIns="0" tIns="0" rIns="0" bIns="0">
            <a:spAutoFit/>
          </a:bodyPr>
          <a:lstStyle/>
          <a:p>
            <a:pPr algn="l"/>
            <a:r>
              <a:rPr sz="940" b="1">
                <a:solidFill>
                  <a:srgbClr val="1FAEDD"/>
                </a:solidFill>
                <a:latin typeface="Bebas Neue"/>
              </a:rPr>
              <a:t>IN PLAIN WORDS</a:t>
            </a:r>
          </a:p>
          <a:p>
            <a:pPr algn="l">
              <a:spcBef>
                <a:spcPts val="300"/>
              </a:spcBef>
            </a:pPr>
            <a:r>
              <a:rPr sz="1300" b="0">
                <a:solidFill>
                  <a:srgbClr val="111111"/>
                </a:solidFill>
                <a:latin typeface="Inter"/>
              </a:rPr>
              <a:t>A model with low variance reacts little to changes in the training set. It produces stable estimates of the target function. This stability indicates that the model generalizes well to unseen data. However, if the model also has high bias, it may still underfit the underlying pattern. For example, a simple decision stump that always splits on the same feature shows low variance.</a:t>
            </a:r>
          </a:p>
        </p:txBody>
      </p:sp>
      <p:sp>
        <p:nvSpPr>
          <p:cNvPr id="16" name="Rounded Rectangle 15"/>
          <p:cNvSpPr/>
          <p:nvPr/>
        </p:nvSpPr>
        <p:spPr>
          <a:xfrm>
            <a:off x="457200" y="5486400"/>
            <a:ext cx="11274552" cy="914400"/>
          </a:xfrm>
          <a:prstGeom prst="roundRect">
            <a:avLst>
              <a:gd name="adj" fmla="val 20000"/>
            </a:avLst>
          </a:prstGeom>
          <a:solidFill>
            <a:srgbClr val="CDEDF7"/>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11422"/>
                </a:solidFill>
                <a:latin typeface="Bebas Neue"/>
              </a:rPr>
              <a:t>Key takeaway:  </a:t>
            </a:r>
            <a:r>
              <a:rPr sz="1300" b="0">
                <a:solidFill>
                  <a:srgbClr val="111111"/>
                </a:solidFill>
                <a:latin typeface="Inter"/>
              </a:rPr>
              <a:t>Low variance models give stable predictions across different training subsets.</a:t>
            </a:r>
          </a:p>
          <a:p>
            <a:pPr algn="l"/>
            <a:r>
              <a:rPr b="1" sz="1300">
                <a:solidFill>
                  <a:srgbClr val="111422"/>
                </a:solidFill>
                <a:latin typeface="Bebas Neue"/>
              </a:rPr>
              <a:t>Key terms:  </a:t>
            </a:r>
            <a:r>
              <a:rPr sz="1300" b="0">
                <a:solidFill>
                  <a:srgbClr val="111111"/>
                </a:solidFill>
                <a:latin typeface="Inter"/>
              </a:rPr>
              <a:t>underfitting — When a model is too simple to capture the underlying data pattern.</a:t>
            </a:r>
          </a:p>
        </p:txBody>
      </p:sp>
      <p:sp>
        <p:nvSpPr>
          <p:cNvPr id="17" name="Rectangle 16"/>
          <p:cNvSpPr/>
          <p:nvPr/>
        </p:nvSpPr>
        <p:spPr>
          <a:xfrm>
            <a:off x="457200" y="5614416"/>
            <a:ext cx="82296" cy="658368"/>
          </a:xfrm>
          <a:prstGeom prst="rect">
            <a:avLst/>
          </a:prstGeom>
          <a:solidFill>
            <a:srgbClr val="1FA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High variance causes a model to change its predictions drastically with different training subsets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23 / 34</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ounded Rectangle 7"/>
          <p:cNvSpPr/>
          <p:nvPr/>
        </p:nvSpPr>
        <p:spPr>
          <a:xfrm>
            <a:off x="457200" y="1298448"/>
            <a:ext cx="7751064" cy="2471806"/>
          </a:xfrm>
          <a:prstGeom prst="roundRect">
            <a:avLst>
              <a:gd name="adj" fmla="val 8138"/>
            </a:avLst>
          </a:prstGeom>
          <a:solidFill>
            <a:srgbClr val="FAEBE9"/>
          </a:solidFill>
          <a:ln w="12700">
            <a:solidFill>
              <a:srgbClr val="CF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499616"/>
            <a:ext cx="91440" cy="2069470"/>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1499616"/>
            <a:ext cx="7165848" cy="2069470"/>
          </a:xfrm>
          <a:prstGeom prst="rect">
            <a:avLst/>
          </a:prstGeom>
          <a:noFill/>
        </p:spPr>
        <p:txBody>
          <a:bodyPr wrap="square" anchor="ctr" lIns="0" tIns="0" rIns="0" bIns="0">
            <a:spAutoFit/>
          </a:bodyPr>
          <a:lstStyle/>
          <a:p>
            <a:pPr algn="l"/>
            <a:r>
              <a:rPr sz="3400" b="1">
                <a:solidFill>
                  <a:srgbClr val="CF392B"/>
                </a:solidFill>
                <a:latin typeface="Bebas Neue"/>
              </a:rPr>
              <a:t>High variance</a:t>
            </a:r>
          </a:p>
          <a:p>
            <a:pPr algn="l">
              <a:spcBef>
                <a:spcPts val="800"/>
              </a:spcBef>
            </a:pPr>
            <a:r>
              <a:rPr sz="2000" b="0">
                <a:solidFill>
                  <a:srgbClr val="111111"/>
                </a:solidFill>
                <a:latin typeface="Inter"/>
              </a:rPr>
              <a:t>That the model is very sensitive to changes in the training data and can result in significant changes in the estimate of the target function when trained on different subsets of data from the same distribution</a:t>
            </a:r>
          </a:p>
        </p:txBody>
      </p:sp>
      <p:sp>
        <p:nvSpPr>
          <p:cNvPr id="11" name="Rounded Rectangle 10"/>
          <p:cNvSpPr/>
          <p:nvPr/>
        </p:nvSpPr>
        <p:spPr>
          <a:xfrm>
            <a:off x="457200" y="3971422"/>
            <a:ext cx="3774947" cy="1313809"/>
          </a:xfrm>
          <a:prstGeom prst="roundRect">
            <a:avLst>
              <a:gd name="adj" fmla="val 10718"/>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172590"/>
            <a:ext cx="3372611" cy="911473"/>
          </a:xfrm>
          <a:prstGeom prst="rect">
            <a:avLst/>
          </a:prstGeom>
          <a:noFill/>
        </p:spPr>
        <p:txBody>
          <a:bodyPr wrap="square" anchor="ctr" lIns="0" tIns="0" rIns="0" bIns="0">
            <a:spAutoFit/>
          </a:bodyPr>
          <a:lstStyle/>
          <a:p>
            <a:pPr algn="l"/>
            <a:r>
              <a:rPr sz="1400" b="0">
                <a:solidFill>
                  <a:srgbClr val="111111"/>
                </a:solidFill>
                <a:latin typeface="Inter"/>
              </a:rPr>
              <a:t>This is the case of overfitting when the model performs well on the training data but poorly on new, unseen test data</a:t>
            </a:r>
          </a:p>
        </p:txBody>
      </p:sp>
      <p:sp>
        <p:nvSpPr>
          <p:cNvPr id="13" name="Rounded Rectangle 12"/>
          <p:cNvSpPr/>
          <p:nvPr/>
        </p:nvSpPr>
        <p:spPr>
          <a:xfrm>
            <a:off x="4433315" y="3971422"/>
            <a:ext cx="3774947" cy="1313809"/>
          </a:xfrm>
          <a:prstGeom prst="roundRect">
            <a:avLst>
              <a:gd name="adj" fmla="val 10718"/>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4483" y="4172590"/>
            <a:ext cx="3372611" cy="911473"/>
          </a:xfrm>
          <a:prstGeom prst="rect">
            <a:avLst/>
          </a:prstGeom>
          <a:noFill/>
        </p:spPr>
        <p:txBody>
          <a:bodyPr wrap="square" anchor="ctr" lIns="0" tIns="0" rIns="0" bIns="0">
            <a:spAutoFit/>
          </a:bodyPr>
          <a:lstStyle/>
          <a:p>
            <a:pPr algn="l"/>
            <a:r>
              <a:rPr sz="1400" b="0">
                <a:solidFill>
                  <a:srgbClr val="111111"/>
                </a:solidFill>
                <a:latin typeface="Inter"/>
              </a:rPr>
              <a:t>It fits the training data too closely that it fails on the new training dataset</a:t>
            </a:r>
          </a:p>
        </p:txBody>
      </p:sp>
      <p:sp>
        <p:nvSpPr>
          <p:cNvPr id="15" name="Rounded Rectangle 14"/>
          <p:cNvSpPr/>
          <p:nvPr/>
        </p:nvSpPr>
        <p:spPr>
          <a:xfrm>
            <a:off x="457200" y="5486400"/>
            <a:ext cx="11274552" cy="914400"/>
          </a:xfrm>
          <a:prstGeom prst="roundRect">
            <a:avLst>
              <a:gd name="adj" fmla="val 20000"/>
            </a:avLst>
          </a:prstGeom>
          <a:solidFill>
            <a:srgbClr val="CDEDF7"/>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11422"/>
                </a:solidFill>
                <a:latin typeface="Bebas Neue"/>
              </a:rPr>
              <a:t>Key takeaway:  </a:t>
            </a:r>
            <a:r>
              <a:rPr sz="1300" b="0">
                <a:solidFill>
                  <a:srgbClr val="111111"/>
                </a:solidFill>
                <a:latin typeface="Inter"/>
              </a:rPr>
              <a:t>That the model is very sensitive to changes in the training data and can result in significant changes in the estimate of the target function when trained on different subsets of data from the same distribution.</a:t>
            </a:r>
          </a:p>
          <a:p>
            <a:pPr algn="l"/>
            <a:r>
              <a:rPr b="1" sz="1300">
                <a:solidFill>
                  <a:srgbClr val="111422"/>
                </a:solidFill>
                <a:latin typeface="Bebas Neue"/>
              </a:rPr>
              <a:t>Key terms:  </a:t>
            </a:r>
            <a:r>
              <a:rPr sz="1300" b="0">
                <a:solidFill>
                  <a:srgbClr val="111111"/>
                </a:solidFill>
                <a:latin typeface="Inter"/>
              </a:rPr>
              <a:t>overfitting — When a model learns noise in the training data, performing poorly on new data.</a:t>
            </a:r>
          </a:p>
        </p:txBody>
      </p:sp>
      <p:sp>
        <p:nvSpPr>
          <p:cNvPr id="16" name="Rectangle 15"/>
          <p:cNvSpPr/>
          <p:nvPr/>
        </p:nvSpPr>
        <p:spPr>
          <a:xfrm>
            <a:off x="457200" y="5614416"/>
            <a:ext cx="82296" cy="658368"/>
          </a:xfrm>
          <a:prstGeom prst="rect">
            <a:avLst/>
          </a:prstGeom>
          <a:solidFill>
            <a:srgbClr val="1FA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Combining bias and variance determines whether a model is accurate, consistent, or both</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24 / 34</a:t>
            </a:r>
          </a:p>
        </p:txBody>
      </p:sp>
      <p:sp>
        <p:nvSpPr>
          <p:cNvPr id="8" name="Rectangle 7"/>
          <p:cNvSpPr/>
          <p:nvPr/>
        </p:nvSpPr>
        <p:spPr>
          <a:xfrm>
            <a:off x="457200" y="1325880"/>
            <a:ext cx="73152" cy="1313306"/>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98448"/>
            <a:ext cx="11045952" cy="1404747"/>
          </a:xfrm>
          <a:prstGeom prst="rect">
            <a:avLst/>
          </a:prstGeom>
          <a:noFill/>
        </p:spPr>
        <p:txBody>
          <a:bodyPr wrap="square" anchor="ctr" lIns="0" tIns="0" rIns="0" bIns="0">
            <a:spAutoFit/>
          </a:bodyPr>
          <a:lstStyle/>
          <a:p>
            <a:pPr algn="l"/>
            <a:r>
              <a:rPr sz="1650" b="1">
                <a:solidFill>
                  <a:srgbClr val="CF392B"/>
                </a:solidFill>
                <a:latin typeface="Bebas Neue"/>
              </a:rPr>
              <a:t>High-Bias, Low-Variance: With High bias and low variance, predictions are consistent but inaccurate on average. This case occurs when a model does not learn well with the training dataset or uses few numbers of the parameter. It leads to underfitting problems in the model.</a:t>
            </a:r>
          </a:p>
          <a:p>
            <a:pPr algn="l">
              <a:spcBef>
                <a:spcPts val="400"/>
              </a:spcBef>
            </a:pPr>
            <a:r>
              <a:rPr sz="1400" b="0">
                <a:solidFill>
                  <a:srgbClr val="111111"/>
                </a:solidFill>
                <a:latin typeface="Inter"/>
              </a:rPr>
              <a:t>High-Bias, High-Variance: With high bias and high variance, predictions are inconsistent and also inaccurate on average.</a:t>
            </a:r>
          </a:p>
        </p:txBody>
      </p:sp>
      <p:sp>
        <p:nvSpPr>
          <p:cNvPr id="10" name="Rounded Rectangle 9"/>
          <p:cNvSpPr/>
          <p:nvPr/>
        </p:nvSpPr>
        <p:spPr>
          <a:xfrm>
            <a:off x="457200" y="2904362"/>
            <a:ext cx="5536692" cy="2380869"/>
          </a:xfrm>
          <a:prstGeom prst="roundRect">
            <a:avLst>
              <a:gd name="adj" fmla="val 5914"/>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3068954"/>
            <a:ext cx="64008" cy="502920"/>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3065297"/>
            <a:ext cx="5134355" cy="2059000"/>
          </a:xfrm>
          <a:prstGeom prst="rect">
            <a:avLst/>
          </a:prstGeom>
          <a:noFill/>
        </p:spPr>
        <p:txBody>
          <a:bodyPr wrap="square" anchor="t" lIns="0" tIns="0" rIns="0" bIns="0">
            <a:spAutoFit/>
          </a:bodyPr>
          <a:lstStyle/>
          <a:p>
            <a:pPr algn="l"/>
            <a:r>
              <a:rPr sz="1810" b="1">
                <a:solidFill>
                  <a:srgbClr val="CF392B"/>
                </a:solidFill>
                <a:latin typeface="Bebas Neue"/>
              </a:rPr>
              <a:t>Low-Bias, Low-Variance: The combination of low bias and low variance shows an ideal machine learning model.</a:t>
            </a:r>
          </a:p>
          <a:p>
            <a:pPr algn="l" marL="256032" indent="-256032" lvl="0">
              <a:spcBef>
                <a:spcPts val="700"/>
              </a:spcBef>
              <a:buClr>
                <a:srgbClr val="1FAEDD"/>
              </a:buClr>
              <a:buFont typeface="Arial"/>
              <a:buChar char="•"/>
            </a:pPr>
            <a:r>
              <a:rPr sz="1450" b="0">
                <a:solidFill>
                  <a:srgbClr val="111111"/>
                </a:solidFill>
                <a:latin typeface="Inter"/>
              </a:rPr>
              <a:t>However, it is not possible practically.</a:t>
            </a:r>
          </a:p>
        </p:txBody>
      </p:sp>
      <p:sp>
        <p:nvSpPr>
          <p:cNvPr id="13" name="Rounded Rectangle 12"/>
          <p:cNvSpPr/>
          <p:nvPr/>
        </p:nvSpPr>
        <p:spPr>
          <a:xfrm>
            <a:off x="6195059" y="2904362"/>
            <a:ext cx="5536692" cy="2380869"/>
          </a:xfrm>
          <a:prstGeom prst="roundRect">
            <a:avLst>
              <a:gd name="adj" fmla="val 5914"/>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5059" y="3068954"/>
            <a:ext cx="64008" cy="502920"/>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96227" y="3065297"/>
            <a:ext cx="5134355" cy="2059000"/>
          </a:xfrm>
          <a:prstGeom prst="rect">
            <a:avLst/>
          </a:prstGeom>
          <a:noFill/>
        </p:spPr>
        <p:txBody>
          <a:bodyPr wrap="square" anchor="t" lIns="0" tIns="0" rIns="0" bIns="0">
            <a:spAutoFit/>
          </a:bodyPr>
          <a:lstStyle/>
          <a:p>
            <a:pPr algn="l"/>
            <a:r>
              <a:rPr sz="1810" b="1">
                <a:solidFill>
                  <a:srgbClr val="CF392B"/>
                </a:solidFill>
                <a:latin typeface="Bebas Neue"/>
              </a:rPr>
              <a:t>Low-Bias, High-Variance: With low bias and high variance, model predictions are inconsistent and accurate on average.</a:t>
            </a:r>
          </a:p>
          <a:p>
            <a:pPr algn="l" marL="256032" indent="-256032" lvl="0">
              <a:spcBef>
                <a:spcPts val="700"/>
              </a:spcBef>
              <a:buClr>
                <a:srgbClr val="1FAEDD"/>
              </a:buClr>
              <a:buFont typeface="Arial"/>
              <a:buChar char="•"/>
            </a:pPr>
            <a:r>
              <a:rPr sz="1450" b="0">
                <a:solidFill>
                  <a:srgbClr val="111111"/>
                </a:solidFill>
                <a:latin typeface="Inter"/>
              </a:rPr>
              <a:t>This case occurs when the model learns with a large number of parameters and hence leads to an overfitting</a:t>
            </a:r>
          </a:p>
        </p:txBody>
      </p:sp>
      <p:sp>
        <p:nvSpPr>
          <p:cNvPr id="16" name="Rounded Rectangle 15"/>
          <p:cNvSpPr/>
          <p:nvPr/>
        </p:nvSpPr>
        <p:spPr>
          <a:xfrm>
            <a:off x="457200" y="5486400"/>
            <a:ext cx="11274552" cy="914400"/>
          </a:xfrm>
          <a:prstGeom prst="roundRect">
            <a:avLst>
              <a:gd name="adj" fmla="val 20000"/>
            </a:avLst>
          </a:prstGeom>
          <a:solidFill>
            <a:srgbClr val="CDEDF7"/>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50">
                <a:solidFill>
                  <a:srgbClr val="111422"/>
                </a:solidFill>
                <a:latin typeface="Bebas Neue"/>
              </a:rPr>
              <a:t>Key terms:  </a:t>
            </a:r>
            <a:r>
              <a:rPr sz="1550" b="1">
                <a:solidFill>
                  <a:srgbClr val="111111"/>
                </a:solidFill>
                <a:latin typeface="Bebas Neue"/>
              </a:rPr>
              <a:t>Low bias — fewer assumptions are taken to build the target function  ·  bias-variance trade-off — The balance between a model’s simplicity (bias) and its sensitivity to data (variance).</a:t>
            </a:r>
          </a:p>
        </p:txBody>
      </p:sp>
      <p:sp>
        <p:nvSpPr>
          <p:cNvPr id="17" name="Rectangle 16"/>
          <p:cNvSpPr/>
          <p:nvPr/>
        </p:nvSpPr>
        <p:spPr>
          <a:xfrm>
            <a:off x="457200" y="5614416"/>
            <a:ext cx="82296" cy="658368"/>
          </a:xfrm>
          <a:prstGeom prst="rect">
            <a:avLst/>
          </a:prstGeom>
          <a:solidFill>
            <a:srgbClr val="1FA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5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5</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25 / 34</a:t>
            </a:r>
          </a:p>
        </p:txBody>
      </p:sp>
      <p:sp>
        <p:nvSpPr>
          <p:cNvPr id="7" name="Rounded Rectangle 6"/>
          <p:cNvSpPr/>
          <p:nvPr/>
        </p:nvSpPr>
        <p:spPr>
          <a:xfrm>
            <a:off x="457200" y="1298448"/>
            <a:ext cx="11274552" cy="1326611"/>
          </a:xfrm>
          <a:prstGeom prst="roundRect">
            <a:avLst>
              <a:gd name="adj" fmla="val 10614"/>
            </a:avLst>
          </a:prstGeom>
          <a:solidFill>
            <a:srgbClr val="FAEBE9"/>
          </a:solidFill>
          <a:ln w="12700">
            <a:solidFill>
              <a:srgbClr val="CF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CF392B"/>
                </a:solidFill>
                <a:latin typeface="Bebas Neue"/>
              </a:rPr>
              <a:t>Which term matches this description: “fewer assumptions are taken to build the target function”?</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Model</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Low bias</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overfitting</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variance</a:t>
            </a:r>
          </a:p>
        </p:txBody>
      </p:sp>
      <p:sp>
        <p:nvSpPr>
          <p:cNvPr id="22" name="Rounded Rectangle 21"/>
          <p:cNvSpPr/>
          <p:nvPr/>
        </p:nvSpPr>
        <p:spPr>
          <a:xfrm>
            <a:off x="457200" y="5380329"/>
            <a:ext cx="11274552" cy="1020470"/>
          </a:xfrm>
          <a:prstGeom prst="roundRect">
            <a:avLst>
              <a:gd name="adj" fmla="val 12000"/>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B</a:t>
            </a:r>
          </a:p>
          <a:p>
            <a:pPr algn="l">
              <a:spcBef>
                <a:spcPts val="200"/>
              </a:spcBef>
            </a:pPr>
            <a:r>
              <a:rPr sz="1600" b="0">
                <a:solidFill>
                  <a:srgbClr val="FFFFFF"/>
                </a:solidFill>
                <a:latin typeface="Inter"/>
              </a:rPr>
              <a:t>Low bias: fewer assumptions are taken to build the target function</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Combinations of Bias-Variance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26 / 34</a:t>
            </a:r>
          </a:p>
        </p:txBody>
      </p:sp>
      <p:sp>
        <p:nvSpPr>
          <p:cNvPr id="7" name="Rounded Rectangle 6"/>
          <p:cNvSpPr/>
          <p:nvPr/>
        </p:nvSpPr>
        <p:spPr>
          <a:xfrm>
            <a:off x="565977" y="1298448"/>
            <a:ext cx="11056997" cy="5102352"/>
          </a:xfrm>
          <a:prstGeom prst="roundRect">
            <a:avLst>
              <a:gd name="adj" fmla="val 3000"/>
            </a:avLst>
          </a:prstGeom>
          <a:solidFill>
            <a:srgbClr val="FFFFFF"/>
          </a:solidFill>
          <a:ln w="12700">
            <a:solidFill>
              <a:srgbClr val="EBAF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730569" y="1463040"/>
            <a:ext cx="10727813" cy="4773168"/>
          </a:xfrm>
          <a:prstGeom prst="rect">
            <a:avLst/>
          </a:prstGeom>
        </p:spPr>
      </p:pic>
    </p:spTree>
  </p:cSld>
  <p:clrMapOvr>
    <a:masterClrMapping/>
  </p:clrMapOvr>
  <p:transition spd="med">
    <p:zoom dir="in"/>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Combinations of Bias-Variance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27 / 34</a:t>
            </a:r>
          </a:p>
        </p:txBody>
      </p:sp>
      <p:sp>
        <p:nvSpPr>
          <p:cNvPr id="7" name="Rounded Rectangle 6"/>
          <p:cNvSpPr/>
          <p:nvPr/>
        </p:nvSpPr>
        <p:spPr>
          <a:xfrm>
            <a:off x="2125704" y="1298448"/>
            <a:ext cx="7937542" cy="5102352"/>
          </a:xfrm>
          <a:prstGeom prst="roundRect">
            <a:avLst>
              <a:gd name="adj" fmla="val 3000"/>
            </a:avLst>
          </a:prstGeom>
          <a:solidFill>
            <a:srgbClr val="FFFFFF"/>
          </a:solidFill>
          <a:ln w="12700">
            <a:solidFill>
              <a:srgbClr val="EBAF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290296" y="1463040"/>
            <a:ext cx="7608358" cy="4773168"/>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Combinations of Bias-Variance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28 / 34</a:t>
            </a:r>
          </a:p>
        </p:txBody>
      </p:sp>
      <p:sp>
        <p:nvSpPr>
          <p:cNvPr id="7" name="Rounded Rectangle 6"/>
          <p:cNvSpPr/>
          <p:nvPr/>
        </p:nvSpPr>
        <p:spPr>
          <a:xfrm>
            <a:off x="2578662" y="1298447"/>
            <a:ext cx="7031626" cy="5102352"/>
          </a:xfrm>
          <a:prstGeom prst="roundRect">
            <a:avLst>
              <a:gd name="adj" fmla="val 3000"/>
            </a:avLst>
          </a:prstGeom>
          <a:solidFill>
            <a:srgbClr val="FFFFFF"/>
          </a:solidFill>
          <a:ln w="12700">
            <a:solidFill>
              <a:srgbClr val="EBAF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743254" y="1463039"/>
            <a:ext cx="6702442" cy="4773168"/>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Combinations of Bias-Variance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29 / 34</a:t>
            </a:r>
          </a:p>
        </p:txBody>
      </p:sp>
      <p:sp>
        <p:nvSpPr>
          <p:cNvPr id="7" name="Rounded Rectangle 6"/>
          <p:cNvSpPr/>
          <p:nvPr/>
        </p:nvSpPr>
        <p:spPr>
          <a:xfrm>
            <a:off x="2400327" y="1298448"/>
            <a:ext cx="7388296" cy="5102352"/>
          </a:xfrm>
          <a:prstGeom prst="roundRect">
            <a:avLst>
              <a:gd name="adj" fmla="val 3000"/>
            </a:avLst>
          </a:prstGeom>
          <a:solidFill>
            <a:srgbClr val="FFFFFF"/>
          </a:solidFill>
          <a:ln w="12700">
            <a:solidFill>
              <a:srgbClr val="EBAF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564919" y="1463040"/>
            <a:ext cx="7059112" cy="4773168"/>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Combinations of Bias-Variance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30 / 34</a:t>
            </a:r>
          </a:p>
        </p:txBody>
      </p:sp>
      <p:sp>
        <p:nvSpPr>
          <p:cNvPr id="7" name="Rounded Rectangle 6"/>
          <p:cNvSpPr/>
          <p:nvPr/>
        </p:nvSpPr>
        <p:spPr>
          <a:xfrm>
            <a:off x="3210803" y="1298448"/>
            <a:ext cx="5767344" cy="5102352"/>
          </a:xfrm>
          <a:prstGeom prst="roundRect">
            <a:avLst>
              <a:gd name="adj" fmla="val 3000"/>
            </a:avLst>
          </a:prstGeom>
          <a:solidFill>
            <a:srgbClr val="FFFFFF"/>
          </a:solidFill>
          <a:ln w="12700">
            <a:solidFill>
              <a:srgbClr val="EBAF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3375395" y="1463040"/>
            <a:ext cx="5438160" cy="4773168"/>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Combinations of Bias-Variance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31 / 34</a:t>
            </a:r>
          </a:p>
        </p:txBody>
      </p:sp>
      <p:sp>
        <p:nvSpPr>
          <p:cNvPr id="7" name="Rounded Rectangle 6"/>
          <p:cNvSpPr/>
          <p:nvPr/>
        </p:nvSpPr>
        <p:spPr>
          <a:xfrm>
            <a:off x="457199" y="1590791"/>
            <a:ext cx="11274552" cy="4517664"/>
          </a:xfrm>
          <a:prstGeom prst="roundRect">
            <a:avLst>
              <a:gd name="adj" fmla="val 3000"/>
            </a:avLst>
          </a:prstGeom>
          <a:solidFill>
            <a:srgbClr val="FFFFFF"/>
          </a:solidFill>
          <a:ln w="12700">
            <a:solidFill>
              <a:srgbClr val="EBAF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621791" y="1755383"/>
            <a:ext cx="10945368" cy="418848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Combinations of Bias-Variance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32 / 34</a:t>
            </a:r>
          </a:p>
        </p:txBody>
      </p:sp>
      <p:sp>
        <p:nvSpPr>
          <p:cNvPr id="7" name="Rounded Rectangle 6"/>
          <p:cNvSpPr/>
          <p:nvPr/>
        </p:nvSpPr>
        <p:spPr>
          <a:xfrm>
            <a:off x="550352" y="1298448"/>
            <a:ext cx="11088246" cy="5102352"/>
          </a:xfrm>
          <a:prstGeom prst="roundRect">
            <a:avLst>
              <a:gd name="adj" fmla="val 3000"/>
            </a:avLst>
          </a:prstGeom>
          <a:solidFill>
            <a:srgbClr val="FFFFFF"/>
          </a:solidFill>
          <a:ln w="12700">
            <a:solidFill>
              <a:srgbClr val="EBAF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714944" y="1463040"/>
            <a:ext cx="10759062" cy="4773168"/>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Trade-off</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33 / 34</a:t>
            </a:r>
          </a:p>
        </p:txBody>
      </p:sp>
      <p:sp>
        <p:nvSpPr>
          <p:cNvPr id="7" name="Rounded Rectangle 6"/>
          <p:cNvSpPr/>
          <p:nvPr/>
        </p:nvSpPr>
        <p:spPr>
          <a:xfrm>
            <a:off x="2106176" y="1298448"/>
            <a:ext cx="7976599" cy="4690872"/>
          </a:xfrm>
          <a:prstGeom prst="roundRect">
            <a:avLst>
              <a:gd name="adj" fmla="val 3000"/>
            </a:avLst>
          </a:prstGeom>
          <a:solidFill>
            <a:srgbClr val="FFFFFF"/>
          </a:solidFill>
          <a:ln w="12700">
            <a:solidFill>
              <a:srgbClr val="EBAF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270768" y="1463040"/>
            <a:ext cx="7647415" cy="4361688"/>
          </a:xfrm>
          <a:prstGeom prst="rect">
            <a:avLst/>
          </a:prstGeom>
        </p:spPr>
      </p:pic>
      <p:sp>
        <p:nvSpPr>
          <p:cNvPr id="9" name="TextBox 8"/>
          <p:cNvSpPr txBox="1"/>
          <p:nvPr/>
        </p:nvSpPr>
        <p:spPr>
          <a:xfrm>
            <a:off x="457200" y="6035040"/>
            <a:ext cx="11274552" cy="365760"/>
          </a:xfrm>
          <a:prstGeom prst="rect">
            <a:avLst/>
          </a:prstGeom>
          <a:noFill/>
        </p:spPr>
        <p:txBody>
          <a:bodyPr wrap="square" lIns="0" rIns="0">
            <a:spAutoFit/>
          </a:bodyPr>
          <a:lstStyle/>
          <a:p>
            <a:pPr algn="ctr">
              <a:defRPr sz="1300" i="1">
                <a:solidFill>
                  <a:srgbClr val="555555"/>
                </a:solidFill>
              </a:defRPr>
            </a:pPr>
            <a:r>
              <a:rPr>
                <a:latin typeface="Inter"/>
              </a:rPr>
              <a:t>Total Error Variance Error — &gt; Complexity</a:t>
            </a:r>
          </a:p>
        </p:txBody>
      </p:sp>
    </p:spTree>
  </p:cSld>
  <p:clrMapOvr>
    <a:masterClrMapping/>
  </p:clrMapOvr>
  <p:transition spd="med">
    <p:zoom dir="in"/>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CF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Key takeaways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34 / 34</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3841394" cy="833715"/>
          </a:xfrm>
          <a:prstGeom prst="roundRect">
            <a:avLst>
              <a:gd name="adj" fmla="val 16890"/>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31841"/>
            <a:ext cx="566928" cy="566928"/>
          </a:xfrm>
          <a:prstGeom prst="ellipse">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545227"/>
            <a:ext cx="340156" cy="340156"/>
          </a:xfrm>
          <a:prstGeom prst="rect">
            <a:avLst/>
          </a:prstGeom>
        </p:spPr>
      </p:pic>
      <p:sp>
        <p:nvSpPr>
          <p:cNvPr id="11" name="TextBox 10"/>
          <p:cNvSpPr txBox="1"/>
          <p:nvPr/>
        </p:nvSpPr>
        <p:spPr>
          <a:xfrm>
            <a:off x="1408175" y="1371600"/>
            <a:ext cx="2689250" cy="687411"/>
          </a:xfrm>
          <a:prstGeom prst="rect">
            <a:avLst/>
          </a:prstGeom>
          <a:noFill/>
        </p:spPr>
        <p:txBody>
          <a:bodyPr wrap="square" anchor="ctr" lIns="0" tIns="0" rIns="0" bIns="0">
            <a:spAutoFit/>
          </a:bodyPr>
          <a:lstStyle/>
          <a:p>
            <a:pPr algn="l"/>
            <a:r>
              <a:rPr sz="1380" b="1">
                <a:solidFill>
                  <a:srgbClr val="CF392B"/>
                </a:solidFill>
                <a:latin typeface="Bebas Neue"/>
              </a:rPr>
              <a:t>Syllabus</a:t>
            </a:r>
          </a:p>
          <a:p>
            <a:pPr algn="l">
              <a:spcBef>
                <a:spcPts val="500"/>
              </a:spcBef>
            </a:pPr>
            <a:r>
              <a:rPr sz="1150" b="0">
                <a:solidFill>
                  <a:srgbClr val="111111"/>
                </a:solidFill>
                <a:latin typeface="Inter"/>
              </a:rPr>
              <a:t>Introduction to Machine Learning</a:t>
            </a:r>
          </a:p>
        </p:txBody>
      </p:sp>
      <p:sp>
        <p:nvSpPr>
          <p:cNvPr id="12" name="Rounded Rectangle 11"/>
          <p:cNvSpPr/>
          <p:nvPr/>
        </p:nvSpPr>
        <p:spPr>
          <a:xfrm>
            <a:off x="4499762" y="1298448"/>
            <a:ext cx="3841394" cy="833715"/>
          </a:xfrm>
          <a:prstGeom prst="roundRect">
            <a:avLst>
              <a:gd name="adj" fmla="val 16890"/>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00930" y="1431841"/>
            <a:ext cx="566928" cy="566928"/>
          </a:xfrm>
          <a:prstGeom prst="ellipse">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814315" y="1545227"/>
            <a:ext cx="340156" cy="340156"/>
          </a:xfrm>
          <a:prstGeom prst="rect">
            <a:avLst/>
          </a:prstGeom>
        </p:spPr>
      </p:pic>
      <p:sp>
        <p:nvSpPr>
          <p:cNvPr id="15" name="TextBox 14"/>
          <p:cNvSpPr txBox="1"/>
          <p:nvPr/>
        </p:nvSpPr>
        <p:spPr>
          <a:xfrm>
            <a:off x="5450738" y="1371600"/>
            <a:ext cx="2689250" cy="687411"/>
          </a:xfrm>
          <a:prstGeom prst="rect">
            <a:avLst/>
          </a:prstGeom>
          <a:noFill/>
        </p:spPr>
        <p:txBody>
          <a:bodyPr wrap="square" anchor="ctr" lIns="0" tIns="0" rIns="0" bIns="0">
            <a:spAutoFit/>
          </a:bodyPr>
          <a:lstStyle/>
          <a:p>
            <a:pPr algn="l"/>
            <a:r>
              <a:rPr sz="1380" b="1">
                <a:solidFill>
                  <a:srgbClr val="CF392B"/>
                </a:solidFill>
                <a:latin typeface="Bebas Neue"/>
              </a:rPr>
              <a:t>Supervised Learning</a:t>
            </a:r>
          </a:p>
          <a:p>
            <a:pPr algn="l">
              <a:spcBef>
                <a:spcPts val="500"/>
              </a:spcBef>
            </a:pPr>
            <a:r>
              <a:rPr sz="1150" b="0">
                <a:solidFill>
                  <a:srgbClr val="111111"/>
                </a:solidFill>
                <a:latin typeface="Inter"/>
              </a:rPr>
              <a:t>Features (X)</a:t>
            </a:r>
          </a:p>
        </p:txBody>
      </p:sp>
      <p:sp>
        <p:nvSpPr>
          <p:cNvPr id="16" name="Rounded Rectangle 15"/>
          <p:cNvSpPr/>
          <p:nvPr/>
        </p:nvSpPr>
        <p:spPr>
          <a:xfrm>
            <a:off x="457200" y="2333331"/>
            <a:ext cx="3841394" cy="833715"/>
          </a:xfrm>
          <a:prstGeom prst="roundRect">
            <a:avLst>
              <a:gd name="adj" fmla="val 16890"/>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466725"/>
            <a:ext cx="566928" cy="566928"/>
          </a:xfrm>
          <a:prstGeom prst="ellipse">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2580111"/>
            <a:ext cx="340156" cy="340156"/>
          </a:xfrm>
          <a:prstGeom prst="rect">
            <a:avLst/>
          </a:prstGeom>
        </p:spPr>
      </p:pic>
      <p:sp>
        <p:nvSpPr>
          <p:cNvPr id="19" name="TextBox 18"/>
          <p:cNvSpPr txBox="1"/>
          <p:nvPr/>
        </p:nvSpPr>
        <p:spPr>
          <a:xfrm>
            <a:off x="1408175" y="2406483"/>
            <a:ext cx="2689250" cy="687411"/>
          </a:xfrm>
          <a:prstGeom prst="rect">
            <a:avLst/>
          </a:prstGeom>
          <a:noFill/>
        </p:spPr>
        <p:txBody>
          <a:bodyPr wrap="square" anchor="ctr" lIns="0" tIns="0" rIns="0" bIns="0">
            <a:spAutoFit/>
          </a:bodyPr>
          <a:lstStyle/>
          <a:p>
            <a:pPr algn="l"/>
            <a:r>
              <a:rPr sz="1150" b="0">
                <a:solidFill>
                  <a:srgbClr val="111111"/>
                </a:solidFill>
                <a:latin typeface="Inter"/>
              </a:rPr>
              <a:t>Hypothesis Space (H) Hypothesis space is the set of all the possible legal hypothesis</a:t>
            </a:r>
          </a:p>
        </p:txBody>
      </p:sp>
      <p:sp>
        <p:nvSpPr>
          <p:cNvPr id="20" name="Rounded Rectangle 19"/>
          <p:cNvSpPr/>
          <p:nvPr/>
        </p:nvSpPr>
        <p:spPr>
          <a:xfrm>
            <a:off x="4499762" y="2333331"/>
            <a:ext cx="3841394" cy="833715"/>
          </a:xfrm>
          <a:prstGeom prst="roundRect">
            <a:avLst>
              <a:gd name="adj" fmla="val 16890"/>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700930" y="2466725"/>
            <a:ext cx="566928" cy="566928"/>
          </a:xfrm>
          <a:prstGeom prst="ellipse">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814315" y="2580111"/>
            <a:ext cx="340156" cy="340156"/>
          </a:xfrm>
          <a:prstGeom prst="rect">
            <a:avLst/>
          </a:prstGeom>
        </p:spPr>
      </p:pic>
      <p:sp>
        <p:nvSpPr>
          <p:cNvPr id="23" name="TextBox 22"/>
          <p:cNvSpPr txBox="1"/>
          <p:nvPr/>
        </p:nvSpPr>
        <p:spPr>
          <a:xfrm>
            <a:off x="5450738" y="2406483"/>
            <a:ext cx="2689250" cy="687411"/>
          </a:xfrm>
          <a:prstGeom prst="rect">
            <a:avLst/>
          </a:prstGeom>
          <a:noFill/>
        </p:spPr>
        <p:txBody>
          <a:bodyPr wrap="square" anchor="ctr" lIns="0" tIns="0" rIns="0" bIns="0">
            <a:spAutoFit/>
          </a:bodyPr>
          <a:lstStyle/>
          <a:p>
            <a:pPr algn="l"/>
            <a:r>
              <a:rPr sz="1380" b="1">
                <a:solidFill>
                  <a:srgbClr val="CF392B"/>
                </a:solidFill>
                <a:latin typeface="Bebas Neue"/>
              </a:rPr>
              <a:t>Inductive bias</a:t>
            </a:r>
          </a:p>
          <a:p>
            <a:pPr algn="l">
              <a:spcBef>
                <a:spcPts val="500"/>
              </a:spcBef>
            </a:pPr>
            <a:r>
              <a:rPr sz="1150" b="0">
                <a:solidFill>
                  <a:srgbClr val="111111"/>
                </a:solidFill>
                <a:latin typeface="Inter"/>
              </a:rPr>
              <a:t>It is not enough that the hypothesis explains the given data</a:t>
            </a:r>
          </a:p>
        </p:txBody>
      </p:sp>
      <p:sp>
        <p:nvSpPr>
          <p:cNvPr id="24" name="Rounded Rectangle 23"/>
          <p:cNvSpPr/>
          <p:nvPr/>
        </p:nvSpPr>
        <p:spPr>
          <a:xfrm>
            <a:off x="457200" y="3368215"/>
            <a:ext cx="7883956" cy="833715"/>
          </a:xfrm>
          <a:prstGeom prst="roundRect">
            <a:avLst>
              <a:gd name="adj" fmla="val 16890"/>
            </a:avLst>
          </a:prstGeom>
          <a:solidFill>
            <a:srgbClr val="F5F6F8"/>
          </a:solidFill>
          <a:ln w="12700">
            <a:solidFill>
              <a:srgbClr val="F1C7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3501609"/>
            <a:ext cx="566928" cy="566928"/>
          </a:xfrm>
          <a:prstGeom prst="ellipse">
            <a:avLst/>
          </a:prstGeom>
          <a:solidFill>
            <a:srgbClr val="F8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3614995"/>
            <a:ext cx="340156" cy="340156"/>
          </a:xfrm>
          <a:prstGeom prst="rect">
            <a:avLst/>
          </a:prstGeom>
        </p:spPr>
      </p:pic>
      <p:sp>
        <p:nvSpPr>
          <p:cNvPr id="27" name="TextBox 26"/>
          <p:cNvSpPr txBox="1"/>
          <p:nvPr/>
        </p:nvSpPr>
        <p:spPr>
          <a:xfrm>
            <a:off x="1408175" y="3441367"/>
            <a:ext cx="6731812" cy="687411"/>
          </a:xfrm>
          <a:prstGeom prst="rect">
            <a:avLst/>
          </a:prstGeom>
          <a:noFill/>
        </p:spPr>
        <p:txBody>
          <a:bodyPr wrap="square" anchor="ctr" lIns="0" tIns="0" rIns="0" bIns="0">
            <a:spAutoFit/>
          </a:bodyPr>
          <a:lstStyle/>
          <a:p>
            <a:pPr algn="l"/>
            <a:r>
              <a:rPr sz="1380" b="1">
                <a:solidFill>
                  <a:srgbClr val="CF392B"/>
                </a:solidFill>
                <a:latin typeface="Bebas Neue"/>
              </a:rPr>
              <a:t>Low Bias</a:t>
            </a:r>
          </a:p>
          <a:p>
            <a:pPr algn="l">
              <a:spcBef>
                <a:spcPts val="500"/>
              </a:spcBef>
            </a:pPr>
            <a:r>
              <a:rPr sz="1150" b="0">
                <a:solidFill>
                  <a:srgbClr val="111111"/>
                </a:solidFill>
                <a:latin typeface="Inter"/>
              </a:rPr>
              <a:t>means fewer assumptions are taken to build the target function</a:t>
            </a:r>
          </a:p>
        </p:txBody>
      </p:sp>
      <p:sp>
        <p:nvSpPr>
          <p:cNvPr id="28" name="Rounded Rectangle 27"/>
          <p:cNvSpPr/>
          <p:nvPr/>
        </p:nvSpPr>
        <p:spPr>
          <a:xfrm>
            <a:off x="457200" y="4403099"/>
            <a:ext cx="7883956" cy="882132"/>
          </a:xfrm>
          <a:prstGeom prst="roundRect">
            <a:avLst>
              <a:gd name="adj" fmla="val 8000"/>
            </a:avLst>
          </a:prstGeom>
          <a:solidFill>
            <a:srgbClr val="FB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4403099"/>
            <a:ext cx="73152" cy="882132"/>
          </a:xfrm>
          <a:prstGeom prst="rect">
            <a:avLst/>
          </a:prstGeom>
          <a:solidFill>
            <a:srgbClr val="1FA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1286" y="4476251"/>
            <a:ext cx="7488935" cy="735828"/>
          </a:xfrm>
          <a:prstGeom prst="rect">
            <a:avLst/>
          </a:prstGeom>
          <a:noFill/>
        </p:spPr>
        <p:txBody>
          <a:bodyPr wrap="square" anchor="ctr" lIns="0" tIns="0" rIns="0" bIns="0">
            <a:spAutoFit/>
          </a:bodyPr>
          <a:lstStyle/>
          <a:p>
            <a:pPr algn="l"/>
            <a:r>
              <a:rPr sz="1010" b="1">
                <a:solidFill>
                  <a:srgbClr val="1FAEDD"/>
                </a:solidFill>
                <a:latin typeface="Bebas Neue"/>
              </a:rPr>
              <a:t>ALSO ON THIS SLIDE</a:t>
            </a:r>
          </a:p>
          <a:p>
            <a:pPr algn="l">
              <a:spcBef>
                <a:spcPts val="300"/>
              </a:spcBef>
            </a:pPr>
            <a:r>
              <a:rPr sz="1400" b="0">
                <a:solidFill>
                  <a:srgbClr val="111111"/>
                </a:solidFill>
                <a:latin typeface="Inter"/>
              </a:rPr>
              <a:t>Low variance: Low variance means that the model is less sensitive to changes in the training data and can produce consistent estimates…</a:t>
            </a:r>
          </a:p>
        </p:txBody>
      </p:sp>
      <p:sp>
        <p:nvSpPr>
          <p:cNvPr id="31" name="Rounded Rectangle 30"/>
          <p:cNvSpPr/>
          <p:nvPr/>
        </p:nvSpPr>
        <p:spPr>
          <a:xfrm>
            <a:off x="457200" y="5486400"/>
            <a:ext cx="11274552" cy="914400"/>
          </a:xfrm>
          <a:prstGeom prst="roundRect">
            <a:avLst>
              <a:gd name="adj" fmla="val 20000"/>
            </a:avLst>
          </a:prstGeom>
          <a:solidFill>
            <a:srgbClr val="CDEDF7"/>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11422"/>
                </a:solidFill>
                <a:latin typeface="Bebas Neue"/>
              </a:rPr>
              <a:t>Key takeaway:  </a:t>
            </a:r>
            <a:r>
              <a:rPr sz="1600" b="1">
                <a:solidFill>
                  <a:srgbClr val="111111"/>
                </a:solidFill>
                <a:latin typeface="Bebas Neue"/>
              </a:rPr>
              <a:t>Key takeaways: focus on hypothesis space, inductive bias, and managing bias‑variance.</a:t>
            </a:r>
          </a:p>
        </p:txBody>
      </p:sp>
      <p:sp>
        <p:nvSpPr>
          <p:cNvPr id="32" name="Rectangle 31"/>
          <p:cNvSpPr/>
          <p:nvPr/>
        </p:nvSpPr>
        <p:spPr>
          <a:xfrm>
            <a:off x="457200" y="5614416"/>
            <a:ext cx="82296" cy="658368"/>
          </a:xfrm>
          <a:prstGeom prst="rect">
            <a:avLst/>
          </a:prstGeom>
          <a:solidFill>
            <a:srgbClr val="1FA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par>
                                <p:cTn id="79" presetID="10" presetClass="entr" presetSubtype="0" fill="hold"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450"/>
                                        <p:tgtEl>
                                          <p:spTgt spid="30"/>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450"/>
                                        <p:tgtEl>
                                          <p:spTgt spid="31"/>
                                        </p:tgtEl>
                                      </p:cBhvr>
                                    </p:animEffect>
                                  </p:childTnLst>
                                </p:cTn>
                              </p:par>
                              <p:par>
                                <p:cTn id="87" presetID="10" presetClass="entr" presetSubtype="0" fill="hold"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CF392B"/>
        </a:solidFill>
        <a:effectLst/>
      </p:bgPr>
    </p:bg>
    <p:spTree>
      <p:nvGrpSpPr>
        <p:cNvPr id="1" name=""/>
        <p:cNvGrpSpPr/>
        <p:nvPr/>
      </p:nvGrpSpPr>
      <p:grpSpPr/>
      <p:sp>
        <p:nvSpPr>
          <p:cNvPr id="2" name="Oval 1"/>
          <p:cNvSpPr/>
          <p:nvPr/>
        </p:nvSpPr>
        <p:spPr>
          <a:xfrm>
            <a:off x="-1280160" y="4206240"/>
            <a:ext cx="4937760" cy="4937760"/>
          </a:xfrm>
          <a:prstGeom prst="ellipse">
            <a:avLst/>
          </a:prstGeom>
          <a:solidFill>
            <a:srgbClr val="35B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822960"/>
            <a:ext cx="2560320" cy="2560320"/>
          </a:xfrm>
          <a:prstGeom prst="ellipse">
            <a:avLst/>
          </a:prstGeom>
          <a:solidFill>
            <a:srgbClr val="DB6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360152" cy="1463040"/>
          </a:xfrm>
          <a:prstGeom prst="rect">
            <a:avLst/>
          </a:prstGeom>
          <a:noFill/>
        </p:spPr>
        <p:txBody>
          <a:bodyPr wrap="none">
            <a:spAutoFit/>
          </a:bodyPr>
          <a:lstStyle/>
          <a:p>
            <a:pPr algn="ctr">
              <a:defRPr sz="6400" b="1">
                <a:solidFill>
                  <a:srgbClr val="FFFFFF"/>
                </a:solidFill>
              </a:defRPr>
            </a:pPr>
            <a:r>
              <a:rPr>
                <a:latin typeface="Bebas Neue"/>
              </a:rPr>
              <a:t>Thank you</a:t>
            </a:r>
          </a:p>
        </p:txBody>
      </p:sp>
      <p:sp>
        <p:nvSpPr>
          <p:cNvPr id="5" name="TextBox 4"/>
          <p:cNvSpPr txBox="1"/>
          <p:nvPr/>
        </p:nvSpPr>
        <p:spPr>
          <a:xfrm>
            <a:off x="914400" y="3657600"/>
            <a:ext cx="10360152" cy="731520"/>
          </a:xfrm>
          <a:prstGeom prst="rect">
            <a:avLst/>
          </a:prstGeom>
          <a:noFill/>
        </p:spPr>
        <p:txBody>
          <a:bodyPr wrap="none">
            <a:spAutoFit/>
          </a:bodyPr>
          <a:lstStyle/>
          <a:p>
            <a:pPr algn="ctr">
              <a:defRPr sz="2600">
                <a:solidFill>
                  <a:srgbClr val="FFFFFF"/>
                </a:solidFill>
              </a:defRPr>
            </a:pPr>
            <a:r>
              <a:rPr>
                <a:latin typeface="Bebas Neue"/>
              </a:rPr>
              <a:t>Questions?</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