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485174"/>
            </a:solidFill>
          </c:spPr>
          <c:cat>
            <c:strRef>
              <c:f>Sheet1!$A$2:$A$5</c:f>
              <c:strCache>
                <c:ptCount val="4"/>
                <c:pt idx="0">
                  <c:v>Line-hard-serve corpus --</c:v>
                </c:pt>
                <c:pt idx="1">
                  <c:v>Interest corpus --</c:v>
                </c:pt>
                <c:pt idx="2">
                  <c:v>SemCor:</c:v>
                </c:pt>
                <c:pt idx="3">
                  <c:v>SENSEVAL-</c:v>
                </c:pt>
              </c:strCache>
            </c:strRef>
          </c:cat>
          <c:val>
            <c:numRef>
              <c:f>Sheet1!$B$2:$B$5</c:f>
              <c:numCache>
                <c:formatCode>General</c:formatCode>
                <c:ptCount val="4"/>
                <c:pt idx="0">
                  <c:v>4000.0</c:v>
                </c:pt>
                <c:pt idx="1">
                  <c:v>2369.0</c:v>
                </c:pt>
                <c:pt idx="2">
                  <c:v>234000.0</c:v>
                </c:pt>
                <c:pt idx="3">
                  <c:v>3.0</c:v>
                </c:pt>
              </c:numCache>
            </c:numRef>
          </c:val>
        </c:ser>
        <c:dLbls>
          <c:txPr>
            <a:bodyPr/>
            <a:lstStyle/>
            <a:p>
              <a:pPr>
                <a:defRPr sz="1400" b="1"/>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b"/>
        <c:majorGridlines>
          <c:spPr>
            <a:ln>
              <a:solidFill>
                <a:srgbClr val="E3E4EA"/>
              </a:solidFill>
            </a:ln>
          </c:spPr>
        </c:majorGridlines>
        <c:majorTickMark val="out"/>
        <c:minorTickMark val="none"/>
        <c:tickLblPos val="nextTo"/>
        <c:txPr>
          <a:bodyPr/>
          <a:lstStyle/>
          <a:p>
            <a:pPr>
              <a:defRPr sz="1300"/>
            </a:pPr>
          </a:p>
        </c:txPr>
        <c:crossAx val="-2068027336"/>
        <c:crosses val="autoZero"/>
      </c:valAx>
    </c:plotArea>
    <c:dispBlanksAs val="gap"/>
  </c:chart>
  <c:txPr>
    <a:bodyPr/>
    <a:lstStyle/>
    <a:p>
      <a:pPr>
        <a:defRPr sz="1400">
          <a:solidFill>
            <a:srgbClr val="111111"/>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485174"/>
            </a:solidFill>
          </c:spPr>
          <c:cat>
            <c:strRef>
              <c:f>Sheet1!$A$2:$A$9</c:f>
              <c:strCache>
                <c:ptCount val="8"/>
                <c:pt idx="0">
                  <c:v>Foodn</c:v>
                </c:pt>
                <c:pt idx="1">
                  <c:v>Liquidn</c:v>
                </c:pt>
                <c:pt idx="2">
                  <c:v>Helpingn</c:v>
                </c:pt>
                <c:pt idx="3">
                  <c:v>Beveragen</c:v>
                </c:pt>
                <c:pt idx="4">
                  <c:v>Milk</c:v>
                </c:pt>
                <c:pt idx="5">
                  <c:v>Toastn</c:v>
                </c:pt>
                <c:pt idx="6">
                  <c:v>Drinkn</c:v>
                </c:pt>
                <c:pt idx="7">
                  <c:v>Sipv</c:v>
                </c:pt>
              </c:strCache>
            </c:strRef>
          </c:cat>
          <c:val>
            <c:numRef>
              <c:f>Sheet1!$B$2:$B$9</c:f>
              <c:numCache>
                <c:formatCode>General</c:formatCode>
                <c:ptCount val="8"/>
                <c:pt idx="0">
                  <c:v>1.0</c:v>
                </c:pt>
                <c:pt idx="1">
                  <c:v>1.0</c:v>
                </c:pt>
                <c:pt idx="2">
                  <c:v>1.0</c:v>
                </c:pt>
                <c:pt idx="3">
                  <c:v>1.0</c:v>
                </c:pt>
                <c:pt idx="4">
                  <c:v>1.0</c:v>
                </c:pt>
                <c:pt idx="5">
                  <c:v>4.0</c:v>
                </c:pt>
                <c:pt idx="6">
                  <c:v>1.0</c:v>
                </c:pt>
                <c:pt idx="7">
                  <c:v>1.0</c:v>
                </c:pt>
              </c:numCache>
            </c:numRef>
          </c:val>
        </c:ser>
        <c:dLbls>
          <c:txPr>
            <a:bodyPr/>
            <a:lstStyle/>
            <a:p>
              <a:pPr>
                <a:defRPr sz="1400" b="1"/>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b"/>
        <c:majorGridlines>
          <c:spPr>
            <a:ln>
              <a:solidFill>
                <a:srgbClr val="E3E4EA"/>
              </a:solidFill>
            </a:ln>
          </c:spPr>
        </c:majorGridlines>
        <c:majorTickMark val="out"/>
        <c:minorTickMark val="none"/>
        <c:tickLblPos val="nextTo"/>
        <c:txPr>
          <a:bodyPr/>
          <a:lstStyle/>
          <a:p>
            <a:pPr>
              <a:defRPr sz="1300"/>
            </a:pPr>
          </a:p>
        </c:txPr>
        <c:crossAx val="-2068027336"/>
        <c:crosses val="autoZero"/>
      </c:valAx>
    </c:plotArea>
    <c:dispBlanksAs val="gap"/>
  </c:chart>
  <c:txPr>
    <a:bodyPr/>
    <a:lstStyle/>
    <a:p>
      <a:pPr>
        <a:defRPr sz="1400">
          <a:solidFill>
            <a:srgbClr val="11111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“Agenda” before revealing the slide.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Introduction, Meaning Representation</a:t>
            </a:r>
          </a:p>
          <a:p>
            <a:r>
              <a:t>  2. Lexical Semantics</a:t>
            </a:r>
          </a:p>
          <a:p>
            <a:r>
              <a:t>  3. Corpus Study, Study of Various language dictionaries like wordnet, Babelnet</a:t>
            </a:r>
          </a:p>
          <a:p>
            <a:r>
              <a:t>  4. Relations among lexemes &amp; their senses –Homonymy, Polysemy, Synonymy, Hyponymy</a:t>
            </a:r>
          </a:p>
          <a:p>
            <a:r>
              <a:t>  5. Semantic Ambiguity</a:t>
            </a:r>
          </a:p>
          <a:p>
            <a:r>
              <a:t>  6. Word Sense Disambiguation (WSD)</a:t>
            </a:r>
          </a:p>
          <a:p>
            <a:r>
              <a:t>  7. Knowledge based approach (Lesk’s Algorithm)</a:t>
            </a:r>
          </a:p>
          <a:p/>
          <a:p>
            <a:r>
              <a:t>Read these exactly (do not paraphrase):</a:t>
            </a:r>
          </a:p>
          <a:p>
            <a:r>
              <a:t>  - Lexical semantics studies meaning through dictionaries and disambiguation algorithms Introduction, Meaning Representation Lexical Semantics Corpus Study, Study of Various language dictionaries like wordnet, Babelnet Relations among lexemes &amp; their senses –Homonymy, Polysemy, Synonymy, Hyponymy Semantic Ambiguity Word Sense Disambiguation (WSD) Knowledge based approach (Lesk’s Algorithm) Supervised (Naïve Bayes, Decision List) Introduction to Semi-supervised method (Yarowsky) Unsupervised (Hyperlex)</a:t>
            </a:r>
          </a:p>
          <a:p/>
          <a:p>
            <a:r>
              <a:t>Say what these mean, in your own words:</a:t>
            </a:r>
          </a:p>
          <a:p>
            <a:r>
              <a:t>  - Word sense disambiguation: important method of NLP by which the meaning of a word is determined, which is used in a particular context</a:t>
            </a:r>
          </a:p>
          <a:p>
            <a:r>
              <a:t>  - Word Sense Disambiguation: Process of determining which meaning of a word is used in context.</a:t>
            </a:r>
          </a:p>
          <a:p>
            <a:r>
              <a:t>  - Lesk’s Algorithm: Knowledge-based WSD method that matches dictionary definitions with context.</a:t>
            </a:r>
          </a:p>
          <a:p/>
          <a:p>
            <a:r>
              <a:t>Pause: ask the class what they already know about “Lexical semantics studies meaning through dictionaries and disambiguation algorithms”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Semantic analysis is the process of finding the meaning from text.</a:t>
            </a:r>
          </a:p>
          <a:p>
            <a:r>
              <a:t>  2. This analysis gives the power to computers</a:t>
            </a:r>
          </a:p>
          <a:p>
            <a:r>
              <a:t>  3. to understand and interpret sentences, paragraphs, or whole documents,</a:t>
            </a:r>
          </a:p>
          <a:p>
            <a:r>
              <a:t>  4. by analyzing their grammatical structure</a:t>
            </a:r>
          </a:p>
          <a:p>
            <a:r>
              <a:t>  5. identifying the relationships between individual words of the sentence in a particular context.</a:t>
            </a:r>
          </a:p>
          <a:p/>
          <a:p>
            <a:r>
              <a:t>Read these exactly (do not paraphrase):</a:t>
            </a:r>
          </a:p>
          <a:p>
            <a:r>
              <a:t>  - Semantic analysis extracts meaning from text by parsing grammatical structure Semantic analysis is the process of finding the meaning from text.</a:t>
            </a:r>
          </a:p>
          <a:p/>
          <a:p>
            <a:r>
              <a:t>Say what these mean, in your own words:</a:t>
            </a:r>
          </a:p>
          <a:p>
            <a:r>
              <a:t>  - Semantic analysis: Computational process of extracting meaning from text.</a:t>
            </a:r>
          </a:p>
          <a:p/>
          <a:p>
            <a:r>
              <a:t>Pause: ask the class what they already know about “Semantic analysis extracts meaning from text by parsing grammatical structure”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It is the study of the meaning of individual words.</a:t>
            </a:r>
          </a:p>
          <a:p>
            <a:r>
              <a:t>  2. It involves words, sub-words, affixes (sub-units), compound words, and phrases also.</a:t>
            </a:r>
          </a:p>
          <a:p>
            <a:r>
              <a:t>  3. All the words, sub-words, etc. are collectively known as lexical items.</a:t>
            </a:r>
          </a:p>
          <a:p>
            <a:r>
              <a:t>  4. Lexical semantics focuses on how single words convey meaning.</a:t>
            </a:r>
          </a:p>
          <a:p>
            <a:r>
              <a:t>  5. It includes analysis of sub-words, affixes, compounds, and phrases.</a:t>
            </a:r>
          </a:p>
          <a:p>
            <a:r>
              <a:t>  6. All these elements are called lexical items, and their study reveals how words combine to form larger units.</a:t>
            </a:r>
          </a:p>
          <a:p>
            <a:r>
              <a:t>  7. Example: The word "unhappiness" is a compound of "un-" and "happiness".</a:t>
            </a:r>
          </a:p>
          <a:p/>
          <a:p>
            <a:r>
              <a:t>Read these exactly (do not paraphrase):</a:t>
            </a:r>
          </a:p>
          <a:p>
            <a:r>
              <a:t>  - Lexical semantics studies the meaning of individual words and their parts It is the study of the meaning of individual words.</a:t>
            </a:r>
          </a:p>
          <a:p>
            <a:r>
              <a:t>  - It involves words, sub-words, affixes (sub-units), compound words, and phrases also.</a:t>
            </a:r>
          </a:p>
          <a:p>
            <a:r>
              <a:t>  - Example: The word "unhappiness" is a compound of "un-" and "happiness".</a:t>
            </a:r>
          </a:p>
          <a:p/>
          <a:p>
            <a:r>
              <a:t>Say what these mean, in your own words:</a:t>
            </a:r>
          </a:p>
          <a:p>
            <a:r>
              <a:t>  - Lexical items: Words, sub-words, affixes, compounds, and phrases studied in lexical semantics.</a:t>
            </a:r>
          </a:p>
          <a:p/>
          <a:p>
            <a:r>
              <a:t>Pause: ask the class what they already know about “Lexical semantics studies the meaning of individual words and their parts” before revealing the slide.</a:t>
            </a:r>
          </a:p>
          <a:p/>
          <a:p>
            <a:r>
              <a:t>~61s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Lexical Semantics (words) Co</a:t>
            </a:r>
          </a:p>
          <a:p>
            <a:r>
              <a:t>  2. 2. Sentential / Compositional / Formal Semantics</a:t>
            </a:r>
          </a:p>
          <a:p>
            <a:r>
              <a:t>  3. 3. Discourse or Pragmatics</a:t>
            </a:r>
          </a:p>
          <a:p>
            <a:r>
              <a:t>  4. meaning + context + world knowledge</a:t>
            </a:r>
          </a:p>
          <a:p>
            <a:r>
              <a:t>  5. Lexical semantics deals with word meanings.</a:t>
            </a:r>
          </a:p>
          <a:p>
            <a:r>
              <a:t>  6. Sentential or compositional semantics interprets how words combine to form sentence meaning.</a:t>
            </a:r>
          </a:p>
          <a:p>
            <a:r>
              <a:t>  7. Discourse or pragmatic semantics adds context and world knowledge to interpret larger texts.</a:t>
            </a:r>
          </a:p>
          <a:p/>
          <a:p>
            <a:r>
              <a:t>Read these exactly (do not paraphrase):</a:t>
            </a:r>
          </a:p>
          <a:p>
            <a:r>
              <a:t>  - Lexical Semantics (words) Co 2.</a:t>
            </a:r>
          </a:p>
          <a:p>
            <a:r>
              <a:t>  - Example: The sentence "She saw the bank" requires context to determine which bank.</a:t>
            </a:r>
          </a:p>
          <a:p/>
          <a:p>
            <a:r>
              <a:t>Say what these mean, in your own words:</a:t>
            </a:r>
          </a:p>
          <a:p>
            <a:r>
              <a:t>  - Pragmatics: Study of how context influences interpretation of language.</a:t>
            </a:r>
          </a:p>
          <a:p/>
          <a:p>
            <a:r>
              <a:t>Pause: ask the class what they already know about “Meaning is structured across lexical, sentential, and discourse levels”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Lexeme: a pairing of meaning and form</a:t>
            </a:r>
          </a:p>
          <a:p>
            <a:r>
              <a:t>  2. Lemma: the word form that represents a lexeme</a:t>
            </a:r>
          </a:p>
          <a:p>
            <a:r>
              <a:t>  3. Carpet is the lemma for carpets Dormir is the lemma for duermes</a:t>
            </a:r>
          </a:p>
          <a:p>
            <a:r>
              <a:t>  4. The lemma bank has two senses:</a:t>
            </a:r>
          </a:p>
          <a:p>
            <a:r>
              <a:t>  5. Financial insitution</a:t>
            </a:r>
          </a:p>
          <a:p>
            <a:r>
              <a:t>  6. Soil wall next to water</a:t>
            </a:r>
          </a:p>
          <a:p>
            <a:r>
              <a:t>  7. Asense is a discrete representation of one aspect of the meaning of a word</a:t>
            </a:r>
          </a:p>
          <a:p/>
          <a:p>
            <a:r>
              <a:t>Say what these mean, in your own words:</a:t>
            </a:r>
          </a:p>
          <a:p>
            <a:r>
              <a:t>  - Lexeme: Unit combining a specific meaning with its form.</a:t>
            </a:r>
          </a:p>
          <a:p>
            <a:r>
              <a:t>  - Lemma: Canonical word form representing a lexeme.</a:t>
            </a:r>
          </a:p>
          <a:p/>
          <a:p>
            <a:r>
              <a:t>Pause: ask the class what they already know about “Lexeme and lemma distinguish meaning and word form in lexical studies”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Terminology (continued)</a:t>
            </a:r>
          </a:p>
          <a:p/>
          <a:p>
            <a:r>
              <a:t>Pause: ask the class what they already know about “Terminology (continued)” before revealing the slide.</a:t>
            </a:r>
          </a:p>
          <a:p/>
          <a:p>
            <a:r>
              <a:t>Wording matters here — slow down, keep it precise.</a:t>
            </a:r>
          </a:p>
          <a:p/>
          <a:p>
            <a:r>
              <a:t>~19s</a:t>
            </a:r>
          </a:p>
          <a:p>
            <a:r>
              <a:t>Text in the figure: Lemmas have senses *One lemma “bank” can have many meanings: ..a hold the investments in a custodial account... agriculture burgeons on the east bank the river will shrink Sense 2: ” 2 even more Sense (or word sense) A discrete representation of an aspect of a word’s meaning. lemma bank here has two senses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Terminology (continued)</a:t>
            </a:r>
          </a:p>
          <a:p/>
          <a:p>
            <a:r>
              <a:t>Pause: ask the class what they already know about “Terminology (continued)” before revealing the slide.</a:t>
            </a:r>
          </a:p>
          <a:p/>
          <a:p>
            <a:r>
              <a:t>Wording matters here — slow down, keep it precise.</a:t>
            </a:r>
          </a:p>
          <a:p/>
          <a:p>
            <a:r>
              <a:t>~19s</a:t>
            </a:r>
          </a:p>
          <a:p>
            <a:r>
              <a:t>Text in the figure: Relations between words/senses Homonymy Polysemy Synonymy Antonymy Hypernymy Hyponymy Meronymy</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The bank was constructed in 1875 out of local red brick.</a:t>
            </a:r>
          </a:p>
          <a:p>
            <a:r>
              <a:t>  2. 2.1 withdrew the money from the bank</a:t>
            </a:r>
          </a:p>
          <a:p>
            <a:r>
              <a:t>  3. Are those the same sense?</a:t>
            </a:r>
          </a:p>
          <a:p>
            <a:r>
              <a:t>  4. Sense 2: “A financial institution”</a:t>
            </a:r>
          </a:p>
          <a:p>
            <a:r>
              <a:t>  5. Sense 1: “The building belonging to a financial institution”</a:t>
            </a:r>
          </a:p>
          <a:p>
            <a:r>
              <a:t>  6. A polysemous word has related meanings</a:t>
            </a:r>
          </a:p>
          <a:p>
            <a:r>
              <a:t>  7. Most non-rare words have multiple meanings</a:t>
            </a:r>
          </a:p>
          <a:p/>
          <a:p>
            <a:r>
              <a:t>Read these exactly (do not paraphrase):</a:t>
            </a:r>
          </a:p>
          <a:p>
            <a:r>
              <a:t>  - Sense 2: “A financial institution” Sense 1: “The building belonging to a financial institution” A polysemous word has related meanings Most non-rare words have multiple meanings</a:t>
            </a:r>
          </a:p>
          <a:p/>
          <a:p>
            <a:r>
              <a:t>Say what these mean, in your own words:</a:t>
            </a:r>
          </a:p>
          <a:p>
            <a:r>
              <a:t>  - Polysemy: A single word having multiple related meanings.</a:t>
            </a:r>
          </a:p>
          <a:p/>
          <a:p>
            <a:r>
              <a:t>Pause: ask the class what they already know about “Polysemy describes related multiple meanings of a single word”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Polysemy (continued)</a:t>
            </a:r>
          </a:p>
          <a:p/>
          <a:p>
            <a:r>
              <a:t>Pause: ask the class what they already know about “Polysemy (continued)” before revealing the slide.</a:t>
            </a:r>
          </a:p>
          <a:p/>
          <a:p>
            <a:r>
              <a:t>Wording matters here — slow down, keep it precise.</a:t>
            </a:r>
          </a:p>
          <a:p/>
          <a:p>
            <a:r>
              <a:t>~19s</a:t>
            </a:r>
          </a:p>
          <a:p>
            <a:r>
              <a:t>Text in the figure: Trying to make sense of senses Polysemy: A lexeme is polysemous if it has different related senses Busey — bank = financialinstitution or building Homonyms: Two lexemes are homonyms if their senses are unrelated, but they happen to have the same spelling and pronunciation bank or (river) bank</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Lots of types of polysemy are systematic</a:t>
            </a:r>
          </a:p>
          <a:p>
            <a:r>
              <a:t>  2. School, university, hospital</a:t>
            </a:r>
          </a:p>
          <a:p>
            <a:r>
              <a:t>  3. Allcan mean the institution or the building.</a:t>
            </a:r>
          </a:p>
          <a:p>
            <a:r>
              <a:t>  4. Asystematic relationship:</a:t>
            </a:r>
          </a:p>
          <a:p>
            <a:r>
              <a:t>  5. Building &lt;&gt; Organization</a:t>
            </a:r>
          </a:p>
          <a:p>
            <a:r>
              <a:t>  6. Other such kinds of systematic polysemy:</a:t>
            </a:r>
          </a:p>
          <a:p>
            <a:r>
              <a:t>  7. Author (Jane Austen wrote Emma)</a:t>
            </a:r>
          </a:p>
          <a:p/>
          <a:p>
            <a:r>
              <a:t>Read these exactly (do not paraphrase):</a:t>
            </a:r>
          </a:p>
          <a:p>
            <a:r>
              <a:t>  - Asystematic relationship: Building &lt;&gt; Organization Other such kinds of systematic polysemy: Author (Jane Austen wrote Emma) Works of Author (I love Jane Austen) Tree (Plums have beautiful blossoms) Fruit (I ate a preserved plum)</a:t>
            </a:r>
          </a:p>
          <a:p/>
          <a:p>
            <a:r>
              <a:t>Say what these mean, in your own words:</a:t>
            </a:r>
          </a:p>
          <a:p>
            <a:r>
              <a:t>  - Systematic polysemy: Polysemy where senses share a conceptual relationship.</a:t>
            </a:r>
          </a:p>
          <a:p/>
          <a:p>
            <a:r>
              <a:t>Pause: ask the class what they already know about “Systematic polysemy links senses through institutional or object relationships”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Multiple related meanings S: (n) newspaper, paper (a daily or weekly publication on folded sheets; contains news and articles and advertisements) "he read his newspaper at breakfast" S: (n) newspaper, paper, newspaper publisher (a business firm that publishes newspapers) "Murdoch owns many newspapers" S: (n) newspaper, paper (the physical object that is the product of a newspaper publisher) "when it began to rain he covered his head with a newspaper" S: (n) newspaper, newsprint (cheap paper made from wood pulp and used for printing newspapers) "they used bales of newspaper every day”</a:t>
            </a:r>
          </a:p>
          <a:p/>
          <a:p>
            <a:r>
              <a:t>Pause: ask the class what they already know about “Multiple related meanings”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“zeugma” test: Two senses of serve?</a:t>
            </a:r>
          </a:p>
          <a:p>
            <a:r>
              <a:t>  2. flights serve breakfast?</a:t>
            </a:r>
          </a:p>
          <a:p>
            <a:r>
              <a:t>  3. Does Lufthansa serve Philadelphia?</a:t>
            </a:r>
          </a:p>
          <a:p>
            <a:r>
              <a:t>  4. Does Lufthansa serve breakfast and San Jose?</a:t>
            </a:r>
          </a:p>
          <a:p>
            <a:r>
              <a:t>  5. Since this conjunction sounds weird,</a:t>
            </a:r>
          </a:p>
          <a:p>
            <a:r>
              <a:t>  6. we say that these are two different senses of “serve”</a:t>
            </a:r>
          </a:p>
          <a:p>
            <a:r>
              <a:t>  7. The zeugma test checks whether a word can logically share a sense across different contexts.</a:t>
            </a:r>
          </a:p>
          <a:p/>
          <a:p>
            <a:r>
              <a:t>Read these exactly (do not paraphrase):</a:t>
            </a:r>
          </a:p>
          <a:p>
            <a:r>
              <a:t>  - For example, "serve" in "serve breakfast" versus "serve flights" indicates distinct meanings.</a:t>
            </a:r>
          </a:p>
          <a:p>
            <a:r>
              <a:t>  - "serve a flight".</a:t>
            </a:r>
          </a:p>
          <a:p/>
          <a:p>
            <a:r>
              <a:t>Say what these mean, in your own words:</a:t>
            </a:r>
          </a:p>
          <a:p>
            <a:r>
              <a:t>  - Zeugma: Test to determine if a word shares a sense across contexts.</a:t>
            </a:r>
          </a:p>
          <a:p/>
          <a:p>
            <a:r>
              <a:t>Pause: ask the class what they already know about “The zeugma test distinguishes multiple senses of a word” before revealing the slide.</a:t>
            </a:r>
          </a:p>
          <a:p/>
          <a:p>
            <a:r>
              <a:t>~61s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Homonyms: lexemes that share a form, but unrelated meanings</a:t>
            </a:r>
          </a:p>
          <a:p>
            <a:r>
              <a:t>  2. bat (wooden stick thing) vs bat (flying scary mammal) bank (financial institution) vs bank (riverside)</a:t>
            </a:r>
          </a:p>
          <a:p>
            <a:r>
              <a:t>  3. Can be homophones, homographs, or both:</a:t>
            </a:r>
          </a:p>
          <a:p>
            <a:r>
              <a:t>  4. Homophones: write and right, piece and peace</a:t>
            </a:r>
          </a:p>
          <a:p>
            <a:r>
              <a:t>  5. Homographs: bass and bass</a:t>
            </a:r>
          </a:p>
          <a:p>
            <a:r>
              <a:t>  6. Homonyms are lexemes that look or sound the same yet have unrelated meanings, such as "bat" the animal versus "bat" the </a:t>
            </a:r>
          </a:p>
          <a:p>
            <a:r>
              <a:t>  7. They can be homophones (same sound), homographs (same spelling), or both.</a:t>
            </a:r>
          </a:p>
          <a:p/>
          <a:p>
            <a:r>
              <a:t>Read these exactly (do not paraphrase):</a:t>
            </a:r>
          </a:p>
          <a:p>
            <a:r>
              <a:t>  - Homonyms share form but have unrelated meanings across categories Homonyms: lexemes that share a form, but unrelated meanings bat (wooden stick thing) vs bat (flying scary mammal) bank (financial institution) vs bank (riverside) Can be homophones, homographs, or both: Homophones: write and right, piece and peace Homographs: bass and bass Homonyms are lexemes that look or sound the same yet have unrelated meanings, such as "bat" the animal versus "bat" the sports equipment.</a:t>
            </a:r>
          </a:p>
          <a:p>
            <a:r>
              <a:t>  - They can be homophones (same sound), homographs (same spelling), or both.</a:t>
            </a:r>
          </a:p>
          <a:p/>
          <a:p>
            <a:r>
              <a:t>Say what these mean, in your own words:</a:t>
            </a:r>
          </a:p>
          <a:p>
            <a:r>
              <a:t>  - Homonym: Word that shares form but not meaning with another.</a:t>
            </a:r>
          </a:p>
          <a:p/>
          <a:p>
            <a:r>
              <a:t>Pause: ask the class what they already know about “Homonyms share form but have unrelated meanings across categories”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“Homonymy describes unrelated meanings while polysemy describes related meanings”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Homonymy (2/2): S S: (n) position, place (the particular portion of space occupied by something) "he put the lamp back in its place" S: (n) military position, position (a point occupied by troops for tactical reasons) S: (n) position, view, perspective (a way of regarding situations or topics what follows from the positivist view" S: (n) position, posture, attitude (the arrangement of the body and its limbs) "he assumed an attitude of surrender" S: (n) status, position (the relative position or standing of things or especially persons in a society) "he had the status of a minor"; "the novel attained the status of a classic"; "atheists do not enjoy a favorable position in American life" S: (n) position, post, berth, office, spot, billet, place, situation (a job in an organization) "he occupied a post in the treasury"</a:t>
            </a:r>
          </a:p>
          <a:p/>
          <a:p>
            <a:r>
              <a:t>Say what these mean, in your own words:</a:t>
            </a:r>
          </a:p>
          <a:p>
            <a:r>
              <a:t>  - hyponym: a more specific word within a broader category</a:t>
            </a:r>
          </a:p>
          <a:p>
            <a:r>
              <a:t>  - hypernym: a more general word that includes other terms</a:t>
            </a:r>
          </a:p>
          <a:p/>
          <a:p>
            <a:r>
              <a:t>Pause: ask the class what they already know about “Homonymy (2/2): S”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Homonymy causes problems for NLP</a:t>
            </a:r>
          </a:p>
          <a:p>
            <a:r>
              <a:t>  2. Information retrieval</a:t>
            </a:r>
          </a:p>
          <a:p>
            <a:r>
              <a:t>  3. Machine Translation</a:t>
            </a:r>
          </a:p>
          <a:p>
            <a:r>
              <a:t>  4. bat: murciélago (animal) or bate (for baseball)</a:t>
            </a:r>
          </a:p>
          <a:p>
            <a:r>
              <a:t>  5. bass (stringed instrument) vs. bass (fish)</a:t>
            </a:r>
          </a:p>
          <a:p/>
          <a:p>
            <a:r>
              <a:t>Read these exactly (do not paraphrase):</a:t>
            </a:r>
          </a:p>
          <a:p>
            <a:r>
              <a:t>  - Homonymy creates challenges for NLP, information retrieval, and machine translation Homonymy causes problems for NLP Information retrieval Machine Translation bat: murciélago (animal) or bate (for baseball) bass (stringed instrument) vs.</a:t>
            </a:r>
          </a:p>
          <a:p>
            <a:r>
              <a:t>  - bass (fish)</a:t>
            </a:r>
          </a:p>
          <a:p/>
          <a:p>
            <a:r>
              <a:t>Pause: ask the class what they already know about “Homonymy creates challenges for NLP, information retrieval, and machine translation” before revealing the slide.</a:t>
            </a:r>
          </a:p>
          <a:p/>
          <a:p>
            <a:r>
              <a:t>Wording matters here — slow down, keep it precise.</a:t>
            </a:r>
          </a:p>
          <a:p/>
          <a:p>
            <a:r>
              <a:t>~47s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Symmetric relations:</a:t>
            </a:r>
          </a:p>
          <a:p>
            <a:r>
              <a:t>  2. Synonyms: couch/sofa Two lemmas with the same sense</a:t>
            </a:r>
          </a:p>
          <a:p>
            <a:r>
              <a:t>  3. Antonyms: cold/hot, rise/fall, in/out Two lemmas with the opposite sense</a:t>
            </a:r>
          </a:p>
          <a:p>
            <a:r>
              <a:t>  4. Hierarchical relations:</a:t>
            </a:r>
          </a:p>
          <a:p>
            <a:r>
              <a:t>  5. Hypernyms and hyponyms: pet/dog The hyponym (dog) is more specific than the hypernym (pet)</a:t>
            </a:r>
          </a:p>
          <a:p>
            <a:r>
              <a:t>  6. Holonyms and meronyms: car/wheel The meronym (wheel) is a part of the holonym (car)</a:t>
            </a:r>
          </a:p>
          <a:p/>
          <a:p>
            <a:r>
              <a:t>Read these exactly (do not paraphrase):</a:t>
            </a:r>
          </a:p>
          <a:p>
            <a:r>
              <a:t>  - Senses relate through symmetry, hierarchy, or part-whole connections Symmetric relations: Synonyms: couch/sofa Two lemmas with the same sense Antonyms: cold/hot, rise/fall, in/out Two lemmas with the opposite sense Hierarchical relations: Hypernyms and hyponyms: pet/dog The hyponym (dog) is more specific than the hypernym (pet) Holonyms and meronyms: car/wheel The meronym (wheel) is a part of the holonym (car)</a:t>
            </a:r>
          </a:p>
          <a:p/>
          <a:p>
            <a:r>
              <a:t>Say what these mean, in your own words:</a:t>
            </a:r>
          </a:p>
          <a:p>
            <a:r>
              <a:t>  - hypernym: a general category that includes more specific terms</a:t>
            </a:r>
          </a:p>
          <a:p>
            <a:r>
              <a:t>  - holonym: a whole that contains other parts, like a car containing wheels</a:t>
            </a:r>
          </a:p>
          <a:p/>
          <a:p>
            <a:r>
              <a:t>Pause: ask the class what they already know about “Senses relate through symmetry, hierarchy, or part-whole connections”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Words that have the same meaning in some or all contexts.</a:t>
            </a:r>
          </a:p>
          <a:p>
            <a:r>
              <a:t>  2. filbert / hazelnut</a:t>
            </a:r>
          </a:p>
          <a:p>
            <a:r>
              <a:t>  3. couch / sofa</a:t>
            </a:r>
          </a:p>
          <a:p>
            <a:r>
              <a:t>  4. big / large</a:t>
            </a:r>
          </a:p>
          <a:p>
            <a:r>
              <a:t>  5. automobile / car</a:t>
            </a:r>
          </a:p>
          <a:p>
            <a:r>
              <a:t>  6. vomit / throw up</a:t>
            </a:r>
          </a:p>
          <a:p>
            <a:r>
              <a:t>  7. Water / H20</a:t>
            </a:r>
          </a:p>
          <a:p/>
          <a:p>
            <a:r>
              <a:t>Read these exactly (do not paraphrase):</a:t>
            </a:r>
          </a:p>
          <a:p>
            <a:r>
              <a:t>  - filbert / hazelnut couch / sofa big / large automobile / car vomit / throw up Water / H20 Two words are synonyms if they can be substituted for each other in all situations (strict/perfect definition).</a:t>
            </a:r>
          </a:p>
          <a:p/>
          <a:p>
            <a:r>
              <a:t>Pause: ask the class what they already know about “Synonyms are words that can replace each other in many contexts”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But there are few (or no) examples of perfect synonymy.</a:t>
            </a:r>
          </a:p>
          <a:p>
            <a:r>
              <a:t>  2. Even if many aspects of meaning are identical</a:t>
            </a:r>
          </a:p>
          <a:p>
            <a:r>
              <a:t>  3. Still may not preserve the acceptability based on notions of politeness, slang, register, genre, etc.</a:t>
            </a:r>
          </a:p>
          <a:p/>
          <a:p>
            <a:r>
              <a:t>Read these exactly (do not paraphrase):</a:t>
            </a:r>
          </a:p>
          <a:p>
            <a:r>
              <a:t>  - Perfect synonymy is rare because social factors affect word acceptability But there are few (or no) examples of perfect synonymy.</a:t>
            </a:r>
          </a:p>
          <a:p/>
          <a:p>
            <a:r>
              <a:t>Pause: ask the class what they already know about “Perfect synonymy is rare because social factors affect word acceptability” before revealing the slide.</a:t>
            </a:r>
          </a:p>
          <a:p/>
          <a:p>
            <a:r>
              <a:t>Wording matters here — slow down, keep it precise.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between senses rather than words</a:t>
            </a:r>
          </a:p>
          <a:p>
            <a:r>
              <a:t>  2. Consider the words big and large Are they synonyms?</a:t>
            </a:r>
          </a:p>
          <a:p>
            <a:r>
              <a:t>  3. How big is that plane?</a:t>
            </a:r>
          </a:p>
          <a:p>
            <a:r>
              <a:t>  4. Would | be flying on a large or small plane?</a:t>
            </a:r>
          </a:p>
          <a:p>
            <a:r>
              <a:t>  5. How about here:</a:t>
            </a:r>
          </a:p>
          <a:p>
            <a:r>
              <a:t>  6. Miss Nelson became a kind of big sister to Benjamin.</a:t>
            </a:r>
          </a:p>
          <a:p>
            <a:r>
              <a:t>  7. Miss Nelson became a kind of large sister to Benjamin.</a:t>
            </a:r>
          </a:p>
          <a:p/>
          <a:p>
            <a:r>
              <a:t>Pause: ask the class what they already know about “Synonymy is a relation between senses, not whole words”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Senses that are opposites with respect to one feature of meaning</a:t>
            </a:r>
          </a:p>
          <a:p>
            <a:r>
              <a:t>  2. Otherwise, they are very similar!</a:t>
            </a:r>
          </a:p>
          <a:p>
            <a:r>
              <a:t>  3. More formally: antonyms can</a:t>
            </a:r>
          </a:p>
          <a:p>
            <a:r>
              <a:t>  4. define a binary opposition or be at opposite ends of a scale</a:t>
            </a:r>
          </a:p>
          <a:p/>
          <a:p>
            <a:r>
              <a:t>Pause: ask the class what they already know about “Antonyms are senses that oppose each other on a specific feature”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Hyponym: the sense is a subclass of another sense</a:t>
            </a:r>
          </a:p>
          <a:p>
            <a:r>
              <a:t>  2. caris ahyponym of vehicle</a:t>
            </a:r>
          </a:p>
          <a:p>
            <a:r>
              <a:t>  3. dog is a hyponym of animal</a:t>
            </a:r>
          </a:p>
          <a:p>
            <a:r>
              <a:t>  4. mango is a hyponym of fruit</a:t>
            </a:r>
          </a:p>
          <a:p>
            <a:r>
              <a:t>  5. Hypernym: the sense is a superclass vehicle is a hypernym of car</a:t>
            </a:r>
          </a:p>
          <a:p>
            <a:r>
              <a:t>  6. animal is a hypernym of dog fruitis ahypernym of mango</a:t>
            </a:r>
          </a:p>
          <a:p>
            <a:r>
              <a:t>  7. hypernym hyponym</a:t>
            </a:r>
          </a:p>
          <a:p/>
          <a:p>
            <a:r>
              <a:t>Pause: ask the class what they already know about “Hyponyms are specific instances of a hypernym, forming a subclass relationship”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Classify the following examples in terms of what lexical semantic relation they exhibit cold freezing they’re their hair</a:t>
            </a:r>
          </a:p>
          <a:p>
            <a:r>
              <a:t>  2. George Clooney actor</a:t>
            </a:r>
          </a:p>
          <a:p/>
          <a:p>
            <a:r>
              <a:t>Read these exactly (do not paraphrase):</a:t>
            </a:r>
          </a:p>
          <a:p>
            <a:r>
              <a:t>  - Classifying words reveals whether they are hyponyms, hypernyms, or other relations Classify the following examples in terms of what lexical semantic relation they exhibit cold freezing they’re their hair head enemy friend cut (hair) cut (bread) George Clooney actor</a:t>
            </a:r>
          </a:p>
          <a:p/>
          <a:p>
            <a:r>
              <a:t>Pause: ask the class what they already know about “Classifying words reveals whether they are hyponyms, hypernyms, or other relations” before revealing the slide.</a:t>
            </a:r>
          </a:p>
          <a:p/>
          <a:p>
            <a:r>
              <a:t>Wording matters here — slow down, keep it precise.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Very large lexical database of English: 110K nouns, 11K verbs, 22K adjectives, 4.5K adverbs (WordNets for many other lan</a:t>
            </a:r>
          </a:p>
          <a:p>
            <a:r>
              <a:t>  2. Word senses grouped into synonym sets (“synsets”) linked into a conceptual-semantic hierarchy 81K noun synsets, 13K verb</a:t>
            </a:r>
          </a:p>
          <a:p>
            <a:r>
              <a:t>  3. Conceptual-semantic relations: hypernym/hyponym also holonym/meronym Also lexical relations, in particular lemmatization</a:t>
            </a:r>
          </a:p>
          <a:p>
            <a:r>
              <a:t>  4. Available at http://wordnet.princeton.edu</a:t>
            </a:r>
          </a:p>
          <a:p/>
          <a:p>
            <a:r>
              <a:t>Read these exactly (do not paraphrase):</a:t>
            </a:r>
          </a:p>
          <a:p>
            <a:r>
              <a:t>  - WordNet organizes English word senses into synonym sets linked by semantic relations Very large lexical database of English: 110K nouns, 11K verbs, 22K adjectives, 4.5K adverbs (WordNets for many other languages exist or are under construction) Word senses grouped into synonym sets (“synsets”) linked into a conceptual-semantic hierarchy 81K noun synsets, 13K verb synsets, 19K adj.</a:t>
            </a:r>
          </a:p>
          <a:p/>
          <a:p>
            <a:r>
              <a:t>Say what these mean, in your own words:</a:t>
            </a:r>
          </a:p>
          <a:p>
            <a:r>
              <a:t>  - Synset: A synonym set grouping words with identical meanings into a conceptual-semantic hierarchy.</a:t>
            </a:r>
          </a:p>
          <a:p>
            <a:r>
              <a:t>  - Hypernym: A word with a broad meaning that subsumes more specific concepts.</a:t>
            </a:r>
          </a:p>
          <a:p/>
          <a:p>
            <a:r>
              <a:t>Pause: ask the class what they already know about “WordNet organizes English word senses into synonym sets linked by semantic relations”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WordNet Search - 3.0 - WordNet home page - Glossary - Help Word to search for: bass (Search WordNet)</a:t>
            </a:r>
          </a:p>
          <a:p>
            <a:r>
              <a:t>  2. Key: "S:" = Show Synset (semantic) relations, "W:" = Show Word (lexical) relations</a:t>
            </a:r>
          </a:p>
          <a:p>
            <a:r>
              <a:t>  3. Noun</a:t>
            </a:r>
          </a:p>
          <a:p>
            <a:r>
              <a:t>  4. (n) bass (the lowest part of the musical range)</a:t>
            </a:r>
          </a:p>
          <a:p>
            <a:r>
              <a:t>  5. S: (n) bass, bass part (the lowest part in polyphonic music)</a:t>
            </a:r>
          </a:p>
          <a:p>
            <a:r>
              <a:t>  6. S: (n) bass, basso (an adult male singer with the lowest voice)</a:t>
            </a:r>
          </a:p>
          <a:p>
            <a:r>
              <a:t>  7. S: (n) sea bass, bass (the lean flesh of a saltwater fish of the family Serranidae)</a:t>
            </a:r>
          </a:p>
          <a:p/>
          <a:p>
            <a:r>
              <a:t>Read these exactly (do not paraphrase):</a:t>
            </a:r>
          </a:p>
          <a:p>
            <a:r>
              <a:t>  - Display Options: | (Select option to change) 8 (Change ) WordNet Search - 3.0 - WordNet home page - Glossary - Help Word to search for: bass (Search WordNet) Key: "S:" = Show Synset (semantic) relations, "W:" = Show Word (lexical) relations Noun (n) bass (the lowest part of the musical range) S: (n) bass, bass part (the lowest part in polyphonic music) S: (n) bass, basso (an adult male singer with the lowest voice) S: (n) sea bass, bass (the lean flesh of a saltwater fish of the family Serranidae) S: (n) freshwater bass, bass (any of various North American freshwater fish with lean flesh (especially of the genus Micropterus)) S: (n) bass, bass voice, basso (the lowest adult male singing voice) (n) bass (the member with the lowest range of a family of musical instruments) S: (n) bass (nontechnical name for any of numerous edible marine and freshwater spiny-finned fishes) Adjective S: (adj) bass, deep (having or denoting a low vocal or instrumental range) "a deep voice"; "a bass voice is lower than a baritone voice"; "a bass clarinet" WordNet home page</a:t>
            </a:r>
          </a:p>
          <a:p/>
          <a:p>
            <a:r>
              <a:t>Pause: ask the class what they already know about “Display Options: | (Select option to change) 8 (Change )”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Hypernym/hyponym (between concepts) The more general ‘meal’ is a hypernym of</a:t>
            </a:r>
          </a:p>
          <a:p>
            <a:r>
              <a:t>  2. the more specific ‘breakfast’</a:t>
            </a:r>
          </a:p>
          <a:p>
            <a:r>
              <a:t>  3. Instance hypernym/hyponym (between concepts and instances) Austen is an instance hyponym of author</a:t>
            </a:r>
          </a:p>
          <a:p>
            <a:r>
              <a:t>  4. Member holonym/meronym (groups and members) professor is a member meronym of (a university’s) faculty</a:t>
            </a:r>
          </a:p>
          <a:p>
            <a:r>
              <a:t>  5. Part holonym/meronym (wholes and parts) wheel is a part meronym of (is a part of) car.</a:t>
            </a:r>
          </a:p>
          <a:p>
            <a:r>
              <a:t>  6. Substance meronym/holonym (substances and components) flour is a substance meronym of (is made of) bread</a:t>
            </a:r>
          </a:p>
          <a:p/>
          <a:p>
            <a:r>
              <a:t>Read these exactly (do not paraphrase):</a:t>
            </a:r>
          </a:p>
          <a:p>
            <a:r>
              <a:t>  - Noun synsets connect through hierarchical relations like hypernyms meronyms and holonyms Hypernym/hyponym (between concepts) The more general ‘meal’ is a hypernym of the more specific ‘breakfast’ Instance hypernym/hyponym (between concepts and instances) Austen is an instance hyponym of author Member holonym/meronym (groups and members) professor is a member meronym of (a university’s) faculty Part holonym/meronym (wholes and parts) wheel is a part meronym of (is a part of) car.</a:t>
            </a:r>
          </a:p>
          <a:p>
            <a:r>
              <a:t>  - Substance meronym/holonym (substances and components) flour is a substance meronym of (is made of) bread</a:t>
            </a:r>
          </a:p>
          <a:p/>
          <a:p>
            <a:r>
              <a:t>Say what these mean, in your own words:</a:t>
            </a:r>
          </a:p>
          <a:p>
            <a:r>
              <a:t>  - Meronym: A term denoting a part of a larger whole, such as wheel for a car.</a:t>
            </a:r>
          </a:p>
          <a:p>
            <a:r>
              <a:t>  - Holonym: A term denoting a whole whose parts are represented by other words.</a:t>
            </a:r>
          </a:p>
          <a:p/>
          <a:p>
            <a:r>
              <a:t>Pause: ask the class what they already know about “Noun synsets connect through hierarchical relations like hypernyms meronyms and holonyms”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Hypernym/troponym (between events): travel/fly, walk/stroll Flying is a troponym of traveling: it denotes a specific man</a:t>
            </a:r>
          </a:p>
          <a:p>
            <a:r>
              <a:t>  2. Entailment (between events): snore/sleep Snoring entails (presupposes) sleeping</a:t>
            </a:r>
          </a:p>
          <a:p>
            <a:r>
              <a:t>  3. Verbs connect through specific hierarchical relations that describe events.</a:t>
            </a:r>
          </a:p>
          <a:p>
            <a:r>
              <a:t>  4. A troponym specifies the manner of an action, while entailment shows that one event presupposes another.</a:t>
            </a:r>
          </a:p>
          <a:p>
            <a:r>
              <a:t>  5. Example: Flying is a troponym of traveling because it describes a specific manner of travel.</a:t>
            </a:r>
          </a:p>
          <a:p/>
          <a:p>
            <a:r>
              <a:t>Read these exactly (do not paraphrase):</a:t>
            </a:r>
          </a:p>
          <a:p>
            <a:r>
              <a:t>  - Verb synsets utilize hypernym troponym and entailment relations to connect events Hypernym/troponym (between events): travel/fly, walk/stroll Flying is a troponym of traveling: it denotes a specific manner of traveling Entailment (between events): snore/sleep Snoring entails (presupposes) sleeping Verbs connect through specific hierarchical relations that describe events.</a:t>
            </a:r>
          </a:p>
          <a:p/>
          <a:p>
            <a:r>
              <a:t>Say what these mean, in your own words:</a:t>
            </a:r>
          </a:p>
          <a:p>
            <a:r>
              <a:t>  - Troponym: A verb describing a specific manner of doing a more general action.</a:t>
            </a:r>
          </a:p>
          <a:p>
            <a:r>
              <a:t>  - Entailment: A relation where one event logically presupposes the occurrence of another.</a:t>
            </a:r>
          </a:p>
          <a:p/>
          <a:p>
            <a:r>
              <a:t>Pause: ask the class what they already know about “Verb synsets utilize hypernym troponym and entailment relations to connect events” before revealing the slide.</a:t>
            </a:r>
          </a:p>
          <a:p/>
          <a:p>
            <a:r>
              <a:t>~47s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5S: (n) bass (the lowest part of the musical range)</a:t>
            </a:r>
          </a:p>
          <a:p>
            <a:r>
              <a:t>  2. direct hypernym | inherited hypernym / sister term</a:t>
            </a:r>
          </a:p>
          <a:p>
            <a:r>
              <a:t>  3. S: (n) pitch (the property of sound that varies with variation in the frequency of vibration)</a:t>
            </a:r>
          </a:p>
          <a:p>
            <a:r>
              <a:t>  4. S: (n) sound property (an attribute of sound)</a:t>
            </a:r>
          </a:p>
          <a:p>
            <a:r>
              <a:t>  5. S: (n) property (a basic or essential attribute shared by all members of a class) "a stuc</a:t>
            </a:r>
          </a:p>
          <a:p>
            <a:r>
              <a:t>  6. S: attribute (an abstraction belonging to or characteristic of an entity)</a:t>
            </a:r>
          </a:p>
          <a:p>
            <a:r>
              <a:t>  7. S: (n) abstraction, abstract entity (a general concept formed by extractins</a:t>
            </a:r>
          </a:p>
          <a:p/>
          <a:p>
            <a:r>
              <a:t>Read these exactly (do not paraphrase):</a:t>
            </a:r>
          </a:p>
          <a:p>
            <a:r>
              <a:t>  - Direct and inherited hypernyms link verb synsets to broader abstract concepts 5S: (n) bass (the lowest part of the musical range) direct hypernym | inherited hypernym / sister term S: (n) pitch (the property of sound that varies with variation in the frequency of vibration) S: (n) sound property (an attribute of sound) S: (n) property (a basic or essential attribute shared by all members of a class) "a stuc S: attribute (an abstraction belonging to or characteristic of an entity) S: (n) abstraction, abstract entity (a general concept formed by extractins S: (a) entity (that which is perceived or known or inferred to have S: (n) bass, bass part (the lowest part in polyphonic music)</a:t>
            </a:r>
          </a:p>
          <a:p/>
          <a:p>
            <a:r>
              <a:t>Say what these mean, in your own words:</a:t>
            </a:r>
          </a:p>
          <a:p>
            <a:r>
              <a:t>  - Direct hypernym: The immediate broader category or parent concept of a given term.</a:t>
            </a:r>
          </a:p>
          <a:p>
            <a:r>
              <a:t>  - Inherited hypernym: A higher-level category passed down through multiple hierarchical levels.</a:t>
            </a:r>
          </a:p>
          <a:p/>
          <a:p>
            <a:r>
              <a:t>Pause: ask the class what they already know about “Direct and inherited hypernyms link verb synsets to broader abstract concepts”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direct hyponym / full hyponym</a:t>
            </a:r>
          </a:p>
          <a:p>
            <a:r>
              <a:t>  2. S: (a) ground bass (a short melody in the bass that is constantly repeated) S: (n) figured bass, basso continuo, continu</a:t>
            </a:r>
          </a:p>
          <a:p>
            <a:r>
              <a:t>  3. S: (n) part, voice (the melody carried by a particular voice or instrument in polyphonic music) "he</a:t>
            </a:r>
          </a:p>
          <a:p>
            <a:r>
              <a:t>  4. S:(n) tune, melody, air, strain, melodic line, line, melodic phrase (a succession of notes for</a:t>
            </a:r>
          </a:p>
          <a:p>
            <a:r>
              <a:t>  5. S: (n) music (an artistic form of auditory communication incorporating instrumental «</a:t>
            </a:r>
          </a:p>
          <a:p>
            <a:r>
              <a:t>  6. S: (n) auditory communication (communication that relies on hearing)</a:t>
            </a:r>
          </a:p>
          <a:p>
            <a:r>
              <a:t>  7. S: (n) communication (something that is communicated by or to or betw</a:t>
            </a:r>
          </a:p>
          <a:p/>
          <a:p>
            <a:r>
              <a:t>Read these exactly (do not paraphrase):</a:t>
            </a:r>
          </a:p>
          <a:p>
            <a:r>
              <a:t>  - Direct and full hyponyms organize specific terms under broader conceptual categories direct hyponym / full hyponym S: (a) ground bass (a short melody in the bass that is constantly repeated) S: (n) figured bass, basso continuo, continuo, thorough bass (a bass part written out in full and acc S: (n) part, voice (the melody carried by a particular voice or instrument in polyphonic music) "he S:(n) tune, melody, air, strain, melodic line, line, melodic phrase (a succession of notes for S: (n) music (an artistic form of auditory communication incorporating instrumental « S: (n) auditory communication (communication that relies on hearing) S: (n) communication (something that is communicated by or to or betw S: (n) abstraction, abstract entity (a general concept formed by ext S: (n) entity (that which is perceived or known or inferred tc</a:t>
            </a:r>
          </a:p>
          <a:p/>
          <a:p>
            <a:r>
              <a:t>Say what these mean, in your own words:</a:t>
            </a:r>
          </a:p>
          <a:p>
            <a:r>
              <a:t>  - Direct hyponym: An immediately more specific sub-concept belonging to a broader category.</a:t>
            </a:r>
          </a:p>
          <a:p>
            <a:r>
              <a:t>  - Full hyponym: A specific sub-concept positioned lower in the hierarchical taxonomy.</a:t>
            </a:r>
          </a:p>
          <a:p/>
          <a:p>
            <a:r>
              <a:t>Pause: ask the class what they already know about “Direct and full hyponyms organize specific terms under broader conceptual categories”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these mean, in your own words:</a:t>
            </a:r>
          </a:p>
          <a:p>
            <a:r>
              <a:t>  - Word sense disambiguation: important method of NLP by which the meaning of a word is determined, which is used in a particular context</a:t>
            </a:r>
          </a:p>
          <a:p/>
          <a:p>
            <a:r>
              <a:t>Pause: ask the class what they already know about “Hierarchical synset RELATIONS:VERBS: WORD SENSE DISAMBIGUATION”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“Word sense disambiguation” before revealing the slide.</a:t>
            </a:r>
          </a:p>
          <a:p/>
          <a:p>
            <a:r>
              <a:t>~19s</a:t>
            </a:r>
          </a:p>
          <a:p>
            <a:r>
              <a:t>Text in the figure: What does this word mean? This needs to be watered each day. = living plant This manufactures 1000 widgets each day. = factory</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task of selecting the correct sense for a word is called word sense disambiguation, or WSD. word sense.</a:t>
            </a:r>
          </a:p>
          <a:p>
            <a:r>
              <a:t>  2. Word Sense Disambiguation is an important method of NLP by which the meaning of a word is determined, which is used in a</a:t>
            </a:r>
          </a:p>
          <a:p>
            <a:r>
              <a:t>  3. NLP systems often face the challenge of properly identifying words, and determining the specific usage of a word in a pa</a:t>
            </a:r>
          </a:p>
          <a:p>
            <a:r>
              <a:t>  4. Word Sense Disambiguation basically solves the ambiguity that arises in determining the meaning of the same word used in</a:t>
            </a:r>
          </a:p>
          <a:p/>
          <a:p>
            <a:r>
              <a:t>Say what these mean, in your own words:</a:t>
            </a:r>
          </a:p>
          <a:p>
            <a:r>
              <a:t>  - wsd: Word Sense Disambiguation</a:t>
            </a:r>
          </a:p>
          <a:p>
            <a:r>
              <a:t>  - Word Sense Disambiguation: The computational task of identifying which meaning of a polysemous word is used in context.</a:t>
            </a:r>
          </a:p>
          <a:p>
            <a:r>
              <a:t>  - Ambiguity: The presence of multiple possible interpretations for the same word.</a:t>
            </a:r>
          </a:p>
          <a:p/>
          <a:p>
            <a:r>
              <a:t>Pause: ask the class what they already know about “Word sense disambiguation selects the correct word meaning based on context”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“The data” before revealing the slide.</a:t>
            </a:r>
          </a:p>
          <a:p/>
          <a:p>
            <a:r>
              <a:t>~19s</a:t>
            </a:r>
          </a:p>
          <a:p>
            <a:r>
              <a:t>Text in the figure: ? ~, company said the plant is still operating</a:t>
            </a:r>
          </a:p>
          <a:p>
            <a:r>
              <a:t>? Although thousands of plant and animal species</a:t>
            </a:r>
          </a:p>
          <a:p>
            <a:r>
              <a:t>7 +. zonal distribution of plant life . ...</a:t>
            </a:r>
          </a:p>
          <a:p/>
          <a:p>
            <a:r>
              <a:t>? ... to strain microscopic plant life from the ...</a:t>
            </a:r>
          </a:p>
          <a:p/>
          <a:p>
            <a:r>
              <a:t>2 vinyl chloride monomer plant , which is ...</a:t>
            </a:r>
          </a:p>
          <a:p/>
          <a:p>
            <a:r>
              <a:t>? and Golgi apparatus of plant and animal cells</a:t>
            </a:r>
          </a:p>
          <a:p>
            <a:r>
              <a:t>? .. computer disk drive plant located in ...</a:t>
            </a:r>
          </a:p>
          <a:p/>
          <a:p>
            <a:r>
              <a:t>? ... divide life into plant and animal kingdom</a:t>
            </a:r>
          </a:p>
          <a:p>
            <a:r>
              <a:t>? ... close-up studies of plant life and natural</a:t>
            </a:r>
          </a:p>
          <a:p/>
          <a:p>
            <a:r>
              <a:t>2 ... Nissan car and truck plant in Japan is ...</a:t>
            </a:r>
          </a:p>
          <a:p/>
          <a:p>
            <a:r>
              <a:t>? ... keep a manufacturing plant profitable without</a:t>
            </a:r>
          </a:p>
          <a:p>
            <a:r>
              <a:t>? .. molecules found in plant and animal tissue</a:t>
            </a:r>
          </a:p>
          <a:p>
            <a:r>
              <a:t>? .. union respo</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The data (continued)</a:t>
            </a:r>
          </a:p>
          <a:p/>
          <a:p>
            <a:r>
              <a:t>Pause: ask the class what they already know about “The data (continued)” before revealing the slide.</a:t>
            </a:r>
          </a:p>
          <a:p/>
          <a:p>
            <a:r>
              <a:t>Wording matters here — slow down, keep it precise.</a:t>
            </a:r>
          </a:p>
          <a:p/>
          <a:p>
            <a:r>
              <a:t>~19s</a:t>
            </a:r>
          </a:p>
          <a:p>
            <a:r>
              <a:t>Text in the figure: electric’: using lectricit electric? tense electric*®: 000 an electric off to one side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One meaning of the word refers to the outer covering of the tree.</a:t>
            </a:r>
          </a:p>
          <a:p>
            <a:r>
              <a:t>  2. The other meaning refers to the sound made by a dog. here the same word has different meanings.</a:t>
            </a:r>
          </a:p>
          <a:p>
            <a:r>
              <a:t>  3. Let us take a piece of text:</a:t>
            </a:r>
          </a:p>
          <a:p>
            <a:r>
              <a:t>  4. “Cinnamon comes from the bark of the Cinnamon tree.”</a:t>
            </a:r>
          </a:p>
          <a:p>
            <a:r>
              <a:t>  5. “The dog barked at the stranger.”</a:t>
            </a:r>
          </a:p>
          <a:p>
            <a:r>
              <a:t>  6. Let us now try a sentence with both words:</a:t>
            </a:r>
          </a:p>
          <a:p>
            <a:r>
              <a:t>  7. “The dog was scratching the bark of the tree, when the man approached the dog to make it stop, the dog barked.”</a:t>
            </a:r>
          </a:p>
          <a:p/>
          <a:p>
            <a:r>
              <a:t>Read these exactly (do not paraphrase):</a:t>
            </a:r>
          </a:p>
          <a:p>
            <a:r>
              <a:t>  - Context determines the correct meaning of ambiguous words like bark One meaning of the word refers to the outer covering of the tree.</a:t>
            </a:r>
          </a:p>
          <a:p>
            <a:r>
              <a:t>  - The other meaning refers to the sound made by a dog.</a:t>
            </a:r>
          </a:p>
          <a:p>
            <a:r>
              <a:t>  - Let us take a piece of text: “Cinnamon comes from the bark of the Cinnamon tree.”</a:t>
            </a:r>
          </a:p>
          <a:p>
            <a:r>
              <a:t>  - “The dog barked at the stranger.”</a:t>
            </a:r>
          </a:p>
          <a:p/>
          <a:p>
            <a:r>
              <a:t>Say what these mean, in your own words:</a:t>
            </a:r>
          </a:p>
          <a:p>
            <a:r>
              <a:t>  - Sentiment analysis: An automated process used to determine the emotional tone or meaning behind text.</a:t>
            </a:r>
          </a:p>
          <a:p>
            <a:r>
              <a:t>  - Context: The surrounding text that clarifies the intended meaning of a specific word.</a:t>
            </a:r>
          </a:p>
          <a:p/>
          <a:p>
            <a:r>
              <a:t>Pause: ask the class what they already know about “Context determines the correct meaning of ambiguous words like bark”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Machine Learning</a:t>
            </a:r>
          </a:p>
          <a:p>
            <a:r>
              <a:t>  2. Thesaurus/Dictionary Methods</a:t>
            </a:r>
          </a:p>
          <a:p>
            <a:r>
              <a:t>  3. Semi-Supervised Learning</a:t>
            </a:r>
          </a:p>
          <a:p>
            <a:r>
              <a:t>  4. Researchers use multiple computational approaches to solve the disambiguation challenge.</a:t>
            </a:r>
          </a:p>
          <a:p>
            <a:r>
              <a:t>  5. These methods range from dictionary-based resources to machine learning models trained on annotated corpora.</a:t>
            </a:r>
          </a:p>
          <a:p>
            <a:r>
              <a:t>  6. Example: Training an algorithm using a dictionary of pre-labeled word senses.</a:t>
            </a:r>
          </a:p>
          <a:p/>
          <a:p>
            <a:r>
              <a:t>Say what these mean, in your own words:</a:t>
            </a:r>
          </a:p>
          <a:p>
            <a:r>
              <a:t>  - Supervised Machine Learning: Training an algorithm using labeled examples to classify new data.</a:t>
            </a:r>
          </a:p>
          <a:p>
            <a:r>
              <a:t>  - Thesaurus/Dictionary Methods: Approaches using lexical resources and semantic definitions to determine word meanings.</a:t>
            </a:r>
          </a:p>
          <a:p/>
          <a:p>
            <a:r>
              <a:t>Pause: ask the class what they already know about “Word sense disambiguation relies on supervised thesaurus and semi-supervised methods”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machine learning approach:</a:t>
            </a:r>
          </a:p>
          <a:p>
            <a:r>
              <a:t>  2. a training corpus of words tagged in context with their sense</a:t>
            </a:r>
          </a:p>
          <a:p>
            <a:r>
              <a:t>  3. used to train a classifier that can tag words in new text</a:t>
            </a:r>
          </a:p>
          <a:p>
            <a:r>
              <a:t>  4. Summary of what we need:</a:t>
            </a:r>
          </a:p>
          <a:p>
            <a:r>
              <a:t>  5. the tag set (“sense inventory”)</a:t>
            </a:r>
          </a:p>
          <a:p>
            <a:r>
              <a:t>  6. the training corpus</a:t>
            </a:r>
          </a:p>
          <a:p>
            <a:r>
              <a:t>  7. A set of features extracted from the training corpus</a:t>
            </a:r>
          </a:p>
          <a:p/>
          <a:p>
            <a:r>
              <a:t>Read these exactly (do not paraphrase):</a:t>
            </a:r>
          </a:p>
          <a:p>
            <a:r>
              <a:t>  - Supervised machine learning approaches train classifiers using tagged word corpora Supervised machine learning approach: a training corpus of words tagged in context with their sense used to train a classifier that can tag words in new text Summary of what we need: the tag set (“sense inventory”) the training corpus A set of features extracted from the training corpus A classifier</a:t>
            </a:r>
          </a:p>
          <a:p/>
          <a:p>
            <a:r>
              <a:t>Say what these mean, in your own words:</a:t>
            </a:r>
          </a:p>
          <a:p>
            <a:r>
              <a:t>  - Training corpus: A collection of annotated text used to teach a machine learning model.</a:t>
            </a:r>
          </a:p>
          <a:p>
            <a:r>
              <a:t>  - Classifier: An algorithm that assigns a categorical label to input data based on features.</a:t>
            </a:r>
          </a:p>
          <a:p/>
          <a:p>
            <a:r>
              <a:t>Pause: ask the class what they already know about “Supervised machine learning approaches train classifiers using tagged word corpora”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What’s a tag? A dictionary sense?</a:t>
            </a:r>
          </a:p>
          <a:p>
            <a:r>
              <a:t>  2. For example, for WordNet an instance of “bass” in a text has 8 possible tags or labels (bass1 through bass8).</a:t>
            </a:r>
          </a:p>
          <a:p>
            <a:r>
              <a:t>  3. Tags serve as discrete labels that indicate the exact dictionary definition intended for a word occurrence.</a:t>
            </a:r>
          </a:p>
          <a:p>
            <a:r>
              <a:t>  4. For example, a word with multiple entries will have distinct tags for each possible meaning.</a:t>
            </a:r>
          </a:p>
          <a:p>
            <a:r>
              <a:t>  5. Example: Labeling an instance of bass with 'bass1' to indicate the lowest musical part.</a:t>
            </a:r>
          </a:p>
          <a:p/>
          <a:p>
            <a:r>
              <a:t>Read these exactly (do not paraphrase):</a:t>
            </a:r>
          </a:p>
          <a:p>
            <a:r>
              <a:t>  - For example, for WordNet an instance of “bass” in a text has 8 possible tags or labels (bass1 through bass8).</a:t>
            </a:r>
          </a:p>
          <a:p/>
          <a:p>
            <a:r>
              <a:t>Say what these mean, in your own words:</a:t>
            </a:r>
          </a:p>
          <a:p>
            <a:r>
              <a:t>  - Tag: A label assigned to a word in text to denote its specific sense.</a:t>
            </a:r>
          </a:p>
          <a:p>
            <a:r>
              <a:t>  - Sense inventory: The complete set of possible meaning definitions available for words in a lexicon.</a:t>
            </a:r>
          </a:p>
          <a:p/>
          <a:p>
            <a:r>
              <a:t>Pause: ask the class what they already know about “WSD tags represent specific dictionary senses assigned to words in text” before revealing the slide.</a:t>
            </a:r>
          </a:p>
          <a:p/>
          <a:p>
            <a:r>
              <a:t>~47s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bass --(the lowest part of the musical range) 2. bass, bass part --(the lowest part in polyphonic music) 3. bass, bas</a:t>
            </a:r>
          </a:p>
          <a:p>
            <a:r>
              <a:t>  2. Serranidae)</a:t>
            </a:r>
          </a:p>
          <a:p>
            <a:r>
              <a:t>  3. 5. freshwater bass, bass --(any of various North American lean-fleshed freshwater fishes especially of the genus Micropt</a:t>
            </a:r>
          </a:p>
          <a:p/>
          <a:p>
            <a:r>
              <a:t>Read these exactly (do not paraphrase):</a:t>
            </a:r>
          </a:p>
          <a:p>
            <a:r>
              <a:t>  - bass --(the lowest part of the musical range) 2.</a:t>
            </a:r>
          </a:p>
          <a:p>
            <a:r>
              <a:t>  - bass, bass part --(the lowest part in polyphonic music) 3.</a:t>
            </a:r>
          </a:p>
          <a:p>
            <a:r>
              <a:t>  - bass, basso --(an adult male singer with the lowest voice) 4.</a:t>
            </a:r>
          </a:p>
          <a:p>
            <a:r>
              <a:t>  - sea bass, bass --(flesh of lean-fleshed saltwater fish of the family Serranidae) 5.</a:t>
            </a:r>
          </a:p>
          <a:p/>
          <a:p>
            <a:r>
              <a:t>Pause: ask the class what they already know about “WordNet lists eight distinct semantic senses for the single word bass” before revealing the slide.</a:t>
            </a:r>
          </a:p>
          <a:p/>
          <a:p>
            <a:r>
              <a:t>Wording matters here — slow down, keep it precise.</a:t>
            </a:r>
          </a:p>
          <a:p/>
          <a:p>
            <a:r>
              <a:t>~33s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8”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detail (from the source):</a:t>
            </a:r>
          </a:p>
          <a:p>
            <a:r>
              <a:t>  [TABLE DATA] | WordNet Sense | Spanish Translation | Roget Category | Target Word in Context | | --- | --- | --- | --- | | 4 bass | lubina | / FISH INSECT | .</a:t>
            </a:r>
          </a:p>
          <a:p>
            <a:r>
              <a:t>  .</a:t>
            </a:r>
          </a:p>
          <a:p>
            <a:r>
              <a:t>  .</a:t>
            </a:r>
          </a:p>
          <a:p>
            <a:r>
              <a:t>  fish as Pacific salmon and striped bass and.</a:t>
            </a:r>
          </a:p>
          <a:p>
            <a:r>
              <a:t>  .</a:t>
            </a:r>
          </a:p>
          <a:p>
            <a:r>
              <a:t>  .</a:t>
            </a:r>
          </a:p>
          <a:p>
            <a:r>
              <a:t>  | | 4 bass | lubina | / FISH INSECT | .</a:t>
            </a:r>
          </a:p>
          <a:p>
            <a:r>
              <a:t>  .</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Lexical sample task:</a:t>
            </a:r>
          </a:p>
          <a:p>
            <a:r>
              <a:t>  2. Line-hard-serve corpus --4000 examples of each</a:t>
            </a:r>
          </a:p>
          <a:p>
            <a:r>
              <a:t>  3. Interest corpus --2369 sense-tagged examples</a:t>
            </a:r>
          </a:p>
          <a:p>
            <a:r>
              <a:t>  4. All words:</a:t>
            </a:r>
          </a:p>
          <a:p>
            <a:r>
              <a:t>  5. Semantic concordance: a corpus in which each open-class word is labeled with a sense from a specific dictionary/thesauru</a:t>
            </a:r>
          </a:p>
          <a:p>
            <a:r>
              <a:t>  6. SemCor: 234,000 words from Brown Corpus, manually tagged with WordNet senses</a:t>
            </a:r>
          </a:p>
          <a:p>
            <a:r>
              <a:t>  7. SENSEVAL-3competition corpora --2081 tagged word tokens</a:t>
            </a:r>
          </a:p>
          <a:p/>
          <a:p>
            <a:r>
              <a:t>Say what these mean, in your own words:</a:t>
            </a:r>
          </a:p>
          <a:p>
            <a:r>
              <a:t>  - Semantic concordance: A corpus where each open-class word is labeled with a sense from a dictionary.</a:t>
            </a:r>
          </a:p>
          <a:p>
            <a:r>
              <a:t>  - SemCor: A subset of the Brown Corpus manually tagged with WordNet senses.</a:t>
            </a:r>
          </a:p>
          <a:p/>
          <a:p>
            <a:r>
              <a:t>Pause: ask the class what they already know about “Supervised word sense disambiguation utilizes specific corpora with manually tagged examples”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wf pos=PRP&gt;He&lt;/wf&gt;</a:t>
            </a:r>
          </a:p>
          <a:p>
            <a:r>
              <a:t>  2. wf pos=VB lemma=recognize wnsn=4 lexsn=2:31:00::&gt;recognized&lt;/wf&gt;</a:t>
            </a:r>
          </a:p>
          <a:p>
            <a:r>
              <a:t>  3. wf pos=DT&gt;the&lt;/wf&gt;</a:t>
            </a:r>
          </a:p>
          <a:p>
            <a:r>
              <a:t>  4. wf pos=NN lemma=gesture wnsn=1 lexsn=1:04:00::&gt;gesture&lt;/wf&gt;</a:t>
            </a:r>
          </a:p>
          <a:p>
            <a:r>
              <a:t>  5. punc&gt;.&lt;/punc&gt;</a:t>
            </a:r>
          </a:p>
          <a:p>
            <a:r>
              <a:t>  6. SemCor data explicitly marks the grammatical structure and dictionary meanings of text.</a:t>
            </a:r>
          </a:p>
          <a:p>
            <a:r>
              <a:t>  7. This matters because it gives computational tools precise linguistic annotations to learn from.</a:t>
            </a:r>
          </a:p>
          <a:p/>
          <a:p>
            <a:r>
              <a:t>Read these exactly (do not paraphrase):</a:t>
            </a:r>
          </a:p>
          <a:p>
            <a:r>
              <a:t>  - SemCor corpus entries annotate words with parts of speech and lemmas wf pos=PRP&gt;He&lt;/wf&gt; wf pos=VB lemma=recognize wnsn=4 lexsn=2:31:00::&gt;recognized&lt;/wf&gt; wf pos=DT&gt;the&lt;/wf&gt; wf pos=NN lemma=gesture wnsn=1 lexsn=1:04:00::&gt;gesture&lt;/wf&gt; punc&gt;.&lt;/punc&gt; SemCor data explicitly marks the grammatical structure and dictionary meanings of text.</a:t>
            </a:r>
          </a:p>
          <a:p/>
          <a:p>
            <a:r>
              <a:t>Say what these mean, in your own words:</a:t>
            </a:r>
          </a:p>
          <a:p>
            <a:r>
              <a:t>  - Lemma: The base dictionary form of a word.</a:t>
            </a:r>
          </a:p>
          <a:p>
            <a:r>
              <a:t>  - Part of speech: A category assigned to a word based on its syntactic roles.</a:t>
            </a:r>
          </a:p>
          <a:p/>
          <a:p>
            <a:r>
              <a:t>Pause: ask the class what they already know about “SemCor corpus entries annotate words with parts of speech and lemmas”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WSD 3: EXTRACT FEATURE VECTORS</a:t>
            </a:r>
          </a:p>
          <a:p>
            <a:r>
              <a:t>  2. “If one examines the words in a book, one at a time as through an opaque mask with a hole in it one word wide, then it i</a:t>
            </a:r>
          </a:p>
          <a:p/>
          <a:p>
            <a:r>
              <a:t>Read these exactly (do not paraphrase):</a:t>
            </a:r>
          </a:p>
          <a:p>
            <a:r>
              <a:t>  - Surrounding context words determine the meaning of a target word SUPERVISED WSD 3: EXTRACT FEATURE VECTORS “If one examines the words in a book, one at a time as through an opaque mask with a hole in it one word wide, then it is obviously impossible to determine, one at a time, the meaning of the words… But if one lengthens the slit in the opaque mask, until one can see not only the central word in question but also say N words on either side, then if N is large enough one can unambiguously decide the meaning of the central word… The practical question is: ``What minimum value of N will, at least in a tolerable fraction of cases, lead to the correct choice of meaning for the central word?”</a:t>
            </a:r>
          </a:p>
          <a:p/>
          <a:p>
            <a:r>
              <a:t>Pause: ask the class what they already know about “Surrounding context words determine the meaning of a target word” before revealing the slide.</a:t>
            </a:r>
          </a:p>
          <a:p/>
          <a:p>
            <a:r>
              <a:t>Wording matters here — slow down, keep it precise.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FEATUREVECTORS</a:t>
            </a:r>
          </a:p>
          <a:p>
            <a:r>
              <a:t>  2. A simple representation for each observation (each instance of a target word)</a:t>
            </a:r>
          </a:p>
          <a:p>
            <a:r>
              <a:t>  3. Vectors of sets of feature/value pairs</a:t>
            </a:r>
          </a:p>
          <a:p>
            <a:r>
              <a:t>  4. Represented as a ordered list of values</a:t>
            </a:r>
          </a:p>
          <a:p>
            <a:r>
              <a:t>  5. These vectors represent, e.g., the window of words around the target</a:t>
            </a:r>
          </a:p>
          <a:p>
            <a:r>
              <a:t>  6. Feature vectors organize text observations into structured numerical formats.</a:t>
            </a:r>
          </a:p>
          <a:p>
            <a:r>
              <a:t>  7. This matters because algorithms require mathematical representations instead of raw text to process data.</a:t>
            </a:r>
          </a:p>
          <a:p/>
          <a:p>
            <a:r>
              <a:t>Read these exactly (do not paraphrase):</a:t>
            </a:r>
          </a:p>
          <a:p>
            <a:r>
              <a:t>  - Feature vectors represent target word observations using ordered lists of values FEATUREVECTORS A simple representation for each observation (each instance of a target word) Vectors of sets of feature/value pairs Represented as a ordered list of values These vectors represent, e.g., the window of words around the target Feature vectors organize text observations into structured numerical formats.</a:t>
            </a:r>
          </a:p>
          <a:p/>
          <a:p>
            <a:r>
              <a:t>Say what these mean, in your own words:</a:t>
            </a:r>
          </a:p>
          <a:p>
            <a:r>
              <a:t>  - Feature vector: A simple representation of an observation using an ordered list of feature-value pairs.</a:t>
            </a:r>
          </a:p>
          <a:p/>
          <a:p>
            <a:r>
              <a:t>Pause: ask the class what they already know about “Feature vectors represent target word observations using ordered lists of values”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9”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Collocational features and bag-of-words features</a:t>
            </a:r>
          </a:p>
          <a:p>
            <a:r>
              <a:t>  2. Collocational</a:t>
            </a:r>
          </a:p>
          <a:p>
            <a:r>
              <a:t>  3. Features about words at specific positions near target word</a:t>
            </a:r>
          </a:p>
          <a:p>
            <a:r>
              <a:t>  4. Often limited to just word identity and POS</a:t>
            </a:r>
          </a:p>
          <a:p>
            <a:r>
              <a:t>  5. Bag-of-words</a:t>
            </a:r>
          </a:p>
          <a:p>
            <a:r>
              <a:t>  6. Features about words that occur anywhere in the window (regardless of position)</a:t>
            </a:r>
          </a:p>
          <a:p>
            <a:r>
              <a:t>  7. Typically limited to frequency counts</a:t>
            </a:r>
          </a:p>
          <a:p/>
          <a:p>
            <a:r>
              <a:t>Read these exactly (do not paraphrase):</a:t>
            </a:r>
          </a:p>
          <a:p>
            <a:r>
              <a:t>  - Vector representations utilize both collocational and bag-of-words features Collocational features and bag-of-words features Collocational Features about words at specific positions near target word Often limited to just word identity and POS Bag-of-words Features about words that occur anywhere in the window (regardless of position) Typically limited to frequency counts Feature vectors divide context information into position-dependent and position-independent metrics.</a:t>
            </a:r>
          </a:p>
          <a:p/>
          <a:p>
            <a:r>
              <a:t>Say what these mean, in your own words:</a:t>
            </a:r>
          </a:p>
          <a:p>
            <a:r>
              <a:t>  - Collocational features: Information about words and parts of speech at specific positions near a target.</a:t>
            </a:r>
          </a:p>
          <a:p>
            <a:r>
              <a:t>  - Bag-of-words features: Frequency counts of words occurring anywhere within a surrounding window.</a:t>
            </a:r>
          </a:p>
          <a:p/>
          <a:p>
            <a:r>
              <a:t>Pause: ask the class what they already know about “Vector representations utilize both collocational and bag-of-words features”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EXAMPLES</a:t>
            </a:r>
          </a:p>
          <a:p>
            <a:r>
              <a:t>  2. Example text (WSJ): An electric guitar and bass player stand off to one side not really part of the scene</a:t>
            </a:r>
          </a:p>
          <a:p>
            <a:r>
              <a:t>  3. Assume a window of +/--2 from the target</a:t>
            </a:r>
          </a:p>
          <a:p>
            <a:r>
              <a:t>  4. Example sentences illustrate how to isolate text segments for analysis.</a:t>
            </a:r>
          </a:p>
          <a:p>
            <a:r>
              <a:t>  5. This matters because it establishes a concrete boundary for what context an algorithm examines.</a:t>
            </a:r>
          </a:p>
          <a:p>
            <a:r>
              <a:t>  6. It works by centering on a target word and selecting a fixed number of surrounding words on each side.</a:t>
            </a:r>
          </a:p>
          <a:p>
            <a:r>
              <a:t>  7. Example: Looking two words left and two words right of the target word bass in a sentence.</a:t>
            </a:r>
          </a:p>
          <a:p/>
          <a:p>
            <a:r>
              <a:t>Read these exactly (do not paraphrase):</a:t>
            </a:r>
          </a:p>
          <a:p>
            <a:r>
              <a:t>  - Example text demonstrates establishing a specific context window around a target word EXAMPLES Example text (WSJ): An electric guitar and bass player stand off to one side not really part of the scene Assume a window of +/--2 from the target Example sentences illustrate how to isolate text segments for analysis.</a:t>
            </a:r>
          </a:p>
          <a:p/>
          <a:p>
            <a:r>
              <a:t>Pause: ask the class what they already know about “Example text demonstrates establishing a specific context window around a target word”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EXAMPLES</a:t>
            </a:r>
          </a:p>
          <a:p>
            <a:r>
              <a:t>  2. Example text (WSJ) An electric guitar and bass player stand off to one side not really part of the scene,</a:t>
            </a:r>
          </a:p>
          <a:p>
            <a:r>
              <a:t>  3. Assume a window of +/--2 from the target</a:t>
            </a:r>
          </a:p>
          <a:p>
            <a:r>
              <a:t>  4. Example sentences illustrate how to isolate text segments for analysis.</a:t>
            </a:r>
          </a:p>
          <a:p>
            <a:r>
              <a:t>  5. This matters because it establishes a concrete boundary for what context an algorithm examines.</a:t>
            </a:r>
          </a:p>
          <a:p>
            <a:r>
              <a:t>  6. It works by centering on a target word and selecting a fixed number of surrounding words on each side.</a:t>
            </a:r>
          </a:p>
          <a:p>
            <a:r>
              <a:t>  7. Example: Examining words within a plus-or-minus two word window around bass in a Wall Street Journal excerpt.</a:t>
            </a:r>
          </a:p>
          <a:p/>
          <a:p>
            <a:r>
              <a:t>Read these exactly (do not paraphrase):</a:t>
            </a:r>
          </a:p>
          <a:p>
            <a:r>
              <a:t>  - Example text demonstrates establishing a specific context window around a target word EXAMPLES Example text (WSJ) An electric guitar and bass player stand off to one side not really part of the scene, Assume a window of +/--2 from the target Example sentences illustrate how to isolate text segments for analysis.</a:t>
            </a:r>
          </a:p>
          <a:p/>
          <a:p>
            <a:r>
              <a:t>Say what these mean, in your own words:</a:t>
            </a:r>
          </a:p>
          <a:p>
            <a:r>
              <a:t>  - wsj: Example text</a:t>
            </a:r>
          </a:p>
          <a:p/>
          <a:p>
            <a:r>
              <a:t>Pause: ask the class what they already know about “Example text demonstrates establishing a specific context window around a target word”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COLLOCATIONAL FEATURES</a:t>
            </a:r>
          </a:p>
          <a:p>
            <a:r>
              <a:t>  2. Position-specific information about the words and collocations in window</a:t>
            </a:r>
          </a:p>
          <a:p>
            <a:r>
              <a:t>  3. guitar and bass player stand</a:t>
            </a:r>
          </a:p>
          <a:p>
            <a:r>
              <a:t>  4. i+1</a:t>
            </a:r>
          </a:p>
          <a:p>
            <a:r>
              <a:t>  5. [wi—2</a:t>
            </a:r>
          </a:p>
          <a:p>
            <a:r>
              <a:t>  6. wi—1,w</a:t>
            </a:r>
          </a:p>
          <a:p>
            <a:r>
              <a:t>  7. POSi—2,wi—1,POSi—1,wi+1,POSi+1,wi+2,POS</a:t>
            </a:r>
          </a:p>
          <a:p/>
          <a:p>
            <a:r>
              <a:t>Read these exactly (do not paraphrase):</a:t>
            </a:r>
          </a:p>
          <a:p>
            <a:r>
              <a:t>  - Collocational features capture position-specific information for words in a window COLLOCATIONAL FEATURES Position-specific information about the words and collocations in window guitar and bass player stand i+1 [wi—2 wi—1,w POSi—2,wi—1,POSi—1,wi+1,POSi+1,wi+2,POS i+2 [ g u i t a r, NN, and, CC, player, NN, stand, VB, and g u i t a r, player stand] word 1,2,3 grams in window of ±3 is common</a:t>
            </a:r>
          </a:p>
          <a:p/>
          <a:p>
            <a:r>
              <a:t>Pause: ask the class what they already know about “Collocational features capture position-specific information for words in a window” before revealing the slide.</a:t>
            </a:r>
          </a:p>
          <a:p/>
          <a:p>
            <a:r>
              <a:t>Wording matters here — slow down, keep it precise.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BAG-OF-WORDS FEATURES</a:t>
            </a:r>
          </a:p>
          <a:p>
            <a:r>
              <a:t>  2. “an unordered set of words” – position ignored</a:t>
            </a:r>
          </a:p>
          <a:p>
            <a:r>
              <a:t>  3. Counts of words occur within the window.</a:t>
            </a:r>
          </a:p>
          <a:p>
            <a:r>
              <a:t>  4. First choose a vocabulary</a:t>
            </a:r>
          </a:p>
          <a:p>
            <a:r>
              <a:t>  5. Then count how often each of those terms occurs in a given window</a:t>
            </a:r>
          </a:p>
          <a:p>
            <a:r>
              <a:t>  6. sometimes just a binary “indicator” 1 or 0</a:t>
            </a:r>
          </a:p>
          <a:p/>
          <a:p>
            <a:r>
              <a:t>Read these exactly (do not paraphrase):</a:t>
            </a:r>
          </a:p>
          <a:p>
            <a:r>
              <a:t>  - Bag-of-words features count term frequencies while ignoring word positions BAG-OF-WORDS FEATURES “an unordered set of words” – position ignored Counts of words occur within the window.</a:t>
            </a:r>
          </a:p>
          <a:p/>
          <a:p>
            <a:r>
              <a:t>Pause: ask the class what they already know about “Bag-of-words features count term frequencies while ignoring word positions”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10”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Assume we’ve settled on a possible vocabulary of 12 words in “bass” sentences:</a:t>
            </a:r>
          </a:p>
          <a:p>
            <a:r>
              <a:t>  2. [fishing, big, sound, player, fly, rod, pound, double, runs, playing, guitar, band]</a:t>
            </a:r>
          </a:p>
          <a:p>
            <a:r>
              <a:t>  3. The vector for:</a:t>
            </a:r>
          </a:p>
          <a:p>
            <a:r>
              <a:t>  4. guitar and bass player stand [0,0,0,1,0,0,0,0,0,0,1,0]</a:t>
            </a:r>
          </a:p>
          <a:p/>
          <a:p>
            <a:r>
              <a:t>Say what these mean, in your own words:</a:t>
            </a:r>
          </a:p>
          <a:p>
            <a:r>
              <a:t>  - Vocabulary: A fixed set of selected words used to build feature vectors.</a:t>
            </a:r>
          </a:p>
          <a:p>
            <a:r>
              <a:t>  - Vector: An array of numbers representing word occurrences within a given context.</a:t>
            </a:r>
          </a:p>
          <a:p/>
          <a:p>
            <a:r>
              <a:t>Pause: ask the class what they already know about “Co-occurrence vectors represent words as frequency arrays based on a fixed vocabulary”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CLASSIFICATION: DEFINITION</a:t>
            </a:r>
          </a:p>
          <a:p>
            <a:r>
              <a:t>  2. a word w and some features f</a:t>
            </a:r>
          </a:p>
          <a:p>
            <a:r>
              <a:t>  3. a fixed set of classes C = {c1, c2,…, cJ}</a:t>
            </a:r>
          </a:p>
          <a:p>
            <a:r>
              <a:t>  4. Output: a predicted class c∈C</a:t>
            </a:r>
          </a:p>
          <a:p>
            <a:r>
              <a:t>  5. Classification takes an input word with its features and assigns it to a predefined class.</a:t>
            </a:r>
          </a:p>
          <a:p>
            <a:r>
              <a:t>  6. This process helps categorize ambiguous terms into specific meanings using a fixed set of options.</a:t>
            </a:r>
          </a:p>
          <a:p>
            <a:r>
              <a:t>  7. Example: Mapping the word 'bass' to either the fish class or the music class.</a:t>
            </a:r>
          </a:p>
          <a:p/>
          <a:p>
            <a:r>
              <a:t>Read these exactly (do not paraphrase):</a:t>
            </a:r>
          </a:p>
          <a:p>
            <a:r>
              <a:t>  - Classification maps an input word and features to a predicted class from a fixed set CLASSIFICATION: DEFINITION a word w and some features f a fixed set of classes C = {c1, c2,…, cJ} Output: a predicted class c∈C Classification takes an input word with its features and assigns it to a predefined class.</a:t>
            </a:r>
          </a:p>
          <a:p/>
          <a:p>
            <a:r>
              <a:t>Say what these mean, in your own words:</a:t>
            </a:r>
          </a:p>
          <a:p>
            <a:r>
              <a:t>  - Classification: The process of predicting a class for an input word and features.</a:t>
            </a:r>
          </a:p>
          <a:p>
            <a:r>
              <a:t>  - Classes: A fixed set of categories like C = {c1, c2,…, cJ}.</a:t>
            </a:r>
          </a:p>
          <a:p/>
          <a:p>
            <a:r>
              <a:t>Pause: ask the class what they already know about “Classification maps an input word and features to a predicted class from a fixed set” before revealing the slide.</a:t>
            </a:r>
          </a:p>
          <a:p/>
          <a:p>
            <a:r>
              <a:t>~61s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Input:</a:t>
            </a:r>
          </a:p>
          <a:p>
            <a:r>
              <a:t>  2. a word w in a text window d (which we’ll call a “document”)</a:t>
            </a:r>
          </a:p>
          <a:p>
            <a:r>
              <a:t>  3. a fixed set of classes C = {c1, c2,…, cJ}</a:t>
            </a:r>
          </a:p>
          <a:p>
            <a:r>
              <a:t>  4. A training set of m hand-labeledtext windows again called</a:t>
            </a:r>
          </a:p>
          <a:p>
            <a:r>
              <a:t>  5. “documents” (d1,c1),....,(dm,cm)</a:t>
            </a:r>
          </a:p>
          <a:p>
            <a:r>
              <a:t>  6. Output:</a:t>
            </a:r>
          </a:p>
          <a:p>
            <a:r>
              <a:t>  7. a learned classifier γ:d →c</a:t>
            </a:r>
          </a:p>
          <a:p/>
          <a:p>
            <a:r>
              <a:t>Read these exactly (do not paraphrase):</a:t>
            </a:r>
          </a:p>
          <a:p>
            <a:r>
              <a:t>  - Supervised machine learning uses hand-labeled text windows to learn a classifier Input: a word w in a text window d (which we’ll call a “document”) a fixed set of classes C = {c1, c2,…, cJ} A training set of m hand-labeledtext windows again called “documents” (d1,c1),....,(dm,cm) Output: a learned classifier γ:d →c Supervised machine learning trains a system using hand-labeled text windows and documents.</a:t>
            </a:r>
          </a:p>
          <a:p>
            <a:r>
              <a:t>  - Example: Using labeled documents (d1, c1) to learn a classifier mapping documents to classes.</a:t>
            </a:r>
          </a:p>
          <a:p/>
          <a:p>
            <a:r>
              <a:t>Say what these mean, in your own words:</a:t>
            </a:r>
          </a:p>
          <a:p>
            <a:r>
              <a:t>  - Supervised machine learning: An approach using a training set of hand-labeled documents to learn a classifier.</a:t>
            </a:r>
          </a:p>
          <a:p>
            <a:r>
              <a:t>  - Classifier: A learned function that maps an input text window to an output class.</a:t>
            </a:r>
          </a:p>
          <a:p/>
          <a:p>
            <a:r>
              <a:t>Pause: ask the class what they already know about “Supervised machine learning uses hand-labeled text windows to learn a classifier”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METHODS: SUPERVISED</a:t>
            </a:r>
          </a:p>
          <a:p>
            <a:r>
              <a:t>  2. Any kind of classifier</a:t>
            </a:r>
          </a:p>
          <a:p>
            <a:r>
              <a:t>  3. Naive Bayes</a:t>
            </a:r>
          </a:p>
          <a:p>
            <a:r>
              <a:t>  4. Logistic regression</a:t>
            </a:r>
          </a:p>
          <a:p>
            <a:r>
              <a:t>  5. Neural Networks</a:t>
            </a:r>
          </a:p>
          <a:p>
            <a:r>
              <a:t>  6. Support-vector machines</a:t>
            </a:r>
          </a:p>
          <a:p>
            <a:r>
              <a:t>  7. k-Nearest Neighbors</a:t>
            </a:r>
          </a:p>
          <a:p/>
          <a:p>
            <a:r>
              <a:t>Say what these mean, in your own words:</a:t>
            </a:r>
          </a:p>
          <a:p>
            <a:r>
              <a:t>  - Naive Bayes: A supervised machine learning classification algorithm.</a:t>
            </a:r>
          </a:p>
          <a:p>
            <a:r>
              <a:t>  - Support-vector machines: A supervised machine learning method used for classification.</a:t>
            </a:r>
          </a:p>
          <a:p/>
          <a:p>
            <a:r>
              <a:t>Pause: ask the class what they already know about “Supervised machine learning encompasses multiple classification algorithms”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P(c) is the prior probability of that sense</a:t>
            </a:r>
          </a:p>
          <a:p>
            <a:r>
              <a:t>  2. Counting in a labeled training set.</a:t>
            </a:r>
          </a:p>
          <a:p>
            <a:r>
              <a:t>  3. P(w|c) conditional probability of a word given a particular sense</a:t>
            </a:r>
          </a:p>
          <a:p>
            <a:r>
              <a:t>  4. P(w|c) = count(w,c)/count(c)</a:t>
            </a:r>
          </a:p>
          <a:p>
            <a:r>
              <a:t>  5. We get both of these from a tagged corpus like SemCor</a:t>
            </a:r>
          </a:p>
          <a:p>
            <a:r>
              <a:t>  6. Can also generalize to look at other features besides words.</a:t>
            </a:r>
          </a:p>
          <a:p>
            <a:r>
              <a:t>  7. Then it would be P(f|c)</a:t>
            </a:r>
          </a:p>
          <a:p/>
          <a:p>
            <a:r>
              <a:t>Read these exactly (do not paraphrase):</a:t>
            </a:r>
          </a:p>
          <a:p>
            <a:r>
              <a:t>  - Applying naive bayes to WSD relies on prior and conditional probabilities from corpora P(c) is the prior probability of that sense Counting in a labeled training set.</a:t>
            </a:r>
          </a:p>
          <a:p>
            <a:r>
              <a:t>  - P(w|c) conditional probability of a word given a particular sense P(w|c) = count(w,c)/count(c) We get both of these from a tagged corpus like SemCor Can also generalize to look at other features besides words.</a:t>
            </a:r>
          </a:p>
          <a:p>
            <a:r>
              <a:t>  - Then it would be P(f|c) Conditional probability of a feature given a sense</a:t>
            </a:r>
          </a:p>
          <a:p/>
          <a:p>
            <a:r>
              <a:t>Say what these mean, in your own words:</a:t>
            </a:r>
          </a:p>
          <a:p>
            <a:r>
              <a:t>  - Prior probability: The probability of a specific sense calculated by counting in a labeled training set.</a:t>
            </a:r>
          </a:p>
          <a:p>
            <a:r>
              <a:t>  - Conditional probability: The probability of a word or feature given a particular sense.</a:t>
            </a:r>
          </a:p>
          <a:p/>
          <a:p>
            <a:r>
              <a:t>Pause: ask the class what they already know about “Applying naive bayes to WSD relies on prior and conditional probabilities from corpora”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Pˆ(C) = NC</a:t>
            </a:r>
          </a:p>
          <a:p>
            <a:r>
              <a:t>  2. Pˆ(w | c) = count(w,c)+1</a:t>
            </a:r>
          </a:p>
          <a:p>
            <a:r>
              <a:t>  3. V = {fish, smoked, line, haul, guitar, jazz}</a:t>
            </a:r>
          </a:p>
          <a:p>
            <a:r>
              <a:t>  4. Choosing a class:</a:t>
            </a:r>
          </a:p>
          <a:p>
            <a:r>
              <a:t>  5. 3/4 * 2/14 * (1/14) * 1/14</a:t>
            </a:r>
          </a:p>
          <a:p>
            <a:r>
              <a:t>  6. ConditionalProbabilities: P(line|f) =</a:t>
            </a:r>
          </a:p>
          <a:p/>
          <a:p>
            <a:r>
              <a:t>Read these exactly (do not paraphrase):</a:t>
            </a:r>
          </a:p>
          <a:p>
            <a:r>
              <a:t>  - Choosing a class with naive bayes involves calculating conditional probabilities and class counts Pˆ(C) = NC Pˆ(w | c) = count(w,c)+1 V = {fish, smoked, line, haul, guitar, jazz} Choosing a class: 3/4 * 2/14 * (1/14) * 1/14 ConditionalProbabilities: P(line|f) =</a:t>
            </a:r>
          </a:p>
          <a:p/>
          <a:p>
            <a:r>
              <a:t>Say what these mean, in your own words:</a:t>
            </a:r>
          </a:p>
          <a:p>
            <a:r>
              <a:t>  - ConditionalProbabilities: Probabilities of features given a specific class, adjusted with counts.</a:t>
            </a:r>
          </a:p>
          <a:p>
            <a:r>
              <a:t>  - Choosing a class: The final computation step multiplying prior and conditional probabilities.</a:t>
            </a:r>
          </a:p>
          <a:p/>
          <a:p>
            <a:r>
              <a:t>Pause: ask the class what they already know about “Choosing a class with naive bayes involves calculating conditional probabilities and class counts” before revealing the slide.</a:t>
            </a:r>
          </a:p>
          <a:p/>
          <a:p>
            <a:r>
              <a:t>Wording matters here — slow down, keep it precise.</a:t>
            </a:r>
          </a:p>
          <a:p/>
          <a:p>
            <a:r>
              <a:t>~54s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(1+1) / (8+6) = 2/14</a:t>
            </a:r>
          </a:p>
          <a:p>
            <a:r>
              <a:t>  2. P(guitar|f) = (0+1) / (8+6) = 1/14</a:t>
            </a:r>
          </a:p>
          <a:p>
            <a:r>
              <a:t>  3. 1/4 * 2/9 * (2/9)2 * 2/9</a:t>
            </a:r>
          </a:p>
          <a:p>
            <a:r>
              <a:t>  4. (0+1) / (8+6) = 1/14</a:t>
            </a:r>
          </a:p>
          <a:p>
            <a:r>
              <a:t>  5. (1+1) / (3+6) = 2/9</a:t>
            </a:r>
          </a:p>
          <a:p>
            <a:r>
              <a:t>  6. P(guitar|g) = (1+1) / (3+6) = 2/9 P(jazz|g)</a:t>
            </a:r>
          </a:p>
          <a:p/>
          <a:p>
            <a:r>
              <a:t>Read these exactly (do not paraphrase):</a:t>
            </a:r>
          </a:p>
          <a:p>
            <a:r>
              <a:t>  - Applying naive bayes to WSD (2/2): 1+1) / (8+6) (1+1) / (8+6) = 2/14 P(guitar|f) = (0+1) / (8+6) = 1/14 1/4 * 2/9 * (2/9)2 * 2/9 (0+1) / (8+6) = 1/14 (1+1) / (3+6) = 2/9 P(guitar|g) = (1+1) / (3+6) = 2/9 P(jazz|g)</a:t>
            </a:r>
          </a:p>
          <a:p/>
          <a:p>
            <a:r>
              <a:t>Say what these mean, in your own words:</a:t>
            </a:r>
          </a:p>
          <a:p>
            <a:r>
              <a:t>  - Probability: A calculated fraction representing the likelihood of a feature occurring within a sense.</a:t>
            </a:r>
          </a:p>
          <a:p>
            <a:r>
              <a:t>  - Feature: A specific word or context checked against a sense.</a:t>
            </a:r>
          </a:p>
          <a:p/>
          <a:p>
            <a:r>
              <a:t>Pause: ask the class what they already know about “Applying naive bayes to WSD (2/2): 1+1) / (8+6)”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APPLYING NAIVE BAYES TO WSD (2/2)</a:t>
            </a:r>
          </a:p>
          <a:p/>
          <a:p>
            <a:r>
              <a:t>Full detail (from the source):</a:t>
            </a:r>
          </a:p>
          <a:p>
            <a:r>
              <a:t>  [TABLE DATA] | | Doc | Words | Class | | --- | --- | --- | --- | | Training | 1 | fish smoked fish | f | | | 2 | fish line | f | | | 3 | fish haul smoked | f | | | 4 | guitar jazz line | g | | Test | 5 | line guitar jazz jazz | ?</a:t>
            </a:r>
          </a:p>
          <a:p>
            <a:r>
              <a:t>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decision list is an ordered list of yes-no questions bass1 = fish vs. bass2 = music:</a:t>
            </a:r>
          </a:p>
          <a:p>
            <a:r>
              <a:t>  2. 1. Does ‘fish’ occur in window? - Yes. =&gt; bass1 2. Is the previous word ‘striped ’? - Yes. =&gt; bass1 3. Does ‘guitar’ occ</a:t>
            </a:r>
          </a:p>
          <a:p>
            <a:r>
              <a:t>  3. Learning a decision list for a word with two senses:</a:t>
            </a:r>
          </a:p>
          <a:p>
            <a:r>
              <a:t>  4. Define a feature set: what kind of questions do you want to ask?</a:t>
            </a:r>
          </a:p>
          <a:p>
            <a:r>
              <a:t>  5. Enumerate all features (questions) the training data gives answers for</a:t>
            </a:r>
          </a:p>
          <a:p>
            <a:r>
              <a:t>  6. Score each feature:</a:t>
            </a:r>
          </a:p>
          <a:p>
            <a:r>
              <a:t>  7. P(sense | f)</a:t>
            </a:r>
          </a:p>
          <a:p>
            <a:r>
              <a:t>  8. 1 i</a:t>
            </a:r>
          </a:p>
          <a:p>
            <a:r>
              <a:t>  9. score( f) = log</a:t>
            </a:r>
          </a:p>
          <a:p>
            <a:r>
              <a:t>  10. P(sense2| fi)</a:t>
            </a:r>
          </a:p>
          <a:p>
            <a:r>
              <a:t>  11. Rank all features by their score</a:t>
            </a:r>
          </a:p>
          <a:p/>
          <a:p>
            <a:r>
              <a:t>Read these exactly (do not paraphrase):</a:t>
            </a:r>
          </a:p>
          <a:p>
            <a:r>
              <a:t>  - Decision lists rank scored yes-no questions to determine word senses A decision list is an ordered list of yes-no questions bass1 = fish vs.</a:t>
            </a:r>
          </a:p>
          <a:p>
            <a:r>
              <a:t>  - bass2 = music: 1.</a:t>
            </a:r>
          </a:p>
          <a:p>
            <a:r>
              <a:t>  - =&gt; bass1 2.</a:t>
            </a:r>
          </a:p>
          <a:p>
            <a:r>
              <a:t>  - =&gt; bass1 3.</a:t>
            </a:r>
          </a:p>
          <a:p/>
          <a:p>
            <a:r>
              <a:t>Say what these mean, in your own words:</a:t>
            </a:r>
          </a:p>
          <a:p>
            <a:r>
              <a:t>  - Decision list: An ordered list of yes-no questions used to classify word senses.</a:t>
            </a:r>
          </a:p>
          <a:p>
            <a:r>
              <a:t>  - Feature set: The collection of defined questions asked about the context.</a:t>
            </a:r>
          </a:p>
          <a:p/>
          <a:p>
            <a:r>
              <a:t>Pause: ask the class what they already know about “Decision lists rank scored yes-no questions to determine word senses” before revealing the slide.</a:t>
            </a:r>
          </a:p>
          <a:p/>
          <a:p>
            <a:r>
              <a:t>Wording matters here — slow down, keep it precise.</a:t>
            </a:r>
          </a:p>
          <a:p/>
          <a:p>
            <a:r>
              <a:t>~89s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Best evaluation: extrinsic (‘end-to-end’, `task-based’) evaluation</a:t>
            </a:r>
          </a:p>
          <a:p>
            <a:r>
              <a:t>  2. Embed WSD algorithm in a task and see if you can do the task better!</a:t>
            </a:r>
          </a:p>
          <a:p>
            <a:r>
              <a:t>  3. What we often do for convenience: intrinsic evaluation</a:t>
            </a:r>
          </a:p>
          <a:p>
            <a:r>
              <a:t>  4. Exact match sense accuracy</a:t>
            </a:r>
          </a:p>
          <a:p>
            <a:r>
              <a:t>  5. % of words tagged identically with the human-manual sense tags</a:t>
            </a:r>
          </a:p>
          <a:p>
            <a:r>
              <a:t>  6. Usually evaluate using held-out data from same labeled corpus</a:t>
            </a:r>
          </a:p>
          <a:p>
            <a:r>
              <a:t>  7. Baselines</a:t>
            </a:r>
          </a:p>
          <a:p/>
          <a:p>
            <a:r>
              <a:t>Read these exactly (do not paraphrase):</a:t>
            </a:r>
          </a:p>
          <a:p>
            <a:r>
              <a:t>  - WSD evaluations use extrinsic task-based tests or intrinsic accuracy metrics against baselines Best evaluation: extrinsic (‘end-to-end’, `task-based’) evaluation Embed WSD algorithm in a task and see if you can do the task better!</a:t>
            </a:r>
          </a:p>
          <a:p/>
          <a:p>
            <a:r>
              <a:t>Say what these mean, in your own words:</a:t>
            </a:r>
          </a:p>
          <a:p>
            <a:r>
              <a:t>  - wsd: Word Sense Disambiguation</a:t>
            </a:r>
          </a:p>
          <a:p>
            <a:r>
              <a:t>  - Extrinsic evaluation: Task-based evaluation embedding a WSD algorithm into a larger task.</a:t>
            </a:r>
          </a:p>
          <a:p>
            <a:r>
              <a:t>  - Intrinsic evaluation: Convenience evaluation measuring exact match sense accuracy against manual tags.</a:t>
            </a:r>
          </a:p>
          <a:p/>
          <a:p>
            <a:r>
              <a:t>Pause: ask the class what they already know about “WSD evaluations use extrinsic task-based tests or intrinsic accuracy metrics against baselines”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WordNet senses are ordered in frequency order</a:t>
            </a:r>
          </a:p>
          <a:p>
            <a:r>
              <a:t>  2. So “most frequent sense” in WordNet = “take the first sense”</a:t>
            </a:r>
          </a:p>
          <a:p>
            <a:r>
              <a:t>  3. Sense frequencies come from the SemCor corpus</a:t>
            </a:r>
          </a:p>
          <a:p>
            <a:r>
              <a:t>  4. The most frequent sense method acts as a standard baseline by taking the first sense listed in WordNet.</a:t>
            </a:r>
          </a:p>
          <a:p>
            <a:r>
              <a:t>  5. WordNet senses are ordered by frequency using data from the SemCor corpus.</a:t>
            </a:r>
          </a:p>
          <a:p>
            <a:r>
              <a:t>  6. Example: Choosing the first sense of a word in WordNet as the default prediction.</a:t>
            </a:r>
          </a:p>
          <a:p/>
          <a:p>
            <a:r>
              <a:t>Read these exactly (do not paraphrase):</a:t>
            </a:r>
          </a:p>
          <a:p>
            <a:r>
              <a:t>  - The most frequent sense baseline takes the first WordNet sense derived from SemCor WordNet senses are ordered in frequency order So “most frequent sense” in WordNet = “take the first sense” Sense frequencies come from the SemCor corpus The most frequent sense method acts as a standard baseline by taking the first sense listed in WordNet.</a:t>
            </a:r>
          </a:p>
          <a:p/>
          <a:p>
            <a:r>
              <a:t>Say what these mean, in your own words:</a:t>
            </a:r>
          </a:p>
          <a:p>
            <a:r>
              <a:t>  - Most frequent sense: The strategy of taking the first, most common sense from WordNet.</a:t>
            </a:r>
          </a:p>
          <a:p>
            <a:r>
              <a:t>  - SemCor corpus: The text collection providing sense frequencies for WordNet.</a:t>
            </a:r>
          </a:p>
          <a:p/>
          <a:p>
            <a:r>
              <a:t>Pause: ask the class what they already know about “The most frequent sense baseline takes the first WordNet sense derived from SemCor”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CEILING</a:t>
            </a:r>
          </a:p>
          <a:p>
            <a:r>
              <a:t>  2. Human inter-annotator agreement</a:t>
            </a:r>
          </a:p>
          <a:p>
            <a:r>
              <a:t>  3. Compare annotations of two humans</a:t>
            </a:r>
          </a:p>
          <a:p>
            <a:r>
              <a:t>  4. On same data</a:t>
            </a:r>
          </a:p>
          <a:p>
            <a:r>
              <a:t>  5. Given same tagging guidelines</a:t>
            </a:r>
          </a:p>
          <a:p>
            <a:r>
              <a:t>  6. Human agreements on all-wordscorpora with WordNet style senses</a:t>
            </a:r>
          </a:p>
          <a:p>
            <a:r>
              <a:t>  7. Human inter-annotator agreement measures how consistently two humans compare annotations on the same data using tagging </a:t>
            </a:r>
          </a:p>
          <a:p/>
          <a:p>
            <a:r>
              <a:t>Read these exactly (do not paraphrase):</a:t>
            </a:r>
          </a:p>
          <a:p>
            <a:r>
              <a:t>  - This agreement provides a performance ceiling for all-words corpora with WordNet-style senses.</a:t>
            </a:r>
          </a:p>
          <a:p/>
          <a:p>
            <a:r>
              <a:t>Say what these mean, in your own words:</a:t>
            </a:r>
          </a:p>
          <a:p>
            <a:r>
              <a:t>  - Inter-annotator agreement: A comparison of annotations made by two humans on the same data using tagging guidelines.</a:t>
            </a:r>
          </a:p>
          <a:p>
            <a:r>
              <a:t>  - WordNet: A lexical database providing style senses used to measure human agreements on all-words corpora.</a:t>
            </a:r>
          </a:p>
          <a:p/>
          <a:p>
            <a:r>
              <a:t>Pause: ask the class what they already know about “Human interannotator agreement establishes a ceiling for word sense annotation accuracy”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Rely on machine readable dictionaries</a:t>
            </a:r>
          </a:p>
          <a:p>
            <a:r>
              <a:t>  2. Initial implementation of this kind of approach is due to Michael Lesk (1986) e “Lesk algorithm”</a:t>
            </a:r>
          </a:p>
          <a:p>
            <a:r>
              <a:t>  3. Given a word W to be disambiguated in context C</a:t>
            </a:r>
          </a:p>
          <a:p>
            <a:r>
              <a:t>  4. Retrieve all of the sense definitions, S, for W from the MRD Compare each s in S to the dictionary definitions D of all </a:t>
            </a:r>
          </a:p>
          <a:p/>
          <a:p>
            <a:r>
              <a:t>Read these exactly (do not paraphrase):</a:t>
            </a:r>
          </a:p>
          <a:p>
            <a:r>
              <a:t>  - Dictionary based approaches select word senses with the most overlap with context Rely on machine readable dictionaries Initial implementation of this kind of approach is due to Michael Lesk (1986) e “Lesk algorithm” Given a word W to be disambiguated in context C Retrieve all of the sense definitions, S, for W from the MRD Compare each s in S to the dictionary definitions D of all the remaining words c in the context C Select the sense s with the most overlap with D (the definitions of the context words C)</a:t>
            </a:r>
          </a:p>
          <a:p/>
          <a:p>
            <a:r>
              <a:t>Say what these mean, in your own words:</a:t>
            </a:r>
          </a:p>
          <a:p>
            <a:r>
              <a:t>  - Lesk algorithm: An initial machine-readable dictionary approach comparing sense definitions with context word definitions.</a:t>
            </a:r>
          </a:p>
          <a:p>
            <a:r>
              <a:t>  - Context: The remaining words surrounding a word to be disambiguated.</a:t>
            </a:r>
          </a:p>
          <a:p/>
          <a:p>
            <a:r>
              <a:t>Pause: ask the class what they already know about “Dictionary based approaches select word senses with the most overlap with context” before revealing the slide.</a:t>
            </a:r>
          </a:p>
          <a:p/>
          <a:p>
            <a:r>
              <a:t>Wording matters here — slow down, keep it precise.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function SIMPLIFIED LESK(word, sentence) returns best sense of word</a:t>
            </a:r>
          </a:p>
          <a:p>
            <a:r>
              <a:t>  2. best-sense — most frequent sense for word max-overlap —0 context — set of words in sentence for each sezse in senses of </a:t>
            </a:r>
          </a:p>
          <a:p>
            <a:r>
              <a:t>  3. max-overlap — overlap best-sense — sense</a:t>
            </a:r>
          </a:p>
          <a:p>
            <a:r>
              <a:t>  4. end return(best-sense)</a:t>
            </a:r>
          </a:p>
          <a:p/>
          <a:p>
            <a:r>
              <a:t>Read these exactly (do not paraphrase):</a:t>
            </a:r>
          </a:p>
          <a:p>
            <a:r>
              <a:t>  - The simplified Lesk algorithm finds the best sense by maximizing word overlap function SIMPLIFIED LESK(word, sentence) returns best sense of word best-sense — most frequent sense for word max-overlap —0 context — set of words in sentence for each sezse in senses of word do signature — set of words in the gloss and examples of overlap — COMPUTEOVERLAP(signiature, context) if overlap &gt; max-overlap then max-overlap — overlap best-sense — sense end return(best-sense)</a:t>
            </a:r>
          </a:p>
          <a:p/>
          <a:p>
            <a:r>
              <a:t>Say what these mean, in your own words:</a:t>
            </a:r>
          </a:p>
          <a:p>
            <a:r>
              <a:t>  - Signature: The set of words in the gloss and examples of a word sense.</a:t>
            </a:r>
          </a:p>
          <a:p>
            <a:r>
              <a:t>  - Best sense: The sense that yields the maximum overlap with the sentence context.</a:t>
            </a:r>
          </a:p>
          <a:p/>
          <a:p>
            <a:r>
              <a:t>Pause: ask the class what they already know about “The simplified Lesk algorithm finds the best sense by maximizing word overlap” before revealing the slide.</a:t>
            </a:r>
          </a:p>
          <a:p/>
          <a:p>
            <a:r>
              <a:t>Wording matters here — slow down, keep it precise.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Let’s disambiguate “bank” in this sentence: The bank can guarantee deposits will eventually cover future tuition costs b</a:t>
            </a:r>
          </a:p>
          <a:p>
            <a:r>
              <a:t>  2. given the following two WordNet senses:</a:t>
            </a:r>
          </a:p>
          <a:p>
            <a:r>
              <a:t>  3. bank! Gloss: a financial institution that accepts deposits and channels the</a:t>
            </a:r>
          </a:p>
          <a:p>
            <a:r>
              <a:t>  4. money into lending activities</a:t>
            </a:r>
          </a:p>
          <a:p>
            <a:r>
              <a:t>  5. Examples: “he cashed a check at the bank”, “that bank holds the mortgage</a:t>
            </a:r>
          </a:p>
          <a:p>
            <a:r>
              <a:t>  6. bank? Gloss: sloping land (especially the slope beside a body of water)</a:t>
            </a:r>
          </a:p>
          <a:p>
            <a:r>
              <a:t>  7. Examples: “they pulled the canoe up on the bank”, “he sat on the bank of</a:t>
            </a:r>
          </a:p>
          <a:p/>
          <a:p>
            <a:r>
              <a:t>Read these exactly (do not paraphrase):</a:t>
            </a:r>
          </a:p>
          <a:p>
            <a:r>
              <a:t>  - Gloss: a financial institution that accepts deposits and channels the money into lending activities Examples: “he cashed a check at the bank”, “that bank holds the mortgage bank?</a:t>
            </a:r>
          </a:p>
          <a:p>
            <a:r>
              <a:t>  - Gloss: sloping land (especially the slope beside a body of water) Examples: “they pulled the canoe up on the bank”, “he sat on the bank of the river and watched the currents”</a:t>
            </a:r>
          </a:p>
          <a:p/>
          <a:p>
            <a:r>
              <a:t>Say what these mean, in your own words:</a:t>
            </a:r>
          </a:p>
          <a:p>
            <a:r>
              <a:t>  - Gloss: A dictionary definition explaining the meaning of a specific word sense.</a:t>
            </a:r>
          </a:p>
          <a:p>
            <a:r>
              <a:t>  - Disambiguate: To determine the correct meaning of a word based on its context.</a:t>
            </a:r>
          </a:p>
          <a:p/>
          <a:p>
            <a:r>
              <a:t>Pause: ask the class what they already know about “WordNet senses illustrate how to disambiguate bank using glosses and examples”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Choose sense with most word overlap between gloss and context</a:t>
            </a:r>
          </a:p>
          <a:p>
            <a:r>
              <a:t>  2. (not counting function words)</a:t>
            </a:r>
          </a:p>
          <a:p>
            <a:r>
              <a:t>  3. The bank can guarantee ill eventually cover future tuition costs because it invests in adjustable-rate’ securities.</a:t>
            </a:r>
          </a:p>
          <a:p>
            <a:r>
              <a:t>  4. Gloss: a financial institution that deposits} and channels the</a:t>
            </a:r>
          </a:p>
          <a:p>
            <a:r>
              <a:t>  5. money into lending activities</a:t>
            </a:r>
          </a:p>
          <a:p>
            <a:r>
              <a:t>  6. Examples: “he cashed a check at the bank”, “that bank holds</a:t>
            </a:r>
          </a:p>
          <a:p>
            <a:r>
              <a:t>  7. bank? Gloss: sloping land (especially the slope beside a body of water)</a:t>
            </a:r>
          </a:p>
          <a:p/>
          <a:p>
            <a:r>
              <a:t>Read these exactly (do not paraphrase):</a:t>
            </a:r>
          </a:p>
          <a:p>
            <a:r>
              <a:t>  - The Simplified Lesk algorithm: Choose sense Choose sense with most word overlap between gloss and context (not counting function words) The bank can guarantee ill eventually cover future tuition costs because it invests in adjustable-rate’ securities.</a:t>
            </a:r>
          </a:p>
          <a:p>
            <a:r>
              <a:t>  - Gloss: a financial institution that deposits} and channels the money into lending activities Examples: “he cashed a check at the bank”, “that bank holds bank?</a:t>
            </a:r>
          </a:p>
          <a:p>
            <a:r>
              <a:t>  - Gloss: sloping land (especially the slope beside a body of water) Examples: “they pulled the canoe up on the bank”, “he sat on the bank of the river and watched the currents”</a:t>
            </a:r>
          </a:p>
          <a:p/>
          <a:p>
            <a:r>
              <a:t>Pause: ask the class what they already know about “The Simplified Lesk algorithm: Choose sense”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Basic idea: Compare the context with the dictionary definition of the sense.</a:t>
            </a:r>
          </a:p>
          <a:p>
            <a:r>
              <a:t>  2. Assign the dictionary sense whose gloss and examples are most similar to the context in which the word occurs.</a:t>
            </a:r>
          </a:p>
          <a:p>
            <a:r>
              <a:t>  3. Compare the signature of a word in context with the signatures of its senses in the dictionary Assign the sense that is </a:t>
            </a:r>
          </a:p>
          <a:p>
            <a:r>
              <a:t>  4. Signature = set of content words (in examples/gloss or in context) Similarity = size of intersection of context signatur</a:t>
            </a:r>
          </a:p>
          <a:p/>
          <a:p>
            <a:r>
              <a:t>Read these exactly (do not paraphrase):</a:t>
            </a:r>
          </a:p>
          <a:p>
            <a:r>
              <a:t>  - Compare the signature of a word in context with the signatures of its senses in the dictionary Assign the sense that is most similar to the context Signature = set of content words (in examples/gloss or in context) Similarity = size of intersection of context signature and sense signature</a:t>
            </a:r>
          </a:p>
          <a:p/>
          <a:p>
            <a:r>
              <a:t>Say what these mean, in your own words:</a:t>
            </a:r>
          </a:p>
          <a:p>
            <a:r>
              <a:t>  - Signature: The set of content words found in examples, glosses, or context.</a:t>
            </a:r>
          </a:p>
          <a:p>
            <a:r>
              <a:t>  - Similarity: The size of the intersection between the context signature and the sense signature.</a:t>
            </a:r>
          </a:p>
          <a:p/>
          <a:p>
            <a:r>
              <a:t>Pause: ask the class what they already know about “The Lesk algorithm assigns senses by comparing context to dictionary definitions”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bank1: Gloss: a financial institution that accepts deposits and channels the money into lending activities Examples: “he</a:t>
            </a:r>
          </a:p>
          <a:p>
            <a:r>
              <a:t>  2. Gloss: sloping land (especially the slope beside a body of water) Examples: “they pulled the canoe up on the bank”, “he </a:t>
            </a:r>
          </a:p>
          <a:p/>
          <a:p>
            <a:r>
              <a:t>Read these exactly (do not paraphrase):</a:t>
            </a:r>
          </a:p>
          <a:p>
            <a:r>
              <a:t>  - Sense signatures compile words from dictionary glosses and examples for different meanings bank1: Gloss: a financial institution that accepts deposits and channels the money into lending activities Examples: “he cashed the check at the bank”, “that bank holds the mortgage on my home” Signature(bank1) = {financial, institution, accept, deposit, channel, money, lend, activity, cash, check, hold, mortgage, home} Gloss: sloping land (especially the slope beside a body of water) Examples: “they pulled the canoe up on the bank”, “he sat on the bank of the river and watched the current” Signature(bank2) = {slope, land, body, water, pull, canoe, sit, river, watch, current}</a:t>
            </a:r>
          </a:p>
          <a:p/>
          <a:p>
            <a:r>
              <a:t>Say what these mean, in your own words:</a:t>
            </a:r>
          </a:p>
          <a:p>
            <a:r>
              <a:t>  - Signature: The set of content words derived from a sense's gloss and examples.</a:t>
            </a:r>
          </a:p>
          <a:p>
            <a:r>
              <a:t>  - Gloss: The descriptive definition of a specific dictionary sense.</a:t>
            </a:r>
          </a:p>
          <a:p/>
          <a:p>
            <a:r>
              <a:t>Pause: ask the class what they already know about “Sense signatures compile words from dictionary glosses and examples for different meanings” before revealing the slide.</a:t>
            </a:r>
          </a:p>
          <a:p/>
          <a:p>
            <a:r>
              <a:t>Wording matters here — slow down, keep it precise.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Sense signatures (dictionary) (continued)</a:t>
            </a:r>
          </a:p>
          <a:p/>
          <a:p>
            <a:r>
              <a:t>Pause: ask the class what they already know about “Sense signatures (dictionary) (continued)” before revealing the slide.</a:t>
            </a:r>
          </a:p>
          <a:p/>
          <a:p>
            <a:r>
              <a:t>Wording matters here — slow down, keep it precise.</a:t>
            </a:r>
          </a:p>
          <a:p/>
          <a:p>
            <a:r>
              <a:t>~19s</a:t>
            </a:r>
          </a:p>
          <a:p>
            <a:r>
              <a:t>Text in the figure: Signature of target word Test sentence: “The bank refused to give me a loan.” Simplified Lesk: Overlap between sense signature and (simple) signature of the target word: Target signature = words in context: {refuse, give, loan} Original Lesk: Overlap between sense signature and augmented signature of the target word Augmented target signature with signatures of words in context {refuse, reject, request,... , give, gift, donate,... loan, money, borrow,...}</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Reveal 1</a:t>
            </a:r>
          </a:p>
          <a:p>
            <a:r>
              <a:t>  2. Reveal 2</a:t>
            </a:r>
          </a:p>
          <a:p/>
          <a:p>
            <a:r>
              <a:t>Read these exactly (do not paraphrase):</a:t>
            </a:r>
          </a:p>
          <a:p>
            <a:r>
              <a:t>  - Simple dictionary approaches avoid needing training data but remain sensitive to definitions Pros e Does not require (human-annotated) training data Cons e Very sensitive to the definition of words Words used in definition might not overlap with the context.</a:t>
            </a:r>
          </a:p>
          <a:p/>
          <a:p>
            <a:r>
              <a:t>Say what these mean, in your own words:</a:t>
            </a:r>
          </a:p>
          <a:p>
            <a:r>
              <a:t>  - Training data: Human-annotated data that this simple algorithmic approach does not require or learn from.</a:t>
            </a:r>
          </a:p>
          <a:p>
            <a:r>
              <a:t>  - Definition sensitivity: Vulnerability to mismatched words between dictionary definitions and sentence contexts.</a:t>
            </a:r>
          </a:p>
          <a:p/>
          <a:p>
            <a:r>
              <a:t>Pause: ask the class what they already know about “Simple dictionary approaches avoid needing training data but remain sensitive to definitions” before revealing the slide.</a:t>
            </a:r>
          </a:p>
          <a:p/>
          <a:p>
            <a:r>
              <a:t>~26s</a:t>
            </a:r>
          </a:p>
          <a:p>
            <a:r>
              <a:t>Ask the class: Do the advantages outweigh the trade-offs? Argue both sides.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Assumes we have some sense-labeled data (like SemCor)</a:t>
            </a:r>
          </a:p>
          <a:p>
            <a:r>
              <a:t>  2. Take all the sentences with the relevant word sense: These short, "streamlined" meetings usually are sponsored by local </a:t>
            </a:r>
          </a:p>
          <a:p>
            <a:r>
              <a:t>  3. Now add these to the gloss + examples for each sense, call it the “signature” of a sense.</a:t>
            </a:r>
          </a:p>
          <a:p>
            <a:r>
              <a:t>  4. Choose sense with most word overlap between context and signature.</a:t>
            </a:r>
          </a:p>
          <a:p/>
          <a:p>
            <a:r>
              <a:t>Read these exactly (do not paraphrase):</a:t>
            </a:r>
          </a:p>
          <a:p>
            <a:r>
              <a:t>  - The corpus Lesk algorithm incorporates sense labeled data into word signatures Assumes we have some sense-labeled data (like SemCor) Take all the sentences with the relevant word sense: These short, "streamlined" meetings usually are sponsored by local banks1, Chambers of Commerce, trade associations, or other civic organizations.</a:t>
            </a:r>
          </a:p>
          <a:p/>
          <a:p>
            <a:r>
              <a:t>Say what these mean, in your own words:</a:t>
            </a:r>
          </a:p>
          <a:p>
            <a:r>
              <a:t>  - SemCor: A source of sense-labeled data used to provide additional sentences for word senses.</a:t>
            </a:r>
          </a:p>
          <a:p>
            <a:r>
              <a:t>  - Signature: The combined set of glosses, examples, and sense-labeled corpus sentences for a word.</a:t>
            </a:r>
          </a:p>
          <a:p/>
          <a:p>
            <a:r>
              <a:t>Pause: ask the class what they already know about “The corpus Lesk algorithm incorporates sense labeled data into word signatures”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Instead of just removing function words</a:t>
            </a:r>
          </a:p>
          <a:p>
            <a:r>
              <a:t>  2. Weigh each word by its `promiscuity’ across documents</a:t>
            </a:r>
          </a:p>
          <a:p>
            <a:r>
              <a:t>  3. Down-weightswords that occur in every `document’(gloss, example, etc)</a:t>
            </a:r>
          </a:p>
          <a:p>
            <a:r>
              <a:t>  4. These are generally function words, but is a more fine-grained measure</a:t>
            </a:r>
          </a:p>
          <a:p>
            <a:r>
              <a:t>  5. Weigh each overlapping word by inverse document frequency</a:t>
            </a:r>
          </a:p>
          <a:p>
            <a:r>
              <a:t>  6. Instead of simply removing function words, this approach weighs each word by its promiscuity across documents.</a:t>
            </a:r>
          </a:p>
          <a:p>
            <a:r>
              <a:t>  7. It down-weights words that occur in every document to provide a more fine-grained measure using inverse document frequen</a:t>
            </a:r>
          </a:p>
          <a:p/>
          <a:p>
            <a:r>
              <a:t>Read these exactly (do not paraphrase):</a:t>
            </a:r>
          </a:p>
          <a:p>
            <a:r>
              <a:t>  - Inverse document frequency weighting improves corpus Lesk by reducing common word impact Instead of just removing function words Weigh each word by its `promiscuity’ across documents Down-weightswords that occur in every `document’(gloss, example, etc) These are generally function words, but is a more fine-grained measure Weigh each overlapping word by inverse document frequency Instead of simply removing function words, this approach weighs each word by its promiscuity across documents.</a:t>
            </a:r>
          </a:p>
          <a:p/>
          <a:p>
            <a:r>
              <a:t>Say what these mean, in your own words:</a:t>
            </a:r>
          </a:p>
          <a:p>
            <a:r>
              <a:t>  - Inverse document frequency: A measure used to down-weight words that occur universally across documents.</a:t>
            </a:r>
          </a:p>
          <a:p>
            <a:r>
              <a:t>  - Promiscuity: The tendency of a word to appear frequently across many different documents.</a:t>
            </a:r>
          </a:p>
          <a:p/>
          <a:p>
            <a:r>
              <a:t>Pause: ask the class what they already know about “Inverse document frequency weighting improves corpus Lesk by reducing common word impact”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Weigh each overlapping word by inverse document frequency</a:t>
            </a:r>
          </a:p>
          <a:p>
            <a:r>
              <a:t>  2. N is the total number of documents</a:t>
            </a:r>
          </a:p>
          <a:p>
            <a:r>
              <a:t>  3. idf = log N</a:t>
            </a:r>
          </a:p>
          <a:p>
            <a:r>
              <a:t>  4. dfi = “document frequency of word i”</a:t>
            </a:r>
          </a:p>
          <a:p>
            <a:r>
              <a:t>  5. df</a:t>
            </a:r>
          </a:p>
          <a:p>
            <a:r>
              <a:t>  6. = # of documents with word I</a:t>
            </a:r>
          </a:p>
          <a:p>
            <a:r>
              <a:t>  7. score(sense, contextj) =</a:t>
            </a:r>
          </a:p>
          <a:p>
            <a:r>
              <a:t>  8. idfw</a:t>
            </a:r>
          </a:p>
          <a:p>
            <a:r>
              <a:t>  9. w  overlap(signature, context)</a:t>
            </a:r>
          </a:p>
          <a:p>
            <a:r>
              <a:t>  10. This weighting scheme computes scores by dividing the total number of documents by the document frequency of a word.</a:t>
            </a:r>
          </a:p>
          <a:p>
            <a:r>
              <a:t>  11. The resulting inverse document frequency is summed across overlapping signature and context words to score each sense.</a:t>
            </a:r>
          </a:p>
          <a:p>
            <a:r>
              <a:t>  12. Example: Calculating log(N / df) for an overlapping keyword.</a:t>
            </a:r>
          </a:p>
          <a:p/>
          <a:p>
            <a:r>
              <a:t>Read these exactly (do not paraphrase):</a:t>
            </a:r>
          </a:p>
          <a:p>
            <a:r>
              <a:t>  - Inverse document frequency weighting calculates scores using document frequencies Weigh each overlapping word by inverse document frequency N is the total number of documents idf = log N dfi = “document frequency of word i” df = # of documents with word I score(sense, contextj) = idfw w  overlap(signature, context) This weighting scheme computes scores by dividing the total number of documents by the document frequency of a word.</a:t>
            </a:r>
          </a:p>
          <a:p>
            <a:r>
              <a:t>  - Example: Calculating log(N / df) for an overlapping keyword.</a:t>
            </a:r>
          </a:p>
          <a:p/>
          <a:p>
            <a:r>
              <a:t>Say what these mean, in your own words:</a:t>
            </a:r>
          </a:p>
          <a:p>
            <a:r>
              <a:t>  - Inverse document frequency: The log of the total document count divided by the document frequency.</a:t>
            </a:r>
          </a:p>
          <a:p>
            <a:r>
              <a:t>  - Document frequency: The number of documents containing a specific word i.</a:t>
            </a:r>
          </a:p>
          <a:p/>
          <a:p>
            <a:r>
              <a:t>Pause: ask the class what they already know about “Inverse document frequency weighting calculates scores using document frequencies” before revealing the slide.</a:t>
            </a:r>
          </a:p>
          <a:p/>
          <a:p>
            <a:r>
              <a:t>Wording matters here — slow down, keep it precise.</a:t>
            </a:r>
          </a:p>
          <a:p/>
          <a:p>
            <a:r>
              <a:t>~96s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senses are nodes</a:t>
            </a:r>
          </a:p>
          <a:p>
            <a:r>
              <a:t>  2. relations (hypernymy, meronymy) are edges</a:t>
            </a:r>
          </a:p>
          <a:p>
            <a:r>
              <a:t>  3. Also add edge between word and unambiguous gloss words</a:t>
            </a:r>
          </a:p>
          <a:p>
            <a:r>
              <a:t>  4. foodn1</a:t>
            </a:r>
          </a:p>
          <a:p>
            <a:r>
              <a:t>  5. liquidn1</a:t>
            </a:r>
          </a:p>
          <a:p>
            <a:r>
              <a:t>  6. helpingn1</a:t>
            </a:r>
          </a:p>
          <a:p>
            <a:r>
              <a:t>  7. beveragen1</a:t>
            </a:r>
          </a:p>
          <a:p/>
          <a:p>
            <a:r>
              <a:t>Read these exactly (do not paraphrase):</a:t>
            </a:r>
          </a:p>
          <a:p>
            <a:r>
              <a:t>  - GRAPH-BASED METHODS • First, WordNet can be viewed as a graph senses are nodes relations (hypernymy, meronymy) are edges Also add edge between word and unambiguous gloss words foodn1 liquidn1 helpingn1 beveragen1 milk 1 toastn4 drinkn1 sipv1 supv1 consume 1 sip 1 drinkv drinkingn1 consumern1 drinkern1 potationn1 consumptionn1</a:t>
            </a:r>
          </a:p>
          <a:p/>
          <a:p>
            <a:r>
              <a:t>Pause: ask the class what they already know about “GRAPH-BASED METHODS • First, WordNet can be viewed as a graph”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Insert target word and words in its sentential context into the graph, with directed edges to their senses</a:t>
            </a:r>
          </a:p>
          <a:p>
            <a:r>
              <a:t>  2. “She drank some milk”</a:t>
            </a:r>
          </a:p>
          <a:p>
            <a:r>
              <a:t>  3. Now choose the</a:t>
            </a:r>
          </a:p>
          <a:p>
            <a:r>
              <a:t>  4. drinkv</a:t>
            </a:r>
          </a:p>
          <a:p>
            <a:r>
              <a:t>  5. milkn</a:t>
            </a:r>
          </a:p>
          <a:p>
            <a:r>
              <a:t>  6. drinkn1</a:t>
            </a:r>
          </a:p>
          <a:p>
            <a:r>
              <a:t>  7. beveragen1</a:t>
            </a:r>
          </a:p>
          <a:p/>
          <a:p>
            <a:r>
              <a:t>Read these exactly (do not paraphrase):</a:t>
            </a:r>
          </a:p>
          <a:p>
            <a:r>
              <a:t>  - How to use the graph forwsd Insert target word and words in its sentential context into the graph, with directed edges to their senses “She drank some milk” Now choose the drinkv milkn drinkn1 beveragen1 most central sense drinkern1 foodn1 Add some probability to drink 3 boozing 1 nutrimentn1 “drink” and “milk” and compute node with milk 4 highest “pagerank” drink 5 “drink” “milk”</a:t>
            </a:r>
          </a:p>
          <a:p/>
          <a:p>
            <a:r>
              <a:t>Pause: ask the class what they already know about “How to use the graph forwsd”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PROBLEM: Supervised and dictionary-based approaches require large hand-built resources</a:t>
            </a:r>
          </a:p>
          <a:p>
            <a:r>
              <a:t>  2. What if you don’t have so much training data?</a:t>
            </a:r>
          </a:p>
          <a:p>
            <a:r>
              <a:t>  3. Solution: Bootstrapping</a:t>
            </a:r>
          </a:p>
          <a:p>
            <a:r>
              <a:t>  4. Generalize from a very small hand-labeledseed-set.</a:t>
            </a:r>
          </a:p>
          <a:p/>
          <a:p>
            <a:r>
              <a:t>Pause: ask the class what they already know about “SEMI-SUPERVISEDLEARNING”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For bass</a:t>
            </a:r>
          </a:p>
          <a:p>
            <a:r>
              <a:t>  2. Rely on “One sense per collocation” rule</a:t>
            </a:r>
          </a:p>
          <a:p>
            <a:r>
              <a:t>  3. A word reoccurring in collocation with the same word will almost surely have the same sense.</a:t>
            </a:r>
          </a:p>
          <a:p>
            <a:r>
              <a:t>  4. the word play occurs with the music sense of bass</a:t>
            </a:r>
          </a:p>
          <a:p>
            <a:r>
              <a:t>  5. the word fish occurs with the fish sense of bass</a:t>
            </a:r>
          </a:p>
          <a:p/>
          <a:p>
            <a:r>
              <a:t>Read these exactly (do not paraphrase):</a:t>
            </a:r>
          </a:p>
          <a:p>
            <a:r>
              <a:t>  - Boot strapping For bass Rely on “One sense per collocation” rule A word reoccurring in collocation with the same word will almost surely have the same sense.</a:t>
            </a:r>
          </a:p>
          <a:p/>
          <a:p>
            <a:r>
              <a:t>Pause: ask the class what they already know about “Boot strapping”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 need more good teachers – right now, there are only a half a dozen who can play the free bass with ease.</a:t>
            </a:r>
          </a:p>
          <a:p>
            <a:r>
              <a:t>  2. An electric guitar and bass player stand off to one side, not really part of the scene, just as a sort of nod to gringo </a:t>
            </a:r>
          </a:p>
          <a:p>
            <a:r>
              <a:t>  3. The researchers said the worms spend part of their life cycle in such fish as Pacific salmon and striped bass and Pacifi</a:t>
            </a:r>
          </a:p>
          <a:p>
            <a:r>
              <a:t>  4. And it all started when fishermen decided the striped bass in Lake Mead were too skinny.</a:t>
            </a:r>
          </a:p>
          <a:p/>
          <a:p>
            <a:r>
              <a:t>Pause: ask the class what they already know about “Sentences extracting using “FISH” and “PLAY””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SEMI-SUPERVISED:YAROWSKY</a:t>
            </a:r>
          </a:p>
          <a:p>
            <a:r>
              <a:t>  2. The task:</a:t>
            </a:r>
          </a:p>
          <a:p>
            <a:r>
              <a:t>  3. Learn a decision list classifier for each ambiguous word (e.g. “plant”: living/factory?) from lots of unlabeled sentence</a:t>
            </a:r>
          </a:p>
          <a:p>
            <a:r>
              <a:t>  4. Features used by the classifier:</a:t>
            </a:r>
          </a:p>
          <a:p>
            <a:r>
              <a:t>  5. Collocations: “plant life”, “manufacturing plant”</a:t>
            </a:r>
          </a:p>
          <a:p>
            <a:r>
              <a:t>  6. Nearby (± 2-10) words: “animal ”, “automate”</a:t>
            </a:r>
          </a:p>
          <a:p>
            <a:r>
              <a:t>  7. Assumption 1: One-sense-per-collocation</a:t>
            </a:r>
          </a:p>
          <a:p/>
          <a:p>
            <a:r>
              <a:t>Read these exactly (do not paraphrase):</a:t>
            </a:r>
          </a:p>
          <a:p>
            <a:r>
              <a:t>  - Algorithm SEMI-SUPERVISED:YAROWSKY The task: Learn a decision list classifier for each ambiguous word (e.g.</a:t>
            </a:r>
          </a:p>
          <a:p>
            <a:r>
              <a:t>  - “plant”: living/factory?)</a:t>
            </a:r>
          </a:p>
          <a:p>
            <a:r>
              <a:t>  - Features used by the classifier: Collocations: “plant life”, “manufacturing plant” Nearby (± 2-10) words: “animal ”, “automate” Assumption 1: One-sense-per-collocation “plant” in “plant life” always refers to living plants Assumption 2: One-sense-per-discourse A text talks either about living plants or about factories.</a:t>
            </a:r>
          </a:p>
          <a:p/>
          <a:p>
            <a:r>
              <a:t>Say what these mean, in your own words:</a:t>
            </a:r>
          </a:p>
          <a:p>
            <a:r>
              <a:t>  - A decision list: ordered list of yes-no questions bass1 = fish vs. bass2 = music</a:t>
            </a:r>
          </a:p>
          <a:p/>
          <a:p>
            <a:r>
              <a:t>Pause: ask the class what they already know about “Algorithm”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Initialization:</a:t>
            </a:r>
          </a:p>
          <a:p>
            <a:r>
              <a:t>  2. Label a few seed examples.</a:t>
            </a:r>
          </a:p>
          <a:p>
            <a:r>
              <a:t>  3. Train an initial classifier on these seed examples</a:t>
            </a:r>
          </a:p>
          <a:p>
            <a:r>
              <a:t>  4. 2. Relabel:</a:t>
            </a:r>
          </a:p>
          <a:p>
            <a:r>
              <a:t>  5. Label all examples with current classifier.</a:t>
            </a:r>
          </a:p>
          <a:p>
            <a:r>
              <a:t>  6. Put all examples that are labeled with high confidence into a new labeled data set.</a:t>
            </a:r>
          </a:p>
          <a:p>
            <a:r>
              <a:t>  7. Optional: apply one-sense-per-discourse to correct mistakes and get additional labels</a:t>
            </a:r>
          </a:p>
          <a:p/>
          <a:p>
            <a:r>
              <a:t>Pause: ask the class what they already know about “YAROWSKY’S training regime”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“Initial STATE: few labels”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“The initial decision list”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“Labels”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“Final STATE: almost everything labeled”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“INITIALVS. final decision lists”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LIFE</a:t>
            </a:r>
          </a:p>
          <a:p>
            <a:r>
              <a:t>  2. LIFE</a:t>
            </a:r>
          </a:p>
          <a:p>
            <a:r>
              <a:t>  3. ? ?</a:t>
            </a:r>
          </a:p>
          <a:p>
            <a:r>
              <a:t>  4. ? ?</a:t>
            </a:r>
          </a:p>
          <a:p>
            <a:r>
              <a:t>  5. ? ?</a:t>
            </a:r>
          </a:p>
          <a:p>
            <a:r>
              <a:t>  6. ? ?</a:t>
            </a:r>
          </a:p>
          <a:p>
            <a:r>
              <a:t>  7. ? ?</a:t>
            </a:r>
          </a:p>
          <a:p/>
          <a:p>
            <a:r>
              <a:t>Full detail (from the source):</a:t>
            </a:r>
          </a:p>
          <a:p>
            <a:r>
              <a:t>  - LIFE - LIFE - ?</a:t>
            </a:r>
          </a:p>
          <a:p>
            <a:r>
              <a:t>  ?</a:t>
            </a:r>
          </a:p>
          <a:p>
            <a:r>
              <a:t>  - ?</a:t>
            </a:r>
          </a:p>
          <a:p>
            <a:r>
              <a:t>  ?</a:t>
            </a:r>
          </a:p>
          <a:p>
            <a:r>
              <a:t>  - ?</a:t>
            </a:r>
          </a:p>
          <a:p>
            <a:r>
              <a:t>  ?</a:t>
            </a:r>
          </a:p>
          <a:p>
            <a:r>
              <a:t>  - ?</a:t>
            </a:r>
          </a:p>
          <a:p>
            <a:r>
              <a:t>  ?</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Hand labeling 2) “One sense per collocation”:</a:t>
            </a:r>
          </a:p>
          <a:p>
            <a:r>
              <a:t>  2. A word reoccurring in collocation with the same word will almost surely have the same sense.</a:t>
            </a:r>
          </a:p>
          <a:p>
            <a:r>
              <a:t>  3. 3) “One sense per discourse”:</a:t>
            </a:r>
          </a:p>
          <a:p>
            <a:r>
              <a:t>  4. The sense of a word is highly consistent within a document --Yarowsky (1995)</a:t>
            </a:r>
          </a:p>
          <a:p>
            <a:r>
              <a:t>  5. (At least for non-functionwords, and especially topic-specific words)</a:t>
            </a:r>
          </a:p>
          <a:p/>
          <a:p>
            <a:r>
              <a:t>Read these exactly (do not paraphrase):</a:t>
            </a:r>
          </a:p>
          <a:p>
            <a:r>
              <a:t>  - SUMMARY: generating seeds 1) Hand labeling 2) “One sense per collocation”: A word reoccurring in collocation with the same word will almost surely have the same sense.</a:t>
            </a:r>
          </a:p>
          <a:p>
            <a:r>
              <a:t>  - 3) “One sense per discourse”: The sense of a word is highly consistent within a document --Yarowsky (1995) (At least for non-functionwords, and especially topic-specific words)</a:t>
            </a:r>
          </a:p>
          <a:p/>
          <a:p>
            <a:r>
              <a:t>Pause: ask the class what they already know about “SUMMARY: generating seeds”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KEY IDEA</a:t>
            </a:r>
          </a:p>
          <a:p>
            <a:r>
              <a:t>  2. Instead of using “dictionary defined senses” extract the “senses from the corpus” itself</a:t>
            </a:r>
          </a:p>
          <a:p>
            <a:r>
              <a:t>  3. These “corpus senses” or “uses” correspond to clusters of similar contexts for a word.</a:t>
            </a:r>
          </a:p>
          <a:p>
            <a:r>
              <a:t>  4. (river)</a:t>
            </a:r>
          </a:p>
          <a:p>
            <a:r>
              <a:t>  5. (victory)</a:t>
            </a:r>
          </a:p>
          <a:p>
            <a:r>
              <a:t>  6. (electricity)</a:t>
            </a:r>
          </a:p>
          <a:p>
            <a:r>
              <a:t>  7. (world)</a:t>
            </a:r>
          </a:p>
          <a:p/>
          <a:p>
            <a:r>
              <a:t>Read these exactly (do not paraphrase):</a:t>
            </a:r>
          </a:p>
          <a:p>
            <a:r>
              <a:t>  - Hyperlex KEY IDEA Instead of using “dictionary defined senses” extract the “senses from the corpus” itself These “corpus senses” or “uses” correspond to clusters of similar contexts for a word.</a:t>
            </a:r>
          </a:p>
          <a:p>
            <a:r>
              <a:t>  - (river) (victory) (electricity) (world) (water) (flow) (cup) (team)</a:t>
            </a:r>
          </a:p>
          <a:p/>
          <a:p>
            <a:r>
              <a:t>Pause: ask the class what they already know about “Hyperlex”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Different uses of a target word form highly interconnected bundles (or high density components)</a:t>
            </a:r>
          </a:p>
          <a:p>
            <a:r>
              <a:t>  2. In each high density component one of the nodes (hub) has a higher degree than the others.</a:t>
            </a:r>
          </a:p>
          <a:p>
            <a:r>
              <a:t>  3. Step 1: Construct co-occurrence graph, G.</a:t>
            </a:r>
          </a:p>
          <a:p>
            <a:r>
              <a:t>  4. Step 2: Arrange nodes in G in decreasing order of in-degree.</a:t>
            </a:r>
          </a:p>
          <a:p>
            <a:r>
              <a:t>  5. Step 3: Select the node from G which has the highest frequency. This node will be the hub of the first high density comp</a:t>
            </a:r>
          </a:p>
          <a:p>
            <a:r>
              <a:t>  6. Step 4:Delete this hub and all its neighbors from G.</a:t>
            </a:r>
          </a:p>
          <a:p>
            <a:r>
              <a:t>  7. Step 5:Repeat Step 3 and 4 to detect the hubs of other high density components</a:t>
            </a:r>
          </a:p>
          <a:p/>
          <a:p>
            <a:r>
              <a:t>Read these exactly (do not paraphrase):</a:t>
            </a:r>
          </a:p>
          <a:p>
            <a:r>
              <a:t>  - Detecting root hubs by iteratively removing highest-degree nodes Different uses of a target word form highly interconnected bundles (or high density components) In each high density component one of the nodes (hub) has a higher degree than the others.</a:t>
            </a:r>
          </a:p>
          <a:p/>
          <a:p>
            <a:r>
              <a:t>Say what these mean, in your own words:</a:t>
            </a:r>
          </a:p>
          <a:p>
            <a:r>
              <a:t>  - co-occurrence graph: a graph where nodes represent words and edges connect words that appear together</a:t>
            </a:r>
          </a:p>
          <a:p>
            <a:r>
              <a:t>  - high-density component: a tightly connected subgraph where one node has a markedly higher degree</a:t>
            </a:r>
          </a:p>
          <a:p/>
          <a:p>
            <a:r>
              <a:t>Pause: ask the class what they already know about “Detecting root hubs by iteratively removing highest-degree nodes”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four components for “barrage” can be characterized as:</a:t>
            </a:r>
          </a:p>
          <a:p>
            <a:r>
              <a:t>  2. The slide lists four distinct semantic components that the word “barrage” can belong to.</a:t>
            </a:r>
          </a:p>
          <a:p>
            <a:r>
              <a:t>  3. Each component groups related senses such as water control, military fortification, or a type of barrier.</a:t>
            </a:r>
          </a:p>
          <a:p>
            <a:r>
              <a:t>  4. Understanding these groups helps in selecting the correct meaning in context.</a:t>
            </a:r>
          </a:p>
          <a:p/>
          <a:p>
            <a:r>
              <a:t>Pause: ask the class what they already know about “Characterizing the four components for the target word “barrage””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18”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Attach each node to the root hub closest to it.</a:t>
            </a:r>
          </a:p>
          <a:p>
            <a:r>
              <a:t>  2. The distance between two nodes is measured as the smallest sum of the weights of the edges on the paths linking them.</a:t>
            </a:r>
          </a:p>
          <a:p>
            <a:r>
              <a:t>  3. Step 1:</a:t>
            </a:r>
          </a:p>
          <a:p>
            <a:r>
              <a:t>  4. Add the target word to the graph G.</a:t>
            </a:r>
          </a:p>
          <a:p>
            <a:r>
              <a:t>  5. Step 2:</a:t>
            </a:r>
          </a:p>
          <a:p>
            <a:r>
              <a:t>  6. Compute a Minimum Spanning Tree (MST) over G taking the target word as the root.</a:t>
            </a:r>
          </a:p>
          <a:p/>
          <a:p>
            <a:r>
              <a:t>Read these exactly (do not paraphrase):</a:t>
            </a:r>
          </a:p>
          <a:p>
            <a:r>
              <a:t>  - Step 2: Compute a Minimum Spanning Tree (MST) over G taking the target word as the root.</a:t>
            </a:r>
          </a:p>
          <a:p/>
          <a:p>
            <a:r>
              <a:t>Say what these mean, in your own words:</a:t>
            </a:r>
          </a:p>
          <a:p>
            <a:r>
              <a:t>  - minimum spanning tree: a tree connecting all nodes with the smallest possible total edge weight</a:t>
            </a:r>
          </a:p>
          <a:p/>
          <a:p>
            <a:r>
              <a:t>Pause: ask the class what they already know about “Assigning nodes to the nearest root hub using a minimum spanning tree”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Each node in the MST is assigned a score vector with as many dimensions as there are components.</a:t>
            </a:r>
          </a:p>
          <a:p>
            <a:r>
              <a:t>  2. E.g. pluei(rain) belongs to the component EAU(water) and d(eau, pluie) = 0.82, spluei = (0.55, 0, 0, 0)</a:t>
            </a:r>
          </a:p>
          <a:p>
            <a:r>
              <a:t>  3. Step 1: For a given context, add the score vectors of all words in that context.</a:t>
            </a:r>
          </a:p>
          <a:p>
            <a:r>
              <a:t>  4. Step 2: Select the component that receives the highest weight.</a:t>
            </a:r>
          </a:p>
          <a:p/>
          <a:p>
            <a:r>
              <a:t>Read these exactly (do not paraphrase):</a:t>
            </a:r>
          </a:p>
          <a:p>
            <a:r>
              <a:t>  - pluei(rain) belongs to the component EAU(water) and d(eau, pluie) = 0.82, spluei = (0.55, 0, 0, 0) Step 1: For a given context, add the score vectors of all words in that context.</a:t>
            </a:r>
          </a:p>
          <a:p/>
          <a:p>
            <a:r>
              <a:t>Say what these mean, in your own words:</a:t>
            </a:r>
          </a:p>
          <a:p>
            <a:r>
              <a:t>  - mst: Compute a Minimum Spanning Tree</a:t>
            </a:r>
          </a:p>
          <a:p>
            <a:r>
              <a:t>  - eau: winner in this case</a:t>
            </a:r>
          </a:p>
          <a:p>
            <a:r>
              <a:t>  - score vector: a numeric representation indicating a node’s association strength with each component</a:t>
            </a:r>
          </a:p>
          <a:p/>
          <a:p>
            <a:r>
              <a:t>Pause: ask the class what they already know about “Scoring MST nodes with component vectors for sense selection” before revealing the slide.</a:t>
            </a:r>
          </a:p>
          <a:p/>
          <a:p>
            <a:r>
              <a:t>~40s</a:t>
            </a:r>
          </a:p>
          <a:p>
            <a:r>
              <a:t>Ask the class: Where do you lose the most — and what could you change there?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 barrage recueille l’eau a la saison des plueis. The dam collects water during the rainy season.</a:t>
            </a:r>
          </a:p>
          <a:p>
            <a:r>
              <a:t>  2. EAU is the winner in this case.</a:t>
            </a:r>
          </a:p>
          <a:p>
            <a:r>
              <a:t>  3. A reliability coefficient (ρ) can be calculated as the difference (δ) between the best score and the second best score.</a:t>
            </a:r>
          </a:p>
          <a:p>
            <a:r>
              <a:t>  4. ρ = 1 – (1/(1+ δ))</a:t>
            </a:r>
          </a:p>
          <a:p/>
          <a:p>
            <a:r>
              <a:t>Read these exactly (do not paraphrase):</a:t>
            </a:r>
          </a:p>
          <a:p>
            <a:r>
              <a:t>  - A reliability coefficient (ρ) can be calculated as the difference (δ) between the best score and the second best score.</a:t>
            </a:r>
          </a:p>
          <a:p>
            <a:r>
              <a:t>  - ρ = 1 – (1/(1+ δ))</a:t>
            </a:r>
          </a:p>
          <a:p/>
          <a:p>
            <a:r>
              <a:t>Say what these mean, in your own words:</a:t>
            </a:r>
          </a:p>
          <a:p>
            <a:r>
              <a:t>  - reliability coefficient: a value between 0 and 1 expressing confidence in the chosen sense</a:t>
            </a:r>
          </a:p>
          <a:p/>
          <a:p>
            <a:r>
              <a:t>Pause: ask the class what they already know about “Calculating a reliability coefficient from the best and second best scores” before revealing the slide.</a:t>
            </a:r>
          </a:p>
          <a:p/>
          <a:p>
            <a:r>
              <a:t>Wording matters here — slow down, keep it precise.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 Sense Disambiguation: choosing correct sense in context</a:t>
            </a:r>
          </a:p>
          <a:p>
            <a:r>
              <a:t>  2. Applications: MT, QA, etc.</a:t>
            </a:r>
          </a:p>
          <a:p>
            <a:r>
              <a:t>  3. Three classes of Methods</a:t>
            </a:r>
          </a:p>
          <a:p>
            <a:r>
              <a:t>  4. Supervised Machine Learning: Naive Bayes classifier</a:t>
            </a:r>
          </a:p>
          <a:p>
            <a:r>
              <a:t>  5. Thesaurus/Dictionary Methods</a:t>
            </a:r>
          </a:p>
          <a:p>
            <a:r>
              <a:t>  6. Semi-Supervised Learning</a:t>
            </a:r>
          </a:p>
          <a:p>
            <a:r>
              <a:t>  7. Main intuition</a:t>
            </a:r>
          </a:p>
          <a:p/>
          <a:p>
            <a:r>
              <a:t>Say what these mean, in your own words:</a:t>
            </a:r>
          </a:p>
          <a:p>
            <a:r>
              <a:t>  - Word sense disambiguation: important method of NLP by which the meaning of a word is determined, which is used in a particular context</a:t>
            </a:r>
          </a:p>
          <a:p>
            <a:r>
              <a:t>  - supervised machine learning: learning from labeled examples to predict word senses</a:t>
            </a:r>
          </a:p>
          <a:p/>
          <a:p>
            <a:r>
              <a:t>Pause: ask the class what they already know about “Word sense disambiguation selects the correct meaning using context”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Eau: winner in this case</a:t>
            </a:r>
          </a:p>
          <a:p>
            <a:r>
              <a:t>  2. A decision list: ordered list of yes-no questions bass1 = fish vs. bass2 = music</a:t>
            </a:r>
          </a:p>
          <a:p>
            <a:r>
              <a:t>  3. Mst: Compute a Minimum Spanning Tree</a:t>
            </a:r>
          </a:p>
          <a:p>
            <a:r>
              <a:t>  4. Carpet: lemma for carpets Dormir is the lemma for duermes</a:t>
            </a:r>
          </a:p>
          <a:p>
            <a:r>
              <a:t>  5. Semantic analysis: process of finding the meaning from text</a:t>
            </a:r>
          </a:p>
          <a:p/>
          <a:p>
            <a:r>
              <a:t>Read these exactly (do not paraphrase):</a:t>
            </a:r>
          </a:p>
          <a:p>
            <a:r>
              <a:t>  - Match the terms Eau: winner in this case A decision list: ordered list of yes-no questions bass1 = fish vs.</a:t>
            </a:r>
          </a:p>
          <a:p>
            <a:r>
              <a:t>  - bass2 = music Mst: Compute a Minimum Spanning Tree Carpet: lemma for carpets Dormir is the lemma for duermes Semantic analysis: process of finding the meaning from text</a:t>
            </a:r>
          </a:p>
          <a:p/>
          <a:p>
            <a:r>
              <a:t>Pause: ask the class what they already know about “Match the terms” before revealing the slide.</a:t>
            </a:r>
          </a:p>
          <a:p/>
          <a:p>
            <a:r>
              <a:t>Wording matters here — slow down, keep it precise.</a:t>
            </a:r>
          </a:p>
          <a:p/>
          <a:p>
            <a:r>
              <a:t>~47s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MODULE 4: Introduction, Meaning Representation</a:t>
            </a:r>
          </a:p>
          <a:p>
            <a:r>
              <a:t>  2. Homonymy (2/2): S: S: (n) position, place (the particular portion of space occupied by something) "he put the lamp back </a:t>
            </a:r>
          </a:p>
          <a:p>
            <a:r>
              <a:t>  3. HIERARCHICAL SYNSET RELATIONS: NOUNS: Hypernym/hyponym (between concepts) The more general ‘meal’ is a hypernym of</a:t>
            </a:r>
          </a:p>
          <a:p>
            <a:r>
              <a:t>  4. SEMCOR: wf pos=PRP&gt;He&lt;/wf&gt;</a:t>
            </a:r>
          </a:p>
          <a:p>
            <a:r>
              <a:t>  5. MACHINE LEARNING: METHODS: SUPERVISED</a:t>
            </a:r>
          </a:p>
          <a:p>
            <a:r>
              <a:t>  6. The Lesk algorithm: Basic idea: Compare the context with the dictionary definition of the sense.</a:t>
            </a:r>
          </a:p>
          <a:p>
            <a:r>
              <a:t>  7. ALGORITHM: SEMI-SUPERVISED:YAROWSKY</a:t>
            </a:r>
          </a:p>
          <a:p/>
          <a:p>
            <a:r>
              <a:t>Read these exactly (do not paraphrase):</a:t>
            </a:r>
          </a:p>
          <a:p>
            <a:r>
              <a:t>  - Key takeaways MODULE 4: Introduction, Meaning Representation Homonymy (2/2): S: S: (n) position, place (the particular portion of space occupied by something) "he put the lamp back in its place"… HIERARCHICAL SYNSET RELATIONS: NOUNS: Hypernym/hyponym (between concepts) The more general ‘meal’ is a hypernym of SEMCOR: wf pos=PRP&gt;He&lt;/wf&gt; MACHINE LEARNING: METHODS: SUPERVISED The Lesk algorithm: Basic idea: Compare the context with the dictionary definition of the sense.</a:t>
            </a:r>
          </a:p>
          <a:p/>
          <a:p>
            <a:r>
              <a:t>Pause: ask the class what they already know about “Key takeaways” before revealing the slide.</a:t>
            </a:r>
          </a:p>
          <a:p/>
          <a:p>
            <a:r>
              <a:t>Wording matters here — slow down, keep it precise.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1e1db11c6435b7a63d9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localhost:8000/api/art/101aead022628d347425"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hyperlink" Target="http://localhost:8000/api/art/3b07bd7d40ce5ae866c4" TargetMode="External"/><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hyperlink" Target="http://localhost:8000/api/art/9edfd1ff813e1fd4517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hyperlink" Target="http://localhost:8000/api/art/f357a2813294db303db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hyperlink" Target="http://localhost:8000/api/art/be8c789a1555826c9c6a" TargetMode="External"/><Relationship Id="rId5" Type="http://schemas.openxmlformats.org/officeDocument/2006/relationships/image" Target="../media/image19.png"/><Relationship Id="rId6" Type="http://schemas.openxmlformats.org/officeDocument/2006/relationships/image" Target="../media/image4.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hyperlink" Target="http://localhost:8000/api/art/74ee4ea201ba40c114e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hyperlink" Target="http://localhost:8000/api/art/1d34a7bc4c5e1ef19e9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hyperlink" Target="http://localhost:8000/api/art/05d0d7f692670351a80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hyperlink" Target="http://localhost:8000/api/art/c6a4d8823302d0a6f8b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hyperlink" Target="http://localhost:8000/api/art/da55a71b207ad9059dca" TargetMode="External"/><Relationship Id="rId5" Type="http://schemas.openxmlformats.org/officeDocument/2006/relationships/image" Target="../media/image32.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hyperlink" Target="http://localhost:8000/api/art/b7bb9a489fec61696de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hyperlink" Target="http://localhost:8000/api/art/cd0adfdc77233b23f178"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hyperlink" Target="http://localhost:8000/api/art/75d0c682abe877db3a7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localhost:8000/api/labs/auto-82778e44ebd5" TargetMode="External"/><Relationship Id="rId4" Type="http://schemas.openxmlformats.org/officeDocument/2006/relationships/image" Target="../media/image36.png"/><Relationship Id="rId5" Type="http://schemas.openxmlformats.org/officeDocument/2006/relationships/hyperlink" Target="http://localhost:8000/api/art/19126fa102134b0afbc2" TargetMode="External"/><Relationship Id="rId6" Type="http://schemas.openxmlformats.org/officeDocument/2006/relationships/image" Target="../media/image4.png"/><Relationship Id="rId7" Type="http://schemas.openxmlformats.org/officeDocument/2006/relationships/image" Target="../media/image37.png"/><Relationship Id="rId8" Type="http://schemas.openxmlformats.org/officeDocument/2006/relationships/image" Target="../media/image5.png"/><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hyperlink" Target="http://localhost:8000/api/art/f46d8d90c78696f85008"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0.png"/><Relationship Id="rId10"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0.png"/><Relationship Id="rId4" Type="http://schemas.openxmlformats.org/officeDocument/2006/relationships/hyperlink" Target="http://localhost:8000/api/art/2df075a424085fec99d9" TargetMode="External"/><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hyperlink" Target="http://localhost:8000/api/art/a5a4823287abf5c9c4a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5.png"/><Relationship Id="rId4" Type="http://schemas.openxmlformats.org/officeDocument/2006/relationships/hyperlink" Target="http://localhost:8000/api/art/541a9e8905d95b6a7d4c" TargetMode="External"/><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9.png"/><Relationship Id="rId8"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7.png"/><Relationship Id="rId4" Type="http://schemas.openxmlformats.org/officeDocument/2006/relationships/hyperlink" Target="http://localhost:8000/api/art/df79b6e3f15125ea4a9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hyperlink" Target="http://localhost:8000/api/art/1312d0c9b0f1e8935e7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hyperlink" Target="http://localhost:8000/api/art/3007e4a45ea388dfc6d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hyperlink" Target="http://localhost:8000/api/art/796447b79074053de40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1.png"/><Relationship Id="rId4" Type="http://schemas.openxmlformats.org/officeDocument/2006/relationships/hyperlink" Target="http://localhost:8000/api/art/efa08c29ed09ef9bcac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2.png"/><Relationship Id="rId4" Type="http://schemas.openxmlformats.org/officeDocument/2006/relationships/hyperlink" Target="http://localhost:8000/api/art/76adfa739863dc40ccdb"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3.png"/><Relationship Id="rId4" Type="http://schemas.openxmlformats.org/officeDocument/2006/relationships/hyperlink" Target="http://localhost:8000/api/art/e2afa5ea54b0308ef329" TargetMode="External"/><Relationship Id="rId5" Type="http://schemas.openxmlformats.org/officeDocument/2006/relationships/image" Target="../media/image38.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43.png"/><Relationship Id="rId9"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hyperlink" Target="http://localhost:8000/api/art/23e7ed37d101318834f5"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localhost:8000/api/labs/naive_bayes_wsd" TargetMode="External"/><Relationship Id="rId4" Type="http://schemas.openxmlformats.org/officeDocument/2006/relationships/image" Target="../media/image58.png"/><Relationship Id="rId5" Type="http://schemas.openxmlformats.org/officeDocument/2006/relationships/hyperlink" Target="http://localhost:8000/api/art/ca86c5812648de4388d2"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localhost:8000/api/labs/naive_bayes_wsd" TargetMode="Externa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0.png"/><Relationship Id="rId4" Type="http://schemas.openxmlformats.org/officeDocument/2006/relationships/hyperlink" Target="http://localhost:8000/api/art/2fcd427930596ad321d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3.png"/><Relationship Id="rId4" Type="http://schemas.openxmlformats.org/officeDocument/2006/relationships/hyperlink" Target="http://localhost:8000/api/art/72c26908f2c9ecd1d0e5"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4.png"/><Relationship Id="rId4" Type="http://schemas.openxmlformats.org/officeDocument/2006/relationships/hyperlink" Target="http://localhost:8000/api/art/8b95d624e0485f688905" TargetMode="External"/><Relationship Id="rId5" Type="http://schemas.openxmlformats.org/officeDocument/2006/relationships/image" Target="../media/image65.png"/><Relationship Id="rId6" Type="http://schemas.openxmlformats.org/officeDocument/2006/relationships/image" Target="../media/image4.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9.png"/><Relationship Id="rId4" Type="http://schemas.openxmlformats.org/officeDocument/2006/relationships/hyperlink" Target="http://localhost:8000/api/art/298216f69fa2593dc1e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70.png"/><Relationship Id="rId4" Type="http://schemas.openxmlformats.org/officeDocument/2006/relationships/hyperlink" Target="http://localhost:8000/api/art/6117805acd4633a1bf00"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1.png"/><Relationship Id="rId4" Type="http://schemas.openxmlformats.org/officeDocument/2006/relationships/hyperlink" Target="http://localhost:8000/api/art/4c3481bfd814f6f866a3" TargetMode="External"/><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image" Target="../media/image7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76.png"/><Relationship Id="rId4" Type="http://schemas.openxmlformats.org/officeDocument/2006/relationships/hyperlink" Target="http://localhost:8000/api/art/a10acd60a3620e4230a4" TargetMode="External"/><Relationship Id="rId5" Type="http://schemas.openxmlformats.org/officeDocument/2006/relationships/hyperlink" Target="http://localhost:8000/api/labs/auto-bc059c238ee7"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77.png"/><Relationship Id="rId4" Type="http://schemas.openxmlformats.org/officeDocument/2006/relationships/hyperlink" Target="http://localhost:8000/api/art/05ef152df246b64f84b1" TargetMode="External"/><Relationship Id="rId5" Type="http://schemas.openxmlformats.org/officeDocument/2006/relationships/chart" Target="../charts/char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78.png"/><Relationship Id="rId4" Type="http://schemas.openxmlformats.org/officeDocument/2006/relationships/hyperlink" Target="http://localhost:8000/api/art/282bbd93a307976c4cac"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79.png"/><Relationship Id="rId4" Type="http://schemas.openxmlformats.org/officeDocument/2006/relationships/hyperlink" Target="http://localhost:8000/api/art/0ca7bcdaed1c7d681fe6"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80.png"/><Relationship Id="rId4" Type="http://schemas.openxmlformats.org/officeDocument/2006/relationships/hyperlink" Target="http://localhost:8000/api/art/0a20920fed75e9a8ff9a"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81.png"/><Relationship Id="rId4" Type="http://schemas.openxmlformats.org/officeDocument/2006/relationships/hyperlink" Target="http://localhost:8000/api/art/e557fccefa2088c5d17a" TargetMode="External"/><Relationship Id="rId5" Type="http://schemas.openxmlformats.org/officeDocument/2006/relationships/hyperlink" Target="http://localhost:8000/api/labs/auto-396f0acc6b36"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82.png"/><Relationship Id="rId4" Type="http://schemas.openxmlformats.org/officeDocument/2006/relationships/hyperlink" Target="http://localhost:8000/api/art/4014e5aaebfbc65cff35"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83.png"/><Relationship Id="rId4" Type="http://schemas.openxmlformats.org/officeDocument/2006/relationships/hyperlink" Target="http://localhost:8000/api/art/5070141ef16b1d6a4e56"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4.png"/><Relationship Id="rId4" Type="http://schemas.openxmlformats.org/officeDocument/2006/relationships/hyperlink" Target="http://localhost:8000/api/art/62e8883215258991357c" TargetMode="External"/><Relationship Id="rId5" Type="http://schemas.openxmlformats.org/officeDocument/2006/relationships/image" Target="../media/image85.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8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87.png"/><Relationship Id="rId4" Type="http://schemas.openxmlformats.org/officeDocument/2006/relationships/hyperlink" Target="http://localhost:8000/api/art/1ee067fb9754b7661398"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88.png"/><Relationship Id="rId4" Type="http://schemas.openxmlformats.org/officeDocument/2006/relationships/hyperlink" Target="http://localhost:8000/api/art/e7bc213821ab171ca687" TargetMode="External"/><Relationship Id="rId5" Type="http://schemas.openxmlformats.org/officeDocument/2006/relationships/image" Target="../media/image14.png"/><Relationship Id="rId6" Type="http://schemas.openxmlformats.org/officeDocument/2006/relationships/image" Target="../media/image55.png"/><Relationship Id="rId7" Type="http://schemas.openxmlformats.org/officeDocument/2006/relationships/image" Target="../media/image4.png"/><Relationship Id="rId8"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89.png"/><Relationship Id="rId4" Type="http://schemas.openxmlformats.org/officeDocument/2006/relationships/hyperlink" Target="http://localhost:8000/api/art/a09651b976e79bf15a8a"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90.png"/><Relationship Id="rId4" Type="http://schemas.openxmlformats.org/officeDocument/2006/relationships/hyperlink" Target="http://localhost:8000/api/art/b560a3f7ae5db578e2fb"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91.png"/><Relationship Id="rId4" Type="http://schemas.openxmlformats.org/officeDocument/2006/relationships/hyperlink" Target="http://localhost:8000/api/art/6ad67742482bd1734cf0" TargetMode="External"/><Relationship Id="rId5" Type="http://schemas.openxmlformats.org/officeDocument/2006/relationships/image" Target="../media/image4.png"/><Relationship Id="rId6" Type="http://schemas.openxmlformats.org/officeDocument/2006/relationships/image" Target="../media/image92.png"/><Relationship Id="rId7" Type="http://schemas.openxmlformats.org/officeDocument/2006/relationships/image" Target="../media/image5.png"/><Relationship Id="rId8" Type="http://schemas.openxmlformats.org/officeDocument/2006/relationships/image" Target="../media/image9.png"/><Relationship Id="rId9" Type="http://schemas.openxmlformats.org/officeDocument/2006/relationships/image" Target="../media/image67.png"/><Relationship Id="rId10" Type="http://schemas.openxmlformats.org/officeDocument/2006/relationships/image" Target="../media/image9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94.png"/><Relationship Id="rId4" Type="http://schemas.openxmlformats.org/officeDocument/2006/relationships/hyperlink" Target="http://localhost:8000/api/art/4b5291ad19f21857a698"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9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95.png"/><Relationship Id="rId4" Type="http://schemas.openxmlformats.org/officeDocument/2006/relationships/image" Target="../media/image4.png"/><Relationship Id="rId5"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96.png"/><Relationship Id="rId4" Type="http://schemas.openxmlformats.org/officeDocument/2006/relationships/hyperlink" Target="http://localhost:8000/api/art/726b2b63567a925b375c"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97.png"/><Relationship Id="rId4" Type="http://schemas.openxmlformats.org/officeDocument/2006/relationships/hyperlink" Target="http://localhost:8000/api/art/a017dcc3224161049094"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98.png"/><Relationship Id="rId4" Type="http://schemas.openxmlformats.org/officeDocument/2006/relationships/hyperlink" Target="http://localhost:8000/api/art/1079cc0a557e459235ed"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99.png"/><Relationship Id="rId4" Type="http://schemas.openxmlformats.org/officeDocument/2006/relationships/hyperlink" Target="http://localhost:8000/api/art/e82914303ab439c62a65"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hyperlink" Target="http://localhost:8000/api/labs/pos_tagging_hmm" TargetMode="External"/><Relationship Id="rId4" Type="http://schemas.openxmlformats.org/officeDocument/2006/relationships/image" Target="../media/image100.png"/><Relationship Id="rId5" Type="http://schemas.openxmlformats.org/officeDocument/2006/relationships/hyperlink" Target="http://localhost:8000/api/art/2e00b5dcb3d1ce1b710b" TargetMode="External"/><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56.png"/><Relationship Id="rId9" Type="http://schemas.openxmlformats.org/officeDocument/2006/relationships/image" Target="../media/image54.png"/><Relationship Id="rId10" Type="http://schemas.openxmlformats.org/officeDocument/2006/relationships/image" Target="../media/image103.png"/><Relationship Id="rId11" Type="http://schemas.openxmlformats.org/officeDocument/2006/relationships/image" Target="../media/image10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05.png"/><Relationship Id="rId4" Type="http://schemas.openxmlformats.org/officeDocument/2006/relationships/hyperlink" Target="http://localhost:8000/api/art/6434882ef636573778e3"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06.png"/><Relationship Id="rId4" Type="http://schemas.openxmlformats.org/officeDocument/2006/relationships/hyperlink" Target="http://localhost:8000/api/art/c823c005fe48236d5074"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07.png"/><Relationship Id="rId4" Type="http://schemas.openxmlformats.org/officeDocument/2006/relationships/hyperlink" Target="http://localhost:8000/api/art/e3f95b33db7716379489" TargetMode="External"/><Relationship Id="rId5" Type="http://schemas.openxmlformats.org/officeDocument/2006/relationships/image" Target="../media/image21.png"/><Relationship Id="rId6" Type="http://schemas.openxmlformats.org/officeDocument/2006/relationships/image" Target="../media/image108.png"/><Relationship Id="rId7" Type="http://schemas.openxmlformats.org/officeDocument/2006/relationships/image" Target="../media/image23.png"/><Relationship Id="rId8"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localhost:8000/api/labs/auto-c0a7a543bdc8" TargetMode="External"/><Relationship Id="rId4" Type="http://schemas.openxmlformats.org/officeDocument/2006/relationships/image" Target="../media/image109.png"/><Relationship Id="rId5" Type="http://schemas.openxmlformats.org/officeDocument/2006/relationships/hyperlink" Target="http://localhost:8000/api/art/563436111e796ca5c5ef" TargetMode="External"/><Relationship Id="rId6" Type="http://schemas.openxmlformats.org/officeDocument/2006/relationships/image" Target="../media/image21.png"/><Relationship Id="rId7" Type="http://schemas.openxmlformats.org/officeDocument/2006/relationships/image" Target="../media/image108.png"/><Relationship Id="rId8" Type="http://schemas.openxmlformats.org/officeDocument/2006/relationships/image" Target="../media/image23.png"/><Relationship Id="rId9"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10.png"/><Relationship Id="rId4" Type="http://schemas.openxmlformats.org/officeDocument/2006/relationships/hyperlink" Target="http://localhost:8000/api/art/9cc3ae2561fbcf965009"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111.png"/><Relationship Id="rId4" Type="http://schemas.openxmlformats.org/officeDocument/2006/relationships/hyperlink" Target="http://localhost:8000/api/art/17c949febb5c19b8e112"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11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113.png"/><Relationship Id="rId4" Type="http://schemas.openxmlformats.org/officeDocument/2006/relationships/hyperlink" Target="http://localhost:8000/api/art/2da20228e5c80ac97bd5"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114.png"/><Relationship Id="rId4" Type="http://schemas.openxmlformats.org/officeDocument/2006/relationships/hyperlink" Target="http://localhost:8000/api/art/09c8f6ba3a08ba1528fb"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115.png"/><Relationship Id="rId4" Type="http://schemas.openxmlformats.org/officeDocument/2006/relationships/hyperlink" Target="http://localhost:8000/api/art/723c8af9774467db86c3"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116.png"/><Relationship Id="rId4" Type="http://schemas.openxmlformats.org/officeDocument/2006/relationships/hyperlink" Target="http://localhost:8000/api/art/494aa8a619400d238b16"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17.png"/><Relationship Id="rId4" Type="http://schemas.openxmlformats.org/officeDocument/2006/relationships/hyperlink" Target="http://localhost:8000/api/art/fac3ade05ddc1e2e0137" TargetMode="External"/><Relationship Id="rId5" Type="http://schemas.openxmlformats.org/officeDocument/2006/relationships/chart" Target="../charts/char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18.png"/><Relationship Id="rId4" Type="http://schemas.openxmlformats.org/officeDocument/2006/relationships/hyperlink" Target="http://localhost:8000/api/art/97e0abe9a05476695178"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19.png"/><Relationship Id="rId4" Type="http://schemas.openxmlformats.org/officeDocument/2006/relationships/hyperlink" Target="http://localhost:8000/api/art/f74ec712015a544fac7c" TargetMode="External"/><Relationship Id="rId5" Type="http://schemas.openxmlformats.org/officeDocument/2006/relationships/image" Target="../media/image9.png"/><Relationship Id="rId6" Type="http://schemas.openxmlformats.org/officeDocument/2006/relationships/image" Target="../media/image56.png"/><Relationship Id="rId7" Type="http://schemas.openxmlformats.org/officeDocument/2006/relationships/image" Target="../media/image4.png"/><Relationship Id="rId8" Type="http://schemas.openxmlformats.org/officeDocument/2006/relationships/image" Target="../media/image12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hyperlink" Target="http://localhost:8000/api/labs/auto-4a6b97af046d" TargetMode="External"/><Relationship Id="rId4" Type="http://schemas.openxmlformats.org/officeDocument/2006/relationships/image" Target="../media/image121.png"/><Relationship Id="rId5" Type="http://schemas.openxmlformats.org/officeDocument/2006/relationships/hyperlink" Target="http://localhost:8000/api/art/64d23a3e7e02176af2da" TargetMode="External"/><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 Id="rId9"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122.png"/><Relationship Id="rId4" Type="http://schemas.openxmlformats.org/officeDocument/2006/relationships/hyperlink" Target="http://localhost:8000/api/art/ed511c0aefc6f5509337"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hyperlink" Target="http://localhost:8000/api/labs/auto-b48549f8a5a5" TargetMode="External"/><Relationship Id="rId4" Type="http://schemas.openxmlformats.org/officeDocument/2006/relationships/image" Target="../media/image123.png"/><Relationship Id="rId5" Type="http://schemas.openxmlformats.org/officeDocument/2006/relationships/hyperlink" Target="http://localhost:8000/api/art/428d4009215bc07ca35f" TargetMode="External"/><Relationship Id="rId6" Type="http://schemas.openxmlformats.org/officeDocument/2006/relationships/image" Target="../media/image124.png"/><Relationship Id="rId7" Type="http://schemas.openxmlformats.org/officeDocument/2006/relationships/image" Target="../media/image4.png"/><Relationship Id="rId8" Type="http://schemas.openxmlformats.org/officeDocument/2006/relationships/image" Target="../media/image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125.png"/><Relationship Id="rId4" Type="http://schemas.openxmlformats.org/officeDocument/2006/relationships/hyperlink" Target="http://localhost:8000/api/art/56d63f8cebc7175ab56b" TargetMode="External"/><Relationship Id="rId5" Type="http://schemas.openxmlformats.org/officeDocument/2006/relationships/hyperlink" Target="http://localhost:8000/api/labs/auto-af98450d4eb7"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12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12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12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12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13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131.png"/><Relationship Id="rId4" Type="http://schemas.openxmlformats.org/officeDocument/2006/relationships/image" Target="../media/image74.png"/><Relationship Id="rId5" Type="http://schemas.openxmlformats.org/officeDocument/2006/relationships/image" Target="../media/image7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132.png"/><Relationship Id="rId4" Type="http://schemas.openxmlformats.org/officeDocument/2006/relationships/hyperlink" Target="http://localhost:8000/api/art/359644adaa1ef3587261" TargetMode="External"/><Relationship Id="rId5" Type="http://schemas.openxmlformats.org/officeDocument/2006/relationships/hyperlink" Target="http://localhost:8000/api/labs/auto-6e7138e32a25"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image" Target="../media/image13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134.png"/><Relationship Id="rId4" Type="http://schemas.openxmlformats.org/officeDocument/2006/relationships/hyperlink" Target="http://localhost:8000/api/art/8d893bdbbf07a2e4a8a9"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135.png"/><Relationship Id="rId4" Type="http://schemas.openxmlformats.org/officeDocument/2006/relationships/image" Target="../media/image9.png"/><Relationship Id="rId5" Type="http://schemas.openxmlformats.org/officeDocument/2006/relationships/image" Target="../media/image136.png"/><Relationship Id="rId6" Type="http://schemas.openxmlformats.org/officeDocument/2006/relationships/image" Target="../media/image23.png"/><Relationship Id="rId7" Type="http://schemas.openxmlformats.org/officeDocument/2006/relationships/image" Target="../media/image10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137.png"/><Relationship Id="rId4" Type="http://schemas.openxmlformats.org/officeDocument/2006/relationships/hyperlink" Target="http://localhost:8000/api/art/eadd74d574e4cfa7688f"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image" Target="../media/image138.png"/><Relationship Id="rId4" Type="http://schemas.openxmlformats.org/officeDocument/2006/relationships/hyperlink" Target="http://localhost:8000/api/art/42c86ce3a3816b942176"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23.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141.png"/><Relationship Id="rId4" Type="http://schemas.openxmlformats.org/officeDocument/2006/relationships/hyperlink" Target="http://localhost:8000/api/art/453bb53d7b8d86e43cd4" TargetMode="External"/><Relationship Id="rId5" Type="http://schemas.openxmlformats.org/officeDocument/2006/relationships/image" Target="../media/image4.png"/><Relationship Id="rId6" Type="http://schemas.openxmlformats.org/officeDocument/2006/relationships/image" Target="../media/image66.png"/><Relationship Id="rId7" Type="http://schemas.openxmlformats.org/officeDocument/2006/relationships/image" Target="../media/image6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142.png"/><Relationship Id="rId4" Type="http://schemas.openxmlformats.org/officeDocument/2006/relationships/hyperlink" Target="http://localhost:8000/api/art/489a72364c48a21b81ba" TargetMode="External"/><Relationship Id="rId5" Type="http://schemas.openxmlformats.org/officeDocument/2006/relationships/image" Target="../media/image139.png"/><Relationship Id="rId6" Type="http://schemas.openxmlformats.org/officeDocument/2006/relationships/image" Target="../media/image143.png"/><Relationship Id="rId7" Type="http://schemas.openxmlformats.org/officeDocument/2006/relationships/image" Target="../media/image144.png"/><Relationship Id="rId8" Type="http://schemas.openxmlformats.org/officeDocument/2006/relationships/image" Target="../media/image20.png"/><Relationship Id="rId9" Type="http://schemas.openxmlformats.org/officeDocument/2006/relationships/image" Target="../media/image1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145.png"/><Relationship Id="rId4" Type="http://schemas.openxmlformats.org/officeDocument/2006/relationships/hyperlink" Target="http://localhost:8000/api/art/85e2d32f4a7060d8c4b1" TargetMode="External"/><Relationship Id="rId5" Type="http://schemas.openxmlformats.org/officeDocument/2006/relationships/image" Target="../media/image9.png"/><Relationship Id="rId6" Type="http://schemas.openxmlformats.org/officeDocument/2006/relationships/image" Target="../media/image146.png"/><Relationship Id="rId7" Type="http://schemas.openxmlformats.org/officeDocument/2006/relationships/image" Target="../media/image4.png"/><Relationship Id="rId8" Type="http://schemas.openxmlformats.org/officeDocument/2006/relationships/image" Target="../media/image65.png"/><Relationship Id="rId9" Type="http://schemas.openxmlformats.org/officeDocument/2006/relationships/image" Target="../media/image68.png"/><Relationship Id="rId10" Type="http://schemas.openxmlformats.org/officeDocument/2006/relationships/image" Target="../media/image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85174"/>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D18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757C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E5BD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Bebas Neue"/>
              </a:rPr>
              <a:t>MODULE 4</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C8CAD5"/>
                </a:solidFill>
              </a:defRPr>
            </a:pPr>
            <a:r>
              <a:rPr>
                <a:latin typeface="Inter"/>
              </a:rPr>
              <a:t>SUBTITLE COMES HERE  •  114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114</a:t>
            </a:r>
          </a:p>
        </p:txBody>
      </p:sp>
      <p:sp>
        <p:nvSpPr>
          <p:cNvPr id="8" name="Rounded Rectangle 7"/>
          <p:cNvSpPr/>
          <p:nvPr/>
        </p:nvSpPr>
        <p:spPr>
          <a:xfrm>
            <a:off x="457200" y="129844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3220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371600"/>
            <a:ext cx="4494276" cy="978408"/>
          </a:xfrm>
          <a:prstGeom prst="rect">
            <a:avLst/>
          </a:prstGeom>
          <a:noFill/>
        </p:spPr>
        <p:txBody>
          <a:bodyPr wrap="square" anchor="ctr" lIns="0" tIns="0" rIns="0" bIns="0">
            <a:spAutoFit/>
          </a:bodyPr>
          <a:lstStyle/>
          <a:p>
            <a:pPr algn="l"/>
            <a:r>
              <a:rPr sz="2700" b="1">
                <a:solidFill>
                  <a:srgbClr val="485174"/>
                </a:solidFill>
                <a:latin typeface="Bebas Neue"/>
              </a:rPr>
              <a:t>MODULE 4</a:t>
            </a:r>
          </a:p>
        </p:txBody>
      </p:sp>
      <p:sp>
        <p:nvSpPr>
          <p:cNvPr id="11" name="Rounded Rectangle 10"/>
          <p:cNvSpPr/>
          <p:nvPr/>
        </p:nvSpPr>
        <p:spPr>
          <a:xfrm>
            <a:off x="6195059" y="129844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163220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7036307" y="1371600"/>
            <a:ext cx="4494275" cy="978408"/>
          </a:xfrm>
          <a:prstGeom prst="rect">
            <a:avLst/>
          </a:prstGeom>
          <a:noFill/>
        </p:spPr>
        <p:txBody>
          <a:bodyPr wrap="square" anchor="ctr" lIns="0" tIns="0" rIns="0" bIns="0">
            <a:spAutoFit/>
          </a:bodyPr>
          <a:lstStyle/>
          <a:p>
            <a:pPr algn="l"/>
            <a:r>
              <a:rPr sz="2700" b="1">
                <a:solidFill>
                  <a:srgbClr val="485174"/>
                </a:solidFill>
                <a:latin typeface="Bebas Neue"/>
              </a:rPr>
              <a:t>SEMANTIC ANALYSIS</a:t>
            </a:r>
          </a:p>
        </p:txBody>
      </p:sp>
      <p:sp>
        <p:nvSpPr>
          <p:cNvPr id="14" name="Rounded Rectangle 13"/>
          <p:cNvSpPr/>
          <p:nvPr/>
        </p:nvSpPr>
        <p:spPr>
          <a:xfrm>
            <a:off x="457200" y="262432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95808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2697480"/>
            <a:ext cx="4494276" cy="978408"/>
          </a:xfrm>
          <a:prstGeom prst="rect">
            <a:avLst/>
          </a:prstGeom>
          <a:noFill/>
        </p:spPr>
        <p:txBody>
          <a:bodyPr wrap="square" anchor="ctr" lIns="0" tIns="0" rIns="0" bIns="0">
            <a:spAutoFit/>
          </a:bodyPr>
          <a:lstStyle/>
          <a:p>
            <a:pPr algn="l"/>
            <a:r>
              <a:rPr sz="2700" b="1">
                <a:solidFill>
                  <a:srgbClr val="485174"/>
                </a:solidFill>
                <a:latin typeface="Bebas Neue"/>
              </a:rPr>
              <a:t>LEXICAL SEMANTICS</a:t>
            </a:r>
          </a:p>
        </p:txBody>
      </p:sp>
      <p:sp>
        <p:nvSpPr>
          <p:cNvPr id="17" name="Rounded Rectangle 16"/>
          <p:cNvSpPr/>
          <p:nvPr/>
        </p:nvSpPr>
        <p:spPr>
          <a:xfrm>
            <a:off x="6195059" y="262432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295808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7036307" y="2697480"/>
            <a:ext cx="4494275" cy="978408"/>
          </a:xfrm>
          <a:prstGeom prst="rect">
            <a:avLst/>
          </a:prstGeom>
          <a:noFill/>
        </p:spPr>
        <p:txBody>
          <a:bodyPr wrap="square" anchor="ctr" lIns="0" tIns="0" rIns="0" bIns="0">
            <a:spAutoFit/>
          </a:bodyPr>
          <a:lstStyle/>
          <a:p>
            <a:pPr algn="l"/>
            <a:r>
              <a:rPr sz="2700" b="1">
                <a:solidFill>
                  <a:srgbClr val="485174"/>
                </a:solidFill>
                <a:latin typeface="Bebas Neue"/>
              </a:rPr>
              <a:t>Three levels of meaning</a:t>
            </a:r>
          </a:p>
        </p:txBody>
      </p:sp>
      <p:sp>
        <p:nvSpPr>
          <p:cNvPr id="20" name="Rounded Rectangle 19"/>
          <p:cNvSpPr/>
          <p:nvPr/>
        </p:nvSpPr>
        <p:spPr>
          <a:xfrm>
            <a:off x="457200" y="395020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28396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298448" y="4023360"/>
            <a:ext cx="4494276" cy="978408"/>
          </a:xfrm>
          <a:prstGeom prst="rect">
            <a:avLst/>
          </a:prstGeom>
          <a:noFill/>
        </p:spPr>
        <p:txBody>
          <a:bodyPr wrap="square" anchor="ctr" lIns="0" tIns="0" rIns="0" bIns="0">
            <a:spAutoFit/>
          </a:bodyPr>
          <a:lstStyle/>
          <a:p>
            <a:pPr algn="l"/>
            <a:r>
              <a:rPr sz="2700" b="1">
                <a:solidFill>
                  <a:srgbClr val="485174"/>
                </a:solidFill>
                <a:latin typeface="Bebas Neue"/>
              </a:rPr>
              <a:t>Terminology</a:t>
            </a:r>
          </a:p>
        </p:txBody>
      </p:sp>
      <p:sp>
        <p:nvSpPr>
          <p:cNvPr id="23" name="Rounded Rectangle 22"/>
          <p:cNvSpPr/>
          <p:nvPr/>
        </p:nvSpPr>
        <p:spPr>
          <a:xfrm>
            <a:off x="6195059" y="395020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96227" y="428396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7036307" y="4023360"/>
            <a:ext cx="4494275" cy="978408"/>
          </a:xfrm>
          <a:prstGeom prst="rect">
            <a:avLst/>
          </a:prstGeom>
          <a:noFill/>
        </p:spPr>
        <p:txBody>
          <a:bodyPr wrap="square" anchor="ctr" lIns="0" tIns="0" rIns="0" bIns="0">
            <a:spAutoFit/>
          </a:bodyPr>
          <a:lstStyle/>
          <a:p>
            <a:pPr algn="l"/>
            <a:r>
              <a:rPr sz="2700" b="1">
                <a:solidFill>
                  <a:srgbClr val="485174"/>
                </a:solidFill>
                <a:latin typeface="Bebas Neue"/>
              </a:rPr>
              <a:t>Polysemy</a:t>
            </a:r>
          </a:p>
        </p:txBody>
      </p:sp>
      <p:sp>
        <p:nvSpPr>
          <p:cNvPr id="26" name="Rounded Rectangle 25"/>
          <p:cNvSpPr/>
          <p:nvPr/>
        </p:nvSpPr>
        <p:spPr>
          <a:xfrm>
            <a:off x="457200" y="527608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60984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298448" y="5349240"/>
            <a:ext cx="4494276" cy="978408"/>
          </a:xfrm>
          <a:prstGeom prst="rect">
            <a:avLst/>
          </a:prstGeom>
          <a:noFill/>
        </p:spPr>
        <p:txBody>
          <a:bodyPr wrap="square" anchor="ctr" lIns="0" tIns="0" rIns="0" bIns="0">
            <a:spAutoFit/>
          </a:bodyPr>
          <a:lstStyle/>
          <a:p>
            <a:pPr algn="l"/>
            <a:r>
              <a:rPr sz="2700" b="1">
                <a:solidFill>
                  <a:srgbClr val="485174"/>
                </a:solidFill>
                <a:latin typeface="Bebas Neue"/>
              </a:rPr>
              <a:t>Metonymy or Systematic Polysemy: A systemati</a:t>
            </a:r>
          </a:p>
        </p:txBody>
      </p:sp>
      <p:sp>
        <p:nvSpPr>
          <p:cNvPr id="29" name="Rounded Rectangle 28"/>
          <p:cNvSpPr/>
          <p:nvPr/>
        </p:nvSpPr>
        <p:spPr>
          <a:xfrm>
            <a:off x="6195059" y="5276088"/>
            <a:ext cx="5536692"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96227" y="560984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7036307" y="5349240"/>
            <a:ext cx="4494275" cy="978408"/>
          </a:xfrm>
          <a:prstGeom prst="rect">
            <a:avLst/>
          </a:prstGeom>
          <a:noFill/>
        </p:spPr>
        <p:txBody>
          <a:bodyPr wrap="square" anchor="ctr" lIns="0" tIns="0" rIns="0" bIns="0">
            <a:spAutoFit/>
          </a:bodyPr>
          <a:lstStyle/>
          <a:p>
            <a:pPr algn="l"/>
            <a:r>
              <a:rPr sz="2700" b="1">
                <a:solidFill>
                  <a:srgbClr val="485174"/>
                </a:solidFill>
                <a:latin typeface="Bebas Neue"/>
              </a:rPr>
              <a:t>Multiple related meanings</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Lexical semantics studies meaning through dictionaries and disambiguation algorithms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4381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57203"/>
            <a:ext cx="340156" cy="340156"/>
          </a:xfrm>
          <a:prstGeom prst="rect">
            <a:avLst/>
          </a:prstGeom>
        </p:spPr>
      </p:pic>
      <p:sp>
        <p:nvSpPr>
          <p:cNvPr id="11" name="TextBox 10"/>
          <p:cNvSpPr txBox="1"/>
          <p:nvPr/>
        </p:nvSpPr>
        <p:spPr>
          <a:xfrm>
            <a:off x="1408175" y="1371600"/>
            <a:ext cx="2689250" cy="511364"/>
          </a:xfrm>
          <a:prstGeom prst="rect">
            <a:avLst/>
          </a:prstGeom>
          <a:noFill/>
        </p:spPr>
        <p:txBody>
          <a:bodyPr wrap="square" anchor="ctr" lIns="0" tIns="0" rIns="0" bIns="0">
            <a:spAutoFit/>
          </a:bodyPr>
          <a:lstStyle/>
          <a:p>
            <a:pPr algn="l"/>
            <a:r>
              <a:rPr sz="1080" b="0">
                <a:solidFill>
                  <a:srgbClr val="111111"/>
                </a:solidFill>
                <a:latin typeface="Inter"/>
              </a:rPr>
              <a:t>Introduction, Meaning Representation</a:t>
            </a:r>
          </a:p>
        </p:txBody>
      </p:sp>
      <p:sp>
        <p:nvSpPr>
          <p:cNvPr id="12" name="Rounded Rectangle 11"/>
          <p:cNvSpPr/>
          <p:nvPr/>
        </p:nvSpPr>
        <p:spPr>
          <a:xfrm>
            <a:off x="4499762" y="1298448"/>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34381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457203"/>
            <a:ext cx="340156" cy="340156"/>
          </a:xfrm>
          <a:prstGeom prst="rect">
            <a:avLst/>
          </a:prstGeom>
        </p:spPr>
      </p:pic>
      <p:sp>
        <p:nvSpPr>
          <p:cNvPr id="15" name="TextBox 14"/>
          <p:cNvSpPr txBox="1"/>
          <p:nvPr/>
        </p:nvSpPr>
        <p:spPr>
          <a:xfrm>
            <a:off x="5450738" y="1371600"/>
            <a:ext cx="2689250" cy="511364"/>
          </a:xfrm>
          <a:prstGeom prst="rect">
            <a:avLst/>
          </a:prstGeom>
          <a:noFill/>
        </p:spPr>
        <p:txBody>
          <a:bodyPr wrap="square" anchor="ctr" lIns="0" tIns="0" rIns="0" bIns="0">
            <a:spAutoFit/>
          </a:bodyPr>
          <a:lstStyle/>
          <a:p>
            <a:pPr algn="l"/>
            <a:r>
              <a:rPr sz="1080" b="0">
                <a:solidFill>
                  <a:srgbClr val="111111"/>
                </a:solidFill>
                <a:latin typeface="Inter"/>
              </a:rPr>
              <a:t>Lexical Semantics</a:t>
            </a:r>
          </a:p>
        </p:txBody>
      </p:sp>
      <p:sp>
        <p:nvSpPr>
          <p:cNvPr id="16" name="Rounded Rectangle 15"/>
          <p:cNvSpPr/>
          <p:nvPr/>
        </p:nvSpPr>
        <p:spPr>
          <a:xfrm>
            <a:off x="457200" y="2157284"/>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20265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316039"/>
            <a:ext cx="340156" cy="340156"/>
          </a:xfrm>
          <a:prstGeom prst="rect">
            <a:avLst/>
          </a:prstGeom>
        </p:spPr>
      </p:pic>
      <p:sp>
        <p:nvSpPr>
          <p:cNvPr id="19" name="TextBox 18"/>
          <p:cNvSpPr txBox="1"/>
          <p:nvPr/>
        </p:nvSpPr>
        <p:spPr>
          <a:xfrm>
            <a:off x="1408175" y="2230436"/>
            <a:ext cx="2689250" cy="511364"/>
          </a:xfrm>
          <a:prstGeom prst="rect">
            <a:avLst/>
          </a:prstGeom>
          <a:noFill/>
        </p:spPr>
        <p:txBody>
          <a:bodyPr wrap="square" anchor="ctr" lIns="0" tIns="0" rIns="0" bIns="0">
            <a:spAutoFit/>
          </a:bodyPr>
          <a:lstStyle/>
          <a:p>
            <a:pPr algn="l"/>
            <a:r>
              <a:rPr sz="1050" b="0">
                <a:solidFill>
                  <a:srgbClr val="111111"/>
                </a:solidFill>
                <a:latin typeface="Inter"/>
              </a:rPr>
              <a:t>Corpus Study, Study of Various language dictionaries like wordnet, Babelnet</a:t>
            </a:r>
          </a:p>
        </p:txBody>
      </p:sp>
      <p:sp>
        <p:nvSpPr>
          <p:cNvPr id="20" name="Rounded Rectangle 19"/>
          <p:cNvSpPr/>
          <p:nvPr/>
        </p:nvSpPr>
        <p:spPr>
          <a:xfrm>
            <a:off x="4499762" y="2157284"/>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20265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316039"/>
            <a:ext cx="340156" cy="340156"/>
          </a:xfrm>
          <a:prstGeom prst="rect">
            <a:avLst/>
          </a:prstGeom>
        </p:spPr>
      </p:pic>
      <p:sp>
        <p:nvSpPr>
          <p:cNvPr id="23" name="TextBox 22"/>
          <p:cNvSpPr txBox="1"/>
          <p:nvPr/>
        </p:nvSpPr>
        <p:spPr>
          <a:xfrm>
            <a:off x="5450738" y="2230436"/>
            <a:ext cx="2689250" cy="511364"/>
          </a:xfrm>
          <a:prstGeom prst="rect">
            <a:avLst/>
          </a:prstGeom>
          <a:noFill/>
        </p:spPr>
        <p:txBody>
          <a:bodyPr wrap="square" anchor="ctr" lIns="0" tIns="0" rIns="0" bIns="0">
            <a:spAutoFit/>
          </a:bodyPr>
          <a:lstStyle/>
          <a:p>
            <a:pPr algn="l"/>
            <a:r>
              <a:rPr sz="1050" b="0">
                <a:solidFill>
                  <a:srgbClr val="111111"/>
                </a:solidFill>
                <a:latin typeface="Inter"/>
              </a:rPr>
              <a:t>Relations among lexemes &amp; their senses –Homonymy, Polysemy, Synonymy, Hyponymy</a:t>
            </a:r>
          </a:p>
        </p:txBody>
      </p:sp>
      <p:sp>
        <p:nvSpPr>
          <p:cNvPr id="24" name="Rounded Rectangle 23"/>
          <p:cNvSpPr/>
          <p:nvPr/>
        </p:nvSpPr>
        <p:spPr>
          <a:xfrm>
            <a:off x="457200" y="3016120"/>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06149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174876"/>
            <a:ext cx="340156" cy="340156"/>
          </a:xfrm>
          <a:prstGeom prst="rect">
            <a:avLst/>
          </a:prstGeom>
        </p:spPr>
      </p:pic>
      <p:sp>
        <p:nvSpPr>
          <p:cNvPr id="27" name="TextBox 26"/>
          <p:cNvSpPr txBox="1"/>
          <p:nvPr/>
        </p:nvSpPr>
        <p:spPr>
          <a:xfrm>
            <a:off x="1408175" y="3089272"/>
            <a:ext cx="2689250" cy="511364"/>
          </a:xfrm>
          <a:prstGeom prst="rect">
            <a:avLst/>
          </a:prstGeom>
          <a:noFill/>
        </p:spPr>
        <p:txBody>
          <a:bodyPr wrap="square" anchor="ctr" lIns="0" tIns="0" rIns="0" bIns="0">
            <a:spAutoFit/>
          </a:bodyPr>
          <a:lstStyle/>
          <a:p>
            <a:pPr algn="l"/>
            <a:r>
              <a:rPr sz="1080" b="0">
                <a:solidFill>
                  <a:srgbClr val="111111"/>
                </a:solidFill>
                <a:latin typeface="Inter"/>
              </a:rPr>
              <a:t>Semantic Ambiguity</a:t>
            </a:r>
          </a:p>
        </p:txBody>
      </p:sp>
      <p:sp>
        <p:nvSpPr>
          <p:cNvPr id="28" name="Rounded Rectangle 27"/>
          <p:cNvSpPr/>
          <p:nvPr/>
        </p:nvSpPr>
        <p:spPr>
          <a:xfrm>
            <a:off x="4499762" y="3016120"/>
            <a:ext cx="3841394" cy="657668"/>
          </a:xfrm>
          <a:prstGeom prst="roundRect">
            <a:avLst>
              <a:gd name="adj" fmla="val 2141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306149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3174876"/>
            <a:ext cx="340156" cy="340156"/>
          </a:xfrm>
          <a:prstGeom prst="rect">
            <a:avLst/>
          </a:prstGeom>
        </p:spPr>
      </p:pic>
      <p:sp>
        <p:nvSpPr>
          <p:cNvPr id="31" name="TextBox 30"/>
          <p:cNvSpPr txBox="1"/>
          <p:nvPr/>
        </p:nvSpPr>
        <p:spPr>
          <a:xfrm>
            <a:off x="5450738" y="3089272"/>
            <a:ext cx="2689250" cy="511364"/>
          </a:xfrm>
          <a:prstGeom prst="rect">
            <a:avLst/>
          </a:prstGeom>
          <a:noFill/>
        </p:spPr>
        <p:txBody>
          <a:bodyPr wrap="square" anchor="ctr" lIns="0" tIns="0" rIns="0" bIns="0">
            <a:spAutoFit/>
          </a:bodyPr>
          <a:lstStyle/>
          <a:p>
            <a:pPr algn="l"/>
            <a:r>
              <a:rPr sz="1080" b="0">
                <a:solidFill>
                  <a:srgbClr val="111111"/>
                </a:solidFill>
                <a:latin typeface="Inter"/>
              </a:rPr>
              <a:t>Word Sense Disambiguation (WSD)</a:t>
            </a:r>
          </a:p>
        </p:txBody>
      </p:sp>
      <p:sp>
        <p:nvSpPr>
          <p:cNvPr id="32" name="Rounded Rectangle 31"/>
          <p:cNvSpPr/>
          <p:nvPr/>
        </p:nvSpPr>
        <p:spPr>
          <a:xfrm>
            <a:off x="457200" y="3874956"/>
            <a:ext cx="7883956" cy="1410275"/>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874956"/>
            <a:ext cx="73152" cy="1410275"/>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3948108"/>
            <a:ext cx="7488935" cy="1263971"/>
          </a:xfrm>
          <a:prstGeom prst="rect">
            <a:avLst/>
          </a:prstGeom>
          <a:noFill/>
        </p:spPr>
        <p:txBody>
          <a:bodyPr wrap="square" anchor="ctr" lIns="0" tIns="0" rIns="0" bIns="0">
            <a:spAutoFit/>
          </a:bodyPr>
          <a:lstStyle/>
          <a:p>
            <a:pPr algn="l"/>
            <a:r>
              <a:rPr sz="860" b="1">
                <a:solidFill>
                  <a:srgbClr val="CC7B70"/>
                </a:solidFill>
                <a:latin typeface="Bebas Neue"/>
              </a:rPr>
              <a:t>IN PLAIN WORDS</a:t>
            </a:r>
          </a:p>
          <a:p>
            <a:pPr algn="l">
              <a:spcBef>
                <a:spcPts val="300"/>
              </a:spcBef>
            </a:pPr>
            <a:r>
              <a:rPr sz="1200" b="0">
                <a:solidFill>
                  <a:srgbClr val="111111"/>
                </a:solidFill>
                <a:latin typeface="Inter"/>
              </a:rPr>
              <a:t>Lexical semantics examines how words convey meaning by exploring dictionaries like WordNet and BabelNet. It identifies relationships such as homonymy, polysemy, synonymy, and hyponymy. Word sense disambiguation resolves ambiguous senses using knowledge-based methods like Lesk, supervised classifiers, semi-supervised learning, and unsupervised techniques. For example, using WordNet, the word "bank" is linked to senses of a financial institution and a riverbank.</a:t>
            </a:r>
          </a:p>
        </p:txBody>
      </p:sp>
      <p:sp>
        <p:nvSpPr>
          <p:cNvPr id="35" name="Rounded Rectangle 34"/>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terms:  </a:t>
            </a:r>
            <a:r>
              <a:rPr sz="1300" b="1">
                <a:solidFill>
                  <a:srgbClr val="111111"/>
                </a:solidFill>
                <a:latin typeface="Bebas Neue"/>
              </a:rPr>
              <a:t>Word sense disambiguation — important method of NLP by which the meaning of a word is determined, which is used in a particular context  ·  Word Sense Disambiguation — Process of determining which meaning of a word is used in context.  ·  Lesk’s Algorithm — Knowledge-based WSD method that matches dictionary definitions with context.</a:t>
            </a:r>
          </a:p>
        </p:txBody>
      </p:sp>
      <p:sp>
        <p:nvSpPr>
          <p:cNvPr id="36" name="Rectangle 35"/>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Semantic analysis extracts meaning from text by parsing grammatical structure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294362"/>
          </a:xfrm>
          <a:prstGeom prst="roundRect">
            <a:avLst>
              <a:gd name="adj" fmla="val 4783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16216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275551"/>
            <a:ext cx="340156" cy="340156"/>
          </a:xfrm>
          <a:prstGeom prst="rect">
            <a:avLst/>
          </a:prstGeom>
        </p:spPr>
      </p:pic>
      <p:sp>
        <p:nvSpPr>
          <p:cNvPr id="11" name="TextBox 10"/>
          <p:cNvSpPr txBox="1"/>
          <p:nvPr/>
        </p:nvSpPr>
        <p:spPr>
          <a:xfrm>
            <a:off x="1408175" y="1371600"/>
            <a:ext cx="6731812" cy="148058"/>
          </a:xfrm>
          <a:prstGeom prst="rect">
            <a:avLst/>
          </a:prstGeom>
          <a:noFill/>
        </p:spPr>
        <p:txBody>
          <a:bodyPr wrap="square" anchor="ctr" lIns="0" tIns="0" rIns="0" bIns="0">
            <a:spAutoFit/>
          </a:bodyPr>
          <a:lstStyle/>
          <a:p>
            <a:pPr algn="l"/>
            <a:r>
              <a:rPr sz="1050" b="0">
                <a:solidFill>
                  <a:srgbClr val="111111"/>
                </a:solidFill>
                <a:latin typeface="Inter"/>
              </a:rPr>
              <a:t>Semantic analysis is the process of finding the meaning from text</a:t>
            </a:r>
          </a:p>
        </p:txBody>
      </p:sp>
      <p:sp>
        <p:nvSpPr>
          <p:cNvPr id="12" name="Rounded Rectangle 11"/>
          <p:cNvSpPr/>
          <p:nvPr/>
        </p:nvSpPr>
        <p:spPr>
          <a:xfrm>
            <a:off x="457200" y="1793978"/>
            <a:ext cx="7883956" cy="294362"/>
          </a:xfrm>
          <a:prstGeom prst="roundRect">
            <a:avLst>
              <a:gd name="adj" fmla="val 4783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65769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1771081"/>
            <a:ext cx="340156" cy="340156"/>
          </a:xfrm>
          <a:prstGeom prst="rect">
            <a:avLst/>
          </a:prstGeom>
        </p:spPr>
      </p:pic>
      <p:sp>
        <p:nvSpPr>
          <p:cNvPr id="15" name="TextBox 14"/>
          <p:cNvSpPr txBox="1"/>
          <p:nvPr/>
        </p:nvSpPr>
        <p:spPr>
          <a:xfrm>
            <a:off x="1408175" y="1867130"/>
            <a:ext cx="6731812" cy="148058"/>
          </a:xfrm>
          <a:prstGeom prst="rect">
            <a:avLst/>
          </a:prstGeom>
          <a:noFill/>
        </p:spPr>
        <p:txBody>
          <a:bodyPr wrap="square" anchor="ctr" lIns="0" tIns="0" rIns="0" bIns="0">
            <a:spAutoFit/>
          </a:bodyPr>
          <a:lstStyle/>
          <a:p>
            <a:pPr algn="l"/>
            <a:r>
              <a:rPr sz="1260" b="1">
                <a:solidFill>
                  <a:srgbClr val="485174"/>
                </a:solidFill>
                <a:latin typeface="Bebas Neue"/>
              </a:rPr>
              <a:t>Analysis</a:t>
            </a:r>
          </a:p>
          <a:p>
            <a:pPr algn="l">
              <a:spcBef>
                <a:spcPts val="500"/>
              </a:spcBef>
            </a:pPr>
            <a:r>
              <a:rPr sz="1050" b="0">
                <a:solidFill>
                  <a:srgbClr val="111111"/>
                </a:solidFill>
                <a:latin typeface="Inter"/>
              </a:rPr>
              <a:t>This analysis gives the power to computers</a:t>
            </a:r>
          </a:p>
        </p:txBody>
      </p:sp>
      <p:sp>
        <p:nvSpPr>
          <p:cNvPr id="16" name="Rounded Rectangle 15"/>
          <p:cNvSpPr/>
          <p:nvPr/>
        </p:nvSpPr>
        <p:spPr>
          <a:xfrm>
            <a:off x="457200" y="2289509"/>
            <a:ext cx="7883956" cy="294362"/>
          </a:xfrm>
          <a:prstGeom prst="roundRect">
            <a:avLst>
              <a:gd name="adj" fmla="val 4783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53227"/>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266612"/>
            <a:ext cx="340156" cy="340156"/>
          </a:xfrm>
          <a:prstGeom prst="rect">
            <a:avLst/>
          </a:prstGeom>
        </p:spPr>
      </p:pic>
      <p:sp>
        <p:nvSpPr>
          <p:cNvPr id="19" name="TextBox 18"/>
          <p:cNvSpPr txBox="1"/>
          <p:nvPr/>
        </p:nvSpPr>
        <p:spPr>
          <a:xfrm>
            <a:off x="1408175" y="2362661"/>
            <a:ext cx="6731812" cy="148058"/>
          </a:xfrm>
          <a:prstGeom prst="rect">
            <a:avLst/>
          </a:prstGeom>
          <a:noFill/>
        </p:spPr>
        <p:txBody>
          <a:bodyPr wrap="square" anchor="ctr" lIns="0" tIns="0" rIns="0" bIns="0">
            <a:spAutoFit/>
          </a:bodyPr>
          <a:lstStyle/>
          <a:p>
            <a:pPr algn="l"/>
            <a:r>
              <a:rPr sz="1260" b="1">
                <a:solidFill>
                  <a:srgbClr val="485174"/>
                </a:solidFill>
                <a:latin typeface="Bebas Neue"/>
              </a:rPr>
              <a:t>Understand and interpret</a:t>
            </a:r>
          </a:p>
          <a:p>
            <a:pPr algn="l">
              <a:spcBef>
                <a:spcPts val="500"/>
              </a:spcBef>
            </a:pPr>
            <a:r>
              <a:rPr sz="1050" b="0">
                <a:solidFill>
                  <a:srgbClr val="111111"/>
                </a:solidFill>
                <a:latin typeface="Inter"/>
              </a:rPr>
              <a:t>to understand and interpret sentences, paragraphs, or whole documents</a:t>
            </a:r>
          </a:p>
        </p:txBody>
      </p:sp>
      <p:sp>
        <p:nvSpPr>
          <p:cNvPr id="20" name="Rounded Rectangle 19"/>
          <p:cNvSpPr/>
          <p:nvPr/>
        </p:nvSpPr>
        <p:spPr>
          <a:xfrm>
            <a:off x="457200" y="2785040"/>
            <a:ext cx="7883956" cy="294362"/>
          </a:xfrm>
          <a:prstGeom prst="roundRect">
            <a:avLst>
              <a:gd name="adj" fmla="val 4783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64875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2762143"/>
            <a:ext cx="340156" cy="340156"/>
          </a:xfrm>
          <a:prstGeom prst="rect">
            <a:avLst/>
          </a:prstGeom>
        </p:spPr>
      </p:pic>
      <p:sp>
        <p:nvSpPr>
          <p:cNvPr id="23" name="TextBox 22"/>
          <p:cNvSpPr txBox="1"/>
          <p:nvPr/>
        </p:nvSpPr>
        <p:spPr>
          <a:xfrm>
            <a:off x="1408175" y="2858192"/>
            <a:ext cx="6731812" cy="148058"/>
          </a:xfrm>
          <a:prstGeom prst="rect">
            <a:avLst/>
          </a:prstGeom>
          <a:noFill/>
        </p:spPr>
        <p:txBody>
          <a:bodyPr wrap="square" anchor="ctr" lIns="0" tIns="0" rIns="0" bIns="0">
            <a:spAutoFit/>
          </a:bodyPr>
          <a:lstStyle/>
          <a:p>
            <a:pPr algn="l"/>
            <a:r>
              <a:rPr sz="1260" b="1">
                <a:solidFill>
                  <a:srgbClr val="485174"/>
                </a:solidFill>
                <a:latin typeface="Bebas Neue"/>
              </a:rPr>
              <a:t>Analyzing their grammatical</a:t>
            </a:r>
          </a:p>
          <a:p>
            <a:pPr algn="l">
              <a:spcBef>
                <a:spcPts val="500"/>
              </a:spcBef>
            </a:pPr>
            <a:r>
              <a:rPr sz="1050" b="0">
                <a:solidFill>
                  <a:srgbClr val="111111"/>
                </a:solidFill>
                <a:latin typeface="Inter"/>
              </a:rPr>
              <a:t>by analyzing their grammatical structure</a:t>
            </a:r>
          </a:p>
        </p:txBody>
      </p:sp>
      <p:sp>
        <p:nvSpPr>
          <p:cNvPr id="24" name="Rounded Rectangle 23"/>
          <p:cNvSpPr/>
          <p:nvPr/>
        </p:nvSpPr>
        <p:spPr>
          <a:xfrm>
            <a:off x="457200" y="3280571"/>
            <a:ext cx="7883956" cy="294362"/>
          </a:xfrm>
          <a:prstGeom prst="roundRect">
            <a:avLst>
              <a:gd name="adj" fmla="val 4783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14428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257674"/>
            <a:ext cx="340156" cy="340156"/>
          </a:xfrm>
          <a:prstGeom prst="rect">
            <a:avLst/>
          </a:prstGeom>
        </p:spPr>
      </p:pic>
      <p:sp>
        <p:nvSpPr>
          <p:cNvPr id="27" name="TextBox 26"/>
          <p:cNvSpPr txBox="1"/>
          <p:nvPr/>
        </p:nvSpPr>
        <p:spPr>
          <a:xfrm>
            <a:off x="1408175" y="3353723"/>
            <a:ext cx="6731812" cy="148058"/>
          </a:xfrm>
          <a:prstGeom prst="rect">
            <a:avLst/>
          </a:prstGeom>
          <a:noFill/>
        </p:spPr>
        <p:txBody>
          <a:bodyPr wrap="square" anchor="ctr" lIns="0" tIns="0" rIns="0" bIns="0">
            <a:spAutoFit/>
          </a:bodyPr>
          <a:lstStyle/>
          <a:p>
            <a:pPr algn="l"/>
            <a:r>
              <a:rPr sz="1050" b="0">
                <a:solidFill>
                  <a:srgbClr val="111111"/>
                </a:solidFill>
                <a:latin typeface="Inter"/>
              </a:rPr>
              <a:t>identifying the relationships between individual words of the sentence in a particular context</a:t>
            </a:r>
          </a:p>
        </p:txBody>
      </p:sp>
      <p:sp>
        <p:nvSpPr>
          <p:cNvPr id="28" name="Rounded Rectangle 27"/>
          <p:cNvSpPr/>
          <p:nvPr/>
        </p:nvSpPr>
        <p:spPr>
          <a:xfrm>
            <a:off x="457200" y="3776102"/>
            <a:ext cx="7883956" cy="1509129"/>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76102"/>
            <a:ext cx="73152" cy="1509129"/>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CC7B70"/>
                </a:solidFill>
                <a:latin typeface="Bebas Neue"/>
              </a:rPr>
              <a:t>IN PLAIN WORDS</a:t>
            </a:r>
          </a:p>
          <a:p>
            <a:pPr algn="l">
              <a:spcBef>
                <a:spcPts val="300"/>
              </a:spcBef>
            </a:pPr>
            <a:r>
              <a:rPr sz="1300" b="0">
                <a:solidFill>
                  <a:srgbClr val="111111"/>
                </a:solidFill>
                <a:latin typeface="Inter"/>
              </a:rPr>
              <a:t>Semantic analysis identifies the meaning of sentences, paragraphs, or documents. It parses grammatical structure and discovers relationships between words. This enables computers to understand and interpret natural language, moving beyond syntactic parsing to grasp contextual meaning. For example, recognizing that "bank" in "deposit money" refers to a financial institution.</a:t>
            </a:r>
          </a:p>
        </p:txBody>
      </p:sp>
      <p:sp>
        <p:nvSpPr>
          <p:cNvPr id="31" name="Rounded Rectangle 3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Semantic analysis — Computational process of extracting meaning from text.</a:t>
            </a:r>
          </a:p>
        </p:txBody>
      </p:sp>
      <p:sp>
        <p:nvSpPr>
          <p:cNvPr id="32" name="Rectangle 3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5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50"/>
                                        <p:tgtEl>
                                          <p:spTgt spid="29"/>
                                        </p:tgtEl>
                                      </p:cBhvr>
                                    </p:animEffect>
                                  </p:childTnLst>
                                </p:cTn>
                              </p:par>
                              <p:par>
                                <p:cTn id="65" presetID="10"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50"/>
                                        <p:tgtEl>
                                          <p:spTgt spid="31"/>
                                        </p:tgtEl>
                                      </p:cBhvr>
                                    </p:animEffect>
                                  </p:childTnLst>
                                </p:cTn>
                              </p:par>
                              <p:par>
                                <p:cTn id="71" presetID="10" presetClass="entr" presetSubtype="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Lexical semantics studies the meaning of individual words and their parts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600039"/>
            <a:ext cx="82296" cy="62211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63463"/>
            <a:ext cx="6963576" cy="640400"/>
          </a:xfrm>
          <a:prstGeom prst="rect">
            <a:avLst/>
          </a:prstGeom>
          <a:noFill/>
        </p:spPr>
        <p:txBody>
          <a:bodyPr wrap="square" anchor="t" lIns="0" tIns="0" rIns="0" bIns="0">
            <a:spAutoFit/>
          </a:bodyPr>
          <a:lstStyle/>
          <a:p>
            <a:pPr algn="l"/>
            <a:r>
              <a:rPr sz="2000" b="1">
                <a:solidFill>
                  <a:srgbClr val="485174"/>
                </a:solidFill>
                <a:latin typeface="Bebas Neue"/>
              </a:rPr>
              <a:t>It is the study of the meaning of individual words.</a:t>
            </a:r>
          </a:p>
        </p:txBody>
      </p:sp>
      <p:sp>
        <p:nvSpPr>
          <p:cNvPr id="10" name="TextBox 9"/>
          <p:cNvSpPr txBox="1"/>
          <p:nvPr/>
        </p:nvSpPr>
        <p:spPr>
          <a:xfrm>
            <a:off x="994867" y="2395888"/>
            <a:ext cx="6689256" cy="464057"/>
          </a:xfrm>
          <a:prstGeom prst="rect">
            <a:avLst/>
          </a:prstGeom>
          <a:noFill/>
        </p:spPr>
        <p:txBody>
          <a:bodyPr wrap="square" lIns="0" rIns="0" tIns="0" bIns="0">
            <a:spAutoFit/>
          </a:bodyPr>
          <a:lstStyle/>
          <a:p>
            <a:r>
              <a:rPr sz="1450">
                <a:solidFill>
                  <a:srgbClr val="111111"/>
                </a:solidFill>
                <a:latin typeface="Inter"/>
              </a:rPr>
              <a:t>It involves words, sub-words, affixes (sub-units), compound words, and phrases </a:t>
            </a:r>
            <a:r>
              <a:rPr sz="1450" b="1">
                <a:solidFill>
                  <a:srgbClr val="0F766E"/>
                </a:solidFill>
                <a:latin typeface="Bebas Neue"/>
              </a:rPr>
              <a:t>also</a:t>
            </a:r>
            <a:r>
              <a:rPr sz="1450">
                <a:solidFill>
                  <a:srgbClr val="111111"/>
                </a:solidFill>
                <a:latin typeface="Inter"/>
              </a:rPr>
              <a:t>.</a:t>
            </a:r>
          </a:p>
        </p:txBody>
      </p:sp>
      <p:sp>
        <p:nvSpPr>
          <p:cNvPr id="11" name="TextBox 10"/>
          <p:cNvSpPr txBox="1"/>
          <p:nvPr/>
        </p:nvSpPr>
        <p:spPr>
          <a:xfrm>
            <a:off x="720547" y="2987962"/>
            <a:ext cx="6963576" cy="232028"/>
          </a:xfrm>
          <a:prstGeom prst="rect">
            <a:avLst/>
          </a:prstGeom>
          <a:noFill/>
        </p:spPr>
        <p:txBody>
          <a:bodyPr wrap="square" lIns="0" rIns="0" tIns="0" bIns="0">
            <a:spAutoFit/>
          </a:bodyPr>
          <a:lstStyle/>
          <a:p>
            <a:r>
              <a:rPr sz="1450">
                <a:solidFill>
                  <a:srgbClr val="111111"/>
                </a:solidFill>
                <a:latin typeface="Inter"/>
              </a:rPr>
              <a:t>All the words, sub-words, etc. are collectively known as lexical items.</a:t>
            </a:r>
          </a:p>
        </p:txBody>
      </p:sp>
      <p:sp>
        <p:nvSpPr>
          <p:cNvPr id="12" name="TextBox 11"/>
          <p:cNvSpPr txBox="1"/>
          <p:nvPr/>
        </p:nvSpPr>
        <p:spPr>
          <a:xfrm>
            <a:off x="720547" y="3348007"/>
            <a:ext cx="6963576" cy="232028"/>
          </a:xfrm>
          <a:prstGeom prst="rect">
            <a:avLst/>
          </a:prstGeom>
          <a:noFill/>
        </p:spPr>
        <p:txBody>
          <a:bodyPr wrap="square" lIns="0" rIns="0" tIns="0" bIns="0">
            <a:spAutoFit/>
          </a:bodyPr>
          <a:lstStyle/>
          <a:p>
            <a:r>
              <a:rPr sz="1450">
                <a:solidFill>
                  <a:srgbClr val="111111"/>
                </a:solidFill>
                <a:latin typeface="Inter"/>
              </a:rPr>
              <a:t>Lexical semantics focuses on how single words convey meaning.</a:t>
            </a:r>
          </a:p>
        </p:txBody>
      </p:sp>
      <p:sp>
        <p:nvSpPr>
          <p:cNvPr id="13" name="TextBox 12"/>
          <p:cNvSpPr txBox="1"/>
          <p:nvPr/>
        </p:nvSpPr>
        <p:spPr>
          <a:xfrm>
            <a:off x="994867" y="3708052"/>
            <a:ext cx="6689256" cy="232028"/>
          </a:xfrm>
          <a:prstGeom prst="rect">
            <a:avLst/>
          </a:prstGeom>
          <a:noFill/>
        </p:spPr>
        <p:txBody>
          <a:bodyPr wrap="square" lIns="0" rIns="0" tIns="0" bIns="0">
            <a:spAutoFit/>
          </a:bodyPr>
          <a:lstStyle/>
          <a:p>
            <a:r>
              <a:rPr sz="1450">
                <a:solidFill>
                  <a:srgbClr val="111111"/>
                </a:solidFill>
                <a:latin typeface="Inter"/>
              </a:rPr>
              <a:t>It includes analysis of sub-words, affixes, compounds, and phrases.</a:t>
            </a:r>
          </a:p>
        </p:txBody>
      </p:sp>
      <p:sp>
        <p:nvSpPr>
          <p:cNvPr id="14" name="TextBox 13"/>
          <p:cNvSpPr txBox="1"/>
          <p:nvPr/>
        </p:nvSpPr>
        <p:spPr>
          <a:xfrm>
            <a:off x="720547" y="4068097"/>
            <a:ext cx="6963576" cy="464057"/>
          </a:xfrm>
          <a:prstGeom prst="rect">
            <a:avLst/>
          </a:prstGeom>
          <a:noFill/>
        </p:spPr>
        <p:txBody>
          <a:bodyPr wrap="square" lIns="0" rIns="0" tIns="0" bIns="0">
            <a:spAutoFit/>
          </a:bodyPr>
          <a:lstStyle/>
          <a:p>
            <a:r>
              <a:rPr sz="1450">
                <a:solidFill>
                  <a:srgbClr val="111111"/>
                </a:solidFill>
                <a:latin typeface="Inter"/>
              </a:rPr>
              <a:t>All these elements are called lexical items, and their study reveals how words combine to form larger units.</a:t>
            </a:r>
          </a:p>
        </p:txBody>
      </p:sp>
      <p:sp>
        <p:nvSpPr>
          <p:cNvPr id="15" name="TextBox 14"/>
          <p:cNvSpPr txBox="1"/>
          <p:nvPr/>
        </p:nvSpPr>
        <p:spPr>
          <a:xfrm>
            <a:off x="720547" y="4660171"/>
            <a:ext cx="6963576" cy="232028"/>
          </a:xfrm>
          <a:prstGeom prst="rect">
            <a:avLst/>
          </a:prstGeom>
          <a:noFill/>
        </p:spPr>
        <p:txBody>
          <a:bodyPr wrap="square" lIns="0" rIns="0" tIns="0" bIns="0">
            <a:spAutoFit/>
          </a:bodyPr>
          <a:lstStyle/>
          <a:p>
            <a:r>
              <a:rPr sz="1450">
                <a:solidFill>
                  <a:srgbClr val="111111"/>
                </a:solidFill>
                <a:latin typeface="Inter"/>
              </a:rPr>
              <a:t>Example: The word "unhappiness" is a compound of "un-" and "happiness".</a:t>
            </a:r>
          </a:p>
        </p:txBody>
      </p:sp>
      <p:sp>
        <p:nvSpPr>
          <p:cNvPr id="16" name="Rounded Rectangle 15"/>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Lexical items — Words, sub-words, affixes, compounds, and phrases studied in lexical semantics.</a:t>
            </a:r>
          </a:p>
        </p:txBody>
      </p:sp>
      <p:sp>
        <p:nvSpPr>
          <p:cNvPr id="17" name="Rectangle 16"/>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Meaning is structured across lexical, sentential, and discourse levels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114</a:t>
            </a:r>
          </a:p>
        </p:txBody>
      </p:sp>
      <p:graphicFrame>
        <p:nvGraphicFramePr>
          <p:cNvPr id="8" name="Table 7"/>
          <p:cNvGraphicFramePr>
            <a:graphicFrameLocks noGrp="1"/>
          </p:cNvGraphicFramePr>
          <p:nvPr/>
        </p:nvGraphicFramePr>
        <p:xfrm>
          <a:off x="457200" y="1852041"/>
          <a:ext cx="11274552" cy="2879598"/>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Meaning</a:t>
                      </a:r>
                    </a:p>
                  </a:txBody>
                  <a:tcPr marL="146304" marR="146304" anchor="ctr">
                    <a:solidFill>
                      <a:srgbClr val="485174"/>
                    </a:solidFill>
                  </a:tcPr>
                </a:tc>
                <a:tc>
                  <a:txBody>
                    <a:bodyPr/>
                    <a:lstStyle/>
                    <a:p>
                      <a:pPr algn="l"/>
                      <a:r>
                        <a:rPr sz="2000" b="1">
                          <a:solidFill>
                            <a:srgbClr val="FFFFFF"/>
                          </a:solidFill>
                          <a:latin typeface="Bebas Neue"/>
                        </a:rPr>
                        <a:t>Discourse</a:t>
                      </a:r>
                    </a:p>
                  </a:txBody>
                  <a:tcPr marL="146304" marR="146304" anchor="ctr">
                    <a:solidFill>
                      <a:srgbClr val="485174"/>
                    </a:solidFill>
                  </a:tcPr>
                </a:tc>
              </a:tr>
              <a:tr h="1051560">
                <a:tc>
                  <a:txBody>
                    <a:bodyPr/>
                    <a:lstStyle/>
                    <a:p>
                      <a:pPr algn="l"/>
                      <a:r>
                        <a:rPr sz="1900" b="1">
                          <a:solidFill>
                            <a:srgbClr val="485174"/>
                          </a:solidFill>
                          <a:latin typeface="Bebas Neue"/>
                        </a:rPr>
                        <a:t>+ context + world knowledge</a:t>
                      </a:r>
                    </a:p>
                  </a:txBody>
                  <a:tcPr marL="146304" marR="146304" anchor="ctr">
                    <a:solidFill>
                      <a:srgbClr val="F5F6F8"/>
                    </a:solidFill>
                  </a:tcPr>
                </a:tc>
                <a:tc>
                  <a:txBody>
                    <a:bodyPr/>
                    <a:lstStyle/>
                    <a:p>
                      <a:pPr algn="l"/>
                      <a:r>
                        <a:rPr sz="1900" b="0">
                          <a:solidFill>
                            <a:srgbClr val="111111"/>
                          </a:solidFill>
                          <a:latin typeface="Inter"/>
                        </a:rPr>
                        <a:t>Or Pragmatics</a:t>
                      </a:r>
                    </a:p>
                  </a:txBody>
                  <a:tcPr marL="146304" marR="146304" anchor="ctr">
                    <a:solidFill>
                      <a:srgbClr val="F5F6F8"/>
                    </a:solidFill>
                  </a:tcPr>
                </a:tc>
              </a:tr>
              <a:tr h="1142238">
                <a:tc>
                  <a:txBody>
                    <a:bodyPr/>
                    <a:lstStyle/>
                    <a:p>
                      <a:pPr algn="l"/>
                      <a:r>
                        <a:rPr sz="1900" b="1">
                          <a:solidFill>
                            <a:srgbClr val="485174"/>
                          </a:solidFill>
                          <a:latin typeface="Bebas Neue"/>
                        </a:rPr>
                        <a:t>Sentential or compositional semantics interprets how words combine to form sentence meaning</a:t>
                      </a:r>
                    </a:p>
                  </a:txBody>
                  <a:tcPr marL="146304" marR="146304" anchor="ctr">
                    <a:solidFill>
                      <a:srgbClr val="F0F1F3"/>
                    </a:solidFill>
                  </a:tcPr>
                </a:tc>
                <a:tc>
                  <a:txBody>
                    <a:bodyPr/>
                    <a:lstStyle/>
                    <a:p>
                      <a:pPr algn="l"/>
                      <a:r>
                        <a:rPr sz="1900" b="0">
                          <a:solidFill>
                            <a:srgbClr val="111111"/>
                          </a:solidFill>
                          <a:latin typeface="Inter"/>
                        </a:rPr>
                        <a:t>Or pragmatic semantics adds context and world knowledge to interpret larger texts</a:t>
                      </a:r>
                    </a:p>
                  </a:txBody>
                  <a:tcPr marL="146304" marR="146304" anchor="ctr">
                    <a:solidFill>
                      <a:srgbClr val="F0F1F3"/>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Key difference — Meaning: + context + world knowledge  |  Discourse: Or Pragmatics</a:t>
            </a:r>
          </a:p>
          <a:p>
            <a:pPr algn="l"/>
            <a:r>
              <a:rPr b="1" sz="1300">
                <a:solidFill>
                  <a:srgbClr val="485174"/>
                </a:solidFill>
                <a:latin typeface="Bebas Neue"/>
              </a:rPr>
              <a:t>Key terms:  </a:t>
            </a:r>
            <a:r>
              <a:rPr sz="1300" b="0">
                <a:solidFill>
                  <a:srgbClr val="111111"/>
                </a:solidFill>
                <a:latin typeface="Inter"/>
              </a:rPr>
              <a:t>Pragmatics — Study of how context influences interpretation of language.</a:t>
            </a:r>
          </a:p>
        </p:txBody>
      </p:sp>
      <p:sp>
        <p:nvSpPr>
          <p:cNvPr id="10" name="Rectangle 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“Study of how context influences interpretation of language.”?</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Lexeme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Direct hypernym</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Pragmatics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Ambiguity</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Pragmatics: Study of how context influences interpretation of language.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Lexeme and lemma distinguish meaning and word form in lexical studies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2048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33870"/>
            <a:ext cx="340156" cy="340156"/>
          </a:xfrm>
          <a:prstGeom prst="rect">
            <a:avLst/>
          </a:prstGeom>
        </p:spPr>
      </p:pic>
      <p:sp>
        <p:nvSpPr>
          <p:cNvPr id="11" name="TextBox 10"/>
          <p:cNvSpPr txBox="1"/>
          <p:nvPr/>
        </p:nvSpPr>
        <p:spPr>
          <a:xfrm>
            <a:off x="1408175" y="1371600"/>
            <a:ext cx="2622804" cy="464696"/>
          </a:xfrm>
          <a:prstGeom prst="rect">
            <a:avLst/>
          </a:prstGeom>
          <a:noFill/>
        </p:spPr>
        <p:txBody>
          <a:bodyPr wrap="square" anchor="ctr" lIns="0" tIns="0" rIns="0" bIns="0">
            <a:spAutoFit/>
          </a:bodyPr>
          <a:lstStyle/>
          <a:p>
            <a:pPr algn="l"/>
            <a:r>
              <a:rPr sz="1100" b="0">
                <a:solidFill>
                  <a:srgbClr val="111111"/>
                </a:solidFill>
                <a:latin typeface="Inter"/>
              </a:rPr>
              <a:t>Lexeme: a pairing of meaning and form</a:t>
            </a:r>
          </a:p>
        </p:txBody>
      </p:sp>
      <p:sp>
        <p:nvSpPr>
          <p:cNvPr id="12" name="Rounded Rectangle 11"/>
          <p:cNvSpPr/>
          <p:nvPr/>
        </p:nvSpPr>
        <p:spPr>
          <a:xfrm>
            <a:off x="4433315" y="1298448"/>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32048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433870"/>
            <a:ext cx="340156" cy="340156"/>
          </a:xfrm>
          <a:prstGeom prst="rect">
            <a:avLst/>
          </a:prstGeom>
        </p:spPr>
      </p:pic>
      <p:sp>
        <p:nvSpPr>
          <p:cNvPr id="15" name="TextBox 14"/>
          <p:cNvSpPr txBox="1"/>
          <p:nvPr/>
        </p:nvSpPr>
        <p:spPr>
          <a:xfrm>
            <a:off x="5384291" y="1371600"/>
            <a:ext cx="2622804" cy="464696"/>
          </a:xfrm>
          <a:prstGeom prst="rect">
            <a:avLst/>
          </a:prstGeom>
          <a:noFill/>
        </p:spPr>
        <p:txBody>
          <a:bodyPr wrap="square" anchor="ctr" lIns="0" tIns="0" rIns="0" bIns="0">
            <a:spAutoFit/>
          </a:bodyPr>
          <a:lstStyle/>
          <a:p>
            <a:pPr algn="l"/>
            <a:r>
              <a:rPr sz="1100" b="0">
                <a:solidFill>
                  <a:srgbClr val="111111"/>
                </a:solidFill>
                <a:latin typeface="Inter"/>
              </a:rPr>
              <a:t>Lemma: the word form that represents a lexeme</a:t>
            </a:r>
          </a:p>
        </p:txBody>
      </p:sp>
      <p:sp>
        <p:nvSpPr>
          <p:cNvPr id="16" name="Rounded Rectangle 15"/>
          <p:cNvSpPr/>
          <p:nvPr/>
        </p:nvSpPr>
        <p:spPr>
          <a:xfrm>
            <a:off x="457200" y="2110616"/>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32653"/>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246038"/>
            <a:ext cx="340156" cy="340156"/>
          </a:xfrm>
          <a:prstGeom prst="rect">
            <a:avLst/>
          </a:prstGeom>
        </p:spPr>
      </p:pic>
      <p:sp>
        <p:nvSpPr>
          <p:cNvPr id="19" name="TextBox 18"/>
          <p:cNvSpPr txBox="1"/>
          <p:nvPr/>
        </p:nvSpPr>
        <p:spPr>
          <a:xfrm>
            <a:off x="1408175" y="2183768"/>
            <a:ext cx="2622804" cy="464696"/>
          </a:xfrm>
          <a:prstGeom prst="rect">
            <a:avLst/>
          </a:prstGeom>
          <a:noFill/>
        </p:spPr>
        <p:txBody>
          <a:bodyPr wrap="square" anchor="ctr" lIns="0" tIns="0" rIns="0" bIns="0">
            <a:spAutoFit/>
          </a:bodyPr>
          <a:lstStyle/>
          <a:p>
            <a:pPr algn="l"/>
            <a:r>
              <a:rPr sz="1100" b="0">
                <a:solidFill>
                  <a:srgbClr val="111111"/>
                </a:solidFill>
                <a:latin typeface="Inter"/>
              </a:rPr>
              <a:t>Carpet is the lemma for carpets Dormir is the lemma for duermes</a:t>
            </a:r>
          </a:p>
        </p:txBody>
      </p:sp>
      <p:sp>
        <p:nvSpPr>
          <p:cNvPr id="20" name="Rounded Rectangle 19"/>
          <p:cNvSpPr/>
          <p:nvPr/>
        </p:nvSpPr>
        <p:spPr>
          <a:xfrm>
            <a:off x="4433315" y="2110616"/>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132653"/>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246038"/>
            <a:ext cx="340156" cy="340156"/>
          </a:xfrm>
          <a:prstGeom prst="rect">
            <a:avLst/>
          </a:prstGeom>
        </p:spPr>
      </p:pic>
      <p:sp>
        <p:nvSpPr>
          <p:cNvPr id="23" name="TextBox 22"/>
          <p:cNvSpPr txBox="1"/>
          <p:nvPr/>
        </p:nvSpPr>
        <p:spPr>
          <a:xfrm>
            <a:off x="5384291" y="2183768"/>
            <a:ext cx="2622804" cy="464696"/>
          </a:xfrm>
          <a:prstGeom prst="rect">
            <a:avLst/>
          </a:prstGeom>
          <a:noFill/>
        </p:spPr>
        <p:txBody>
          <a:bodyPr wrap="square" anchor="ctr" lIns="0" tIns="0" rIns="0" bIns="0">
            <a:spAutoFit/>
          </a:bodyPr>
          <a:lstStyle/>
          <a:p>
            <a:pPr algn="l"/>
            <a:r>
              <a:rPr sz="1320" b="1">
                <a:solidFill>
                  <a:srgbClr val="485174"/>
                </a:solidFill>
                <a:latin typeface="Bebas Neue"/>
              </a:rPr>
              <a:t>Lemma bank</a:t>
            </a:r>
          </a:p>
          <a:p>
            <a:pPr algn="l">
              <a:spcBef>
                <a:spcPts val="500"/>
              </a:spcBef>
            </a:pPr>
            <a:r>
              <a:rPr sz="1100" b="0">
                <a:solidFill>
                  <a:srgbClr val="111111"/>
                </a:solidFill>
                <a:latin typeface="Inter"/>
              </a:rPr>
              <a:t>The lemma bank has two senses</a:t>
            </a:r>
          </a:p>
        </p:txBody>
      </p:sp>
      <p:sp>
        <p:nvSpPr>
          <p:cNvPr id="24" name="Rounded Rectangle 23"/>
          <p:cNvSpPr/>
          <p:nvPr/>
        </p:nvSpPr>
        <p:spPr>
          <a:xfrm>
            <a:off x="457200" y="2922785"/>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294482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058207"/>
            <a:ext cx="340156" cy="340156"/>
          </a:xfrm>
          <a:prstGeom prst="rect">
            <a:avLst/>
          </a:prstGeom>
        </p:spPr>
      </p:pic>
      <p:sp>
        <p:nvSpPr>
          <p:cNvPr id="27" name="TextBox 26"/>
          <p:cNvSpPr txBox="1"/>
          <p:nvPr/>
        </p:nvSpPr>
        <p:spPr>
          <a:xfrm>
            <a:off x="1408175" y="2995937"/>
            <a:ext cx="2622804" cy="464696"/>
          </a:xfrm>
          <a:prstGeom prst="rect">
            <a:avLst/>
          </a:prstGeom>
          <a:noFill/>
        </p:spPr>
        <p:txBody>
          <a:bodyPr wrap="square" anchor="ctr" lIns="0" tIns="0" rIns="0" bIns="0">
            <a:spAutoFit/>
          </a:bodyPr>
          <a:lstStyle/>
          <a:p>
            <a:pPr algn="l"/>
            <a:r>
              <a:rPr sz="1100" b="0">
                <a:solidFill>
                  <a:srgbClr val="111111"/>
                </a:solidFill>
                <a:latin typeface="Inter"/>
              </a:rPr>
              <a:t>Financial insitution</a:t>
            </a:r>
          </a:p>
        </p:txBody>
      </p:sp>
      <p:sp>
        <p:nvSpPr>
          <p:cNvPr id="28" name="Rounded Rectangle 27"/>
          <p:cNvSpPr/>
          <p:nvPr/>
        </p:nvSpPr>
        <p:spPr>
          <a:xfrm>
            <a:off x="4433315" y="2922785"/>
            <a:ext cx="3774947" cy="611000"/>
          </a:xfrm>
          <a:prstGeom prst="roundRect">
            <a:avLst>
              <a:gd name="adj" fmla="val 230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34483" y="294482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47869" y="3058207"/>
            <a:ext cx="340156" cy="340156"/>
          </a:xfrm>
          <a:prstGeom prst="rect">
            <a:avLst/>
          </a:prstGeom>
        </p:spPr>
      </p:pic>
      <p:sp>
        <p:nvSpPr>
          <p:cNvPr id="31" name="TextBox 30"/>
          <p:cNvSpPr txBox="1"/>
          <p:nvPr/>
        </p:nvSpPr>
        <p:spPr>
          <a:xfrm>
            <a:off x="5384291" y="2995937"/>
            <a:ext cx="2622804" cy="464696"/>
          </a:xfrm>
          <a:prstGeom prst="rect">
            <a:avLst/>
          </a:prstGeom>
          <a:noFill/>
        </p:spPr>
        <p:txBody>
          <a:bodyPr wrap="square" anchor="ctr" lIns="0" tIns="0" rIns="0" bIns="0">
            <a:spAutoFit/>
          </a:bodyPr>
          <a:lstStyle/>
          <a:p>
            <a:pPr algn="l"/>
            <a:r>
              <a:rPr sz="1100" b="0">
                <a:solidFill>
                  <a:srgbClr val="111111"/>
                </a:solidFill>
                <a:latin typeface="Inter"/>
              </a:rPr>
              <a:t>Soil wall next to water</a:t>
            </a:r>
          </a:p>
        </p:txBody>
      </p:sp>
      <p:sp>
        <p:nvSpPr>
          <p:cNvPr id="32" name="Rounded Rectangle 31"/>
          <p:cNvSpPr/>
          <p:nvPr/>
        </p:nvSpPr>
        <p:spPr>
          <a:xfrm>
            <a:off x="457200" y="3734954"/>
            <a:ext cx="7751064" cy="1550277"/>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734954"/>
            <a:ext cx="73152" cy="1550277"/>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3808106"/>
            <a:ext cx="7356043" cy="1403973"/>
          </a:xfrm>
          <a:prstGeom prst="rect">
            <a:avLst/>
          </a:prstGeom>
          <a:noFill/>
        </p:spPr>
        <p:txBody>
          <a:bodyPr wrap="square" anchor="ctr" lIns="0" tIns="0" rIns="0" bIns="0">
            <a:spAutoFit/>
          </a:bodyPr>
          <a:lstStyle/>
          <a:p>
            <a:pPr algn="l"/>
            <a:r>
              <a:rPr sz="940" b="1">
                <a:solidFill>
                  <a:srgbClr val="CC7B70"/>
                </a:solidFill>
                <a:latin typeface="Bebas Neue"/>
              </a:rPr>
              <a:t>IN PLAIN WORDS</a:t>
            </a:r>
          </a:p>
          <a:p>
            <a:pPr algn="l">
              <a:spcBef>
                <a:spcPts val="300"/>
              </a:spcBef>
            </a:pPr>
            <a:r>
              <a:rPr sz="1300" b="0">
                <a:solidFill>
                  <a:srgbClr val="111111"/>
                </a:solidFill>
                <a:latin typeface="Inter"/>
              </a:rPr>
              <a:t>A lexeme pairs a meaning with its form, while a lemma is the canonical word form representing that lexeme. For example, "carpet" is the lemma for the plural "carpets". Lemmas help organize dictionaries and computational models. For example, the lemma "dormir" represents the Spanish verb for "to sleep".</a:t>
            </a:r>
          </a:p>
          <a:p>
            <a:pPr algn="l">
              <a:spcBef>
                <a:spcPts val="300"/>
              </a:spcBef>
            </a:pPr>
            <a:r>
              <a:rPr sz="1300" b="0">
                <a:solidFill>
                  <a:srgbClr val="111111"/>
                </a:solidFill>
                <a:latin typeface="Inter"/>
              </a:rPr>
              <a:t>Asense is a discrete representation of one aspect of the meaning of a word</a:t>
            </a:r>
          </a:p>
        </p:txBody>
      </p:sp>
      <p:sp>
        <p:nvSpPr>
          <p:cNvPr id="35" name="Rounded Rectangle 34"/>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Lexeme — Unit combining a specific meaning with its form.  ·  Lemma — Canonical word form representing a lexeme.</a:t>
            </a:r>
          </a:p>
        </p:txBody>
      </p:sp>
      <p:sp>
        <p:nvSpPr>
          <p:cNvPr id="36" name="Rectangle 35"/>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Terminology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114</a:t>
            </a:r>
          </a:p>
        </p:txBody>
      </p:sp>
      <p:sp>
        <p:nvSpPr>
          <p:cNvPr id="7" name="Rounded Rectangle 6"/>
          <p:cNvSpPr/>
          <p:nvPr/>
        </p:nvSpPr>
        <p:spPr>
          <a:xfrm>
            <a:off x="966071" y="1298448"/>
            <a:ext cx="10256808"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130663" y="1463040"/>
            <a:ext cx="9927624" cy="4773168"/>
          </a:xfrm>
          <a:prstGeom prst="rect">
            <a:avLst/>
          </a:prstGeom>
        </p:spPr>
      </p:pic>
    </p:spTree>
  </p:cSld>
  <p:clrMapOvr>
    <a:masterClrMapping/>
  </p:clrMapOvr>
  <p:transition spd="med">
    <p:zoom dir="in"/>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Terminology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114</a:t>
            </a:r>
          </a:p>
        </p:txBody>
      </p:sp>
      <p:sp>
        <p:nvSpPr>
          <p:cNvPr id="7" name="Rounded Rectangle 6"/>
          <p:cNvSpPr/>
          <p:nvPr/>
        </p:nvSpPr>
        <p:spPr>
          <a:xfrm>
            <a:off x="1756783" y="1298448"/>
            <a:ext cx="8675385" cy="469087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921375" y="1463040"/>
            <a:ext cx="8346201"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Relations between words/senses * Homonymy * Polysemy « Synonymy « Antonymy * Hypernymy * Hyponymy « Meronymy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Polysemy describes related multiple meanings of a single word</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114</a:t>
            </a:r>
          </a:p>
        </p:txBody>
      </p:sp>
      <p:sp>
        <p:nvSpPr>
          <p:cNvPr id="8" name="Rectangle 7"/>
          <p:cNvSpPr/>
          <p:nvPr/>
        </p:nvSpPr>
        <p:spPr>
          <a:xfrm>
            <a:off x="457200" y="1325880"/>
            <a:ext cx="73152" cy="68122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485174"/>
                </a:solidFill>
                <a:latin typeface="Bebas Neue"/>
              </a:rPr>
              <a:t>1. The bank was constructed in 1875 out of local red brick.</a:t>
            </a:r>
          </a:p>
          <a:p>
            <a:pPr algn="l">
              <a:spcBef>
                <a:spcPts val="400"/>
              </a:spcBef>
            </a:pPr>
            <a:r>
              <a:rPr sz="1400" b="0">
                <a:solidFill>
                  <a:srgbClr val="111111"/>
                </a:solidFill>
                <a:latin typeface="Inter"/>
              </a:rPr>
              <a:t>2.1 withdrew the money from the bank</a:t>
            </a:r>
          </a:p>
        </p:txBody>
      </p:sp>
      <p:sp>
        <p:nvSpPr>
          <p:cNvPr id="10" name="Rounded Rectangle 9"/>
          <p:cNvSpPr/>
          <p:nvPr/>
        </p:nvSpPr>
        <p:spPr>
          <a:xfrm>
            <a:off x="457200" y="2272284"/>
            <a:ext cx="5536692" cy="1687697"/>
          </a:xfrm>
          <a:prstGeom prst="roundRect">
            <a:avLst>
              <a:gd name="adj" fmla="val 8343"/>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5134355" cy="1365828"/>
          </a:xfrm>
          <a:prstGeom prst="rect">
            <a:avLst/>
          </a:prstGeom>
          <a:noFill/>
        </p:spPr>
        <p:txBody>
          <a:bodyPr wrap="square" anchor="t" lIns="0" tIns="0" rIns="0" bIns="0">
            <a:spAutoFit/>
          </a:bodyPr>
          <a:lstStyle/>
          <a:p>
            <a:pPr algn="l"/>
            <a:r>
              <a:rPr sz="2000" b="1">
                <a:solidFill>
                  <a:srgbClr val="485174"/>
                </a:solidFill>
                <a:latin typeface="Bebas Neue"/>
              </a:rPr>
              <a:t>Are those the same sense?</a:t>
            </a:r>
          </a:p>
          <a:p>
            <a:pPr algn="l" marL="256032" indent="-256032" lvl="0">
              <a:spcBef>
                <a:spcPts val="700"/>
              </a:spcBef>
              <a:buClr>
                <a:srgbClr val="CC7B70"/>
              </a:buClr>
              <a:buFont typeface="Arial"/>
              <a:buChar char="•"/>
            </a:pPr>
            <a:r>
              <a:rPr sz="1600" b="0">
                <a:solidFill>
                  <a:srgbClr val="111111"/>
                </a:solidFill>
                <a:latin typeface="Inter"/>
              </a:rPr>
              <a:t>Sense 2: “A financial institution”</a:t>
            </a:r>
          </a:p>
          <a:p>
            <a:pPr algn="l" marL="256032" indent="-256032" lvl="0">
              <a:spcBef>
                <a:spcPts val="700"/>
              </a:spcBef>
              <a:buClr>
                <a:srgbClr val="CC7B70"/>
              </a:buClr>
              <a:buFont typeface="Arial"/>
              <a:buChar char="•"/>
            </a:pPr>
            <a:r>
              <a:rPr sz="1600" b="0">
                <a:solidFill>
                  <a:srgbClr val="111111"/>
                </a:solidFill>
                <a:latin typeface="Inter"/>
              </a:rPr>
              <a:t>Sense 1: “The building belonging to a financial institution”</a:t>
            </a:r>
          </a:p>
        </p:txBody>
      </p:sp>
      <p:sp>
        <p:nvSpPr>
          <p:cNvPr id="13" name="Rounded Rectangle 12"/>
          <p:cNvSpPr/>
          <p:nvPr/>
        </p:nvSpPr>
        <p:spPr>
          <a:xfrm>
            <a:off x="6195059" y="2272284"/>
            <a:ext cx="5536692" cy="1687697"/>
          </a:xfrm>
          <a:prstGeom prst="roundRect">
            <a:avLst>
              <a:gd name="adj" fmla="val 8343"/>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436876"/>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433218"/>
            <a:ext cx="5134355" cy="1365828"/>
          </a:xfrm>
          <a:prstGeom prst="rect">
            <a:avLst/>
          </a:prstGeom>
          <a:noFill/>
        </p:spPr>
        <p:txBody>
          <a:bodyPr wrap="square" anchor="t" lIns="0" tIns="0" rIns="0" bIns="0">
            <a:spAutoFit/>
          </a:bodyPr>
          <a:lstStyle/>
          <a:p>
            <a:pPr algn="l"/>
            <a:r>
              <a:rPr sz="2000" b="1">
                <a:solidFill>
                  <a:srgbClr val="485174"/>
                </a:solidFill>
                <a:latin typeface="Bebas Neue"/>
              </a:rPr>
              <a:t>A polysemous word has related meanings</a:t>
            </a:r>
          </a:p>
          <a:p>
            <a:pPr algn="l" marL="256032" indent="-256032" lvl="0">
              <a:spcBef>
                <a:spcPts val="700"/>
              </a:spcBef>
              <a:buClr>
                <a:srgbClr val="CC7B70"/>
              </a:buClr>
              <a:buFont typeface="Arial"/>
              <a:buChar char="•"/>
            </a:pPr>
            <a:r>
              <a:rPr sz="1600" b="0">
                <a:solidFill>
                  <a:srgbClr val="111111"/>
                </a:solidFill>
                <a:latin typeface="Inter"/>
              </a:rPr>
              <a:t>Most non-rare words have multiple meanings</a:t>
            </a:r>
          </a:p>
        </p:txBody>
      </p:sp>
      <p:sp>
        <p:nvSpPr>
          <p:cNvPr id="16" name="Rounded Rectangle 15"/>
          <p:cNvSpPr/>
          <p:nvPr/>
        </p:nvSpPr>
        <p:spPr>
          <a:xfrm>
            <a:off x="457200" y="4161149"/>
            <a:ext cx="11274552"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Polysemy occurs when a word has several related senses, such as "bank" meaning a building or a financial institution. The senses are connected, unlike homonyms which share form but not meaning. Most common words are polysemous. For example, "Bank" can mean a financial institution or the side of a river.</a:t>
            </a:r>
          </a:p>
        </p:txBody>
      </p:sp>
      <p:sp>
        <p:nvSpPr>
          <p:cNvPr id="19" name="Rounded Rectangle 1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Polysemy — A single word having multiple related meanings.</a:t>
            </a:r>
          </a:p>
        </p:txBody>
      </p:sp>
      <p:sp>
        <p:nvSpPr>
          <p:cNvPr id="20" name="Rectangle 1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Polysemy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114</a:t>
            </a:r>
          </a:p>
        </p:txBody>
      </p:sp>
      <p:sp>
        <p:nvSpPr>
          <p:cNvPr id="7" name="Rounded Rectangle 6"/>
          <p:cNvSpPr/>
          <p:nvPr/>
        </p:nvSpPr>
        <p:spPr>
          <a:xfrm>
            <a:off x="2419423" y="1298448"/>
            <a:ext cx="7350104"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84015" y="1463040"/>
            <a:ext cx="7020920" cy="4773168"/>
          </a:xfrm>
          <a:prstGeom prst="rect">
            <a:avLst/>
          </a:prstGeom>
        </p:spPr>
      </p:pic>
    </p:spTree>
  </p:cSld>
  <p:clrMapOvr>
    <a:masterClrMapping/>
  </p:clrMapOvr>
  <p:transition spd="med">
    <p:zoom dir="in"/>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“A single word having multiple related meanings.”?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Thesaurus/Dictionary Methods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score vector</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high-density component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Polysemy</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Polysemy: A single word having multiple related meanings.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Systematic polysemy links senses through institutional or object relationships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114</a:t>
            </a:r>
          </a:p>
        </p:txBody>
      </p:sp>
      <p:sp>
        <p:nvSpPr>
          <p:cNvPr id="8" name="Rounded Rectangle 7"/>
          <p:cNvSpPr/>
          <p:nvPr/>
        </p:nvSpPr>
        <p:spPr>
          <a:xfrm>
            <a:off x="457200"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339664"/>
          </a:xfrm>
          <a:prstGeom prst="rect">
            <a:avLst/>
          </a:prstGeom>
          <a:noFill/>
        </p:spPr>
        <p:txBody>
          <a:bodyPr wrap="square" anchor="t" lIns="0" tIns="0" rIns="0" bIns="0">
            <a:spAutoFit/>
          </a:bodyPr>
          <a:lstStyle/>
          <a:p>
            <a:pPr algn="l"/>
            <a:r>
              <a:rPr sz="2440" b="1">
                <a:solidFill>
                  <a:srgbClr val="485174"/>
                </a:solidFill>
                <a:latin typeface="Bebas Neue"/>
              </a:rPr>
              <a:t>Lots of types of polysemy are systematic</a:t>
            </a:r>
          </a:p>
          <a:p>
            <a:pPr algn="l" marL="512064" indent="-219456" lvl="1">
              <a:spcBef>
                <a:spcPts val="300"/>
              </a:spcBef>
              <a:buClr>
                <a:srgbClr val="CC7B70"/>
              </a:buClr>
              <a:buFont typeface="Arial"/>
              <a:buChar char="–"/>
            </a:pPr>
            <a:r>
              <a:rPr sz="1760" b="0">
                <a:solidFill>
                  <a:srgbClr val="555555"/>
                </a:solidFill>
                <a:latin typeface="Inter"/>
              </a:rPr>
              <a:t>School, university, hospital</a:t>
            </a:r>
          </a:p>
          <a:p>
            <a:pPr algn="l" marL="512064" indent="-219456" lvl="1">
              <a:spcBef>
                <a:spcPts val="300"/>
              </a:spcBef>
              <a:buClr>
                <a:srgbClr val="CC7B70"/>
              </a:buClr>
              <a:buFont typeface="Arial"/>
              <a:buChar char="–"/>
            </a:pPr>
            <a:r>
              <a:rPr sz="1760" b="0">
                <a:solidFill>
                  <a:srgbClr val="555555"/>
                </a:solidFill>
                <a:latin typeface="Inter"/>
              </a:rPr>
              <a:t>Allcan mean the institution or the building.</a:t>
            </a:r>
          </a:p>
          <a:p>
            <a:pPr algn="l" marL="256032" indent="-256032" lvl="0">
              <a:spcBef>
                <a:spcPts val="700"/>
              </a:spcBef>
              <a:buClr>
                <a:srgbClr val="CC7B70"/>
              </a:buClr>
              <a:buFont typeface="Arial"/>
              <a:buChar char="•"/>
            </a:pPr>
            <a:r>
              <a:rPr sz="1950" b="0">
                <a:solidFill>
                  <a:srgbClr val="111111"/>
                </a:solidFill>
                <a:latin typeface="Inter"/>
              </a:rPr>
              <a:t>Asystematic relationship:</a:t>
            </a:r>
          </a:p>
          <a:p>
            <a:pPr algn="l" marL="512064" indent="-219456" lvl="1">
              <a:spcBef>
                <a:spcPts val="300"/>
              </a:spcBef>
              <a:buClr>
                <a:srgbClr val="CC7B70"/>
              </a:buClr>
              <a:buFont typeface="Arial"/>
              <a:buChar char="–"/>
            </a:pPr>
            <a:r>
              <a:rPr sz="1760" b="0">
                <a:solidFill>
                  <a:srgbClr val="555555"/>
                </a:solidFill>
                <a:latin typeface="Inter"/>
              </a:rPr>
              <a:t>Building &lt;&gt; Organization</a:t>
            </a:r>
          </a:p>
        </p:txBody>
      </p:sp>
      <p:sp>
        <p:nvSpPr>
          <p:cNvPr id="11" name="Rounded Rectangle 10"/>
          <p:cNvSpPr/>
          <p:nvPr/>
        </p:nvSpPr>
        <p:spPr>
          <a:xfrm>
            <a:off x="6195059"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339664"/>
          </a:xfrm>
          <a:prstGeom prst="rect">
            <a:avLst/>
          </a:prstGeom>
          <a:noFill/>
        </p:spPr>
        <p:txBody>
          <a:bodyPr wrap="square" anchor="t" lIns="0" tIns="0" rIns="0" bIns="0">
            <a:spAutoFit/>
          </a:bodyPr>
          <a:lstStyle/>
          <a:p>
            <a:pPr algn="l"/>
            <a:r>
              <a:rPr sz="2440" b="1">
                <a:solidFill>
                  <a:srgbClr val="485174"/>
                </a:solidFill>
                <a:latin typeface="Bebas Neue"/>
              </a:rPr>
              <a:t>Other such kinds of systematic polysemy</a:t>
            </a:r>
          </a:p>
          <a:p>
            <a:pPr algn="l" marL="256032" indent="-256032" lvl="0">
              <a:spcBef>
                <a:spcPts val="700"/>
              </a:spcBef>
              <a:buClr>
                <a:srgbClr val="CC7B70"/>
              </a:buClr>
              <a:buFont typeface="Arial"/>
              <a:buChar char="•"/>
            </a:pPr>
            <a:r>
              <a:rPr sz="1950" b="0">
                <a:solidFill>
                  <a:srgbClr val="111111"/>
                </a:solidFill>
                <a:latin typeface="Inter"/>
              </a:rPr>
              <a:t>Author (Jane Austen wrote Emma)</a:t>
            </a:r>
          </a:p>
          <a:p>
            <a:pPr algn="l" marL="512064" indent="-219456" lvl="1">
              <a:spcBef>
                <a:spcPts val="300"/>
              </a:spcBef>
              <a:buClr>
                <a:srgbClr val="CC7B70"/>
              </a:buClr>
              <a:buFont typeface="Arial"/>
              <a:buChar char="–"/>
            </a:pPr>
            <a:r>
              <a:rPr sz="1760" b="0">
                <a:solidFill>
                  <a:srgbClr val="555555"/>
                </a:solidFill>
                <a:latin typeface="Inter"/>
              </a:rPr>
              <a:t>Works of Author (I love Jane Austen)</a:t>
            </a:r>
          </a:p>
          <a:p>
            <a:pPr algn="l" marL="256032" indent="-256032" lvl="0">
              <a:spcBef>
                <a:spcPts val="700"/>
              </a:spcBef>
              <a:buClr>
                <a:srgbClr val="CC7B70"/>
              </a:buClr>
              <a:buFont typeface="Arial"/>
              <a:buChar char="•"/>
            </a:pPr>
            <a:r>
              <a:rPr sz="1950" b="0">
                <a:solidFill>
                  <a:srgbClr val="111111"/>
                </a:solidFill>
                <a:latin typeface="Inter"/>
              </a:rPr>
              <a:t>Tree (Plums have beautiful blossoms)</a:t>
            </a:r>
          </a:p>
          <a:p>
            <a:pPr algn="l" marL="512064" indent="-219456" lvl="1">
              <a:spcBef>
                <a:spcPts val="300"/>
              </a:spcBef>
              <a:buClr>
                <a:srgbClr val="CC7B70"/>
              </a:buClr>
              <a:buFont typeface="Arial"/>
              <a:buChar char="–"/>
            </a:pPr>
            <a:r>
              <a:rPr sz="1760" b="0">
                <a:solidFill>
                  <a:srgbClr val="555555"/>
                </a:solidFill>
                <a:latin typeface="Inter"/>
              </a:rPr>
              <a:t>Fruit (I ate a preserved plum)</a:t>
            </a:r>
          </a:p>
        </p:txBody>
      </p:sp>
      <p:sp>
        <p:nvSpPr>
          <p:cNvPr id="14" name="Rounded Rectangle 13"/>
          <p:cNvSpPr/>
          <p:nvPr/>
        </p:nvSpPr>
        <p:spPr>
          <a:xfrm>
            <a:off x="457200" y="4161149"/>
            <a:ext cx="11274552"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Systematic polysemy connects senses that share a conceptual relationship, such as "school" meaning an institution or its building. Non-systematic polysemy lacks such a clear link, like "author" versus "works of author". These patterns help disambiguate meaning. For example, "Hospital" can refer to the building or the medical organization.</a:t>
            </a:r>
          </a:p>
        </p:txBody>
      </p:sp>
      <p:sp>
        <p:nvSpPr>
          <p:cNvPr id="17" name="Rounded Rectangle 1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Systematic polysemy — Polysemy where senses share a conceptual relationship.</a:t>
            </a:r>
          </a:p>
        </p:txBody>
      </p:sp>
      <p:sp>
        <p:nvSpPr>
          <p:cNvPr id="18" name="Rectangle 1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Multiple related meanings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594713"/>
            <a:ext cx="82296" cy="437266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58137"/>
            <a:ext cx="6907734" cy="4390948"/>
          </a:xfrm>
          <a:prstGeom prst="rect">
            <a:avLst/>
          </a:prstGeom>
          <a:noFill/>
        </p:spPr>
        <p:txBody>
          <a:bodyPr wrap="square" anchor="t" lIns="0" tIns="0" rIns="0" bIns="0">
            <a:spAutoFit/>
          </a:bodyPr>
          <a:lstStyle/>
          <a:p>
            <a:pPr algn="l"/>
            <a:r>
              <a:rPr sz="1960" b="1">
                <a:solidFill>
                  <a:srgbClr val="485174"/>
                </a:solidFill>
                <a:latin typeface="Bebas Neue"/>
              </a:rPr>
              <a:t>S: (n) newspaper, paper (a daily or weekly publication on folded sheets; contains news and articles and advertisements) "he read his newspaper at breakfast" S: (n) newspaper, paper, newspaper publisher (a business firm that publishes newspapers) "Murdoch owns many newspapers" S: (n) newspaper, paper (the physical object that is the product of a newspaper publisher) "when it began to rain he covered his head with a newspaper" S: (n) newspaper, newsprint (cheap paper made from wood pulp and used for printing newspapers) "they used bales of newspaper every day”.</a:t>
            </a:r>
          </a:p>
        </p:txBody>
      </p:sp>
    </p:spTree>
  </p:cSld>
  <p:clrMapOvr>
    <a:masterClrMapping/>
  </p:clrMapOvr>
  <p:transition spd="med">
    <p:cover dir="r"/>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The zeugma test distinguishes multiple senses of a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18177"/>
            <a:ext cx="82296" cy="257746"/>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1601"/>
            <a:ext cx="6963576" cy="276034"/>
          </a:xfrm>
          <a:prstGeom prst="rect">
            <a:avLst/>
          </a:prstGeom>
          <a:noFill/>
        </p:spPr>
        <p:txBody>
          <a:bodyPr wrap="square" anchor="t" lIns="0" tIns="0" rIns="0" bIns="0">
            <a:spAutoFit/>
          </a:bodyPr>
          <a:lstStyle/>
          <a:p>
            <a:pPr algn="l"/>
            <a:r>
              <a:rPr sz="1720" b="1">
                <a:solidFill>
                  <a:srgbClr val="485174"/>
                </a:solidFill>
                <a:latin typeface="Bebas Neue"/>
              </a:rPr>
              <a:t>The “zeugma” test: Two senses of serve?</a:t>
            </a:r>
          </a:p>
        </p:txBody>
      </p:sp>
      <p:sp>
        <p:nvSpPr>
          <p:cNvPr id="10" name="TextBox 9"/>
          <p:cNvSpPr txBox="1"/>
          <p:nvPr/>
        </p:nvSpPr>
        <p:spPr>
          <a:xfrm>
            <a:off x="720547" y="1849659"/>
            <a:ext cx="6963576" cy="200025"/>
          </a:xfrm>
          <a:prstGeom prst="rect">
            <a:avLst/>
          </a:prstGeom>
          <a:noFill/>
        </p:spPr>
        <p:txBody>
          <a:bodyPr wrap="square" lIns="0" rIns="0" tIns="0" bIns="0">
            <a:spAutoFit/>
          </a:bodyPr>
          <a:lstStyle/>
          <a:p>
            <a:r>
              <a:rPr sz="1250">
                <a:solidFill>
                  <a:srgbClr val="111111"/>
                </a:solidFill>
                <a:latin typeface="Inter"/>
              </a:rPr>
              <a:t>flights serve breakfast?</a:t>
            </a:r>
          </a:p>
        </p:txBody>
      </p:sp>
      <p:sp>
        <p:nvSpPr>
          <p:cNvPr id="11" name="TextBox 10"/>
          <p:cNvSpPr txBox="1"/>
          <p:nvPr/>
        </p:nvSpPr>
        <p:spPr>
          <a:xfrm>
            <a:off x="720547" y="2177700"/>
            <a:ext cx="6963576" cy="200025"/>
          </a:xfrm>
          <a:prstGeom prst="rect">
            <a:avLst/>
          </a:prstGeom>
          <a:noFill/>
        </p:spPr>
        <p:txBody>
          <a:bodyPr wrap="square" lIns="0" rIns="0" tIns="0" bIns="0">
            <a:spAutoFit/>
          </a:bodyPr>
          <a:lstStyle/>
          <a:p>
            <a:r>
              <a:rPr sz="1250">
                <a:solidFill>
                  <a:srgbClr val="111111"/>
                </a:solidFill>
                <a:latin typeface="Inter"/>
              </a:rPr>
              <a:t>Does Lufthansa serve Philadelphia?</a:t>
            </a:r>
          </a:p>
        </p:txBody>
      </p:sp>
      <p:sp>
        <p:nvSpPr>
          <p:cNvPr id="12" name="TextBox 11"/>
          <p:cNvSpPr txBox="1"/>
          <p:nvPr/>
        </p:nvSpPr>
        <p:spPr>
          <a:xfrm>
            <a:off x="720547" y="2505741"/>
            <a:ext cx="6963576" cy="200025"/>
          </a:xfrm>
          <a:prstGeom prst="rect">
            <a:avLst/>
          </a:prstGeom>
          <a:noFill/>
        </p:spPr>
        <p:txBody>
          <a:bodyPr wrap="square" lIns="0" rIns="0" tIns="0" bIns="0">
            <a:spAutoFit/>
          </a:bodyPr>
          <a:lstStyle/>
          <a:p>
            <a:r>
              <a:rPr sz="1250">
                <a:solidFill>
                  <a:srgbClr val="111111"/>
                </a:solidFill>
                <a:latin typeface="Inter"/>
              </a:rPr>
              <a:t>Does Lufthansa serve breakfast and San Jose?</a:t>
            </a:r>
          </a:p>
        </p:txBody>
      </p:sp>
      <p:sp>
        <p:nvSpPr>
          <p:cNvPr id="13" name="TextBox 12"/>
          <p:cNvSpPr txBox="1"/>
          <p:nvPr/>
        </p:nvSpPr>
        <p:spPr>
          <a:xfrm>
            <a:off x="720547" y="2833782"/>
            <a:ext cx="6963576" cy="200025"/>
          </a:xfrm>
          <a:prstGeom prst="rect">
            <a:avLst/>
          </a:prstGeom>
          <a:noFill/>
        </p:spPr>
        <p:txBody>
          <a:bodyPr wrap="square" lIns="0" rIns="0" tIns="0" bIns="0">
            <a:spAutoFit/>
          </a:bodyPr>
          <a:lstStyle/>
          <a:p>
            <a:r>
              <a:rPr sz="780" b="1">
                <a:solidFill>
                  <a:srgbClr val="1D4ED8"/>
                </a:solidFill>
                <a:latin typeface="Bebas Neue"/>
              </a:rPr>
              <a:t>BECAUSE   </a:t>
            </a:r>
            <a:r>
              <a:rPr sz="1250" b="1">
                <a:solidFill>
                  <a:srgbClr val="1D4ED8"/>
                </a:solidFill>
                <a:latin typeface="Bebas Neue"/>
              </a:rPr>
              <a:t>Since</a:t>
            </a:r>
            <a:r>
              <a:rPr sz="1250">
                <a:solidFill>
                  <a:srgbClr val="111111"/>
                </a:solidFill>
                <a:latin typeface="Inter"/>
              </a:rPr>
              <a:t> this conjunction sounds weird.</a:t>
            </a:r>
          </a:p>
        </p:txBody>
      </p:sp>
      <p:sp>
        <p:nvSpPr>
          <p:cNvPr id="14" name="TextBox 13"/>
          <p:cNvSpPr txBox="1"/>
          <p:nvPr/>
        </p:nvSpPr>
        <p:spPr>
          <a:xfrm>
            <a:off x="720547" y="3161823"/>
            <a:ext cx="6963576" cy="200025"/>
          </a:xfrm>
          <a:prstGeom prst="rect">
            <a:avLst/>
          </a:prstGeom>
          <a:noFill/>
        </p:spPr>
        <p:txBody>
          <a:bodyPr wrap="square" lIns="0" rIns="0" tIns="0" bIns="0">
            <a:spAutoFit/>
          </a:bodyPr>
          <a:lstStyle/>
          <a:p>
            <a:r>
              <a:rPr sz="1250">
                <a:solidFill>
                  <a:srgbClr val="111111"/>
                </a:solidFill>
                <a:latin typeface="Inter"/>
              </a:rPr>
              <a:t>we say that these are two different senses of “serve”.</a:t>
            </a:r>
          </a:p>
        </p:txBody>
      </p:sp>
      <p:sp>
        <p:nvSpPr>
          <p:cNvPr id="15" name="TextBox 14"/>
          <p:cNvSpPr txBox="1"/>
          <p:nvPr/>
        </p:nvSpPr>
        <p:spPr>
          <a:xfrm>
            <a:off x="720547" y="3489864"/>
            <a:ext cx="6963576" cy="400050"/>
          </a:xfrm>
          <a:prstGeom prst="rect">
            <a:avLst/>
          </a:prstGeom>
          <a:noFill/>
        </p:spPr>
        <p:txBody>
          <a:bodyPr wrap="square" lIns="0" rIns="0" tIns="0" bIns="0">
            <a:spAutoFit/>
          </a:bodyPr>
          <a:lstStyle/>
          <a:p>
            <a:r>
              <a:rPr sz="1250">
                <a:solidFill>
                  <a:srgbClr val="111111"/>
                </a:solidFill>
                <a:latin typeface="Inter"/>
              </a:rPr>
              <a:t>The zeugma test checks whether a word can logically share a sense across different contexts.</a:t>
            </a:r>
          </a:p>
        </p:txBody>
      </p:sp>
      <p:sp>
        <p:nvSpPr>
          <p:cNvPr id="16" name="TextBox 15"/>
          <p:cNvSpPr txBox="1"/>
          <p:nvPr/>
        </p:nvSpPr>
        <p:spPr>
          <a:xfrm>
            <a:off x="720547" y="4017930"/>
            <a:ext cx="6963576" cy="200025"/>
          </a:xfrm>
          <a:prstGeom prst="rect">
            <a:avLst/>
          </a:prstGeom>
          <a:noFill/>
        </p:spPr>
        <p:txBody>
          <a:bodyPr wrap="square" lIns="0" rIns="0" tIns="0" bIns="0">
            <a:spAutoFit/>
          </a:bodyPr>
          <a:lstStyle/>
          <a:p>
            <a:r>
              <a:rPr sz="1250">
                <a:solidFill>
                  <a:srgbClr val="111111"/>
                </a:solidFill>
                <a:latin typeface="Inter"/>
              </a:rPr>
              <a:t>If a conjunction sounds odd, the word likely has separate senses.</a:t>
            </a:r>
          </a:p>
        </p:txBody>
      </p:sp>
      <p:sp>
        <p:nvSpPr>
          <p:cNvPr id="17" name="TextBox 16"/>
          <p:cNvSpPr txBox="1"/>
          <p:nvPr/>
        </p:nvSpPr>
        <p:spPr>
          <a:xfrm>
            <a:off x="994867" y="4345971"/>
            <a:ext cx="6689256" cy="400050"/>
          </a:xfrm>
          <a:prstGeom prst="rect">
            <a:avLst/>
          </a:prstGeom>
          <a:noFill/>
        </p:spPr>
        <p:txBody>
          <a:bodyPr wrap="square" lIns="0" rIns="0" tIns="0" bIns="0">
            <a:spAutoFit/>
          </a:bodyPr>
          <a:lstStyle/>
          <a:p>
            <a:r>
              <a:rPr sz="780" b="1">
                <a:solidFill>
                  <a:srgbClr val="0F766E"/>
                </a:solidFill>
                <a:latin typeface="Bebas Neue"/>
              </a:rPr>
              <a:t>E.G.   </a:t>
            </a:r>
            <a:r>
              <a:rPr sz="1250" b="1">
                <a:solidFill>
                  <a:srgbClr val="0F766E"/>
                </a:solidFill>
                <a:latin typeface="Bebas Neue"/>
              </a:rPr>
              <a:t>For example</a:t>
            </a:r>
            <a:r>
              <a:rPr sz="1250">
                <a:solidFill>
                  <a:srgbClr val="111111"/>
                </a:solidFill>
                <a:latin typeface="Inter"/>
              </a:rPr>
              <a:t>, "serve" in "serve breakfast" versus "serve flights" indicates distinct meanings.</a:t>
            </a:r>
          </a:p>
        </p:txBody>
      </p:sp>
      <p:sp>
        <p:nvSpPr>
          <p:cNvPr id="18" name="TextBox 17"/>
          <p:cNvSpPr txBox="1"/>
          <p:nvPr/>
        </p:nvSpPr>
        <p:spPr>
          <a:xfrm>
            <a:off x="720547" y="4874037"/>
            <a:ext cx="6963576" cy="200025"/>
          </a:xfrm>
          <a:prstGeom prst="rect">
            <a:avLst/>
          </a:prstGeom>
          <a:noFill/>
        </p:spPr>
        <p:txBody>
          <a:bodyPr wrap="square" lIns="0" rIns="0" tIns="0" bIns="0">
            <a:spAutoFit/>
          </a:bodyPr>
          <a:lstStyle/>
          <a:p>
            <a:r>
              <a:rPr sz="1250">
                <a:solidFill>
                  <a:srgbClr val="111111"/>
                </a:solidFill>
                <a:latin typeface="Inter"/>
              </a:rPr>
              <a:t>Example: "Serve" in "serve lunch" vs. "serve a flight".</a:t>
            </a:r>
          </a:p>
        </p:txBody>
      </p:sp>
      <p:sp>
        <p:nvSpPr>
          <p:cNvPr id="19" name="Rounded Rectangle 1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Zeugma — Test to determine if a word shares a sense across contexts.</a:t>
            </a:r>
          </a:p>
        </p:txBody>
      </p:sp>
      <p:sp>
        <p:nvSpPr>
          <p:cNvPr id="20" name="Rectangle 1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Homonyms share form but have unrelated meanings across categories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149993"/>
          </a:xfrm>
          <a:prstGeom prst="roundRect">
            <a:avLst>
              <a:gd name="adj" fmla="val 122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8998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03366"/>
            <a:ext cx="340156" cy="340156"/>
          </a:xfrm>
          <a:prstGeom prst="rect">
            <a:avLst/>
          </a:prstGeom>
        </p:spPr>
      </p:pic>
      <p:sp>
        <p:nvSpPr>
          <p:cNvPr id="11" name="TextBox 10"/>
          <p:cNvSpPr txBox="1"/>
          <p:nvPr/>
        </p:nvSpPr>
        <p:spPr>
          <a:xfrm>
            <a:off x="1408175" y="1371600"/>
            <a:ext cx="2622804" cy="1003689"/>
          </a:xfrm>
          <a:prstGeom prst="rect">
            <a:avLst/>
          </a:prstGeom>
          <a:noFill/>
        </p:spPr>
        <p:txBody>
          <a:bodyPr wrap="square" anchor="ctr" lIns="0" tIns="0" rIns="0" bIns="0">
            <a:spAutoFit/>
          </a:bodyPr>
          <a:lstStyle/>
          <a:p>
            <a:pPr algn="l"/>
            <a:r>
              <a:rPr sz="1800" b="1">
                <a:solidFill>
                  <a:srgbClr val="485174"/>
                </a:solidFill>
                <a:latin typeface="Bebas Neue"/>
              </a:rPr>
              <a:t>Homonyms</a:t>
            </a:r>
          </a:p>
          <a:p>
            <a:pPr algn="l">
              <a:spcBef>
                <a:spcPts val="500"/>
              </a:spcBef>
            </a:pPr>
            <a:r>
              <a:rPr sz="1500" b="0">
                <a:solidFill>
                  <a:srgbClr val="111111"/>
                </a:solidFill>
                <a:latin typeface="Inter"/>
              </a:rPr>
              <a:t>lexemes that share a form, but unrelated meanings</a:t>
            </a:r>
          </a:p>
        </p:txBody>
      </p:sp>
      <p:sp>
        <p:nvSpPr>
          <p:cNvPr id="12" name="Rounded Rectangle 11"/>
          <p:cNvSpPr/>
          <p:nvPr/>
        </p:nvSpPr>
        <p:spPr>
          <a:xfrm>
            <a:off x="4433315" y="1298448"/>
            <a:ext cx="3774947" cy="1149993"/>
          </a:xfrm>
          <a:prstGeom prst="roundRect">
            <a:avLst>
              <a:gd name="adj" fmla="val 122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8998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703366"/>
            <a:ext cx="340156" cy="340156"/>
          </a:xfrm>
          <a:prstGeom prst="rect">
            <a:avLst/>
          </a:prstGeom>
        </p:spPr>
      </p:pic>
      <p:sp>
        <p:nvSpPr>
          <p:cNvPr id="15" name="TextBox 14"/>
          <p:cNvSpPr txBox="1"/>
          <p:nvPr/>
        </p:nvSpPr>
        <p:spPr>
          <a:xfrm>
            <a:off x="5384291" y="1371600"/>
            <a:ext cx="2622804" cy="1003689"/>
          </a:xfrm>
          <a:prstGeom prst="rect">
            <a:avLst/>
          </a:prstGeom>
          <a:noFill/>
        </p:spPr>
        <p:txBody>
          <a:bodyPr wrap="square" anchor="ctr" lIns="0" tIns="0" rIns="0" bIns="0">
            <a:spAutoFit/>
          </a:bodyPr>
          <a:lstStyle/>
          <a:p>
            <a:pPr algn="l"/>
            <a:r>
              <a:rPr sz="1800" b="1">
                <a:solidFill>
                  <a:srgbClr val="485174"/>
                </a:solidFill>
                <a:latin typeface="Bebas Neue"/>
              </a:rPr>
              <a:t>Homophones</a:t>
            </a:r>
          </a:p>
          <a:p>
            <a:pPr algn="l">
              <a:spcBef>
                <a:spcPts val="500"/>
              </a:spcBef>
            </a:pPr>
            <a:r>
              <a:rPr sz="1500" b="0">
                <a:solidFill>
                  <a:srgbClr val="111111"/>
                </a:solidFill>
                <a:latin typeface="Inter"/>
              </a:rPr>
              <a:t>write and right, piece and peace</a:t>
            </a:r>
          </a:p>
        </p:txBody>
      </p:sp>
      <p:sp>
        <p:nvSpPr>
          <p:cNvPr id="16" name="Rounded Rectangle 15"/>
          <p:cNvSpPr/>
          <p:nvPr/>
        </p:nvSpPr>
        <p:spPr>
          <a:xfrm>
            <a:off x="457200" y="2649609"/>
            <a:ext cx="3774947" cy="1149993"/>
          </a:xfrm>
          <a:prstGeom prst="roundRect">
            <a:avLst>
              <a:gd name="adj" fmla="val 122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94114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54527"/>
            <a:ext cx="340156" cy="340156"/>
          </a:xfrm>
          <a:prstGeom prst="rect">
            <a:avLst/>
          </a:prstGeom>
        </p:spPr>
      </p:pic>
      <p:sp>
        <p:nvSpPr>
          <p:cNvPr id="19" name="TextBox 18"/>
          <p:cNvSpPr txBox="1"/>
          <p:nvPr/>
        </p:nvSpPr>
        <p:spPr>
          <a:xfrm>
            <a:off x="1408175" y="2722761"/>
            <a:ext cx="2622804" cy="1003689"/>
          </a:xfrm>
          <a:prstGeom prst="rect">
            <a:avLst/>
          </a:prstGeom>
          <a:noFill/>
        </p:spPr>
        <p:txBody>
          <a:bodyPr wrap="square" anchor="ctr" lIns="0" tIns="0" rIns="0" bIns="0">
            <a:spAutoFit/>
          </a:bodyPr>
          <a:lstStyle/>
          <a:p>
            <a:pPr algn="l"/>
            <a:r>
              <a:rPr sz="1800" b="1">
                <a:solidFill>
                  <a:srgbClr val="485174"/>
                </a:solidFill>
                <a:latin typeface="Bebas Neue"/>
              </a:rPr>
              <a:t>Homographs</a:t>
            </a:r>
          </a:p>
          <a:p>
            <a:pPr algn="l">
              <a:spcBef>
                <a:spcPts val="500"/>
              </a:spcBef>
            </a:pPr>
            <a:r>
              <a:rPr sz="1500" b="0">
                <a:solidFill>
                  <a:srgbClr val="111111"/>
                </a:solidFill>
                <a:latin typeface="Inter"/>
              </a:rPr>
              <a:t>bass and bass</a:t>
            </a:r>
          </a:p>
        </p:txBody>
      </p:sp>
      <p:sp>
        <p:nvSpPr>
          <p:cNvPr id="20" name="Rounded Rectangle 19"/>
          <p:cNvSpPr/>
          <p:nvPr/>
        </p:nvSpPr>
        <p:spPr>
          <a:xfrm>
            <a:off x="4433315" y="2649609"/>
            <a:ext cx="3774947" cy="1149993"/>
          </a:xfrm>
          <a:prstGeom prst="roundRect">
            <a:avLst>
              <a:gd name="adj" fmla="val 122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94114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054527"/>
            <a:ext cx="340156" cy="340156"/>
          </a:xfrm>
          <a:prstGeom prst="rect">
            <a:avLst/>
          </a:prstGeom>
        </p:spPr>
      </p:pic>
      <p:sp>
        <p:nvSpPr>
          <p:cNvPr id="23" name="TextBox 22"/>
          <p:cNvSpPr txBox="1"/>
          <p:nvPr/>
        </p:nvSpPr>
        <p:spPr>
          <a:xfrm>
            <a:off x="5384291" y="2722761"/>
            <a:ext cx="2622804" cy="1003689"/>
          </a:xfrm>
          <a:prstGeom prst="rect">
            <a:avLst/>
          </a:prstGeom>
          <a:noFill/>
        </p:spPr>
        <p:txBody>
          <a:bodyPr wrap="square" anchor="ctr" lIns="0" tIns="0" rIns="0" bIns="0">
            <a:spAutoFit/>
          </a:bodyPr>
          <a:lstStyle/>
          <a:p>
            <a:pPr algn="l"/>
            <a:r>
              <a:rPr sz="1800" b="1">
                <a:solidFill>
                  <a:srgbClr val="485174"/>
                </a:solidFill>
                <a:latin typeface="Bebas Neue"/>
              </a:rPr>
              <a:t>Example</a:t>
            </a:r>
          </a:p>
          <a:p>
            <a:pPr algn="l">
              <a:spcBef>
                <a:spcPts val="500"/>
              </a:spcBef>
            </a:pPr>
            <a:r>
              <a:rPr sz="1500" b="0">
                <a:solidFill>
                  <a:srgbClr val="111111"/>
                </a:solidFill>
                <a:latin typeface="Inter"/>
              </a:rPr>
              <a:t>"Bat" can mean a flying mammal or a baseball club</a:t>
            </a:r>
          </a:p>
        </p:txBody>
      </p:sp>
      <p:sp>
        <p:nvSpPr>
          <p:cNvPr id="24" name="Rounded Rectangle 23"/>
          <p:cNvSpPr/>
          <p:nvPr/>
        </p:nvSpPr>
        <p:spPr>
          <a:xfrm>
            <a:off x="457200" y="4000770"/>
            <a:ext cx="7751064" cy="1284461"/>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000770"/>
            <a:ext cx="73152" cy="1284461"/>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073922"/>
            <a:ext cx="7356043" cy="1138157"/>
          </a:xfrm>
          <a:prstGeom prst="rect">
            <a:avLst/>
          </a:prstGeom>
          <a:noFill/>
        </p:spPr>
        <p:txBody>
          <a:bodyPr wrap="square" anchor="ctr" lIns="0" tIns="0" rIns="0" bIns="0">
            <a:spAutoFit/>
          </a:bodyPr>
          <a:lstStyle/>
          <a:p>
            <a:pPr algn="l"/>
            <a:r>
              <a:rPr sz="940" b="1">
                <a:solidFill>
                  <a:srgbClr val="CC7B70"/>
                </a:solidFill>
                <a:latin typeface="Bebas Neue"/>
              </a:rPr>
              <a:t>ALSO ON THIS SLIDE</a:t>
            </a:r>
          </a:p>
          <a:p>
            <a:pPr algn="l">
              <a:spcBef>
                <a:spcPts val="300"/>
              </a:spcBef>
            </a:pPr>
            <a:r>
              <a:rPr sz="1300" b="0">
                <a:solidFill>
                  <a:srgbClr val="111111"/>
                </a:solidFill>
                <a:latin typeface="Inter"/>
              </a:rPr>
              <a:t>bat (wooden stick thing) vs bat (flying scary mammal) bank (financial institution) vs bank (riverside) Homonyms are lexemes that look or sound the same yet have unrelated meanings, such as "bat" the animal versus "bat" the sports equipment. They can be homophones (same sound), homographs (same spelling), or both.</a:t>
            </a:r>
          </a:p>
        </p:txBody>
      </p:sp>
      <p:sp>
        <p:nvSpPr>
          <p:cNvPr id="27" name="Rounded Rectangle 2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Homonym — Word that shares form but not meaning with another.</a:t>
            </a:r>
          </a:p>
        </p:txBody>
      </p:sp>
      <p:sp>
        <p:nvSpPr>
          <p:cNvPr id="28" name="Rectangle 2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Homonymy describes unrelated meanings while polysemy describes related meanings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2995208"/>
            <a:ext cx="82296" cy="157167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958632"/>
            <a:ext cx="6907734" cy="1589958"/>
          </a:xfrm>
          <a:prstGeom prst="rect">
            <a:avLst/>
          </a:prstGeom>
          <a:noFill/>
        </p:spPr>
        <p:txBody>
          <a:bodyPr wrap="square" anchor="t" lIns="0" tIns="0" rIns="0" bIns="0">
            <a:spAutoFit/>
          </a:bodyPr>
          <a:lstStyle/>
          <a:p>
            <a:pPr algn="l"/>
            <a:r>
              <a:rPr sz="3310" b="1">
                <a:solidFill>
                  <a:srgbClr val="485174"/>
                </a:solidFill>
                <a:latin typeface="Bebas Neue"/>
              </a:rPr>
              <a:t>Homonymy: unrelated Polysemy: related meaning.</a:t>
            </a:r>
          </a:p>
        </p:txBody>
      </p:sp>
    </p:spTree>
  </p:cSld>
  <p:clrMapOvr>
    <a:masterClrMapping/>
  </p:clrMapOvr>
  <p:transition spd="med">
    <p:cover dir="r"/>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“Word that shares form but not meaning with another.”?</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Vector</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wsd</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Polysemy</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Homonym</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Homonym: Word that shares form but not meaning with another.</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Homonymy (2/2): 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35024"/>
            <a:ext cx="82296" cy="254459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6963576" cy="2562880"/>
          </a:xfrm>
          <a:prstGeom prst="rect">
            <a:avLst/>
          </a:prstGeom>
          <a:noFill/>
        </p:spPr>
        <p:txBody>
          <a:bodyPr wrap="square" anchor="t" lIns="0" tIns="0" rIns="0" bIns="0">
            <a:spAutoFit/>
          </a:bodyPr>
          <a:lstStyle/>
          <a:p>
            <a:pPr algn="l"/>
            <a:r>
              <a:rPr sz="1230" b="1">
                <a:solidFill>
                  <a:srgbClr val="485174"/>
                </a:solidFill>
                <a:latin typeface="Bebas Neue"/>
              </a:rPr>
              <a:t>S: (n) position, place (the particular portion of space occupied by something) "he put the lamp back in its place" S: (n) military position, position (a point occupied by troops for tactical reasons) S: (n) position, view, perspective (a way of regarding situations or topics what follows from the positivist view" S: (n) position, posture, attitude (the arrangement of the body and its limbs) "he assumed an attitude of surrender" S: (n) status, position (the relative position or standing of things or especially persons in a society) "he had the status of a minor"; "the novel attained the status of a classic"; "atheists do not enjoy a favorable position in American life" S: (n) position, post, berth, office, spot, billet, place, situation (a job in an organization) "he occupied a post in the treasury".</a:t>
            </a:r>
          </a:p>
        </p:txBody>
      </p:sp>
      <p:sp>
        <p:nvSpPr>
          <p:cNvPr id="10" name="Rounded Rectangle 9"/>
          <p:cNvSpPr/>
          <p:nvPr/>
        </p:nvSpPr>
        <p:spPr>
          <a:xfrm>
            <a:off x="457200" y="4000770"/>
            <a:ext cx="7751064" cy="1284461"/>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000770"/>
            <a:ext cx="73152" cy="1284461"/>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4073922"/>
            <a:ext cx="7356043" cy="1138157"/>
          </a:xfrm>
          <a:prstGeom prst="rect">
            <a:avLst/>
          </a:prstGeom>
          <a:noFill/>
        </p:spPr>
        <p:txBody>
          <a:bodyPr wrap="square" anchor="ctr" lIns="0" tIns="0" rIns="0" bIns="0">
            <a:spAutoFit/>
          </a:bodyPr>
          <a:lstStyle/>
          <a:p>
            <a:pPr algn="l"/>
            <a:r>
              <a:rPr sz="940" b="1">
                <a:solidFill>
                  <a:srgbClr val="CC7B70"/>
                </a:solidFill>
                <a:latin typeface="Bebas Neue"/>
              </a:rPr>
              <a:t>IN PLAIN WORDS</a:t>
            </a:r>
          </a:p>
          <a:p>
            <a:pPr algn="l">
              <a:spcBef>
                <a:spcPts val="300"/>
              </a:spcBef>
            </a:pPr>
            <a:r>
              <a:rPr sz="1300" b="0">
                <a:solidFill>
                  <a:srgbClr val="111111"/>
                </a:solidFill>
                <a:latin typeface="Inter"/>
              </a:rPr>
              <a:t>The same spelling "S" is used for many different concepts. In everyday life it can refer to a place or a job. In the military it marks a tactical spot. In philosophy it can mean a viewpoint. In social terms it can denote status. Context tells which meaning applies. For example, "S" as a job: he occupied a post in the treasury.</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hyponym — a more specific word within a broader category  ·  hypernym — a more general word that includes other terms</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Homonymy creates challenges for NLP, information retrieval, and machine translation</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114</a:t>
            </a:r>
          </a:p>
        </p:txBody>
      </p:sp>
      <p:sp>
        <p:nvSpPr>
          <p:cNvPr id="8" name="Rounded Rectangle 7"/>
          <p:cNvSpPr/>
          <p:nvPr/>
        </p:nvSpPr>
        <p:spPr>
          <a:xfrm>
            <a:off x="457200" y="1298448"/>
            <a:ext cx="3502152"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016252"/>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80160" y="1499616"/>
            <a:ext cx="2478024" cy="1490472"/>
          </a:xfrm>
          <a:prstGeom prst="rect">
            <a:avLst/>
          </a:prstGeom>
          <a:noFill/>
        </p:spPr>
        <p:txBody>
          <a:bodyPr wrap="square" anchor="ctr" lIns="0" tIns="0" rIns="0" bIns="0">
            <a:spAutoFit/>
          </a:bodyPr>
          <a:lstStyle/>
          <a:p>
            <a:pPr algn="l"/>
            <a:r>
              <a:rPr sz="2280" b="1">
                <a:solidFill>
                  <a:srgbClr val="485174"/>
                </a:solidFill>
                <a:latin typeface="Bebas Neue"/>
              </a:rPr>
              <a:t>Homonymy causes problems for NLP</a:t>
            </a:r>
          </a:p>
        </p:txBody>
      </p:sp>
      <p:sp>
        <p:nvSpPr>
          <p:cNvPr id="11" name="Right Arrow 10"/>
          <p:cNvSpPr/>
          <p:nvPr/>
        </p:nvSpPr>
        <p:spPr>
          <a:xfrm>
            <a:off x="4014215" y="2089404"/>
            <a:ext cx="274320" cy="310896"/>
          </a:xfrm>
          <a:prstGeom prst="rightArrow">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2016252"/>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5166359" y="1499616"/>
            <a:ext cx="2478024" cy="1490472"/>
          </a:xfrm>
          <a:prstGeom prst="rect">
            <a:avLst/>
          </a:prstGeom>
          <a:noFill/>
        </p:spPr>
        <p:txBody>
          <a:bodyPr wrap="square" anchor="ctr" lIns="0" tIns="0" rIns="0" bIns="0">
            <a:spAutoFit/>
          </a:bodyPr>
          <a:lstStyle/>
          <a:p>
            <a:pPr algn="l"/>
            <a:r>
              <a:rPr sz="2280" b="1">
                <a:solidFill>
                  <a:srgbClr val="485174"/>
                </a:solidFill>
                <a:latin typeface="Bebas Neue"/>
              </a:rPr>
              <a:t>Information retrieval</a:t>
            </a:r>
          </a:p>
        </p:txBody>
      </p:sp>
      <p:sp>
        <p:nvSpPr>
          <p:cNvPr id="15" name="Right Arrow 14"/>
          <p:cNvSpPr/>
          <p:nvPr/>
        </p:nvSpPr>
        <p:spPr>
          <a:xfrm>
            <a:off x="7900416" y="2089404"/>
            <a:ext cx="274320" cy="310896"/>
          </a:xfrm>
          <a:prstGeom prst="rightArrow">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2016252"/>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9052560" y="1499616"/>
            <a:ext cx="2478024" cy="1490472"/>
          </a:xfrm>
          <a:prstGeom prst="rect">
            <a:avLst/>
          </a:prstGeom>
          <a:noFill/>
        </p:spPr>
        <p:txBody>
          <a:bodyPr wrap="square" anchor="ctr" lIns="0" tIns="0" rIns="0" bIns="0">
            <a:spAutoFit/>
          </a:bodyPr>
          <a:lstStyle/>
          <a:p>
            <a:pPr algn="l"/>
            <a:r>
              <a:rPr sz="2280" b="1">
                <a:solidFill>
                  <a:srgbClr val="485174"/>
                </a:solidFill>
                <a:latin typeface="Bebas Neue"/>
              </a:rPr>
              <a:t>Machine Translation</a:t>
            </a:r>
          </a:p>
        </p:txBody>
      </p:sp>
      <p:sp>
        <p:nvSpPr>
          <p:cNvPr id="19" name="Rounded Rectangle 18"/>
          <p:cNvSpPr/>
          <p:nvPr/>
        </p:nvSpPr>
        <p:spPr>
          <a:xfrm>
            <a:off x="457200" y="3392424"/>
            <a:ext cx="3502152"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4110228"/>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1" name="TextBox 20"/>
          <p:cNvSpPr txBox="1"/>
          <p:nvPr/>
        </p:nvSpPr>
        <p:spPr>
          <a:xfrm>
            <a:off x="1280160" y="3593592"/>
            <a:ext cx="2478024" cy="1490472"/>
          </a:xfrm>
          <a:prstGeom prst="rect">
            <a:avLst/>
          </a:prstGeom>
          <a:noFill/>
        </p:spPr>
        <p:txBody>
          <a:bodyPr wrap="square" anchor="ctr" lIns="0" tIns="0" rIns="0" bIns="0">
            <a:spAutoFit/>
          </a:bodyPr>
          <a:lstStyle/>
          <a:p>
            <a:pPr algn="l"/>
            <a:r>
              <a:rPr sz="2280" b="1">
                <a:solidFill>
                  <a:srgbClr val="485174"/>
                </a:solidFill>
                <a:latin typeface="Bebas Neue"/>
              </a:rPr>
              <a:t>Bat</a:t>
            </a:r>
          </a:p>
          <a:p>
            <a:pPr algn="l">
              <a:spcBef>
                <a:spcPts val="500"/>
              </a:spcBef>
            </a:pPr>
            <a:r>
              <a:rPr sz="1900" b="0">
                <a:solidFill>
                  <a:srgbClr val="111111"/>
                </a:solidFill>
                <a:latin typeface="Inter"/>
              </a:rPr>
              <a:t>bat: murciélago (animal) or bate (for baseball)</a:t>
            </a:r>
          </a:p>
        </p:txBody>
      </p:sp>
      <p:sp>
        <p:nvSpPr>
          <p:cNvPr id="22" name="Right Arrow 21"/>
          <p:cNvSpPr/>
          <p:nvPr/>
        </p:nvSpPr>
        <p:spPr>
          <a:xfrm>
            <a:off x="4014215" y="4183380"/>
            <a:ext cx="274320" cy="310896"/>
          </a:xfrm>
          <a:prstGeom prst="rightArrow">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3392424"/>
            <a:ext cx="3502152"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44568" y="4110228"/>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5" name="TextBox 24"/>
          <p:cNvSpPr txBox="1"/>
          <p:nvPr/>
        </p:nvSpPr>
        <p:spPr>
          <a:xfrm>
            <a:off x="5166359" y="3593592"/>
            <a:ext cx="2478024" cy="1490472"/>
          </a:xfrm>
          <a:prstGeom prst="rect">
            <a:avLst/>
          </a:prstGeom>
          <a:noFill/>
        </p:spPr>
        <p:txBody>
          <a:bodyPr wrap="square" anchor="ctr" lIns="0" tIns="0" rIns="0" bIns="0">
            <a:spAutoFit/>
          </a:bodyPr>
          <a:lstStyle/>
          <a:p>
            <a:pPr algn="l"/>
            <a:r>
              <a:rPr sz="2280" b="1">
                <a:solidFill>
                  <a:srgbClr val="485174"/>
                </a:solidFill>
                <a:latin typeface="Bebas Neue"/>
              </a:rPr>
              <a:t>Bass (stringed instrument) vs. bass (fish)</a:t>
            </a:r>
          </a:p>
        </p:txBody>
      </p:sp>
      <p:sp>
        <p:nvSpPr>
          <p:cNvPr id="26" name="Rounded Rectangle 25"/>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One trigger sets off a chain of 5 effects.</a:t>
            </a:r>
          </a:p>
        </p:txBody>
      </p:sp>
      <p:sp>
        <p:nvSpPr>
          <p:cNvPr id="27" name="Rectangle 26"/>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5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Senses relate through symmetry, hierarchy, or part-whole connections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114</a:t>
            </a:r>
          </a:p>
        </p:txBody>
      </p:sp>
      <p:sp>
        <p:nvSpPr>
          <p:cNvPr id="7" name="Rounded Rectangle 6">
            <a:hlinkClick r:id="rId3"/>
          </p:cNvPr>
          <p:cNvSpPr/>
          <p:nvPr/>
        </p:nvSpPr>
        <p:spPr>
          <a:xfrm>
            <a:off x="2894076" y="6455664"/>
            <a:ext cx="6400800"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Senses relate through symmetry, hierarchy, or part-whole connections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1017085"/>
          </a:xfrm>
          <a:prstGeom prst="roundRect">
            <a:avLst>
              <a:gd name="adj" fmla="val 138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352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636912"/>
            <a:ext cx="340156" cy="340156"/>
          </a:xfrm>
          <a:prstGeom prst="rect">
            <a:avLst/>
          </a:prstGeom>
        </p:spPr>
      </p:pic>
      <p:sp>
        <p:nvSpPr>
          <p:cNvPr id="12" name="TextBox 11"/>
          <p:cNvSpPr txBox="1"/>
          <p:nvPr/>
        </p:nvSpPr>
        <p:spPr>
          <a:xfrm>
            <a:off x="1408175" y="1371600"/>
            <a:ext cx="2689250" cy="870781"/>
          </a:xfrm>
          <a:prstGeom prst="rect">
            <a:avLst/>
          </a:prstGeom>
          <a:noFill/>
        </p:spPr>
        <p:txBody>
          <a:bodyPr wrap="square" anchor="ctr" lIns="0" tIns="0" rIns="0" bIns="0">
            <a:spAutoFit/>
          </a:bodyPr>
          <a:lstStyle/>
          <a:p>
            <a:pPr algn="l"/>
            <a:r>
              <a:rPr sz="1440" b="1">
                <a:solidFill>
                  <a:srgbClr val="485174"/>
                </a:solidFill>
                <a:latin typeface="Bebas Neue"/>
              </a:rPr>
              <a:t>Synonyms</a:t>
            </a:r>
          </a:p>
          <a:p>
            <a:pPr algn="l">
              <a:spcBef>
                <a:spcPts val="500"/>
              </a:spcBef>
            </a:pPr>
            <a:r>
              <a:rPr sz="1200" b="0">
                <a:solidFill>
                  <a:srgbClr val="111111"/>
                </a:solidFill>
                <a:latin typeface="Inter"/>
              </a:rPr>
              <a:t>couch/sofa Two lemmas with the same sense</a:t>
            </a:r>
          </a:p>
        </p:txBody>
      </p:sp>
      <p:sp>
        <p:nvSpPr>
          <p:cNvPr id="13" name="Rounded Rectangle 12"/>
          <p:cNvSpPr/>
          <p:nvPr/>
        </p:nvSpPr>
        <p:spPr>
          <a:xfrm>
            <a:off x="4499762" y="1298448"/>
            <a:ext cx="3841394" cy="1017085"/>
          </a:xfrm>
          <a:prstGeom prst="roundRect">
            <a:avLst>
              <a:gd name="adj" fmla="val 138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52352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636912"/>
            <a:ext cx="340156" cy="340156"/>
          </a:xfrm>
          <a:prstGeom prst="rect">
            <a:avLst/>
          </a:prstGeom>
        </p:spPr>
      </p:pic>
      <p:sp>
        <p:nvSpPr>
          <p:cNvPr id="16" name="TextBox 15"/>
          <p:cNvSpPr txBox="1"/>
          <p:nvPr/>
        </p:nvSpPr>
        <p:spPr>
          <a:xfrm>
            <a:off x="5450738" y="1371600"/>
            <a:ext cx="2689250" cy="870781"/>
          </a:xfrm>
          <a:prstGeom prst="rect">
            <a:avLst/>
          </a:prstGeom>
          <a:noFill/>
        </p:spPr>
        <p:txBody>
          <a:bodyPr wrap="square" anchor="ctr" lIns="0" tIns="0" rIns="0" bIns="0">
            <a:spAutoFit/>
          </a:bodyPr>
          <a:lstStyle/>
          <a:p>
            <a:pPr algn="l"/>
            <a:r>
              <a:rPr sz="1440" b="1">
                <a:solidFill>
                  <a:srgbClr val="485174"/>
                </a:solidFill>
                <a:latin typeface="Bebas Neue"/>
              </a:rPr>
              <a:t>Antonyms</a:t>
            </a:r>
          </a:p>
          <a:p>
            <a:pPr algn="l">
              <a:spcBef>
                <a:spcPts val="500"/>
              </a:spcBef>
            </a:pPr>
            <a:r>
              <a:rPr sz="1200" b="0">
                <a:solidFill>
                  <a:srgbClr val="111111"/>
                </a:solidFill>
                <a:latin typeface="Inter"/>
              </a:rPr>
              <a:t>cold/hot, rise/fall, in/out Two lemmas with the opposite sense</a:t>
            </a:r>
          </a:p>
        </p:txBody>
      </p:sp>
      <p:sp>
        <p:nvSpPr>
          <p:cNvPr id="17" name="Rounded Rectangle 16"/>
          <p:cNvSpPr/>
          <p:nvPr/>
        </p:nvSpPr>
        <p:spPr>
          <a:xfrm>
            <a:off x="457200" y="2516701"/>
            <a:ext cx="3841394" cy="1017085"/>
          </a:xfrm>
          <a:prstGeom prst="roundRect">
            <a:avLst>
              <a:gd name="adj" fmla="val 138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7417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2855165"/>
            <a:ext cx="340156" cy="340156"/>
          </a:xfrm>
          <a:prstGeom prst="rect">
            <a:avLst/>
          </a:prstGeom>
        </p:spPr>
      </p:pic>
      <p:sp>
        <p:nvSpPr>
          <p:cNvPr id="20" name="TextBox 19"/>
          <p:cNvSpPr txBox="1"/>
          <p:nvPr/>
        </p:nvSpPr>
        <p:spPr>
          <a:xfrm>
            <a:off x="1408175" y="2589853"/>
            <a:ext cx="2689250" cy="870781"/>
          </a:xfrm>
          <a:prstGeom prst="rect">
            <a:avLst/>
          </a:prstGeom>
          <a:noFill/>
        </p:spPr>
        <p:txBody>
          <a:bodyPr wrap="square" anchor="ctr" lIns="0" tIns="0" rIns="0" bIns="0">
            <a:spAutoFit/>
          </a:bodyPr>
          <a:lstStyle/>
          <a:p>
            <a:pPr algn="l"/>
            <a:r>
              <a:rPr sz="1440" b="1">
                <a:solidFill>
                  <a:srgbClr val="485174"/>
                </a:solidFill>
                <a:latin typeface="Bebas Neue"/>
              </a:rPr>
              <a:t>Hypernyms and hyponyms</a:t>
            </a:r>
          </a:p>
          <a:p>
            <a:pPr algn="l">
              <a:spcBef>
                <a:spcPts val="500"/>
              </a:spcBef>
            </a:pPr>
            <a:r>
              <a:rPr sz="1200" b="0">
                <a:solidFill>
                  <a:srgbClr val="111111"/>
                </a:solidFill>
                <a:latin typeface="Inter"/>
              </a:rPr>
              <a:t>pet/dog The hyponym (dog) is more specific than the hypernym (pet)</a:t>
            </a:r>
          </a:p>
        </p:txBody>
      </p:sp>
      <p:sp>
        <p:nvSpPr>
          <p:cNvPr id="21" name="Rounded Rectangle 20"/>
          <p:cNvSpPr/>
          <p:nvPr/>
        </p:nvSpPr>
        <p:spPr>
          <a:xfrm>
            <a:off x="4499762" y="2516701"/>
            <a:ext cx="3841394" cy="1017085"/>
          </a:xfrm>
          <a:prstGeom prst="roundRect">
            <a:avLst>
              <a:gd name="adj" fmla="val 1384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00930" y="27417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4814315" y="2855165"/>
            <a:ext cx="340156" cy="340156"/>
          </a:xfrm>
          <a:prstGeom prst="rect">
            <a:avLst/>
          </a:prstGeom>
        </p:spPr>
      </p:pic>
      <p:sp>
        <p:nvSpPr>
          <p:cNvPr id="24" name="TextBox 23"/>
          <p:cNvSpPr txBox="1"/>
          <p:nvPr/>
        </p:nvSpPr>
        <p:spPr>
          <a:xfrm>
            <a:off x="5450738" y="2589853"/>
            <a:ext cx="2689250" cy="870781"/>
          </a:xfrm>
          <a:prstGeom prst="rect">
            <a:avLst/>
          </a:prstGeom>
          <a:noFill/>
        </p:spPr>
        <p:txBody>
          <a:bodyPr wrap="square" anchor="ctr" lIns="0" tIns="0" rIns="0" bIns="0">
            <a:spAutoFit/>
          </a:bodyPr>
          <a:lstStyle/>
          <a:p>
            <a:pPr algn="l"/>
            <a:r>
              <a:rPr sz="1440" b="1">
                <a:solidFill>
                  <a:srgbClr val="485174"/>
                </a:solidFill>
                <a:latin typeface="Bebas Neue"/>
              </a:rPr>
              <a:t>Holonyms and meronyms</a:t>
            </a:r>
          </a:p>
          <a:p>
            <a:pPr algn="l">
              <a:spcBef>
                <a:spcPts val="500"/>
              </a:spcBef>
            </a:pPr>
            <a:r>
              <a:rPr sz="1200" b="0">
                <a:solidFill>
                  <a:srgbClr val="111111"/>
                </a:solidFill>
                <a:latin typeface="Inter"/>
              </a:rPr>
              <a:t>car/wheel The meronym (wheel) is a part of the holonym (car)</a:t>
            </a:r>
          </a:p>
        </p:txBody>
      </p:sp>
      <p:sp>
        <p:nvSpPr>
          <p:cNvPr id="25" name="Rounded Rectangle 24"/>
          <p:cNvSpPr/>
          <p:nvPr/>
        </p:nvSpPr>
        <p:spPr>
          <a:xfrm>
            <a:off x="457200" y="3734954"/>
            <a:ext cx="7883956" cy="1550277"/>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34954"/>
            <a:ext cx="73152" cy="1550277"/>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1286" y="3808106"/>
            <a:ext cx="7488935" cy="1403973"/>
          </a:xfrm>
          <a:prstGeom prst="rect">
            <a:avLst/>
          </a:prstGeom>
          <a:noFill/>
        </p:spPr>
        <p:txBody>
          <a:bodyPr wrap="square" anchor="ctr" lIns="0" tIns="0" rIns="0" bIns="0">
            <a:spAutoFit/>
          </a:bodyPr>
          <a:lstStyle/>
          <a:p>
            <a:pPr algn="l"/>
            <a:r>
              <a:rPr sz="940" b="1">
                <a:solidFill>
                  <a:srgbClr val="CC7B70"/>
                </a:solidFill>
                <a:latin typeface="Bebas Neue"/>
              </a:rPr>
              <a:t>IN PLAIN WORDS</a:t>
            </a:r>
          </a:p>
          <a:p>
            <a:pPr algn="l">
              <a:spcBef>
                <a:spcPts val="300"/>
              </a:spcBef>
            </a:pPr>
            <a:r>
              <a:rPr sz="1300" b="0">
                <a:solidFill>
                  <a:srgbClr val="111111"/>
                </a:solidFill>
                <a:latin typeface="Inter"/>
              </a:rPr>
              <a:t>Senses can be symmetrical, like synonyms or antonyms, where two words share or oppose meaning. They can be hierarchical, where one sense is a specific instance of another, such as dog under pet. They can also be part-whole, where a wheel is part of a car. For example, "Dog" is a hyponym of "pet".</a:t>
            </a:r>
          </a:p>
          <a:p>
            <a:pPr algn="l">
              <a:spcBef>
                <a:spcPts val="300"/>
              </a:spcBef>
            </a:pPr>
            <a:r>
              <a:rPr sz="1300" b="0">
                <a:solidFill>
                  <a:srgbClr val="111111"/>
                </a:solidFill>
                <a:latin typeface="Inter"/>
              </a:rPr>
              <a:t>Symmetric relations: Hierarchical relations:</a:t>
            </a:r>
          </a:p>
        </p:txBody>
      </p:sp>
      <p:sp>
        <p:nvSpPr>
          <p:cNvPr id="28" name="Rounded Rectangle 27"/>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hypernym — a general category that includes more specific terms  ·  holonym — a whole that contains other parts, like a car containing wheels</a:t>
            </a:r>
          </a:p>
        </p:txBody>
      </p:sp>
      <p:sp>
        <p:nvSpPr>
          <p:cNvPr id="29" name="Rectangle 28"/>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5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5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50"/>
                                        <p:tgtEl>
                                          <p:spTgt spid="2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50"/>
                                        <p:tgtEl>
                                          <p:spTgt spid="28"/>
                                        </p:tgtEl>
                                      </p:cBhvr>
                                    </p:animEffect>
                                  </p:childTnLst>
                                </p:cTn>
                              </p:par>
                              <p:par>
                                <p:cTn id="73" presetID="10"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Synonyms are words that can replace each other in many contexts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776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31155"/>
            <a:ext cx="340156" cy="340156"/>
          </a:xfrm>
          <a:prstGeom prst="rect">
            <a:avLst/>
          </a:prstGeom>
        </p:spPr>
      </p:pic>
      <p:sp>
        <p:nvSpPr>
          <p:cNvPr id="11" name="TextBox 10"/>
          <p:cNvSpPr txBox="1"/>
          <p:nvPr/>
        </p:nvSpPr>
        <p:spPr>
          <a:xfrm>
            <a:off x="1408175" y="1371600"/>
            <a:ext cx="2592781" cy="1059267"/>
          </a:xfrm>
          <a:prstGeom prst="rect">
            <a:avLst/>
          </a:prstGeom>
          <a:noFill/>
        </p:spPr>
        <p:txBody>
          <a:bodyPr wrap="square" anchor="ctr" lIns="0" tIns="0" rIns="0" bIns="0">
            <a:spAutoFit/>
          </a:bodyPr>
          <a:lstStyle/>
          <a:p>
            <a:pPr algn="l"/>
            <a:r>
              <a:rPr sz="1950" b="0">
                <a:solidFill>
                  <a:srgbClr val="111111"/>
                </a:solidFill>
                <a:latin typeface="Inter"/>
              </a:rPr>
              <a:t>Words that have the same meaning in some or all contexts</a:t>
            </a:r>
          </a:p>
        </p:txBody>
      </p:sp>
      <p:sp>
        <p:nvSpPr>
          <p:cNvPr id="12" name="Rounded Rectangle 11"/>
          <p:cNvSpPr/>
          <p:nvPr/>
        </p:nvSpPr>
        <p:spPr>
          <a:xfrm>
            <a:off x="4403293" y="1298448"/>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61776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731155"/>
            <a:ext cx="340156" cy="340156"/>
          </a:xfrm>
          <a:prstGeom prst="rect">
            <a:avLst/>
          </a:prstGeom>
        </p:spPr>
      </p:pic>
      <p:sp>
        <p:nvSpPr>
          <p:cNvPr id="15" name="TextBox 14"/>
          <p:cNvSpPr txBox="1"/>
          <p:nvPr/>
        </p:nvSpPr>
        <p:spPr>
          <a:xfrm>
            <a:off x="5354269" y="1371600"/>
            <a:ext cx="2592781" cy="1059267"/>
          </a:xfrm>
          <a:prstGeom prst="rect">
            <a:avLst/>
          </a:prstGeom>
          <a:noFill/>
        </p:spPr>
        <p:txBody>
          <a:bodyPr wrap="square" anchor="ctr" lIns="0" tIns="0" rIns="0" bIns="0">
            <a:spAutoFit/>
          </a:bodyPr>
          <a:lstStyle/>
          <a:p>
            <a:pPr algn="l"/>
            <a:r>
              <a:rPr sz="1950" b="0">
                <a:solidFill>
                  <a:srgbClr val="111111"/>
                </a:solidFill>
                <a:latin typeface="Inter"/>
              </a:rPr>
              <a:t>filbert / hazelnut</a:t>
            </a:r>
          </a:p>
        </p:txBody>
      </p:sp>
      <p:sp>
        <p:nvSpPr>
          <p:cNvPr id="16" name="Rounded Rectangle 15"/>
          <p:cNvSpPr/>
          <p:nvPr/>
        </p:nvSpPr>
        <p:spPr>
          <a:xfrm>
            <a:off x="457200" y="270518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2450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37895"/>
            <a:ext cx="340156" cy="340156"/>
          </a:xfrm>
          <a:prstGeom prst="rect">
            <a:avLst/>
          </a:prstGeom>
        </p:spPr>
      </p:pic>
      <p:sp>
        <p:nvSpPr>
          <p:cNvPr id="19" name="TextBox 18"/>
          <p:cNvSpPr txBox="1"/>
          <p:nvPr/>
        </p:nvSpPr>
        <p:spPr>
          <a:xfrm>
            <a:off x="1408175" y="2778339"/>
            <a:ext cx="2592781" cy="1059267"/>
          </a:xfrm>
          <a:prstGeom prst="rect">
            <a:avLst/>
          </a:prstGeom>
          <a:noFill/>
        </p:spPr>
        <p:txBody>
          <a:bodyPr wrap="square" anchor="ctr" lIns="0" tIns="0" rIns="0" bIns="0">
            <a:spAutoFit/>
          </a:bodyPr>
          <a:lstStyle/>
          <a:p>
            <a:pPr algn="l"/>
            <a:r>
              <a:rPr sz="1950" b="0">
                <a:solidFill>
                  <a:srgbClr val="111111"/>
                </a:solidFill>
                <a:latin typeface="Inter"/>
              </a:rPr>
              <a:t>couch / sofa</a:t>
            </a:r>
          </a:p>
        </p:txBody>
      </p:sp>
      <p:sp>
        <p:nvSpPr>
          <p:cNvPr id="20" name="Rounded Rectangle 19"/>
          <p:cNvSpPr/>
          <p:nvPr/>
        </p:nvSpPr>
        <p:spPr>
          <a:xfrm>
            <a:off x="4403293" y="270518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302450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137895"/>
            <a:ext cx="340156" cy="340156"/>
          </a:xfrm>
          <a:prstGeom prst="rect">
            <a:avLst/>
          </a:prstGeom>
        </p:spPr>
      </p:pic>
      <p:sp>
        <p:nvSpPr>
          <p:cNvPr id="23" name="TextBox 22"/>
          <p:cNvSpPr txBox="1"/>
          <p:nvPr/>
        </p:nvSpPr>
        <p:spPr>
          <a:xfrm>
            <a:off x="5354269" y="2778339"/>
            <a:ext cx="2592781" cy="1059267"/>
          </a:xfrm>
          <a:prstGeom prst="rect">
            <a:avLst/>
          </a:prstGeom>
          <a:noFill/>
        </p:spPr>
        <p:txBody>
          <a:bodyPr wrap="square" anchor="ctr" lIns="0" tIns="0" rIns="0" bIns="0">
            <a:spAutoFit/>
          </a:bodyPr>
          <a:lstStyle/>
          <a:p>
            <a:pPr algn="l"/>
            <a:r>
              <a:rPr sz="1950" b="0">
                <a:solidFill>
                  <a:srgbClr val="111111"/>
                </a:solidFill>
                <a:latin typeface="Inter"/>
              </a:rPr>
              <a:t>big / large</a:t>
            </a:r>
          </a:p>
        </p:txBody>
      </p:sp>
      <p:sp>
        <p:nvSpPr>
          <p:cNvPr id="24" name="Rounded Rectangle 23"/>
          <p:cNvSpPr/>
          <p:nvPr/>
        </p:nvSpPr>
        <p:spPr>
          <a:xfrm>
            <a:off x="457200" y="411192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3124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44635"/>
            <a:ext cx="340156" cy="340156"/>
          </a:xfrm>
          <a:prstGeom prst="rect">
            <a:avLst/>
          </a:prstGeom>
        </p:spPr>
      </p:pic>
      <p:sp>
        <p:nvSpPr>
          <p:cNvPr id="27" name="TextBox 26"/>
          <p:cNvSpPr txBox="1"/>
          <p:nvPr/>
        </p:nvSpPr>
        <p:spPr>
          <a:xfrm>
            <a:off x="1408175" y="4185079"/>
            <a:ext cx="2592781" cy="1059267"/>
          </a:xfrm>
          <a:prstGeom prst="rect">
            <a:avLst/>
          </a:prstGeom>
          <a:noFill/>
        </p:spPr>
        <p:txBody>
          <a:bodyPr wrap="square" anchor="ctr" lIns="0" tIns="0" rIns="0" bIns="0">
            <a:spAutoFit/>
          </a:bodyPr>
          <a:lstStyle/>
          <a:p>
            <a:pPr algn="l"/>
            <a:r>
              <a:rPr sz="1950" b="0">
                <a:solidFill>
                  <a:srgbClr val="111111"/>
                </a:solidFill>
                <a:latin typeface="Inter"/>
              </a:rPr>
              <a:t>automobile / car</a:t>
            </a:r>
          </a:p>
        </p:txBody>
      </p:sp>
      <p:sp>
        <p:nvSpPr>
          <p:cNvPr id="28" name="Rounded Rectangle 27"/>
          <p:cNvSpPr/>
          <p:nvPr/>
        </p:nvSpPr>
        <p:spPr>
          <a:xfrm>
            <a:off x="4403293" y="411192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04461" y="443124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17846" y="4544635"/>
            <a:ext cx="340156" cy="340156"/>
          </a:xfrm>
          <a:prstGeom prst="rect">
            <a:avLst/>
          </a:prstGeom>
        </p:spPr>
      </p:pic>
      <p:sp>
        <p:nvSpPr>
          <p:cNvPr id="31" name="TextBox 30"/>
          <p:cNvSpPr txBox="1"/>
          <p:nvPr/>
        </p:nvSpPr>
        <p:spPr>
          <a:xfrm>
            <a:off x="5354269" y="4185079"/>
            <a:ext cx="2592781" cy="1059267"/>
          </a:xfrm>
          <a:prstGeom prst="rect">
            <a:avLst/>
          </a:prstGeom>
          <a:noFill/>
        </p:spPr>
        <p:txBody>
          <a:bodyPr wrap="square" anchor="ctr" lIns="0" tIns="0" rIns="0" bIns="0">
            <a:spAutoFit/>
          </a:bodyPr>
          <a:lstStyle/>
          <a:p>
            <a:pPr algn="l"/>
            <a:r>
              <a:rPr sz="1950" b="0">
                <a:solidFill>
                  <a:srgbClr val="111111"/>
                </a:solidFill>
                <a:latin typeface="Inter"/>
              </a:rPr>
              <a:t>vomit / throw up</a:t>
            </a:r>
          </a:p>
        </p:txBody>
      </p:sp>
      <p:sp>
        <p:nvSpPr>
          <p:cNvPr id="32" name="Rounded Rectangle 31"/>
          <p:cNvSpPr/>
          <p:nvPr/>
        </p:nvSpPr>
        <p:spPr>
          <a:xfrm>
            <a:off x="457200" y="5518667"/>
            <a:ext cx="7691018"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518667"/>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5591819"/>
            <a:ext cx="7295997"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Water / H20 Two words are synonyms if they can be substituted for each other in all situations (strict/perfect definition).</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50"/>
                                        <p:tgtEl>
                                          <p:spTgt spid="33"/>
                                        </p:tgtEl>
                                      </p:cBhvr>
                                    </p:animEffect>
                                  </p:childTnLst>
                                </p:cTn>
                              </p:par>
                              <p:par>
                                <p:cTn id="93" presetID="10" presetClass="entr" presetSubtype="0" fill="hold"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Perfect synonymy is rare because social factors affect word acceptability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2450592"/>
          </a:xfrm>
          <a:prstGeom prst="roundRect">
            <a:avLst>
              <a:gd name="adj" fmla="val 57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3342589" cy="1335023"/>
          </a:xfrm>
          <a:prstGeom prst="rect">
            <a:avLst/>
          </a:prstGeom>
          <a:noFill/>
        </p:spPr>
        <p:txBody>
          <a:bodyPr wrap="square" anchor="t" lIns="0" tIns="0" rIns="0" bIns="0">
            <a:spAutoFit/>
          </a:bodyPr>
          <a:lstStyle/>
          <a:p>
            <a:pPr algn="l"/>
            <a:r>
              <a:rPr sz="2600" b="0">
                <a:solidFill>
                  <a:srgbClr val="111111"/>
                </a:solidFill>
                <a:latin typeface="Bebas Neue"/>
              </a:rPr>
              <a:t>But there are few (or no) examples of perfect synonymy</a:t>
            </a:r>
          </a:p>
        </p:txBody>
      </p:sp>
      <p:sp>
        <p:nvSpPr>
          <p:cNvPr id="12" name="Rounded Rectangle 11"/>
          <p:cNvSpPr/>
          <p:nvPr/>
        </p:nvSpPr>
        <p:spPr>
          <a:xfrm>
            <a:off x="4403293" y="1298448"/>
            <a:ext cx="3744925" cy="2450592"/>
          </a:xfrm>
          <a:prstGeom prst="roundRect">
            <a:avLst>
              <a:gd name="adj" fmla="val 57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4996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613001"/>
            <a:ext cx="340156" cy="340156"/>
          </a:xfrm>
          <a:prstGeom prst="rect">
            <a:avLst/>
          </a:prstGeom>
        </p:spPr>
      </p:pic>
      <p:sp>
        <p:nvSpPr>
          <p:cNvPr id="15" name="TextBox 14"/>
          <p:cNvSpPr txBox="1"/>
          <p:nvPr/>
        </p:nvSpPr>
        <p:spPr>
          <a:xfrm>
            <a:off x="4604461" y="2212848"/>
            <a:ext cx="3342589" cy="1335023"/>
          </a:xfrm>
          <a:prstGeom prst="rect">
            <a:avLst/>
          </a:prstGeom>
          <a:noFill/>
        </p:spPr>
        <p:txBody>
          <a:bodyPr wrap="square" anchor="t" lIns="0" tIns="0" rIns="0" bIns="0">
            <a:spAutoFit/>
          </a:bodyPr>
          <a:lstStyle/>
          <a:p>
            <a:pPr algn="l"/>
            <a:r>
              <a:rPr sz="2600" b="0">
                <a:solidFill>
                  <a:srgbClr val="111111"/>
                </a:solidFill>
                <a:latin typeface="Bebas Neue"/>
              </a:rPr>
              <a:t>Even if many aspects of meaning are identical</a:t>
            </a:r>
          </a:p>
        </p:txBody>
      </p:sp>
      <p:sp>
        <p:nvSpPr>
          <p:cNvPr id="16" name="Rounded Rectangle 15"/>
          <p:cNvSpPr/>
          <p:nvPr/>
        </p:nvSpPr>
        <p:spPr>
          <a:xfrm>
            <a:off x="457200" y="3950208"/>
            <a:ext cx="7691018" cy="2450592"/>
          </a:xfrm>
          <a:prstGeom prst="roundRect">
            <a:avLst>
              <a:gd name="adj" fmla="val 57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15137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264761"/>
            <a:ext cx="340156" cy="340156"/>
          </a:xfrm>
          <a:prstGeom prst="rect">
            <a:avLst/>
          </a:prstGeom>
        </p:spPr>
      </p:pic>
      <p:sp>
        <p:nvSpPr>
          <p:cNvPr id="19" name="TextBox 18"/>
          <p:cNvSpPr txBox="1"/>
          <p:nvPr/>
        </p:nvSpPr>
        <p:spPr>
          <a:xfrm>
            <a:off x="658368" y="4864608"/>
            <a:ext cx="7288682" cy="1335024"/>
          </a:xfrm>
          <a:prstGeom prst="rect">
            <a:avLst/>
          </a:prstGeom>
          <a:noFill/>
        </p:spPr>
        <p:txBody>
          <a:bodyPr wrap="square" anchor="t" lIns="0" tIns="0" rIns="0" bIns="0">
            <a:spAutoFit/>
          </a:bodyPr>
          <a:lstStyle/>
          <a:p>
            <a:pPr algn="l"/>
            <a:r>
              <a:rPr sz="2600" b="0">
                <a:solidFill>
                  <a:srgbClr val="111111"/>
                </a:solidFill>
                <a:latin typeface="Bebas Neue"/>
              </a:rPr>
              <a:t>Still may not preserve the acceptability based on notions of politeness, slang, register, genre, etc</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Fill in the blank: “But there are few (or no) _____ of perfect synonymy.”</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examples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again</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billet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content</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“But there are few (or no) examples of perfect synonymy.”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Synonymy is a relation between senses, not whole words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114</a:t>
            </a:r>
          </a:p>
        </p:txBody>
      </p:sp>
      <p:sp>
        <p:nvSpPr>
          <p:cNvPr id="8" name="Rounded Rectangle 7"/>
          <p:cNvSpPr/>
          <p:nvPr/>
        </p:nvSpPr>
        <p:spPr>
          <a:xfrm>
            <a:off x="457200" y="1298448"/>
            <a:ext cx="5536692" cy="4261001"/>
          </a:xfrm>
          <a:prstGeom prst="roundRect">
            <a:avLst>
              <a:gd name="adj" fmla="val 330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3939132"/>
          </a:xfrm>
          <a:prstGeom prst="rect">
            <a:avLst/>
          </a:prstGeom>
          <a:noFill/>
        </p:spPr>
        <p:txBody>
          <a:bodyPr wrap="square" anchor="t" lIns="0" tIns="0" rIns="0" bIns="0">
            <a:spAutoFit/>
          </a:bodyPr>
          <a:lstStyle/>
          <a:p>
            <a:pPr algn="l"/>
            <a:r>
              <a:rPr sz="2500" b="1">
                <a:solidFill>
                  <a:srgbClr val="485174"/>
                </a:solidFill>
                <a:latin typeface="Bebas Neue"/>
              </a:rPr>
              <a:t>Consider the words big and large Are they synonyms?</a:t>
            </a:r>
          </a:p>
          <a:p>
            <a:pPr algn="l" marL="256032" indent="-256032" lvl="0">
              <a:spcBef>
                <a:spcPts val="700"/>
              </a:spcBef>
              <a:buClr>
                <a:srgbClr val="CC7B70"/>
              </a:buClr>
              <a:buFont typeface="Arial"/>
              <a:buChar char="•"/>
            </a:pPr>
            <a:r>
              <a:rPr sz="2000" b="0">
                <a:solidFill>
                  <a:srgbClr val="111111"/>
                </a:solidFill>
                <a:latin typeface="Inter"/>
              </a:rPr>
              <a:t>How big is that plane?</a:t>
            </a:r>
          </a:p>
          <a:p>
            <a:pPr algn="l" marL="256032" indent="-256032" lvl="0">
              <a:spcBef>
                <a:spcPts val="700"/>
              </a:spcBef>
              <a:buClr>
                <a:srgbClr val="CC7B70"/>
              </a:buClr>
              <a:buFont typeface="Arial"/>
              <a:buChar char="•"/>
            </a:pPr>
            <a:r>
              <a:rPr sz="2000" b="0">
                <a:solidFill>
                  <a:srgbClr val="111111"/>
                </a:solidFill>
                <a:latin typeface="Inter"/>
              </a:rPr>
              <a:t>Would | be flying on a large or small plane?</a:t>
            </a:r>
          </a:p>
        </p:txBody>
      </p:sp>
      <p:sp>
        <p:nvSpPr>
          <p:cNvPr id="11" name="Rounded Rectangle 10"/>
          <p:cNvSpPr/>
          <p:nvPr/>
        </p:nvSpPr>
        <p:spPr>
          <a:xfrm>
            <a:off x="6195059" y="1298448"/>
            <a:ext cx="5536692" cy="4261001"/>
          </a:xfrm>
          <a:prstGeom prst="roundRect">
            <a:avLst>
              <a:gd name="adj" fmla="val 330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3939132"/>
          </a:xfrm>
          <a:prstGeom prst="rect">
            <a:avLst/>
          </a:prstGeom>
          <a:noFill/>
        </p:spPr>
        <p:txBody>
          <a:bodyPr wrap="square" anchor="t" lIns="0" tIns="0" rIns="0" bIns="0">
            <a:spAutoFit/>
          </a:bodyPr>
          <a:lstStyle/>
          <a:p>
            <a:pPr algn="l"/>
            <a:r>
              <a:rPr sz="2500" b="1">
                <a:solidFill>
                  <a:srgbClr val="485174"/>
                </a:solidFill>
                <a:latin typeface="Bebas Neue"/>
              </a:rPr>
              <a:t>How about here</a:t>
            </a:r>
          </a:p>
          <a:p>
            <a:pPr algn="l" marL="256032" indent="-256032" lvl="0">
              <a:spcBef>
                <a:spcPts val="700"/>
              </a:spcBef>
              <a:buClr>
                <a:srgbClr val="CC7B70"/>
              </a:buClr>
              <a:buFont typeface="Arial"/>
              <a:buChar char="•"/>
            </a:pPr>
            <a:r>
              <a:rPr sz="2000" b="0">
                <a:solidFill>
                  <a:srgbClr val="111111"/>
                </a:solidFill>
                <a:latin typeface="Inter"/>
              </a:rPr>
              <a:t>Miss Nelson became a kind of big sister to Benjamin.</a:t>
            </a:r>
          </a:p>
          <a:p>
            <a:pPr algn="l" marL="256032" indent="-256032" lvl="0">
              <a:spcBef>
                <a:spcPts val="700"/>
              </a:spcBef>
              <a:buClr>
                <a:srgbClr val="CC7B70"/>
              </a:buClr>
              <a:buFont typeface="Arial"/>
              <a:buChar char="•"/>
            </a:pPr>
            <a:r>
              <a:rPr sz="2000" b="0">
                <a:solidFill>
                  <a:srgbClr val="111111"/>
                </a:solidFill>
                <a:latin typeface="Inter"/>
              </a:rPr>
              <a:t>Miss Nelson became a kind of large sister to Benjamin.</a:t>
            </a:r>
          </a:p>
          <a:p>
            <a:pPr algn="l" marL="256032" indent="-256032" lvl="0">
              <a:spcBef>
                <a:spcPts val="700"/>
              </a:spcBef>
              <a:buClr>
                <a:srgbClr val="CC7B70"/>
              </a:buClr>
              <a:buFont typeface="Arial"/>
              <a:buChar char="•"/>
            </a:pPr>
            <a:r>
              <a:rPr sz="2000" b="0">
                <a:solidFill>
                  <a:srgbClr val="111111"/>
                </a:solidFill>
                <a:latin typeface="Inter"/>
              </a:rPr>
              <a:t>big has a sense that means being older, or grown up</a:t>
            </a:r>
          </a:p>
          <a:p>
            <a:pPr algn="l" marL="256032" indent="-256032" lvl="0">
              <a:spcBef>
                <a:spcPts val="700"/>
              </a:spcBef>
              <a:buClr>
                <a:srgbClr val="CC7B70"/>
              </a:buClr>
              <a:buFont typeface="Arial"/>
              <a:buChar char="•"/>
            </a:pPr>
            <a:r>
              <a:rPr sz="2000" b="0">
                <a:solidFill>
                  <a:srgbClr val="111111"/>
                </a:solidFill>
                <a:latin typeface="Inter"/>
              </a:rPr>
              <a:t>large lacks this sense</a:t>
            </a:r>
          </a:p>
        </p:txBody>
      </p:sp>
      <p:sp>
        <p:nvSpPr>
          <p:cNvPr id="14" name="Rounded Rectangle 13"/>
          <p:cNvSpPr/>
          <p:nvPr/>
        </p:nvSpPr>
        <p:spPr>
          <a:xfrm>
            <a:off x="457200" y="5760617"/>
            <a:ext cx="11274552"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5760617"/>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5833769"/>
            <a:ext cx="10879531" cy="4938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between senses rather than words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Antonyms are senses that oppose each other on a specific feature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725"/>
            <a:ext cx="340156" cy="340156"/>
          </a:xfrm>
          <a:prstGeom prst="rect">
            <a:avLst/>
          </a:prstGeom>
        </p:spPr>
      </p:pic>
      <p:sp>
        <p:nvSpPr>
          <p:cNvPr id="11" name="TextBox 10"/>
          <p:cNvSpPr txBox="1"/>
          <p:nvPr/>
        </p:nvSpPr>
        <p:spPr>
          <a:xfrm>
            <a:off x="1408175" y="1371600"/>
            <a:ext cx="6538874" cy="978408"/>
          </a:xfrm>
          <a:prstGeom prst="rect">
            <a:avLst/>
          </a:prstGeom>
          <a:noFill/>
        </p:spPr>
        <p:txBody>
          <a:bodyPr wrap="square" anchor="ctr" lIns="0" tIns="0" rIns="0" bIns="0">
            <a:spAutoFit/>
          </a:bodyPr>
          <a:lstStyle/>
          <a:p>
            <a:pPr algn="l"/>
            <a:r>
              <a:rPr sz="2600" b="0">
                <a:solidFill>
                  <a:srgbClr val="111111"/>
                </a:solidFill>
                <a:latin typeface="Bebas Neue"/>
              </a:rPr>
              <a:t>Senses that are opposites with respect to one feature of meaning</a:t>
            </a:r>
          </a:p>
        </p:txBody>
      </p:sp>
      <p:sp>
        <p:nvSpPr>
          <p:cNvPr id="12" name="Rounded Rectangle 11"/>
          <p:cNvSpPr/>
          <p:nvPr/>
        </p:nvSpPr>
        <p:spPr>
          <a:xfrm>
            <a:off x="457200" y="262432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16605"/>
            <a:ext cx="340156" cy="340156"/>
          </a:xfrm>
          <a:prstGeom prst="rect">
            <a:avLst/>
          </a:prstGeom>
        </p:spPr>
      </p:pic>
      <p:sp>
        <p:nvSpPr>
          <p:cNvPr id="15" name="TextBox 14"/>
          <p:cNvSpPr txBox="1"/>
          <p:nvPr/>
        </p:nvSpPr>
        <p:spPr>
          <a:xfrm>
            <a:off x="1408175" y="2697480"/>
            <a:ext cx="6538874" cy="978408"/>
          </a:xfrm>
          <a:prstGeom prst="rect">
            <a:avLst/>
          </a:prstGeom>
          <a:noFill/>
        </p:spPr>
        <p:txBody>
          <a:bodyPr wrap="square" anchor="ctr" lIns="0" tIns="0" rIns="0" bIns="0">
            <a:spAutoFit/>
          </a:bodyPr>
          <a:lstStyle/>
          <a:p>
            <a:pPr algn="l"/>
            <a:r>
              <a:rPr sz="2600" b="0">
                <a:solidFill>
                  <a:srgbClr val="111111"/>
                </a:solidFill>
                <a:latin typeface="Bebas Neue"/>
              </a:rPr>
              <a:t>Otherwise, they are very similar!</a:t>
            </a:r>
          </a:p>
        </p:txBody>
      </p:sp>
      <p:sp>
        <p:nvSpPr>
          <p:cNvPr id="16" name="Rounded Rectangle 15"/>
          <p:cNvSpPr/>
          <p:nvPr/>
        </p:nvSpPr>
        <p:spPr>
          <a:xfrm>
            <a:off x="457200" y="395020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342485"/>
            <a:ext cx="340156" cy="340156"/>
          </a:xfrm>
          <a:prstGeom prst="rect">
            <a:avLst/>
          </a:prstGeom>
        </p:spPr>
      </p:pic>
      <p:sp>
        <p:nvSpPr>
          <p:cNvPr id="19" name="TextBox 18"/>
          <p:cNvSpPr txBox="1"/>
          <p:nvPr/>
        </p:nvSpPr>
        <p:spPr>
          <a:xfrm>
            <a:off x="1408175" y="4023360"/>
            <a:ext cx="6538874" cy="978408"/>
          </a:xfrm>
          <a:prstGeom prst="rect">
            <a:avLst/>
          </a:prstGeom>
          <a:noFill/>
        </p:spPr>
        <p:txBody>
          <a:bodyPr wrap="square" anchor="ctr" lIns="0" tIns="0" rIns="0" bIns="0">
            <a:spAutoFit/>
          </a:bodyPr>
          <a:lstStyle/>
          <a:p>
            <a:pPr algn="l"/>
            <a:r>
              <a:rPr sz="2600" b="0">
                <a:solidFill>
                  <a:srgbClr val="111111"/>
                </a:solidFill>
                <a:latin typeface="Bebas Neue"/>
              </a:rPr>
              <a:t>More formally: antonyms can</a:t>
            </a:r>
          </a:p>
        </p:txBody>
      </p:sp>
      <p:sp>
        <p:nvSpPr>
          <p:cNvPr id="20" name="Rounded Rectangle 19"/>
          <p:cNvSpPr/>
          <p:nvPr/>
        </p:nvSpPr>
        <p:spPr>
          <a:xfrm>
            <a:off x="457200" y="527608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5668365"/>
            <a:ext cx="340156" cy="340156"/>
          </a:xfrm>
          <a:prstGeom prst="rect">
            <a:avLst/>
          </a:prstGeom>
        </p:spPr>
      </p:pic>
      <p:sp>
        <p:nvSpPr>
          <p:cNvPr id="23" name="TextBox 22"/>
          <p:cNvSpPr txBox="1"/>
          <p:nvPr/>
        </p:nvSpPr>
        <p:spPr>
          <a:xfrm>
            <a:off x="1408175" y="5349240"/>
            <a:ext cx="6538874" cy="978408"/>
          </a:xfrm>
          <a:prstGeom prst="rect">
            <a:avLst/>
          </a:prstGeom>
          <a:noFill/>
        </p:spPr>
        <p:txBody>
          <a:bodyPr wrap="square" anchor="ctr" lIns="0" tIns="0" rIns="0" bIns="0">
            <a:spAutoFit/>
          </a:bodyPr>
          <a:lstStyle/>
          <a:p>
            <a:pPr algn="l"/>
            <a:r>
              <a:rPr sz="2600" b="0">
                <a:solidFill>
                  <a:srgbClr val="111111"/>
                </a:solidFill>
                <a:latin typeface="Bebas Neue"/>
              </a:rPr>
              <a:t>define a binary opposition or be at opposite ends of a scale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Hyponyms are specific instances of a hypernym, forming a subclass relationship</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114</a:t>
            </a:r>
          </a:p>
        </p:txBody>
      </p:sp>
      <p:sp>
        <p:nvSpPr>
          <p:cNvPr id="8" name="Rounded Rectangle 7"/>
          <p:cNvSpPr/>
          <p:nvPr/>
        </p:nvSpPr>
        <p:spPr>
          <a:xfrm>
            <a:off x="457200" y="1298448"/>
            <a:ext cx="5536692" cy="4517136"/>
          </a:xfrm>
          <a:prstGeom prst="roundRect">
            <a:avLst>
              <a:gd name="adj" fmla="val 311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4195267"/>
          </a:xfrm>
          <a:prstGeom prst="rect">
            <a:avLst/>
          </a:prstGeom>
          <a:noFill/>
        </p:spPr>
        <p:txBody>
          <a:bodyPr wrap="square" anchor="t" lIns="0" tIns="0" rIns="0" bIns="0">
            <a:spAutoFit/>
          </a:bodyPr>
          <a:lstStyle/>
          <a:p>
            <a:pPr algn="l"/>
            <a:r>
              <a:rPr sz="2500" b="1">
                <a:solidFill>
                  <a:srgbClr val="485174"/>
                </a:solidFill>
                <a:latin typeface="Bebas Neue"/>
              </a:rPr>
              <a:t>Hyponym: the sense is a subclass of another sense</a:t>
            </a:r>
          </a:p>
          <a:p>
            <a:pPr algn="l" marL="256032" indent="-256032" lvl="0">
              <a:spcBef>
                <a:spcPts val="700"/>
              </a:spcBef>
              <a:buClr>
                <a:srgbClr val="CC7B70"/>
              </a:buClr>
              <a:buFont typeface="Arial"/>
              <a:buChar char="•"/>
            </a:pPr>
            <a:r>
              <a:rPr sz="2000" b="0">
                <a:solidFill>
                  <a:srgbClr val="111111"/>
                </a:solidFill>
                <a:latin typeface="Inter"/>
              </a:rPr>
              <a:t>caris ahyponym of vehicle</a:t>
            </a:r>
          </a:p>
          <a:p>
            <a:pPr algn="l" marL="256032" indent="-256032" lvl="0">
              <a:spcBef>
                <a:spcPts val="700"/>
              </a:spcBef>
              <a:buClr>
                <a:srgbClr val="CC7B70"/>
              </a:buClr>
              <a:buFont typeface="Arial"/>
              <a:buChar char="•"/>
            </a:pPr>
            <a:r>
              <a:rPr sz="2000" b="0">
                <a:solidFill>
                  <a:srgbClr val="111111"/>
                </a:solidFill>
                <a:latin typeface="Inter"/>
              </a:rPr>
              <a:t>dog is a hyponym of animal</a:t>
            </a:r>
          </a:p>
          <a:p>
            <a:pPr algn="l" marL="256032" indent="-256032" lvl="0">
              <a:spcBef>
                <a:spcPts val="700"/>
              </a:spcBef>
              <a:buClr>
                <a:srgbClr val="CC7B70"/>
              </a:buClr>
              <a:buFont typeface="Arial"/>
              <a:buChar char="•"/>
            </a:pPr>
            <a:r>
              <a:rPr sz="2000" b="0">
                <a:solidFill>
                  <a:srgbClr val="111111"/>
                </a:solidFill>
                <a:latin typeface="Inter"/>
              </a:rPr>
              <a:t>mango is a hyponym of fruit</a:t>
            </a:r>
          </a:p>
        </p:txBody>
      </p:sp>
      <p:sp>
        <p:nvSpPr>
          <p:cNvPr id="11" name="Rounded Rectangle 10"/>
          <p:cNvSpPr/>
          <p:nvPr/>
        </p:nvSpPr>
        <p:spPr>
          <a:xfrm>
            <a:off x="6195059" y="1298448"/>
            <a:ext cx="5536692" cy="4517136"/>
          </a:xfrm>
          <a:prstGeom prst="roundRect">
            <a:avLst>
              <a:gd name="adj" fmla="val 311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4195267"/>
          </a:xfrm>
          <a:prstGeom prst="rect">
            <a:avLst/>
          </a:prstGeom>
          <a:noFill/>
        </p:spPr>
        <p:txBody>
          <a:bodyPr wrap="square" anchor="t" lIns="0" tIns="0" rIns="0" bIns="0">
            <a:spAutoFit/>
          </a:bodyPr>
          <a:lstStyle/>
          <a:p>
            <a:pPr algn="l"/>
            <a:r>
              <a:rPr sz="2500" b="1">
                <a:solidFill>
                  <a:srgbClr val="485174"/>
                </a:solidFill>
                <a:latin typeface="Bebas Neue"/>
              </a:rPr>
              <a:t>Hypernym: the sense is a superclass vehicle is a hypernym of car</a:t>
            </a:r>
          </a:p>
          <a:p>
            <a:pPr algn="l" marL="256032" indent="-256032" lvl="0">
              <a:spcBef>
                <a:spcPts val="700"/>
              </a:spcBef>
              <a:buClr>
                <a:srgbClr val="CC7B70"/>
              </a:buClr>
              <a:buFont typeface="Arial"/>
              <a:buChar char="•"/>
            </a:pPr>
            <a:r>
              <a:rPr sz="2000" b="0">
                <a:solidFill>
                  <a:srgbClr val="111111"/>
                </a:solidFill>
                <a:latin typeface="Inter"/>
              </a:rPr>
              <a:t>animal is a hypernym of dog fruitis ahypernym of mango</a:t>
            </a:r>
          </a:p>
        </p:txBody>
      </p:sp>
      <p:sp>
        <p:nvSpPr>
          <p:cNvPr id="14" name="Rounded Rectangle 13"/>
          <p:cNvSpPr/>
          <p:nvPr/>
        </p:nvSpPr>
        <p:spPr>
          <a:xfrm>
            <a:off x="457200" y="6016752"/>
            <a:ext cx="2152497" cy="384048"/>
          </a:xfrm>
          <a:prstGeom prst="roundRect">
            <a:avLst>
              <a:gd name="adj" fmla="val 50000"/>
            </a:avLst>
          </a:prstGeom>
          <a:solidFill>
            <a:srgbClr val="E9EAEE"/>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b="1">
                <a:solidFill>
                  <a:srgbClr val="485174"/>
                </a:solidFill>
                <a:latin typeface="Bebas Neue"/>
              </a:rPr>
              <a:t>Hypernym hyponym</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Classifying words reveals whether they are hyponyms, hypernyms, or other relations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114</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ectangle 7"/>
          <p:cNvSpPr/>
          <p:nvPr/>
        </p:nvSpPr>
        <p:spPr>
          <a:xfrm>
            <a:off x="457200" y="2243754"/>
            <a:ext cx="82296" cy="2562514"/>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207178"/>
            <a:ext cx="6907734" cy="2580802"/>
          </a:xfrm>
          <a:prstGeom prst="rect">
            <a:avLst/>
          </a:prstGeom>
          <a:noFill/>
        </p:spPr>
        <p:txBody>
          <a:bodyPr wrap="square" anchor="t" lIns="0" tIns="0" rIns="0" bIns="0">
            <a:spAutoFit/>
          </a:bodyPr>
          <a:lstStyle/>
          <a:p>
            <a:pPr algn="l"/>
            <a:r>
              <a:rPr sz="2690" b="1">
                <a:solidFill>
                  <a:srgbClr val="485174"/>
                </a:solidFill>
                <a:latin typeface="Bebas Neue"/>
              </a:rPr>
              <a:t>Classify the following examples in terms of what lexical semantic relation they exhibit cold freezing they’re their hair head enemy friend cut (hair) cut (bread).</a:t>
            </a:r>
          </a:p>
        </p:txBody>
      </p:sp>
      <p:sp>
        <p:nvSpPr>
          <p:cNvPr id="10" name="TextBox 9"/>
          <p:cNvSpPr txBox="1"/>
          <p:nvPr/>
        </p:nvSpPr>
        <p:spPr>
          <a:xfrm>
            <a:off x="720547" y="4980005"/>
            <a:ext cx="6907734" cy="384048"/>
          </a:xfrm>
          <a:prstGeom prst="rect">
            <a:avLst/>
          </a:prstGeom>
          <a:noFill/>
        </p:spPr>
        <p:txBody>
          <a:bodyPr wrap="square" lIns="0" rIns="0" tIns="0" bIns="0">
            <a:spAutoFit/>
          </a:bodyPr>
          <a:lstStyle/>
          <a:p>
            <a:r>
              <a:rPr sz="2400">
                <a:solidFill>
                  <a:srgbClr val="111111"/>
                </a:solidFill>
                <a:latin typeface="Bebas Neue"/>
              </a:rPr>
              <a:t>George Clooney actor.</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WordNet organizes English word senses into synonym sets linked by semantic relations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557154"/>
            <a:ext cx="82296" cy="1211945"/>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20578"/>
            <a:ext cx="6963576" cy="1230233"/>
          </a:xfrm>
          <a:prstGeom prst="rect">
            <a:avLst/>
          </a:prstGeom>
          <a:noFill/>
        </p:spPr>
        <p:txBody>
          <a:bodyPr wrap="square" anchor="t" lIns="0" tIns="0" rIns="0" bIns="0">
            <a:spAutoFit/>
          </a:bodyPr>
          <a:lstStyle/>
          <a:p>
            <a:pPr algn="l"/>
            <a:r>
              <a:rPr sz="1920" b="1">
                <a:solidFill>
                  <a:srgbClr val="485174"/>
                </a:solidFill>
                <a:latin typeface="Bebas Neue"/>
              </a:rPr>
              <a:t>Very large lexical database of English: 110K nouns, 11K verbs, 22K adjectives, 4.5K adverbs (WordNets for many other languages exist or are under construction).</a:t>
            </a:r>
          </a:p>
        </p:txBody>
      </p:sp>
      <p:sp>
        <p:nvSpPr>
          <p:cNvPr id="10" name="TextBox 9"/>
          <p:cNvSpPr txBox="1"/>
          <p:nvPr/>
        </p:nvSpPr>
        <p:spPr>
          <a:xfrm>
            <a:off x="720547" y="2942836"/>
            <a:ext cx="6963576" cy="992124"/>
          </a:xfrm>
          <a:prstGeom prst="rect">
            <a:avLst/>
          </a:prstGeom>
          <a:noFill/>
        </p:spPr>
        <p:txBody>
          <a:bodyPr wrap="square" lIns="0" rIns="0" tIns="0" bIns="0">
            <a:spAutoFit/>
          </a:bodyPr>
          <a:lstStyle/>
          <a:p>
            <a:r>
              <a:rPr sz="1550">
                <a:solidFill>
                  <a:srgbClr val="111111"/>
                </a:solidFill>
                <a:latin typeface="Inter"/>
              </a:rPr>
              <a:t>Word senses grouped into synonym sets (“synsets”) linked into a conceptual-semantic hierarchy 81K noun synsets, 13K verb synsets, 19K adj. synsets, 3.5K adv synsets Avg. # of senses: 1.23 nouns, 2.16 verbs, 1.41 adj, 1.24 adverbs.</a:t>
            </a:r>
          </a:p>
        </p:txBody>
      </p:sp>
      <p:sp>
        <p:nvSpPr>
          <p:cNvPr id="11" name="TextBox 10"/>
          <p:cNvSpPr txBox="1"/>
          <p:nvPr/>
        </p:nvSpPr>
        <p:spPr>
          <a:xfrm>
            <a:off x="720547" y="4062976"/>
            <a:ext cx="6963576" cy="496062"/>
          </a:xfrm>
          <a:prstGeom prst="rect">
            <a:avLst/>
          </a:prstGeom>
          <a:noFill/>
        </p:spPr>
        <p:txBody>
          <a:bodyPr wrap="square" lIns="0" rIns="0" tIns="0" bIns="0">
            <a:spAutoFit/>
          </a:bodyPr>
          <a:lstStyle/>
          <a:p>
            <a:r>
              <a:rPr sz="1550">
                <a:solidFill>
                  <a:srgbClr val="111111"/>
                </a:solidFill>
                <a:latin typeface="Inter"/>
              </a:rPr>
              <a:t>Conceptual-semantic relations: hypernym/hyponym </a:t>
            </a:r>
            <a:r>
              <a:rPr sz="1550" b="1">
                <a:solidFill>
                  <a:srgbClr val="0F766E"/>
                </a:solidFill>
                <a:latin typeface="Bebas Neue"/>
              </a:rPr>
              <a:t>also</a:t>
            </a:r>
            <a:r>
              <a:rPr sz="1550">
                <a:solidFill>
                  <a:srgbClr val="111111"/>
                </a:solidFill>
                <a:latin typeface="Inter"/>
              </a:rPr>
              <a:t> holonym/meronym </a:t>
            </a:r>
            <a:r>
              <a:rPr sz="1550" b="1">
                <a:solidFill>
                  <a:srgbClr val="0F766E"/>
                </a:solidFill>
                <a:latin typeface="Bebas Neue"/>
              </a:rPr>
              <a:t>Also</a:t>
            </a:r>
            <a:r>
              <a:rPr sz="1550">
                <a:solidFill>
                  <a:srgbClr val="111111"/>
                </a:solidFill>
                <a:latin typeface="Inter"/>
              </a:rPr>
              <a:t> lexical relations, </a:t>
            </a:r>
            <a:r>
              <a:rPr sz="1550" b="1">
                <a:solidFill>
                  <a:srgbClr val="0F766E"/>
                </a:solidFill>
                <a:latin typeface="Bebas Neue"/>
              </a:rPr>
              <a:t>in particular</a:t>
            </a:r>
            <a:r>
              <a:rPr sz="1550">
                <a:solidFill>
                  <a:srgbClr val="111111"/>
                </a:solidFill>
                <a:latin typeface="Inter"/>
              </a:rPr>
              <a:t> lemmatization.</a:t>
            </a:r>
          </a:p>
        </p:txBody>
      </p:sp>
      <p:sp>
        <p:nvSpPr>
          <p:cNvPr id="12" name="TextBox 11"/>
          <p:cNvSpPr txBox="1"/>
          <p:nvPr/>
        </p:nvSpPr>
        <p:spPr>
          <a:xfrm>
            <a:off x="720547" y="4687054"/>
            <a:ext cx="6963576" cy="248031"/>
          </a:xfrm>
          <a:prstGeom prst="rect">
            <a:avLst/>
          </a:prstGeom>
          <a:noFill/>
        </p:spPr>
        <p:txBody>
          <a:bodyPr wrap="square" lIns="0" rIns="0" tIns="0" bIns="0">
            <a:spAutoFit/>
          </a:bodyPr>
          <a:lstStyle/>
          <a:p>
            <a:r>
              <a:rPr sz="1550">
                <a:solidFill>
                  <a:srgbClr val="111111"/>
                </a:solidFill>
                <a:latin typeface="Inter"/>
              </a:rPr>
              <a:t>Available at http://wordnet.princeton.edu.</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Synset — A synonym set grouping words with identical meanings into a conceptual-semantic hierarchy.  ·  Hypernym — A word with a broad meaning that subsumes more specific concepts.</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“A synonym set grouping words with identical meanings into a conceptual-semantic hierarchy.”?</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Vocabulary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mst</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holonym</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Synset</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Synset: A synonym set grouping words with identical meanings into a conceptual-semantic hierarchy.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Display Options: | (Select option to change) 8 (Change )</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114</a:t>
            </a:r>
          </a:p>
        </p:txBody>
      </p:sp>
      <p:sp>
        <p:nvSpPr>
          <p:cNvPr id="8" name="Rectangle 7"/>
          <p:cNvSpPr/>
          <p:nvPr/>
        </p:nvSpPr>
        <p:spPr>
          <a:xfrm>
            <a:off x="457200" y="1325880"/>
            <a:ext cx="73152" cy="1065276"/>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156716"/>
          </a:xfrm>
          <a:prstGeom prst="rect">
            <a:avLst/>
          </a:prstGeom>
          <a:noFill/>
        </p:spPr>
        <p:txBody>
          <a:bodyPr wrap="square" anchor="ctr" lIns="0" tIns="0" rIns="0" bIns="0">
            <a:spAutoFit/>
          </a:bodyPr>
          <a:lstStyle/>
          <a:p>
            <a:pPr algn="l"/>
            <a:r>
              <a:rPr sz="2400" b="1">
                <a:solidFill>
                  <a:srgbClr val="485174"/>
                </a:solidFill>
                <a:latin typeface="Bebas Neue"/>
              </a:rPr>
              <a:t>WordNet Search - 3.0 - WordNet home page - Glossary - Help Word to search for: bass (Search WordNet)</a:t>
            </a:r>
          </a:p>
          <a:p>
            <a:pPr algn="l">
              <a:spcBef>
                <a:spcPts val="400"/>
              </a:spcBef>
            </a:pPr>
            <a:r>
              <a:rPr sz="1400" b="0">
                <a:solidFill>
                  <a:srgbClr val="111111"/>
                </a:solidFill>
                <a:latin typeface="Inter"/>
              </a:rPr>
              <a:t>Key: "S:" = Show Synset (semantic) relations, "W:" = Show Word (lexical) relations</a:t>
            </a:r>
          </a:p>
        </p:txBody>
      </p:sp>
      <p:sp>
        <p:nvSpPr>
          <p:cNvPr id="10" name="Rounded Rectangle 9"/>
          <p:cNvSpPr/>
          <p:nvPr/>
        </p:nvSpPr>
        <p:spPr>
          <a:xfrm>
            <a:off x="457200" y="2656332"/>
            <a:ext cx="5536692" cy="3159251"/>
          </a:xfrm>
          <a:prstGeom prst="roundRect">
            <a:avLst>
              <a:gd name="adj" fmla="val 445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820924"/>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17266"/>
            <a:ext cx="5134355" cy="2837383"/>
          </a:xfrm>
          <a:prstGeom prst="rect">
            <a:avLst/>
          </a:prstGeom>
          <a:noFill/>
        </p:spPr>
        <p:txBody>
          <a:bodyPr wrap="square" anchor="t" lIns="0" tIns="0" rIns="0" bIns="0">
            <a:spAutoFit/>
          </a:bodyPr>
          <a:lstStyle/>
          <a:p>
            <a:pPr algn="l"/>
            <a:r>
              <a:rPr sz="1750" b="1">
                <a:solidFill>
                  <a:srgbClr val="485174"/>
                </a:solidFill>
                <a:latin typeface="Bebas Neue"/>
              </a:rPr>
              <a:t>Noun</a:t>
            </a:r>
          </a:p>
          <a:p>
            <a:pPr algn="l" marL="512064" indent="-219456" lvl="1">
              <a:spcBef>
                <a:spcPts val="300"/>
              </a:spcBef>
              <a:buClr>
                <a:srgbClr val="CC7B70"/>
              </a:buClr>
              <a:buFont typeface="Arial"/>
              <a:buChar char="–"/>
            </a:pPr>
            <a:r>
              <a:rPr sz="1260" b="0">
                <a:solidFill>
                  <a:srgbClr val="555555"/>
                </a:solidFill>
                <a:latin typeface="Inter"/>
              </a:rPr>
              <a:t>(n) bass (the lowest part of the musical range)</a:t>
            </a:r>
          </a:p>
          <a:p>
            <a:pPr algn="l" marL="512064" indent="-219456" lvl="1">
              <a:spcBef>
                <a:spcPts val="300"/>
              </a:spcBef>
              <a:buClr>
                <a:srgbClr val="CC7B70"/>
              </a:buClr>
              <a:buFont typeface="Arial"/>
              <a:buChar char="–"/>
            </a:pPr>
            <a:r>
              <a:rPr sz="1260" b="0">
                <a:solidFill>
                  <a:srgbClr val="555555"/>
                </a:solidFill>
                <a:latin typeface="Inter"/>
              </a:rPr>
              <a:t>S: (n) bass, bass part (the lowest part in polyphonic music)</a:t>
            </a:r>
          </a:p>
          <a:p>
            <a:pPr algn="l" marL="256032" indent="-256032" lvl="0">
              <a:spcBef>
                <a:spcPts val="700"/>
              </a:spcBef>
              <a:buClr>
                <a:srgbClr val="CC7B70"/>
              </a:buClr>
              <a:buFont typeface="Arial"/>
              <a:buChar char="•"/>
            </a:pPr>
            <a:r>
              <a:rPr sz="1400" b="0">
                <a:solidFill>
                  <a:srgbClr val="111111"/>
                </a:solidFill>
                <a:latin typeface="Inter"/>
              </a:rPr>
              <a:t>S: (n) bass, basso (an adult male singer with the lowest voice)</a:t>
            </a:r>
          </a:p>
          <a:p>
            <a:pPr algn="l" marL="256032" indent="-256032" lvl="0">
              <a:spcBef>
                <a:spcPts val="700"/>
              </a:spcBef>
              <a:buClr>
                <a:srgbClr val="CC7B70"/>
              </a:buClr>
              <a:buFont typeface="Arial"/>
              <a:buChar char="•"/>
            </a:pPr>
            <a:r>
              <a:rPr sz="1400" b="0">
                <a:solidFill>
                  <a:srgbClr val="111111"/>
                </a:solidFill>
                <a:latin typeface="Inter"/>
              </a:rPr>
              <a:t>S: (n) sea bass, bass (the lean flesh of a saltwater fish of the family Serranidae)</a:t>
            </a:r>
          </a:p>
          <a:p>
            <a:pPr algn="l" marL="256032" indent="-256032" lvl="0">
              <a:spcBef>
                <a:spcPts val="700"/>
              </a:spcBef>
              <a:buClr>
                <a:srgbClr val="CC7B70"/>
              </a:buClr>
              <a:buFont typeface="Arial"/>
              <a:buChar char="•"/>
            </a:pPr>
            <a:r>
              <a:rPr sz="1400" b="0">
                <a:solidFill>
                  <a:srgbClr val="111111"/>
                </a:solidFill>
                <a:latin typeface="Inter"/>
              </a:rPr>
              <a:t>+4 more</a:t>
            </a:r>
          </a:p>
        </p:txBody>
      </p:sp>
      <p:sp>
        <p:nvSpPr>
          <p:cNvPr id="13" name="Rounded Rectangle 12"/>
          <p:cNvSpPr/>
          <p:nvPr/>
        </p:nvSpPr>
        <p:spPr>
          <a:xfrm>
            <a:off x="6195059" y="2656332"/>
            <a:ext cx="5536692" cy="3159251"/>
          </a:xfrm>
          <a:prstGeom prst="roundRect">
            <a:avLst>
              <a:gd name="adj" fmla="val 445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820924"/>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817266"/>
            <a:ext cx="5134355" cy="2837383"/>
          </a:xfrm>
          <a:prstGeom prst="rect">
            <a:avLst/>
          </a:prstGeom>
          <a:noFill/>
        </p:spPr>
        <p:txBody>
          <a:bodyPr wrap="square" anchor="t" lIns="0" tIns="0" rIns="0" bIns="0">
            <a:spAutoFit/>
          </a:bodyPr>
          <a:lstStyle/>
          <a:p>
            <a:pPr algn="l"/>
            <a:r>
              <a:rPr sz="1750" b="1">
                <a:solidFill>
                  <a:srgbClr val="485174"/>
                </a:solidFill>
                <a:latin typeface="Bebas Neue"/>
              </a:rPr>
              <a:t>Adjective</a:t>
            </a:r>
          </a:p>
          <a:p>
            <a:pPr algn="l" marL="256032" indent="-256032" lvl="0">
              <a:spcBef>
                <a:spcPts val="700"/>
              </a:spcBef>
              <a:buClr>
                <a:srgbClr val="CC7B70"/>
              </a:buClr>
              <a:buFont typeface="Arial"/>
              <a:buChar char="•"/>
            </a:pPr>
            <a:r>
              <a:rPr sz="1400" b="0">
                <a:solidFill>
                  <a:srgbClr val="111111"/>
                </a:solidFill>
                <a:latin typeface="Inter"/>
              </a:rPr>
              <a:t>S: (adj) bass, deep (having or denoting a low vocal or instrumental range) "a deep voice"; "a bass voice is lower than a baritone voice"; "a bass clarinet"</a:t>
            </a:r>
          </a:p>
        </p:txBody>
      </p:sp>
      <p:sp>
        <p:nvSpPr>
          <p:cNvPr id="16" name="Rounded Rectangle 15"/>
          <p:cNvSpPr/>
          <p:nvPr/>
        </p:nvSpPr>
        <p:spPr>
          <a:xfrm>
            <a:off x="457200" y="6016751"/>
            <a:ext cx="2152497" cy="384048"/>
          </a:xfrm>
          <a:prstGeom prst="roundRect">
            <a:avLst>
              <a:gd name="adj" fmla="val 50000"/>
            </a:avLst>
          </a:prstGeom>
          <a:solidFill>
            <a:srgbClr val="E9EAEE"/>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b="1">
                <a:solidFill>
                  <a:srgbClr val="485174"/>
                </a:solidFill>
                <a:latin typeface="Bebas Neue"/>
              </a:rPr>
              <a:t>WordNet home page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Noun synsets connect through hierarchical relations like hypernyms meronyms and holonyms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114</a:t>
            </a:r>
          </a:p>
        </p:txBody>
      </p:sp>
      <p:sp>
        <p:nvSpPr>
          <p:cNvPr id="8" name="Rectangle 7"/>
          <p:cNvSpPr/>
          <p:nvPr/>
        </p:nvSpPr>
        <p:spPr>
          <a:xfrm>
            <a:off x="457200" y="1325880"/>
            <a:ext cx="73152" cy="1065276"/>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156716"/>
          </a:xfrm>
          <a:prstGeom prst="rect">
            <a:avLst/>
          </a:prstGeom>
          <a:noFill/>
        </p:spPr>
        <p:txBody>
          <a:bodyPr wrap="square" anchor="ctr" lIns="0" tIns="0" rIns="0" bIns="0">
            <a:spAutoFit/>
          </a:bodyPr>
          <a:lstStyle/>
          <a:p>
            <a:pPr algn="l"/>
            <a:r>
              <a:rPr sz="2400" b="1">
                <a:solidFill>
                  <a:srgbClr val="485174"/>
                </a:solidFill>
                <a:latin typeface="Bebas Neue"/>
              </a:rPr>
              <a:t>Instance hypernym/hyponym (between concepts and instances) Austen is an instance hyponym of author</a:t>
            </a:r>
          </a:p>
          <a:p>
            <a:pPr algn="l">
              <a:spcBef>
                <a:spcPts val="400"/>
              </a:spcBef>
            </a:pPr>
            <a:r>
              <a:rPr sz="1400" b="0">
                <a:solidFill>
                  <a:srgbClr val="111111"/>
                </a:solidFill>
                <a:latin typeface="Inter"/>
              </a:rPr>
              <a:t>Member holonym/meronym (groups and members) professor is a member meronym of (a university’s) faculty</a:t>
            </a:r>
          </a:p>
        </p:txBody>
      </p:sp>
      <p:sp>
        <p:nvSpPr>
          <p:cNvPr id="10" name="Rounded Rectangle 9"/>
          <p:cNvSpPr/>
          <p:nvPr/>
        </p:nvSpPr>
        <p:spPr>
          <a:xfrm>
            <a:off x="457200" y="2656332"/>
            <a:ext cx="11274552" cy="1545599"/>
          </a:xfrm>
          <a:prstGeom prst="roundRect">
            <a:avLst>
              <a:gd name="adj" fmla="val 911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820924"/>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17266"/>
            <a:ext cx="10872216" cy="1223730"/>
          </a:xfrm>
          <a:prstGeom prst="rect">
            <a:avLst/>
          </a:prstGeom>
          <a:noFill/>
        </p:spPr>
        <p:txBody>
          <a:bodyPr wrap="square" anchor="t" lIns="0" tIns="0" rIns="0" bIns="0">
            <a:spAutoFit/>
          </a:bodyPr>
          <a:lstStyle/>
          <a:p>
            <a:pPr algn="l"/>
            <a:r>
              <a:rPr sz="2310" b="1">
                <a:solidFill>
                  <a:srgbClr val="485174"/>
                </a:solidFill>
                <a:latin typeface="Bebas Neue"/>
              </a:rPr>
              <a:t>Hypernym/hyponym (between concepts) The more general ‘meal’ is a hypernym of</a:t>
            </a:r>
          </a:p>
          <a:p>
            <a:pPr algn="l" marL="256032" indent="-256032" lvl="0">
              <a:spcBef>
                <a:spcPts val="700"/>
              </a:spcBef>
              <a:buClr>
                <a:srgbClr val="CC7B70"/>
              </a:buClr>
              <a:buFont typeface="Arial"/>
              <a:buChar char="•"/>
            </a:pPr>
            <a:r>
              <a:rPr sz="1850" b="0">
                <a:solidFill>
                  <a:srgbClr val="111111"/>
                </a:solidFill>
                <a:latin typeface="Inter"/>
              </a:rPr>
              <a:t>the more specific ‘breakfast’</a:t>
            </a:r>
          </a:p>
        </p:txBody>
      </p:sp>
      <p:sp>
        <p:nvSpPr>
          <p:cNvPr id="13" name="Rounded Rectangle 12"/>
          <p:cNvSpPr/>
          <p:nvPr/>
        </p:nvSpPr>
        <p:spPr>
          <a:xfrm>
            <a:off x="457200" y="4403099"/>
            <a:ext cx="11274552"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Part holonym/meronym (wholes and parts) wheel is a part meronym of (is a part of) car. Substance meronym/holonym (substances and components) flour is a substance meronym of (is made of) bread</a:t>
            </a:r>
          </a:p>
        </p:txBody>
      </p:sp>
      <p:sp>
        <p:nvSpPr>
          <p:cNvPr id="16" name="Rounded Rectangle 15"/>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Meronym — A term denoting a part of a larger whole, such as wheel for a car.  ·  Holonym — A term denoting a whole whose parts are represented by other words.</a:t>
            </a:r>
          </a:p>
        </p:txBody>
      </p:sp>
      <p:sp>
        <p:nvSpPr>
          <p:cNvPr id="17" name="Rectangle 16"/>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Verb synsets utilize hypernym troponym and entailment relations to connect events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0977"/>
            <a:ext cx="82296" cy="117226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4401"/>
            <a:ext cx="7087166" cy="1190548"/>
          </a:xfrm>
          <a:prstGeom prst="rect">
            <a:avLst/>
          </a:prstGeom>
          <a:noFill/>
        </p:spPr>
        <p:txBody>
          <a:bodyPr wrap="square" anchor="t" lIns="0" tIns="0" rIns="0" bIns="0">
            <a:spAutoFit/>
          </a:bodyPr>
          <a:lstStyle/>
          <a:p>
            <a:pPr algn="l"/>
            <a:r>
              <a:rPr sz="1860" b="1">
                <a:solidFill>
                  <a:srgbClr val="485174"/>
                </a:solidFill>
                <a:latin typeface="Bebas Neue"/>
              </a:rPr>
              <a:t>Hypernym/troponym (between events): travel/fly, walk/stroll Flying is a troponym of traveling: it denotes a specific manner of traveling.</a:t>
            </a:r>
          </a:p>
        </p:txBody>
      </p:sp>
      <p:sp>
        <p:nvSpPr>
          <p:cNvPr id="10" name="TextBox 9"/>
          <p:cNvSpPr txBox="1"/>
          <p:nvPr/>
        </p:nvSpPr>
        <p:spPr>
          <a:xfrm>
            <a:off x="720547" y="2766974"/>
            <a:ext cx="7087166" cy="480059"/>
          </a:xfrm>
          <a:prstGeom prst="rect">
            <a:avLst/>
          </a:prstGeom>
          <a:noFill/>
        </p:spPr>
        <p:txBody>
          <a:bodyPr wrap="square" lIns="0" rIns="0" tIns="0" bIns="0">
            <a:spAutoFit/>
          </a:bodyPr>
          <a:lstStyle/>
          <a:p>
            <a:r>
              <a:rPr sz="1500">
                <a:solidFill>
                  <a:srgbClr val="111111"/>
                </a:solidFill>
                <a:latin typeface="Inter"/>
              </a:rPr>
              <a:t>Entailment (between events): snore/sleep Snoring entails (presupposes) sleeping.</a:t>
            </a:r>
          </a:p>
        </p:txBody>
      </p:sp>
      <p:sp>
        <p:nvSpPr>
          <p:cNvPr id="11" name="TextBox 10"/>
          <p:cNvSpPr txBox="1"/>
          <p:nvPr/>
        </p:nvSpPr>
        <p:spPr>
          <a:xfrm>
            <a:off x="720547" y="3375050"/>
            <a:ext cx="7087166" cy="480059"/>
          </a:xfrm>
          <a:prstGeom prst="rect">
            <a:avLst/>
          </a:prstGeom>
          <a:noFill/>
        </p:spPr>
        <p:txBody>
          <a:bodyPr wrap="square" lIns="0" rIns="0" tIns="0" bIns="0">
            <a:spAutoFit/>
          </a:bodyPr>
          <a:lstStyle/>
          <a:p>
            <a:r>
              <a:rPr sz="1500">
                <a:solidFill>
                  <a:srgbClr val="111111"/>
                </a:solidFill>
                <a:latin typeface="Inter"/>
              </a:rPr>
              <a:t>Verbs connect through specific hierarchical relations that describe events.</a:t>
            </a:r>
          </a:p>
        </p:txBody>
      </p:sp>
      <p:sp>
        <p:nvSpPr>
          <p:cNvPr id="12" name="TextBox 11"/>
          <p:cNvSpPr txBox="1"/>
          <p:nvPr/>
        </p:nvSpPr>
        <p:spPr>
          <a:xfrm>
            <a:off x="720547" y="3983126"/>
            <a:ext cx="7087166" cy="480059"/>
          </a:xfrm>
          <a:prstGeom prst="rect">
            <a:avLst/>
          </a:prstGeom>
          <a:noFill/>
        </p:spPr>
        <p:txBody>
          <a:bodyPr wrap="square" lIns="0" rIns="0" tIns="0" bIns="0">
            <a:spAutoFit/>
          </a:bodyPr>
          <a:lstStyle/>
          <a:p>
            <a:r>
              <a:rPr sz="930" b="1">
                <a:solidFill>
                  <a:srgbClr val="C2410C"/>
                </a:solidFill>
                <a:latin typeface="Bebas Neue"/>
              </a:rPr>
              <a:t>BUT   </a:t>
            </a:r>
            <a:r>
              <a:rPr sz="1500">
                <a:solidFill>
                  <a:srgbClr val="111111"/>
                </a:solidFill>
                <a:latin typeface="Inter"/>
              </a:rPr>
              <a:t>A troponym specifies the manner of an action, </a:t>
            </a:r>
            <a:r>
              <a:rPr sz="1500" b="1">
                <a:solidFill>
                  <a:srgbClr val="C2410C"/>
                </a:solidFill>
                <a:latin typeface="Bebas Neue"/>
              </a:rPr>
              <a:t>while</a:t>
            </a:r>
            <a:r>
              <a:rPr sz="1500">
                <a:solidFill>
                  <a:srgbClr val="111111"/>
                </a:solidFill>
                <a:latin typeface="Inter"/>
              </a:rPr>
              <a:t> entailment shows that one event presupposes another.</a:t>
            </a:r>
          </a:p>
        </p:txBody>
      </p:sp>
      <p:sp>
        <p:nvSpPr>
          <p:cNvPr id="13" name="TextBox 12"/>
          <p:cNvSpPr txBox="1"/>
          <p:nvPr/>
        </p:nvSpPr>
        <p:spPr>
          <a:xfrm>
            <a:off x="720547" y="4591202"/>
            <a:ext cx="7087166" cy="480059"/>
          </a:xfrm>
          <a:prstGeom prst="rect">
            <a:avLst/>
          </a:prstGeom>
          <a:noFill/>
        </p:spPr>
        <p:txBody>
          <a:bodyPr wrap="square" lIns="0" rIns="0" tIns="0" bIns="0">
            <a:spAutoFit/>
          </a:bodyPr>
          <a:lstStyle/>
          <a:p>
            <a:r>
              <a:rPr sz="930" b="1">
                <a:solidFill>
                  <a:srgbClr val="1D4ED8"/>
                </a:solidFill>
                <a:latin typeface="Bebas Neue"/>
              </a:rPr>
              <a:t>BECAUSE   </a:t>
            </a:r>
            <a:r>
              <a:rPr sz="1500">
                <a:solidFill>
                  <a:srgbClr val="111111"/>
                </a:solidFill>
                <a:latin typeface="Inter"/>
              </a:rPr>
              <a:t>Example: Flying is a troponym of traveling </a:t>
            </a:r>
            <a:r>
              <a:rPr sz="1500" b="1">
                <a:solidFill>
                  <a:srgbClr val="1D4ED8"/>
                </a:solidFill>
                <a:latin typeface="Bebas Neue"/>
              </a:rPr>
              <a:t>because</a:t>
            </a:r>
            <a:r>
              <a:rPr sz="1500">
                <a:solidFill>
                  <a:srgbClr val="111111"/>
                </a:solidFill>
                <a:latin typeface="Inter"/>
              </a:rPr>
              <a:t> it describes a specific manner of travel.</a:t>
            </a:r>
          </a:p>
        </p:txBody>
      </p:sp>
      <p:sp>
        <p:nvSpPr>
          <p:cNvPr id="14" name="Rounded Rectangle 1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Troponym — A verb describing a specific manner of doing a more general action.  ·  Entailment — A relation where one event logically presupposes the occurrence of another.</a:t>
            </a:r>
          </a:p>
        </p:txBody>
      </p:sp>
      <p:sp>
        <p:nvSpPr>
          <p:cNvPr id="15" name="Rectangle 1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Direct and inherited hypernyms link verb synsets to broader abstract concepts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322982"/>
          </a:xfrm>
          <a:prstGeom prst="roundRect">
            <a:avLst>
              <a:gd name="adj" fmla="val 435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1764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289860"/>
            <a:ext cx="340156" cy="340156"/>
          </a:xfrm>
          <a:prstGeom prst="rect">
            <a:avLst/>
          </a:prstGeom>
        </p:spPr>
      </p:pic>
      <p:sp>
        <p:nvSpPr>
          <p:cNvPr id="11" name="TextBox 10"/>
          <p:cNvSpPr txBox="1"/>
          <p:nvPr/>
        </p:nvSpPr>
        <p:spPr>
          <a:xfrm>
            <a:off x="1408175" y="1371600"/>
            <a:ext cx="6598919" cy="176678"/>
          </a:xfrm>
          <a:prstGeom prst="rect">
            <a:avLst/>
          </a:prstGeom>
          <a:noFill/>
        </p:spPr>
        <p:txBody>
          <a:bodyPr wrap="square" anchor="ctr" lIns="0" tIns="0" rIns="0" bIns="0">
            <a:spAutoFit/>
          </a:bodyPr>
          <a:lstStyle/>
          <a:p>
            <a:pPr algn="l"/>
            <a:r>
              <a:rPr sz="1050" b="0">
                <a:solidFill>
                  <a:srgbClr val="111111"/>
                </a:solidFill>
                <a:latin typeface="Inter"/>
              </a:rPr>
              <a:t>5S: (n) bass (the lowest part of the musical range)</a:t>
            </a:r>
          </a:p>
        </p:txBody>
      </p:sp>
      <p:sp>
        <p:nvSpPr>
          <p:cNvPr id="12" name="Rounded Rectangle 11"/>
          <p:cNvSpPr/>
          <p:nvPr/>
        </p:nvSpPr>
        <p:spPr>
          <a:xfrm>
            <a:off x="457200" y="1822598"/>
            <a:ext cx="7751064" cy="322982"/>
          </a:xfrm>
          <a:prstGeom prst="roundRect">
            <a:avLst>
              <a:gd name="adj" fmla="val 435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70062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1814010"/>
            <a:ext cx="340156" cy="340156"/>
          </a:xfrm>
          <a:prstGeom prst="rect">
            <a:avLst/>
          </a:prstGeom>
        </p:spPr>
      </p:pic>
      <p:sp>
        <p:nvSpPr>
          <p:cNvPr id="15" name="TextBox 14"/>
          <p:cNvSpPr txBox="1"/>
          <p:nvPr/>
        </p:nvSpPr>
        <p:spPr>
          <a:xfrm>
            <a:off x="1408175" y="1895750"/>
            <a:ext cx="6598919" cy="176678"/>
          </a:xfrm>
          <a:prstGeom prst="rect">
            <a:avLst/>
          </a:prstGeom>
          <a:noFill/>
        </p:spPr>
        <p:txBody>
          <a:bodyPr wrap="square" anchor="ctr" lIns="0" tIns="0" rIns="0" bIns="0">
            <a:spAutoFit/>
          </a:bodyPr>
          <a:lstStyle/>
          <a:p>
            <a:pPr algn="l"/>
            <a:r>
              <a:rPr sz="1050" b="0">
                <a:solidFill>
                  <a:srgbClr val="111111"/>
                </a:solidFill>
                <a:latin typeface="Inter"/>
              </a:rPr>
              <a:t>direct hypernym | inherited hypernym / sister term</a:t>
            </a:r>
          </a:p>
        </p:txBody>
      </p:sp>
      <p:sp>
        <p:nvSpPr>
          <p:cNvPr id="16" name="Rounded Rectangle 15"/>
          <p:cNvSpPr/>
          <p:nvPr/>
        </p:nvSpPr>
        <p:spPr>
          <a:xfrm>
            <a:off x="457200" y="2346748"/>
            <a:ext cx="7751064" cy="322982"/>
          </a:xfrm>
          <a:prstGeom prst="roundRect">
            <a:avLst>
              <a:gd name="adj" fmla="val 435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2247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338161"/>
            <a:ext cx="340156" cy="340156"/>
          </a:xfrm>
          <a:prstGeom prst="rect">
            <a:avLst/>
          </a:prstGeom>
        </p:spPr>
      </p:pic>
      <p:sp>
        <p:nvSpPr>
          <p:cNvPr id="19" name="TextBox 18"/>
          <p:cNvSpPr txBox="1"/>
          <p:nvPr/>
        </p:nvSpPr>
        <p:spPr>
          <a:xfrm>
            <a:off x="1408175" y="2419900"/>
            <a:ext cx="6598919" cy="176678"/>
          </a:xfrm>
          <a:prstGeom prst="rect">
            <a:avLst/>
          </a:prstGeom>
          <a:noFill/>
        </p:spPr>
        <p:txBody>
          <a:bodyPr wrap="square" anchor="ctr" lIns="0" tIns="0" rIns="0" bIns="0">
            <a:spAutoFit/>
          </a:bodyPr>
          <a:lstStyle/>
          <a:p>
            <a:pPr algn="l"/>
            <a:r>
              <a:rPr sz="1050" b="0">
                <a:solidFill>
                  <a:srgbClr val="111111"/>
                </a:solidFill>
                <a:latin typeface="Inter"/>
              </a:rPr>
              <a:t>S: (n) pitch (the property of sound that varies with variation in the frequency of vibration)</a:t>
            </a:r>
          </a:p>
        </p:txBody>
      </p:sp>
      <p:sp>
        <p:nvSpPr>
          <p:cNvPr id="20" name="Rounded Rectangle 19"/>
          <p:cNvSpPr/>
          <p:nvPr/>
        </p:nvSpPr>
        <p:spPr>
          <a:xfrm>
            <a:off x="457200" y="2870898"/>
            <a:ext cx="7751064" cy="322982"/>
          </a:xfrm>
          <a:prstGeom prst="roundRect">
            <a:avLst>
              <a:gd name="adj" fmla="val 435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74892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2862311"/>
            <a:ext cx="340156" cy="340156"/>
          </a:xfrm>
          <a:prstGeom prst="rect">
            <a:avLst/>
          </a:prstGeom>
        </p:spPr>
      </p:pic>
      <p:sp>
        <p:nvSpPr>
          <p:cNvPr id="23" name="TextBox 22"/>
          <p:cNvSpPr txBox="1"/>
          <p:nvPr/>
        </p:nvSpPr>
        <p:spPr>
          <a:xfrm>
            <a:off x="1408175" y="2944050"/>
            <a:ext cx="6598919" cy="176678"/>
          </a:xfrm>
          <a:prstGeom prst="rect">
            <a:avLst/>
          </a:prstGeom>
          <a:noFill/>
        </p:spPr>
        <p:txBody>
          <a:bodyPr wrap="square" anchor="ctr" lIns="0" tIns="0" rIns="0" bIns="0">
            <a:spAutoFit/>
          </a:bodyPr>
          <a:lstStyle/>
          <a:p>
            <a:pPr algn="l"/>
            <a:r>
              <a:rPr sz="1050" b="0">
                <a:solidFill>
                  <a:srgbClr val="111111"/>
                </a:solidFill>
                <a:latin typeface="Inter"/>
              </a:rPr>
              <a:t>S: (n) property (a basic or essential attribute shared by all members of a class) "a stuc</a:t>
            </a:r>
          </a:p>
        </p:txBody>
      </p:sp>
      <p:sp>
        <p:nvSpPr>
          <p:cNvPr id="24" name="Rounded Rectangle 23"/>
          <p:cNvSpPr/>
          <p:nvPr/>
        </p:nvSpPr>
        <p:spPr>
          <a:xfrm>
            <a:off x="457200" y="3395048"/>
            <a:ext cx="7751064" cy="322982"/>
          </a:xfrm>
          <a:prstGeom prst="roundRect">
            <a:avLst>
              <a:gd name="adj" fmla="val 435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2730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386461"/>
            <a:ext cx="340156" cy="340156"/>
          </a:xfrm>
          <a:prstGeom prst="rect">
            <a:avLst/>
          </a:prstGeom>
        </p:spPr>
      </p:pic>
      <p:sp>
        <p:nvSpPr>
          <p:cNvPr id="27" name="TextBox 26"/>
          <p:cNvSpPr txBox="1"/>
          <p:nvPr/>
        </p:nvSpPr>
        <p:spPr>
          <a:xfrm>
            <a:off x="1408175" y="3468200"/>
            <a:ext cx="6598919" cy="176678"/>
          </a:xfrm>
          <a:prstGeom prst="rect">
            <a:avLst/>
          </a:prstGeom>
          <a:noFill/>
        </p:spPr>
        <p:txBody>
          <a:bodyPr wrap="square" anchor="ctr" lIns="0" tIns="0" rIns="0" bIns="0">
            <a:spAutoFit/>
          </a:bodyPr>
          <a:lstStyle/>
          <a:p>
            <a:pPr algn="l"/>
            <a:r>
              <a:rPr sz="1050" b="0">
                <a:solidFill>
                  <a:srgbClr val="111111"/>
                </a:solidFill>
                <a:latin typeface="Inter"/>
              </a:rPr>
              <a:t>S: attribute (an abstraction belonging to or characteristic of an entity)</a:t>
            </a:r>
          </a:p>
        </p:txBody>
      </p:sp>
      <p:sp>
        <p:nvSpPr>
          <p:cNvPr id="28" name="Rounded Rectangle 27"/>
          <p:cNvSpPr/>
          <p:nvPr/>
        </p:nvSpPr>
        <p:spPr>
          <a:xfrm>
            <a:off x="457200" y="3919198"/>
            <a:ext cx="7751064"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This slide illustrates how specific terms connect upward to general categories through direct and inherited hypernyms. It traces a specific musical term through broader semantic properties up to abstract entities. For example, bass connects upward through pitch and sound property to abstract entity.</a:t>
            </a:r>
          </a:p>
        </p:txBody>
      </p:sp>
      <p:sp>
        <p:nvSpPr>
          <p:cNvPr id="31" name="Rounded Rectangle 3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Direct hypernym — The immediate broader category or parent concept of a given term.  ·  Inherited hypernym — A higher-level category passed down through multiple hierarchical levels.</a:t>
            </a:r>
          </a:p>
        </p:txBody>
      </p:sp>
      <p:sp>
        <p:nvSpPr>
          <p:cNvPr id="32" name="Rectangle 3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Direct and full hyponyms organize specific terms under broader conceptual categories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35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35024"/>
            <a:ext cx="82296" cy="22462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6963576" cy="242910"/>
          </a:xfrm>
          <a:prstGeom prst="rect">
            <a:avLst/>
          </a:prstGeom>
          <a:noFill/>
        </p:spPr>
        <p:txBody>
          <a:bodyPr wrap="square" anchor="t" lIns="0" tIns="0" rIns="0" bIns="0">
            <a:spAutoFit/>
          </a:bodyPr>
          <a:lstStyle/>
          <a:p>
            <a:pPr algn="l"/>
            <a:r>
              <a:rPr sz="1520" b="1">
                <a:solidFill>
                  <a:srgbClr val="485174"/>
                </a:solidFill>
                <a:latin typeface="Bebas Neue"/>
              </a:rPr>
              <a:t>direct hyponym / full hyponym.</a:t>
            </a:r>
          </a:p>
        </p:txBody>
      </p:sp>
      <p:sp>
        <p:nvSpPr>
          <p:cNvPr id="10" name="TextBox 9"/>
          <p:cNvSpPr txBox="1"/>
          <p:nvPr/>
        </p:nvSpPr>
        <p:spPr>
          <a:xfrm>
            <a:off x="720547" y="1733382"/>
            <a:ext cx="6963576" cy="352044"/>
          </a:xfrm>
          <a:prstGeom prst="rect">
            <a:avLst/>
          </a:prstGeom>
          <a:noFill/>
        </p:spPr>
        <p:txBody>
          <a:bodyPr wrap="square" lIns="0" rIns="0" tIns="0" bIns="0">
            <a:spAutoFit/>
          </a:bodyPr>
          <a:lstStyle/>
          <a:p>
            <a:r>
              <a:rPr sz="1100">
                <a:solidFill>
                  <a:srgbClr val="111111"/>
                </a:solidFill>
                <a:latin typeface="Inter"/>
              </a:rPr>
              <a:t>S: (a) ground bass (a short melody in the bass that is constantly repeated) S: (n) figured bass, basso continuo, continuo, thorough bass (a bass part written out in full and acc.</a:t>
            </a:r>
          </a:p>
        </p:txBody>
      </p:sp>
      <p:sp>
        <p:nvSpPr>
          <p:cNvPr id="11" name="TextBox 10"/>
          <p:cNvSpPr txBox="1"/>
          <p:nvPr/>
        </p:nvSpPr>
        <p:spPr>
          <a:xfrm>
            <a:off x="720547" y="2213442"/>
            <a:ext cx="6963576" cy="352044"/>
          </a:xfrm>
          <a:prstGeom prst="rect">
            <a:avLst/>
          </a:prstGeom>
          <a:noFill/>
        </p:spPr>
        <p:txBody>
          <a:bodyPr wrap="square" lIns="0" rIns="0" tIns="0" bIns="0">
            <a:spAutoFit/>
          </a:bodyPr>
          <a:lstStyle/>
          <a:p>
            <a:r>
              <a:rPr sz="1100">
                <a:solidFill>
                  <a:srgbClr val="111111"/>
                </a:solidFill>
                <a:latin typeface="Inter"/>
              </a:rPr>
              <a:t>S: (n) part, voice (the melody carried by a particular voice or instrument in polyphonic music) "he.</a:t>
            </a:r>
          </a:p>
        </p:txBody>
      </p:sp>
      <p:sp>
        <p:nvSpPr>
          <p:cNvPr id="12" name="TextBox 11"/>
          <p:cNvSpPr txBox="1"/>
          <p:nvPr/>
        </p:nvSpPr>
        <p:spPr>
          <a:xfrm>
            <a:off x="720547" y="2693502"/>
            <a:ext cx="6963576" cy="176022"/>
          </a:xfrm>
          <a:prstGeom prst="rect">
            <a:avLst/>
          </a:prstGeom>
          <a:noFill/>
        </p:spPr>
        <p:txBody>
          <a:bodyPr wrap="square" lIns="0" rIns="0" tIns="0" bIns="0">
            <a:spAutoFit/>
          </a:bodyPr>
          <a:lstStyle/>
          <a:p>
            <a:r>
              <a:rPr sz="1100">
                <a:solidFill>
                  <a:srgbClr val="111111"/>
                </a:solidFill>
                <a:latin typeface="Inter"/>
              </a:rPr>
              <a:t>S:(n) tune, melody, air, strain, melodic line, line, melodic phrase (a succession of notes for.</a:t>
            </a:r>
          </a:p>
        </p:txBody>
      </p:sp>
      <p:sp>
        <p:nvSpPr>
          <p:cNvPr id="13" name="TextBox 12"/>
          <p:cNvSpPr txBox="1"/>
          <p:nvPr/>
        </p:nvSpPr>
        <p:spPr>
          <a:xfrm>
            <a:off x="720547" y="2997540"/>
            <a:ext cx="6963576" cy="176022"/>
          </a:xfrm>
          <a:prstGeom prst="rect">
            <a:avLst/>
          </a:prstGeom>
          <a:noFill/>
        </p:spPr>
        <p:txBody>
          <a:bodyPr wrap="square" lIns="0" rIns="0" tIns="0" bIns="0">
            <a:spAutoFit/>
          </a:bodyPr>
          <a:lstStyle/>
          <a:p>
            <a:r>
              <a:rPr sz="1100">
                <a:solidFill>
                  <a:srgbClr val="111111"/>
                </a:solidFill>
                <a:latin typeface="Inter"/>
              </a:rPr>
              <a:t>S: (n) music (an artistic form of auditory communication incorporating instrumental «.</a:t>
            </a:r>
          </a:p>
        </p:txBody>
      </p:sp>
      <p:sp>
        <p:nvSpPr>
          <p:cNvPr id="14" name="TextBox 13"/>
          <p:cNvSpPr txBox="1"/>
          <p:nvPr/>
        </p:nvSpPr>
        <p:spPr>
          <a:xfrm>
            <a:off x="720547" y="3301578"/>
            <a:ext cx="6963576" cy="176022"/>
          </a:xfrm>
          <a:prstGeom prst="rect">
            <a:avLst/>
          </a:prstGeom>
          <a:noFill/>
        </p:spPr>
        <p:txBody>
          <a:bodyPr wrap="square" lIns="0" rIns="0" tIns="0" bIns="0">
            <a:spAutoFit/>
          </a:bodyPr>
          <a:lstStyle/>
          <a:p>
            <a:r>
              <a:rPr sz="1100">
                <a:solidFill>
                  <a:srgbClr val="111111"/>
                </a:solidFill>
                <a:latin typeface="Inter"/>
              </a:rPr>
              <a:t>S: (n) auditory communication (communication that relies on hearing).</a:t>
            </a:r>
          </a:p>
        </p:txBody>
      </p:sp>
      <p:sp>
        <p:nvSpPr>
          <p:cNvPr id="15" name="TextBox 14"/>
          <p:cNvSpPr txBox="1"/>
          <p:nvPr/>
        </p:nvSpPr>
        <p:spPr>
          <a:xfrm>
            <a:off x="720547" y="3605616"/>
            <a:ext cx="6963576" cy="176022"/>
          </a:xfrm>
          <a:prstGeom prst="rect">
            <a:avLst/>
          </a:prstGeom>
          <a:noFill/>
        </p:spPr>
        <p:txBody>
          <a:bodyPr wrap="square" lIns="0" rIns="0" tIns="0" bIns="0">
            <a:spAutoFit/>
          </a:bodyPr>
          <a:lstStyle/>
          <a:p>
            <a:r>
              <a:rPr sz="1100">
                <a:solidFill>
                  <a:srgbClr val="111111"/>
                </a:solidFill>
                <a:latin typeface="Inter"/>
              </a:rPr>
              <a:t>S: (n) communication (something that is communicated by or to or betw.</a:t>
            </a:r>
          </a:p>
        </p:txBody>
      </p:sp>
      <p:sp>
        <p:nvSpPr>
          <p:cNvPr id="16" name="TextBox 15"/>
          <p:cNvSpPr txBox="1"/>
          <p:nvPr/>
        </p:nvSpPr>
        <p:spPr>
          <a:xfrm>
            <a:off x="720547" y="3909654"/>
            <a:ext cx="6963576" cy="176022"/>
          </a:xfrm>
          <a:prstGeom prst="rect">
            <a:avLst/>
          </a:prstGeom>
          <a:noFill/>
        </p:spPr>
        <p:txBody>
          <a:bodyPr wrap="square" lIns="0" rIns="0" tIns="0" bIns="0">
            <a:spAutoFit/>
          </a:bodyPr>
          <a:lstStyle/>
          <a:p>
            <a:r>
              <a:rPr sz="1100">
                <a:solidFill>
                  <a:srgbClr val="111111"/>
                </a:solidFill>
                <a:latin typeface="Inter"/>
              </a:rPr>
              <a:t>S: (n) abstraction, abstract entity (a general concept formed by ext.</a:t>
            </a:r>
          </a:p>
        </p:txBody>
      </p:sp>
      <p:sp>
        <p:nvSpPr>
          <p:cNvPr id="17" name="TextBox 16"/>
          <p:cNvSpPr txBox="1"/>
          <p:nvPr/>
        </p:nvSpPr>
        <p:spPr>
          <a:xfrm>
            <a:off x="720547" y="4213692"/>
            <a:ext cx="6963576" cy="176022"/>
          </a:xfrm>
          <a:prstGeom prst="rect">
            <a:avLst/>
          </a:prstGeom>
          <a:noFill/>
        </p:spPr>
        <p:txBody>
          <a:bodyPr wrap="square" lIns="0" rIns="0" tIns="0" bIns="0">
            <a:spAutoFit/>
          </a:bodyPr>
          <a:lstStyle/>
          <a:p>
            <a:r>
              <a:rPr sz="1100">
                <a:solidFill>
                  <a:srgbClr val="111111"/>
                </a:solidFill>
                <a:latin typeface="Inter"/>
              </a:rPr>
              <a:t>S: (n) entity (that which is perceived or known or inferred tc.</a:t>
            </a:r>
          </a:p>
        </p:txBody>
      </p:sp>
      <p:sp>
        <p:nvSpPr>
          <p:cNvPr id="18" name="Rounded Rectangle 17"/>
          <p:cNvSpPr/>
          <p:nvPr/>
        </p:nvSpPr>
        <p:spPr>
          <a:xfrm>
            <a:off x="457200" y="3919198"/>
            <a:ext cx="7751064"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This slide demonstrates how general concepts branch downward into specialized hyponyms. It maps out detailed variations that belong to a broader upper-level abstraction or entity category. For example, ground bass and melodic line act as specific hyponyms under broader musical categories.</a:t>
            </a:r>
          </a:p>
        </p:txBody>
      </p:sp>
      <p:sp>
        <p:nvSpPr>
          <p:cNvPr id="21" name="Rounded Rectangle 2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Direct hyponym — An immediately more specific sub-concept belonging to a broader category.  ·  Full hyponym — A specific sub-concept positioned lower in the hierarchical taxonomy.</a:t>
            </a:r>
          </a:p>
        </p:txBody>
      </p:sp>
      <p:sp>
        <p:nvSpPr>
          <p:cNvPr id="22" name="Rectangle 2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36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“An immediately more specific sub-concept belonging to a broader category.”?</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wsd</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Direct hyponym</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Collocational features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SemCor corpus</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Direct hyponym: An immediately more specific sub-concept belonging to a broader category.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Hierarchical synset RELATIONS:VERBS: WORD 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37 / 114</a:t>
            </a:r>
          </a:p>
        </p:txBody>
      </p:sp>
      <p:sp>
        <p:nvSpPr>
          <p:cNvPr id="7" name="Rounded Rectangle 6">
            <a:hlinkClick r:id="rId3"/>
          </p:cNvPr>
          <p:cNvSpPr/>
          <p:nvPr/>
        </p:nvSpPr>
        <p:spPr>
          <a:xfrm>
            <a:off x="3883456" y="6455664"/>
            <a:ext cx="4422038"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Naive Bayes WSD Lab</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ectangle 8"/>
          <p:cNvSpPr/>
          <p:nvPr/>
        </p:nvSpPr>
        <p:spPr>
          <a:xfrm>
            <a:off x="457200" y="2702417"/>
            <a:ext cx="82296" cy="1041684"/>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 y="2665841"/>
            <a:ext cx="7087166" cy="1059972"/>
          </a:xfrm>
          <a:prstGeom prst="rect">
            <a:avLst/>
          </a:prstGeom>
          <a:noFill/>
        </p:spPr>
        <p:txBody>
          <a:bodyPr wrap="square" anchor="t" lIns="0" tIns="0" rIns="0" bIns="0">
            <a:spAutoFit/>
          </a:bodyPr>
          <a:lstStyle/>
          <a:p>
            <a:pPr algn="l"/>
            <a:r>
              <a:rPr sz="3310" b="1">
                <a:solidFill>
                  <a:srgbClr val="485174"/>
                </a:solidFill>
                <a:latin typeface="Bebas Neue"/>
              </a:rPr>
              <a:t>WORD SENSE DISAMBIGUATION.</a:t>
            </a:r>
          </a:p>
        </p:txBody>
      </p:sp>
      <p:sp>
        <p:nvSpPr>
          <p:cNvPr id="11" name="Rounded Rectangle 1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Word sense disambiguation — important method of NLP by which the meaning of a word is determined, which is used in a particular context</a:t>
            </a:r>
          </a:p>
        </p:txBody>
      </p:sp>
      <p:sp>
        <p:nvSpPr>
          <p:cNvPr id="12" name="Rectangle 1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Word 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38 / 114</a:t>
            </a:r>
          </a:p>
        </p:txBody>
      </p:sp>
      <p:sp>
        <p:nvSpPr>
          <p:cNvPr id="7" name="Rounded Rectangle 6">
            <a:hlinkClick r:id="rId3"/>
          </p:cNvPr>
          <p:cNvSpPr/>
          <p:nvPr/>
        </p:nvSpPr>
        <p:spPr>
          <a:xfrm>
            <a:off x="3883456" y="6455664"/>
            <a:ext cx="4422038"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Naive Bayes WSD Lab</a:t>
            </a:r>
          </a:p>
        </p:txBody>
      </p:sp>
      <p:sp>
        <p:nvSpPr>
          <p:cNvPr id="8" name="Rounded Rectangle 7"/>
          <p:cNvSpPr/>
          <p:nvPr/>
        </p:nvSpPr>
        <p:spPr>
          <a:xfrm>
            <a:off x="457199" y="1769592"/>
            <a:ext cx="11274552" cy="416006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4"/>
          <a:stretch>
            <a:fillRect/>
          </a:stretch>
        </p:blipFill>
        <p:spPr>
          <a:xfrm>
            <a:off x="621791" y="1934184"/>
            <a:ext cx="10945368" cy="3830878"/>
          </a:xfrm>
          <a:prstGeom prst="rect">
            <a:avLst/>
          </a:prstGeom>
        </p:spPr>
      </p:pic>
    </p:spTree>
  </p:cSld>
  <p:clrMapOvr>
    <a:masterClrMapping/>
  </p:clrMapOvr>
  <p:transition spd="med">
    <p:push dir="l"/>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 sense disambiguation selects the correct word meaning based on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39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62902"/>
            <a:ext cx="82296" cy="904387"/>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6326"/>
            <a:ext cx="6963576" cy="922675"/>
          </a:xfrm>
          <a:prstGeom prst="rect">
            <a:avLst/>
          </a:prstGeom>
          <a:noFill/>
        </p:spPr>
        <p:txBody>
          <a:bodyPr wrap="square" anchor="t" lIns="0" tIns="0" rIns="0" bIns="0">
            <a:spAutoFit/>
          </a:bodyPr>
          <a:lstStyle/>
          <a:p>
            <a:pPr algn="l"/>
            <a:r>
              <a:rPr sz="1920" b="1">
                <a:solidFill>
                  <a:srgbClr val="485174"/>
                </a:solidFill>
                <a:latin typeface="Bebas Neue"/>
              </a:rPr>
              <a:t>The task of selecting the correct sense for a word is called word sense disambiguation, or WSD. word sense.</a:t>
            </a:r>
          </a:p>
        </p:txBody>
      </p:sp>
      <p:sp>
        <p:nvSpPr>
          <p:cNvPr id="10" name="TextBox 9"/>
          <p:cNvSpPr txBox="1"/>
          <p:nvPr/>
        </p:nvSpPr>
        <p:spPr>
          <a:xfrm>
            <a:off x="720547" y="2541026"/>
            <a:ext cx="6963576" cy="744093"/>
          </a:xfrm>
          <a:prstGeom prst="rect">
            <a:avLst/>
          </a:prstGeom>
          <a:noFill/>
        </p:spPr>
        <p:txBody>
          <a:bodyPr wrap="square" lIns="0" rIns="0" tIns="0" bIns="0">
            <a:spAutoFit/>
          </a:bodyPr>
          <a:lstStyle/>
          <a:p>
            <a:r>
              <a:rPr sz="1550">
                <a:solidFill>
                  <a:srgbClr val="111111"/>
                </a:solidFill>
                <a:latin typeface="Inter"/>
              </a:rPr>
              <a:t>Word Sense Disambiguation is an important method of NLP by which the meaning of a word is determined, which is used in a particular context.</a:t>
            </a:r>
          </a:p>
        </p:txBody>
      </p:sp>
      <p:sp>
        <p:nvSpPr>
          <p:cNvPr id="11" name="TextBox 10"/>
          <p:cNvSpPr txBox="1"/>
          <p:nvPr/>
        </p:nvSpPr>
        <p:spPr>
          <a:xfrm>
            <a:off x="720547" y="3413135"/>
            <a:ext cx="6963576" cy="744093"/>
          </a:xfrm>
          <a:prstGeom prst="rect">
            <a:avLst/>
          </a:prstGeom>
          <a:noFill/>
        </p:spPr>
        <p:txBody>
          <a:bodyPr wrap="square" lIns="0" rIns="0" tIns="0" bIns="0">
            <a:spAutoFit/>
          </a:bodyPr>
          <a:lstStyle/>
          <a:p>
            <a:r>
              <a:rPr sz="1550">
                <a:solidFill>
                  <a:srgbClr val="111111"/>
                </a:solidFill>
                <a:latin typeface="Inter"/>
              </a:rPr>
              <a:t>NLP systems often face the challenge of properly identifying words, and determining the specific usage of a word in a particular sentence.</a:t>
            </a:r>
          </a:p>
        </p:txBody>
      </p:sp>
      <p:sp>
        <p:nvSpPr>
          <p:cNvPr id="12" name="TextBox 11"/>
          <p:cNvSpPr txBox="1"/>
          <p:nvPr/>
        </p:nvSpPr>
        <p:spPr>
          <a:xfrm>
            <a:off x="720547" y="4285244"/>
            <a:ext cx="6963576" cy="744093"/>
          </a:xfrm>
          <a:prstGeom prst="rect">
            <a:avLst/>
          </a:prstGeom>
          <a:noFill/>
        </p:spPr>
        <p:txBody>
          <a:bodyPr wrap="square" lIns="0" rIns="0" tIns="0" bIns="0">
            <a:spAutoFit/>
          </a:bodyPr>
          <a:lstStyle/>
          <a:p>
            <a:r>
              <a:rPr sz="1550">
                <a:solidFill>
                  <a:srgbClr val="111111"/>
                </a:solidFill>
                <a:latin typeface="Inter"/>
              </a:rPr>
              <a:t>Word Sense Disambiguation basically solves the ambiguity that arises in determining the meaning of the same word used in different situations.</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wsd — Word Sense Disambiguation  ·  Word Sense Disambiguation — The computational task of identifying which meaning of a polysemous word is used in context.  ·  Ambiguity — The presence of multiple possible interpretations for the same word.</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40 / 114</a:t>
            </a:r>
          </a:p>
        </p:txBody>
      </p:sp>
      <p:sp>
        <p:nvSpPr>
          <p:cNvPr id="7" name="Rounded Rectangle 6"/>
          <p:cNvSpPr/>
          <p:nvPr/>
        </p:nvSpPr>
        <p:spPr>
          <a:xfrm>
            <a:off x="3244343" y="1298448"/>
            <a:ext cx="5700264"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408935" y="1463040"/>
            <a:ext cx="5371080" cy="4773168"/>
          </a:xfrm>
          <a:prstGeom prst="rect">
            <a:avLst/>
          </a:prstGeom>
        </p:spPr>
      </p:pic>
    </p:spTree>
  </p:cSld>
  <p:clrMapOvr>
    <a:masterClrMapping/>
  </p:clrMapOvr>
  <p:transition spd="med">
    <p:zoom dir="in"/>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41 / 114</a:t>
            </a:r>
          </a:p>
        </p:txBody>
      </p:sp>
      <p:sp>
        <p:nvSpPr>
          <p:cNvPr id="7" name="Rounded Rectangle 6"/>
          <p:cNvSpPr/>
          <p:nvPr/>
        </p:nvSpPr>
        <p:spPr>
          <a:xfrm>
            <a:off x="1425749" y="1298448"/>
            <a:ext cx="9337453"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590341" y="1463040"/>
            <a:ext cx="9008269" cy="4773168"/>
          </a:xfrm>
          <a:prstGeom prst="rect">
            <a:avLst/>
          </a:prstGeom>
        </p:spPr>
      </p:pic>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42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“The computational task of identifying which meaning of a polysemous word is used in context.”?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Inverse document frequency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Word Sense Disambiguation</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A decision list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Classes</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450" b="0">
                <a:solidFill>
                  <a:srgbClr val="FFFFFF"/>
                </a:solidFill>
                <a:latin typeface="Inter"/>
              </a:rPr>
              <a:t>Word Sense Disambiguation: The computational task of identifying which meaning of a polysemous word is used in context.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Context determines the correct meaning of ambiguous words like bark</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43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35024"/>
            <a:ext cx="82296" cy="4675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6963576" cy="485820"/>
          </a:xfrm>
          <a:prstGeom prst="rect">
            <a:avLst/>
          </a:prstGeom>
          <a:noFill/>
        </p:spPr>
        <p:txBody>
          <a:bodyPr wrap="square" anchor="t" lIns="0" tIns="0" rIns="0" bIns="0">
            <a:spAutoFit/>
          </a:bodyPr>
          <a:lstStyle/>
          <a:p>
            <a:pPr algn="l"/>
            <a:r>
              <a:rPr sz="1520" b="1">
                <a:solidFill>
                  <a:srgbClr val="485174"/>
                </a:solidFill>
                <a:latin typeface="Bebas Neue"/>
              </a:rPr>
              <a:t>One meaning of the word refers to the outer covering of the tree.</a:t>
            </a:r>
          </a:p>
        </p:txBody>
      </p:sp>
      <p:sp>
        <p:nvSpPr>
          <p:cNvPr id="10" name="TextBox 9"/>
          <p:cNvSpPr txBox="1"/>
          <p:nvPr/>
        </p:nvSpPr>
        <p:spPr>
          <a:xfrm>
            <a:off x="720547" y="1976292"/>
            <a:ext cx="6963576" cy="176022"/>
          </a:xfrm>
          <a:prstGeom prst="rect">
            <a:avLst/>
          </a:prstGeom>
          <a:noFill/>
        </p:spPr>
        <p:txBody>
          <a:bodyPr wrap="square" lIns="0" rIns="0" tIns="0" bIns="0">
            <a:spAutoFit/>
          </a:bodyPr>
          <a:lstStyle/>
          <a:p>
            <a:r>
              <a:rPr sz="1100">
                <a:solidFill>
                  <a:srgbClr val="111111"/>
                </a:solidFill>
                <a:latin typeface="Inter"/>
              </a:rPr>
              <a:t>The other meaning refers to the sound made by a dog. here the same word has different meanings.</a:t>
            </a:r>
          </a:p>
        </p:txBody>
      </p:sp>
      <p:sp>
        <p:nvSpPr>
          <p:cNvPr id="11" name="TextBox 10"/>
          <p:cNvSpPr txBox="1"/>
          <p:nvPr/>
        </p:nvSpPr>
        <p:spPr>
          <a:xfrm>
            <a:off x="720547" y="2280330"/>
            <a:ext cx="6963576" cy="176022"/>
          </a:xfrm>
          <a:prstGeom prst="rect">
            <a:avLst/>
          </a:prstGeom>
          <a:noFill/>
        </p:spPr>
        <p:txBody>
          <a:bodyPr wrap="square" lIns="0" rIns="0" tIns="0" bIns="0">
            <a:spAutoFit/>
          </a:bodyPr>
          <a:lstStyle/>
          <a:p>
            <a:r>
              <a:rPr sz="1100">
                <a:solidFill>
                  <a:srgbClr val="111111"/>
                </a:solidFill>
                <a:latin typeface="Inter"/>
              </a:rPr>
              <a:t>Let us take a piece of text.</a:t>
            </a:r>
          </a:p>
        </p:txBody>
      </p:sp>
      <p:sp>
        <p:nvSpPr>
          <p:cNvPr id="12" name="TextBox 11"/>
          <p:cNvSpPr txBox="1"/>
          <p:nvPr/>
        </p:nvSpPr>
        <p:spPr>
          <a:xfrm>
            <a:off x="720547" y="2584368"/>
            <a:ext cx="6963576" cy="176022"/>
          </a:xfrm>
          <a:prstGeom prst="rect">
            <a:avLst/>
          </a:prstGeom>
          <a:noFill/>
        </p:spPr>
        <p:txBody>
          <a:bodyPr wrap="square" lIns="0" rIns="0" tIns="0" bIns="0">
            <a:spAutoFit/>
          </a:bodyPr>
          <a:lstStyle/>
          <a:p>
            <a:r>
              <a:rPr sz="1100">
                <a:solidFill>
                  <a:srgbClr val="111111"/>
                </a:solidFill>
                <a:latin typeface="Inter"/>
              </a:rPr>
              <a:t>“Cinnamon comes from the bark of the Cinnamon tree.”.</a:t>
            </a:r>
          </a:p>
        </p:txBody>
      </p:sp>
      <p:sp>
        <p:nvSpPr>
          <p:cNvPr id="13" name="TextBox 12"/>
          <p:cNvSpPr txBox="1"/>
          <p:nvPr/>
        </p:nvSpPr>
        <p:spPr>
          <a:xfrm>
            <a:off x="720547" y="2888406"/>
            <a:ext cx="6963576" cy="176022"/>
          </a:xfrm>
          <a:prstGeom prst="rect">
            <a:avLst/>
          </a:prstGeom>
          <a:noFill/>
        </p:spPr>
        <p:txBody>
          <a:bodyPr wrap="square" lIns="0" rIns="0" tIns="0" bIns="0">
            <a:spAutoFit/>
          </a:bodyPr>
          <a:lstStyle/>
          <a:p>
            <a:r>
              <a:rPr sz="1100">
                <a:solidFill>
                  <a:srgbClr val="111111"/>
                </a:solidFill>
                <a:latin typeface="Inter"/>
              </a:rPr>
              <a:t>“The dog barked at the stranger.”.</a:t>
            </a:r>
          </a:p>
        </p:txBody>
      </p:sp>
      <p:sp>
        <p:nvSpPr>
          <p:cNvPr id="14" name="TextBox 13"/>
          <p:cNvSpPr txBox="1"/>
          <p:nvPr/>
        </p:nvSpPr>
        <p:spPr>
          <a:xfrm>
            <a:off x="720547" y="3192444"/>
            <a:ext cx="6963576" cy="176022"/>
          </a:xfrm>
          <a:prstGeom prst="rect">
            <a:avLst/>
          </a:prstGeom>
          <a:noFill/>
        </p:spPr>
        <p:txBody>
          <a:bodyPr wrap="square" lIns="0" rIns="0" tIns="0" bIns="0">
            <a:spAutoFit/>
          </a:bodyPr>
          <a:lstStyle/>
          <a:p>
            <a:r>
              <a:rPr sz="1100">
                <a:solidFill>
                  <a:srgbClr val="111111"/>
                </a:solidFill>
                <a:latin typeface="Inter"/>
              </a:rPr>
              <a:t>Let us now try a sentence with both words.</a:t>
            </a:r>
          </a:p>
        </p:txBody>
      </p:sp>
      <p:sp>
        <p:nvSpPr>
          <p:cNvPr id="15" name="TextBox 14"/>
          <p:cNvSpPr txBox="1"/>
          <p:nvPr/>
        </p:nvSpPr>
        <p:spPr>
          <a:xfrm>
            <a:off x="720547" y="3496482"/>
            <a:ext cx="6963576" cy="352044"/>
          </a:xfrm>
          <a:prstGeom prst="rect">
            <a:avLst/>
          </a:prstGeom>
          <a:noFill/>
        </p:spPr>
        <p:txBody>
          <a:bodyPr wrap="square" lIns="0" rIns="0" tIns="0" bIns="0">
            <a:spAutoFit/>
          </a:bodyPr>
          <a:lstStyle/>
          <a:p>
            <a:r>
              <a:rPr sz="1100">
                <a:solidFill>
                  <a:srgbClr val="111111"/>
                </a:solidFill>
                <a:latin typeface="Inter"/>
              </a:rPr>
              <a:t>“The dog was scratching the bark of the tree, when the man approached the dog to make it stop, the dog barked.”.</a:t>
            </a:r>
          </a:p>
        </p:txBody>
      </p:sp>
      <p:sp>
        <p:nvSpPr>
          <p:cNvPr id="16" name="TextBox 15"/>
          <p:cNvSpPr txBox="1"/>
          <p:nvPr/>
        </p:nvSpPr>
        <p:spPr>
          <a:xfrm>
            <a:off x="720547" y="3976542"/>
            <a:ext cx="6963576" cy="352044"/>
          </a:xfrm>
          <a:prstGeom prst="rect">
            <a:avLst/>
          </a:prstGeom>
          <a:noFill/>
        </p:spPr>
        <p:txBody>
          <a:bodyPr wrap="square" lIns="0" rIns="0" tIns="0" bIns="0">
            <a:spAutoFit/>
          </a:bodyPr>
          <a:lstStyle/>
          <a:p>
            <a:r>
              <a:rPr sz="1100">
                <a:solidFill>
                  <a:srgbClr val="111111"/>
                </a:solidFill>
                <a:latin typeface="Inter"/>
              </a:rPr>
              <a:t>if this sentence is passed to an algorithm for sentiment analysis, “bark” and “barked” might mean the same meaning.</a:t>
            </a:r>
          </a:p>
        </p:txBody>
      </p:sp>
      <p:sp>
        <p:nvSpPr>
          <p:cNvPr id="17" name="TextBox 16"/>
          <p:cNvSpPr txBox="1"/>
          <p:nvPr/>
        </p:nvSpPr>
        <p:spPr>
          <a:xfrm>
            <a:off x="720547" y="4456602"/>
            <a:ext cx="6963576" cy="352044"/>
          </a:xfrm>
          <a:prstGeom prst="rect">
            <a:avLst/>
          </a:prstGeom>
          <a:noFill/>
        </p:spPr>
        <p:txBody>
          <a:bodyPr wrap="square" lIns="0" rIns="0" tIns="0" bIns="0">
            <a:spAutoFit/>
          </a:bodyPr>
          <a:lstStyle/>
          <a:p>
            <a:r>
              <a:rPr sz="680" b="1">
                <a:solidFill>
                  <a:srgbClr val="1D4ED8"/>
                </a:solidFill>
                <a:latin typeface="Bebas Neue"/>
              </a:rPr>
              <a:t>SO   </a:t>
            </a:r>
            <a:r>
              <a:rPr sz="1100" b="1">
                <a:solidFill>
                  <a:srgbClr val="1D4ED8"/>
                </a:solidFill>
                <a:latin typeface="Bebas Neue"/>
              </a:rPr>
              <a:t>Hence</a:t>
            </a:r>
            <a:r>
              <a:rPr sz="1100">
                <a:solidFill>
                  <a:srgbClr val="111111"/>
                </a:solidFill>
                <a:latin typeface="Inter"/>
              </a:rPr>
              <a:t>, same words can mean differently based on the usage of the word in a particular sentence.</a:t>
            </a:r>
          </a:p>
        </p:txBody>
      </p:sp>
      <p:sp>
        <p:nvSpPr>
          <p:cNvPr id="18" name="Rounded Rectangle 17"/>
          <p:cNvSpPr/>
          <p:nvPr/>
        </p:nvSpPr>
        <p:spPr>
          <a:xfrm>
            <a:off x="457200" y="3919198"/>
            <a:ext cx="7751064"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Words can have multiple distinct meanings depending on how they appear in a sentence. Automated systems must analyze context to prevent semantic errors during text processing tasks. For example, the word bark can refer to tree covering or a dog sound depending on context.</a:t>
            </a:r>
          </a:p>
        </p:txBody>
      </p:sp>
      <p:sp>
        <p:nvSpPr>
          <p:cNvPr id="21" name="Rounded Rectangle 2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Sentiment analysis — An automated process used to determine the emotional tone or meaning behind text.  ·  Context — The surrounding text that clarifies the intended meaning of a specific word.</a:t>
            </a:r>
          </a:p>
        </p:txBody>
      </p:sp>
      <p:sp>
        <p:nvSpPr>
          <p:cNvPr id="22" name="Rectangle 2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 sense disambiguation relies on supervised thesaurus and semi-supervised methods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44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3841394" cy="1194816"/>
          </a:xfrm>
          <a:prstGeom prst="roundRect">
            <a:avLst>
              <a:gd name="adj" fmla="val 117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89250" cy="1048512"/>
          </a:xfrm>
          <a:prstGeom prst="rect">
            <a:avLst/>
          </a:prstGeom>
          <a:noFill/>
        </p:spPr>
        <p:txBody>
          <a:bodyPr wrap="square" anchor="ctr" lIns="0" tIns="0" rIns="0" bIns="0">
            <a:spAutoFit/>
          </a:bodyPr>
          <a:lstStyle/>
          <a:p>
            <a:pPr algn="l"/>
            <a:r>
              <a:rPr sz="1750" b="0">
                <a:solidFill>
                  <a:srgbClr val="111111"/>
                </a:solidFill>
                <a:latin typeface="Inter"/>
              </a:rPr>
              <a:t>Supervised Machine Learning</a:t>
            </a:r>
          </a:p>
        </p:txBody>
      </p:sp>
      <p:sp>
        <p:nvSpPr>
          <p:cNvPr id="12" name="Rounded Rectangle 11"/>
          <p:cNvSpPr/>
          <p:nvPr/>
        </p:nvSpPr>
        <p:spPr>
          <a:xfrm>
            <a:off x="4499762" y="1298447"/>
            <a:ext cx="3841394" cy="1194816"/>
          </a:xfrm>
          <a:prstGeom prst="roundRect">
            <a:avLst>
              <a:gd name="adj" fmla="val 117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1239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725777"/>
            <a:ext cx="340156" cy="340156"/>
          </a:xfrm>
          <a:prstGeom prst="rect">
            <a:avLst/>
          </a:prstGeom>
        </p:spPr>
      </p:pic>
      <p:sp>
        <p:nvSpPr>
          <p:cNvPr id="15" name="TextBox 14"/>
          <p:cNvSpPr txBox="1"/>
          <p:nvPr/>
        </p:nvSpPr>
        <p:spPr>
          <a:xfrm>
            <a:off x="5450738" y="1371599"/>
            <a:ext cx="2689250" cy="1048512"/>
          </a:xfrm>
          <a:prstGeom prst="rect">
            <a:avLst/>
          </a:prstGeom>
          <a:noFill/>
        </p:spPr>
        <p:txBody>
          <a:bodyPr wrap="square" anchor="ctr" lIns="0" tIns="0" rIns="0" bIns="0">
            <a:spAutoFit/>
          </a:bodyPr>
          <a:lstStyle/>
          <a:p>
            <a:pPr algn="l"/>
            <a:r>
              <a:rPr sz="1750" b="0">
                <a:solidFill>
                  <a:srgbClr val="111111"/>
                </a:solidFill>
                <a:latin typeface="Inter"/>
              </a:rPr>
              <a:t>Thesaurus/Dictionary Methods</a:t>
            </a:r>
          </a:p>
        </p:txBody>
      </p:sp>
      <p:sp>
        <p:nvSpPr>
          <p:cNvPr id="16" name="Rounded Rectangle 15"/>
          <p:cNvSpPr/>
          <p:nvPr/>
        </p:nvSpPr>
        <p:spPr>
          <a:xfrm>
            <a:off x="457200" y="2694431"/>
            <a:ext cx="3841394" cy="1194816"/>
          </a:xfrm>
          <a:prstGeom prst="roundRect">
            <a:avLst>
              <a:gd name="adj" fmla="val 117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89250" cy="1048512"/>
          </a:xfrm>
          <a:prstGeom prst="rect">
            <a:avLst/>
          </a:prstGeom>
          <a:noFill/>
        </p:spPr>
        <p:txBody>
          <a:bodyPr wrap="square" anchor="ctr" lIns="0" tIns="0" rIns="0" bIns="0">
            <a:spAutoFit/>
          </a:bodyPr>
          <a:lstStyle/>
          <a:p>
            <a:pPr algn="l"/>
            <a:r>
              <a:rPr sz="1600" b="0">
                <a:solidFill>
                  <a:srgbClr val="111111"/>
                </a:solidFill>
                <a:latin typeface="Inter"/>
              </a:rPr>
              <a:t>Researchers use multiple computational approaches to solve the disambiguation challenge</a:t>
            </a:r>
          </a:p>
        </p:txBody>
      </p:sp>
      <p:sp>
        <p:nvSpPr>
          <p:cNvPr id="20" name="Rounded Rectangle 19"/>
          <p:cNvSpPr/>
          <p:nvPr/>
        </p:nvSpPr>
        <p:spPr>
          <a:xfrm>
            <a:off x="4499762" y="2694431"/>
            <a:ext cx="3841394" cy="1194816"/>
          </a:xfrm>
          <a:prstGeom prst="roundRect">
            <a:avLst>
              <a:gd name="adj" fmla="val 117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0083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121761"/>
            <a:ext cx="340156" cy="340156"/>
          </a:xfrm>
          <a:prstGeom prst="rect">
            <a:avLst/>
          </a:prstGeom>
        </p:spPr>
      </p:pic>
      <p:sp>
        <p:nvSpPr>
          <p:cNvPr id="23" name="TextBox 22"/>
          <p:cNvSpPr txBox="1"/>
          <p:nvPr/>
        </p:nvSpPr>
        <p:spPr>
          <a:xfrm>
            <a:off x="5450738" y="2767583"/>
            <a:ext cx="2689250" cy="1048512"/>
          </a:xfrm>
          <a:prstGeom prst="rect">
            <a:avLst/>
          </a:prstGeom>
          <a:noFill/>
        </p:spPr>
        <p:txBody>
          <a:bodyPr wrap="square" anchor="ctr" lIns="0" tIns="0" rIns="0" bIns="0">
            <a:spAutoFit/>
          </a:bodyPr>
          <a:lstStyle/>
          <a:p>
            <a:pPr algn="l"/>
            <a:r>
              <a:rPr sz="1380" b="1">
                <a:solidFill>
                  <a:srgbClr val="485174"/>
                </a:solidFill>
                <a:latin typeface="Bebas Neue"/>
              </a:rPr>
              <a:t>Methods range</a:t>
            </a:r>
          </a:p>
          <a:p>
            <a:pPr algn="l">
              <a:spcBef>
                <a:spcPts val="500"/>
              </a:spcBef>
            </a:pPr>
            <a:r>
              <a:rPr sz="1150" b="0">
                <a:solidFill>
                  <a:srgbClr val="111111"/>
                </a:solidFill>
                <a:latin typeface="Inter"/>
              </a:rPr>
              <a:t>These methods range from dictionary-based resources to machine learning models trained on annotated corpora</a:t>
            </a:r>
          </a:p>
        </p:txBody>
      </p:sp>
      <p:sp>
        <p:nvSpPr>
          <p:cNvPr id="24" name="Rounded Rectangle 23"/>
          <p:cNvSpPr/>
          <p:nvPr/>
        </p:nvSpPr>
        <p:spPr>
          <a:xfrm>
            <a:off x="457200" y="4090415"/>
            <a:ext cx="7883956" cy="1194816"/>
          </a:xfrm>
          <a:prstGeom prst="roundRect">
            <a:avLst>
              <a:gd name="adj" fmla="val 117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6731812" cy="1048512"/>
          </a:xfrm>
          <a:prstGeom prst="rect">
            <a:avLst/>
          </a:prstGeom>
          <a:noFill/>
        </p:spPr>
        <p:txBody>
          <a:bodyPr wrap="square" anchor="ctr" lIns="0" tIns="0" rIns="0" bIns="0">
            <a:spAutoFit/>
          </a:bodyPr>
          <a:lstStyle/>
          <a:p>
            <a:pPr algn="l"/>
            <a:r>
              <a:rPr sz="1750" b="0">
                <a:solidFill>
                  <a:srgbClr val="111111"/>
                </a:solidFill>
                <a:latin typeface="Inter"/>
              </a:rPr>
              <a:t>Example: Training an algorithm using a dictionary of pre-labeled word senses</a:t>
            </a:r>
          </a:p>
        </p:txBody>
      </p:sp>
      <p:sp>
        <p:nvSpPr>
          <p:cNvPr id="28" name="Rounded Rectangle 27"/>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Supervised Machine Learning — Training an algorithm using labeled examples to classify new data.  ·  Thesaurus/Dictionary Methods — Approaches using lexical resources and semantic definitions to determine word meanings.</a:t>
            </a:r>
          </a:p>
        </p:txBody>
      </p:sp>
      <p:sp>
        <p:nvSpPr>
          <p:cNvPr id="29" name="Rectangle 28"/>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machine learning approaches train classifiers using tagged word corpora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45 / 114</a:t>
            </a:r>
          </a:p>
        </p:txBody>
      </p:sp>
      <p:sp>
        <p:nvSpPr>
          <p:cNvPr id="8" name="Rounded Rectangle 7"/>
          <p:cNvSpPr/>
          <p:nvPr/>
        </p:nvSpPr>
        <p:spPr>
          <a:xfrm>
            <a:off x="457200"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339664"/>
          </a:xfrm>
          <a:prstGeom prst="rect">
            <a:avLst/>
          </a:prstGeom>
          <a:noFill/>
        </p:spPr>
        <p:txBody>
          <a:bodyPr wrap="square" anchor="t" lIns="0" tIns="0" rIns="0" bIns="0">
            <a:spAutoFit/>
          </a:bodyPr>
          <a:lstStyle/>
          <a:p>
            <a:pPr algn="l"/>
            <a:r>
              <a:rPr sz="2380" b="1">
                <a:solidFill>
                  <a:srgbClr val="485174"/>
                </a:solidFill>
                <a:latin typeface="Bebas Neue"/>
              </a:rPr>
              <a:t>Supervised machine learning approach</a:t>
            </a:r>
          </a:p>
          <a:p>
            <a:pPr algn="l" marL="256032" indent="-256032" lvl="0">
              <a:spcBef>
                <a:spcPts val="700"/>
              </a:spcBef>
              <a:buClr>
                <a:srgbClr val="CC7B70"/>
              </a:buClr>
              <a:buFont typeface="Arial"/>
              <a:buChar char="•"/>
            </a:pPr>
            <a:r>
              <a:rPr sz="1900" b="0">
                <a:solidFill>
                  <a:srgbClr val="111111"/>
                </a:solidFill>
                <a:latin typeface="Inter"/>
              </a:rPr>
              <a:t>a training corpus of words tagged in context with their sense</a:t>
            </a:r>
          </a:p>
          <a:p>
            <a:pPr algn="l" marL="256032" indent="-256032" lvl="0">
              <a:spcBef>
                <a:spcPts val="700"/>
              </a:spcBef>
              <a:buClr>
                <a:srgbClr val="CC7B70"/>
              </a:buClr>
              <a:buFont typeface="Arial"/>
              <a:buChar char="•"/>
            </a:pPr>
            <a:r>
              <a:rPr sz="1900" b="0">
                <a:solidFill>
                  <a:srgbClr val="111111"/>
                </a:solidFill>
                <a:latin typeface="Inter"/>
              </a:rPr>
              <a:t>used to train a classifier that can tag words in new text</a:t>
            </a:r>
          </a:p>
        </p:txBody>
      </p:sp>
      <p:sp>
        <p:nvSpPr>
          <p:cNvPr id="11" name="Rounded Rectangle 10"/>
          <p:cNvSpPr/>
          <p:nvPr/>
        </p:nvSpPr>
        <p:spPr>
          <a:xfrm>
            <a:off x="6195059"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339664"/>
          </a:xfrm>
          <a:prstGeom prst="rect">
            <a:avLst/>
          </a:prstGeom>
          <a:noFill/>
        </p:spPr>
        <p:txBody>
          <a:bodyPr wrap="square" anchor="t" lIns="0" tIns="0" rIns="0" bIns="0">
            <a:spAutoFit/>
          </a:bodyPr>
          <a:lstStyle/>
          <a:p>
            <a:pPr algn="l"/>
            <a:r>
              <a:rPr sz="2380" b="1">
                <a:solidFill>
                  <a:srgbClr val="485174"/>
                </a:solidFill>
                <a:latin typeface="Bebas Neue"/>
              </a:rPr>
              <a:t>Summary of what we need</a:t>
            </a:r>
          </a:p>
          <a:p>
            <a:pPr algn="l" marL="256032" indent="-256032" lvl="0">
              <a:spcBef>
                <a:spcPts val="700"/>
              </a:spcBef>
              <a:buClr>
                <a:srgbClr val="CC7B70"/>
              </a:buClr>
              <a:buFont typeface="Arial"/>
              <a:buChar char="•"/>
            </a:pPr>
            <a:r>
              <a:rPr sz="1900" b="0">
                <a:solidFill>
                  <a:srgbClr val="111111"/>
                </a:solidFill>
                <a:latin typeface="Inter"/>
              </a:rPr>
              <a:t>the tag set (“sense inventory”)</a:t>
            </a:r>
          </a:p>
          <a:p>
            <a:pPr algn="l" marL="256032" indent="-256032" lvl="0">
              <a:spcBef>
                <a:spcPts val="700"/>
              </a:spcBef>
              <a:buClr>
                <a:srgbClr val="CC7B70"/>
              </a:buClr>
              <a:buFont typeface="Arial"/>
              <a:buChar char="•"/>
            </a:pPr>
            <a:r>
              <a:rPr sz="1900" b="0">
                <a:solidFill>
                  <a:srgbClr val="111111"/>
                </a:solidFill>
                <a:latin typeface="Inter"/>
              </a:rPr>
              <a:t>the training corpus</a:t>
            </a:r>
          </a:p>
          <a:p>
            <a:pPr algn="l" marL="256032" indent="-256032" lvl="0">
              <a:spcBef>
                <a:spcPts val="700"/>
              </a:spcBef>
              <a:buClr>
                <a:srgbClr val="CC7B70"/>
              </a:buClr>
              <a:buFont typeface="Arial"/>
              <a:buChar char="•"/>
            </a:pPr>
            <a:r>
              <a:rPr sz="1900" b="0">
                <a:solidFill>
                  <a:srgbClr val="111111"/>
                </a:solidFill>
                <a:latin typeface="Inter"/>
              </a:rPr>
              <a:t>A set of features extracted from the training corpus</a:t>
            </a:r>
          </a:p>
          <a:p>
            <a:pPr algn="l" marL="256032" indent="-256032" lvl="0">
              <a:spcBef>
                <a:spcPts val="700"/>
              </a:spcBef>
              <a:buClr>
                <a:srgbClr val="CC7B70"/>
              </a:buClr>
              <a:buFont typeface="Arial"/>
              <a:buChar char="•"/>
            </a:pPr>
            <a:r>
              <a:rPr sz="1900" b="0">
                <a:solidFill>
                  <a:srgbClr val="111111"/>
                </a:solidFill>
                <a:latin typeface="Inter"/>
              </a:rPr>
              <a:t>A classifier</a:t>
            </a:r>
          </a:p>
        </p:txBody>
      </p:sp>
      <p:sp>
        <p:nvSpPr>
          <p:cNvPr id="14" name="Rounded Rectangle 13"/>
          <p:cNvSpPr/>
          <p:nvPr/>
        </p:nvSpPr>
        <p:spPr>
          <a:xfrm>
            <a:off x="457200" y="4161149"/>
            <a:ext cx="11274552"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Supervised WSD requires a defined tag set, a training corpus with sense-tagged words, extracted features, and a trained classifier. This setup allows systems to predict the correct sense for new text. For example, training a text classifier using a dataset where every noun is manually labeled with its dictionary sense.</a:t>
            </a:r>
          </a:p>
        </p:txBody>
      </p:sp>
      <p:sp>
        <p:nvSpPr>
          <p:cNvPr id="17" name="Rounded Rectangle 1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Training corpus — A collection of annotated text used to teach a machine learning model.  ·  Classifier — An algorithm that assigns a categorical label to input data based on features.</a:t>
            </a:r>
          </a:p>
        </p:txBody>
      </p:sp>
      <p:sp>
        <p:nvSpPr>
          <p:cNvPr id="18" name="Rectangle 1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WSD tags represent specific dictionary senses assigned to words in 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46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81465"/>
            <a:ext cx="82296" cy="379201"/>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44889"/>
            <a:ext cx="6963576" cy="397489"/>
          </a:xfrm>
          <a:prstGeom prst="rect">
            <a:avLst/>
          </a:prstGeom>
          <a:noFill/>
        </p:spPr>
        <p:txBody>
          <a:bodyPr wrap="square" anchor="t" lIns="0" tIns="0" rIns="0" bIns="0">
            <a:spAutoFit/>
          </a:bodyPr>
          <a:lstStyle/>
          <a:p>
            <a:pPr algn="l"/>
            <a:r>
              <a:rPr sz="2480" b="1">
                <a:solidFill>
                  <a:srgbClr val="485174"/>
                </a:solidFill>
                <a:latin typeface="Bebas Neue"/>
              </a:rPr>
              <a:t>What’s a tag? A dictionary sense?</a:t>
            </a:r>
          </a:p>
        </p:txBody>
      </p:sp>
      <p:sp>
        <p:nvSpPr>
          <p:cNvPr id="10" name="TextBox 9"/>
          <p:cNvSpPr txBox="1"/>
          <p:nvPr/>
        </p:nvSpPr>
        <p:spPr>
          <a:xfrm>
            <a:off x="994867" y="2034402"/>
            <a:ext cx="6689256" cy="864108"/>
          </a:xfrm>
          <a:prstGeom prst="rect">
            <a:avLst/>
          </a:prstGeom>
          <a:noFill/>
        </p:spPr>
        <p:txBody>
          <a:bodyPr wrap="square" lIns="0" rIns="0" tIns="0" bIns="0">
            <a:spAutoFit/>
          </a:bodyPr>
          <a:lstStyle/>
          <a:p>
            <a:r>
              <a:rPr sz="1120" b="1">
                <a:solidFill>
                  <a:srgbClr val="0F766E"/>
                </a:solidFill>
                <a:latin typeface="Bebas Neue"/>
              </a:rPr>
              <a:t>E.G.   </a:t>
            </a:r>
            <a:r>
              <a:rPr sz="1800" b="1">
                <a:solidFill>
                  <a:srgbClr val="0F766E"/>
                </a:solidFill>
                <a:latin typeface="Bebas Neue"/>
              </a:rPr>
              <a:t>For example</a:t>
            </a:r>
            <a:r>
              <a:rPr sz="1800">
                <a:solidFill>
                  <a:srgbClr val="111111"/>
                </a:solidFill>
                <a:latin typeface="Inter"/>
              </a:rPr>
              <a:t>, for WordNet an instance of “bass” in a text has 8 possible tags or labels (bass1 through bass8).</a:t>
            </a:r>
          </a:p>
        </p:txBody>
      </p:sp>
      <p:sp>
        <p:nvSpPr>
          <p:cNvPr id="11" name="TextBox 10"/>
          <p:cNvSpPr txBox="1"/>
          <p:nvPr/>
        </p:nvSpPr>
        <p:spPr>
          <a:xfrm>
            <a:off x="720547" y="3026526"/>
            <a:ext cx="6963576" cy="576072"/>
          </a:xfrm>
          <a:prstGeom prst="rect">
            <a:avLst/>
          </a:prstGeom>
          <a:noFill/>
        </p:spPr>
        <p:txBody>
          <a:bodyPr wrap="square" lIns="0" rIns="0" tIns="0" bIns="0">
            <a:spAutoFit/>
          </a:bodyPr>
          <a:lstStyle/>
          <a:p>
            <a:r>
              <a:rPr sz="1800">
                <a:solidFill>
                  <a:srgbClr val="111111"/>
                </a:solidFill>
                <a:latin typeface="Inter"/>
              </a:rPr>
              <a:t>Tags serve as discrete labels that indicate the exact dictionary definition intended for a word occurrence.</a:t>
            </a:r>
          </a:p>
        </p:txBody>
      </p:sp>
      <p:sp>
        <p:nvSpPr>
          <p:cNvPr id="12" name="TextBox 11"/>
          <p:cNvSpPr txBox="1"/>
          <p:nvPr/>
        </p:nvSpPr>
        <p:spPr>
          <a:xfrm>
            <a:off x="994867" y="3730614"/>
            <a:ext cx="6689256" cy="576072"/>
          </a:xfrm>
          <a:prstGeom prst="rect">
            <a:avLst/>
          </a:prstGeom>
          <a:noFill/>
        </p:spPr>
        <p:txBody>
          <a:bodyPr wrap="square" lIns="0" rIns="0" tIns="0" bIns="0">
            <a:spAutoFit/>
          </a:bodyPr>
          <a:lstStyle/>
          <a:p>
            <a:r>
              <a:rPr sz="1120" b="1">
                <a:solidFill>
                  <a:srgbClr val="0F766E"/>
                </a:solidFill>
                <a:latin typeface="Bebas Neue"/>
              </a:rPr>
              <a:t>E.G.   </a:t>
            </a:r>
            <a:r>
              <a:rPr sz="1800" b="1">
                <a:solidFill>
                  <a:srgbClr val="0F766E"/>
                </a:solidFill>
                <a:latin typeface="Bebas Neue"/>
              </a:rPr>
              <a:t>For example</a:t>
            </a:r>
            <a:r>
              <a:rPr sz="1800">
                <a:solidFill>
                  <a:srgbClr val="111111"/>
                </a:solidFill>
                <a:latin typeface="Inter"/>
              </a:rPr>
              <a:t>, a word with multiple entries will have distinct tags for each possible meaning.</a:t>
            </a:r>
          </a:p>
        </p:txBody>
      </p:sp>
      <p:sp>
        <p:nvSpPr>
          <p:cNvPr id="13" name="TextBox 12"/>
          <p:cNvSpPr txBox="1"/>
          <p:nvPr/>
        </p:nvSpPr>
        <p:spPr>
          <a:xfrm>
            <a:off x="720547" y="4434702"/>
            <a:ext cx="6963576" cy="576072"/>
          </a:xfrm>
          <a:prstGeom prst="rect">
            <a:avLst/>
          </a:prstGeom>
          <a:noFill/>
        </p:spPr>
        <p:txBody>
          <a:bodyPr wrap="square" lIns="0" rIns="0" tIns="0" bIns="0">
            <a:spAutoFit/>
          </a:bodyPr>
          <a:lstStyle/>
          <a:p>
            <a:r>
              <a:rPr sz="1800">
                <a:solidFill>
                  <a:srgbClr val="111111"/>
                </a:solidFill>
                <a:latin typeface="Inter"/>
              </a:rPr>
              <a:t>Example: Labeling an instance of bass with 'bass1' to indicate the lowest musical part.</a:t>
            </a:r>
          </a:p>
        </p:txBody>
      </p:sp>
      <p:sp>
        <p:nvSpPr>
          <p:cNvPr id="14" name="Rounded Rectangle 1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Tag — A label assigned to a word in text to denote its specific sense.  ·  Sense inventory — The complete set of possible meaning definitions available for words in a lexicon.</a:t>
            </a:r>
          </a:p>
        </p:txBody>
      </p:sp>
      <p:sp>
        <p:nvSpPr>
          <p:cNvPr id="15" name="Rectangle 1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WordNet lists eight distinct semantic senses for the single word bass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47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176272"/>
            <a:ext cx="3439058" cy="813816"/>
          </a:xfrm>
          <a:prstGeom prst="rect">
            <a:avLst/>
          </a:prstGeom>
          <a:noFill/>
        </p:spPr>
        <p:txBody>
          <a:bodyPr wrap="square" anchor="b" lIns="0" tIns="0" rIns="0" bIns="0">
            <a:spAutoFit/>
          </a:bodyPr>
          <a:lstStyle/>
          <a:p>
            <a:pPr algn="l"/>
            <a:r>
              <a:rPr sz="2200" b="1">
                <a:solidFill>
                  <a:srgbClr val="485174"/>
                </a:solidFill>
                <a:latin typeface="Bebas Neue"/>
              </a:rPr>
              <a:t>1</a:t>
            </a:r>
          </a:p>
          <a:p>
            <a:pPr algn="l">
              <a:spcBef>
                <a:spcPts val="200"/>
              </a:spcBef>
            </a:pPr>
            <a:r>
              <a:rPr sz="1200" b="1">
                <a:solidFill>
                  <a:srgbClr val="CC7B70"/>
                </a:solidFill>
                <a:latin typeface="Bebas Neue"/>
              </a:rPr>
              <a:t>1. BASS --(THE LOWEST PART</a:t>
            </a:r>
          </a:p>
          <a:p>
            <a:pPr algn="l">
              <a:spcBef>
                <a:spcPts val="400"/>
              </a:spcBef>
            </a:pPr>
            <a:r>
              <a:rPr sz="1200" b="0">
                <a:solidFill>
                  <a:srgbClr val="111111"/>
                </a:solidFill>
                <a:latin typeface="Inter"/>
              </a:rPr>
              <a:t>1. bass --(the lowest part of the musical range) 2. bass, bass part --(the lowest part in polyphonic music) 3. bass, basso --(an adult male singer with the lowest voice) 4. sea bass, bass --(flesh of lean-fleshed saltwater fish of the family</a:t>
            </a:r>
          </a:p>
        </p:txBody>
      </p:sp>
      <p:sp>
        <p:nvSpPr>
          <p:cNvPr id="12" name="Rounded Rectangle 11"/>
          <p:cNvSpPr/>
          <p:nvPr/>
        </p:nvSpPr>
        <p:spPr>
          <a:xfrm>
            <a:off x="4499762" y="1298448"/>
            <a:ext cx="3841394"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13001"/>
            <a:ext cx="340156" cy="340156"/>
          </a:xfrm>
          <a:prstGeom prst="rect">
            <a:avLst/>
          </a:prstGeom>
        </p:spPr>
      </p:pic>
      <p:sp>
        <p:nvSpPr>
          <p:cNvPr id="15" name="TextBox 14"/>
          <p:cNvSpPr txBox="1"/>
          <p:nvPr/>
        </p:nvSpPr>
        <p:spPr>
          <a:xfrm>
            <a:off x="4700930" y="2176272"/>
            <a:ext cx="3439058" cy="813816"/>
          </a:xfrm>
          <a:prstGeom prst="rect">
            <a:avLst/>
          </a:prstGeom>
          <a:noFill/>
        </p:spPr>
        <p:txBody>
          <a:bodyPr wrap="square" anchor="b" lIns="0" tIns="0" rIns="0" bIns="0">
            <a:spAutoFit/>
          </a:bodyPr>
          <a:lstStyle/>
          <a:p>
            <a:pPr algn="l"/>
            <a:r>
              <a:rPr sz="2200" b="1">
                <a:solidFill>
                  <a:srgbClr val="485174"/>
                </a:solidFill>
                <a:latin typeface="Bebas Neue"/>
              </a:rPr>
              <a:t>2</a:t>
            </a:r>
          </a:p>
          <a:p>
            <a:pPr algn="l">
              <a:spcBef>
                <a:spcPts val="200"/>
              </a:spcBef>
            </a:pPr>
            <a:r>
              <a:rPr sz="1200" b="1">
                <a:solidFill>
                  <a:srgbClr val="CC7B70"/>
                </a:solidFill>
                <a:latin typeface="Bebas Neue"/>
              </a:rPr>
              <a:t>1. BASS --(THE LOWEST PART</a:t>
            </a:r>
          </a:p>
        </p:txBody>
      </p:sp>
      <p:sp>
        <p:nvSpPr>
          <p:cNvPr id="16" name="Rounded Rectangle 15"/>
          <p:cNvSpPr/>
          <p:nvPr/>
        </p:nvSpPr>
        <p:spPr>
          <a:xfrm>
            <a:off x="457200" y="3392424"/>
            <a:ext cx="3841394"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593592"/>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706977"/>
            <a:ext cx="340156" cy="340156"/>
          </a:xfrm>
          <a:prstGeom prst="rect">
            <a:avLst/>
          </a:prstGeom>
        </p:spPr>
      </p:pic>
      <p:sp>
        <p:nvSpPr>
          <p:cNvPr id="19" name="TextBox 18"/>
          <p:cNvSpPr txBox="1"/>
          <p:nvPr/>
        </p:nvSpPr>
        <p:spPr>
          <a:xfrm>
            <a:off x="658368" y="4270248"/>
            <a:ext cx="3439058" cy="813816"/>
          </a:xfrm>
          <a:prstGeom prst="rect">
            <a:avLst/>
          </a:prstGeom>
          <a:noFill/>
        </p:spPr>
        <p:txBody>
          <a:bodyPr wrap="square" anchor="b" lIns="0" tIns="0" rIns="0" bIns="0">
            <a:spAutoFit/>
          </a:bodyPr>
          <a:lstStyle/>
          <a:p>
            <a:pPr algn="l"/>
            <a:r>
              <a:rPr sz="2200" b="1">
                <a:solidFill>
                  <a:srgbClr val="485174"/>
                </a:solidFill>
                <a:latin typeface="Bebas Neue"/>
              </a:rPr>
              <a:t>3</a:t>
            </a:r>
          </a:p>
          <a:p>
            <a:pPr algn="l">
              <a:spcBef>
                <a:spcPts val="200"/>
              </a:spcBef>
            </a:pPr>
            <a:r>
              <a:rPr sz="1200" b="1">
                <a:solidFill>
                  <a:srgbClr val="CC7B70"/>
                </a:solidFill>
                <a:latin typeface="Bebas Neue"/>
              </a:rPr>
              <a:t>1. BASS --(THE LOWEST PART</a:t>
            </a:r>
          </a:p>
        </p:txBody>
      </p:sp>
      <p:sp>
        <p:nvSpPr>
          <p:cNvPr id="20" name="Rounded Rectangle 19"/>
          <p:cNvSpPr/>
          <p:nvPr/>
        </p:nvSpPr>
        <p:spPr>
          <a:xfrm>
            <a:off x="4499762" y="3392424"/>
            <a:ext cx="3841394" cy="1892808"/>
          </a:xfrm>
          <a:prstGeom prst="roundRect">
            <a:avLst>
              <a:gd name="adj" fmla="val 743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593592"/>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706977"/>
            <a:ext cx="340156" cy="340156"/>
          </a:xfrm>
          <a:prstGeom prst="rect">
            <a:avLst/>
          </a:prstGeom>
        </p:spPr>
      </p:pic>
      <p:sp>
        <p:nvSpPr>
          <p:cNvPr id="23" name="TextBox 22"/>
          <p:cNvSpPr txBox="1"/>
          <p:nvPr/>
        </p:nvSpPr>
        <p:spPr>
          <a:xfrm>
            <a:off x="4700930" y="4270248"/>
            <a:ext cx="3439058" cy="813816"/>
          </a:xfrm>
          <a:prstGeom prst="rect">
            <a:avLst/>
          </a:prstGeom>
          <a:noFill/>
        </p:spPr>
        <p:txBody>
          <a:bodyPr wrap="square" anchor="b" lIns="0" tIns="0" rIns="0" bIns="0">
            <a:spAutoFit/>
          </a:bodyPr>
          <a:lstStyle/>
          <a:p>
            <a:pPr algn="l"/>
            <a:r>
              <a:rPr sz="2200" b="1">
                <a:solidFill>
                  <a:srgbClr val="485174"/>
                </a:solidFill>
                <a:latin typeface="Bebas Neue"/>
              </a:rPr>
              <a:t>4</a:t>
            </a:r>
          </a:p>
          <a:p>
            <a:pPr algn="l">
              <a:spcBef>
                <a:spcPts val="200"/>
              </a:spcBef>
            </a:pPr>
            <a:r>
              <a:rPr sz="1200" b="1">
                <a:solidFill>
                  <a:srgbClr val="CC7B70"/>
                </a:solidFill>
                <a:latin typeface="Bebas Neue"/>
              </a:rPr>
              <a:t>1. BASS --(THE LOWEST PART</a:t>
            </a:r>
          </a:p>
        </p:txBody>
      </p:sp>
      <p:sp>
        <p:nvSpPr>
          <p:cNvPr id="24" name="Rounded Rectangle 2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Headline: 1 — 1. bass --(the lowest part.</a:t>
            </a:r>
          </a:p>
        </p:txBody>
      </p:sp>
      <p:sp>
        <p:nvSpPr>
          <p:cNvPr id="25" name="Rectangle 2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8</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48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485174"/>
                </a:solidFill>
                <a:latin typeface="Bebas Neue"/>
              </a:rPr>
              <a:t>What was the figure for “1. bass --(the lowest part”?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0</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2</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1</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3</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300" b="0">
                <a:solidFill>
                  <a:srgbClr val="FFFFFF"/>
                </a:solidFill>
                <a:latin typeface="Inter"/>
              </a:rPr>
              <a:t>1. bass --(the lowest part of the musical range) 2. bass, bass part --(the lowest part in polyphonic music) 3. bass, basso --(an adult male singer with the lowest voice) 4. sea bass, bass --(flesh of lean-fleshed saltwater fish of the family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INVENTORY OF SENSETAGS FOR BASS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49 / 114</a:t>
            </a:r>
          </a:p>
        </p:txBody>
      </p:sp>
      <p:sp>
        <p:nvSpPr>
          <p:cNvPr id="8" name="Rounded Rectangle 7">
            <a:hlinkClick r:id="rId5"/>
          </p:cNvPr>
          <p:cNvSpPr/>
          <p:nvPr/>
        </p:nvSpPr>
        <p:spPr>
          <a:xfrm>
            <a:off x="2894076" y="6455664"/>
            <a:ext cx="6400800"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INVENTORY OF SENSETAGS FOR BASS — step-through</a:t>
            </a:r>
          </a:p>
        </p:txBody>
      </p:sp>
      <p:graphicFrame>
        <p:nvGraphicFramePr>
          <p:cNvPr id="9" name="Table 8"/>
          <p:cNvGraphicFramePr>
            <a:graphicFrameLocks noGrp="1"/>
          </p:cNvGraphicFramePr>
          <p:nvPr/>
        </p:nvGraphicFramePr>
        <p:xfrm>
          <a:off x="457200" y="1298448"/>
          <a:ext cx="11274552" cy="3986783"/>
        </p:xfrm>
        <a:graphic>
          <a:graphicData uri="http://schemas.openxmlformats.org/drawingml/2006/table">
            <a:tbl>
              <a:tblPr firstRow="1" bandRow="1">
                <a:tableStyleId>{5C22544A-7EE6-4342-B048-85BDC9FD1C3A}</a:tableStyleId>
              </a:tblPr>
              <a:tblGrid>
                <a:gridCol w="2818638"/>
                <a:gridCol w="2818638"/>
                <a:gridCol w="2818638"/>
                <a:gridCol w="2818638"/>
              </a:tblGrid>
              <a:tr h="685800">
                <a:tc>
                  <a:txBody>
                    <a:bodyPr/>
                    <a:lstStyle/>
                    <a:p>
                      <a:pPr algn="l"/>
                      <a:r>
                        <a:rPr sz="1750" b="1">
                          <a:solidFill>
                            <a:srgbClr val="FFFFFF"/>
                          </a:solidFill>
                          <a:latin typeface="Bebas Neue"/>
                        </a:rPr>
                        <a:t>WordNet Sense</a:t>
                      </a:r>
                    </a:p>
                  </a:txBody>
                  <a:tcPr marL="146304" marR="146304" anchor="ctr">
                    <a:solidFill>
                      <a:srgbClr val="485174"/>
                    </a:solidFill>
                  </a:tcPr>
                </a:tc>
                <a:tc>
                  <a:txBody>
                    <a:bodyPr/>
                    <a:lstStyle/>
                    <a:p>
                      <a:pPr algn="l"/>
                      <a:r>
                        <a:rPr sz="1750" b="1">
                          <a:solidFill>
                            <a:srgbClr val="FFFFFF"/>
                          </a:solidFill>
                          <a:latin typeface="Bebas Neue"/>
                        </a:rPr>
                        <a:t>Spanish Translation</a:t>
                      </a:r>
                    </a:p>
                  </a:txBody>
                  <a:tcPr marL="146304" marR="146304" anchor="ctr">
                    <a:solidFill>
                      <a:srgbClr val="485174"/>
                    </a:solidFill>
                  </a:tcPr>
                </a:tc>
                <a:tc>
                  <a:txBody>
                    <a:bodyPr/>
                    <a:lstStyle/>
                    <a:p>
                      <a:pPr algn="l"/>
                      <a:r>
                        <a:rPr sz="1750" b="1">
                          <a:solidFill>
                            <a:srgbClr val="FFFFFF"/>
                          </a:solidFill>
                          <a:latin typeface="Bebas Neue"/>
                        </a:rPr>
                        <a:t>Roget Category</a:t>
                      </a:r>
                    </a:p>
                  </a:txBody>
                  <a:tcPr marL="146304" marR="146304" anchor="ctr">
                    <a:solidFill>
                      <a:srgbClr val="485174"/>
                    </a:solidFill>
                  </a:tcPr>
                </a:tc>
                <a:tc>
                  <a:txBody>
                    <a:bodyPr/>
                    <a:lstStyle/>
                    <a:p>
                      <a:pPr algn="l"/>
                      <a:r>
                        <a:rPr sz="1750" b="1">
                          <a:solidFill>
                            <a:srgbClr val="FFFFFF"/>
                          </a:solidFill>
                          <a:latin typeface="Bebas Neue"/>
                        </a:rPr>
                        <a:t>Target Word in Context</a:t>
                      </a:r>
                    </a:p>
                  </a:txBody>
                  <a:tcPr marL="146304" marR="146304" anchor="ctr">
                    <a:solidFill>
                      <a:srgbClr val="485174"/>
                    </a:solidFill>
                  </a:tcPr>
                </a:tc>
              </a:tr>
              <a:tr h="846919">
                <a:tc>
                  <a:txBody>
                    <a:bodyPr/>
                    <a:lstStyle/>
                    <a:p>
                      <a:pPr algn="l"/>
                      <a:r>
                        <a:rPr sz="1450" b="1">
                          <a:solidFill>
                            <a:srgbClr val="485174"/>
                          </a:solidFill>
                          <a:latin typeface="Bebas Neue"/>
                        </a:rPr>
                        <a:t>4 bass</a:t>
                      </a:r>
                    </a:p>
                  </a:txBody>
                  <a:tcPr marL="146304" marR="146304" anchor="ctr">
                    <a:solidFill>
                      <a:srgbClr val="F5F6F8"/>
                    </a:solidFill>
                  </a:tcPr>
                </a:tc>
                <a:tc>
                  <a:txBody>
                    <a:bodyPr/>
                    <a:lstStyle/>
                    <a:p>
                      <a:pPr algn="l"/>
                      <a:r>
                        <a:rPr sz="1450" b="0">
                          <a:solidFill>
                            <a:srgbClr val="111111"/>
                          </a:solidFill>
                          <a:latin typeface="Inter"/>
                        </a:rPr>
                        <a:t>lubina</a:t>
                      </a:r>
                    </a:p>
                  </a:txBody>
                  <a:tcPr marL="146304" marR="146304" anchor="ctr">
                    <a:solidFill>
                      <a:srgbClr val="F5F6F8"/>
                    </a:solidFill>
                  </a:tcPr>
                </a:tc>
                <a:tc>
                  <a:txBody>
                    <a:bodyPr/>
                    <a:lstStyle/>
                    <a:p>
                      <a:pPr algn="l"/>
                      <a:r>
                        <a:rPr sz="1450" b="0">
                          <a:solidFill>
                            <a:srgbClr val="111111"/>
                          </a:solidFill>
                          <a:latin typeface="Inter"/>
                        </a:rPr>
                        <a:t>/ FISH INSECT</a:t>
                      </a:r>
                    </a:p>
                  </a:txBody>
                  <a:tcPr marL="146304" marR="146304" anchor="ctr">
                    <a:solidFill>
                      <a:srgbClr val="F5F6F8"/>
                    </a:solidFill>
                  </a:tcPr>
                </a:tc>
                <a:tc>
                  <a:txBody>
                    <a:bodyPr/>
                    <a:lstStyle/>
                    <a:p>
                      <a:pPr algn="l"/>
                      <a:r>
                        <a:rPr sz="1450" b="0">
                          <a:solidFill>
                            <a:srgbClr val="111111"/>
                          </a:solidFill>
                          <a:latin typeface="Inter"/>
                        </a:rPr>
                        <a:t>. . . fish as Pacific salmon and striped bass and. . .</a:t>
                      </a:r>
                    </a:p>
                  </a:txBody>
                  <a:tcPr marL="146304" marR="146304" anchor="ctr">
                    <a:solidFill>
                      <a:srgbClr val="F5F6F8"/>
                    </a:solidFill>
                  </a:tcPr>
                </a:tc>
              </a:tr>
              <a:tr h="846919">
                <a:tc>
                  <a:txBody>
                    <a:bodyPr/>
                    <a:lstStyle/>
                    <a:p>
                      <a:pPr algn="l"/>
                      <a:r>
                        <a:rPr sz="1450" b="1">
                          <a:solidFill>
                            <a:srgbClr val="485174"/>
                          </a:solidFill>
                          <a:latin typeface="Bebas Neue"/>
                        </a:rPr>
                        <a:t>4 bass</a:t>
                      </a:r>
                    </a:p>
                  </a:txBody>
                  <a:tcPr marL="146304" marR="146304" anchor="ctr">
                    <a:solidFill>
                      <a:srgbClr val="F0F1F3"/>
                    </a:solidFill>
                  </a:tcPr>
                </a:tc>
                <a:tc>
                  <a:txBody>
                    <a:bodyPr/>
                    <a:lstStyle/>
                    <a:p>
                      <a:pPr algn="l"/>
                      <a:r>
                        <a:rPr sz="1450" b="0">
                          <a:solidFill>
                            <a:srgbClr val="111111"/>
                          </a:solidFill>
                          <a:latin typeface="Inter"/>
                        </a:rPr>
                        <a:t>lubina</a:t>
                      </a:r>
                    </a:p>
                  </a:txBody>
                  <a:tcPr marL="146304" marR="146304" anchor="ctr">
                    <a:solidFill>
                      <a:srgbClr val="F0F1F3"/>
                    </a:solidFill>
                  </a:tcPr>
                </a:tc>
                <a:tc>
                  <a:txBody>
                    <a:bodyPr/>
                    <a:lstStyle/>
                    <a:p>
                      <a:pPr algn="l"/>
                      <a:r>
                        <a:rPr sz="1450" b="0">
                          <a:solidFill>
                            <a:srgbClr val="111111"/>
                          </a:solidFill>
                          <a:latin typeface="Inter"/>
                        </a:rPr>
                        <a:t>/ FISH INSECT</a:t>
                      </a:r>
                    </a:p>
                  </a:txBody>
                  <a:tcPr marL="146304" marR="146304" anchor="ctr">
                    <a:solidFill>
                      <a:srgbClr val="F0F1F3"/>
                    </a:solidFill>
                  </a:tcPr>
                </a:tc>
                <a:tc>
                  <a:txBody>
                    <a:bodyPr/>
                    <a:lstStyle/>
                    <a:p>
                      <a:pPr algn="l"/>
                      <a:r>
                        <a:rPr sz="1450" b="0">
                          <a:solidFill>
                            <a:srgbClr val="111111"/>
                          </a:solidFill>
                          <a:latin typeface="Inter"/>
                        </a:rPr>
                        <a:t>. . . produce filets of smoked bass or sturgeon. . .</a:t>
                      </a:r>
                    </a:p>
                  </a:txBody>
                  <a:tcPr marL="146304" marR="146304" anchor="ctr">
                    <a:solidFill>
                      <a:srgbClr val="F0F1F3"/>
                    </a:solidFill>
                  </a:tcPr>
                </a:tc>
              </a:tr>
              <a:tr h="846919">
                <a:tc>
                  <a:txBody>
                    <a:bodyPr/>
                    <a:lstStyle/>
                    <a:p>
                      <a:pPr algn="l"/>
                      <a:r>
                        <a:rPr sz="1450" b="1">
                          <a:solidFill>
                            <a:srgbClr val="485174"/>
                          </a:solidFill>
                          <a:latin typeface="Bebas Neue"/>
                        </a:rPr>
                        <a:t>7 bass</a:t>
                      </a:r>
                    </a:p>
                  </a:txBody>
                  <a:tcPr marL="146304" marR="146304" anchor="ctr">
                    <a:solidFill>
                      <a:srgbClr val="F5F6F8"/>
                    </a:solidFill>
                  </a:tcPr>
                </a:tc>
                <a:tc>
                  <a:txBody>
                    <a:bodyPr/>
                    <a:lstStyle/>
                    <a:p>
                      <a:pPr algn="l"/>
                      <a:r>
                        <a:rPr sz="1450" b="0">
                          <a:solidFill>
                            <a:srgbClr val="111111"/>
                          </a:solidFill>
                          <a:latin typeface="Inter"/>
                        </a:rPr>
                        <a:t>bajo</a:t>
                      </a:r>
                    </a:p>
                  </a:txBody>
                  <a:tcPr marL="146304" marR="146304" anchor="ctr">
                    <a:solidFill>
                      <a:srgbClr val="F5F6F8"/>
                    </a:solidFill>
                  </a:tcPr>
                </a:tc>
                <a:tc>
                  <a:txBody>
                    <a:bodyPr/>
                    <a:lstStyle/>
                    <a:p>
                      <a:pPr algn="l"/>
                      <a:r>
                        <a:rPr sz="1450" b="0">
                          <a:solidFill>
                            <a:srgbClr val="111111"/>
                          </a:solidFill>
                          <a:latin typeface="Inter"/>
                        </a:rPr>
                        <a:t>MUSIC</a:t>
                      </a:r>
                    </a:p>
                  </a:txBody>
                  <a:tcPr marL="146304" marR="146304" anchor="ctr">
                    <a:solidFill>
                      <a:srgbClr val="F5F6F8"/>
                    </a:solidFill>
                  </a:tcPr>
                </a:tc>
                <a:tc>
                  <a:txBody>
                    <a:bodyPr/>
                    <a:lstStyle/>
                    <a:p>
                      <a:pPr algn="l"/>
                      <a:r>
                        <a:rPr sz="1450" b="0">
                          <a:solidFill>
                            <a:srgbClr val="111111"/>
                          </a:solidFill>
                          <a:latin typeface="Inter"/>
                        </a:rPr>
                        <a:t>. . . exciting jazz bass player since Ray Brown. . .</a:t>
                      </a:r>
                    </a:p>
                  </a:txBody>
                  <a:tcPr marL="146304" marR="146304" anchor="ctr">
                    <a:solidFill>
                      <a:srgbClr val="F5F6F8"/>
                    </a:solidFill>
                  </a:tcPr>
                </a:tc>
              </a:tr>
              <a:tr h="760226">
                <a:tc>
                  <a:txBody>
                    <a:bodyPr/>
                    <a:lstStyle/>
                    <a:p>
                      <a:pPr algn="l"/>
                      <a:r>
                        <a:rPr sz="1450" b="1">
                          <a:solidFill>
                            <a:srgbClr val="485174"/>
                          </a:solidFill>
                          <a:latin typeface="Bebas Neue"/>
                        </a:rPr>
                        <a:t>7 bass</a:t>
                      </a:r>
                    </a:p>
                  </a:txBody>
                  <a:tcPr marL="146304" marR="146304" anchor="ctr">
                    <a:solidFill>
                      <a:srgbClr val="F0F1F3"/>
                    </a:solidFill>
                  </a:tcPr>
                </a:tc>
                <a:tc>
                  <a:txBody>
                    <a:bodyPr/>
                    <a:lstStyle/>
                    <a:p>
                      <a:pPr algn="l"/>
                      <a:r>
                        <a:rPr sz="1450" b="0">
                          <a:solidFill>
                            <a:srgbClr val="111111"/>
                          </a:solidFill>
                          <a:latin typeface="Inter"/>
                        </a:rPr>
                        <a:t>bajo</a:t>
                      </a:r>
                    </a:p>
                  </a:txBody>
                  <a:tcPr marL="146304" marR="146304" anchor="ctr">
                    <a:solidFill>
                      <a:srgbClr val="F0F1F3"/>
                    </a:solidFill>
                  </a:tcPr>
                </a:tc>
                <a:tc>
                  <a:txBody>
                    <a:bodyPr/>
                    <a:lstStyle/>
                    <a:p>
                      <a:pPr algn="l"/>
                      <a:r>
                        <a:rPr sz="1450" b="0">
                          <a:solidFill>
                            <a:srgbClr val="111111"/>
                          </a:solidFill>
                          <a:latin typeface="Inter"/>
                        </a:rPr>
                        <a:t>MUSIC</a:t>
                      </a:r>
                    </a:p>
                  </a:txBody>
                  <a:tcPr marL="146304" marR="146304" anchor="ctr">
                    <a:solidFill>
                      <a:srgbClr val="F0F1F3"/>
                    </a:solidFill>
                  </a:tcPr>
                </a:tc>
                <a:tc>
                  <a:txBody>
                    <a:bodyPr/>
                    <a:lstStyle/>
                    <a:p>
                      <a:pPr algn="l"/>
                      <a:r>
                        <a:rPr sz="1450" b="0">
                          <a:solidFill>
                            <a:srgbClr val="111111"/>
                          </a:solidFill>
                          <a:latin typeface="Inter"/>
                        </a:rPr>
                        <a:t>. . . play bass because he doesn’t have to solo. . .</a:t>
                      </a:r>
                    </a:p>
                  </a:txBody>
                  <a:tcPr marL="146304" marR="146304" anchor="ctr">
                    <a:solidFill>
                      <a:srgbClr val="F0F1F3"/>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4 rows · WordNet Sense, Spanish Translation, Roget Category, Target Word in Context</a:t>
            </a:r>
          </a:p>
        </p:txBody>
      </p:sp>
      <p:sp>
        <p:nvSpPr>
          <p:cNvPr id="11" name="Rectangle 10"/>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word sense disambiguation utilizes specific corpora with manually tagged examples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50 / 114</a:t>
            </a:r>
          </a:p>
        </p:txBody>
      </p:sp>
      <p:sp>
        <p:nvSpPr>
          <p:cNvPr id="8" name="Rounded Rectangle 7"/>
          <p:cNvSpPr/>
          <p:nvPr/>
        </p:nvSpPr>
        <p:spPr>
          <a:xfrm>
            <a:off x="457200" y="1298448"/>
            <a:ext cx="11274552" cy="2235338"/>
          </a:xfrm>
          <a:prstGeom prst="roundRect">
            <a:avLst>
              <a:gd name="adj" fmla="val 62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594360" y="1435607"/>
          <a:ext cx="11000232" cy="1961018"/>
        </p:xfrm>
        <a:graphic>
          <a:graphicData uri="http://schemas.openxmlformats.org/drawingml/2006/chart">
            <c:chart xmlns:c="http://schemas.openxmlformats.org/drawingml/2006/chart" r:id="rId5"/>
          </a:graphicData>
        </a:graphic>
      </p:graphicFrame>
      <p:sp>
        <p:nvSpPr>
          <p:cNvPr id="10" name="Rounded Rectangle 9"/>
          <p:cNvSpPr/>
          <p:nvPr/>
        </p:nvSpPr>
        <p:spPr>
          <a:xfrm>
            <a:off x="457200" y="3734954"/>
            <a:ext cx="11274552" cy="1550277"/>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734954"/>
            <a:ext cx="73152" cy="1550277"/>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3808106"/>
            <a:ext cx="10879531" cy="1403973"/>
          </a:xfrm>
          <a:prstGeom prst="rect">
            <a:avLst/>
          </a:prstGeom>
          <a:noFill/>
        </p:spPr>
        <p:txBody>
          <a:bodyPr wrap="square" anchor="ctr" lIns="0" tIns="0" rIns="0" bIns="0">
            <a:spAutoFit/>
          </a:bodyPr>
          <a:lstStyle/>
          <a:p>
            <a:pPr algn="l"/>
            <a:r>
              <a:rPr sz="940" b="1">
                <a:solidFill>
                  <a:srgbClr val="CC7B70"/>
                </a:solidFill>
                <a:latin typeface="Bebas Neue"/>
              </a:rPr>
              <a:t>IN PLAIN WORDS</a:t>
            </a:r>
          </a:p>
          <a:p>
            <a:pPr algn="l">
              <a:spcBef>
                <a:spcPts val="300"/>
              </a:spcBef>
            </a:pPr>
            <a:r>
              <a:rPr sz="1300" b="0">
                <a:solidFill>
                  <a:srgbClr val="111111"/>
                </a:solidFill>
                <a:latin typeface="Inter"/>
              </a:rPr>
              <a:t>Supervised word sense disambiguation uses pre-tagged text datasets to train systems. This matters because it provides the labeled examples required for accurate machine learning models. It works by collecting corpora where words are explicitly linked to dictionary senses. For example, semCor provides 234,000 words from the Brown Corpus manually tagged with WordNet senses.</a:t>
            </a:r>
          </a:p>
          <a:p>
            <a:pPr algn="l">
              <a:spcBef>
                <a:spcPts val="300"/>
              </a:spcBef>
            </a:pPr>
            <a:r>
              <a:rPr sz="1300" b="0">
                <a:solidFill>
                  <a:srgbClr val="111111"/>
                </a:solidFill>
                <a:latin typeface="Inter"/>
              </a:rPr>
              <a:t>Lexical sample task: Line-hard-serve corpus --4000 examples of each Interest corpus --2369 sense-tagged examples All words:</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Highest: SemCor: (234000).</a:t>
            </a:r>
          </a:p>
          <a:p>
            <a:pPr algn="l"/>
            <a:r>
              <a:rPr b="1" sz="1300">
                <a:solidFill>
                  <a:srgbClr val="485174"/>
                </a:solidFill>
                <a:latin typeface="Bebas Neue"/>
              </a:rPr>
              <a:t>Key terms:  </a:t>
            </a:r>
            <a:r>
              <a:rPr sz="1300" b="0">
                <a:solidFill>
                  <a:srgbClr val="111111"/>
                </a:solidFill>
                <a:latin typeface="Inter"/>
              </a:rPr>
              <a:t>Semantic concordance — A corpus where each open-class word is labeled with a sense from a dictionary.  ·  SemCor — A subset of the Brown Corpus manually tagged with WordNet senses.</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SemCor corpus entries annotate words with parts of speech and lemmas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51 / 114</a:t>
            </a:r>
          </a:p>
        </p:txBody>
      </p:sp>
      <p:sp>
        <p:nvSpPr>
          <p:cNvPr id="8" name="Rounded Rectangle 7"/>
          <p:cNvSpPr/>
          <p:nvPr/>
        </p:nvSpPr>
        <p:spPr>
          <a:xfrm>
            <a:off x="457200" y="1298448"/>
            <a:ext cx="11274552" cy="3986784"/>
          </a:xfrm>
          <a:prstGeom prst="roundRect">
            <a:avLst>
              <a:gd name="adj" fmla="val 7064"/>
            </a:avLst>
          </a:prstGeom>
          <a:solidFill>
            <a:srgbClr val="F7F8F9"/>
          </a:solidFill>
          <a:ln w="12700">
            <a:solidFill>
              <a:srgbClr val="C8C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98448"/>
            <a:ext cx="11274552" cy="384048"/>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0" rIns="201168" bIns="0"/>
          <a:lstStyle/>
          <a:p>
            <a:pPr algn="l"/>
            <a:r>
              <a:rPr sz="1300" b="1">
                <a:solidFill>
                  <a:srgbClr val="FFFFFF"/>
                </a:solidFill>
                <a:latin typeface="Bebas Neue"/>
              </a:rPr>
              <a:t>MARKUP EXAMPLE</a:t>
            </a:r>
          </a:p>
        </p:txBody>
      </p:sp>
      <p:sp>
        <p:nvSpPr>
          <p:cNvPr id="10" name="TextBox 9"/>
          <p:cNvSpPr txBox="1"/>
          <p:nvPr/>
        </p:nvSpPr>
        <p:spPr>
          <a:xfrm>
            <a:off x="577900" y="1819655"/>
            <a:ext cx="411480" cy="276606"/>
          </a:xfrm>
          <a:prstGeom prst="rect">
            <a:avLst/>
          </a:prstGeom>
          <a:noFill/>
        </p:spPr>
        <p:txBody>
          <a:bodyPr wrap="none">
            <a:spAutoFit/>
          </a:bodyPr>
          <a:lstStyle/>
          <a:p>
            <a:r>
              <a:rPr sz="1237">
                <a:solidFill>
                  <a:srgbClr val="888888"/>
                </a:solidFill>
                <a:latin typeface="Inter"/>
              </a:rPr>
              <a:t>1</a:t>
            </a:r>
          </a:p>
        </p:txBody>
      </p:sp>
      <p:sp>
        <p:nvSpPr>
          <p:cNvPr id="11" name="TextBox 10"/>
          <p:cNvSpPr txBox="1"/>
          <p:nvPr/>
        </p:nvSpPr>
        <p:spPr>
          <a:xfrm>
            <a:off x="1069848" y="1819655"/>
            <a:ext cx="10460736" cy="276606"/>
          </a:xfrm>
          <a:prstGeom prst="rect">
            <a:avLst/>
          </a:prstGeom>
          <a:noFill/>
        </p:spPr>
        <p:txBody>
          <a:bodyPr wrap="square" lIns="0" rIns="0" tIns="0" bIns="0">
            <a:spAutoFit/>
          </a:bodyPr>
          <a:lstStyle/>
          <a:p>
            <a:r>
              <a:rPr sz="1650" b="0">
                <a:solidFill>
                  <a:srgbClr val="111111"/>
                </a:solidFill>
                <a:latin typeface="Inter"/>
              </a:rPr>
              <a:t>wf pos=PRP&gt;He&lt;/wf&gt;</a:t>
            </a:r>
          </a:p>
        </p:txBody>
      </p:sp>
      <p:sp>
        <p:nvSpPr>
          <p:cNvPr id="12" name="TextBox 11"/>
          <p:cNvSpPr txBox="1"/>
          <p:nvPr/>
        </p:nvSpPr>
        <p:spPr>
          <a:xfrm>
            <a:off x="577900" y="2096261"/>
            <a:ext cx="411480" cy="276606"/>
          </a:xfrm>
          <a:prstGeom prst="rect">
            <a:avLst/>
          </a:prstGeom>
          <a:noFill/>
        </p:spPr>
        <p:txBody>
          <a:bodyPr wrap="none">
            <a:spAutoFit/>
          </a:bodyPr>
          <a:lstStyle/>
          <a:p>
            <a:r>
              <a:rPr sz="1237">
                <a:solidFill>
                  <a:srgbClr val="888888"/>
                </a:solidFill>
                <a:latin typeface="Inter"/>
              </a:rPr>
              <a:t>2</a:t>
            </a:r>
          </a:p>
        </p:txBody>
      </p:sp>
      <p:sp>
        <p:nvSpPr>
          <p:cNvPr id="13" name="TextBox 12"/>
          <p:cNvSpPr txBox="1"/>
          <p:nvPr/>
        </p:nvSpPr>
        <p:spPr>
          <a:xfrm>
            <a:off x="1069848" y="2096261"/>
            <a:ext cx="10460736" cy="276606"/>
          </a:xfrm>
          <a:prstGeom prst="rect">
            <a:avLst/>
          </a:prstGeom>
          <a:noFill/>
        </p:spPr>
        <p:txBody>
          <a:bodyPr wrap="square" lIns="0" rIns="0" tIns="0" bIns="0">
            <a:spAutoFit/>
          </a:bodyPr>
          <a:lstStyle/>
          <a:p>
            <a:r>
              <a:rPr sz="1650" b="0">
                <a:solidFill>
                  <a:srgbClr val="111111"/>
                </a:solidFill>
                <a:latin typeface="Inter"/>
              </a:rPr>
              <a:t>wf pos=VB lemma=recognize wnsn=4 lexsn=2:31:00::&gt;recognized&lt;/wf&gt;</a:t>
            </a:r>
          </a:p>
        </p:txBody>
      </p:sp>
      <p:sp>
        <p:nvSpPr>
          <p:cNvPr id="14" name="TextBox 13"/>
          <p:cNvSpPr txBox="1"/>
          <p:nvPr/>
        </p:nvSpPr>
        <p:spPr>
          <a:xfrm>
            <a:off x="577900" y="2372868"/>
            <a:ext cx="411480" cy="276606"/>
          </a:xfrm>
          <a:prstGeom prst="rect">
            <a:avLst/>
          </a:prstGeom>
          <a:noFill/>
        </p:spPr>
        <p:txBody>
          <a:bodyPr wrap="none">
            <a:spAutoFit/>
          </a:bodyPr>
          <a:lstStyle/>
          <a:p>
            <a:r>
              <a:rPr sz="1237">
                <a:solidFill>
                  <a:srgbClr val="888888"/>
                </a:solidFill>
                <a:latin typeface="Inter"/>
              </a:rPr>
              <a:t>3</a:t>
            </a:r>
          </a:p>
        </p:txBody>
      </p:sp>
      <p:sp>
        <p:nvSpPr>
          <p:cNvPr id="15" name="TextBox 14"/>
          <p:cNvSpPr txBox="1"/>
          <p:nvPr/>
        </p:nvSpPr>
        <p:spPr>
          <a:xfrm>
            <a:off x="1069848" y="2372868"/>
            <a:ext cx="10460736" cy="276606"/>
          </a:xfrm>
          <a:prstGeom prst="rect">
            <a:avLst/>
          </a:prstGeom>
          <a:noFill/>
        </p:spPr>
        <p:txBody>
          <a:bodyPr wrap="square" lIns="0" rIns="0" tIns="0" bIns="0">
            <a:spAutoFit/>
          </a:bodyPr>
          <a:lstStyle/>
          <a:p>
            <a:r>
              <a:rPr sz="1650" b="0">
                <a:solidFill>
                  <a:srgbClr val="111111"/>
                </a:solidFill>
                <a:latin typeface="Inter"/>
              </a:rPr>
              <a:t>wf pos=DT&gt;the&lt;/wf&gt;</a:t>
            </a:r>
          </a:p>
        </p:txBody>
      </p:sp>
      <p:sp>
        <p:nvSpPr>
          <p:cNvPr id="16" name="TextBox 15"/>
          <p:cNvSpPr txBox="1"/>
          <p:nvPr/>
        </p:nvSpPr>
        <p:spPr>
          <a:xfrm>
            <a:off x="577900" y="2649474"/>
            <a:ext cx="411480" cy="276606"/>
          </a:xfrm>
          <a:prstGeom prst="rect">
            <a:avLst/>
          </a:prstGeom>
          <a:noFill/>
        </p:spPr>
        <p:txBody>
          <a:bodyPr wrap="none">
            <a:spAutoFit/>
          </a:bodyPr>
          <a:lstStyle/>
          <a:p>
            <a:r>
              <a:rPr sz="1237">
                <a:solidFill>
                  <a:srgbClr val="888888"/>
                </a:solidFill>
                <a:latin typeface="Inter"/>
              </a:rPr>
              <a:t>4</a:t>
            </a:r>
          </a:p>
        </p:txBody>
      </p:sp>
      <p:sp>
        <p:nvSpPr>
          <p:cNvPr id="17" name="TextBox 16"/>
          <p:cNvSpPr txBox="1"/>
          <p:nvPr/>
        </p:nvSpPr>
        <p:spPr>
          <a:xfrm>
            <a:off x="1069848" y="2649474"/>
            <a:ext cx="10460736" cy="276606"/>
          </a:xfrm>
          <a:prstGeom prst="rect">
            <a:avLst/>
          </a:prstGeom>
          <a:noFill/>
        </p:spPr>
        <p:txBody>
          <a:bodyPr wrap="square" lIns="0" rIns="0" tIns="0" bIns="0">
            <a:spAutoFit/>
          </a:bodyPr>
          <a:lstStyle/>
          <a:p>
            <a:r>
              <a:rPr sz="1650" b="0">
                <a:solidFill>
                  <a:srgbClr val="111111"/>
                </a:solidFill>
                <a:latin typeface="Inter"/>
              </a:rPr>
              <a:t>wf pos=NN lemma=gesture wnsn=1 lexsn=1:04:00::&gt;gesture&lt;/wf&gt;</a:t>
            </a:r>
          </a:p>
        </p:txBody>
      </p:sp>
      <p:sp>
        <p:nvSpPr>
          <p:cNvPr id="18" name="TextBox 17"/>
          <p:cNvSpPr txBox="1"/>
          <p:nvPr/>
        </p:nvSpPr>
        <p:spPr>
          <a:xfrm>
            <a:off x="577900" y="2926080"/>
            <a:ext cx="411480" cy="276606"/>
          </a:xfrm>
          <a:prstGeom prst="rect">
            <a:avLst/>
          </a:prstGeom>
          <a:noFill/>
        </p:spPr>
        <p:txBody>
          <a:bodyPr wrap="none">
            <a:spAutoFit/>
          </a:bodyPr>
          <a:lstStyle/>
          <a:p>
            <a:r>
              <a:rPr sz="1237">
                <a:solidFill>
                  <a:srgbClr val="888888"/>
                </a:solidFill>
                <a:latin typeface="Inter"/>
              </a:rPr>
              <a:t>5</a:t>
            </a:r>
          </a:p>
        </p:txBody>
      </p:sp>
      <p:sp>
        <p:nvSpPr>
          <p:cNvPr id="19" name="TextBox 18"/>
          <p:cNvSpPr txBox="1"/>
          <p:nvPr/>
        </p:nvSpPr>
        <p:spPr>
          <a:xfrm>
            <a:off x="1069848" y="2926080"/>
            <a:ext cx="10460736" cy="276606"/>
          </a:xfrm>
          <a:prstGeom prst="rect">
            <a:avLst/>
          </a:prstGeom>
          <a:noFill/>
        </p:spPr>
        <p:txBody>
          <a:bodyPr wrap="square" lIns="0" rIns="0" tIns="0" bIns="0">
            <a:spAutoFit/>
          </a:bodyPr>
          <a:lstStyle/>
          <a:p>
            <a:r>
              <a:rPr sz="1650" b="0">
                <a:solidFill>
                  <a:srgbClr val="111111"/>
                </a:solidFill>
                <a:latin typeface="Inter"/>
              </a:rPr>
              <a:t>punc&gt;.&lt;/punc&gt;</a:t>
            </a:r>
          </a:p>
        </p:txBody>
      </p:sp>
      <p:sp>
        <p:nvSpPr>
          <p:cNvPr id="20" name="TextBox 19"/>
          <p:cNvSpPr txBox="1"/>
          <p:nvPr/>
        </p:nvSpPr>
        <p:spPr>
          <a:xfrm>
            <a:off x="577900" y="3202686"/>
            <a:ext cx="411480" cy="276606"/>
          </a:xfrm>
          <a:prstGeom prst="rect">
            <a:avLst/>
          </a:prstGeom>
          <a:noFill/>
        </p:spPr>
        <p:txBody>
          <a:bodyPr wrap="none">
            <a:spAutoFit/>
          </a:bodyPr>
          <a:lstStyle/>
          <a:p>
            <a:r>
              <a:rPr sz="1237">
                <a:solidFill>
                  <a:srgbClr val="888888"/>
                </a:solidFill>
                <a:latin typeface="Inter"/>
              </a:rPr>
              <a:t>6</a:t>
            </a:r>
          </a:p>
        </p:txBody>
      </p:sp>
      <p:sp>
        <p:nvSpPr>
          <p:cNvPr id="21" name="TextBox 20"/>
          <p:cNvSpPr txBox="1"/>
          <p:nvPr/>
        </p:nvSpPr>
        <p:spPr>
          <a:xfrm>
            <a:off x="1069848" y="3202686"/>
            <a:ext cx="10460736" cy="276606"/>
          </a:xfrm>
          <a:prstGeom prst="rect">
            <a:avLst/>
          </a:prstGeom>
          <a:noFill/>
        </p:spPr>
        <p:txBody>
          <a:bodyPr wrap="square" lIns="0" rIns="0" tIns="0" bIns="0">
            <a:spAutoFit/>
          </a:bodyPr>
          <a:lstStyle/>
          <a:p>
            <a:r>
              <a:rPr sz="1650" b="0">
                <a:solidFill>
                  <a:srgbClr val="111111"/>
                </a:solidFill>
                <a:latin typeface="Inter"/>
              </a:rPr>
              <a:t>SemCor data explicitly marks the grammatical structure and dictionary meanings of text.</a:t>
            </a:r>
          </a:p>
        </p:txBody>
      </p:sp>
      <p:sp>
        <p:nvSpPr>
          <p:cNvPr id="22" name="TextBox 21"/>
          <p:cNvSpPr txBox="1"/>
          <p:nvPr/>
        </p:nvSpPr>
        <p:spPr>
          <a:xfrm>
            <a:off x="577900" y="3479292"/>
            <a:ext cx="411480" cy="276606"/>
          </a:xfrm>
          <a:prstGeom prst="rect">
            <a:avLst/>
          </a:prstGeom>
          <a:noFill/>
        </p:spPr>
        <p:txBody>
          <a:bodyPr wrap="none">
            <a:spAutoFit/>
          </a:bodyPr>
          <a:lstStyle/>
          <a:p>
            <a:r>
              <a:rPr sz="1237">
                <a:solidFill>
                  <a:srgbClr val="888888"/>
                </a:solidFill>
                <a:latin typeface="Inter"/>
              </a:rPr>
              <a:t>7</a:t>
            </a:r>
          </a:p>
        </p:txBody>
      </p:sp>
      <p:sp>
        <p:nvSpPr>
          <p:cNvPr id="23" name="TextBox 22"/>
          <p:cNvSpPr txBox="1"/>
          <p:nvPr/>
        </p:nvSpPr>
        <p:spPr>
          <a:xfrm>
            <a:off x="1069848" y="3479292"/>
            <a:ext cx="10460736" cy="276606"/>
          </a:xfrm>
          <a:prstGeom prst="rect">
            <a:avLst/>
          </a:prstGeom>
          <a:noFill/>
        </p:spPr>
        <p:txBody>
          <a:bodyPr wrap="square" lIns="0" rIns="0" tIns="0" bIns="0">
            <a:spAutoFit/>
          </a:bodyPr>
          <a:lstStyle/>
          <a:p>
            <a:r>
              <a:rPr sz="1650" b="0">
                <a:solidFill>
                  <a:srgbClr val="111111"/>
                </a:solidFill>
                <a:latin typeface="Inter"/>
              </a:rPr>
              <a:t>This matters because it gives computational tools precise linguistic annotations to learn from.</a:t>
            </a:r>
          </a:p>
        </p:txBody>
      </p:sp>
      <p:sp>
        <p:nvSpPr>
          <p:cNvPr id="24" name="TextBox 23"/>
          <p:cNvSpPr txBox="1"/>
          <p:nvPr/>
        </p:nvSpPr>
        <p:spPr>
          <a:xfrm>
            <a:off x="577900" y="3755898"/>
            <a:ext cx="411480" cy="553212"/>
          </a:xfrm>
          <a:prstGeom prst="rect">
            <a:avLst/>
          </a:prstGeom>
          <a:noFill/>
        </p:spPr>
        <p:txBody>
          <a:bodyPr wrap="none">
            <a:spAutoFit/>
          </a:bodyPr>
          <a:lstStyle/>
          <a:p>
            <a:r>
              <a:rPr sz="1237">
                <a:solidFill>
                  <a:srgbClr val="888888"/>
                </a:solidFill>
                <a:latin typeface="Inter"/>
              </a:rPr>
              <a:t>8</a:t>
            </a:r>
          </a:p>
        </p:txBody>
      </p:sp>
      <p:sp>
        <p:nvSpPr>
          <p:cNvPr id="25" name="TextBox 24"/>
          <p:cNvSpPr txBox="1"/>
          <p:nvPr/>
        </p:nvSpPr>
        <p:spPr>
          <a:xfrm>
            <a:off x="1069848" y="3755898"/>
            <a:ext cx="10460736" cy="553212"/>
          </a:xfrm>
          <a:prstGeom prst="rect">
            <a:avLst/>
          </a:prstGeom>
          <a:noFill/>
        </p:spPr>
        <p:txBody>
          <a:bodyPr wrap="square" lIns="0" rIns="0" tIns="0" bIns="0">
            <a:spAutoFit/>
          </a:bodyPr>
          <a:lstStyle/>
          <a:p>
            <a:r>
              <a:rPr sz="1650" b="0">
                <a:solidFill>
                  <a:srgbClr val="111111"/>
                </a:solidFill>
                <a:latin typeface="Inter"/>
              </a:rPr>
              <a:t>It works by wrapping words in XML-like tags detailing part of speech, lemma, and WordNet sense number.</a:t>
            </a:r>
          </a:p>
        </p:txBody>
      </p:sp>
      <p:sp>
        <p:nvSpPr>
          <p:cNvPr id="26" name="TextBox 25"/>
          <p:cNvSpPr txBox="1"/>
          <p:nvPr/>
        </p:nvSpPr>
        <p:spPr>
          <a:xfrm>
            <a:off x="577900" y="4309110"/>
            <a:ext cx="411480" cy="276606"/>
          </a:xfrm>
          <a:prstGeom prst="rect">
            <a:avLst/>
          </a:prstGeom>
          <a:noFill/>
        </p:spPr>
        <p:txBody>
          <a:bodyPr wrap="none">
            <a:spAutoFit/>
          </a:bodyPr>
          <a:lstStyle/>
          <a:p>
            <a:r>
              <a:rPr sz="1237">
                <a:solidFill>
                  <a:srgbClr val="888888"/>
                </a:solidFill>
                <a:latin typeface="Inter"/>
              </a:rPr>
              <a:t>9</a:t>
            </a:r>
          </a:p>
        </p:txBody>
      </p:sp>
      <p:sp>
        <p:nvSpPr>
          <p:cNvPr id="27" name="TextBox 26"/>
          <p:cNvSpPr txBox="1"/>
          <p:nvPr/>
        </p:nvSpPr>
        <p:spPr>
          <a:xfrm>
            <a:off x="1069848" y="4309110"/>
            <a:ext cx="10460736" cy="276606"/>
          </a:xfrm>
          <a:prstGeom prst="rect">
            <a:avLst/>
          </a:prstGeom>
          <a:noFill/>
        </p:spPr>
        <p:txBody>
          <a:bodyPr wrap="square" lIns="0" rIns="0" tIns="0" bIns="0">
            <a:spAutoFit/>
          </a:bodyPr>
          <a:lstStyle/>
          <a:p>
            <a:r>
              <a:rPr sz="1650" b="0">
                <a:solidFill>
                  <a:srgbClr val="111111"/>
                </a:solidFill>
                <a:latin typeface="Inter"/>
              </a:rPr>
              <a:t>Example: The word recognized is tagged with its part of speech, lemma, and WordNet sense number.</a:t>
            </a:r>
          </a:p>
        </p:txBody>
      </p:sp>
      <p:sp>
        <p:nvSpPr>
          <p:cNvPr id="28" name="Rounded Rectangle 27"/>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Lemma — The base dictionary form of a word.  ·  Part of speech — A category assigned to a word based on its syntactic roles.</a:t>
            </a:r>
          </a:p>
        </p:txBody>
      </p:sp>
      <p:sp>
        <p:nvSpPr>
          <p:cNvPr id="29" name="Rectangle 28"/>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5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5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par>
                                <p:cTn id="52" presetID="10"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50"/>
                                        <p:tgtEl>
                                          <p:spTgt spid="26"/>
                                        </p:tgtEl>
                                      </p:cBhvr>
                                    </p:animEffect>
                                  </p:childTnLst>
                                </p:cTn>
                              </p:par>
                              <p:par>
                                <p:cTn id="60" presetID="10" presetClass="entr" presetSubtype="0"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50"/>
                                        <p:tgtEl>
                                          <p:spTgt spid="27"/>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50"/>
                                        <p:tgtEl>
                                          <p:spTgt spid="28"/>
                                        </p:tgtEl>
                                      </p:cBhvr>
                                    </p:animEffect>
                                  </p:childTnLst>
                                </p:cTn>
                              </p:par>
                              <p:par>
                                <p:cTn id="66" presetID="10" presetClass="entr" presetSubtype="0" fill="hold"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Surrounding context words determine the meaning of a target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52 / 114</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ectangle 7"/>
          <p:cNvSpPr/>
          <p:nvPr/>
        </p:nvSpPr>
        <p:spPr>
          <a:xfrm>
            <a:off x="457200" y="1482379"/>
            <a:ext cx="82296" cy="820856"/>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45803"/>
            <a:ext cx="6907734" cy="839144"/>
          </a:xfrm>
          <a:prstGeom prst="rect">
            <a:avLst/>
          </a:prstGeom>
          <a:noFill/>
        </p:spPr>
        <p:txBody>
          <a:bodyPr wrap="square" anchor="t" lIns="0" tIns="0" rIns="0" bIns="0">
            <a:spAutoFit/>
          </a:bodyPr>
          <a:lstStyle/>
          <a:p>
            <a:pPr algn="l"/>
            <a:r>
              <a:rPr sz="2620" b="1">
                <a:solidFill>
                  <a:srgbClr val="485174"/>
                </a:solidFill>
                <a:latin typeface="Bebas Neue"/>
              </a:rPr>
              <a:t>SUPERVISED WSD 3: EXTRACT FEATURE VECTORS.</a:t>
            </a:r>
          </a:p>
        </p:txBody>
      </p:sp>
      <p:sp>
        <p:nvSpPr>
          <p:cNvPr id="10" name="TextBox 9"/>
          <p:cNvSpPr txBox="1"/>
          <p:nvPr/>
        </p:nvSpPr>
        <p:spPr>
          <a:xfrm>
            <a:off x="720547" y="2476972"/>
            <a:ext cx="6907734" cy="3648456"/>
          </a:xfrm>
          <a:prstGeom prst="rect">
            <a:avLst/>
          </a:prstGeom>
          <a:noFill/>
        </p:spPr>
        <p:txBody>
          <a:bodyPr wrap="square" lIns="0" rIns="0" tIns="0" bIns="0">
            <a:spAutoFit/>
          </a:bodyPr>
          <a:lstStyle/>
          <a:p>
            <a:r>
              <a:rPr sz="1900">
                <a:solidFill>
                  <a:srgbClr val="111111"/>
                </a:solidFill>
                <a:latin typeface="Inter"/>
              </a:rPr>
              <a:t>“If one examines the words in a book, one at a time as through an opaque mask with a hole in it one word wide, </a:t>
            </a:r>
            <a:r>
              <a:rPr sz="1900" b="1">
                <a:solidFill>
                  <a:srgbClr val="6D28D9"/>
                </a:solidFill>
                <a:latin typeface="Bebas Neue"/>
              </a:rPr>
              <a:t>then</a:t>
            </a:r>
            <a:r>
              <a:rPr sz="1900">
                <a:solidFill>
                  <a:srgbClr val="111111"/>
                </a:solidFill>
                <a:latin typeface="Inter"/>
              </a:rPr>
              <a:t> it is obviously impossible to determine, one at a time, the meaning of the words… </a:t>
            </a:r>
            <a:r>
              <a:rPr sz="1900" b="1">
                <a:solidFill>
                  <a:srgbClr val="C2410C"/>
                </a:solidFill>
                <a:latin typeface="Bebas Neue"/>
              </a:rPr>
              <a:t>But</a:t>
            </a:r>
            <a:r>
              <a:rPr sz="1900">
                <a:solidFill>
                  <a:srgbClr val="111111"/>
                </a:solidFill>
                <a:latin typeface="Inter"/>
              </a:rPr>
              <a:t> if one lengthens the slit in the opaque mask, until one can see not only the central word in question </a:t>
            </a:r>
            <a:r>
              <a:rPr sz="1900" b="1">
                <a:solidFill>
                  <a:srgbClr val="C2410C"/>
                </a:solidFill>
                <a:latin typeface="Bebas Neue"/>
              </a:rPr>
              <a:t>but</a:t>
            </a:r>
            <a:r>
              <a:rPr sz="1900">
                <a:solidFill>
                  <a:srgbClr val="111111"/>
                </a:solidFill>
                <a:latin typeface="Inter"/>
              </a:rPr>
              <a:t> </a:t>
            </a:r>
            <a:r>
              <a:rPr sz="1900" b="1">
                <a:solidFill>
                  <a:srgbClr val="0F766E"/>
                </a:solidFill>
                <a:latin typeface="Bebas Neue"/>
              </a:rPr>
              <a:t>also</a:t>
            </a:r>
            <a:r>
              <a:rPr sz="1900">
                <a:solidFill>
                  <a:srgbClr val="111111"/>
                </a:solidFill>
                <a:latin typeface="Inter"/>
              </a:rPr>
              <a:t> say N words on either side, </a:t>
            </a:r>
            <a:r>
              <a:rPr sz="1900" b="1">
                <a:solidFill>
                  <a:srgbClr val="6D28D9"/>
                </a:solidFill>
                <a:latin typeface="Bebas Neue"/>
              </a:rPr>
              <a:t>then</a:t>
            </a:r>
            <a:r>
              <a:rPr sz="1900">
                <a:solidFill>
                  <a:srgbClr val="111111"/>
                </a:solidFill>
                <a:latin typeface="Inter"/>
              </a:rPr>
              <a:t> if N is large enough one can unambiguously decide the meaning of the central word… The practical question is: ``What minimum value of N will, at least in a tolerable fraction of cases, lead to the correct choice of meaning for the central word?”.</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Feature vectors represent target word observations using ordered lists of values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53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57142"/>
            <a:ext cx="82296" cy="55586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0566"/>
            <a:ext cx="7087166" cy="574151"/>
          </a:xfrm>
          <a:prstGeom prst="rect">
            <a:avLst/>
          </a:prstGeom>
          <a:noFill/>
        </p:spPr>
        <p:txBody>
          <a:bodyPr wrap="square" anchor="t" lIns="0" tIns="0" rIns="0" bIns="0">
            <a:spAutoFit/>
          </a:bodyPr>
          <a:lstStyle/>
          <a:p>
            <a:pPr algn="l"/>
            <a:r>
              <a:rPr sz="1789" b="1">
                <a:solidFill>
                  <a:srgbClr val="485174"/>
                </a:solidFill>
                <a:latin typeface="Bebas Neue"/>
              </a:rPr>
              <a:t>A simple representation for each observation (each instance of a target word).</a:t>
            </a:r>
          </a:p>
        </p:txBody>
      </p:sp>
      <p:sp>
        <p:nvSpPr>
          <p:cNvPr id="10" name="TextBox 9"/>
          <p:cNvSpPr txBox="1"/>
          <p:nvPr/>
        </p:nvSpPr>
        <p:spPr>
          <a:xfrm>
            <a:off x="720547" y="2186741"/>
            <a:ext cx="7087166" cy="208025"/>
          </a:xfrm>
          <a:prstGeom prst="rect">
            <a:avLst/>
          </a:prstGeom>
          <a:noFill/>
        </p:spPr>
        <p:txBody>
          <a:bodyPr wrap="square" lIns="0" rIns="0" tIns="0" bIns="0">
            <a:spAutoFit/>
          </a:bodyPr>
          <a:lstStyle/>
          <a:p>
            <a:r>
              <a:rPr sz="1300">
                <a:solidFill>
                  <a:srgbClr val="111111"/>
                </a:solidFill>
                <a:latin typeface="Inter"/>
              </a:rPr>
              <a:t>Vectors of sets of feature/value pairs.</a:t>
            </a:r>
          </a:p>
        </p:txBody>
      </p:sp>
      <p:sp>
        <p:nvSpPr>
          <p:cNvPr id="11" name="TextBox 10"/>
          <p:cNvSpPr txBox="1"/>
          <p:nvPr/>
        </p:nvSpPr>
        <p:spPr>
          <a:xfrm>
            <a:off x="720547" y="2522783"/>
            <a:ext cx="7087166" cy="208025"/>
          </a:xfrm>
          <a:prstGeom prst="rect">
            <a:avLst/>
          </a:prstGeom>
          <a:noFill/>
        </p:spPr>
        <p:txBody>
          <a:bodyPr wrap="square" lIns="0" rIns="0" tIns="0" bIns="0">
            <a:spAutoFit/>
          </a:bodyPr>
          <a:lstStyle/>
          <a:p>
            <a:r>
              <a:rPr sz="1300">
                <a:solidFill>
                  <a:srgbClr val="111111"/>
                </a:solidFill>
                <a:latin typeface="Inter"/>
              </a:rPr>
              <a:t>Represented as a ordered list of values.</a:t>
            </a:r>
          </a:p>
        </p:txBody>
      </p:sp>
      <p:sp>
        <p:nvSpPr>
          <p:cNvPr id="12" name="TextBox 11"/>
          <p:cNvSpPr txBox="1"/>
          <p:nvPr/>
        </p:nvSpPr>
        <p:spPr>
          <a:xfrm>
            <a:off x="994867" y="2858825"/>
            <a:ext cx="6812846" cy="208025"/>
          </a:xfrm>
          <a:prstGeom prst="rect">
            <a:avLst/>
          </a:prstGeom>
          <a:noFill/>
        </p:spPr>
        <p:txBody>
          <a:bodyPr wrap="square" lIns="0" rIns="0" tIns="0" bIns="0">
            <a:spAutoFit/>
          </a:bodyPr>
          <a:lstStyle/>
          <a:p>
            <a:r>
              <a:rPr sz="1300">
                <a:solidFill>
                  <a:srgbClr val="111111"/>
                </a:solidFill>
                <a:latin typeface="Inter"/>
              </a:rPr>
              <a:t>These vectors represent, e.g., the window of words around the target.</a:t>
            </a:r>
          </a:p>
        </p:txBody>
      </p:sp>
      <p:sp>
        <p:nvSpPr>
          <p:cNvPr id="13" name="TextBox 12"/>
          <p:cNvSpPr txBox="1"/>
          <p:nvPr/>
        </p:nvSpPr>
        <p:spPr>
          <a:xfrm>
            <a:off x="720547" y="3194867"/>
            <a:ext cx="7087166" cy="208025"/>
          </a:xfrm>
          <a:prstGeom prst="rect">
            <a:avLst/>
          </a:prstGeom>
          <a:noFill/>
        </p:spPr>
        <p:txBody>
          <a:bodyPr wrap="square" lIns="0" rIns="0" tIns="0" bIns="0">
            <a:spAutoFit/>
          </a:bodyPr>
          <a:lstStyle/>
          <a:p>
            <a:r>
              <a:rPr sz="1300">
                <a:solidFill>
                  <a:srgbClr val="111111"/>
                </a:solidFill>
                <a:latin typeface="Inter"/>
              </a:rPr>
              <a:t>Feature vectors organize text observations into structured numerical formats.</a:t>
            </a:r>
          </a:p>
        </p:txBody>
      </p:sp>
      <p:sp>
        <p:nvSpPr>
          <p:cNvPr id="14" name="TextBox 13"/>
          <p:cNvSpPr txBox="1"/>
          <p:nvPr/>
        </p:nvSpPr>
        <p:spPr>
          <a:xfrm>
            <a:off x="720547" y="3530909"/>
            <a:ext cx="7087166" cy="416051"/>
          </a:xfrm>
          <a:prstGeom prst="rect">
            <a:avLst/>
          </a:prstGeom>
          <a:noFill/>
        </p:spPr>
        <p:txBody>
          <a:bodyPr wrap="square" lIns="0" rIns="0" tIns="0" bIns="0">
            <a:spAutoFit/>
          </a:bodyPr>
          <a:lstStyle/>
          <a:p>
            <a:r>
              <a:rPr sz="810" b="1">
                <a:solidFill>
                  <a:srgbClr val="1D4ED8"/>
                </a:solidFill>
                <a:latin typeface="Bebas Neue"/>
              </a:rPr>
              <a:t>BECAUSE   </a:t>
            </a:r>
            <a:r>
              <a:rPr sz="1300">
                <a:solidFill>
                  <a:srgbClr val="111111"/>
                </a:solidFill>
                <a:latin typeface="Inter"/>
              </a:rPr>
              <a:t>This matters </a:t>
            </a:r>
            <a:r>
              <a:rPr sz="1300" b="1">
                <a:solidFill>
                  <a:srgbClr val="1D4ED8"/>
                </a:solidFill>
                <a:latin typeface="Bebas Neue"/>
              </a:rPr>
              <a:t>because</a:t>
            </a:r>
            <a:r>
              <a:rPr sz="1300">
                <a:solidFill>
                  <a:srgbClr val="111111"/>
                </a:solidFill>
                <a:latin typeface="Inter"/>
              </a:rPr>
              <a:t> algorithms require mathematical representations </a:t>
            </a:r>
            <a:r>
              <a:rPr sz="1300" b="1">
                <a:solidFill>
                  <a:srgbClr val="C2410C"/>
                </a:solidFill>
                <a:latin typeface="Bebas Neue"/>
              </a:rPr>
              <a:t>instead</a:t>
            </a:r>
            <a:r>
              <a:rPr sz="1300">
                <a:solidFill>
                  <a:srgbClr val="111111"/>
                </a:solidFill>
                <a:latin typeface="Inter"/>
              </a:rPr>
              <a:t> of raw text to process data.</a:t>
            </a:r>
          </a:p>
        </p:txBody>
      </p:sp>
      <p:sp>
        <p:nvSpPr>
          <p:cNvPr id="15" name="TextBox 14"/>
          <p:cNvSpPr txBox="1"/>
          <p:nvPr/>
        </p:nvSpPr>
        <p:spPr>
          <a:xfrm>
            <a:off x="994867" y="4074977"/>
            <a:ext cx="6812846" cy="416051"/>
          </a:xfrm>
          <a:prstGeom prst="rect">
            <a:avLst/>
          </a:prstGeom>
          <a:noFill/>
        </p:spPr>
        <p:txBody>
          <a:bodyPr wrap="square" lIns="0" rIns="0" tIns="0" bIns="0">
            <a:spAutoFit/>
          </a:bodyPr>
          <a:lstStyle/>
          <a:p>
            <a:r>
              <a:rPr sz="1300">
                <a:solidFill>
                  <a:srgbClr val="111111"/>
                </a:solidFill>
                <a:latin typeface="Inter"/>
              </a:rPr>
              <a:t>It works by mapping context words and features into an ordered list of values representing a window around a target.</a:t>
            </a:r>
          </a:p>
        </p:txBody>
      </p:sp>
      <p:sp>
        <p:nvSpPr>
          <p:cNvPr id="16" name="TextBox 15"/>
          <p:cNvSpPr txBox="1"/>
          <p:nvPr/>
        </p:nvSpPr>
        <p:spPr>
          <a:xfrm>
            <a:off x="720547" y="4619045"/>
            <a:ext cx="7087166" cy="416051"/>
          </a:xfrm>
          <a:prstGeom prst="rect">
            <a:avLst/>
          </a:prstGeom>
          <a:noFill/>
        </p:spPr>
        <p:txBody>
          <a:bodyPr wrap="square" lIns="0" rIns="0" tIns="0" bIns="0">
            <a:spAutoFit/>
          </a:bodyPr>
          <a:lstStyle/>
          <a:p>
            <a:r>
              <a:rPr sz="1300">
                <a:solidFill>
                  <a:srgbClr val="111111"/>
                </a:solidFill>
                <a:latin typeface="Inter"/>
              </a:rPr>
              <a:t>Example: A vector records the specific words appearing within a two-word radius of a target.</a:t>
            </a:r>
          </a:p>
        </p:txBody>
      </p:sp>
      <p:sp>
        <p:nvSpPr>
          <p:cNvPr id="17" name="Rounded Rectangle 1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Feature vector — A simple representation of an observation using an ordered list of feature-value pairs.</a:t>
            </a:r>
          </a:p>
        </p:txBody>
      </p:sp>
      <p:sp>
        <p:nvSpPr>
          <p:cNvPr id="18" name="Rectangle 1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9</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54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“A simple representation of an observation using an ordered list of feature-value pairs.”?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Document frequency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Systematic polysemy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ConditionalProbabilities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Feature vector</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550" b="0">
                <a:solidFill>
                  <a:srgbClr val="FFFFFF"/>
                </a:solidFill>
                <a:latin typeface="Inter"/>
              </a:rPr>
              <a:t>Feature vector: A simple representation of an observation using an ordered list of feature-value pairs.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Vector representations utilize both collocational and bag-of-words features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55 / 114</a:t>
            </a:r>
          </a:p>
        </p:txBody>
      </p:sp>
      <p:sp>
        <p:nvSpPr>
          <p:cNvPr id="8" name="Rounded Rectangle 7">
            <a:hlinkClick r:id="rId5"/>
          </p:cNvPr>
          <p:cNvSpPr/>
          <p:nvPr/>
        </p:nvSpPr>
        <p:spPr>
          <a:xfrm>
            <a:off x="2894076" y="6455664"/>
            <a:ext cx="6400800"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Vector Representations: Collocational vs Bag‑of‑Words Features</a:t>
            </a:r>
          </a:p>
        </p:txBody>
      </p:sp>
      <p:sp>
        <p:nvSpPr>
          <p:cNvPr id="9" name="Rectangle 8"/>
          <p:cNvSpPr/>
          <p:nvPr/>
        </p:nvSpPr>
        <p:spPr>
          <a:xfrm>
            <a:off x="457200" y="1325880"/>
            <a:ext cx="73152" cy="36576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485174"/>
                </a:solidFill>
                <a:latin typeface="Bebas Neue"/>
              </a:rPr>
              <a:t>Collocational features and bag-of-words features</a:t>
            </a:r>
          </a:p>
        </p:txBody>
      </p:sp>
      <p:sp>
        <p:nvSpPr>
          <p:cNvPr id="11" name="Rounded Rectangle 10"/>
          <p:cNvSpPr/>
          <p:nvPr/>
        </p:nvSpPr>
        <p:spPr>
          <a:xfrm>
            <a:off x="457200" y="1956815"/>
            <a:ext cx="5536692" cy="1761214"/>
          </a:xfrm>
          <a:prstGeom prst="roundRect">
            <a:avLst>
              <a:gd name="adj" fmla="val 79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17750"/>
            <a:ext cx="5134355" cy="1439346"/>
          </a:xfrm>
          <a:prstGeom prst="rect">
            <a:avLst/>
          </a:prstGeom>
          <a:noFill/>
        </p:spPr>
        <p:txBody>
          <a:bodyPr wrap="square" anchor="t" lIns="0" tIns="0" rIns="0" bIns="0">
            <a:spAutoFit/>
          </a:bodyPr>
          <a:lstStyle/>
          <a:p>
            <a:pPr algn="l"/>
            <a:r>
              <a:rPr sz="2310" b="1">
                <a:solidFill>
                  <a:srgbClr val="485174"/>
                </a:solidFill>
                <a:latin typeface="Bebas Neue"/>
              </a:rPr>
              <a:t>Collocational</a:t>
            </a:r>
          </a:p>
          <a:p>
            <a:pPr algn="l" marL="256032" indent="-256032" lvl="0">
              <a:spcBef>
                <a:spcPts val="700"/>
              </a:spcBef>
              <a:buClr>
                <a:srgbClr val="CC7B70"/>
              </a:buClr>
              <a:buFont typeface="Arial"/>
              <a:buChar char="•"/>
            </a:pPr>
            <a:r>
              <a:rPr sz="1850" b="0">
                <a:solidFill>
                  <a:srgbClr val="111111"/>
                </a:solidFill>
                <a:latin typeface="Inter"/>
              </a:rPr>
              <a:t>Features about words at specific positions near target word</a:t>
            </a:r>
          </a:p>
          <a:p>
            <a:pPr algn="l" marL="512064" indent="-219456" lvl="1">
              <a:spcBef>
                <a:spcPts val="300"/>
              </a:spcBef>
              <a:buClr>
                <a:srgbClr val="CC7B70"/>
              </a:buClr>
              <a:buFont typeface="Arial"/>
              <a:buChar char="–"/>
            </a:pPr>
            <a:r>
              <a:rPr sz="1670" b="0">
                <a:solidFill>
                  <a:srgbClr val="555555"/>
                </a:solidFill>
                <a:latin typeface="Inter"/>
              </a:rPr>
              <a:t>Often limited to just word identity and POS</a:t>
            </a:r>
          </a:p>
        </p:txBody>
      </p:sp>
      <p:sp>
        <p:nvSpPr>
          <p:cNvPr id="14" name="Rounded Rectangle 13"/>
          <p:cNvSpPr/>
          <p:nvPr/>
        </p:nvSpPr>
        <p:spPr>
          <a:xfrm>
            <a:off x="6195059" y="1956815"/>
            <a:ext cx="5536692" cy="1761214"/>
          </a:xfrm>
          <a:prstGeom prst="roundRect">
            <a:avLst>
              <a:gd name="adj" fmla="val 79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5059"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6227" y="2117750"/>
            <a:ext cx="5134355" cy="1439346"/>
          </a:xfrm>
          <a:prstGeom prst="rect">
            <a:avLst/>
          </a:prstGeom>
          <a:noFill/>
        </p:spPr>
        <p:txBody>
          <a:bodyPr wrap="square" anchor="t" lIns="0" tIns="0" rIns="0" bIns="0">
            <a:spAutoFit/>
          </a:bodyPr>
          <a:lstStyle/>
          <a:p>
            <a:pPr algn="l"/>
            <a:r>
              <a:rPr sz="2310" b="1">
                <a:solidFill>
                  <a:srgbClr val="485174"/>
                </a:solidFill>
                <a:latin typeface="Bebas Neue"/>
              </a:rPr>
              <a:t>Bag-of-words</a:t>
            </a:r>
          </a:p>
          <a:p>
            <a:pPr algn="l" marL="256032" indent="-256032" lvl="0">
              <a:spcBef>
                <a:spcPts val="700"/>
              </a:spcBef>
              <a:buClr>
                <a:srgbClr val="CC7B70"/>
              </a:buClr>
              <a:buFont typeface="Arial"/>
              <a:buChar char="•"/>
            </a:pPr>
            <a:r>
              <a:rPr sz="1850" b="0">
                <a:solidFill>
                  <a:srgbClr val="111111"/>
                </a:solidFill>
                <a:latin typeface="Inter"/>
              </a:rPr>
              <a:t>Features about words that occur anywhere in the window (regardless of position)</a:t>
            </a:r>
          </a:p>
          <a:p>
            <a:pPr algn="l" marL="512064" indent="-219456" lvl="1">
              <a:spcBef>
                <a:spcPts val="300"/>
              </a:spcBef>
              <a:buClr>
                <a:srgbClr val="CC7B70"/>
              </a:buClr>
              <a:buFont typeface="Arial"/>
              <a:buChar char="–"/>
            </a:pPr>
            <a:r>
              <a:rPr sz="1670" b="0">
                <a:solidFill>
                  <a:srgbClr val="555555"/>
                </a:solidFill>
                <a:latin typeface="Inter"/>
              </a:rPr>
              <a:t>Typically limited to frequency counts</a:t>
            </a:r>
          </a:p>
        </p:txBody>
      </p:sp>
      <p:sp>
        <p:nvSpPr>
          <p:cNvPr id="17" name="Rounded Rectangle 16"/>
          <p:cNvSpPr/>
          <p:nvPr/>
        </p:nvSpPr>
        <p:spPr>
          <a:xfrm>
            <a:off x="457200" y="3919198"/>
            <a:ext cx="11274552"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Feature vectors divide context information into position-dependent and position-independent metrics. This matters because different features capture distinct types of linguistic clues. Collocational features track exact positions, while bag-of-words features count total occurrences within a window regardless of location. Example: Tracking the exact word immediately to the left is collocational, while counting total nearby words is bag-of-words.</a:t>
            </a:r>
          </a:p>
        </p:txBody>
      </p:sp>
      <p:sp>
        <p:nvSpPr>
          <p:cNvPr id="20" name="Rounded Rectangle 19"/>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Collocational features — Information about words and parts of speech at specific positions near a target.  ·  Bag-of-words features — Frequency counts of words occurring anywhere within a surrounding window.</a:t>
            </a:r>
          </a:p>
        </p:txBody>
      </p:sp>
      <p:sp>
        <p:nvSpPr>
          <p:cNvPr id="21" name="Rectangle 20"/>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Example text demonstrates establishing a specific context window around a target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56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59656"/>
            <a:ext cx="82296" cy="141037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3080"/>
            <a:ext cx="6907734" cy="1428658"/>
          </a:xfrm>
          <a:prstGeom prst="rect">
            <a:avLst/>
          </a:prstGeom>
          <a:noFill/>
        </p:spPr>
        <p:txBody>
          <a:bodyPr wrap="square" anchor="t" lIns="0" tIns="0" rIns="0" bIns="0">
            <a:spAutoFit/>
          </a:bodyPr>
          <a:lstStyle/>
          <a:p>
            <a:pPr algn="l"/>
            <a:r>
              <a:rPr sz="2230" b="1">
                <a:solidFill>
                  <a:srgbClr val="485174"/>
                </a:solidFill>
                <a:latin typeface="Bebas Neue"/>
              </a:rPr>
              <a:t>Example text (WSJ): An electric guitar and bass player stand off to one side not really part of the scene.</a:t>
            </a:r>
          </a:p>
        </p:txBody>
      </p:sp>
      <p:sp>
        <p:nvSpPr>
          <p:cNvPr id="10" name="TextBox 9"/>
          <p:cNvSpPr txBox="1"/>
          <p:nvPr/>
        </p:nvSpPr>
        <p:spPr>
          <a:xfrm>
            <a:off x="720547" y="3043763"/>
            <a:ext cx="6907734" cy="288036"/>
          </a:xfrm>
          <a:prstGeom prst="rect">
            <a:avLst/>
          </a:prstGeom>
          <a:noFill/>
        </p:spPr>
        <p:txBody>
          <a:bodyPr wrap="square" lIns="0" rIns="0" tIns="0" bIns="0">
            <a:spAutoFit/>
          </a:bodyPr>
          <a:lstStyle/>
          <a:p>
            <a:r>
              <a:rPr sz="1800">
                <a:solidFill>
                  <a:srgbClr val="111111"/>
                </a:solidFill>
                <a:latin typeface="Inter"/>
              </a:rPr>
              <a:t>Assume a window of +/--2 from the target.</a:t>
            </a:r>
          </a:p>
        </p:txBody>
      </p:sp>
      <p:sp>
        <p:nvSpPr>
          <p:cNvPr id="11" name="TextBox 10"/>
          <p:cNvSpPr txBox="1"/>
          <p:nvPr/>
        </p:nvSpPr>
        <p:spPr>
          <a:xfrm>
            <a:off x="720547" y="3459815"/>
            <a:ext cx="6907734" cy="576072"/>
          </a:xfrm>
          <a:prstGeom prst="rect">
            <a:avLst/>
          </a:prstGeom>
          <a:noFill/>
        </p:spPr>
        <p:txBody>
          <a:bodyPr wrap="square" lIns="0" rIns="0" tIns="0" bIns="0">
            <a:spAutoFit/>
          </a:bodyPr>
          <a:lstStyle/>
          <a:p>
            <a:r>
              <a:rPr sz="1800">
                <a:solidFill>
                  <a:srgbClr val="111111"/>
                </a:solidFill>
                <a:latin typeface="Inter"/>
              </a:rPr>
              <a:t>Example sentences illustrate how to isolate text segments for analysis.</a:t>
            </a:r>
          </a:p>
        </p:txBody>
      </p:sp>
      <p:sp>
        <p:nvSpPr>
          <p:cNvPr id="12" name="TextBox 11"/>
          <p:cNvSpPr txBox="1"/>
          <p:nvPr/>
        </p:nvSpPr>
        <p:spPr>
          <a:xfrm>
            <a:off x="720547" y="4163903"/>
            <a:ext cx="6907734" cy="576072"/>
          </a:xfrm>
          <a:prstGeom prst="rect">
            <a:avLst/>
          </a:prstGeom>
          <a:noFill/>
        </p:spPr>
        <p:txBody>
          <a:bodyPr wrap="square" lIns="0" rIns="0" tIns="0" bIns="0">
            <a:spAutoFit/>
          </a:bodyPr>
          <a:lstStyle/>
          <a:p>
            <a:r>
              <a:rPr sz="1120" b="1">
                <a:solidFill>
                  <a:srgbClr val="1D4ED8"/>
                </a:solidFill>
                <a:latin typeface="Bebas Neue"/>
              </a:rPr>
              <a:t>BECAUSE   </a:t>
            </a:r>
            <a:r>
              <a:rPr sz="1800">
                <a:solidFill>
                  <a:srgbClr val="111111"/>
                </a:solidFill>
                <a:latin typeface="Inter"/>
              </a:rPr>
              <a:t>This matters </a:t>
            </a:r>
            <a:r>
              <a:rPr sz="1800" b="1">
                <a:solidFill>
                  <a:srgbClr val="1D4ED8"/>
                </a:solidFill>
                <a:latin typeface="Bebas Neue"/>
              </a:rPr>
              <a:t>because</a:t>
            </a:r>
            <a:r>
              <a:rPr sz="1800">
                <a:solidFill>
                  <a:srgbClr val="111111"/>
                </a:solidFill>
                <a:latin typeface="Inter"/>
              </a:rPr>
              <a:t> it establishes a concrete boundary for what context an algorithm examines.</a:t>
            </a:r>
          </a:p>
        </p:txBody>
      </p:sp>
      <p:sp>
        <p:nvSpPr>
          <p:cNvPr id="13" name="TextBox 12"/>
          <p:cNvSpPr txBox="1"/>
          <p:nvPr/>
        </p:nvSpPr>
        <p:spPr>
          <a:xfrm>
            <a:off x="994867" y="4867991"/>
            <a:ext cx="6633414" cy="576072"/>
          </a:xfrm>
          <a:prstGeom prst="rect">
            <a:avLst/>
          </a:prstGeom>
          <a:noFill/>
        </p:spPr>
        <p:txBody>
          <a:bodyPr wrap="square" lIns="0" rIns="0" tIns="0" bIns="0">
            <a:spAutoFit/>
          </a:bodyPr>
          <a:lstStyle/>
          <a:p>
            <a:r>
              <a:rPr sz="1800">
                <a:solidFill>
                  <a:srgbClr val="111111"/>
                </a:solidFill>
                <a:latin typeface="Inter"/>
              </a:rPr>
              <a:t>It works by centering on a target word and selecting a fixed number of surrounding words on each side.</a:t>
            </a:r>
          </a:p>
        </p:txBody>
      </p:sp>
      <p:sp>
        <p:nvSpPr>
          <p:cNvPr id="14" name="TextBox 13"/>
          <p:cNvSpPr txBox="1"/>
          <p:nvPr/>
        </p:nvSpPr>
        <p:spPr>
          <a:xfrm>
            <a:off x="720547" y="5572079"/>
            <a:ext cx="6907734" cy="576072"/>
          </a:xfrm>
          <a:prstGeom prst="rect">
            <a:avLst/>
          </a:prstGeom>
          <a:noFill/>
        </p:spPr>
        <p:txBody>
          <a:bodyPr wrap="square" lIns="0" rIns="0" tIns="0" bIns="0">
            <a:spAutoFit/>
          </a:bodyPr>
          <a:lstStyle/>
          <a:p>
            <a:r>
              <a:rPr sz="1800">
                <a:solidFill>
                  <a:srgbClr val="111111"/>
                </a:solidFill>
                <a:latin typeface="Inter"/>
              </a:rPr>
              <a:t>Example: Looking two words left and two words right of the target word bass in a sentence.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Example text demonstrates establishing a specific context window around a target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57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05788"/>
            <a:ext cx="82296" cy="87462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69212"/>
            <a:ext cx="7087166" cy="892911"/>
          </a:xfrm>
          <a:prstGeom prst="rect">
            <a:avLst/>
          </a:prstGeom>
          <a:noFill/>
        </p:spPr>
        <p:txBody>
          <a:bodyPr wrap="square" anchor="t" lIns="0" tIns="0" rIns="0" bIns="0">
            <a:spAutoFit/>
          </a:bodyPr>
          <a:lstStyle/>
          <a:p>
            <a:pPr algn="l"/>
            <a:r>
              <a:rPr sz="1860" b="1">
                <a:solidFill>
                  <a:srgbClr val="485174"/>
                </a:solidFill>
                <a:latin typeface="Bebas Neue"/>
              </a:rPr>
              <a:t>Example text (WSJ) An electric guitar and bass player stand off to one side not really part of the scene.</a:t>
            </a:r>
          </a:p>
        </p:txBody>
      </p:sp>
      <p:sp>
        <p:nvSpPr>
          <p:cNvPr id="10" name="TextBox 9"/>
          <p:cNvSpPr txBox="1"/>
          <p:nvPr/>
        </p:nvSpPr>
        <p:spPr>
          <a:xfrm>
            <a:off x="720547" y="2554147"/>
            <a:ext cx="7087166" cy="240029"/>
          </a:xfrm>
          <a:prstGeom prst="rect">
            <a:avLst/>
          </a:prstGeom>
          <a:noFill/>
        </p:spPr>
        <p:txBody>
          <a:bodyPr wrap="square" lIns="0" rIns="0" tIns="0" bIns="0">
            <a:spAutoFit/>
          </a:bodyPr>
          <a:lstStyle/>
          <a:p>
            <a:r>
              <a:rPr sz="1500">
                <a:solidFill>
                  <a:srgbClr val="111111"/>
                </a:solidFill>
                <a:latin typeface="Inter"/>
              </a:rPr>
              <a:t>Assume a window of +/--2 from the target.</a:t>
            </a:r>
          </a:p>
        </p:txBody>
      </p:sp>
      <p:sp>
        <p:nvSpPr>
          <p:cNvPr id="11" name="TextBox 10"/>
          <p:cNvSpPr txBox="1"/>
          <p:nvPr/>
        </p:nvSpPr>
        <p:spPr>
          <a:xfrm>
            <a:off x="720547" y="2922193"/>
            <a:ext cx="7087166" cy="240029"/>
          </a:xfrm>
          <a:prstGeom prst="rect">
            <a:avLst/>
          </a:prstGeom>
          <a:noFill/>
        </p:spPr>
        <p:txBody>
          <a:bodyPr wrap="square" lIns="0" rIns="0" tIns="0" bIns="0">
            <a:spAutoFit/>
          </a:bodyPr>
          <a:lstStyle/>
          <a:p>
            <a:r>
              <a:rPr sz="1500">
                <a:solidFill>
                  <a:srgbClr val="111111"/>
                </a:solidFill>
                <a:latin typeface="Inter"/>
              </a:rPr>
              <a:t>Example sentences illustrate how to isolate text segments for analysis.</a:t>
            </a:r>
          </a:p>
        </p:txBody>
      </p:sp>
      <p:sp>
        <p:nvSpPr>
          <p:cNvPr id="12" name="TextBox 11"/>
          <p:cNvSpPr txBox="1"/>
          <p:nvPr/>
        </p:nvSpPr>
        <p:spPr>
          <a:xfrm>
            <a:off x="720547" y="3290239"/>
            <a:ext cx="7087166" cy="480059"/>
          </a:xfrm>
          <a:prstGeom prst="rect">
            <a:avLst/>
          </a:prstGeom>
          <a:noFill/>
        </p:spPr>
        <p:txBody>
          <a:bodyPr wrap="square" lIns="0" rIns="0" tIns="0" bIns="0">
            <a:spAutoFit/>
          </a:bodyPr>
          <a:lstStyle/>
          <a:p>
            <a:r>
              <a:rPr sz="930" b="1">
                <a:solidFill>
                  <a:srgbClr val="1D4ED8"/>
                </a:solidFill>
                <a:latin typeface="Bebas Neue"/>
              </a:rPr>
              <a:t>BECAUSE   </a:t>
            </a:r>
            <a:r>
              <a:rPr sz="1500">
                <a:solidFill>
                  <a:srgbClr val="111111"/>
                </a:solidFill>
                <a:latin typeface="Inter"/>
              </a:rPr>
              <a:t>This matters </a:t>
            </a:r>
            <a:r>
              <a:rPr sz="1500" b="1">
                <a:solidFill>
                  <a:srgbClr val="1D4ED8"/>
                </a:solidFill>
                <a:latin typeface="Bebas Neue"/>
              </a:rPr>
              <a:t>because</a:t>
            </a:r>
            <a:r>
              <a:rPr sz="1500">
                <a:solidFill>
                  <a:srgbClr val="111111"/>
                </a:solidFill>
                <a:latin typeface="Inter"/>
              </a:rPr>
              <a:t> it establishes a concrete boundary for what context an algorithm examines.</a:t>
            </a:r>
          </a:p>
        </p:txBody>
      </p:sp>
      <p:sp>
        <p:nvSpPr>
          <p:cNvPr id="13" name="TextBox 12"/>
          <p:cNvSpPr txBox="1"/>
          <p:nvPr/>
        </p:nvSpPr>
        <p:spPr>
          <a:xfrm>
            <a:off x="994867" y="3898315"/>
            <a:ext cx="6812846" cy="480059"/>
          </a:xfrm>
          <a:prstGeom prst="rect">
            <a:avLst/>
          </a:prstGeom>
          <a:noFill/>
        </p:spPr>
        <p:txBody>
          <a:bodyPr wrap="square" lIns="0" rIns="0" tIns="0" bIns="0">
            <a:spAutoFit/>
          </a:bodyPr>
          <a:lstStyle/>
          <a:p>
            <a:r>
              <a:rPr sz="1500">
                <a:solidFill>
                  <a:srgbClr val="111111"/>
                </a:solidFill>
                <a:latin typeface="Inter"/>
              </a:rPr>
              <a:t>It works by centering on a target word and selecting a fixed number of surrounding words on each side.</a:t>
            </a:r>
          </a:p>
        </p:txBody>
      </p:sp>
      <p:sp>
        <p:nvSpPr>
          <p:cNvPr id="14" name="TextBox 13"/>
          <p:cNvSpPr txBox="1"/>
          <p:nvPr/>
        </p:nvSpPr>
        <p:spPr>
          <a:xfrm>
            <a:off x="720547" y="4506391"/>
            <a:ext cx="7087166" cy="480059"/>
          </a:xfrm>
          <a:prstGeom prst="rect">
            <a:avLst/>
          </a:prstGeom>
          <a:noFill/>
        </p:spPr>
        <p:txBody>
          <a:bodyPr wrap="square" lIns="0" rIns="0" tIns="0" bIns="0">
            <a:spAutoFit/>
          </a:bodyPr>
          <a:lstStyle/>
          <a:p>
            <a:r>
              <a:rPr sz="1500">
                <a:solidFill>
                  <a:srgbClr val="111111"/>
                </a:solidFill>
                <a:latin typeface="Inter"/>
              </a:rPr>
              <a:t>Example: Examining words within a plus-or-minus two word window around bass in a Wall Street Journal excerpt.</a:t>
            </a:r>
          </a:p>
        </p:txBody>
      </p:sp>
      <p:sp>
        <p:nvSpPr>
          <p:cNvPr id="15" name="Rounded Rectangle 14"/>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wsj — Example text</a:t>
            </a:r>
          </a:p>
        </p:txBody>
      </p:sp>
      <p:sp>
        <p:nvSpPr>
          <p:cNvPr id="16" name="Rectangle 15"/>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Collocational features capture position-specific information for words in a window</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58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472132"/>
          </a:xfrm>
          <a:prstGeom prst="roundRect">
            <a:avLst>
              <a:gd name="adj" fmla="val 956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176272"/>
            <a:ext cx="3439058" cy="393140"/>
          </a:xfrm>
          <a:prstGeom prst="rect">
            <a:avLst/>
          </a:prstGeom>
          <a:noFill/>
        </p:spPr>
        <p:txBody>
          <a:bodyPr wrap="square" anchor="b" lIns="0" tIns="0" rIns="0" bIns="0">
            <a:spAutoFit/>
          </a:bodyPr>
          <a:lstStyle/>
          <a:p>
            <a:pPr algn="l"/>
            <a:r>
              <a:rPr sz="2200" b="1">
                <a:solidFill>
                  <a:srgbClr val="485174"/>
                </a:solidFill>
                <a:latin typeface="Bebas Neue"/>
              </a:rPr>
              <a:t>1</a:t>
            </a:r>
          </a:p>
          <a:p>
            <a:pPr algn="l">
              <a:spcBef>
                <a:spcPts val="200"/>
              </a:spcBef>
            </a:pPr>
            <a:r>
              <a:rPr sz="1200" b="1">
                <a:solidFill>
                  <a:srgbClr val="CC7B70"/>
                </a:solidFill>
                <a:latin typeface="Bebas Neue"/>
              </a:rPr>
              <a:t>I+</a:t>
            </a:r>
          </a:p>
          <a:p>
            <a:pPr algn="l">
              <a:spcBef>
                <a:spcPts val="400"/>
              </a:spcBef>
            </a:pPr>
            <a:r>
              <a:rPr sz="1200" b="0">
                <a:solidFill>
                  <a:srgbClr val="111111"/>
                </a:solidFill>
                <a:latin typeface="Inter"/>
              </a:rPr>
              <a:t>i+1</a:t>
            </a:r>
          </a:p>
        </p:txBody>
      </p:sp>
      <p:sp>
        <p:nvSpPr>
          <p:cNvPr id="12" name="Rounded Rectangle 11"/>
          <p:cNvSpPr/>
          <p:nvPr/>
        </p:nvSpPr>
        <p:spPr>
          <a:xfrm>
            <a:off x="4499762" y="1298448"/>
            <a:ext cx="3841394" cy="1472132"/>
          </a:xfrm>
          <a:prstGeom prst="roundRect">
            <a:avLst>
              <a:gd name="adj" fmla="val 956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13001"/>
            <a:ext cx="340156" cy="340156"/>
          </a:xfrm>
          <a:prstGeom prst="rect">
            <a:avLst/>
          </a:prstGeom>
        </p:spPr>
      </p:pic>
      <p:sp>
        <p:nvSpPr>
          <p:cNvPr id="15" name="TextBox 14"/>
          <p:cNvSpPr txBox="1"/>
          <p:nvPr/>
        </p:nvSpPr>
        <p:spPr>
          <a:xfrm>
            <a:off x="4700930" y="2176272"/>
            <a:ext cx="3439058" cy="393140"/>
          </a:xfrm>
          <a:prstGeom prst="rect">
            <a:avLst/>
          </a:prstGeom>
          <a:noFill/>
        </p:spPr>
        <p:txBody>
          <a:bodyPr wrap="square" anchor="b" lIns="0" tIns="0" rIns="0" bIns="0">
            <a:spAutoFit/>
          </a:bodyPr>
          <a:lstStyle/>
          <a:p>
            <a:pPr algn="l"/>
            <a:r>
              <a:rPr sz="2200" b="1">
                <a:solidFill>
                  <a:srgbClr val="485174"/>
                </a:solidFill>
                <a:latin typeface="Bebas Neue"/>
              </a:rPr>
              <a:t>2</a:t>
            </a:r>
          </a:p>
          <a:p>
            <a:pPr algn="l">
              <a:spcBef>
                <a:spcPts val="200"/>
              </a:spcBef>
            </a:pPr>
            <a:r>
              <a:rPr sz="1200" b="1">
                <a:solidFill>
                  <a:srgbClr val="CC7B70"/>
                </a:solidFill>
                <a:latin typeface="Bebas Neue"/>
              </a:rPr>
              <a:t>[WI—</a:t>
            </a:r>
          </a:p>
          <a:p>
            <a:pPr algn="l">
              <a:spcBef>
                <a:spcPts val="400"/>
              </a:spcBef>
            </a:pPr>
            <a:r>
              <a:rPr sz="1200" b="0">
                <a:solidFill>
                  <a:srgbClr val="111111"/>
                </a:solidFill>
                <a:latin typeface="Inter"/>
              </a:rPr>
              <a:t>[wi—2</a:t>
            </a:r>
          </a:p>
        </p:txBody>
      </p:sp>
      <p:sp>
        <p:nvSpPr>
          <p:cNvPr id="16" name="Rounded Rectangle 15"/>
          <p:cNvSpPr/>
          <p:nvPr/>
        </p:nvSpPr>
        <p:spPr>
          <a:xfrm>
            <a:off x="457200" y="2971748"/>
            <a:ext cx="3841394" cy="1472132"/>
          </a:xfrm>
          <a:prstGeom prst="roundRect">
            <a:avLst>
              <a:gd name="adj" fmla="val 956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1729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286302"/>
            <a:ext cx="340156" cy="340156"/>
          </a:xfrm>
          <a:prstGeom prst="rect">
            <a:avLst/>
          </a:prstGeom>
        </p:spPr>
      </p:pic>
      <p:sp>
        <p:nvSpPr>
          <p:cNvPr id="19" name="TextBox 18"/>
          <p:cNvSpPr txBox="1"/>
          <p:nvPr/>
        </p:nvSpPr>
        <p:spPr>
          <a:xfrm>
            <a:off x="658368" y="3849572"/>
            <a:ext cx="3439058" cy="393140"/>
          </a:xfrm>
          <a:prstGeom prst="rect">
            <a:avLst/>
          </a:prstGeom>
          <a:noFill/>
        </p:spPr>
        <p:txBody>
          <a:bodyPr wrap="square" anchor="b" lIns="0" tIns="0" rIns="0" bIns="0">
            <a:spAutoFit/>
          </a:bodyPr>
          <a:lstStyle/>
          <a:p>
            <a:pPr algn="l"/>
            <a:r>
              <a:rPr sz="2200" b="1">
                <a:solidFill>
                  <a:srgbClr val="485174"/>
                </a:solidFill>
                <a:latin typeface="Bebas Neue"/>
              </a:rPr>
              <a:t>1,</a:t>
            </a:r>
          </a:p>
          <a:p>
            <a:pPr algn="l">
              <a:spcBef>
                <a:spcPts val="200"/>
              </a:spcBef>
            </a:pPr>
            <a:r>
              <a:rPr sz="1200" b="1">
                <a:solidFill>
                  <a:srgbClr val="CC7B70"/>
                </a:solidFill>
                <a:latin typeface="Bebas Neue"/>
              </a:rPr>
              <a:t>WI— W</a:t>
            </a:r>
          </a:p>
          <a:p>
            <a:pPr algn="l">
              <a:spcBef>
                <a:spcPts val="400"/>
              </a:spcBef>
            </a:pPr>
            <a:r>
              <a:rPr sz="1200" b="0">
                <a:solidFill>
                  <a:srgbClr val="111111"/>
                </a:solidFill>
                <a:latin typeface="Inter"/>
              </a:rPr>
              <a:t>wi—1,w</a:t>
            </a:r>
          </a:p>
        </p:txBody>
      </p:sp>
      <p:sp>
        <p:nvSpPr>
          <p:cNvPr id="20" name="Rounded Rectangle 19"/>
          <p:cNvSpPr/>
          <p:nvPr/>
        </p:nvSpPr>
        <p:spPr>
          <a:xfrm>
            <a:off x="4499762" y="2971748"/>
            <a:ext cx="3841394" cy="1472132"/>
          </a:xfrm>
          <a:prstGeom prst="roundRect">
            <a:avLst>
              <a:gd name="adj" fmla="val 956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1729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286302"/>
            <a:ext cx="340156" cy="340156"/>
          </a:xfrm>
          <a:prstGeom prst="rect">
            <a:avLst/>
          </a:prstGeom>
        </p:spPr>
      </p:pic>
      <p:sp>
        <p:nvSpPr>
          <p:cNvPr id="23" name="TextBox 22"/>
          <p:cNvSpPr txBox="1"/>
          <p:nvPr/>
        </p:nvSpPr>
        <p:spPr>
          <a:xfrm>
            <a:off x="4700930" y="3849572"/>
            <a:ext cx="3439058" cy="393140"/>
          </a:xfrm>
          <a:prstGeom prst="rect">
            <a:avLst/>
          </a:prstGeom>
          <a:noFill/>
        </p:spPr>
        <p:txBody>
          <a:bodyPr wrap="square" anchor="b" lIns="0" tIns="0" rIns="0" bIns="0">
            <a:spAutoFit/>
          </a:bodyPr>
          <a:lstStyle/>
          <a:p>
            <a:pPr algn="l"/>
            <a:r>
              <a:rPr sz="2200" b="1">
                <a:solidFill>
                  <a:srgbClr val="485174"/>
                </a:solidFill>
                <a:latin typeface="Bebas Neue"/>
              </a:rPr>
              <a:t>1,2,3</a:t>
            </a:r>
          </a:p>
          <a:p>
            <a:pPr algn="l">
              <a:spcBef>
                <a:spcPts val="200"/>
              </a:spcBef>
            </a:pPr>
            <a:r>
              <a:rPr sz="1200" b="1">
                <a:solidFill>
                  <a:srgbClr val="CC7B70"/>
                </a:solidFill>
                <a:latin typeface="Bebas Neue"/>
              </a:rPr>
              <a:t>GRAMS</a:t>
            </a:r>
          </a:p>
          <a:p>
            <a:pPr algn="l">
              <a:spcBef>
                <a:spcPts val="400"/>
              </a:spcBef>
            </a:pPr>
            <a:r>
              <a:rPr sz="1200" b="0">
                <a:solidFill>
                  <a:srgbClr val="111111"/>
                </a:solidFill>
                <a:latin typeface="Inter"/>
              </a:rPr>
              <a:t>word 1,2,3 grams in window of ±3 is common</a:t>
            </a:r>
          </a:p>
        </p:txBody>
      </p:sp>
      <p:sp>
        <p:nvSpPr>
          <p:cNvPr id="24" name="Rounded Rectangle 23"/>
          <p:cNvSpPr/>
          <p:nvPr/>
        </p:nvSpPr>
        <p:spPr>
          <a:xfrm>
            <a:off x="457200" y="4645049"/>
            <a:ext cx="7883956"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718201"/>
            <a:ext cx="7488935" cy="4938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POSi—2,wi—1,POSi—1,wi+1,POSi+1,wi+2,POS</a:t>
            </a:r>
          </a:p>
        </p:txBody>
      </p:sp>
      <p:sp>
        <p:nvSpPr>
          <p:cNvPr id="27" name="Rounded Rectangle 2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Headline: 1 — i+.</a:t>
            </a:r>
          </a:p>
        </p:txBody>
      </p:sp>
      <p:sp>
        <p:nvSpPr>
          <p:cNvPr id="28" name="Rectangle 2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Bag-of-words features count term frequencies while ignoring word positions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59 / 114</a:t>
            </a:r>
          </a:p>
        </p:txBody>
      </p:sp>
      <p:sp>
        <p:nvSpPr>
          <p:cNvPr id="8" name="Rectangle 7"/>
          <p:cNvSpPr/>
          <p:nvPr/>
        </p:nvSpPr>
        <p:spPr>
          <a:xfrm>
            <a:off x="457200" y="1325880"/>
            <a:ext cx="73152" cy="68122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485174"/>
                </a:solidFill>
                <a:latin typeface="Bebas Neue"/>
              </a:rPr>
              <a:t>“an unordered set of words” – position ignored</a:t>
            </a:r>
          </a:p>
          <a:p>
            <a:pPr algn="l">
              <a:spcBef>
                <a:spcPts val="400"/>
              </a:spcBef>
            </a:pPr>
            <a:r>
              <a:rPr sz="1400" b="0">
                <a:solidFill>
                  <a:srgbClr val="111111"/>
                </a:solidFill>
                <a:latin typeface="Inter"/>
              </a:rPr>
              <a:t>Counts of words occur within the window.</a:t>
            </a:r>
          </a:p>
        </p:txBody>
      </p:sp>
      <p:sp>
        <p:nvSpPr>
          <p:cNvPr id="10" name="Rounded Rectangle 9"/>
          <p:cNvSpPr/>
          <p:nvPr/>
        </p:nvSpPr>
        <p:spPr>
          <a:xfrm>
            <a:off x="457200" y="2272284"/>
            <a:ext cx="11274552" cy="3287165"/>
          </a:xfrm>
          <a:prstGeom prst="roundRect">
            <a:avLst>
              <a:gd name="adj" fmla="val 4283"/>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10872216" cy="2965296"/>
          </a:xfrm>
          <a:prstGeom prst="rect">
            <a:avLst/>
          </a:prstGeom>
          <a:noFill/>
        </p:spPr>
        <p:txBody>
          <a:bodyPr wrap="square" anchor="t" lIns="0" tIns="0" rIns="0" bIns="0">
            <a:spAutoFit/>
          </a:bodyPr>
          <a:lstStyle/>
          <a:p>
            <a:pPr algn="l"/>
            <a:r>
              <a:rPr sz="2500" b="1">
                <a:solidFill>
                  <a:srgbClr val="485174"/>
                </a:solidFill>
                <a:latin typeface="Bebas Neue"/>
              </a:rPr>
              <a:t>Then count how often each of those terms occurs in a given window</a:t>
            </a:r>
          </a:p>
          <a:p>
            <a:pPr algn="l" marL="256032" indent="-256032" lvl="0">
              <a:spcBef>
                <a:spcPts val="700"/>
              </a:spcBef>
              <a:buClr>
                <a:srgbClr val="CC7B70"/>
              </a:buClr>
              <a:buFont typeface="Arial"/>
              <a:buChar char="•"/>
            </a:pPr>
            <a:r>
              <a:rPr sz="2000" b="0">
                <a:solidFill>
                  <a:srgbClr val="111111"/>
                </a:solidFill>
                <a:latin typeface="Inter"/>
              </a:rPr>
              <a:t>sometimes just a binary “indicator” 1 or 0</a:t>
            </a:r>
          </a:p>
        </p:txBody>
      </p:sp>
      <p:sp>
        <p:nvSpPr>
          <p:cNvPr id="13" name="Rounded Rectangle 12"/>
          <p:cNvSpPr/>
          <p:nvPr/>
        </p:nvSpPr>
        <p:spPr>
          <a:xfrm>
            <a:off x="457200" y="5760617"/>
            <a:ext cx="11274552"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5760617"/>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5833769"/>
            <a:ext cx="10879531" cy="4938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BAG-OF-WORDS FEATURES First choose a vocabulary</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10</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60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485174"/>
                </a:solidFill>
                <a:latin typeface="Bebas Neue"/>
              </a:rPr>
              <a:t>What was the figure for “Assume a window of +/--”?</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3</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1</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2</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4</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Assume a window of +/--2 from the target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Co-occurrence vectors represent words as frequency arrays based on a fixed vocabulary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61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803948"/>
            <a:ext cx="340156" cy="340156"/>
          </a:xfrm>
          <a:prstGeom prst="rect">
            <a:avLst/>
          </a:prstGeom>
        </p:spPr>
      </p:pic>
      <p:sp>
        <p:nvSpPr>
          <p:cNvPr id="11" name="TextBox 10"/>
          <p:cNvSpPr txBox="1"/>
          <p:nvPr/>
        </p:nvSpPr>
        <p:spPr>
          <a:xfrm>
            <a:off x="1408175" y="1371600"/>
            <a:ext cx="2689250" cy="1204853"/>
          </a:xfrm>
          <a:prstGeom prst="rect">
            <a:avLst/>
          </a:prstGeom>
          <a:noFill/>
        </p:spPr>
        <p:txBody>
          <a:bodyPr wrap="square" anchor="ctr" lIns="0" tIns="0" rIns="0" bIns="0">
            <a:spAutoFit/>
          </a:bodyPr>
          <a:lstStyle/>
          <a:p>
            <a:pPr algn="l"/>
            <a:r>
              <a:rPr sz="1650" b="0">
                <a:solidFill>
                  <a:srgbClr val="111111"/>
                </a:solidFill>
                <a:latin typeface="Inter"/>
              </a:rPr>
              <a:t>Assume we’ve settled on a possible vocabulary of 12 words in “bass” sentences</a:t>
            </a:r>
          </a:p>
        </p:txBody>
      </p:sp>
      <p:sp>
        <p:nvSpPr>
          <p:cNvPr id="12" name="Rounded Rectangle 11"/>
          <p:cNvSpPr/>
          <p:nvPr/>
        </p:nvSpPr>
        <p:spPr>
          <a:xfrm>
            <a:off x="4499762" y="1298448"/>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803948"/>
            <a:ext cx="340156" cy="340156"/>
          </a:xfrm>
          <a:prstGeom prst="rect">
            <a:avLst/>
          </a:prstGeom>
        </p:spPr>
      </p:pic>
      <p:sp>
        <p:nvSpPr>
          <p:cNvPr id="15" name="TextBox 14"/>
          <p:cNvSpPr txBox="1"/>
          <p:nvPr/>
        </p:nvSpPr>
        <p:spPr>
          <a:xfrm>
            <a:off x="5450738" y="1371600"/>
            <a:ext cx="2689250" cy="1204853"/>
          </a:xfrm>
          <a:prstGeom prst="rect">
            <a:avLst/>
          </a:prstGeom>
          <a:noFill/>
        </p:spPr>
        <p:txBody>
          <a:bodyPr wrap="square" anchor="ctr" lIns="0" tIns="0" rIns="0" bIns="0">
            <a:spAutoFit/>
          </a:bodyPr>
          <a:lstStyle/>
          <a:p>
            <a:pPr algn="l"/>
            <a:r>
              <a:rPr sz="1650" b="0">
                <a:solidFill>
                  <a:srgbClr val="111111"/>
                </a:solidFill>
                <a:latin typeface="Inter"/>
              </a:rPr>
              <a:t>[fishing, big, sound, player, fly, rod, pound, double, runs, playing, guitar, band]</a:t>
            </a:r>
          </a:p>
        </p:txBody>
      </p:sp>
      <p:sp>
        <p:nvSpPr>
          <p:cNvPr id="16" name="Rounded Rectangle 15"/>
          <p:cNvSpPr/>
          <p:nvPr/>
        </p:nvSpPr>
        <p:spPr>
          <a:xfrm>
            <a:off x="457200" y="2850773"/>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24288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356274"/>
            <a:ext cx="340156" cy="340156"/>
          </a:xfrm>
          <a:prstGeom prst="rect">
            <a:avLst/>
          </a:prstGeom>
        </p:spPr>
      </p:pic>
      <p:sp>
        <p:nvSpPr>
          <p:cNvPr id="19" name="TextBox 18"/>
          <p:cNvSpPr txBox="1"/>
          <p:nvPr/>
        </p:nvSpPr>
        <p:spPr>
          <a:xfrm>
            <a:off x="1408175" y="2923925"/>
            <a:ext cx="2689250" cy="1204853"/>
          </a:xfrm>
          <a:prstGeom prst="rect">
            <a:avLst/>
          </a:prstGeom>
          <a:noFill/>
        </p:spPr>
        <p:txBody>
          <a:bodyPr wrap="square" anchor="ctr" lIns="0" tIns="0" rIns="0" bIns="0">
            <a:spAutoFit/>
          </a:bodyPr>
          <a:lstStyle/>
          <a:p>
            <a:pPr algn="l"/>
            <a:r>
              <a:rPr sz="1980" b="1">
                <a:solidFill>
                  <a:srgbClr val="485174"/>
                </a:solidFill>
                <a:latin typeface="Bebas Neue"/>
              </a:rPr>
              <a:t>Vector</a:t>
            </a:r>
          </a:p>
          <a:p>
            <a:pPr algn="l">
              <a:spcBef>
                <a:spcPts val="500"/>
              </a:spcBef>
            </a:pPr>
            <a:r>
              <a:rPr sz="1650" b="0">
                <a:solidFill>
                  <a:srgbClr val="111111"/>
                </a:solidFill>
                <a:latin typeface="Inter"/>
              </a:rPr>
              <a:t>The vector for</a:t>
            </a:r>
          </a:p>
        </p:txBody>
      </p:sp>
      <p:sp>
        <p:nvSpPr>
          <p:cNvPr id="20" name="Rounded Rectangle 19"/>
          <p:cNvSpPr/>
          <p:nvPr/>
        </p:nvSpPr>
        <p:spPr>
          <a:xfrm>
            <a:off x="4499762" y="2850773"/>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24288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356274"/>
            <a:ext cx="340156" cy="340156"/>
          </a:xfrm>
          <a:prstGeom prst="rect">
            <a:avLst/>
          </a:prstGeom>
        </p:spPr>
      </p:pic>
      <p:sp>
        <p:nvSpPr>
          <p:cNvPr id="23" name="TextBox 22"/>
          <p:cNvSpPr txBox="1"/>
          <p:nvPr/>
        </p:nvSpPr>
        <p:spPr>
          <a:xfrm>
            <a:off x="5450738" y="2923925"/>
            <a:ext cx="2689250" cy="1204853"/>
          </a:xfrm>
          <a:prstGeom prst="rect">
            <a:avLst/>
          </a:prstGeom>
          <a:noFill/>
        </p:spPr>
        <p:txBody>
          <a:bodyPr wrap="square" anchor="ctr" lIns="0" tIns="0" rIns="0" bIns="0">
            <a:spAutoFit/>
          </a:bodyPr>
          <a:lstStyle/>
          <a:p>
            <a:pPr algn="l"/>
            <a:r>
              <a:rPr sz="1650" b="0">
                <a:solidFill>
                  <a:srgbClr val="111111"/>
                </a:solidFill>
                <a:latin typeface="Inter"/>
              </a:rPr>
              <a:t>guitar and bass player stand [0,0,0,1,0,0,0,0,0,0,1,0]</a:t>
            </a:r>
          </a:p>
        </p:txBody>
      </p:sp>
      <p:sp>
        <p:nvSpPr>
          <p:cNvPr id="24" name="Rounded Rectangle 23"/>
          <p:cNvSpPr/>
          <p:nvPr/>
        </p:nvSpPr>
        <p:spPr>
          <a:xfrm>
            <a:off x="457200" y="4403099"/>
            <a:ext cx="7883956"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a 12-word vocabulary maps the sentence 'guitar and bass player stand' to [0,0,0,1,0,0,0,0,0,0,1,0].</a:t>
            </a:r>
          </a:p>
        </p:txBody>
      </p:sp>
      <p:sp>
        <p:nvSpPr>
          <p:cNvPr id="27" name="Rounded Rectangle 2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Vocabulary — A fixed set of selected words used to build feature vectors.  ·  Vector — An array of numbers representing word occurrences within a given context.</a:t>
            </a:r>
          </a:p>
        </p:txBody>
      </p:sp>
      <p:sp>
        <p:nvSpPr>
          <p:cNvPr id="28" name="Rectangle 2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57" presetID="10"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Classification maps an input word and features to a predicted class from a fixed set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62 / 114</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Classification</a:t>
                      </a:r>
                    </a:p>
                  </a:txBody>
                  <a:tcPr marL="146304" marR="146304" anchor="ctr">
                    <a:solidFill>
                      <a:srgbClr val="485174"/>
                    </a:solidFill>
                  </a:tcPr>
                </a:tc>
                <a:tc>
                  <a:txBody>
                    <a:bodyPr/>
                    <a:lstStyle/>
                    <a:p>
                      <a:pPr algn="l"/>
                      <a:r>
                        <a:rPr sz="2000" b="1">
                          <a:solidFill>
                            <a:srgbClr val="FFFFFF"/>
                          </a:solidFill>
                          <a:latin typeface="Bebas Neue"/>
                        </a:rPr>
                        <a:t>Features</a:t>
                      </a:r>
                    </a:p>
                  </a:txBody>
                  <a:tcPr marL="146304" marR="146304" anchor="ctr">
                    <a:solidFill>
                      <a:srgbClr val="485174"/>
                    </a:solidFill>
                  </a:tcPr>
                </a:tc>
              </a:tr>
              <a:tr h="1051560">
                <a:tc>
                  <a:txBody>
                    <a:bodyPr/>
                    <a:lstStyle/>
                    <a:p>
                      <a:pPr algn="l"/>
                      <a:r>
                        <a:rPr sz="2000" b="1">
                          <a:solidFill>
                            <a:srgbClr val="485174"/>
                          </a:solidFill>
                          <a:latin typeface="Bebas Neue"/>
                        </a:rPr>
                        <a:t>: DEFINITION</a:t>
                      </a:r>
                    </a:p>
                  </a:txBody>
                  <a:tcPr marL="146304" marR="146304" anchor="ctr">
                    <a:solidFill>
                      <a:srgbClr val="F5F6F8"/>
                    </a:solidFill>
                  </a:tcPr>
                </a:tc>
                <a:tc>
                  <a:txBody>
                    <a:bodyPr/>
                    <a:lstStyle/>
                    <a:p>
                      <a:pPr algn="l"/>
                      <a:r>
                        <a:rPr sz="2000" b="0">
                          <a:solidFill>
                            <a:srgbClr val="111111"/>
                          </a:solidFill>
                          <a:latin typeface="Inter"/>
                        </a:rPr>
                        <a:t>A word w and some features f</a:t>
                      </a:r>
                    </a:p>
                  </a:txBody>
                  <a:tcPr marL="146304" marR="146304" anchor="ctr">
                    <a:solidFill>
                      <a:srgbClr val="F5F6F8"/>
                    </a:solidFill>
                  </a:tcPr>
                </a:tc>
              </a:tr>
              <a:tr h="1051560">
                <a:tc>
                  <a:txBody>
                    <a:bodyPr/>
                    <a:lstStyle/>
                    <a:p>
                      <a:pPr algn="l"/>
                      <a:r>
                        <a:rPr sz="2000" b="1">
                          <a:solidFill>
                            <a:srgbClr val="485174"/>
                          </a:solidFill>
                          <a:latin typeface="Bebas Neue"/>
                        </a:rPr>
                        <a:t>Takes an input word with its</a:t>
                      </a:r>
                    </a:p>
                  </a:txBody>
                  <a:tcPr marL="146304" marR="146304" anchor="ctr">
                    <a:solidFill>
                      <a:srgbClr val="F0F1F3"/>
                    </a:solidFill>
                  </a:tcPr>
                </a:tc>
                <a:tc>
                  <a:txBody>
                    <a:bodyPr/>
                    <a:lstStyle/>
                    <a:p>
                      <a:pPr algn="l"/>
                      <a:r>
                        <a:rPr sz="2000" b="0">
                          <a:solidFill>
                            <a:srgbClr val="111111"/>
                          </a:solidFill>
                          <a:latin typeface="Inter"/>
                        </a:rPr>
                        <a:t>And assigns it to a predefined class</a:t>
                      </a:r>
                    </a:p>
                  </a:txBody>
                  <a:tcPr marL="146304" marR="146304" anchor="ctr">
                    <a:solidFill>
                      <a:srgbClr val="F0F1F3"/>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Key difference — Classification: : DEFINITION  |  Features: A word w and some features f</a:t>
            </a:r>
          </a:p>
          <a:p>
            <a:pPr algn="l"/>
            <a:r>
              <a:rPr b="1" sz="1300">
                <a:solidFill>
                  <a:srgbClr val="485174"/>
                </a:solidFill>
                <a:latin typeface="Bebas Neue"/>
              </a:rPr>
              <a:t>Key terms:  </a:t>
            </a:r>
            <a:r>
              <a:rPr sz="1300" b="0">
                <a:solidFill>
                  <a:srgbClr val="111111"/>
                </a:solidFill>
                <a:latin typeface="Inter"/>
              </a:rPr>
              <a:t>Classification — The process of predicting a class for an input word and features.  ·  Classes — A fixed set of categories like C = {c1, c2,…, cJ}.</a:t>
            </a:r>
          </a:p>
        </p:txBody>
      </p:sp>
      <p:sp>
        <p:nvSpPr>
          <p:cNvPr id="10" name="Rectangle 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machine learning uses hand-labeled text windows to learn a classifier</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63 / 114</a:t>
            </a:r>
          </a:p>
        </p:txBody>
      </p:sp>
      <p:sp>
        <p:nvSpPr>
          <p:cNvPr id="8" name="Rounded Rectangle 7"/>
          <p:cNvSpPr/>
          <p:nvPr/>
        </p:nvSpPr>
        <p:spPr>
          <a:xfrm>
            <a:off x="457200"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339664"/>
          </a:xfrm>
          <a:prstGeom prst="rect">
            <a:avLst/>
          </a:prstGeom>
          <a:noFill/>
        </p:spPr>
        <p:txBody>
          <a:bodyPr wrap="square" anchor="t" lIns="0" tIns="0" rIns="0" bIns="0">
            <a:spAutoFit/>
          </a:bodyPr>
          <a:lstStyle/>
          <a:p>
            <a:pPr algn="l"/>
            <a:r>
              <a:rPr sz="2120" b="1">
                <a:solidFill>
                  <a:srgbClr val="485174"/>
                </a:solidFill>
                <a:latin typeface="Bebas Neue"/>
              </a:rPr>
              <a:t>Input</a:t>
            </a:r>
          </a:p>
          <a:p>
            <a:pPr algn="l" marL="256032" indent="-256032" lvl="0">
              <a:spcBef>
                <a:spcPts val="700"/>
              </a:spcBef>
              <a:buClr>
                <a:srgbClr val="CC7B70"/>
              </a:buClr>
              <a:buFont typeface="Arial"/>
              <a:buChar char="•"/>
            </a:pPr>
            <a:r>
              <a:rPr sz="1700" b="0">
                <a:solidFill>
                  <a:srgbClr val="111111"/>
                </a:solidFill>
                <a:latin typeface="Inter"/>
              </a:rPr>
              <a:t>a word w in a text window d (which we’ll call a “document”)</a:t>
            </a:r>
          </a:p>
          <a:p>
            <a:pPr algn="l" marL="256032" indent="-256032" lvl="0">
              <a:spcBef>
                <a:spcPts val="700"/>
              </a:spcBef>
              <a:buClr>
                <a:srgbClr val="CC7B70"/>
              </a:buClr>
              <a:buFont typeface="Arial"/>
              <a:buChar char="•"/>
            </a:pPr>
            <a:r>
              <a:rPr sz="1700" b="0">
                <a:solidFill>
                  <a:srgbClr val="111111"/>
                </a:solidFill>
                <a:latin typeface="Inter"/>
              </a:rPr>
              <a:t>a fixed set of classes C = {c1, c2,…, cJ}</a:t>
            </a:r>
          </a:p>
          <a:p>
            <a:pPr algn="l" marL="256032" indent="-256032" lvl="0">
              <a:spcBef>
                <a:spcPts val="700"/>
              </a:spcBef>
              <a:buClr>
                <a:srgbClr val="CC7B70"/>
              </a:buClr>
              <a:buFont typeface="Arial"/>
              <a:buChar char="•"/>
            </a:pPr>
            <a:r>
              <a:rPr sz="1700" b="0">
                <a:solidFill>
                  <a:srgbClr val="111111"/>
                </a:solidFill>
                <a:latin typeface="Inter"/>
              </a:rPr>
              <a:t>A training set of m hand-labeledtext windows again called</a:t>
            </a:r>
          </a:p>
          <a:p>
            <a:pPr algn="l" marL="512064" indent="-219456" lvl="1">
              <a:spcBef>
                <a:spcPts val="300"/>
              </a:spcBef>
              <a:buClr>
                <a:srgbClr val="CC7B70"/>
              </a:buClr>
              <a:buFont typeface="Arial"/>
              <a:buChar char="–"/>
            </a:pPr>
            <a:r>
              <a:rPr sz="1530" b="0">
                <a:solidFill>
                  <a:srgbClr val="555555"/>
                </a:solidFill>
                <a:latin typeface="Inter"/>
              </a:rPr>
              <a:t>“documents” (d1,c1),....,(dm,cm)</a:t>
            </a:r>
          </a:p>
        </p:txBody>
      </p:sp>
      <p:sp>
        <p:nvSpPr>
          <p:cNvPr id="11" name="Rounded Rectangle 10"/>
          <p:cNvSpPr/>
          <p:nvPr/>
        </p:nvSpPr>
        <p:spPr>
          <a:xfrm>
            <a:off x="6195059" y="1298448"/>
            <a:ext cx="5536692" cy="2661533"/>
          </a:xfrm>
          <a:prstGeom prst="roundRect">
            <a:avLst>
              <a:gd name="adj" fmla="val 529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339664"/>
          </a:xfrm>
          <a:prstGeom prst="rect">
            <a:avLst/>
          </a:prstGeom>
          <a:noFill/>
        </p:spPr>
        <p:txBody>
          <a:bodyPr wrap="square" anchor="t" lIns="0" tIns="0" rIns="0" bIns="0">
            <a:spAutoFit/>
          </a:bodyPr>
          <a:lstStyle/>
          <a:p>
            <a:pPr algn="l"/>
            <a:r>
              <a:rPr sz="2120" b="1">
                <a:solidFill>
                  <a:srgbClr val="485174"/>
                </a:solidFill>
                <a:latin typeface="Bebas Neue"/>
              </a:rPr>
              <a:t>Output</a:t>
            </a:r>
          </a:p>
          <a:p>
            <a:pPr algn="l" marL="256032" indent="-256032" lvl="0">
              <a:spcBef>
                <a:spcPts val="700"/>
              </a:spcBef>
              <a:buClr>
                <a:srgbClr val="CC7B70"/>
              </a:buClr>
              <a:buFont typeface="Arial"/>
              <a:buChar char="•"/>
            </a:pPr>
            <a:r>
              <a:rPr sz="1700" b="0">
                <a:solidFill>
                  <a:srgbClr val="111111"/>
                </a:solidFill>
                <a:latin typeface="Inter"/>
              </a:rPr>
              <a:t>a learned classifier γ:d →c</a:t>
            </a:r>
          </a:p>
        </p:txBody>
      </p:sp>
      <p:sp>
        <p:nvSpPr>
          <p:cNvPr id="14" name="Rounded Rectangle 13"/>
          <p:cNvSpPr/>
          <p:nvPr/>
        </p:nvSpPr>
        <p:spPr>
          <a:xfrm>
            <a:off x="457200" y="4161149"/>
            <a:ext cx="11274552"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“documents” (d1,c1),....,(dm,cm) Supervised machine learning trains a system using hand-labeled text windows and documents. It takes inputs like a word in a text window and learns a function that outputs a predicted class. Example: Using labeled documents (d1, c1) to learn a classifier mapping documents to classes.</a:t>
            </a:r>
          </a:p>
        </p:txBody>
      </p:sp>
      <p:sp>
        <p:nvSpPr>
          <p:cNvPr id="17" name="Rounded Rectangle 1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Supervised machine learning — An approach using a training set of hand-labeled documents to learn a classifier.  ·  Classifier — A learned function that maps an input text window to an output class.</a:t>
            </a:r>
          </a:p>
        </p:txBody>
      </p:sp>
      <p:sp>
        <p:nvSpPr>
          <p:cNvPr id="18" name="Rectangle 1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machine learning encompasses multiple classification algorithms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64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5119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64577"/>
            <a:ext cx="340156" cy="340156"/>
          </a:xfrm>
          <a:prstGeom prst="rect">
            <a:avLst/>
          </a:prstGeom>
        </p:spPr>
      </p:pic>
      <p:sp>
        <p:nvSpPr>
          <p:cNvPr id="11" name="TextBox 10"/>
          <p:cNvSpPr txBox="1"/>
          <p:nvPr/>
        </p:nvSpPr>
        <p:spPr>
          <a:xfrm>
            <a:off x="1408175" y="1371600"/>
            <a:ext cx="2622804" cy="526111"/>
          </a:xfrm>
          <a:prstGeom prst="rect">
            <a:avLst/>
          </a:prstGeom>
          <a:noFill/>
        </p:spPr>
        <p:txBody>
          <a:bodyPr wrap="square" anchor="ctr" lIns="0" tIns="0" rIns="0" bIns="0">
            <a:spAutoFit/>
          </a:bodyPr>
          <a:lstStyle/>
          <a:p>
            <a:pPr algn="l"/>
            <a:r>
              <a:rPr sz="1620" b="1">
                <a:solidFill>
                  <a:srgbClr val="485174"/>
                </a:solidFill>
                <a:latin typeface="Bebas Neue"/>
              </a:rPr>
              <a:t>METHODS: SUPERVISED</a:t>
            </a:r>
          </a:p>
        </p:txBody>
      </p:sp>
      <p:sp>
        <p:nvSpPr>
          <p:cNvPr id="12" name="Rounded Rectangle 11"/>
          <p:cNvSpPr/>
          <p:nvPr/>
        </p:nvSpPr>
        <p:spPr>
          <a:xfrm>
            <a:off x="4433315" y="1298448"/>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351191"/>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464577"/>
            <a:ext cx="340156" cy="340156"/>
          </a:xfrm>
          <a:prstGeom prst="rect">
            <a:avLst/>
          </a:prstGeom>
        </p:spPr>
      </p:pic>
      <p:sp>
        <p:nvSpPr>
          <p:cNvPr id="15" name="TextBox 14"/>
          <p:cNvSpPr txBox="1"/>
          <p:nvPr/>
        </p:nvSpPr>
        <p:spPr>
          <a:xfrm>
            <a:off x="5384291" y="1371600"/>
            <a:ext cx="2622804" cy="526111"/>
          </a:xfrm>
          <a:prstGeom prst="rect">
            <a:avLst/>
          </a:prstGeom>
          <a:noFill/>
        </p:spPr>
        <p:txBody>
          <a:bodyPr wrap="square" anchor="ctr" lIns="0" tIns="0" rIns="0" bIns="0">
            <a:spAutoFit/>
          </a:bodyPr>
          <a:lstStyle/>
          <a:p>
            <a:pPr algn="l"/>
            <a:r>
              <a:rPr sz="1620" b="1">
                <a:solidFill>
                  <a:srgbClr val="485174"/>
                </a:solidFill>
                <a:latin typeface="Bebas Neue"/>
              </a:rPr>
              <a:t>Any kind of classifier</a:t>
            </a:r>
          </a:p>
        </p:txBody>
      </p:sp>
      <p:sp>
        <p:nvSpPr>
          <p:cNvPr id="16" name="Rounded Rectangle 15"/>
          <p:cNvSpPr/>
          <p:nvPr/>
        </p:nvSpPr>
        <p:spPr>
          <a:xfrm>
            <a:off x="457200" y="2172031"/>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2247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338161"/>
            <a:ext cx="340156" cy="340156"/>
          </a:xfrm>
          <a:prstGeom prst="rect">
            <a:avLst/>
          </a:prstGeom>
        </p:spPr>
      </p:pic>
      <p:sp>
        <p:nvSpPr>
          <p:cNvPr id="19" name="TextBox 18"/>
          <p:cNvSpPr txBox="1"/>
          <p:nvPr/>
        </p:nvSpPr>
        <p:spPr>
          <a:xfrm>
            <a:off x="1408175" y="2245183"/>
            <a:ext cx="2622804" cy="526111"/>
          </a:xfrm>
          <a:prstGeom prst="rect">
            <a:avLst/>
          </a:prstGeom>
          <a:noFill/>
        </p:spPr>
        <p:txBody>
          <a:bodyPr wrap="square" anchor="ctr" lIns="0" tIns="0" rIns="0" bIns="0">
            <a:spAutoFit/>
          </a:bodyPr>
          <a:lstStyle/>
          <a:p>
            <a:pPr algn="l"/>
            <a:r>
              <a:rPr sz="1620" b="1">
                <a:solidFill>
                  <a:srgbClr val="485174"/>
                </a:solidFill>
                <a:latin typeface="Bebas Neue"/>
              </a:rPr>
              <a:t>Naive Bayes</a:t>
            </a:r>
          </a:p>
        </p:txBody>
      </p:sp>
      <p:sp>
        <p:nvSpPr>
          <p:cNvPr id="20" name="Rounded Rectangle 19"/>
          <p:cNvSpPr/>
          <p:nvPr/>
        </p:nvSpPr>
        <p:spPr>
          <a:xfrm>
            <a:off x="4433315" y="2172031"/>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2247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338161"/>
            <a:ext cx="340156" cy="340156"/>
          </a:xfrm>
          <a:prstGeom prst="rect">
            <a:avLst/>
          </a:prstGeom>
        </p:spPr>
      </p:pic>
      <p:sp>
        <p:nvSpPr>
          <p:cNvPr id="23" name="TextBox 22"/>
          <p:cNvSpPr txBox="1"/>
          <p:nvPr/>
        </p:nvSpPr>
        <p:spPr>
          <a:xfrm>
            <a:off x="5384291" y="2245183"/>
            <a:ext cx="2622804" cy="526111"/>
          </a:xfrm>
          <a:prstGeom prst="rect">
            <a:avLst/>
          </a:prstGeom>
          <a:noFill/>
        </p:spPr>
        <p:txBody>
          <a:bodyPr wrap="square" anchor="ctr" lIns="0" tIns="0" rIns="0" bIns="0">
            <a:spAutoFit/>
          </a:bodyPr>
          <a:lstStyle/>
          <a:p>
            <a:pPr algn="l"/>
            <a:r>
              <a:rPr sz="1620" b="1">
                <a:solidFill>
                  <a:srgbClr val="485174"/>
                </a:solidFill>
                <a:latin typeface="Bebas Neue"/>
              </a:rPr>
              <a:t>Logistic regression</a:t>
            </a:r>
          </a:p>
        </p:txBody>
      </p:sp>
      <p:sp>
        <p:nvSpPr>
          <p:cNvPr id="24" name="Rounded Rectangle 23"/>
          <p:cNvSpPr/>
          <p:nvPr/>
        </p:nvSpPr>
        <p:spPr>
          <a:xfrm>
            <a:off x="457200" y="3045615"/>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09835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211744"/>
            <a:ext cx="340156" cy="340156"/>
          </a:xfrm>
          <a:prstGeom prst="rect">
            <a:avLst/>
          </a:prstGeom>
        </p:spPr>
      </p:pic>
      <p:sp>
        <p:nvSpPr>
          <p:cNvPr id="27" name="TextBox 26"/>
          <p:cNvSpPr txBox="1"/>
          <p:nvPr/>
        </p:nvSpPr>
        <p:spPr>
          <a:xfrm>
            <a:off x="1408175" y="3118767"/>
            <a:ext cx="2622804" cy="526111"/>
          </a:xfrm>
          <a:prstGeom prst="rect">
            <a:avLst/>
          </a:prstGeom>
          <a:noFill/>
        </p:spPr>
        <p:txBody>
          <a:bodyPr wrap="square" anchor="ctr" lIns="0" tIns="0" rIns="0" bIns="0">
            <a:spAutoFit/>
          </a:bodyPr>
          <a:lstStyle/>
          <a:p>
            <a:pPr algn="l"/>
            <a:r>
              <a:rPr sz="1620" b="1">
                <a:solidFill>
                  <a:srgbClr val="485174"/>
                </a:solidFill>
                <a:latin typeface="Bebas Neue"/>
              </a:rPr>
              <a:t>Neural Networks</a:t>
            </a:r>
          </a:p>
        </p:txBody>
      </p:sp>
      <p:sp>
        <p:nvSpPr>
          <p:cNvPr id="28" name="Rounded Rectangle 27"/>
          <p:cNvSpPr/>
          <p:nvPr/>
        </p:nvSpPr>
        <p:spPr>
          <a:xfrm>
            <a:off x="4433315" y="3045615"/>
            <a:ext cx="3774947" cy="672415"/>
          </a:xfrm>
          <a:prstGeom prst="roundRect">
            <a:avLst>
              <a:gd name="adj" fmla="val 2094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34483" y="309835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47869" y="3211744"/>
            <a:ext cx="340156" cy="340156"/>
          </a:xfrm>
          <a:prstGeom prst="rect">
            <a:avLst/>
          </a:prstGeom>
        </p:spPr>
      </p:pic>
      <p:sp>
        <p:nvSpPr>
          <p:cNvPr id="31" name="TextBox 30"/>
          <p:cNvSpPr txBox="1"/>
          <p:nvPr/>
        </p:nvSpPr>
        <p:spPr>
          <a:xfrm>
            <a:off x="5384291" y="3118767"/>
            <a:ext cx="2622804" cy="526111"/>
          </a:xfrm>
          <a:prstGeom prst="rect">
            <a:avLst/>
          </a:prstGeom>
          <a:noFill/>
        </p:spPr>
        <p:txBody>
          <a:bodyPr wrap="square" anchor="ctr" lIns="0" tIns="0" rIns="0" bIns="0">
            <a:spAutoFit/>
          </a:bodyPr>
          <a:lstStyle/>
          <a:p>
            <a:pPr algn="l"/>
            <a:r>
              <a:rPr sz="1620" b="1">
                <a:solidFill>
                  <a:srgbClr val="485174"/>
                </a:solidFill>
                <a:latin typeface="Bebas Neue"/>
              </a:rPr>
              <a:t>Support-vector machines</a:t>
            </a:r>
          </a:p>
        </p:txBody>
      </p:sp>
      <p:sp>
        <p:nvSpPr>
          <p:cNvPr id="32" name="Rounded Rectangle 31"/>
          <p:cNvSpPr/>
          <p:nvPr/>
        </p:nvSpPr>
        <p:spPr>
          <a:xfrm>
            <a:off x="457200" y="3919198"/>
            <a:ext cx="7751064"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k-Nearest Neighbors Supervised methods include various algorithms used to build classifiers. These approaches analyze training data to predict outcomes for new inputs. Example: Using Naive Bayes or Support-vector machines for classification tasks.</a:t>
            </a:r>
          </a:p>
        </p:txBody>
      </p:sp>
      <p:sp>
        <p:nvSpPr>
          <p:cNvPr id="35" name="Rounded Rectangle 34"/>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Naive Bayes — A supervised machine learning classification algorithm.  ·  Support-vector machines — A supervised machine learning method used for classification.</a:t>
            </a:r>
          </a:p>
        </p:txBody>
      </p:sp>
      <p:sp>
        <p:nvSpPr>
          <p:cNvPr id="36" name="Rectangle 35"/>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Applying naive bayes to WSD relies on prior and conditional probabilities from corpora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65 / 114</a:t>
            </a:r>
          </a:p>
        </p:txBody>
      </p:sp>
      <p:sp>
        <p:nvSpPr>
          <p:cNvPr id="8" name="Rectangle 7"/>
          <p:cNvSpPr/>
          <p:nvPr/>
        </p:nvSpPr>
        <p:spPr>
          <a:xfrm>
            <a:off x="457200" y="1325880"/>
            <a:ext cx="73152" cy="36576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485174"/>
                </a:solidFill>
                <a:latin typeface="Bebas Neue"/>
              </a:rPr>
              <a:t>We get both of these from a tagged corpus like SemCor</a:t>
            </a:r>
          </a:p>
        </p:txBody>
      </p:sp>
      <p:sp>
        <p:nvSpPr>
          <p:cNvPr id="10" name="Rounded Rectangle 9"/>
          <p:cNvSpPr/>
          <p:nvPr/>
        </p:nvSpPr>
        <p:spPr>
          <a:xfrm>
            <a:off x="457200" y="1956815"/>
            <a:ext cx="3624072" cy="2487065"/>
          </a:xfrm>
          <a:prstGeom prst="roundRect">
            <a:avLst>
              <a:gd name="adj" fmla="val 566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7750"/>
            <a:ext cx="3221736" cy="2165196"/>
          </a:xfrm>
          <a:prstGeom prst="rect">
            <a:avLst/>
          </a:prstGeom>
          <a:noFill/>
        </p:spPr>
        <p:txBody>
          <a:bodyPr wrap="square" anchor="t" lIns="0" tIns="0" rIns="0" bIns="0">
            <a:spAutoFit/>
          </a:bodyPr>
          <a:lstStyle/>
          <a:p>
            <a:pPr algn="l"/>
            <a:r>
              <a:rPr sz="2000" b="1">
                <a:solidFill>
                  <a:srgbClr val="485174"/>
                </a:solidFill>
                <a:latin typeface="Bebas Neue"/>
              </a:rPr>
              <a:t>P(c) is the prior probability of that sense</a:t>
            </a:r>
          </a:p>
          <a:p>
            <a:pPr algn="l" marL="256032" indent="-256032" lvl="0">
              <a:spcBef>
                <a:spcPts val="700"/>
              </a:spcBef>
              <a:buClr>
                <a:srgbClr val="CC7B70"/>
              </a:buClr>
              <a:buFont typeface="Arial"/>
              <a:buChar char="•"/>
            </a:pPr>
            <a:r>
              <a:rPr sz="1600" b="0">
                <a:solidFill>
                  <a:srgbClr val="111111"/>
                </a:solidFill>
                <a:latin typeface="Inter"/>
              </a:rPr>
              <a:t>Counting in a labeled training set.</a:t>
            </a:r>
          </a:p>
        </p:txBody>
      </p:sp>
      <p:sp>
        <p:nvSpPr>
          <p:cNvPr id="13" name="Rounded Rectangle 12"/>
          <p:cNvSpPr/>
          <p:nvPr/>
        </p:nvSpPr>
        <p:spPr>
          <a:xfrm>
            <a:off x="4282440" y="1956815"/>
            <a:ext cx="3624072" cy="2487065"/>
          </a:xfrm>
          <a:prstGeom prst="roundRect">
            <a:avLst>
              <a:gd name="adj" fmla="val 566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117750"/>
            <a:ext cx="3221736" cy="2165196"/>
          </a:xfrm>
          <a:prstGeom prst="rect">
            <a:avLst/>
          </a:prstGeom>
          <a:noFill/>
        </p:spPr>
        <p:txBody>
          <a:bodyPr wrap="square" anchor="t" lIns="0" tIns="0" rIns="0" bIns="0">
            <a:spAutoFit/>
          </a:bodyPr>
          <a:lstStyle/>
          <a:p>
            <a:pPr algn="l"/>
            <a:r>
              <a:rPr sz="2000" b="1">
                <a:solidFill>
                  <a:srgbClr val="485174"/>
                </a:solidFill>
                <a:latin typeface="Bebas Neue"/>
              </a:rPr>
              <a:t>P(w|c) conditional probability of a word given a particular sense</a:t>
            </a:r>
          </a:p>
          <a:p>
            <a:pPr algn="l" marL="256032" indent="-256032" lvl="0">
              <a:spcBef>
                <a:spcPts val="700"/>
              </a:spcBef>
              <a:buClr>
                <a:srgbClr val="CC7B70"/>
              </a:buClr>
              <a:buFont typeface="Arial"/>
              <a:buChar char="•"/>
            </a:pPr>
            <a:r>
              <a:rPr sz="1600" b="0">
                <a:solidFill>
                  <a:srgbClr val="111111"/>
                </a:solidFill>
                <a:latin typeface="Inter"/>
              </a:rPr>
              <a:t>P(w|c) = count(w,c)/count(c)</a:t>
            </a:r>
          </a:p>
        </p:txBody>
      </p:sp>
      <p:sp>
        <p:nvSpPr>
          <p:cNvPr id="16" name="Rounded Rectangle 15"/>
          <p:cNvSpPr/>
          <p:nvPr/>
        </p:nvSpPr>
        <p:spPr>
          <a:xfrm>
            <a:off x="8107680" y="1956815"/>
            <a:ext cx="3624072" cy="2487065"/>
          </a:xfrm>
          <a:prstGeom prst="roundRect">
            <a:avLst>
              <a:gd name="adj" fmla="val 566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117750"/>
            <a:ext cx="3221736" cy="2165196"/>
          </a:xfrm>
          <a:prstGeom prst="rect">
            <a:avLst/>
          </a:prstGeom>
          <a:noFill/>
        </p:spPr>
        <p:txBody>
          <a:bodyPr wrap="square" anchor="t" lIns="0" tIns="0" rIns="0" bIns="0">
            <a:spAutoFit/>
          </a:bodyPr>
          <a:lstStyle/>
          <a:p>
            <a:pPr algn="l"/>
            <a:r>
              <a:rPr sz="2000" b="1">
                <a:solidFill>
                  <a:srgbClr val="485174"/>
                </a:solidFill>
                <a:latin typeface="Bebas Neue"/>
              </a:rPr>
              <a:t>Can also generalize to look at other features besides words.</a:t>
            </a:r>
          </a:p>
          <a:p>
            <a:pPr algn="l" marL="256032" indent="-256032" lvl="0">
              <a:spcBef>
                <a:spcPts val="700"/>
              </a:spcBef>
              <a:buClr>
                <a:srgbClr val="CC7B70"/>
              </a:buClr>
              <a:buFont typeface="Arial"/>
              <a:buChar char="•"/>
            </a:pPr>
            <a:r>
              <a:rPr sz="1600" b="0">
                <a:solidFill>
                  <a:srgbClr val="111111"/>
                </a:solidFill>
                <a:latin typeface="Inter"/>
              </a:rPr>
              <a:t>Then it would be P(f|c)</a:t>
            </a:r>
          </a:p>
          <a:p>
            <a:pPr algn="l" marL="512064" indent="-219456" lvl="1">
              <a:spcBef>
                <a:spcPts val="300"/>
              </a:spcBef>
              <a:buClr>
                <a:srgbClr val="CC7B70"/>
              </a:buClr>
              <a:buFont typeface="Arial"/>
              <a:buChar char="–"/>
            </a:pPr>
            <a:r>
              <a:rPr sz="1440" b="0">
                <a:solidFill>
                  <a:srgbClr val="555555"/>
                </a:solidFill>
                <a:latin typeface="Inter"/>
              </a:rPr>
              <a:t>Conditional probability of a feature given a sense</a:t>
            </a:r>
          </a:p>
        </p:txBody>
      </p:sp>
      <p:sp>
        <p:nvSpPr>
          <p:cNvPr id="19" name="Rounded Rectangle 18"/>
          <p:cNvSpPr/>
          <p:nvPr/>
        </p:nvSpPr>
        <p:spPr>
          <a:xfrm>
            <a:off x="457200" y="4645049"/>
            <a:ext cx="11274552"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calculating P(w|c) as the count of a word given a sense divided by the total sense count.</a:t>
            </a:r>
          </a:p>
        </p:txBody>
      </p:sp>
      <p:sp>
        <p:nvSpPr>
          <p:cNvPr id="22" name="Rounded Rectangle 21"/>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Prior probability — The probability of a specific sense calculated by counting in a labeled training set.  ·  Conditional probability — The probability of a word or feature given a particular sense.</a:t>
            </a:r>
          </a:p>
        </p:txBody>
      </p:sp>
      <p:sp>
        <p:nvSpPr>
          <p:cNvPr id="23" name="Rectangle 22"/>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66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“The probability of a specific sense calculated by counting in a labeled training set.”?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Choosing a class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Conditional probability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Prior probability</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Lexeme</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550" b="0">
                <a:solidFill>
                  <a:srgbClr val="FFFFFF"/>
                </a:solidFill>
                <a:latin typeface="Inter"/>
              </a:rPr>
              <a:t>Prior probability: The probability of a specific sense calculated by counting in a labeled training set.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Choosing a class with naive bayes involves calculating conditional probabilities and class counts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67 / 114</a:t>
            </a:r>
          </a:p>
        </p:txBody>
      </p:sp>
      <p:pic>
        <p:nvPicPr>
          <p:cNvPr id="7" name="Picture 6" descr="image.png"/>
          <p:cNvPicPr>
            <a:picLocks noChangeAspect="1"/>
          </p:cNvPicPr>
          <p:nvPr/>
        </p:nvPicPr>
        <p:blipFill>
          <a:blip r:embed="rId3"/>
          <a:stretch>
            <a:fillRect/>
          </a:stretch>
        </p:blipFill>
        <p:spPr>
          <a:xfrm>
            <a:off x="7672913" y="2087328"/>
            <a:ext cx="4058838" cy="2409022"/>
          </a:xfrm>
          <a:prstGeom prst="rect">
            <a:avLst/>
          </a:prstGeom>
        </p:spPr>
      </p:pic>
      <p:sp>
        <p:nvSpPr>
          <p:cNvPr id="8" name="TextBox 7"/>
          <p:cNvSpPr txBox="1"/>
          <p:nvPr/>
        </p:nvSpPr>
        <p:spPr>
          <a:xfrm>
            <a:off x="457200" y="1298448"/>
            <a:ext cx="7014545" cy="365760"/>
          </a:xfrm>
          <a:prstGeom prst="rect">
            <a:avLst/>
          </a:prstGeom>
          <a:noFill/>
        </p:spPr>
        <p:txBody>
          <a:bodyPr wrap="square" anchor="ctr" lIns="0" tIns="0" rIns="0" bIns="0">
            <a:spAutoFit/>
          </a:bodyPr>
          <a:lstStyle/>
          <a:p>
            <a:pPr algn="l"/>
            <a:r>
              <a:rPr sz="1500" b="1">
                <a:solidFill>
                  <a:srgbClr val="CC7B70"/>
                </a:solidFill>
                <a:latin typeface="Bebas Neue"/>
              </a:rPr>
              <a:t>CHOOSING A CLASS WITH NAIVE BAYES INVOLVES CALCULATING CONDITIONAL PROBABILITIES AND CLASS COUNTS</a:t>
            </a:r>
          </a:p>
        </p:txBody>
      </p:sp>
      <p:sp>
        <p:nvSpPr>
          <p:cNvPr id="9" name="TextBox 8"/>
          <p:cNvSpPr txBox="1"/>
          <p:nvPr/>
        </p:nvSpPr>
        <p:spPr>
          <a:xfrm>
            <a:off x="457200" y="1847088"/>
            <a:ext cx="7014545" cy="981837"/>
          </a:xfrm>
          <a:prstGeom prst="rect">
            <a:avLst/>
          </a:prstGeom>
          <a:noFill/>
        </p:spPr>
        <p:txBody>
          <a:bodyPr wrap="square" anchor="t" lIns="0" tIns="0" rIns="0" bIns="0">
            <a:spAutoFit/>
          </a:bodyPr>
          <a:lstStyle/>
          <a:p>
            <a:pPr algn="l"/>
            <a:r>
              <a:rPr sz="1950" b="0">
                <a:solidFill>
                  <a:srgbClr val="111111"/>
                </a:solidFill>
                <a:latin typeface="Inter"/>
              </a:rPr>
              <a:t>Pˆ(C) = NC Pˆ(w | c) = count(w,c)+1 V = {fish, smoked, line, haul, guitar, jazz} Choosing a class: 3/4 * 2/14 * (1/14) * 1/14 ConditionalProbabilities: P(line|f) =</a:t>
            </a:r>
          </a:p>
        </p:txBody>
      </p:sp>
      <p:sp>
        <p:nvSpPr>
          <p:cNvPr id="10" name="Rounded Rectangle 9"/>
          <p:cNvSpPr/>
          <p:nvPr/>
        </p:nvSpPr>
        <p:spPr>
          <a:xfrm>
            <a:off x="457200" y="3011805"/>
            <a:ext cx="7014545" cy="1280160"/>
          </a:xfrm>
          <a:prstGeom prst="roundRect">
            <a:avLst>
              <a:gd name="adj" fmla="val 10714"/>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4000" i="1" dirty="0">
                          <a:solidFill>
                            <a:srgbClr val="FFFFFF"/>
                          </a:solidFill>
                          <a:latin typeface="Cambria Math"/>
                        </a:rPr>
                        <m:t>V</m:t>
                      </m:r>
                      <m:r>
                        <m:rPr>
                          <m:sty m:val="p"/>
                        </m:rPr>
                        <a:rPr lang="en-US" sz="4000" i="0" dirty="0">
                          <a:solidFill>
                            <a:srgbClr val="FFFFFF"/>
                          </a:solidFill>
                          <a:latin typeface="Cambria Math"/>
                        </a:rPr>
                        <m:t>=</m:t>
                      </m:r>
                      <m:r>
                        <m:rPr>
                          <m:sty m:val="p"/>
                        </m:rPr>
                        <a:rPr lang="en-US" sz="4000" i="0" dirty="0">
                          <a:solidFill>
                            <a:srgbClr val="FFFFFF"/>
                          </a:solidFill>
                          <a:latin typeface="Cambria Math"/>
                        </a:rPr>
                        <m:t>fish</m:t>
                      </m:r>
                    </m:oMath>
                  </m:oMathPara>
                </a14:m>
              </mc:Choice>
              <mc:Fallback>
                <a:r>
                  <a:rPr lang="en-US" sz="4000">
                    <a:solidFill>
                      <a:srgbClr val="FFFFFF"/>
                    </a:solidFill>
                    <a:latin typeface="Cambria Math"/>
                  </a:rPr>
                  <a:t>V = fish</a:t>
                </a:r>
              </mc:Fallback>
            </mc:AlternateContent>
            <a:endParaRPr lang="en-US" sz="4000"/>
          </a:p>
        </p:txBody>
      </p:sp>
      <p:sp>
        <p:nvSpPr>
          <p:cNvPr id="11" name="Rounded Rectangle 10"/>
          <p:cNvSpPr/>
          <p:nvPr/>
        </p:nvSpPr>
        <p:spPr>
          <a:xfrm>
            <a:off x="457200" y="4403099"/>
            <a:ext cx="7014545"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1286" y="4476251"/>
            <a:ext cx="6619524" cy="73582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multiplying probabilities like 3/4 * 2/14 * (1/14) * 1/14 to choose a class.</a:t>
            </a:r>
          </a:p>
        </p:txBody>
      </p:sp>
      <p:sp>
        <p:nvSpPr>
          <p:cNvPr id="14" name="Rounded Rectangle 1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Remember: V = {fish</a:t>
            </a:r>
          </a:p>
          <a:p>
            <a:pPr algn="l"/>
            <a:r>
              <a:rPr b="1" sz="1300">
                <a:solidFill>
                  <a:srgbClr val="485174"/>
                </a:solidFill>
                <a:latin typeface="Bebas Neue"/>
              </a:rPr>
              <a:t>Key terms:  </a:t>
            </a:r>
            <a:r>
              <a:rPr sz="1300" b="0">
                <a:solidFill>
                  <a:srgbClr val="111111"/>
                </a:solidFill>
                <a:latin typeface="Inter"/>
              </a:rPr>
              <a:t>ConditionalProbabilities — Probabilities of features given a specific class, adjusted with counts.  ·  Choosing a class — The final computation step multiplying prior and conditional probabilities.</a:t>
            </a:r>
          </a:p>
        </p:txBody>
      </p:sp>
      <p:sp>
        <p:nvSpPr>
          <p:cNvPr id="15" name="Rectangle 1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Applying naive bayes to WSD (2/2): 1+1) / (8+6)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68 / 114</a:t>
            </a:r>
          </a:p>
        </p:txBody>
      </p:sp>
      <p:pic>
        <p:nvPicPr>
          <p:cNvPr id="7" name="Picture 6" descr="image.png"/>
          <p:cNvPicPr>
            <a:picLocks noChangeAspect="1"/>
          </p:cNvPicPr>
          <p:nvPr/>
        </p:nvPicPr>
        <p:blipFill>
          <a:blip r:embed="rId3"/>
          <a:stretch>
            <a:fillRect/>
          </a:stretch>
        </p:blipFill>
        <p:spPr>
          <a:xfrm>
            <a:off x="7672913" y="2087328"/>
            <a:ext cx="4058838" cy="2409022"/>
          </a:xfrm>
          <a:prstGeom prst="rect">
            <a:avLst/>
          </a:prstGeom>
        </p:spPr>
      </p:pic>
      <p:sp>
        <p:nvSpPr>
          <p:cNvPr id="8" name="Rounded Rectangle 7"/>
          <p:cNvSpPr/>
          <p:nvPr/>
        </p:nvSpPr>
        <p:spPr>
          <a:xfrm>
            <a:off x="457200" y="1305199"/>
            <a:ext cx="7014545" cy="1465380"/>
          </a:xfrm>
          <a:prstGeom prst="roundRect">
            <a:avLst>
              <a:gd name="adj" fmla="val 960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5442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867811"/>
            <a:ext cx="340156" cy="340156"/>
          </a:xfrm>
          <a:prstGeom prst="rect">
            <a:avLst/>
          </a:prstGeom>
        </p:spPr>
      </p:pic>
      <p:sp>
        <p:nvSpPr>
          <p:cNvPr id="11" name="TextBox 10"/>
          <p:cNvSpPr txBox="1"/>
          <p:nvPr/>
        </p:nvSpPr>
        <p:spPr>
          <a:xfrm>
            <a:off x="1408175" y="1378351"/>
            <a:ext cx="5862401" cy="1319076"/>
          </a:xfrm>
          <a:prstGeom prst="rect">
            <a:avLst/>
          </a:prstGeom>
          <a:noFill/>
        </p:spPr>
        <p:txBody>
          <a:bodyPr wrap="square" anchor="ctr" lIns="0" tIns="0" rIns="0" bIns="0">
            <a:spAutoFit/>
          </a:bodyPr>
          <a:lstStyle/>
          <a:p>
            <a:pPr algn="l"/>
            <a:r>
              <a:rPr sz="3120" b="1">
                <a:solidFill>
                  <a:srgbClr val="485174"/>
                </a:solidFill>
                <a:latin typeface="Bebas Neue"/>
              </a:rPr>
              <a:t>(1+1) / (8+6) = 2/14</a:t>
            </a:r>
          </a:p>
        </p:txBody>
      </p:sp>
      <p:sp>
        <p:nvSpPr>
          <p:cNvPr id="12" name="Rounded Rectangle 11"/>
          <p:cNvSpPr/>
          <p:nvPr/>
        </p:nvSpPr>
        <p:spPr>
          <a:xfrm>
            <a:off x="457200" y="2971748"/>
            <a:ext cx="7014545" cy="1465380"/>
          </a:xfrm>
          <a:prstGeom prst="roundRect">
            <a:avLst>
              <a:gd name="adj" fmla="val 960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4209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3534360"/>
            <a:ext cx="340156" cy="340156"/>
          </a:xfrm>
          <a:prstGeom prst="rect">
            <a:avLst/>
          </a:prstGeom>
        </p:spPr>
      </p:pic>
      <p:sp>
        <p:nvSpPr>
          <p:cNvPr id="15" name="TextBox 14"/>
          <p:cNvSpPr txBox="1"/>
          <p:nvPr/>
        </p:nvSpPr>
        <p:spPr>
          <a:xfrm>
            <a:off x="1408175" y="3044900"/>
            <a:ext cx="5862401" cy="1319076"/>
          </a:xfrm>
          <a:prstGeom prst="rect">
            <a:avLst/>
          </a:prstGeom>
          <a:noFill/>
        </p:spPr>
        <p:txBody>
          <a:bodyPr wrap="square" anchor="ctr" lIns="0" tIns="0" rIns="0" bIns="0">
            <a:spAutoFit/>
          </a:bodyPr>
          <a:lstStyle/>
          <a:p>
            <a:pPr algn="l"/>
            <a:r>
              <a:rPr sz="3120" b="1">
                <a:solidFill>
                  <a:srgbClr val="485174"/>
                </a:solidFill>
                <a:latin typeface="Bebas Neue"/>
              </a:rPr>
              <a:t>P(guitar|f) = (0+1) / (8+6) = 1/14</a:t>
            </a:r>
          </a:p>
        </p:txBody>
      </p:sp>
      <p:sp>
        <p:nvSpPr>
          <p:cNvPr id="16" name="Rounded Rectangle 15"/>
          <p:cNvSpPr/>
          <p:nvPr/>
        </p:nvSpPr>
        <p:spPr>
          <a:xfrm>
            <a:off x="457200" y="4645049"/>
            <a:ext cx="7014545"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718201"/>
            <a:ext cx="6619524" cy="4938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calculating P(guitar|f) as (0+1) / (8+6) = 1/14.</a:t>
            </a:r>
          </a:p>
        </p:txBody>
      </p:sp>
      <p:sp>
        <p:nvSpPr>
          <p:cNvPr id="19" name="Rounded Rectangle 1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Probability — A calculated fraction representing the likelihood of a feature occurring within a sense.  ·  Feature — A specific word or context checked against a sense.</a:t>
            </a:r>
          </a:p>
        </p:txBody>
      </p:sp>
      <p:sp>
        <p:nvSpPr>
          <p:cNvPr id="20" name="Rectangle 1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APPLYING NAIVE BAYES TO WSD (2/2)</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69 / 114</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2818638"/>
                <a:gridCol w="2818638"/>
                <a:gridCol w="2818638"/>
                <a:gridCol w="2818638"/>
              </a:tblGrid>
              <a:tr h="664464">
                <a:tc>
                  <a:txBody>
                    <a:bodyPr/>
                    <a:lstStyle/>
                    <a:p>
                      <a:pPr algn="l"/>
                    </a:p>
                  </a:txBody>
                  <a:tcPr marL="146304" marR="146304" anchor="ctr">
                    <a:solidFill>
                      <a:srgbClr val="485174"/>
                    </a:solidFill>
                  </a:tcPr>
                </a:tc>
                <a:tc>
                  <a:txBody>
                    <a:bodyPr/>
                    <a:lstStyle/>
                    <a:p>
                      <a:pPr algn="l"/>
                      <a:r>
                        <a:rPr sz="2000" b="1">
                          <a:solidFill>
                            <a:srgbClr val="FFFFFF"/>
                          </a:solidFill>
                          <a:latin typeface="Bebas Neue"/>
                        </a:rPr>
                        <a:t>Doc</a:t>
                      </a:r>
                    </a:p>
                  </a:txBody>
                  <a:tcPr marL="146304" marR="146304" anchor="ctr">
                    <a:solidFill>
                      <a:srgbClr val="485174"/>
                    </a:solidFill>
                  </a:tcPr>
                </a:tc>
                <a:tc>
                  <a:txBody>
                    <a:bodyPr/>
                    <a:lstStyle/>
                    <a:p>
                      <a:pPr algn="l"/>
                      <a:r>
                        <a:rPr sz="2000" b="1">
                          <a:solidFill>
                            <a:srgbClr val="FFFFFF"/>
                          </a:solidFill>
                          <a:latin typeface="Bebas Neue"/>
                        </a:rPr>
                        <a:t>Words</a:t>
                      </a:r>
                    </a:p>
                  </a:txBody>
                  <a:tcPr marL="146304" marR="146304" anchor="ctr">
                    <a:solidFill>
                      <a:srgbClr val="485174"/>
                    </a:solidFill>
                  </a:tcPr>
                </a:tc>
                <a:tc>
                  <a:txBody>
                    <a:bodyPr/>
                    <a:lstStyle/>
                    <a:p>
                      <a:pPr algn="l"/>
                      <a:r>
                        <a:rPr sz="2000" b="1">
                          <a:solidFill>
                            <a:srgbClr val="FFFFFF"/>
                          </a:solidFill>
                          <a:latin typeface="Bebas Neue"/>
                        </a:rPr>
                        <a:t>Class</a:t>
                      </a:r>
                    </a:p>
                  </a:txBody>
                  <a:tcPr marL="146304" marR="146304" anchor="ctr">
                    <a:solidFill>
                      <a:srgbClr val="485174"/>
                    </a:solidFill>
                  </a:tcPr>
                </a:tc>
              </a:tr>
              <a:tr h="664464">
                <a:tc>
                  <a:txBody>
                    <a:bodyPr/>
                    <a:lstStyle/>
                    <a:p>
                      <a:pPr algn="l"/>
                      <a:r>
                        <a:rPr sz="1800" b="1">
                          <a:solidFill>
                            <a:srgbClr val="485174"/>
                          </a:solidFill>
                          <a:latin typeface="Bebas Neue"/>
                        </a:rPr>
                        <a:t>Training</a:t>
                      </a:r>
                    </a:p>
                  </a:txBody>
                  <a:tcPr marL="146304" marR="146304" anchor="ctr">
                    <a:solidFill>
                      <a:srgbClr val="F5F6F8"/>
                    </a:solidFill>
                  </a:tcPr>
                </a:tc>
                <a:tc>
                  <a:txBody>
                    <a:bodyPr/>
                    <a:lstStyle/>
                    <a:p>
                      <a:pPr algn="l"/>
                      <a:r>
                        <a:rPr sz="1800" b="0">
                          <a:solidFill>
                            <a:srgbClr val="111111"/>
                          </a:solidFill>
                          <a:latin typeface="Inter"/>
                        </a:rPr>
                        <a:t>1</a:t>
                      </a:r>
                    </a:p>
                  </a:txBody>
                  <a:tcPr marL="146304" marR="146304" anchor="ctr">
                    <a:solidFill>
                      <a:srgbClr val="F5F6F8"/>
                    </a:solidFill>
                  </a:tcPr>
                </a:tc>
                <a:tc>
                  <a:txBody>
                    <a:bodyPr/>
                    <a:lstStyle/>
                    <a:p>
                      <a:pPr algn="l"/>
                      <a:r>
                        <a:rPr sz="1800" b="0">
                          <a:solidFill>
                            <a:srgbClr val="111111"/>
                          </a:solidFill>
                          <a:latin typeface="Inter"/>
                        </a:rPr>
                        <a:t>fish smoked fish</a:t>
                      </a:r>
                    </a:p>
                  </a:txBody>
                  <a:tcPr marL="146304" marR="146304" anchor="ctr">
                    <a:solidFill>
                      <a:srgbClr val="F5F6F8"/>
                    </a:solidFill>
                  </a:tcPr>
                </a:tc>
                <a:tc>
                  <a:txBody>
                    <a:bodyPr/>
                    <a:lstStyle/>
                    <a:p>
                      <a:pPr algn="l"/>
                      <a:r>
                        <a:rPr sz="1800" b="0">
                          <a:solidFill>
                            <a:srgbClr val="111111"/>
                          </a:solidFill>
                          <a:latin typeface="Inter"/>
                        </a:rPr>
                        <a:t>f</a:t>
                      </a:r>
                    </a:p>
                  </a:txBody>
                  <a:tcPr marL="146304" marR="146304" anchor="ctr">
                    <a:solidFill>
                      <a:srgbClr val="F5F6F8"/>
                    </a:solidFill>
                  </a:tcPr>
                </a:tc>
              </a:tr>
              <a:tr h="664464">
                <a:tc>
                  <a:txBody>
                    <a:bodyPr/>
                    <a:lstStyle/>
                    <a:p>
                      <a:pPr algn="l"/>
                    </a:p>
                  </a:txBody>
                  <a:tcPr marL="146304" marR="146304" anchor="ctr">
                    <a:solidFill>
                      <a:srgbClr val="F0F1F3"/>
                    </a:solidFill>
                  </a:tcPr>
                </a:tc>
                <a:tc>
                  <a:txBody>
                    <a:bodyPr/>
                    <a:lstStyle/>
                    <a:p>
                      <a:pPr algn="l"/>
                      <a:r>
                        <a:rPr sz="1800" b="0">
                          <a:solidFill>
                            <a:srgbClr val="111111"/>
                          </a:solidFill>
                          <a:latin typeface="Inter"/>
                        </a:rPr>
                        <a:t>2</a:t>
                      </a:r>
                    </a:p>
                  </a:txBody>
                  <a:tcPr marL="146304" marR="146304" anchor="ctr">
                    <a:solidFill>
                      <a:srgbClr val="F0F1F3"/>
                    </a:solidFill>
                  </a:tcPr>
                </a:tc>
                <a:tc>
                  <a:txBody>
                    <a:bodyPr/>
                    <a:lstStyle/>
                    <a:p>
                      <a:pPr algn="l"/>
                      <a:r>
                        <a:rPr sz="1800" b="0">
                          <a:solidFill>
                            <a:srgbClr val="111111"/>
                          </a:solidFill>
                          <a:latin typeface="Inter"/>
                        </a:rPr>
                        <a:t>fish line</a:t>
                      </a:r>
                    </a:p>
                  </a:txBody>
                  <a:tcPr marL="146304" marR="146304" anchor="ctr">
                    <a:solidFill>
                      <a:srgbClr val="F0F1F3"/>
                    </a:solidFill>
                  </a:tcPr>
                </a:tc>
                <a:tc>
                  <a:txBody>
                    <a:bodyPr/>
                    <a:lstStyle/>
                    <a:p>
                      <a:pPr algn="l"/>
                      <a:r>
                        <a:rPr sz="1800" b="0">
                          <a:solidFill>
                            <a:srgbClr val="111111"/>
                          </a:solidFill>
                          <a:latin typeface="Inter"/>
                        </a:rPr>
                        <a:t>f</a:t>
                      </a:r>
                    </a:p>
                  </a:txBody>
                  <a:tcPr marL="146304" marR="146304" anchor="ctr">
                    <a:solidFill>
                      <a:srgbClr val="F0F1F3"/>
                    </a:solidFill>
                  </a:tcPr>
                </a:tc>
              </a:tr>
              <a:tr h="664464">
                <a:tc>
                  <a:txBody>
                    <a:bodyPr/>
                    <a:lstStyle/>
                    <a:p>
                      <a:pPr algn="l"/>
                    </a:p>
                  </a:txBody>
                  <a:tcPr marL="146304" marR="146304" anchor="ctr">
                    <a:solidFill>
                      <a:srgbClr val="F5F6F8"/>
                    </a:solidFill>
                  </a:tcPr>
                </a:tc>
                <a:tc>
                  <a:txBody>
                    <a:bodyPr/>
                    <a:lstStyle/>
                    <a:p>
                      <a:pPr algn="l"/>
                      <a:r>
                        <a:rPr sz="1800" b="0">
                          <a:solidFill>
                            <a:srgbClr val="111111"/>
                          </a:solidFill>
                          <a:latin typeface="Inter"/>
                        </a:rPr>
                        <a:t>3</a:t>
                      </a:r>
                    </a:p>
                  </a:txBody>
                  <a:tcPr marL="146304" marR="146304" anchor="ctr">
                    <a:solidFill>
                      <a:srgbClr val="F5F6F8"/>
                    </a:solidFill>
                  </a:tcPr>
                </a:tc>
                <a:tc>
                  <a:txBody>
                    <a:bodyPr/>
                    <a:lstStyle/>
                    <a:p>
                      <a:pPr algn="l"/>
                      <a:r>
                        <a:rPr sz="1800" b="0">
                          <a:solidFill>
                            <a:srgbClr val="111111"/>
                          </a:solidFill>
                          <a:latin typeface="Inter"/>
                        </a:rPr>
                        <a:t>fish haul smoked</a:t>
                      </a:r>
                    </a:p>
                  </a:txBody>
                  <a:tcPr marL="146304" marR="146304" anchor="ctr">
                    <a:solidFill>
                      <a:srgbClr val="F5F6F8"/>
                    </a:solidFill>
                  </a:tcPr>
                </a:tc>
                <a:tc>
                  <a:txBody>
                    <a:bodyPr/>
                    <a:lstStyle/>
                    <a:p>
                      <a:pPr algn="l"/>
                      <a:r>
                        <a:rPr sz="1800" b="0">
                          <a:solidFill>
                            <a:srgbClr val="111111"/>
                          </a:solidFill>
                          <a:latin typeface="Inter"/>
                        </a:rPr>
                        <a:t>f</a:t>
                      </a:r>
                    </a:p>
                  </a:txBody>
                  <a:tcPr marL="146304" marR="146304" anchor="ctr">
                    <a:solidFill>
                      <a:srgbClr val="F5F6F8"/>
                    </a:solidFill>
                  </a:tcPr>
                </a:tc>
              </a:tr>
              <a:tr h="664464">
                <a:tc>
                  <a:txBody>
                    <a:bodyPr/>
                    <a:lstStyle/>
                    <a:p>
                      <a:pPr algn="l"/>
                    </a:p>
                  </a:txBody>
                  <a:tcPr marL="146304" marR="146304" anchor="ctr">
                    <a:solidFill>
                      <a:srgbClr val="F0F1F3"/>
                    </a:solidFill>
                  </a:tcPr>
                </a:tc>
                <a:tc>
                  <a:txBody>
                    <a:bodyPr/>
                    <a:lstStyle/>
                    <a:p>
                      <a:pPr algn="l"/>
                      <a:r>
                        <a:rPr sz="1800" b="0">
                          <a:solidFill>
                            <a:srgbClr val="111111"/>
                          </a:solidFill>
                          <a:latin typeface="Inter"/>
                        </a:rPr>
                        <a:t>4</a:t>
                      </a:r>
                    </a:p>
                  </a:txBody>
                  <a:tcPr marL="146304" marR="146304" anchor="ctr">
                    <a:solidFill>
                      <a:srgbClr val="F0F1F3"/>
                    </a:solidFill>
                  </a:tcPr>
                </a:tc>
                <a:tc>
                  <a:txBody>
                    <a:bodyPr/>
                    <a:lstStyle/>
                    <a:p>
                      <a:pPr algn="l"/>
                      <a:r>
                        <a:rPr sz="1800" b="0">
                          <a:solidFill>
                            <a:srgbClr val="111111"/>
                          </a:solidFill>
                          <a:latin typeface="Inter"/>
                        </a:rPr>
                        <a:t>guitar jazz line</a:t>
                      </a:r>
                    </a:p>
                  </a:txBody>
                  <a:tcPr marL="146304" marR="146304" anchor="ctr">
                    <a:solidFill>
                      <a:srgbClr val="F0F1F3"/>
                    </a:solidFill>
                  </a:tcPr>
                </a:tc>
                <a:tc>
                  <a:txBody>
                    <a:bodyPr/>
                    <a:lstStyle/>
                    <a:p>
                      <a:pPr algn="l"/>
                      <a:r>
                        <a:rPr sz="1800" b="0">
                          <a:solidFill>
                            <a:srgbClr val="111111"/>
                          </a:solidFill>
                          <a:latin typeface="Inter"/>
                        </a:rPr>
                        <a:t>g</a:t>
                      </a:r>
                    </a:p>
                  </a:txBody>
                  <a:tcPr marL="146304" marR="146304" anchor="ctr">
                    <a:solidFill>
                      <a:srgbClr val="F0F1F3"/>
                    </a:solidFill>
                  </a:tcPr>
                </a:tc>
              </a:tr>
              <a:tr h="664464">
                <a:tc>
                  <a:txBody>
                    <a:bodyPr/>
                    <a:lstStyle/>
                    <a:p>
                      <a:pPr algn="l"/>
                      <a:r>
                        <a:rPr sz="1800" b="1">
                          <a:solidFill>
                            <a:srgbClr val="485174"/>
                          </a:solidFill>
                          <a:latin typeface="Bebas Neue"/>
                        </a:rPr>
                        <a:t>Test</a:t>
                      </a:r>
                    </a:p>
                  </a:txBody>
                  <a:tcPr marL="146304" marR="146304" anchor="ctr">
                    <a:solidFill>
                      <a:srgbClr val="F5F6F8"/>
                    </a:solidFill>
                  </a:tcPr>
                </a:tc>
                <a:tc>
                  <a:txBody>
                    <a:bodyPr/>
                    <a:lstStyle/>
                    <a:p>
                      <a:pPr algn="l"/>
                      <a:r>
                        <a:rPr sz="1800" b="0">
                          <a:solidFill>
                            <a:srgbClr val="111111"/>
                          </a:solidFill>
                          <a:latin typeface="Inter"/>
                        </a:rPr>
                        <a:t>5</a:t>
                      </a:r>
                    </a:p>
                  </a:txBody>
                  <a:tcPr marL="146304" marR="146304" anchor="ctr">
                    <a:solidFill>
                      <a:srgbClr val="F5F6F8"/>
                    </a:solidFill>
                  </a:tcPr>
                </a:tc>
                <a:tc>
                  <a:txBody>
                    <a:bodyPr/>
                    <a:lstStyle/>
                    <a:p>
                      <a:pPr algn="l"/>
                      <a:r>
                        <a:rPr sz="1800" b="0">
                          <a:solidFill>
                            <a:srgbClr val="111111"/>
                          </a:solidFill>
                          <a:latin typeface="Inter"/>
                        </a:rPr>
                        <a:t>line guitar jazz jazz</a:t>
                      </a:r>
                    </a:p>
                  </a:txBody>
                  <a:tcPr marL="146304" marR="146304" anchor="ctr">
                    <a:solidFill>
                      <a:srgbClr val="F5F6F8"/>
                    </a:solidFill>
                  </a:tcPr>
                </a:tc>
                <a:tc>
                  <a:txBody>
                    <a:bodyPr/>
                    <a:lstStyle/>
                    <a:p>
                      <a:pPr algn="l"/>
                      <a:r>
                        <a:rPr sz="1800" b="0">
                          <a:solidFill>
                            <a:srgbClr val="111111"/>
                          </a:solidFill>
                          <a:latin typeface="Inter"/>
                        </a:rPr>
                        <a:t>?</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5 rows · Doc, Words, Class</a:t>
            </a:r>
          </a:p>
        </p:txBody>
      </p:sp>
      <p:sp>
        <p:nvSpPr>
          <p:cNvPr id="10" name="Rectangle 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Decision lists rank scored yes-no questions to determine word senses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70 / 114</a:t>
            </a:r>
          </a:p>
        </p:txBody>
      </p:sp>
      <p:sp>
        <p:nvSpPr>
          <p:cNvPr id="8" name="Rounded Rectangle 7"/>
          <p:cNvSpPr/>
          <p:nvPr/>
        </p:nvSpPr>
        <p:spPr>
          <a:xfrm>
            <a:off x="457200" y="1298448"/>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13630"/>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141261"/>
          </a:xfrm>
          <a:prstGeom prst="rect">
            <a:avLst/>
          </a:prstGeom>
          <a:noFill/>
        </p:spPr>
        <p:txBody>
          <a:bodyPr wrap="square" anchor="ctr" lIns="0" tIns="0" rIns="0" bIns="0">
            <a:spAutoFit/>
          </a:bodyPr>
          <a:lstStyle/>
          <a:p>
            <a:pPr algn="l"/>
            <a:r>
              <a:rPr sz="1210" b="1">
                <a:solidFill>
                  <a:srgbClr val="485174"/>
                </a:solidFill>
                <a:latin typeface="Bebas Neue"/>
              </a:rPr>
              <a:t>A decision list is an ordered list of yes-no questions bass1 = fish vs. bass2 = music:</a:t>
            </a:r>
          </a:p>
        </p:txBody>
      </p:sp>
      <p:sp>
        <p:nvSpPr>
          <p:cNvPr id="11" name="Rounded Rectangle 10"/>
          <p:cNvSpPr/>
          <p:nvPr/>
        </p:nvSpPr>
        <p:spPr>
          <a:xfrm>
            <a:off x="457200" y="1706714"/>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621897"/>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779866"/>
            <a:ext cx="10213848" cy="141261"/>
          </a:xfrm>
          <a:prstGeom prst="rect">
            <a:avLst/>
          </a:prstGeom>
          <a:noFill/>
        </p:spPr>
        <p:txBody>
          <a:bodyPr wrap="square" anchor="ctr" lIns="0" tIns="0" rIns="0" bIns="0">
            <a:spAutoFit/>
          </a:bodyPr>
          <a:lstStyle/>
          <a:p>
            <a:pPr algn="l"/>
            <a:r>
              <a:rPr sz="1210" b="1">
                <a:solidFill>
                  <a:srgbClr val="485174"/>
                </a:solidFill>
                <a:latin typeface="Bebas Neue"/>
              </a:rPr>
              <a:t>Does ‘fish’ occur in window? - Yes. =&gt; bass1 2. Is the previous word ‘striped ’? - Yes. =&gt; bass1 3. Does ‘guitar’ occur in window? - Yes. =&gt; bass2 4. Is the following word ‘player’? - Yes. =&gt; bass2</a:t>
            </a:r>
          </a:p>
        </p:txBody>
      </p:sp>
      <p:sp>
        <p:nvSpPr>
          <p:cNvPr id="14" name="Rounded Rectangle 13"/>
          <p:cNvSpPr/>
          <p:nvPr/>
        </p:nvSpPr>
        <p:spPr>
          <a:xfrm>
            <a:off x="457200" y="2114981"/>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03016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188133"/>
            <a:ext cx="10213848" cy="141261"/>
          </a:xfrm>
          <a:prstGeom prst="rect">
            <a:avLst/>
          </a:prstGeom>
          <a:noFill/>
        </p:spPr>
        <p:txBody>
          <a:bodyPr wrap="square" anchor="ctr" lIns="0" tIns="0" rIns="0" bIns="0">
            <a:spAutoFit/>
          </a:bodyPr>
          <a:lstStyle/>
          <a:p>
            <a:pPr algn="l"/>
            <a:r>
              <a:rPr sz="1210" b="1">
                <a:solidFill>
                  <a:srgbClr val="485174"/>
                </a:solidFill>
                <a:latin typeface="Bebas Neue"/>
              </a:rPr>
              <a:t>Learning a decision list for a word with two senses:</a:t>
            </a:r>
          </a:p>
        </p:txBody>
      </p:sp>
      <p:sp>
        <p:nvSpPr>
          <p:cNvPr id="17" name="Rounded Rectangle 16"/>
          <p:cNvSpPr/>
          <p:nvPr/>
        </p:nvSpPr>
        <p:spPr>
          <a:xfrm>
            <a:off x="457200" y="2523248"/>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438431"/>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2596400"/>
            <a:ext cx="10213848" cy="141261"/>
          </a:xfrm>
          <a:prstGeom prst="rect">
            <a:avLst/>
          </a:prstGeom>
          <a:noFill/>
        </p:spPr>
        <p:txBody>
          <a:bodyPr wrap="square" anchor="ctr" lIns="0" tIns="0" rIns="0" bIns="0">
            <a:spAutoFit/>
          </a:bodyPr>
          <a:lstStyle/>
          <a:p>
            <a:pPr algn="l"/>
            <a:r>
              <a:rPr sz="1210" b="1">
                <a:solidFill>
                  <a:srgbClr val="485174"/>
                </a:solidFill>
                <a:latin typeface="Bebas Neue"/>
              </a:rPr>
              <a:t>Define a feature set: what kind of questions do you want to ask?</a:t>
            </a:r>
          </a:p>
        </p:txBody>
      </p:sp>
      <p:sp>
        <p:nvSpPr>
          <p:cNvPr id="20" name="Rounded Rectangle 19"/>
          <p:cNvSpPr/>
          <p:nvPr/>
        </p:nvSpPr>
        <p:spPr>
          <a:xfrm>
            <a:off x="457200" y="2931515"/>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846698"/>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004667"/>
            <a:ext cx="10213848" cy="141261"/>
          </a:xfrm>
          <a:prstGeom prst="rect">
            <a:avLst/>
          </a:prstGeom>
          <a:noFill/>
        </p:spPr>
        <p:txBody>
          <a:bodyPr wrap="square" anchor="ctr" lIns="0" tIns="0" rIns="0" bIns="0">
            <a:spAutoFit/>
          </a:bodyPr>
          <a:lstStyle/>
          <a:p>
            <a:pPr algn="l"/>
            <a:r>
              <a:rPr sz="1210" b="1">
                <a:solidFill>
                  <a:srgbClr val="485174"/>
                </a:solidFill>
                <a:latin typeface="Bebas Neue"/>
              </a:rPr>
              <a:t>Enumerate all features (questions) the training data gives answers for</a:t>
            </a:r>
          </a:p>
        </p:txBody>
      </p:sp>
      <p:sp>
        <p:nvSpPr>
          <p:cNvPr id="23" name="Rounded Rectangle 22"/>
          <p:cNvSpPr/>
          <p:nvPr/>
        </p:nvSpPr>
        <p:spPr>
          <a:xfrm>
            <a:off x="457200" y="3339781"/>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325496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3412933"/>
            <a:ext cx="10213848" cy="141261"/>
          </a:xfrm>
          <a:prstGeom prst="rect">
            <a:avLst/>
          </a:prstGeom>
          <a:noFill/>
        </p:spPr>
        <p:txBody>
          <a:bodyPr wrap="square" anchor="ctr" lIns="0" tIns="0" rIns="0" bIns="0">
            <a:spAutoFit/>
          </a:bodyPr>
          <a:lstStyle/>
          <a:p>
            <a:pPr algn="l"/>
            <a:r>
              <a:rPr sz="1210" b="1">
                <a:solidFill>
                  <a:srgbClr val="485174"/>
                </a:solidFill>
                <a:latin typeface="Bebas Neue"/>
              </a:rPr>
              <a:t>Score each feature:</a:t>
            </a:r>
          </a:p>
        </p:txBody>
      </p:sp>
      <p:sp>
        <p:nvSpPr>
          <p:cNvPr id="26" name="Rounded Rectangle 25"/>
          <p:cNvSpPr/>
          <p:nvPr/>
        </p:nvSpPr>
        <p:spPr>
          <a:xfrm>
            <a:off x="457200" y="3748048"/>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3663231"/>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3821200"/>
            <a:ext cx="10213848" cy="141261"/>
          </a:xfrm>
          <a:prstGeom prst="rect">
            <a:avLst/>
          </a:prstGeom>
          <a:noFill/>
        </p:spPr>
        <p:txBody>
          <a:bodyPr wrap="square" anchor="ctr" lIns="0" tIns="0" rIns="0" bIns="0">
            <a:spAutoFit/>
          </a:bodyPr>
          <a:lstStyle/>
          <a:p>
            <a:pPr algn="l"/>
            <a:r>
              <a:rPr sz="1210" b="1">
                <a:solidFill>
                  <a:srgbClr val="485174"/>
                </a:solidFill>
                <a:latin typeface="Bebas Neue"/>
              </a:rPr>
              <a:t>P(sense</a:t>
            </a:r>
          </a:p>
          <a:p>
            <a:pPr algn="l">
              <a:spcBef>
                <a:spcPts val="300"/>
              </a:spcBef>
            </a:pPr>
            <a:r>
              <a:rPr sz="1050" b="0">
                <a:solidFill>
                  <a:srgbClr val="111111"/>
                </a:solidFill>
                <a:latin typeface="Inter"/>
              </a:rPr>
              <a:t>f</a:t>
            </a:r>
          </a:p>
        </p:txBody>
      </p:sp>
      <p:sp>
        <p:nvSpPr>
          <p:cNvPr id="29" name="Rounded Rectangle 28"/>
          <p:cNvSpPr/>
          <p:nvPr/>
        </p:nvSpPr>
        <p:spPr>
          <a:xfrm>
            <a:off x="457200" y="4156315"/>
            <a:ext cx="11274552" cy="287565"/>
          </a:xfrm>
          <a:prstGeom prst="roundRect">
            <a:avLst>
              <a:gd name="adj" fmla="val 4896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4071498"/>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4229467"/>
            <a:ext cx="10213848" cy="141261"/>
          </a:xfrm>
          <a:prstGeom prst="rect">
            <a:avLst/>
          </a:prstGeom>
          <a:noFill/>
        </p:spPr>
        <p:txBody>
          <a:bodyPr wrap="square" anchor="ctr" lIns="0" tIns="0" rIns="0" bIns="0">
            <a:spAutoFit/>
          </a:bodyPr>
          <a:lstStyle/>
          <a:p>
            <a:pPr algn="l"/>
            <a:r>
              <a:rPr sz="1210" b="1">
                <a:solidFill>
                  <a:srgbClr val="485174"/>
                </a:solidFill>
                <a:latin typeface="Bebas Neue"/>
              </a:rPr>
              <a:t>1 i</a:t>
            </a:r>
          </a:p>
        </p:txBody>
      </p:sp>
      <p:sp>
        <p:nvSpPr>
          <p:cNvPr id="32" name="Rounded Rectangle 31"/>
          <p:cNvSpPr/>
          <p:nvPr/>
        </p:nvSpPr>
        <p:spPr>
          <a:xfrm>
            <a:off x="457200" y="4645049"/>
            <a:ext cx="11274552"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asking 'Does fish occur in window?' to decide if bass means fish.</a:t>
            </a:r>
          </a:p>
        </p:txBody>
      </p:sp>
      <p:sp>
        <p:nvSpPr>
          <p:cNvPr id="35" name="Rounded Rectangle 34"/>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Decision list — An ordered list of yes-no questions used to classify word senses.  ·  Feature set — The collection of defined questions asked about the context.</a:t>
            </a:r>
          </a:p>
        </p:txBody>
      </p:sp>
      <p:sp>
        <p:nvSpPr>
          <p:cNvPr id="36" name="Rectangle 35"/>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WSD evaluations use extrinsic task-based tests or intrinsic accuracy metrics against baselines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71 / 114</a:t>
            </a:r>
          </a:p>
        </p:txBody>
      </p:sp>
      <p:sp>
        <p:nvSpPr>
          <p:cNvPr id="8" name="Rounded Rectangle 7"/>
          <p:cNvSpPr/>
          <p:nvPr/>
        </p:nvSpPr>
        <p:spPr>
          <a:xfrm>
            <a:off x="457200" y="1298448"/>
            <a:ext cx="3624072" cy="3145433"/>
          </a:xfrm>
          <a:prstGeom prst="roundRect">
            <a:avLst>
              <a:gd name="adj" fmla="val 447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3221736" cy="2823564"/>
          </a:xfrm>
          <a:prstGeom prst="rect">
            <a:avLst/>
          </a:prstGeom>
          <a:noFill/>
        </p:spPr>
        <p:txBody>
          <a:bodyPr wrap="square" anchor="t" lIns="0" tIns="0" rIns="0" bIns="0">
            <a:spAutoFit/>
          </a:bodyPr>
          <a:lstStyle/>
          <a:p>
            <a:pPr algn="l"/>
            <a:r>
              <a:rPr sz="2060" b="1">
                <a:solidFill>
                  <a:srgbClr val="485174"/>
                </a:solidFill>
                <a:latin typeface="Bebas Neue"/>
              </a:rPr>
              <a:t>Best evaluation: extrinsic (‘end-to-end’, `task-based’) evaluation</a:t>
            </a:r>
          </a:p>
          <a:p>
            <a:pPr algn="l" marL="256032" indent="-256032" lvl="0">
              <a:spcBef>
                <a:spcPts val="700"/>
              </a:spcBef>
              <a:buClr>
                <a:srgbClr val="CC7B70"/>
              </a:buClr>
              <a:buFont typeface="Arial"/>
              <a:buChar char="•"/>
            </a:pPr>
            <a:r>
              <a:rPr sz="1650" b="0">
                <a:solidFill>
                  <a:srgbClr val="111111"/>
                </a:solidFill>
                <a:latin typeface="Inter"/>
              </a:rPr>
              <a:t>Embed WSD algorithm in a task and see if you can do the task better!</a:t>
            </a:r>
          </a:p>
        </p:txBody>
      </p:sp>
      <p:sp>
        <p:nvSpPr>
          <p:cNvPr id="11" name="Rounded Rectangle 10"/>
          <p:cNvSpPr/>
          <p:nvPr/>
        </p:nvSpPr>
        <p:spPr>
          <a:xfrm>
            <a:off x="4282440" y="1298448"/>
            <a:ext cx="3624072" cy="3145433"/>
          </a:xfrm>
          <a:prstGeom prst="roundRect">
            <a:avLst>
              <a:gd name="adj" fmla="val 447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244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3608" y="1459382"/>
            <a:ext cx="3221736" cy="2823564"/>
          </a:xfrm>
          <a:prstGeom prst="rect">
            <a:avLst/>
          </a:prstGeom>
          <a:noFill/>
        </p:spPr>
        <p:txBody>
          <a:bodyPr wrap="square" anchor="t" lIns="0" tIns="0" rIns="0" bIns="0">
            <a:spAutoFit/>
          </a:bodyPr>
          <a:lstStyle/>
          <a:p>
            <a:pPr algn="l"/>
            <a:r>
              <a:rPr sz="2060" b="1">
                <a:solidFill>
                  <a:srgbClr val="485174"/>
                </a:solidFill>
                <a:latin typeface="Bebas Neue"/>
              </a:rPr>
              <a:t>What we often do for convenience: intrinsic evaluation</a:t>
            </a:r>
          </a:p>
          <a:p>
            <a:pPr algn="l" marL="256032" indent="-256032" lvl="0">
              <a:spcBef>
                <a:spcPts val="700"/>
              </a:spcBef>
              <a:buClr>
                <a:srgbClr val="CC7B70"/>
              </a:buClr>
              <a:buFont typeface="Arial"/>
              <a:buChar char="•"/>
            </a:pPr>
            <a:r>
              <a:rPr sz="1650" b="0">
                <a:solidFill>
                  <a:srgbClr val="111111"/>
                </a:solidFill>
                <a:latin typeface="Inter"/>
              </a:rPr>
              <a:t>Exact match sense accuracy</a:t>
            </a:r>
          </a:p>
          <a:p>
            <a:pPr algn="l" marL="512064" indent="-219456" lvl="1">
              <a:spcBef>
                <a:spcPts val="300"/>
              </a:spcBef>
              <a:buClr>
                <a:srgbClr val="CC7B70"/>
              </a:buClr>
              <a:buFont typeface="Arial"/>
              <a:buChar char="–"/>
            </a:pPr>
            <a:r>
              <a:rPr sz="1480" b="0">
                <a:solidFill>
                  <a:srgbClr val="555555"/>
                </a:solidFill>
                <a:latin typeface="Inter"/>
              </a:rPr>
              <a:t>% of words tagged identically with the human-manual sense tags</a:t>
            </a:r>
          </a:p>
          <a:p>
            <a:pPr algn="l" marL="256032" indent="-256032" lvl="0">
              <a:spcBef>
                <a:spcPts val="700"/>
              </a:spcBef>
              <a:buClr>
                <a:srgbClr val="CC7B70"/>
              </a:buClr>
              <a:buFont typeface="Arial"/>
              <a:buChar char="•"/>
            </a:pPr>
            <a:r>
              <a:rPr sz="1650" b="0">
                <a:solidFill>
                  <a:srgbClr val="111111"/>
                </a:solidFill>
                <a:latin typeface="Inter"/>
              </a:rPr>
              <a:t>Usually evaluate using held-out data from same labeled corpus</a:t>
            </a:r>
          </a:p>
        </p:txBody>
      </p:sp>
      <p:sp>
        <p:nvSpPr>
          <p:cNvPr id="14" name="Rounded Rectangle 13"/>
          <p:cNvSpPr/>
          <p:nvPr/>
        </p:nvSpPr>
        <p:spPr>
          <a:xfrm>
            <a:off x="8107680" y="1298448"/>
            <a:ext cx="3624072" cy="3145433"/>
          </a:xfrm>
          <a:prstGeom prst="roundRect">
            <a:avLst>
              <a:gd name="adj" fmla="val 447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768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8848" y="1459382"/>
            <a:ext cx="3221736" cy="2823564"/>
          </a:xfrm>
          <a:prstGeom prst="rect">
            <a:avLst/>
          </a:prstGeom>
          <a:noFill/>
        </p:spPr>
        <p:txBody>
          <a:bodyPr wrap="square" anchor="t" lIns="0" tIns="0" rIns="0" bIns="0">
            <a:spAutoFit/>
          </a:bodyPr>
          <a:lstStyle/>
          <a:p>
            <a:pPr algn="l"/>
            <a:r>
              <a:rPr sz="2060" b="1">
                <a:solidFill>
                  <a:srgbClr val="485174"/>
                </a:solidFill>
                <a:latin typeface="Bebas Neue"/>
              </a:rPr>
              <a:t>Baselines</a:t>
            </a:r>
          </a:p>
          <a:p>
            <a:pPr algn="l" marL="256032" indent="-256032" lvl="0">
              <a:spcBef>
                <a:spcPts val="700"/>
              </a:spcBef>
              <a:buClr>
                <a:srgbClr val="CC7B70"/>
              </a:buClr>
              <a:buFont typeface="Arial"/>
              <a:buChar char="•"/>
            </a:pPr>
            <a:r>
              <a:rPr sz="1650" b="0">
                <a:solidFill>
                  <a:srgbClr val="111111"/>
                </a:solidFill>
                <a:latin typeface="Inter"/>
              </a:rPr>
              <a:t>Most frequent sense</a:t>
            </a:r>
          </a:p>
          <a:p>
            <a:pPr algn="l" marL="256032" indent="-256032" lvl="0">
              <a:spcBef>
                <a:spcPts val="700"/>
              </a:spcBef>
              <a:buClr>
                <a:srgbClr val="CC7B70"/>
              </a:buClr>
              <a:buFont typeface="Arial"/>
              <a:buChar char="•"/>
            </a:pPr>
            <a:r>
              <a:rPr sz="1650" b="0">
                <a:solidFill>
                  <a:srgbClr val="111111"/>
                </a:solidFill>
                <a:latin typeface="Inter"/>
              </a:rPr>
              <a:t>The Lesk algorithm</a:t>
            </a:r>
          </a:p>
        </p:txBody>
      </p:sp>
      <p:sp>
        <p:nvSpPr>
          <p:cNvPr id="17" name="Rounded Rectangle 16"/>
          <p:cNvSpPr/>
          <p:nvPr/>
        </p:nvSpPr>
        <p:spPr>
          <a:xfrm>
            <a:off x="457200" y="4645049"/>
            <a:ext cx="11274552"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For example, using exact match sense accuracy to measure the percentage of identically tagged words.</a:t>
            </a:r>
          </a:p>
        </p:txBody>
      </p:sp>
      <p:sp>
        <p:nvSpPr>
          <p:cNvPr id="20" name="Rounded Rectangle 19"/>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wsd — Word Sense Disambiguation  ·  Extrinsic evaluation — Task-based evaluation embedding a WSD algorithm into a larger task.  ·  Intrinsic evaluation — Convenience evaluation measuring exact match sense accuracy against manual tags.</a:t>
            </a:r>
          </a:p>
        </p:txBody>
      </p:sp>
      <p:sp>
        <p:nvSpPr>
          <p:cNvPr id="21" name="Rectangle 20"/>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72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“Task-based evaluation embedding a WSD algorithm into a larger task.”?</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high-density component</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Polysemy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Extrinsic evaluation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Sentiment analysis</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Extrinsic evaluation: Task-based evaluation embedding a WSD algorithm into a larger task.</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most frequent sense baseline takes the first WordNet sense derived from SemCor</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73 / 114</a:t>
            </a:r>
          </a:p>
        </p:txBody>
      </p:sp>
      <p:sp>
        <p:nvSpPr>
          <p:cNvPr id="8" name="Rounded Rectangle 7"/>
          <p:cNvSpPr/>
          <p:nvPr/>
        </p:nvSpPr>
        <p:spPr>
          <a:xfrm>
            <a:off x="457200" y="1298448"/>
            <a:ext cx="3502152" cy="2903483"/>
          </a:xfrm>
          <a:prstGeom prst="roundRect">
            <a:avLst>
              <a:gd name="adj" fmla="val 484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658368" y="2103120"/>
            <a:ext cx="3099816" cy="1897643"/>
          </a:xfrm>
          <a:prstGeom prst="rect">
            <a:avLst/>
          </a:prstGeom>
          <a:noFill/>
        </p:spPr>
        <p:txBody>
          <a:bodyPr wrap="square" anchor="t" lIns="0" tIns="0" rIns="0" bIns="0">
            <a:spAutoFit/>
          </a:bodyPr>
          <a:lstStyle/>
          <a:p>
            <a:pPr algn="l"/>
            <a:r>
              <a:rPr sz="2400" b="1">
                <a:solidFill>
                  <a:srgbClr val="485174"/>
                </a:solidFill>
                <a:latin typeface="Bebas Neue"/>
              </a:rPr>
              <a:t>So “most frequent sense”</a:t>
            </a:r>
          </a:p>
          <a:p>
            <a:pPr algn="l">
              <a:spcBef>
                <a:spcPts val="500"/>
              </a:spcBef>
            </a:pPr>
            <a:r>
              <a:rPr sz="2000" b="0">
                <a:solidFill>
                  <a:srgbClr val="111111"/>
                </a:solidFill>
                <a:latin typeface="Inter"/>
              </a:rPr>
              <a:t>in WordNet = “take the first sense”</a:t>
            </a:r>
          </a:p>
        </p:txBody>
      </p:sp>
      <p:sp>
        <p:nvSpPr>
          <p:cNvPr id="11" name="Right Arrow 10"/>
          <p:cNvSpPr/>
          <p:nvPr/>
        </p:nvSpPr>
        <p:spPr>
          <a:xfrm>
            <a:off x="4014215" y="2594741"/>
            <a:ext cx="274320" cy="310896"/>
          </a:xfrm>
          <a:prstGeom prst="rightArrow">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2903483"/>
          </a:xfrm>
          <a:prstGeom prst="roundRect">
            <a:avLst>
              <a:gd name="adj" fmla="val 484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499616"/>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4544568" y="2103120"/>
            <a:ext cx="3099816" cy="1897643"/>
          </a:xfrm>
          <a:prstGeom prst="rect">
            <a:avLst/>
          </a:prstGeom>
          <a:noFill/>
        </p:spPr>
        <p:txBody>
          <a:bodyPr wrap="square" anchor="t" lIns="0" tIns="0" rIns="0" bIns="0">
            <a:spAutoFit/>
          </a:bodyPr>
          <a:lstStyle/>
          <a:p>
            <a:pPr algn="l"/>
            <a:r>
              <a:rPr sz="2400" b="1">
                <a:solidFill>
                  <a:srgbClr val="485174"/>
                </a:solidFill>
                <a:latin typeface="Bebas Neue"/>
              </a:rPr>
              <a:t>Most frequent sense method acts</a:t>
            </a:r>
          </a:p>
          <a:p>
            <a:pPr algn="l">
              <a:spcBef>
                <a:spcPts val="500"/>
              </a:spcBef>
            </a:pPr>
            <a:r>
              <a:rPr sz="2000" b="0">
                <a:solidFill>
                  <a:srgbClr val="111111"/>
                </a:solidFill>
                <a:latin typeface="Inter"/>
              </a:rPr>
              <a:t>as a standard baseline by taking the first sense listed in WordNet</a:t>
            </a:r>
          </a:p>
        </p:txBody>
      </p:sp>
      <p:sp>
        <p:nvSpPr>
          <p:cNvPr id="15" name="Right Arrow 14"/>
          <p:cNvSpPr/>
          <p:nvPr/>
        </p:nvSpPr>
        <p:spPr>
          <a:xfrm>
            <a:off x="7900416" y="2594741"/>
            <a:ext cx="274320" cy="310896"/>
          </a:xfrm>
          <a:prstGeom prst="rightArrow">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2903483"/>
          </a:xfrm>
          <a:prstGeom prst="roundRect">
            <a:avLst>
              <a:gd name="adj" fmla="val 484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1499616"/>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8430768" y="2103120"/>
            <a:ext cx="3099816" cy="1897643"/>
          </a:xfrm>
          <a:prstGeom prst="rect">
            <a:avLst/>
          </a:prstGeom>
          <a:noFill/>
        </p:spPr>
        <p:txBody>
          <a:bodyPr wrap="square" anchor="t" lIns="0" tIns="0" rIns="0" bIns="0">
            <a:spAutoFit/>
          </a:bodyPr>
          <a:lstStyle/>
          <a:p>
            <a:pPr algn="l"/>
            <a:r>
              <a:rPr sz="2400" b="1">
                <a:solidFill>
                  <a:srgbClr val="485174"/>
                </a:solidFill>
                <a:latin typeface="Bebas Neue"/>
              </a:rPr>
              <a:t>Example</a:t>
            </a:r>
          </a:p>
          <a:p>
            <a:pPr algn="l">
              <a:spcBef>
                <a:spcPts val="500"/>
              </a:spcBef>
            </a:pPr>
            <a:r>
              <a:rPr sz="2000" b="0">
                <a:solidFill>
                  <a:srgbClr val="111111"/>
                </a:solidFill>
                <a:latin typeface="Inter"/>
              </a:rPr>
              <a:t>Example: Choosing the first sense of a word in WordNet as the default prediction</a:t>
            </a:r>
          </a:p>
        </p:txBody>
      </p:sp>
      <p:sp>
        <p:nvSpPr>
          <p:cNvPr id="19" name="Rounded Rectangle 18"/>
          <p:cNvSpPr/>
          <p:nvPr/>
        </p:nvSpPr>
        <p:spPr>
          <a:xfrm>
            <a:off x="457200" y="4403099"/>
            <a:ext cx="11274552"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WordNet senses are ordered in frequency order Sense frequencies come from the SemCor corpus WordNet senses are ordered by frequency using data from the SemCor corpus.</a:t>
            </a:r>
          </a:p>
        </p:txBody>
      </p:sp>
      <p:sp>
        <p:nvSpPr>
          <p:cNvPr id="22" name="Rounded Rectangle 21"/>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3 steps — from “So “most frequent sense”” to “Example”.</a:t>
            </a:r>
          </a:p>
          <a:p>
            <a:pPr algn="l"/>
            <a:r>
              <a:rPr b="1" sz="1300">
                <a:solidFill>
                  <a:srgbClr val="485174"/>
                </a:solidFill>
                <a:latin typeface="Bebas Neue"/>
              </a:rPr>
              <a:t>Key terms:  </a:t>
            </a:r>
            <a:r>
              <a:rPr sz="1300" b="0">
                <a:solidFill>
                  <a:srgbClr val="111111"/>
                </a:solidFill>
                <a:latin typeface="Inter"/>
              </a:rPr>
              <a:t>Most frequent sense — The strategy of taking the first, most common sense from WordNet.  ·  SemCor corpus — The text collection providing sense frequencies for WordNet.</a:t>
            </a:r>
          </a:p>
        </p:txBody>
      </p:sp>
      <p:sp>
        <p:nvSpPr>
          <p:cNvPr id="23" name="Rectangle 22"/>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Human interannotator agreement establishes a ceiling for word sense annotation accuracy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74 / 114</a:t>
            </a:r>
          </a:p>
        </p:txBody>
      </p:sp>
      <p:sp>
        <p:nvSpPr>
          <p:cNvPr id="7" name="Rounded Rectangle 6">
            <a:hlinkClick r:id="rId3"/>
          </p:cNvPr>
          <p:cNvSpPr/>
          <p:nvPr/>
        </p:nvSpPr>
        <p:spPr>
          <a:xfrm>
            <a:off x="3802989" y="6455664"/>
            <a:ext cx="4582972"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3915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504902"/>
            <a:ext cx="340156" cy="340156"/>
          </a:xfrm>
          <a:prstGeom prst="rect">
            <a:avLst/>
          </a:prstGeom>
        </p:spPr>
      </p:pic>
      <p:sp>
        <p:nvSpPr>
          <p:cNvPr id="12" name="TextBox 11"/>
          <p:cNvSpPr txBox="1"/>
          <p:nvPr/>
        </p:nvSpPr>
        <p:spPr>
          <a:xfrm>
            <a:off x="1408175" y="1371600"/>
            <a:ext cx="2689250" cy="606761"/>
          </a:xfrm>
          <a:prstGeom prst="rect">
            <a:avLst/>
          </a:prstGeom>
          <a:noFill/>
        </p:spPr>
        <p:txBody>
          <a:bodyPr wrap="square" anchor="ctr" lIns="0" tIns="0" rIns="0" bIns="0">
            <a:spAutoFit/>
          </a:bodyPr>
          <a:lstStyle/>
          <a:p>
            <a:pPr algn="l"/>
            <a:r>
              <a:rPr sz="1290" b="0">
                <a:solidFill>
                  <a:srgbClr val="111111"/>
                </a:solidFill>
                <a:latin typeface="Inter"/>
              </a:rPr>
              <a:t>Human inter-annotator agreement</a:t>
            </a:r>
          </a:p>
        </p:txBody>
      </p:sp>
      <p:sp>
        <p:nvSpPr>
          <p:cNvPr id="13" name="Rounded Rectangle 12"/>
          <p:cNvSpPr/>
          <p:nvPr/>
        </p:nvSpPr>
        <p:spPr>
          <a:xfrm>
            <a:off x="4499762" y="1298448"/>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3915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504902"/>
            <a:ext cx="340156" cy="340156"/>
          </a:xfrm>
          <a:prstGeom prst="rect">
            <a:avLst/>
          </a:prstGeom>
        </p:spPr>
      </p:pic>
      <p:sp>
        <p:nvSpPr>
          <p:cNvPr id="16" name="TextBox 15"/>
          <p:cNvSpPr txBox="1"/>
          <p:nvPr/>
        </p:nvSpPr>
        <p:spPr>
          <a:xfrm>
            <a:off x="5450738" y="1371600"/>
            <a:ext cx="2689250" cy="606761"/>
          </a:xfrm>
          <a:prstGeom prst="rect">
            <a:avLst/>
          </a:prstGeom>
          <a:noFill/>
        </p:spPr>
        <p:txBody>
          <a:bodyPr wrap="square" anchor="ctr" lIns="0" tIns="0" rIns="0" bIns="0">
            <a:spAutoFit/>
          </a:bodyPr>
          <a:lstStyle/>
          <a:p>
            <a:pPr algn="l"/>
            <a:r>
              <a:rPr sz="1290" b="0">
                <a:solidFill>
                  <a:srgbClr val="111111"/>
                </a:solidFill>
                <a:latin typeface="Inter"/>
              </a:rPr>
              <a:t>Compare annotations of two humans</a:t>
            </a:r>
          </a:p>
        </p:txBody>
      </p:sp>
      <p:sp>
        <p:nvSpPr>
          <p:cNvPr id="17" name="Rounded Rectangle 16"/>
          <p:cNvSpPr/>
          <p:nvPr/>
        </p:nvSpPr>
        <p:spPr>
          <a:xfrm>
            <a:off x="457200" y="2252681"/>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34575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2459136"/>
            <a:ext cx="340156" cy="340156"/>
          </a:xfrm>
          <a:prstGeom prst="rect">
            <a:avLst/>
          </a:prstGeom>
        </p:spPr>
      </p:pic>
      <p:sp>
        <p:nvSpPr>
          <p:cNvPr id="20" name="TextBox 19"/>
          <p:cNvSpPr txBox="1"/>
          <p:nvPr/>
        </p:nvSpPr>
        <p:spPr>
          <a:xfrm>
            <a:off x="1408175" y="2325833"/>
            <a:ext cx="2689250" cy="606761"/>
          </a:xfrm>
          <a:prstGeom prst="rect">
            <a:avLst/>
          </a:prstGeom>
          <a:noFill/>
        </p:spPr>
        <p:txBody>
          <a:bodyPr wrap="square" anchor="ctr" lIns="0" tIns="0" rIns="0" bIns="0">
            <a:spAutoFit/>
          </a:bodyPr>
          <a:lstStyle/>
          <a:p>
            <a:pPr algn="l"/>
            <a:r>
              <a:rPr sz="1550" b="1">
                <a:solidFill>
                  <a:srgbClr val="485174"/>
                </a:solidFill>
                <a:latin typeface="Bebas Neue"/>
              </a:rPr>
              <a:t>Same data</a:t>
            </a:r>
          </a:p>
          <a:p>
            <a:pPr algn="l">
              <a:spcBef>
                <a:spcPts val="500"/>
              </a:spcBef>
            </a:pPr>
            <a:r>
              <a:rPr sz="1290" b="0">
                <a:solidFill>
                  <a:srgbClr val="111111"/>
                </a:solidFill>
                <a:latin typeface="Inter"/>
              </a:rPr>
              <a:t>On same data</a:t>
            </a:r>
          </a:p>
        </p:txBody>
      </p:sp>
      <p:sp>
        <p:nvSpPr>
          <p:cNvPr id="21" name="Rounded Rectangle 20"/>
          <p:cNvSpPr/>
          <p:nvPr/>
        </p:nvSpPr>
        <p:spPr>
          <a:xfrm>
            <a:off x="4499762" y="2252681"/>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00930" y="234575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4814315" y="2459136"/>
            <a:ext cx="340156" cy="340156"/>
          </a:xfrm>
          <a:prstGeom prst="rect">
            <a:avLst/>
          </a:prstGeom>
        </p:spPr>
      </p:pic>
      <p:sp>
        <p:nvSpPr>
          <p:cNvPr id="24" name="TextBox 23"/>
          <p:cNvSpPr txBox="1"/>
          <p:nvPr/>
        </p:nvSpPr>
        <p:spPr>
          <a:xfrm>
            <a:off x="5450738" y="2325833"/>
            <a:ext cx="2689250" cy="606761"/>
          </a:xfrm>
          <a:prstGeom prst="rect">
            <a:avLst/>
          </a:prstGeom>
          <a:noFill/>
        </p:spPr>
        <p:txBody>
          <a:bodyPr wrap="square" anchor="ctr" lIns="0" tIns="0" rIns="0" bIns="0">
            <a:spAutoFit/>
          </a:bodyPr>
          <a:lstStyle/>
          <a:p>
            <a:pPr algn="l"/>
            <a:r>
              <a:rPr sz="1290" b="0">
                <a:solidFill>
                  <a:srgbClr val="111111"/>
                </a:solidFill>
                <a:latin typeface="Inter"/>
              </a:rPr>
              <a:t>Given same tagging guidelines</a:t>
            </a:r>
          </a:p>
        </p:txBody>
      </p:sp>
      <p:sp>
        <p:nvSpPr>
          <p:cNvPr id="25" name="Rounded Rectangle 24"/>
          <p:cNvSpPr/>
          <p:nvPr/>
        </p:nvSpPr>
        <p:spPr>
          <a:xfrm>
            <a:off x="457200" y="3206915"/>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29998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10"/>
          <a:stretch>
            <a:fillRect/>
          </a:stretch>
        </p:blipFill>
        <p:spPr>
          <a:xfrm>
            <a:off x="771753" y="3413369"/>
            <a:ext cx="340156" cy="340156"/>
          </a:xfrm>
          <a:prstGeom prst="rect">
            <a:avLst/>
          </a:prstGeom>
        </p:spPr>
      </p:pic>
      <p:sp>
        <p:nvSpPr>
          <p:cNvPr id="28" name="TextBox 27"/>
          <p:cNvSpPr txBox="1"/>
          <p:nvPr/>
        </p:nvSpPr>
        <p:spPr>
          <a:xfrm>
            <a:off x="1408175" y="3280067"/>
            <a:ext cx="2689250" cy="606761"/>
          </a:xfrm>
          <a:prstGeom prst="rect">
            <a:avLst/>
          </a:prstGeom>
          <a:noFill/>
        </p:spPr>
        <p:txBody>
          <a:bodyPr wrap="square" anchor="ctr" lIns="0" tIns="0" rIns="0" bIns="0">
            <a:spAutoFit/>
          </a:bodyPr>
          <a:lstStyle/>
          <a:p>
            <a:pPr algn="l"/>
            <a:r>
              <a:rPr sz="1250" b="0">
                <a:solidFill>
                  <a:srgbClr val="111111"/>
                </a:solidFill>
                <a:latin typeface="Inter"/>
              </a:rPr>
              <a:t>Human agreements on all-wordscorpora with WordNet style senses</a:t>
            </a:r>
          </a:p>
        </p:txBody>
      </p:sp>
      <p:sp>
        <p:nvSpPr>
          <p:cNvPr id="29" name="Rounded Rectangle 28"/>
          <p:cNvSpPr/>
          <p:nvPr/>
        </p:nvSpPr>
        <p:spPr>
          <a:xfrm>
            <a:off x="4499762" y="3206915"/>
            <a:ext cx="3841394" cy="753065"/>
          </a:xfrm>
          <a:prstGeom prst="roundRect">
            <a:avLst>
              <a:gd name="adj" fmla="val 1869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00930" y="3299984"/>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11"/>
          <a:stretch>
            <a:fillRect/>
          </a:stretch>
        </p:blipFill>
        <p:spPr>
          <a:xfrm>
            <a:off x="4814315" y="3413369"/>
            <a:ext cx="340156" cy="340156"/>
          </a:xfrm>
          <a:prstGeom prst="rect">
            <a:avLst/>
          </a:prstGeom>
        </p:spPr>
      </p:pic>
      <p:sp>
        <p:nvSpPr>
          <p:cNvPr id="32" name="TextBox 31"/>
          <p:cNvSpPr txBox="1"/>
          <p:nvPr/>
        </p:nvSpPr>
        <p:spPr>
          <a:xfrm>
            <a:off x="5450738" y="3280067"/>
            <a:ext cx="2689250" cy="606761"/>
          </a:xfrm>
          <a:prstGeom prst="rect">
            <a:avLst/>
          </a:prstGeom>
          <a:noFill/>
        </p:spPr>
        <p:txBody>
          <a:bodyPr wrap="square" anchor="ctr" lIns="0" tIns="0" rIns="0" bIns="0">
            <a:spAutoFit/>
          </a:bodyPr>
          <a:lstStyle/>
          <a:p>
            <a:pPr algn="l"/>
            <a:r>
              <a:rPr sz="1050" b="0">
                <a:solidFill>
                  <a:srgbClr val="111111"/>
                </a:solidFill>
                <a:latin typeface="Inter"/>
              </a:rPr>
              <a:t>Human inter-annotator agreement measures how consistently two humans compare annotations on the same data using tagging guidelines</a:t>
            </a:r>
          </a:p>
        </p:txBody>
      </p:sp>
      <p:sp>
        <p:nvSpPr>
          <p:cNvPr id="33" name="Rounded Rectangle 32"/>
          <p:cNvSpPr/>
          <p:nvPr/>
        </p:nvSpPr>
        <p:spPr>
          <a:xfrm>
            <a:off x="457200" y="4161149"/>
            <a:ext cx="7883956"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1286" y="4234301"/>
            <a:ext cx="7488935" cy="9777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CEILING This agreement provides a performance ceiling for all-words corpora with WordNet-style senses. Example: Two annotators comparing word tags on the same text.</a:t>
            </a:r>
          </a:p>
        </p:txBody>
      </p:sp>
      <p:sp>
        <p:nvSpPr>
          <p:cNvPr id="36" name="Rounded Rectangle 35"/>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050">
                <a:solidFill>
                  <a:srgbClr val="485174"/>
                </a:solidFill>
                <a:latin typeface="Bebas Neue"/>
              </a:rPr>
              <a:t>Key terms:  </a:t>
            </a:r>
            <a:r>
              <a:rPr sz="1050" b="0">
                <a:solidFill>
                  <a:srgbClr val="111111"/>
                </a:solidFill>
                <a:latin typeface="Inter"/>
              </a:rPr>
              <a:t>Inter-annotator agreement — A comparison of annotations made by two humans on the same data using tagging guidelines.  ·  WordNet — A lexical database providing style senses used to measure human agreements on all-words corpora.</a:t>
            </a:r>
          </a:p>
          <a:p>
            <a:pPr algn="l"/>
            <a:r>
              <a:rPr b="1" sz="1050">
                <a:solidFill>
                  <a:srgbClr val="485174"/>
                </a:solidFill>
                <a:latin typeface="Bebas Neue"/>
              </a:rPr>
              <a:t>Also in this lecture:  </a:t>
            </a:r>
            <a:r>
              <a:rPr sz="1050" b="0">
                <a:solidFill>
                  <a:srgbClr val="111111"/>
                </a:solidFill>
                <a:latin typeface="Inter"/>
              </a:rPr>
              <a:t>Choose sense with most word overlap between gloss and context (not counting function words) The bank can guarantee ill eventually cover future tuition costs because it invests in adjustable-rate’ securities.</a:t>
            </a:r>
          </a:p>
        </p:txBody>
      </p:sp>
      <p:sp>
        <p:nvSpPr>
          <p:cNvPr id="37" name="Rectangle 36"/>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5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5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5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5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par>
                                <p:cTn id="82" presetID="10" presetClass="entr" presetSubtype="0" fill="hold"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50"/>
                                        <p:tgtEl>
                                          <p:spTgt spid="35"/>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Dictionary based approaches select word senses with the most overlap with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75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47700"/>
            <a:ext cx="82296" cy="798774"/>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11124"/>
            <a:ext cx="6963576" cy="817062"/>
          </a:xfrm>
          <a:prstGeom prst="rect">
            <a:avLst/>
          </a:prstGeom>
          <a:noFill/>
        </p:spPr>
        <p:txBody>
          <a:bodyPr wrap="square" anchor="t" lIns="0" tIns="0" rIns="0" bIns="0">
            <a:spAutoFit/>
          </a:bodyPr>
          <a:lstStyle/>
          <a:p>
            <a:pPr algn="l"/>
            <a:r>
              <a:rPr sz="2550" b="1">
                <a:solidFill>
                  <a:srgbClr val="485174"/>
                </a:solidFill>
                <a:latin typeface="Bebas Neue"/>
              </a:rPr>
              <a:t>Rely on machine readable dictionaries.</a:t>
            </a:r>
          </a:p>
        </p:txBody>
      </p:sp>
      <p:sp>
        <p:nvSpPr>
          <p:cNvPr id="10" name="TextBox 9"/>
          <p:cNvSpPr txBox="1"/>
          <p:nvPr/>
        </p:nvSpPr>
        <p:spPr>
          <a:xfrm>
            <a:off x="720547" y="2420211"/>
            <a:ext cx="6963576" cy="592074"/>
          </a:xfrm>
          <a:prstGeom prst="rect">
            <a:avLst/>
          </a:prstGeom>
          <a:noFill/>
        </p:spPr>
        <p:txBody>
          <a:bodyPr wrap="square" lIns="0" rIns="0" tIns="0" bIns="0">
            <a:spAutoFit/>
          </a:bodyPr>
          <a:lstStyle/>
          <a:p>
            <a:r>
              <a:rPr sz="1150" b="1">
                <a:solidFill>
                  <a:srgbClr val="1D4ED8"/>
                </a:solidFill>
                <a:latin typeface="Bebas Neue"/>
              </a:rPr>
              <a:t>BECAUSE   </a:t>
            </a:r>
            <a:r>
              <a:rPr sz="1850">
                <a:solidFill>
                  <a:srgbClr val="111111"/>
                </a:solidFill>
                <a:latin typeface="Inter"/>
              </a:rPr>
              <a:t>Initial implementation of this kind of approach is </a:t>
            </a:r>
            <a:r>
              <a:rPr sz="1850" b="1">
                <a:solidFill>
                  <a:srgbClr val="1D4ED8"/>
                </a:solidFill>
                <a:latin typeface="Bebas Neue"/>
              </a:rPr>
              <a:t>due to</a:t>
            </a:r>
            <a:r>
              <a:rPr sz="1850">
                <a:solidFill>
                  <a:srgbClr val="111111"/>
                </a:solidFill>
                <a:latin typeface="Inter"/>
              </a:rPr>
              <a:t> Michael Lesk (1986) e “Lesk algorithm”.</a:t>
            </a:r>
          </a:p>
        </p:txBody>
      </p:sp>
      <p:sp>
        <p:nvSpPr>
          <p:cNvPr id="11" name="TextBox 10"/>
          <p:cNvSpPr txBox="1"/>
          <p:nvPr/>
        </p:nvSpPr>
        <p:spPr>
          <a:xfrm>
            <a:off x="720547" y="3140301"/>
            <a:ext cx="6963576" cy="296037"/>
          </a:xfrm>
          <a:prstGeom prst="rect">
            <a:avLst/>
          </a:prstGeom>
          <a:noFill/>
        </p:spPr>
        <p:txBody>
          <a:bodyPr wrap="square" lIns="0" rIns="0" tIns="0" bIns="0">
            <a:spAutoFit/>
          </a:bodyPr>
          <a:lstStyle/>
          <a:p>
            <a:r>
              <a:rPr sz="1850">
                <a:solidFill>
                  <a:srgbClr val="111111"/>
                </a:solidFill>
                <a:latin typeface="Inter"/>
              </a:rPr>
              <a:t>Given a word W to be disambiguated in context C.</a:t>
            </a:r>
          </a:p>
        </p:txBody>
      </p:sp>
      <p:sp>
        <p:nvSpPr>
          <p:cNvPr id="12" name="TextBox 11"/>
          <p:cNvSpPr txBox="1"/>
          <p:nvPr/>
        </p:nvSpPr>
        <p:spPr>
          <a:xfrm>
            <a:off x="720547" y="3564354"/>
            <a:ext cx="6963576" cy="1480185"/>
          </a:xfrm>
          <a:prstGeom prst="rect">
            <a:avLst/>
          </a:prstGeom>
          <a:noFill/>
        </p:spPr>
        <p:txBody>
          <a:bodyPr wrap="square" lIns="0" rIns="0" tIns="0" bIns="0">
            <a:spAutoFit/>
          </a:bodyPr>
          <a:lstStyle/>
          <a:p>
            <a:r>
              <a:rPr sz="1850">
                <a:solidFill>
                  <a:srgbClr val="111111"/>
                </a:solidFill>
                <a:latin typeface="Inter"/>
              </a:rPr>
              <a:t>Retrieve all of the sense definitions, S, for W from the MRD Compare each s in S to the dictionary definitions D of all the remaining words c in the context C Select the sense s with the most overlap with D (the definitions of the context words C).</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Lesk algorithm — An initial machine-readable dictionary approach comparing sense definitions with context word definitions.  ·  Context — The remaining words surrounding a word to be disambiguated.</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simplified Lesk algorithm finds the best sense by maximizing word overlap</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76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36019"/>
            <a:ext cx="82296" cy="1174181"/>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99443"/>
            <a:ext cx="6963576" cy="1192469"/>
          </a:xfrm>
          <a:prstGeom prst="rect">
            <a:avLst/>
          </a:prstGeom>
          <a:noFill/>
        </p:spPr>
        <p:txBody>
          <a:bodyPr wrap="square" anchor="t" lIns="0" tIns="0" rIns="0" bIns="0">
            <a:spAutoFit/>
          </a:bodyPr>
          <a:lstStyle/>
          <a:p>
            <a:pPr algn="l"/>
            <a:r>
              <a:rPr sz="2480" b="1">
                <a:solidFill>
                  <a:srgbClr val="485174"/>
                </a:solidFill>
                <a:latin typeface="Bebas Neue"/>
              </a:rPr>
              <a:t>function SIMPLIFIED LESK(word, sentence) returns best sense of word.</a:t>
            </a:r>
          </a:p>
        </p:txBody>
      </p:sp>
      <p:sp>
        <p:nvSpPr>
          <p:cNvPr id="10" name="TextBox 9"/>
          <p:cNvSpPr txBox="1"/>
          <p:nvPr/>
        </p:nvSpPr>
        <p:spPr>
          <a:xfrm>
            <a:off x="720547" y="2783936"/>
            <a:ext cx="6963576" cy="1440180"/>
          </a:xfrm>
          <a:prstGeom prst="rect">
            <a:avLst/>
          </a:prstGeom>
          <a:noFill/>
        </p:spPr>
        <p:txBody>
          <a:bodyPr wrap="square" lIns="0" rIns="0" tIns="0" bIns="0">
            <a:spAutoFit/>
          </a:bodyPr>
          <a:lstStyle/>
          <a:p>
            <a:r>
              <a:rPr sz="1800">
                <a:solidFill>
                  <a:srgbClr val="111111"/>
                </a:solidFill>
                <a:latin typeface="Inter"/>
              </a:rPr>
              <a:t>best-sense — most frequent sense for word max-overlap —0 context — set of words in sentence for each sezse in senses of word do signature — set of words in the gloss and examples of overlap — COMPUTEOVERLAP(signiature, context) if overlap &gt; max-overlap </a:t>
            </a:r>
            <a:r>
              <a:rPr sz="1800" b="1">
                <a:solidFill>
                  <a:srgbClr val="6D28D9"/>
                </a:solidFill>
                <a:latin typeface="Bebas Neue"/>
              </a:rPr>
              <a:t>then</a:t>
            </a:r>
            <a:r>
              <a:rPr sz="1800">
                <a:solidFill>
                  <a:srgbClr val="111111"/>
                </a:solidFill>
                <a:latin typeface="Inter"/>
              </a:rPr>
              <a:t>.</a:t>
            </a:r>
          </a:p>
        </p:txBody>
      </p:sp>
      <p:sp>
        <p:nvSpPr>
          <p:cNvPr id="11" name="TextBox 10"/>
          <p:cNvSpPr txBox="1"/>
          <p:nvPr/>
        </p:nvSpPr>
        <p:spPr>
          <a:xfrm>
            <a:off x="720547" y="4352132"/>
            <a:ext cx="6963576" cy="288036"/>
          </a:xfrm>
          <a:prstGeom prst="rect">
            <a:avLst/>
          </a:prstGeom>
          <a:noFill/>
        </p:spPr>
        <p:txBody>
          <a:bodyPr wrap="square" lIns="0" rIns="0" tIns="0" bIns="0">
            <a:spAutoFit/>
          </a:bodyPr>
          <a:lstStyle/>
          <a:p>
            <a:r>
              <a:rPr sz="1800">
                <a:solidFill>
                  <a:srgbClr val="111111"/>
                </a:solidFill>
                <a:latin typeface="Inter"/>
              </a:rPr>
              <a:t>max-overlap — overlap best-sense — sense.</a:t>
            </a:r>
          </a:p>
        </p:txBody>
      </p:sp>
      <p:sp>
        <p:nvSpPr>
          <p:cNvPr id="12" name="TextBox 11"/>
          <p:cNvSpPr txBox="1"/>
          <p:nvPr/>
        </p:nvSpPr>
        <p:spPr>
          <a:xfrm>
            <a:off x="720547" y="4768184"/>
            <a:ext cx="6963576" cy="288036"/>
          </a:xfrm>
          <a:prstGeom prst="rect">
            <a:avLst/>
          </a:prstGeom>
          <a:noFill/>
        </p:spPr>
        <p:txBody>
          <a:bodyPr wrap="square" lIns="0" rIns="0" tIns="0" bIns="0">
            <a:spAutoFit/>
          </a:bodyPr>
          <a:lstStyle/>
          <a:p>
            <a:r>
              <a:rPr sz="1800">
                <a:solidFill>
                  <a:srgbClr val="111111"/>
                </a:solidFill>
                <a:latin typeface="Inter"/>
              </a:rPr>
              <a:t>end return(best-sense).</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Signature — The set of words in the gloss and examples of a word sense.  ·  Best sense — The sense that yields the maximum overlap with the sentence context.</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WordNet senses illustrate how to disambiguate bank using glosses and examples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77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109207"/>
          </a:xfrm>
          <a:prstGeom prst="roundRect">
            <a:avLst>
              <a:gd name="adj" fmla="val 126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69587"/>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2973"/>
            <a:ext cx="340156" cy="340156"/>
          </a:xfrm>
          <a:prstGeom prst="rect">
            <a:avLst/>
          </a:prstGeom>
        </p:spPr>
      </p:pic>
      <p:sp>
        <p:nvSpPr>
          <p:cNvPr id="11" name="TextBox 10"/>
          <p:cNvSpPr txBox="1"/>
          <p:nvPr/>
        </p:nvSpPr>
        <p:spPr>
          <a:xfrm>
            <a:off x="1408175" y="1371600"/>
            <a:ext cx="2622804" cy="962903"/>
          </a:xfrm>
          <a:prstGeom prst="rect">
            <a:avLst/>
          </a:prstGeom>
          <a:noFill/>
        </p:spPr>
        <p:txBody>
          <a:bodyPr wrap="square" anchor="ctr" lIns="0" tIns="0" rIns="0" bIns="0">
            <a:spAutoFit/>
          </a:bodyPr>
          <a:lstStyle/>
          <a:p>
            <a:pPr algn="l"/>
            <a:r>
              <a:rPr sz="1560" b="1">
                <a:solidFill>
                  <a:srgbClr val="485174"/>
                </a:solidFill>
                <a:latin typeface="Bebas Neue"/>
              </a:rPr>
              <a:t>Gloss</a:t>
            </a:r>
          </a:p>
          <a:p>
            <a:pPr algn="l">
              <a:spcBef>
                <a:spcPts val="500"/>
              </a:spcBef>
            </a:pPr>
            <a:r>
              <a:rPr sz="1300" b="0">
                <a:solidFill>
                  <a:srgbClr val="111111"/>
                </a:solidFill>
                <a:latin typeface="Inter"/>
              </a:rPr>
              <a:t>a financial institution that accepts deposits and channels the</a:t>
            </a:r>
          </a:p>
        </p:txBody>
      </p:sp>
      <p:sp>
        <p:nvSpPr>
          <p:cNvPr id="12" name="Rounded Rectangle 11"/>
          <p:cNvSpPr/>
          <p:nvPr/>
        </p:nvSpPr>
        <p:spPr>
          <a:xfrm>
            <a:off x="4433315" y="1298448"/>
            <a:ext cx="3774947" cy="1109207"/>
          </a:xfrm>
          <a:prstGeom prst="roundRect">
            <a:avLst>
              <a:gd name="adj" fmla="val 126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69587"/>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82973"/>
            <a:ext cx="340156" cy="340156"/>
          </a:xfrm>
          <a:prstGeom prst="rect">
            <a:avLst/>
          </a:prstGeom>
        </p:spPr>
      </p:pic>
      <p:sp>
        <p:nvSpPr>
          <p:cNvPr id="15" name="TextBox 14"/>
          <p:cNvSpPr txBox="1"/>
          <p:nvPr/>
        </p:nvSpPr>
        <p:spPr>
          <a:xfrm>
            <a:off x="5384291" y="1371600"/>
            <a:ext cx="2622804" cy="962903"/>
          </a:xfrm>
          <a:prstGeom prst="rect">
            <a:avLst/>
          </a:prstGeom>
          <a:noFill/>
        </p:spPr>
        <p:txBody>
          <a:bodyPr wrap="square" anchor="ctr" lIns="0" tIns="0" rIns="0" bIns="0">
            <a:spAutoFit/>
          </a:bodyPr>
          <a:lstStyle/>
          <a:p>
            <a:pPr algn="l"/>
            <a:r>
              <a:rPr sz="1560" b="1">
                <a:solidFill>
                  <a:srgbClr val="485174"/>
                </a:solidFill>
                <a:latin typeface="Bebas Neue"/>
              </a:rPr>
              <a:t>Examples</a:t>
            </a:r>
          </a:p>
          <a:p>
            <a:pPr algn="l">
              <a:spcBef>
                <a:spcPts val="500"/>
              </a:spcBef>
            </a:pPr>
            <a:r>
              <a:rPr sz="1300" b="0">
                <a:solidFill>
                  <a:srgbClr val="111111"/>
                </a:solidFill>
                <a:latin typeface="Inter"/>
              </a:rPr>
              <a:t>“he cashed a check at the bank”, “that bank holds the mortgage</a:t>
            </a:r>
          </a:p>
        </p:txBody>
      </p:sp>
      <p:sp>
        <p:nvSpPr>
          <p:cNvPr id="16" name="Rounded Rectangle 15"/>
          <p:cNvSpPr/>
          <p:nvPr/>
        </p:nvSpPr>
        <p:spPr>
          <a:xfrm>
            <a:off x="457200" y="2608823"/>
            <a:ext cx="3774947" cy="1109207"/>
          </a:xfrm>
          <a:prstGeom prst="roundRect">
            <a:avLst>
              <a:gd name="adj" fmla="val 126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79963"/>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993348"/>
            <a:ext cx="340156" cy="340156"/>
          </a:xfrm>
          <a:prstGeom prst="rect">
            <a:avLst/>
          </a:prstGeom>
        </p:spPr>
      </p:pic>
      <p:sp>
        <p:nvSpPr>
          <p:cNvPr id="19" name="TextBox 18"/>
          <p:cNvSpPr txBox="1"/>
          <p:nvPr/>
        </p:nvSpPr>
        <p:spPr>
          <a:xfrm>
            <a:off x="1408175" y="2681975"/>
            <a:ext cx="2622804" cy="962903"/>
          </a:xfrm>
          <a:prstGeom prst="rect">
            <a:avLst/>
          </a:prstGeom>
          <a:noFill/>
        </p:spPr>
        <p:txBody>
          <a:bodyPr wrap="square" anchor="ctr" lIns="0" tIns="0" rIns="0" bIns="0">
            <a:spAutoFit/>
          </a:bodyPr>
          <a:lstStyle/>
          <a:p>
            <a:pPr algn="l"/>
            <a:r>
              <a:rPr sz="1560" b="1">
                <a:solidFill>
                  <a:srgbClr val="485174"/>
                </a:solidFill>
                <a:latin typeface="Bebas Neue"/>
              </a:rPr>
              <a:t>Gloss</a:t>
            </a:r>
          </a:p>
          <a:p>
            <a:pPr algn="l">
              <a:spcBef>
                <a:spcPts val="500"/>
              </a:spcBef>
            </a:pPr>
            <a:r>
              <a:rPr sz="1300" b="0">
                <a:solidFill>
                  <a:srgbClr val="111111"/>
                </a:solidFill>
                <a:latin typeface="Inter"/>
              </a:rPr>
              <a:t>sloping land (especially the slope beside a body of water)</a:t>
            </a:r>
          </a:p>
        </p:txBody>
      </p:sp>
      <p:sp>
        <p:nvSpPr>
          <p:cNvPr id="20" name="Rounded Rectangle 19"/>
          <p:cNvSpPr/>
          <p:nvPr/>
        </p:nvSpPr>
        <p:spPr>
          <a:xfrm>
            <a:off x="4433315" y="2608823"/>
            <a:ext cx="3774947" cy="1109207"/>
          </a:xfrm>
          <a:prstGeom prst="roundRect">
            <a:avLst>
              <a:gd name="adj" fmla="val 1269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879963"/>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993348"/>
            <a:ext cx="340156" cy="340156"/>
          </a:xfrm>
          <a:prstGeom prst="rect">
            <a:avLst/>
          </a:prstGeom>
        </p:spPr>
      </p:pic>
      <p:sp>
        <p:nvSpPr>
          <p:cNvPr id="23" name="TextBox 22"/>
          <p:cNvSpPr txBox="1"/>
          <p:nvPr/>
        </p:nvSpPr>
        <p:spPr>
          <a:xfrm>
            <a:off x="5384291" y="2681975"/>
            <a:ext cx="2622804" cy="962903"/>
          </a:xfrm>
          <a:prstGeom prst="rect">
            <a:avLst/>
          </a:prstGeom>
          <a:noFill/>
        </p:spPr>
        <p:txBody>
          <a:bodyPr wrap="square" anchor="ctr" lIns="0" tIns="0" rIns="0" bIns="0">
            <a:spAutoFit/>
          </a:bodyPr>
          <a:lstStyle/>
          <a:p>
            <a:pPr algn="l"/>
            <a:r>
              <a:rPr sz="1560" b="1">
                <a:solidFill>
                  <a:srgbClr val="485174"/>
                </a:solidFill>
                <a:latin typeface="Bebas Neue"/>
              </a:rPr>
              <a:t>Examples</a:t>
            </a:r>
          </a:p>
          <a:p>
            <a:pPr algn="l">
              <a:spcBef>
                <a:spcPts val="500"/>
              </a:spcBef>
            </a:pPr>
            <a:r>
              <a:rPr sz="1300" b="0">
                <a:solidFill>
                  <a:srgbClr val="111111"/>
                </a:solidFill>
                <a:latin typeface="Inter"/>
              </a:rPr>
              <a:t>“they pulled the canoe up on the bank”, “he sat on the bank of</a:t>
            </a:r>
          </a:p>
        </p:txBody>
      </p:sp>
      <p:sp>
        <p:nvSpPr>
          <p:cNvPr id="24" name="Rounded Rectangle 23"/>
          <p:cNvSpPr/>
          <p:nvPr/>
        </p:nvSpPr>
        <p:spPr>
          <a:xfrm>
            <a:off x="457200" y="3919198"/>
            <a:ext cx="7751064"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19198"/>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Let’s disambiguate “bank” in this sentence: The bank can guarantee deposits will eventually cover future tuition costs because it invests in adjustable-rate mortgage securities. given the following two WordNet senses: money into lending activities the river and watched the currents”</a:t>
            </a:r>
          </a:p>
        </p:txBody>
      </p:sp>
      <p:sp>
        <p:nvSpPr>
          <p:cNvPr id="27" name="Rounded Rectangle 2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Gloss — A dictionary definition explaining the meaning of a specific word sense.  ·  Disambiguate — To determine the correct meaning of a word based on its context.</a:t>
            </a:r>
          </a:p>
        </p:txBody>
      </p:sp>
      <p:sp>
        <p:nvSpPr>
          <p:cNvPr id="28" name="Rectangle 2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78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“A dictionary definition explaining the meaning of a specific word sense.”?</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minimum spanning tree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Gloss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SemCor corpus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Definition sensitivity</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Gloss: A dictionary definition explaining the meaning of a specific word sense.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 Simplified Lesk algorithm: Choose sense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79 / 114</a:t>
            </a:r>
          </a:p>
        </p:txBody>
      </p:sp>
      <p:sp>
        <p:nvSpPr>
          <p:cNvPr id="7" name="Rounded Rectangle 6">
            <a:hlinkClick r:id="rId3"/>
          </p:cNvPr>
          <p:cNvSpPr/>
          <p:nvPr/>
        </p:nvSpPr>
        <p:spPr>
          <a:xfrm>
            <a:off x="2894076" y="6455664"/>
            <a:ext cx="6400800"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The Simplified Lesk algorithm: Choose sense — step-through</a:t>
            </a:r>
          </a:p>
        </p:txBody>
      </p:sp>
      <p:pic>
        <p:nvPicPr>
          <p:cNvPr id="8" name="Picture 7" descr="image.png">
            <a:hlinkClick r:id="rId5"/>
          </p:cNvPr>
          <p:cNvPicPr>
            <a:picLocks noChangeAspect="1"/>
          </p:cNvPicPr>
          <p:nvPr/>
        </p:nvPicPr>
        <p:blipFill>
          <a:blip r:embed="rId4"/>
          <a:stretch>
            <a:fillRect/>
          </a:stretch>
        </p:blipFill>
        <p:spPr>
          <a:xfrm>
            <a:off x="8349386" y="1820204"/>
            <a:ext cx="3382365" cy="4058838"/>
          </a:xfrm>
          <a:prstGeom prst="rect">
            <a:avLst/>
          </a:prstGeom>
        </p:spPr>
      </p:pic>
      <p:sp>
        <p:nvSpPr>
          <p:cNvPr id="9" name="Rounded Rectangle 8"/>
          <p:cNvSpPr/>
          <p:nvPr/>
        </p:nvSpPr>
        <p:spPr>
          <a:xfrm>
            <a:off x="457200" y="1298448"/>
            <a:ext cx="3744925" cy="1666991"/>
          </a:xfrm>
          <a:prstGeom prst="roundRect">
            <a:avLst>
              <a:gd name="adj" fmla="val 84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8484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961865"/>
            <a:ext cx="340156" cy="340156"/>
          </a:xfrm>
          <a:prstGeom prst="rect">
            <a:avLst/>
          </a:prstGeom>
        </p:spPr>
      </p:pic>
      <p:sp>
        <p:nvSpPr>
          <p:cNvPr id="12" name="TextBox 11"/>
          <p:cNvSpPr txBox="1"/>
          <p:nvPr/>
        </p:nvSpPr>
        <p:spPr>
          <a:xfrm>
            <a:off x="1408175" y="1371600"/>
            <a:ext cx="2592781" cy="1520687"/>
          </a:xfrm>
          <a:prstGeom prst="rect">
            <a:avLst/>
          </a:prstGeom>
          <a:noFill/>
        </p:spPr>
        <p:txBody>
          <a:bodyPr wrap="square" anchor="ctr" lIns="0" tIns="0" rIns="0" bIns="0">
            <a:spAutoFit/>
          </a:bodyPr>
          <a:lstStyle/>
          <a:p>
            <a:pPr algn="l"/>
            <a:r>
              <a:rPr sz="2100" b="1">
                <a:solidFill>
                  <a:srgbClr val="485174"/>
                </a:solidFill>
                <a:latin typeface="Bebas Neue"/>
              </a:rPr>
              <a:t>Gloss</a:t>
            </a:r>
          </a:p>
          <a:p>
            <a:pPr algn="l">
              <a:spcBef>
                <a:spcPts val="500"/>
              </a:spcBef>
            </a:pPr>
            <a:r>
              <a:rPr sz="1750" b="0">
                <a:solidFill>
                  <a:srgbClr val="111111"/>
                </a:solidFill>
                <a:latin typeface="Inter"/>
              </a:rPr>
              <a:t>a financial institution that deposits} and channels the</a:t>
            </a:r>
          </a:p>
        </p:txBody>
      </p:sp>
      <p:sp>
        <p:nvSpPr>
          <p:cNvPr id="13" name="Rounded Rectangle 12"/>
          <p:cNvSpPr/>
          <p:nvPr/>
        </p:nvSpPr>
        <p:spPr>
          <a:xfrm>
            <a:off x="4403293" y="1298448"/>
            <a:ext cx="3744925" cy="1666991"/>
          </a:xfrm>
          <a:prstGeom prst="roundRect">
            <a:avLst>
              <a:gd name="adj" fmla="val 84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04461" y="18484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717846" y="1961865"/>
            <a:ext cx="340156" cy="340156"/>
          </a:xfrm>
          <a:prstGeom prst="rect">
            <a:avLst/>
          </a:prstGeom>
        </p:spPr>
      </p:pic>
      <p:sp>
        <p:nvSpPr>
          <p:cNvPr id="16" name="TextBox 15"/>
          <p:cNvSpPr txBox="1"/>
          <p:nvPr/>
        </p:nvSpPr>
        <p:spPr>
          <a:xfrm>
            <a:off x="5354269" y="1371600"/>
            <a:ext cx="2592781" cy="1520687"/>
          </a:xfrm>
          <a:prstGeom prst="rect">
            <a:avLst/>
          </a:prstGeom>
          <a:noFill/>
        </p:spPr>
        <p:txBody>
          <a:bodyPr wrap="square" anchor="ctr" lIns="0" tIns="0" rIns="0" bIns="0">
            <a:spAutoFit/>
          </a:bodyPr>
          <a:lstStyle/>
          <a:p>
            <a:pPr algn="l"/>
            <a:r>
              <a:rPr sz="2100" b="1">
                <a:solidFill>
                  <a:srgbClr val="485174"/>
                </a:solidFill>
                <a:latin typeface="Bebas Neue"/>
              </a:rPr>
              <a:t>Examples</a:t>
            </a:r>
          </a:p>
          <a:p>
            <a:pPr algn="l">
              <a:spcBef>
                <a:spcPts val="500"/>
              </a:spcBef>
            </a:pPr>
            <a:r>
              <a:rPr sz="1750" b="0">
                <a:solidFill>
                  <a:srgbClr val="111111"/>
                </a:solidFill>
                <a:latin typeface="Inter"/>
              </a:rPr>
              <a:t>“he cashed a check at the bank”, “that bank holds</a:t>
            </a:r>
          </a:p>
        </p:txBody>
      </p:sp>
      <p:sp>
        <p:nvSpPr>
          <p:cNvPr id="17" name="Rounded Rectangle 16"/>
          <p:cNvSpPr/>
          <p:nvPr/>
        </p:nvSpPr>
        <p:spPr>
          <a:xfrm>
            <a:off x="457200" y="3166607"/>
            <a:ext cx="3744925" cy="1666991"/>
          </a:xfrm>
          <a:prstGeom prst="roundRect">
            <a:avLst>
              <a:gd name="adj" fmla="val 84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7166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3830024"/>
            <a:ext cx="340156" cy="340156"/>
          </a:xfrm>
          <a:prstGeom prst="rect">
            <a:avLst/>
          </a:prstGeom>
        </p:spPr>
      </p:pic>
      <p:sp>
        <p:nvSpPr>
          <p:cNvPr id="20" name="TextBox 19"/>
          <p:cNvSpPr txBox="1"/>
          <p:nvPr/>
        </p:nvSpPr>
        <p:spPr>
          <a:xfrm>
            <a:off x="1408175" y="3239759"/>
            <a:ext cx="2592781" cy="1520687"/>
          </a:xfrm>
          <a:prstGeom prst="rect">
            <a:avLst/>
          </a:prstGeom>
          <a:noFill/>
        </p:spPr>
        <p:txBody>
          <a:bodyPr wrap="square" anchor="ctr" lIns="0" tIns="0" rIns="0" bIns="0">
            <a:spAutoFit/>
          </a:bodyPr>
          <a:lstStyle/>
          <a:p>
            <a:pPr algn="l"/>
            <a:r>
              <a:rPr sz="2100" b="1">
                <a:solidFill>
                  <a:srgbClr val="485174"/>
                </a:solidFill>
                <a:latin typeface="Bebas Neue"/>
              </a:rPr>
              <a:t>Gloss</a:t>
            </a:r>
          </a:p>
          <a:p>
            <a:pPr algn="l">
              <a:spcBef>
                <a:spcPts val="500"/>
              </a:spcBef>
            </a:pPr>
            <a:r>
              <a:rPr sz="1750" b="0">
                <a:solidFill>
                  <a:srgbClr val="111111"/>
                </a:solidFill>
                <a:latin typeface="Inter"/>
              </a:rPr>
              <a:t>sloping land (especially the slope beside a body of water)</a:t>
            </a:r>
          </a:p>
        </p:txBody>
      </p:sp>
      <p:sp>
        <p:nvSpPr>
          <p:cNvPr id="21" name="Rounded Rectangle 20"/>
          <p:cNvSpPr/>
          <p:nvPr/>
        </p:nvSpPr>
        <p:spPr>
          <a:xfrm>
            <a:off x="4403293" y="3166607"/>
            <a:ext cx="3744925" cy="1666991"/>
          </a:xfrm>
          <a:prstGeom prst="roundRect">
            <a:avLst>
              <a:gd name="adj" fmla="val 8447"/>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04461" y="37166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4717846" y="3830024"/>
            <a:ext cx="340156" cy="340156"/>
          </a:xfrm>
          <a:prstGeom prst="rect">
            <a:avLst/>
          </a:prstGeom>
        </p:spPr>
      </p:pic>
      <p:sp>
        <p:nvSpPr>
          <p:cNvPr id="24" name="TextBox 23"/>
          <p:cNvSpPr txBox="1"/>
          <p:nvPr/>
        </p:nvSpPr>
        <p:spPr>
          <a:xfrm>
            <a:off x="5354269" y="3239759"/>
            <a:ext cx="2592781" cy="1520687"/>
          </a:xfrm>
          <a:prstGeom prst="rect">
            <a:avLst/>
          </a:prstGeom>
          <a:noFill/>
        </p:spPr>
        <p:txBody>
          <a:bodyPr wrap="square" anchor="ctr" lIns="0" tIns="0" rIns="0" bIns="0">
            <a:spAutoFit/>
          </a:bodyPr>
          <a:lstStyle/>
          <a:p>
            <a:pPr algn="l"/>
            <a:r>
              <a:rPr sz="2100" b="1">
                <a:solidFill>
                  <a:srgbClr val="485174"/>
                </a:solidFill>
                <a:latin typeface="Bebas Neue"/>
              </a:rPr>
              <a:t>Examples</a:t>
            </a:r>
          </a:p>
          <a:p>
            <a:pPr algn="l">
              <a:spcBef>
                <a:spcPts val="500"/>
              </a:spcBef>
            </a:pPr>
            <a:r>
              <a:rPr sz="1750" b="0">
                <a:solidFill>
                  <a:srgbClr val="111111"/>
                </a:solidFill>
                <a:latin typeface="Inter"/>
              </a:rPr>
              <a:t>“they pulled the canoe up on the bank”, “he sat on the bank of</a:t>
            </a:r>
          </a:p>
        </p:txBody>
      </p:sp>
      <p:sp>
        <p:nvSpPr>
          <p:cNvPr id="25" name="Rounded Rectangle 24"/>
          <p:cNvSpPr/>
          <p:nvPr/>
        </p:nvSpPr>
        <p:spPr>
          <a:xfrm>
            <a:off x="457200" y="5034766"/>
            <a:ext cx="7691018" cy="136603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034766"/>
            <a:ext cx="73152" cy="136603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1286" y="5107918"/>
            <a:ext cx="7295997" cy="1219729"/>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Choose sense with most word overlap between gloss and context (not counting function words) The bank can guarantee ill eventually cover future tuition costs because it invests in adjustable-rate’ securities. money into lending activities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5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5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par>
                                <p:cTn id="64" presetID="10" presetClass="entr" presetSubtype="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5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Lesk algorithm assigns senses by comparing context to dictionary definitions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80 / 114</a:t>
            </a:r>
          </a:p>
        </p:txBody>
      </p:sp>
      <p:sp>
        <p:nvSpPr>
          <p:cNvPr id="8" name="Rounded Rectangle 7"/>
          <p:cNvSpPr/>
          <p:nvPr/>
        </p:nvSpPr>
        <p:spPr>
          <a:xfrm>
            <a:off x="457200" y="1298448"/>
            <a:ext cx="5536692" cy="3986784"/>
          </a:xfrm>
          <a:prstGeom prst="roundRect">
            <a:avLst>
              <a:gd name="adj" fmla="val 353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3664915"/>
          </a:xfrm>
          <a:prstGeom prst="rect">
            <a:avLst/>
          </a:prstGeom>
          <a:noFill/>
        </p:spPr>
        <p:txBody>
          <a:bodyPr wrap="square" anchor="t" lIns="0" tIns="0" rIns="0" bIns="0">
            <a:spAutoFit/>
          </a:bodyPr>
          <a:lstStyle/>
          <a:p>
            <a:pPr algn="l"/>
            <a:r>
              <a:rPr sz="2310" b="1">
                <a:solidFill>
                  <a:srgbClr val="485174"/>
                </a:solidFill>
                <a:latin typeface="Bebas Neue"/>
              </a:rPr>
              <a:t>Basic idea: Compare the context with the dictionary definition of the sense.</a:t>
            </a:r>
          </a:p>
          <a:p>
            <a:pPr algn="l" marL="256032" indent="-256032" lvl="0">
              <a:spcBef>
                <a:spcPts val="700"/>
              </a:spcBef>
              <a:buClr>
                <a:srgbClr val="CC7B70"/>
              </a:buClr>
              <a:buFont typeface="Arial"/>
              <a:buChar char="•"/>
            </a:pPr>
            <a:r>
              <a:rPr sz="1850" b="0">
                <a:solidFill>
                  <a:srgbClr val="111111"/>
                </a:solidFill>
                <a:latin typeface="Inter"/>
              </a:rPr>
              <a:t>Assign the dictionary sense whose gloss and examples are most similar to the context in which the word occurs.</a:t>
            </a:r>
          </a:p>
        </p:txBody>
      </p:sp>
      <p:sp>
        <p:nvSpPr>
          <p:cNvPr id="11" name="Rounded Rectangle 10"/>
          <p:cNvSpPr/>
          <p:nvPr/>
        </p:nvSpPr>
        <p:spPr>
          <a:xfrm>
            <a:off x="6195059" y="1298448"/>
            <a:ext cx="5536692" cy="3986784"/>
          </a:xfrm>
          <a:prstGeom prst="roundRect">
            <a:avLst>
              <a:gd name="adj" fmla="val 353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3664915"/>
          </a:xfrm>
          <a:prstGeom prst="rect">
            <a:avLst/>
          </a:prstGeom>
          <a:noFill/>
        </p:spPr>
        <p:txBody>
          <a:bodyPr wrap="square" anchor="t" lIns="0" tIns="0" rIns="0" bIns="0">
            <a:spAutoFit/>
          </a:bodyPr>
          <a:lstStyle/>
          <a:p>
            <a:pPr algn="l"/>
            <a:r>
              <a:rPr sz="2310" b="1">
                <a:solidFill>
                  <a:srgbClr val="485174"/>
                </a:solidFill>
                <a:latin typeface="Bebas Neue"/>
              </a:rPr>
              <a:t>Compare the signature of a word in context with the signatures of its senses in the dictionary Assign the sense that is most similar to the context</a:t>
            </a:r>
          </a:p>
          <a:p>
            <a:pPr algn="l" marL="256032" indent="-256032" lvl="0">
              <a:spcBef>
                <a:spcPts val="700"/>
              </a:spcBef>
              <a:buClr>
                <a:srgbClr val="CC7B70"/>
              </a:buClr>
              <a:buFont typeface="Arial"/>
              <a:buChar char="•"/>
            </a:pPr>
            <a:r>
              <a:rPr sz="1850" b="0">
                <a:solidFill>
                  <a:srgbClr val="111111"/>
                </a:solidFill>
                <a:latin typeface="Inter"/>
              </a:rPr>
              <a:t>Signature = set of content words (in examples/gloss or in context) Similarity = size of intersection of context signature and sense signature</a:t>
            </a:r>
          </a:p>
        </p:txBody>
      </p:sp>
      <p:sp>
        <p:nvSpPr>
          <p:cNvPr id="14" name="Rounded Rectangle 1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Signature — The set of content words found in examples, glosses, or context.  ·  Similarity — The size of the intersection between the context signature and the sense signature.</a:t>
            </a:r>
          </a:p>
        </p:txBody>
      </p:sp>
      <p:sp>
        <p:nvSpPr>
          <p:cNvPr id="15" name="Rectangle 1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Sense signatures compile words from dictionary glosses and examples for different meanings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81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561155"/>
            <a:ext cx="82296" cy="2204069"/>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24579"/>
            <a:ext cx="6963576" cy="2222357"/>
          </a:xfrm>
          <a:prstGeom prst="rect">
            <a:avLst/>
          </a:prstGeom>
          <a:noFill/>
        </p:spPr>
        <p:txBody>
          <a:bodyPr wrap="square" anchor="t" lIns="0" tIns="0" rIns="0" bIns="0">
            <a:spAutoFit/>
          </a:bodyPr>
          <a:lstStyle/>
          <a:p>
            <a:pPr algn="l"/>
            <a:r>
              <a:rPr sz="1739" b="1">
                <a:solidFill>
                  <a:srgbClr val="485174"/>
                </a:solidFill>
                <a:latin typeface="Bebas Neue"/>
              </a:rPr>
              <a:t>bank1: Gloss: a financial institution that accepts deposits and channels the money into lending activities Examples: “he cashed the check at the bank”, “that bank holds the mortgage on my home” Signature(bank1) = {financial, institution, accept, deposit, channel, money, lend, activity, cash, check, hold, mortgage, home}.</a:t>
            </a:r>
          </a:p>
        </p:txBody>
      </p:sp>
      <p:sp>
        <p:nvSpPr>
          <p:cNvPr id="10" name="TextBox 9"/>
          <p:cNvSpPr txBox="1"/>
          <p:nvPr/>
        </p:nvSpPr>
        <p:spPr>
          <a:xfrm>
            <a:off x="720547" y="3938960"/>
            <a:ext cx="6963576" cy="992124"/>
          </a:xfrm>
          <a:prstGeom prst="rect">
            <a:avLst/>
          </a:prstGeom>
          <a:noFill/>
        </p:spPr>
        <p:txBody>
          <a:bodyPr wrap="square" lIns="0" rIns="0" tIns="0" bIns="0">
            <a:spAutoFit/>
          </a:bodyPr>
          <a:lstStyle/>
          <a:p>
            <a:r>
              <a:rPr sz="1550">
                <a:solidFill>
                  <a:srgbClr val="111111"/>
                </a:solidFill>
                <a:latin typeface="Inter"/>
              </a:rPr>
              <a:t>Gloss: sloping land (especially the slope beside a body of water) Examples: “they pulled the canoe up on the bank”, “he sat on the bank of the river and watched the current” Signature(bank2) = {slope, land, body, water, pull, canoe, sit, river, watch, current}.</a:t>
            </a:r>
          </a:p>
        </p:txBody>
      </p:sp>
      <p:sp>
        <p:nvSpPr>
          <p:cNvPr id="11" name="Rounded Rectangle 10"/>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Signature — The set of content words derived from a sense's gloss and examples.  ·  Gloss — The descriptive definition of a specific dictionary sense.</a:t>
            </a:r>
          </a:p>
        </p:txBody>
      </p:sp>
      <p:sp>
        <p:nvSpPr>
          <p:cNvPr id="12" name="Rectangle 11"/>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Sense signatures (dictionary)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82 / 114</a:t>
            </a:r>
          </a:p>
        </p:txBody>
      </p:sp>
      <p:sp>
        <p:nvSpPr>
          <p:cNvPr id="7" name="Rounded Rectangle 6"/>
          <p:cNvSpPr/>
          <p:nvPr/>
        </p:nvSpPr>
        <p:spPr>
          <a:xfrm>
            <a:off x="2350008" y="1298448"/>
            <a:ext cx="7488936"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14600" y="1463040"/>
            <a:ext cx="7159751" cy="4773168"/>
          </a:xfrm>
          <a:prstGeom prst="rect">
            <a:avLst/>
          </a:prstGeom>
        </p:spPr>
      </p:pic>
    </p:spTree>
  </p:cSld>
  <p:clrMapOvr>
    <a:masterClrMapping/>
  </p:clrMapOvr>
  <p:transition spd="med">
    <p:zoom dir="in"/>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Simple dictionary approaches avoid needing training data but remain sensitive to definitions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83 / 114</a:t>
            </a:r>
          </a:p>
        </p:txBody>
      </p:sp>
      <p:sp>
        <p:nvSpPr>
          <p:cNvPr id="8" name="Rounded Rectangle 7"/>
          <p:cNvSpPr/>
          <p:nvPr/>
        </p:nvSpPr>
        <p:spPr>
          <a:xfrm>
            <a:off x="457200" y="1298448"/>
            <a:ext cx="5536692" cy="3986784"/>
          </a:xfrm>
          <a:prstGeom prst="roundRect">
            <a:avLst>
              <a:gd name="adj" fmla="val 3532"/>
            </a:avLst>
          </a:prstGeom>
          <a:solidFill>
            <a:srgbClr val="F5F6F8"/>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499616"/>
            <a:ext cx="5134355" cy="502920"/>
          </a:xfrm>
          <a:prstGeom prst="roundRect">
            <a:avLst>
              <a:gd name="adj" fmla="val 25000"/>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lstStyle/>
          <a:p>
            <a:pPr algn="l"/>
            <a:r>
              <a:rPr sz="1500" b="1">
                <a:solidFill>
                  <a:srgbClr val="FFFFFF"/>
                </a:solidFill>
                <a:latin typeface="Bebas Neue"/>
              </a:rPr>
              <a:t>ADVANTAGES</a:t>
            </a:r>
          </a:p>
        </p:txBody>
      </p:sp>
      <p:sp>
        <p:nvSpPr>
          <p:cNvPr id="10" name="TextBox 9"/>
          <p:cNvSpPr txBox="1"/>
          <p:nvPr/>
        </p:nvSpPr>
        <p:spPr>
          <a:xfrm>
            <a:off x="658368" y="2139696"/>
            <a:ext cx="5134355" cy="2944368"/>
          </a:xfrm>
          <a:prstGeom prst="rect">
            <a:avLst/>
          </a:prstGeom>
          <a:noFill/>
        </p:spPr>
        <p:txBody>
          <a:bodyPr wrap="square" anchor="t" lIns="0" tIns="0" rIns="0" bIns="0">
            <a:spAutoFit/>
          </a:bodyPr>
          <a:lstStyle/>
          <a:p>
            <a:pPr algn="l" marL="256032" indent="-256032" lvl="0">
              <a:buClr>
                <a:srgbClr val="1A7F4B"/>
              </a:buClr>
              <a:buFont typeface="Arial"/>
              <a:buChar char="•"/>
            </a:pPr>
            <a:r>
              <a:rPr sz="1250" b="0">
                <a:solidFill>
                  <a:srgbClr val="111111"/>
                </a:solidFill>
                <a:latin typeface="Inter"/>
              </a:rPr>
              <a:t>Pros</a:t>
            </a:r>
          </a:p>
          <a:p>
            <a:pPr algn="l" marL="256032" indent="-256032" lvl="0">
              <a:spcBef>
                <a:spcPts val="800"/>
              </a:spcBef>
              <a:buClr>
                <a:srgbClr val="1A7F4B"/>
              </a:buClr>
              <a:buFont typeface="Arial"/>
              <a:buChar char="•"/>
            </a:pPr>
            <a:r>
              <a:rPr sz="1250" b="0">
                <a:solidFill>
                  <a:srgbClr val="111111"/>
                </a:solidFill>
                <a:latin typeface="Inter"/>
              </a:rPr>
              <a:t>E Does not require (human-annotated) training data</a:t>
            </a:r>
          </a:p>
        </p:txBody>
      </p:sp>
      <p:sp>
        <p:nvSpPr>
          <p:cNvPr id="11" name="Rounded Rectangle 10"/>
          <p:cNvSpPr/>
          <p:nvPr/>
        </p:nvSpPr>
        <p:spPr>
          <a:xfrm>
            <a:off x="6195059" y="1298448"/>
            <a:ext cx="5536692" cy="3986784"/>
          </a:xfrm>
          <a:prstGeom prst="roundRect">
            <a:avLst>
              <a:gd name="adj" fmla="val 3532"/>
            </a:avLst>
          </a:prstGeom>
          <a:solidFill>
            <a:srgbClr val="F5F6F8"/>
          </a:solidFill>
          <a:ln w="12700">
            <a:solidFill>
              <a:srgbClr val="B2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96227" y="1499616"/>
            <a:ext cx="5134355" cy="502920"/>
          </a:xfrm>
          <a:prstGeom prst="roundRect">
            <a:avLst>
              <a:gd name="adj" fmla="val 25000"/>
            </a:avLst>
          </a:prstGeom>
          <a:solidFill>
            <a:srgbClr val="B2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lstStyle/>
          <a:p>
            <a:pPr algn="l"/>
            <a:r>
              <a:rPr sz="1500" b="1">
                <a:solidFill>
                  <a:srgbClr val="FFFFFF"/>
                </a:solidFill>
                <a:latin typeface="Bebas Neue"/>
              </a:rPr>
              <a:t>TRADE-OFFS</a:t>
            </a:r>
          </a:p>
        </p:txBody>
      </p:sp>
      <p:sp>
        <p:nvSpPr>
          <p:cNvPr id="13" name="TextBox 12"/>
          <p:cNvSpPr txBox="1"/>
          <p:nvPr/>
        </p:nvSpPr>
        <p:spPr>
          <a:xfrm>
            <a:off x="6396227" y="2139696"/>
            <a:ext cx="5134355" cy="2944368"/>
          </a:xfrm>
          <a:prstGeom prst="rect">
            <a:avLst/>
          </a:prstGeom>
          <a:noFill/>
        </p:spPr>
        <p:txBody>
          <a:bodyPr wrap="square" anchor="t" lIns="0" tIns="0" rIns="0" bIns="0">
            <a:spAutoFit/>
          </a:bodyPr>
          <a:lstStyle/>
          <a:p>
            <a:pPr algn="l" marL="256032" indent="-256032" lvl="0">
              <a:buClr>
                <a:srgbClr val="B23B3B"/>
              </a:buClr>
              <a:buFont typeface="Arial"/>
              <a:buChar char="•"/>
            </a:pPr>
            <a:r>
              <a:rPr sz="1250" b="0">
                <a:solidFill>
                  <a:srgbClr val="111111"/>
                </a:solidFill>
                <a:latin typeface="Inter"/>
              </a:rPr>
              <a:t>Cons e Very sensitive to the definition of words</a:t>
            </a:r>
          </a:p>
          <a:p>
            <a:pPr algn="l" marL="256032" indent="-256032" lvl="0">
              <a:spcBef>
                <a:spcPts val="800"/>
              </a:spcBef>
              <a:buClr>
                <a:srgbClr val="B23B3B"/>
              </a:buClr>
              <a:buFont typeface="Arial"/>
              <a:buChar char="•"/>
            </a:pPr>
            <a:r>
              <a:rPr sz="1250" b="0">
                <a:solidFill>
                  <a:srgbClr val="111111"/>
                </a:solidFill>
                <a:latin typeface="Inter"/>
              </a:rPr>
              <a:t>Words used in definition might not overlap with the context</a:t>
            </a:r>
          </a:p>
          <a:p>
            <a:pPr algn="l" marL="256032" indent="-256032" lvl="0">
              <a:spcBef>
                <a:spcPts val="800"/>
              </a:spcBef>
              <a:buClr>
                <a:srgbClr val="B23B3B"/>
              </a:buClr>
              <a:buFont typeface="Arial"/>
              <a:buChar char="•"/>
            </a:pPr>
            <a:r>
              <a:rPr sz="1250" b="0">
                <a:solidFill>
                  <a:srgbClr val="111111"/>
                </a:solidFill>
                <a:latin typeface="Inter"/>
              </a:rPr>
              <a:t>Even if there is a human annotated training data, it does not learn from the data</a:t>
            </a:r>
          </a:p>
          <a:p>
            <a:pPr algn="l" marL="256032" indent="-256032" lvl="0">
              <a:spcBef>
                <a:spcPts val="800"/>
              </a:spcBef>
              <a:buClr>
                <a:srgbClr val="B23B3B"/>
              </a:buClr>
              <a:buFont typeface="Arial"/>
              <a:buChar char="•"/>
            </a:pPr>
            <a:r>
              <a:rPr sz="1250" b="0">
                <a:solidFill>
                  <a:srgbClr val="111111"/>
                </a:solidFill>
                <a:latin typeface="Inter"/>
              </a:rPr>
              <a:t>This simple method requires no human-annotated training data to function</a:t>
            </a:r>
          </a:p>
          <a:p>
            <a:pPr algn="l" marL="256032" indent="-256032" lvl="0">
              <a:spcBef>
                <a:spcPts val="800"/>
              </a:spcBef>
              <a:buClr>
                <a:srgbClr val="B23B3B"/>
              </a:buClr>
              <a:buFont typeface="Arial"/>
              <a:buChar char="•"/>
            </a:pPr>
            <a:r>
              <a:rPr sz="1250" b="0">
                <a:solidFill>
                  <a:srgbClr val="111111"/>
                </a:solidFill>
                <a:latin typeface="Inter"/>
              </a:rPr>
              <a:t>It is very sensitive to word definitions because words used in a definition might not overlap with the context, and it fails to learn from available data</a:t>
            </a:r>
          </a:p>
          <a:p>
            <a:pPr algn="l" marL="256032" indent="-256032" lvl="0">
              <a:spcBef>
                <a:spcPts val="800"/>
              </a:spcBef>
              <a:buClr>
                <a:srgbClr val="B23B3B"/>
              </a:buClr>
              <a:buFont typeface="Arial"/>
              <a:buChar char="•"/>
            </a:pPr>
            <a:r>
              <a:rPr sz="1250" b="0">
                <a:solidFill>
                  <a:srgbClr val="111111"/>
                </a:solidFill>
                <a:latin typeface="Inter"/>
              </a:rPr>
              <a:t>Example: A dictionary definition lacking words present in the surrounding sentence</a:t>
            </a:r>
          </a:p>
        </p:txBody>
      </p:sp>
      <p:sp>
        <p:nvSpPr>
          <p:cNvPr id="14" name="Rounded Rectangle 1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2 advantages to weigh against 6 trade-offs.</a:t>
            </a:r>
          </a:p>
          <a:p>
            <a:pPr algn="l"/>
            <a:r>
              <a:rPr b="1" sz="1300">
                <a:solidFill>
                  <a:srgbClr val="485174"/>
                </a:solidFill>
                <a:latin typeface="Bebas Neue"/>
              </a:rPr>
              <a:t>Key terms:  </a:t>
            </a:r>
            <a:r>
              <a:rPr sz="1300" b="0">
                <a:solidFill>
                  <a:srgbClr val="111111"/>
                </a:solidFill>
                <a:latin typeface="Inter"/>
              </a:rPr>
              <a:t>Training data — Human-annotated data that this simple algorithmic approach does not require or learn from.  ·  Definition sensitivity — Vulnerability to mismatched words between dictionary definitions and sentence contexts.</a:t>
            </a:r>
          </a:p>
        </p:txBody>
      </p:sp>
      <p:sp>
        <p:nvSpPr>
          <p:cNvPr id="15" name="Rectangle 1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84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“Human-annotated data that this simple algorithmic approach does not require or learn from.”?</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Lesk algorithm</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Training data</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Sense inventory</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Synset</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550" b="0">
                <a:solidFill>
                  <a:srgbClr val="FFFFFF"/>
                </a:solidFill>
                <a:latin typeface="Inter"/>
              </a:rPr>
              <a:t>Training data: Human-annotated data that this simple algorithmic approach does not require or learn from.</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corpus Lesk algorithm incorporates sense labeled data into word signatures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85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90746"/>
            <a:ext cx="82296" cy="776691"/>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54170"/>
            <a:ext cx="6963576" cy="794979"/>
          </a:xfrm>
          <a:prstGeom prst="rect">
            <a:avLst/>
          </a:prstGeom>
          <a:noFill/>
        </p:spPr>
        <p:txBody>
          <a:bodyPr wrap="square" anchor="t" lIns="0" tIns="0" rIns="0" bIns="0">
            <a:spAutoFit/>
          </a:bodyPr>
          <a:lstStyle/>
          <a:p>
            <a:pPr algn="l"/>
            <a:r>
              <a:rPr sz="2480" b="1">
                <a:solidFill>
                  <a:srgbClr val="485174"/>
                </a:solidFill>
                <a:latin typeface="Bebas Neue"/>
              </a:rPr>
              <a:t>Assumes we have some sense-labeled data (like SemCor).</a:t>
            </a:r>
          </a:p>
        </p:txBody>
      </p:sp>
      <p:sp>
        <p:nvSpPr>
          <p:cNvPr id="10" name="TextBox 9"/>
          <p:cNvSpPr txBox="1"/>
          <p:nvPr/>
        </p:nvSpPr>
        <p:spPr>
          <a:xfrm>
            <a:off x="720547" y="2441173"/>
            <a:ext cx="6963576" cy="1152144"/>
          </a:xfrm>
          <a:prstGeom prst="rect">
            <a:avLst/>
          </a:prstGeom>
          <a:noFill/>
        </p:spPr>
        <p:txBody>
          <a:bodyPr wrap="square" lIns="0" rIns="0" tIns="0" bIns="0">
            <a:spAutoFit/>
          </a:bodyPr>
          <a:lstStyle/>
          <a:p>
            <a:r>
              <a:rPr sz="1800">
                <a:solidFill>
                  <a:srgbClr val="111111"/>
                </a:solidFill>
                <a:latin typeface="Inter"/>
              </a:rPr>
              <a:t>Take all the sentences with the relevant word sense: These short, "streamlined" meetings usually are sponsored by local banks1, Chambers of Commerce, trade associations, or other civic organizations.</a:t>
            </a:r>
          </a:p>
        </p:txBody>
      </p:sp>
      <p:sp>
        <p:nvSpPr>
          <p:cNvPr id="11" name="TextBox 10"/>
          <p:cNvSpPr txBox="1"/>
          <p:nvPr/>
        </p:nvSpPr>
        <p:spPr>
          <a:xfrm>
            <a:off x="720547" y="3721333"/>
            <a:ext cx="6963576" cy="576072"/>
          </a:xfrm>
          <a:prstGeom prst="rect">
            <a:avLst/>
          </a:prstGeom>
          <a:noFill/>
        </p:spPr>
        <p:txBody>
          <a:bodyPr wrap="square" lIns="0" rIns="0" tIns="0" bIns="0">
            <a:spAutoFit/>
          </a:bodyPr>
          <a:lstStyle/>
          <a:p>
            <a:r>
              <a:rPr sz="1800">
                <a:solidFill>
                  <a:srgbClr val="111111"/>
                </a:solidFill>
                <a:latin typeface="Inter"/>
              </a:rPr>
              <a:t>Now add these to the gloss + examples for each sense, call it the “signature” of a sense.</a:t>
            </a:r>
          </a:p>
        </p:txBody>
      </p:sp>
      <p:sp>
        <p:nvSpPr>
          <p:cNvPr id="12" name="TextBox 11"/>
          <p:cNvSpPr txBox="1"/>
          <p:nvPr/>
        </p:nvSpPr>
        <p:spPr>
          <a:xfrm>
            <a:off x="720547" y="4425421"/>
            <a:ext cx="6963576" cy="576072"/>
          </a:xfrm>
          <a:prstGeom prst="rect">
            <a:avLst/>
          </a:prstGeom>
          <a:noFill/>
        </p:spPr>
        <p:txBody>
          <a:bodyPr wrap="square" lIns="0" rIns="0" tIns="0" bIns="0">
            <a:spAutoFit/>
          </a:bodyPr>
          <a:lstStyle/>
          <a:p>
            <a:r>
              <a:rPr sz="1800">
                <a:solidFill>
                  <a:srgbClr val="111111"/>
                </a:solidFill>
                <a:latin typeface="Inter"/>
              </a:rPr>
              <a:t>Choose sense with most word overlap between context and signature.</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SemCor — A source of sense-labeled data used to provide additional sentences for word senses.  ·  Signature — The combined set of glosses, examples, and sense-labeled corpus sentences for a word.</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Inverse document frequency weighting improves corpus Lesk by reducing common word impact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86 / 114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509628"/>
            <a:ext cx="82296" cy="29087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73052"/>
            <a:ext cx="6963576" cy="309158"/>
          </a:xfrm>
          <a:prstGeom prst="rect">
            <a:avLst/>
          </a:prstGeom>
          <a:noFill/>
        </p:spPr>
        <p:txBody>
          <a:bodyPr wrap="square" anchor="t" lIns="0" tIns="0" rIns="0" bIns="0">
            <a:spAutoFit/>
          </a:bodyPr>
          <a:lstStyle/>
          <a:p>
            <a:pPr algn="l"/>
            <a:r>
              <a:rPr sz="1930" b="1">
                <a:solidFill>
                  <a:srgbClr val="485174"/>
                </a:solidFill>
                <a:latin typeface="Bebas Neue"/>
              </a:rPr>
              <a:t>Instead of just removing function words.</a:t>
            </a:r>
          </a:p>
        </p:txBody>
      </p:sp>
      <p:sp>
        <p:nvSpPr>
          <p:cNvPr id="10" name="TextBox 9"/>
          <p:cNvSpPr txBox="1"/>
          <p:nvPr/>
        </p:nvSpPr>
        <p:spPr>
          <a:xfrm>
            <a:off x="720547" y="1974235"/>
            <a:ext cx="6963576" cy="224028"/>
          </a:xfrm>
          <a:prstGeom prst="rect">
            <a:avLst/>
          </a:prstGeom>
          <a:noFill/>
        </p:spPr>
        <p:txBody>
          <a:bodyPr wrap="square" lIns="0" rIns="0" tIns="0" bIns="0">
            <a:spAutoFit/>
          </a:bodyPr>
          <a:lstStyle/>
          <a:p>
            <a:r>
              <a:rPr sz="1400">
                <a:solidFill>
                  <a:srgbClr val="111111"/>
                </a:solidFill>
                <a:latin typeface="Inter"/>
              </a:rPr>
              <a:t>Weigh each word by its `promiscuity’ across documents.</a:t>
            </a:r>
          </a:p>
        </p:txBody>
      </p:sp>
      <p:sp>
        <p:nvSpPr>
          <p:cNvPr id="11" name="TextBox 10"/>
          <p:cNvSpPr txBox="1"/>
          <p:nvPr/>
        </p:nvSpPr>
        <p:spPr>
          <a:xfrm>
            <a:off x="720547" y="2326279"/>
            <a:ext cx="6963576" cy="224028"/>
          </a:xfrm>
          <a:prstGeom prst="rect">
            <a:avLst/>
          </a:prstGeom>
          <a:noFill/>
        </p:spPr>
        <p:txBody>
          <a:bodyPr wrap="square" lIns="0" rIns="0" tIns="0" bIns="0">
            <a:spAutoFit/>
          </a:bodyPr>
          <a:lstStyle/>
          <a:p>
            <a:r>
              <a:rPr sz="1400">
                <a:solidFill>
                  <a:srgbClr val="111111"/>
                </a:solidFill>
                <a:latin typeface="Inter"/>
              </a:rPr>
              <a:t>Down-weightswords that occur in every `document’(gloss, example, etc).</a:t>
            </a:r>
          </a:p>
        </p:txBody>
      </p:sp>
      <p:sp>
        <p:nvSpPr>
          <p:cNvPr id="12" name="TextBox 11"/>
          <p:cNvSpPr txBox="1"/>
          <p:nvPr/>
        </p:nvSpPr>
        <p:spPr>
          <a:xfrm>
            <a:off x="994867" y="2678323"/>
            <a:ext cx="6689256" cy="224028"/>
          </a:xfrm>
          <a:prstGeom prst="rect">
            <a:avLst/>
          </a:prstGeom>
          <a:noFill/>
        </p:spPr>
        <p:txBody>
          <a:bodyPr wrap="square" lIns="0" rIns="0" tIns="0" bIns="0">
            <a:spAutoFit/>
          </a:bodyPr>
          <a:lstStyle/>
          <a:p>
            <a:r>
              <a:rPr sz="1400">
                <a:solidFill>
                  <a:srgbClr val="111111"/>
                </a:solidFill>
                <a:latin typeface="Inter"/>
              </a:rPr>
              <a:t>These are generally function words, </a:t>
            </a:r>
            <a:r>
              <a:rPr sz="1400" b="1">
                <a:solidFill>
                  <a:srgbClr val="C2410C"/>
                </a:solidFill>
                <a:latin typeface="Bebas Neue"/>
              </a:rPr>
              <a:t>but</a:t>
            </a:r>
            <a:r>
              <a:rPr sz="1400">
                <a:solidFill>
                  <a:srgbClr val="111111"/>
                </a:solidFill>
                <a:latin typeface="Inter"/>
              </a:rPr>
              <a:t> is a more fine-grained measure.</a:t>
            </a:r>
          </a:p>
        </p:txBody>
      </p:sp>
      <p:sp>
        <p:nvSpPr>
          <p:cNvPr id="13" name="TextBox 12"/>
          <p:cNvSpPr txBox="1"/>
          <p:nvPr/>
        </p:nvSpPr>
        <p:spPr>
          <a:xfrm>
            <a:off x="720547" y="3030367"/>
            <a:ext cx="6963576" cy="224028"/>
          </a:xfrm>
          <a:prstGeom prst="rect">
            <a:avLst/>
          </a:prstGeom>
          <a:noFill/>
        </p:spPr>
        <p:txBody>
          <a:bodyPr wrap="square" lIns="0" rIns="0" tIns="0" bIns="0">
            <a:spAutoFit/>
          </a:bodyPr>
          <a:lstStyle/>
          <a:p>
            <a:r>
              <a:rPr sz="1400">
                <a:solidFill>
                  <a:srgbClr val="111111"/>
                </a:solidFill>
                <a:latin typeface="Inter"/>
              </a:rPr>
              <a:t>Weigh each overlapping word by inverse document frequency.</a:t>
            </a:r>
          </a:p>
        </p:txBody>
      </p:sp>
      <p:sp>
        <p:nvSpPr>
          <p:cNvPr id="14" name="TextBox 13"/>
          <p:cNvSpPr txBox="1"/>
          <p:nvPr/>
        </p:nvSpPr>
        <p:spPr>
          <a:xfrm>
            <a:off x="720547" y="3382411"/>
            <a:ext cx="6963576" cy="448056"/>
          </a:xfrm>
          <a:prstGeom prst="rect">
            <a:avLst/>
          </a:prstGeom>
          <a:noFill/>
        </p:spPr>
        <p:txBody>
          <a:bodyPr wrap="square" lIns="0" rIns="0" tIns="0" bIns="0">
            <a:spAutoFit/>
          </a:bodyPr>
          <a:lstStyle/>
          <a:p>
            <a:r>
              <a:rPr sz="869" b="1">
                <a:solidFill>
                  <a:srgbClr val="C2410C"/>
                </a:solidFill>
                <a:latin typeface="Bebas Neue"/>
              </a:rPr>
              <a:t>BUT   </a:t>
            </a:r>
            <a:r>
              <a:rPr sz="1400" b="1">
                <a:solidFill>
                  <a:srgbClr val="C2410C"/>
                </a:solidFill>
                <a:latin typeface="Bebas Neue"/>
              </a:rPr>
              <a:t>Instead</a:t>
            </a:r>
            <a:r>
              <a:rPr sz="1400">
                <a:solidFill>
                  <a:srgbClr val="111111"/>
                </a:solidFill>
                <a:latin typeface="Inter"/>
              </a:rPr>
              <a:t> of simply removing function words, this approach weighs each word by its promiscuity across documents.</a:t>
            </a:r>
          </a:p>
        </p:txBody>
      </p:sp>
      <p:sp>
        <p:nvSpPr>
          <p:cNvPr id="15" name="TextBox 14"/>
          <p:cNvSpPr txBox="1"/>
          <p:nvPr/>
        </p:nvSpPr>
        <p:spPr>
          <a:xfrm>
            <a:off x="994867" y="3958483"/>
            <a:ext cx="6689256" cy="448056"/>
          </a:xfrm>
          <a:prstGeom prst="rect">
            <a:avLst/>
          </a:prstGeom>
          <a:noFill/>
        </p:spPr>
        <p:txBody>
          <a:bodyPr wrap="square" lIns="0" rIns="0" tIns="0" bIns="0">
            <a:spAutoFit/>
          </a:bodyPr>
          <a:lstStyle/>
          <a:p>
            <a:r>
              <a:rPr sz="1400">
                <a:solidFill>
                  <a:srgbClr val="111111"/>
                </a:solidFill>
                <a:latin typeface="Inter"/>
              </a:rPr>
              <a:t>It down-weights words that occur in every document to provide a more fine-grained measure using inverse document frequency.</a:t>
            </a:r>
          </a:p>
        </p:txBody>
      </p:sp>
      <p:sp>
        <p:nvSpPr>
          <p:cNvPr id="16" name="TextBox 15"/>
          <p:cNvSpPr txBox="1"/>
          <p:nvPr/>
        </p:nvSpPr>
        <p:spPr>
          <a:xfrm>
            <a:off x="720547" y="4534555"/>
            <a:ext cx="6963576" cy="448056"/>
          </a:xfrm>
          <a:prstGeom prst="rect">
            <a:avLst/>
          </a:prstGeom>
          <a:noFill/>
        </p:spPr>
        <p:txBody>
          <a:bodyPr wrap="square" lIns="0" rIns="0" tIns="0" bIns="0">
            <a:spAutoFit/>
          </a:bodyPr>
          <a:lstStyle/>
          <a:p>
            <a:r>
              <a:rPr sz="1400">
                <a:solidFill>
                  <a:srgbClr val="111111"/>
                </a:solidFill>
                <a:latin typeface="Inter"/>
              </a:rPr>
              <a:t>Example: Lowering the weight of frequently occurring words </a:t>
            </a:r>
            <a:r>
              <a:rPr sz="1400" b="1">
                <a:solidFill>
                  <a:srgbClr val="0F766E"/>
                </a:solidFill>
                <a:latin typeface="Bebas Neue"/>
              </a:rPr>
              <a:t>like</a:t>
            </a:r>
            <a:r>
              <a:rPr sz="1400">
                <a:solidFill>
                  <a:srgbClr val="111111"/>
                </a:solidFill>
                <a:latin typeface="Inter"/>
              </a:rPr>
              <a:t> 'the' or 'and'.</a:t>
            </a:r>
          </a:p>
        </p:txBody>
      </p:sp>
      <p:sp>
        <p:nvSpPr>
          <p:cNvPr id="17" name="Rounded Rectangle 16"/>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Inverse document frequency — A measure used to down-weight words that occur universally across documents.  ·  Promiscuity — The tendency of a word to appear frequently across many different documents.</a:t>
            </a:r>
          </a:p>
        </p:txBody>
      </p:sp>
      <p:sp>
        <p:nvSpPr>
          <p:cNvPr id="18" name="Rectangle 17"/>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Inverse document frequency weighting calculates scores using document frequencies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87 / 114</a:t>
            </a:r>
          </a:p>
        </p:txBody>
      </p:sp>
      <p:sp>
        <p:nvSpPr>
          <p:cNvPr id="8" name="Rounded Rectangle 7"/>
          <p:cNvSpPr/>
          <p:nvPr/>
        </p:nvSpPr>
        <p:spPr>
          <a:xfrm>
            <a:off x="457200" y="1298448"/>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66215"/>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246430"/>
          </a:xfrm>
          <a:prstGeom prst="rect">
            <a:avLst/>
          </a:prstGeom>
          <a:noFill/>
        </p:spPr>
        <p:txBody>
          <a:bodyPr wrap="square" anchor="ctr" lIns="0" tIns="0" rIns="0" bIns="0">
            <a:spAutoFit/>
          </a:bodyPr>
          <a:lstStyle/>
          <a:p>
            <a:pPr algn="l"/>
            <a:r>
              <a:rPr sz="1490" b="1">
                <a:solidFill>
                  <a:srgbClr val="485174"/>
                </a:solidFill>
                <a:latin typeface="Bebas Neue"/>
              </a:rPr>
              <a:t>Weigh each overlapping word by inverse document frequency</a:t>
            </a:r>
          </a:p>
        </p:txBody>
      </p:sp>
      <p:sp>
        <p:nvSpPr>
          <p:cNvPr id="11" name="Rounded Rectangle 10"/>
          <p:cNvSpPr/>
          <p:nvPr/>
        </p:nvSpPr>
        <p:spPr>
          <a:xfrm>
            <a:off x="457200" y="1811883"/>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779651"/>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885035"/>
            <a:ext cx="10213848" cy="246430"/>
          </a:xfrm>
          <a:prstGeom prst="rect">
            <a:avLst/>
          </a:prstGeom>
          <a:noFill/>
        </p:spPr>
        <p:txBody>
          <a:bodyPr wrap="square" anchor="ctr" lIns="0" tIns="0" rIns="0" bIns="0">
            <a:spAutoFit/>
          </a:bodyPr>
          <a:lstStyle/>
          <a:p>
            <a:pPr algn="l"/>
            <a:r>
              <a:rPr sz="1490" b="1">
                <a:solidFill>
                  <a:srgbClr val="485174"/>
                </a:solidFill>
                <a:latin typeface="Bebas Neue"/>
              </a:rPr>
              <a:t>N is the total number of documents</a:t>
            </a:r>
          </a:p>
        </p:txBody>
      </p:sp>
      <p:sp>
        <p:nvSpPr>
          <p:cNvPr id="14" name="Rounded Rectangle 13"/>
          <p:cNvSpPr/>
          <p:nvPr/>
        </p:nvSpPr>
        <p:spPr>
          <a:xfrm>
            <a:off x="457200" y="2325319"/>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293086"/>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398471"/>
            <a:ext cx="10213848" cy="246430"/>
          </a:xfrm>
          <a:prstGeom prst="rect">
            <a:avLst/>
          </a:prstGeom>
          <a:noFill/>
        </p:spPr>
        <p:txBody>
          <a:bodyPr wrap="square" anchor="ctr" lIns="0" tIns="0" rIns="0" bIns="0">
            <a:spAutoFit/>
          </a:bodyPr>
          <a:lstStyle/>
          <a:p>
            <a:pPr algn="l"/>
            <a:r>
              <a:rPr sz="1490" b="1">
                <a:solidFill>
                  <a:srgbClr val="485174"/>
                </a:solidFill>
                <a:latin typeface="Bebas Neue"/>
              </a:rPr>
              <a:t>idf = log N</a:t>
            </a:r>
          </a:p>
        </p:txBody>
      </p:sp>
      <p:sp>
        <p:nvSpPr>
          <p:cNvPr id="17" name="Rounded Rectangle 16"/>
          <p:cNvSpPr/>
          <p:nvPr/>
        </p:nvSpPr>
        <p:spPr>
          <a:xfrm>
            <a:off x="457200" y="2838754"/>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806522"/>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2911906"/>
            <a:ext cx="10213848" cy="246430"/>
          </a:xfrm>
          <a:prstGeom prst="rect">
            <a:avLst/>
          </a:prstGeom>
          <a:noFill/>
        </p:spPr>
        <p:txBody>
          <a:bodyPr wrap="square" anchor="ctr" lIns="0" tIns="0" rIns="0" bIns="0">
            <a:spAutoFit/>
          </a:bodyPr>
          <a:lstStyle/>
          <a:p>
            <a:pPr algn="l"/>
            <a:r>
              <a:rPr sz="1490" b="1">
                <a:solidFill>
                  <a:srgbClr val="485174"/>
                </a:solidFill>
                <a:latin typeface="Bebas Neue"/>
              </a:rPr>
              <a:t>dfi = “document frequency of word i”</a:t>
            </a:r>
          </a:p>
        </p:txBody>
      </p:sp>
      <p:sp>
        <p:nvSpPr>
          <p:cNvPr id="20" name="Rounded Rectangle 19"/>
          <p:cNvSpPr/>
          <p:nvPr/>
        </p:nvSpPr>
        <p:spPr>
          <a:xfrm>
            <a:off x="457200" y="3352190"/>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319957"/>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425342"/>
            <a:ext cx="10213848" cy="246430"/>
          </a:xfrm>
          <a:prstGeom prst="rect">
            <a:avLst/>
          </a:prstGeom>
          <a:noFill/>
        </p:spPr>
        <p:txBody>
          <a:bodyPr wrap="square" anchor="ctr" lIns="0" tIns="0" rIns="0" bIns="0">
            <a:spAutoFit/>
          </a:bodyPr>
          <a:lstStyle/>
          <a:p>
            <a:pPr algn="l"/>
            <a:r>
              <a:rPr sz="1490" b="1">
                <a:solidFill>
                  <a:srgbClr val="485174"/>
                </a:solidFill>
                <a:latin typeface="Bebas Neue"/>
              </a:rPr>
              <a:t>df</a:t>
            </a:r>
          </a:p>
        </p:txBody>
      </p:sp>
      <p:sp>
        <p:nvSpPr>
          <p:cNvPr id="23" name="Rounded Rectangle 22"/>
          <p:cNvSpPr/>
          <p:nvPr/>
        </p:nvSpPr>
        <p:spPr>
          <a:xfrm>
            <a:off x="457200" y="3865626"/>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3833393"/>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3938778"/>
            <a:ext cx="10213848" cy="246430"/>
          </a:xfrm>
          <a:prstGeom prst="rect">
            <a:avLst/>
          </a:prstGeom>
          <a:noFill/>
        </p:spPr>
        <p:txBody>
          <a:bodyPr wrap="square" anchor="ctr" lIns="0" tIns="0" rIns="0" bIns="0">
            <a:spAutoFit/>
          </a:bodyPr>
          <a:lstStyle/>
          <a:p>
            <a:pPr algn="l"/>
            <a:r>
              <a:rPr sz="1490" b="1">
                <a:solidFill>
                  <a:srgbClr val="485174"/>
                </a:solidFill>
                <a:latin typeface="Bebas Neue"/>
              </a:rPr>
              <a:t>= # of documents with word I</a:t>
            </a:r>
          </a:p>
        </p:txBody>
      </p:sp>
      <p:sp>
        <p:nvSpPr>
          <p:cNvPr id="26" name="Rounded Rectangle 25"/>
          <p:cNvSpPr/>
          <p:nvPr/>
        </p:nvSpPr>
        <p:spPr>
          <a:xfrm>
            <a:off x="457200" y="4379061"/>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346829"/>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4452213"/>
            <a:ext cx="10213848" cy="246430"/>
          </a:xfrm>
          <a:prstGeom prst="rect">
            <a:avLst/>
          </a:prstGeom>
          <a:noFill/>
        </p:spPr>
        <p:txBody>
          <a:bodyPr wrap="square" anchor="ctr" lIns="0" tIns="0" rIns="0" bIns="0">
            <a:spAutoFit/>
          </a:bodyPr>
          <a:lstStyle/>
          <a:p>
            <a:pPr algn="l"/>
            <a:r>
              <a:rPr sz="1490" b="1">
                <a:solidFill>
                  <a:srgbClr val="485174"/>
                </a:solidFill>
                <a:latin typeface="Bebas Neue"/>
              </a:rPr>
              <a:t>score(sense, contextj) =</a:t>
            </a:r>
          </a:p>
        </p:txBody>
      </p:sp>
      <p:sp>
        <p:nvSpPr>
          <p:cNvPr id="29" name="Rounded Rectangle 28"/>
          <p:cNvSpPr/>
          <p:nvPr/>
        </p:nvSpPr>
        <p:spPr>
          <a:xfrm>
            <a:off x="457200" y="4892497"/>
            <a:ext cx="11274552" cy="392734"/>
          </a:xfrm>
          <a:prstGeom prst="roundRect">
            <a:avLst>
              <a:gd name="adj" fmla="val 3585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486026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4965649"/>
            <a:ext cx="10213848" cy="246430"/>
          </a:xfrm>
          <a:prstGeom prst="rect">
            <a:avLst/>
          </a:prstGeom>
          <a:noFill/>
        </p:spPr>
        <p:txBody>
          <a:bodyPr wrap="square" anchor="ctr" lIns="0" tIns="0" rIns="0" bIns="0">
            <a:spAutoFit/>
          </a:bodyPr>
          <a:lstStyle/>
          <a:p>
            <a:pPr algn="l"/>
            <a:r>
              <a:rPr sz="1490" b="1">
                <a:solidFill>
                  <a:srgbClr val="485174"/>
                </a:solidFill>
                <a:latin typeface="Bebas Neue"/>
              </a:rPr>
              <a:t>idfw</a:t>
            </a:r>
          </a:p>
        </p:txBody>
      </p:sp>
      <p:sp>
        <p:nvSpPr>
          <p:cNvPr id="32" name="Rounded Rectangle 31"/>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485174"/>
                </a:solidFill>
                <a:latin typeface="Bebas Neue"/>
              </a:rPr>
              <a:t>Key terms:  </a:t>
            </a:r>
            <a:r>
              <a:rPr sz="1550" b="1">
                <a:solidFill>
                  <a:srgbClr val="111111"/>
                </a:solidFill>
                <a:latin typeface="Bebas Neue"/>
              </a:rPr>
              <a:t>Inverse document frequency — The log of the total document count divided by the document frequency.  ·  Document frequency — The number of documents containing a specific word i.</a:t>
            </a:r>
          </a:p>
        </p:txBody>
      </p:sp>
      <p:sp>
        <p:nvSpPr>
          <p:cNvPr id="33" name="Rectangle 32"/>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GRAPH-BASED METHODS • First, WordNet can be viewed as a graph</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88 / 114</a:t>
            </a:r>
          </a:p>
        </p:txBody>
      </p:sp>
      <p:sp>
        <p:nvSpPr>
          <p:cNvPr id="8" name="Rounded Rectangle 7"/>
          <p:cNvSpPr/>
          <p:nvPr/>
        </p:nvSpPr>
        <p:spPr>
          <a:xfrm>
            <a:off x="457200" y="1298448"/>
            <a:ext cx="11274552" cy="2903483"/>
          </a:xfrm>
          <a:prstGeom prst="roundRect">
            <a:avLst>
              <a:gd name="adj" fmla="val 484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594360" y="1435607"/>
          <a:ext cx="11000232" cy="2629163"/>
        </p:xfrm>
        <a:graphic>
          <a:graphicData uri="http://schemas.openxmlformats.org/drawingml/2006/chart">
            <c:chart xmlns:c="http://schemas.openxmlformats.org/drawingml/2006/chart" r:id="rId5"/>
          </a:graphicData>
        </a:graphic>
      </p:graphicFrame>
      <p:sp>
        <p:nvSpPr>
          <p:cNvPr id="10" name="Rounded Rectangle 9"/>
          <p:cNvSpPr/>
          <p:nvPr/>
        </p:nvSpPr>
        <p:spPr>
          <a:xfrm>
            <a:off x="457200" y="4403099"/>
            <a:ext cx="11274552"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senses are nodes relations (hypernymy, meronymy) are edges Also add edge between word and unambiguous gloss words supv1</a:t>
            </a:r>
          </a:p>
        </p:txBody>
      </p:sp>
      <p:sp>
        <p:nvSpPr>
          <p:cNvPr id="13" name="Rounded Rectangle 1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Highest: Toastn (4).</a:t>
            </a:r>
          </a:p>
        </p:txBody>
      </p:sp>
      <p:sp>
        <p:nvSpPr>
          <p:cNvPr id="14" name="Rectangle 1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How to use the graph forwsd</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89 / 114</a:t>
            </a:r>
          </a:p>
        </p:txBody>
      </p:sp>
      <p:sp>
        <p:nvSpPr>
          <p:cNvPr id="8" name="Rounded Rectangle 7"/>
          <p:cNvSpPr/>
          <p:nvPr/>
        </p:nvSpPr>
        <p:spPr>
          <a:xfrm>
            <a:off x="457200" y="1298447"/>
            <a:ext cx="11274552" cy="771753"/>
          </a:xfrm>
          <a:prstGeom prst="roundRect">
            <a:avLst>
              <a:gd name="adj" fmla="val 182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55724"/>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599"/>
            <a:ext cx="10213848" cy="625449"/>
          </a:xfrm>
          <a:prstGeom prst="rect">
            <a:avLst/>
          </a:prstGeom>
          <a:noFill/>
        </p:spPr>
        <p:txBody>
          <a:bodyPr wrap="square" anchor="ctr" lIns="0" tIns="0" rIns="0" bIns="0">
            <a:spAutoFit/>
          </a:bodyPr>
          <a:lstStyle/>
          <a:p>
            <a:pPr algn="l"/>
            <a:r>
              <a:rPr sz="1670" b="1">
                <a:solidFill>
                  <a:srgbClr val="485174"/>
                </a:solidFill>
                <a:latin typeface="Bebas Neue"/>
              </a:rPr>
              <a:t>Insert words and senses  —  Target word and context → Graph</a:t>
            </a:r>
          </a:p>
          <a:p>
            <a:pPr algn="l">
              <a:spcBef>
                <a:spcPts val="300"/>
              </a:spcBef>
            </a:pPr>
            <a:r>
              <a:rPr sz="1450" b="0">
                <a:solidFill>
                  <a:srgbClr val="111111"/>
                </a:solidFill>
                <a:latin typeface="Inter"/>
              </a:rPr>
              <a:t>First, place the target word ("drink") and its context word ("milk") into the graph along with their…</a:t>
            </a:r>
          </a:p>
        </p:txBody>
      </p:sp>
      <p:sp>
        <p:nvSpPr>
          <p:cNvPr id="11" name="Rounded Rectangle 10"/>
          <p:cNvSpPr/>
          <p:nvPr/>
        </p:nvSpPr>
        <p:spPr>
          <a:xfrm>
            <a:off x="457200" y="2190902"/>
            <a:ext cx="11274552" cy="771753"/>
          </a:xfrm>
          <a:prstGeom prst="roundRect">
            <a:avLst>
              <a:gd name="adj" fmla="val 182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348179"/>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264054"/>
            <a:ext cx="10213848" cy="625449"/>
          </a:xfrm>
          <a:prstGeom prst="rect">
            <a:avLst/>
          </a:prstGeom>
          <a:noFill/>
        </p:spPr>
        <p:txBody>
          <a:bodyPr wrap="square" anchor="ctr" lIns="0" tIns="0" rIns="0" bIns="0">
            <a:spAutoFit/>
          </a:bodyPr>
          <a:lstStyle/>
          <a:p>
            <a:pPr algn="l"/>
            <a:r>
              <a:rPr sz="1670" b="1">
                <a:solidFill>
                  <a:srgbClr val="485174"/>
                </a:solidFill>
                <a:latin typeface="Bebas Neue"/>
              </a:rPr>
              <a:t>Choose the most central sense  —  PageRank → Central Sense</a:t>
            </a:r>
          </a:p>
          <a:p>
            <a:pPr algn="l">
              <a:spcBef>
                <a:spcPts val="300"/>
              </a:spcBef>
            </a:pPr>
            <a:r>
              <a:rPr sz="1450" b="0">
                <a:solidFill>
                  <a:srgbClr val="111111"/>
                </a:solidFill>
                <a:latin typeface="Inter"/>
              </a:rPr>
              <a:t>Next, we run an algorithm called PageRank on the graph to find which word senses are the most central or…</a:t>
            </a:r>
          </a:p>
        </p:txBody>
      </p:sp>
      <p:sp>
        <p:nvSpPr>
          <p:cNvPr id="14" name="Rounded Rectangle 13"/>
          <p:cNvSpPr/>
          <p:nvPr/>
        </p:nvSpPr>
        <p:spPr>
          <a:xfrm>
            <a:off x="457200" y="3083356"/>
            <a:ext cx="11274552" cy="771753"/>
          </a:xfrm>
          <a:prstGeom prst="roundRect">
            <a:avLst>
              <a:gd name="adj" fmla="val 182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240633"/>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3156508"/>
            <a:ext cx="10213848" cy="625449"/>
          </a:xfrm>
          <a:prstGeom prst="rect">
            <a:avLst/>
          </a:prstGeom>
          <a:noFill/>
        </p:spPr>
        <p:txBody>
          <a:bodyPr wrap="square" anchor="ctr" lIns="0" tIns="0" rIns="0" bIns="0">
            <a:spAutoFit/>
          </a:bodyPr>
          <a:lstStyle/>
          <a:p>
            <a:pPr algn="l"/>
            <a:r>
              <a:rPr sz="1670" b="1">
                <a:solidFill>
                  <a:srgbClr val="485174"/>
                </a:solidFill>
                <a:latin typeface="Bebas Neue"/>
              </a:rPr>
              <a:t>Add probabilities  —  Weights → Graph Edges</a:t>
            </a:r>
          </a:p>
          <a:p>
            <a:pPr algn="l">
              <a:spcBef>
                <a:spcPts val="300"/>
              </a:spcBef>
            </a:pPr>
            <a:r>
              <a:rPr sz="1450" b="0">
                <a:solidFill>
                  <a:srgbClr val="111111"/>
                </a:solidFill>
                <a:latin typeface="Inter"/>
              </a:rPr>
              <a:t>Then, we assign probabilities or weights to the connections between the words and their specific…</a:t>
            </a:r>
          </a:p>
        </p:txBody>
      </p:sp>
      <p:sp>
        <p:nvSpPr>
          <p:cNvPr id="17" name="Rounded Rectangle 16"/>
          <p:cNvSpPr/>
          <p:nvPr/>
        </p:nvSpPr>
        <p:spPr>
          <a:xfrm>
            <a:off x="457200" y="3975811"/>
            <a:ext cx="11274552" cy="771753"/>
          </a:xfrm>
          <a:prstGeom prst="roundRect">
            <a:avLst>
              <a:gd name="adj" fmla="val 182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133087"/>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4048963"/>
            <a:ext cx="10213848" cy="625449"/>
          </a:xfrm>
          <a:prstGeom prst="rect">
            <a:avLst/>
          </a:prstGeom>
          <a:noFill/>
        </p:spPr>
        <p:txBody>
          <a:bodyPr wrap="square" anchor="ctr" lIns="0" tIns="0" rIns="0" bIns="0">
            <a:spAutoFit/>
          </a:bodyPr>
          <a:lstStyle/>
          <a:p>
            <a:pPr algn="l"/>
            <a:r>
              <a:rPr sz="1670" b="1">
                <a:solidFill>
                  <a:srgbClr val="485174"/>
                </a:solidFill>
                <a:latin typeface="Bebas Neue"/>
              </a:rPr>
              <a:t>Compute node scores  —  Compute → Node Scores</a:t>
            </a:r>
          </a:p>
          <a:p>
            <a:pPr algn="l">
              <a:spcBef>
                <a:spcPts val="300"/>
              </a:spcBef>
            </a:pPr>
            <a:r>
              <a:rPr sz="1450" b="0">
                <a:solidFill>
                  <a:srgbClr val="111111"/>
                </a:solidFill>
                <a:latin typeface="Inter"/>
              </a:rPr>
              <a:t>After setting up the weighted graph, we calculate the final PageRank score for every node (both words…</a:t>
            </a:r>
          </a:p>
        </p:txBody>
      </p:sp>
      <p:sp>
        <p:nvSpPr>
          <p:cNvPr id="20" name="Rounded Rectangle 19"/>
          <p:cNvSpPr/>
          <p:nvPr/>
        </p:nvSpPr>
        <p:spPr>
          <a:xfrm>
            <a:off x="457200" y="4868265"/>
            <a:ext cx="11274552" cy="771753"/>
          </a:xfrm>
          <a:prstGeom prst="roundRect">
            <a:avLst>
              <a:gd name="adj" fmla="val 182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025542"/>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4941417"/>
            <a:ext cx="10213848" cy="625449"/>
          </a:xfrm>
          <a:prstGeom prst="rect">
            <a:avLst/>
          </a:prstGeom>
          <a:noFill/>
        </p:spPr>
        <p:txBody>
          <a:bodyPr wrap="square" anchor="ctr" lIns="0" tIns="0" rIns="0" bIns="0">
            <a:spAutoFit/>
          </a:bodyPr>
          <a:lstStyle/>
          <a:p>
            <a:pPr algn="l"/>
            <a:r>
              <a:rPr sz="1670" b="1">
                <a:solidFill>
                  <a:srgbClr val="485174"/>
                </a:solidFill>
                <a:latin typeface="Bebas Neue"/>
              </a:rPr>
              <a:t>Find highest PageRank  —  Max Score → Selected Sense</a:t>
            </a:r>
          </a:p>
          <a:p>
            <a:pPr algn="l">
              <a:spcBef>
                <a:spcPts val="300"/>
              </a:spcBef>
            </a:pPr>
            <a:r>
              <a:rPr sz="1450" b="0">
                <a:solidFill>
                  <a:srgbClr val="111111"/>
                </a:solidFill>
                <a:latin typeface="Inter"/>
              </a:rPr>
              <a:t>Finally, we look at the scores and pick the sense of "drink" with the highest PageRank as the correct…</a:t>
            </a:r>
          </a:p>
        </p:txBody>
      </p:sp>
      <p:sp>
        <p:nvSpPr>
          <p:cNvPr id="23" name="Rounded Rectangle 22"/>
          <p:cNvSpPr/>
          <p:nvPr/>
        </p:nvSpPr>
        <p:spPr>
          <a:xfrm>
            <a:off x="457200" y="5760720"/>
            <a:ext cx="11274552" cy="640080"/>
          </a:xfrm>
          <a:prstGeom prst="roundRect">
            <a:avLst>
              <a:gd name="adj" fmla="val 2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1750" b="1">
                <a:solidFill>
                  <a:srgbClr val="FFFFFF"/>
                </a:solidFill>
                <a:latin typeface="Bebas Neue"/>
              </a:rPr>
              <a:t>Answer: The most central sense of 'drink' based on PageRank in the context of 'milk'.</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90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485174"/>
                </a:solidFill>
                <a:latin typeface="Bebas Neue"/>
              </a:rPr>
              <a:t>What is the value for Drinkn?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3</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1</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0</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2</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Drinkn: 1</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SEMI-SUPERVISEDLEARNING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91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725"/>
            <a:ext cx="340156" cy="340156"/>
          </a:xfrm>
          <a:prstGeom prst="rect">
            <a:avLst/>
          </a:prstGeom>
        </p:spPr>
      </p:pic>
      <p:sp>
        <p:nvSpPr>
          <p:cNvPr id="11" name="TextBox 10"/>
          <p:cNvSpPr txBox="1"/>
          <p:nvPr/>
        </p:nvSpPr>
        <p:spPr>
          <a:xfrm>
            <a:off x="1408175" y="1371600"/>
            <a:ext cx="6538874" cy="978408"/>
          </a:xfrm>
          <a:prstGeom prst="rect">
            <a:avLst/>
          </a:prstGeom>
          <a:noFill/>
        </p:spPr>
        <p:txBody>
          <a:bodyPr wrap="square" anchor="ctr" lIns="0" tIns="0" rIns="0" bIns="0">
            <a:spAutoFit/>
          </a:bodyPr>
          <a:lstStyle/>
          <a:p>
            <a:pPr algn="l"/>
            <a:r>
              <a:rPr sz="2200" b="0">
                <a:solidFill>
                  <a:srgbClr val="111111"/>
                </a:solidFill>
                <a:latin typeface="Inter"/>
              </a:rPr>
              <a:t>PROBLEM: Supervised and dictionary-based approaches require large hand-built resources</a:t>
            </a:r>
          </a:p>
        </p:txBody>
      </p:sp>
      <p:sp>
        <p:nvSpPr>
          <p:cNvPr id="12" name="Rounded Rectangle 11"/>
          <p:cNvSpPr/>
          <p:nvPr/>
        </p:nvSpPr>
        <p:spPr>
          <a:xfrm>
            <a:off x="457200" y="262432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16605"/>
            <a:ext cx="340156" cy="340156"/>
          </a:xfrm>
          <a:prstGeom prst="rect">
            <a:avLst/>
          </a:prstGeom>
        </p:spPr>
      </p:pic>
      <p:sp>
        <p:nvSpPr>
          <p:cNvPr id="15" name="TextBox 14"/>
          <p:cNvSpPr txBox="1"/>
          <p:nvPr/>
        </p:nvSpPr>
        <p:spPr>
          <a:xfrm>
            <a:off x="1408175" y="2697480"/>
            <a:ext cx="6538874" cy="978408"/>
          </a:xfrm>
          <a:prstGeom prst="rect">
            <a:avLst/>
          </a:prstGeom>
          <a:noFill/>
        </p:spPr>
        <p:txBody>
          <a:bodyPr wrap="square" anchor="ctr" lIns="0" tIns="0" rIns="0" bIns="0">
            <a:spAutoFit/>
          </a:bodyPr>
          <a:lstStyle/>
          <a:p>
            <a:pPr algn="l"/>
            <a:r>
              <a:rPr sz="2200" b="0">
                <a:solidFill>
                  <a:srgbClr val="111111"/>
                </a:solidFill>
                <a:latin typeface="Inter"/>
              </a:rPr>
              <a:t>What if you don’t have so much training data?</a:t>
            </a:r>
          </a:p>
        </p:txBody>
      </p:sp>
      <p:sp>
        <p:nvSpPr>
          <p:cNvPr id="16" name="Rounded Rectangle 15"/>
          <p:cNvSpPr/>
          <p:nvPr/>
        </p:nvSpPr>
        <p:spPr>
          <a:xfrm>
            <a:off x="457200" y="395020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342485"/>
            <a:ext cx="340156" cy="340156"/>
          </a:xfrm>
          <a:prstGeom prst="rect">
            <a:avLst/>
          </a:prstGeom>
        </p:spPr>
      </p:pic>
      <p:sp>
        <p:nvSpPr>
          <p:cNvPr id="19" name="TextBox 18"/>
          <p:cNvSpPr txBox="1"/>
          <p:nvPr/>
        </p:nvSpPr>
        <p:spPr>
          <a:xfrm>
            <a:off x="1408175" y="4023360"/>
            <a:ext cx="6538874" cy="978408"/>
          </a:xfrm>
          <a:prstGeom prst="rect">
            <a:avLst/>
          </a:prstGeom>
          <a:noFill/>
        </p:spPr>
        <p:txBody>
          <a:bodyPr wrap="square" anchor="ctr" lIns="0" tIns="0" rIns="0" bIns="0">
            <a:spAutoFit/>
          </a:bodyPr>
          <a:lstStyle/>
          <a:p>
            <a:pPr algn="l"/>
            <a:r>
              <a:rPr sz="2200" b="0">
                <a:solidFill>
                  <a:srgbClr val="111111"/>
                </a:solidFill>
                <a:latin typeface="Inter"/>
              </a:rPr>
              <a:t>Solution: Bootstrapping</a:t>
            </a:r>
          </a:p>
        </p:txBody>
      </p:sp>
      <p:sp>
        <p:nvSpPr>
          <p:cNvPr id="20" name="Rounded Rectangle 19"/>
          <p:cNvSpPr/>
          <p:nvPr/>
        </p:nvSpPr>
        <p:spPr>
          <a:xfrm>
            <a:off x="457200" y="527608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5668365"/>
            <a:ext cx="340156" cy="340156"/>
          </a:xfrm>
          <a:prstGeom prst="rect">
            <a:avLst/>
          </a:prstGeom>
        </p:spPr>
      </p:pic>
      <p:sp>
        <p:nvSpPr>
          <p:cNvPr id="23" name="TextBox 22"/>
          <p:cNvSpPr txBox="1"/>
          <p:nvPr/>
        </p:nvSpPr>
        <p:spPr>
          <a:xfrm>
            <a:off x="1408175" y="5349240"/>
            <a:ext cx="6538874" cy="978408"/>
          </a:xfrm>
          <a:prstGeom prst="rect">
            <a:avLst/>
          </a:prstGeom>
          <a:noFill/>
        </p:spPr>
        <p:txBody>
          <a:bodyPr wrap="square" anchor="ctr" lIns="0" tIns="0" rIns="0" bIns="0">
            <a:spAutoFit/>
          </a:bodyPr>
          <a:lstStyle/>
          <a:p>
            <a:pPr algn="l"/>
            <a:r>
              <a:rPr sz="2200" b="0">
                <a:solidFill>
                  <a:srgbClr val="111111"/>
                </a:solidFill>
                <a:latin typeface="Inter"/>
              </a:rPr>
              <a:t>Generalize from a very small hand-labeledseed-set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Boot strapping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92 / 114</a:t>
            </a:r>
          </a:p>
        </p:txBody>
      </p:sp>
      <p:sp>
        <p:nvSpPr>
          <p:cNvPr id="7" name="Rounded Rectangle 6">
            <a:hlinkClick r:id="rId3"/>
          </p:cNvPr>
          <p:cNvSpPr/>
          <p:nvPr/>
        </p:nvSpPr>
        <p:spPr>
          <a:xfrm>
            <a:off x="3481120" y="6455664"/>
            <a:ext cx="5226710"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Boot strapping — step-through</a:t>
            </a:r>
          </a:p>
        </p:txBody>
      </p:sp>
      <p:pic>
        <p:nvPicPr>
          <p:cNvPr id="8" name="Picture 7" descr="image.png">
            <a:hlinkClick r:id="rId5"/>
          </p:cNvPr>
          <p:cNvPicPr>
            <a:picLocks noChangeAspect="1"/>
          </p:cNvPicPr>
          <p:nvPr/>
        </p:nvPicPr>
        <p:blipFill>
          <a:blip r:embed="rId4"/>
          <a:stretch>
            <a:fillRect/>
          </a:stretch>
        </p:blipFill>
        <p:spPr>
          <a:xfrm>
            <a:off x="8349386" y="1735645"/>
            <a:ext cx="3382365" cy="4227957"/>
          </a:xfrm>
          <a:prstGeom prst="rect">
            <a:avLst/>
          </a:prstGeom>
        </p:spPr>
      </p:pic>
      <p:sp>
        <p:nvSpPr>
          <p:cNvPr id="9" name="Rounded Rectangle 8"/>
          <p:cNvSpPr/>
          <p:nvPr/>
        </p:nvSpPr>
        <p:spPr>
          <a:xfrm>
            <a:off x="457200" y="129844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773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690725"/>
            <a:ext cx="340156" cy="340156"/>
          </a:xfrm>
          <a:prstGeom prst="rect">
            <a:avLst/>
          </a:prstGeom>
        </p:spPr>
      </p:pic>
      <p:sp>
        <p:nvSpPr>
          <p:cNvPr id="12" name="TextBox 11"/>
          <p:cNvSpPr txBox="1"/>
          <p:nvPr/>
        </p:nvSpPr>
        <p:spPr>
          <a:xfrm>
            <a:off x="1408175" y="1371600"/>
            <a:ext cx="6538874" cy="978408"/>
          </a:xfrm>
          <a:prstGeom prst="rect">
            <a:avLst/>
          </a:prstGeom>
          <a:noFill/>
        </p:spPr>
        <p:txBody>
          <a:bodyPr wrap="square" anchor="ctr" lIns="0" tIns="0" rIns="0" bIns="0">
            <a:spAutoFit/>
          </a:bodyPr>
          <a:lstStyle/>
          <a:p>
            <a:pPr algn="l"/>
            <a:r>
              <a:rPr sz="2100" b="1">
                <a:solidFill>
                  <a:srgbClr val="485174"/>
                </a:solidFill>
                <a:latin typeface="Bebas Neue"/>
              </a:rPr>
              <a:t>Bass</a:t>
            </a:r>
          </a:p>
          <a:p>
            <a:pPr algn="l">
              <a:spcBef>
                <a:spcPts val="500"/>
              </a:spcBef>
            </a:pPr>
            <a:r>
              <a:rPr sz="1750" b="0">
                <a:solidFill>
                  <a:srgbClr val="111111"/>
                </a:solidFill>
                <a:latin typeface="Inter"/>
              </a:rPr>
              <a:t>For bass</a:t>
            </a:r>
          </a:p>
        </p:txBody>
      </p:sp>
      <p:sp>
        <p:nvSpPr>
          <p:cNvPr id="13" name="Rounded Rectangle 12"/>
          <p:cNvSpPr/>
          <p:nvPr/>
        </p:nvSpPr>
        <p:spPr>
          <a:xfrm>
            <a:off x="457200" y="262432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29032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771753" y="3016605"/>
            <a:ext cx="340156" cy="340156"/>
          </a:xfrm>
          <a:prstGeom prst="rect">
            <a:avLst/>
          </a:prstGeom>
        </p:spPr>
      </p:pic>
      <p:sp>
        <p:nvSpPr>
          <p:cNvPr id="16" name="TextBox 15"/>
          <p:cNvSpPr txBox="1"/>
          <p:nvPr/>
        </p:nvSpPr>
        <p:spPr>
          <a:xfrm>
            <a:off x="1408175" y="2697480"/>
            <a:ext cx="6538874" cy="978408"/>
          </a:xfrm>
          <a:prstGeom prst="rect">
            <a:avLst/>
          </a:prstGeom>
          <a:noFill/>
        </p:spPr>
        <p:txBody>
          <a:bodyPr wrap="square" anchor="ctr" lIns="0" tIns="0" rIns="0" bIns="0">
            <a:spAutoFit/>
          </a:bodyPr>
          <a:lstStyle/>
          <a:p>
            <a:pPr algn="l"/>
            <a:r>
              <a:rPr sz="2100" b="1">
                <a:solidFill>
                  <a:srgbClr val="485174"/>
                </a:solidFill>
                <a:latin typeface="Bebas Neue"/>
              </a:rPr>
              <a:t>Rely on “One sense per collocation” rule</a:t>
            </a:r>
          </a:p>
        </p:txBody>
      </p:sp>
      <p:sp>
        <p:nvSpPr>
          <p:cNvPr id="17" name="Rounded Rectangle 16"/>
          <p:cNvSpPr/>
          <p:nvPr/>
        </p:nvSpPr>
        <p:spPr>
          <a:xfrm>
            <a:off x="457200" y="395020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22910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4342485"/>
            <a:ext cx="340156" cy="340156"/>
          </a:xfrm>
          <a:prstGeom prst="rect">
            <a:avLst/>
          </a:prstGeom>
        </p:spPr>
      </p:pic>
      <p:sp>
        <p:nvSpPr>
          <p:cNvPr id="20" name="TextBox 19"/>
          <p:cNvSpPr txBox="1"/>
          <p:nvPr/>
        </p:nvSpPr>
        <p:spPr>
          <a:xfrm>
            <a:off x="1408175" y="4023360"/>
            <a:ext cx="6538874" cy="978408"/>
          </a:xfrm>
          <a:prstGeom prst="rect">
            <a:avLst/>
          </a:prstGeom>
          <a:noFill/>
        </p:spPr>
        <p:txBody>
          <a:bodyPr wrap="square" anchor="ctr" lIns="0" tIns="0" rIns="0" bIns="0">
            <a:spAutoFit/>
          </a:bodyPr>
          <a:lstStyle/>
          <a:p>
            <a:pPr algn="l"/>
            <a:r>
              <a:rPr sz="2100" b="1">
                <a:solidFill>
                  <a:srgbClr val="485174"/>
                </a:solidFill>
                <a:latin typeface="Bebas Neue"/>
              </a:rPr>
              <a:t>Word reoccurring</a:t>
            </a:r>
          </a:p>
          <a:p>
            <a:pPr algn="l">
              <a:spcBef>
                <a:spcPts val="500"/>
              </a:spcBef>
            </a:pPr>
            <a:r>
              <a:rPr sz="1750" b="0">
                <a:solidFill>
                  <a:srgbClr val="111111"/>
                </a:solidFill>
                <a:latin typeface="Inter"/>
              </a:rPr>
              <a:t>A word reoccurring in collocation with the same word will almost surely have the same sense</a:t>
            </a:r>
          </a:p>
        </p:txBody>
      </p:sp>
      <p:sp>
        <p:nvSpPr>
          <p:cNvPr id="21" name="Rounded Rectangle 20"/>
          <p:cNvSpPr/>
          <p:nvPr/>
        </p:nvSpPr>
        <p:spPr>
          <a:xfrm>
            <a:off x="457200" y="5276088"/>
            <a:ext cx="7691018"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55549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771753" y="5668365"/>
            <a:ext cx="340156" cy="340156"/>
          </a:xfrm>
          <a:prstGeom prst="rect">
            <a:avLst/>
          </a:prstGeom>
        </p:spPr>
      </p:pic>
      <p:sp>
        <p:nvSpPr>
          <p:cNvPr id="24" name="TextBox 23"/>
          <p:cNvSpPr txBox="1"/>
          <p:nvPr/>
        </p:nvSpPr>
        <p:spPr>
          <a:xfrm>
            <a:off x="1408175" y="5349240"/>
            <a:ext cx="6538874" cy="978408"/>
          </a:xfrm>
          <a:prstGeom prst="rect">
            <a:avLst/>
          </a:prstGeom>
          <a:noFill/>
        </p:spPr>
        <p:txBody>
          <a:bodyPr wrap="square" anchor="ctr" lIns="0" tIns="0" rIns="0" bIns="0">
            <a:spAutoFit/>
          </a:bodyPr>
          <a:lstStyle/>
          <a:p>
            <a:pPr algn="l"/>
            <a:r>
              <a:rPr sz="2100" b="1">
                <a:solidFill>
                  <a:srgbClr val="485174"/>
                </a:solidFill>
                <a:latin typeface="Bebas Neue"/>
              </a:rPr>
              <a:t>Word play occurs</a:t>
            </a:r>
          </a:p>
          <a:p>
            <a:pPr algn="l">
              <a:spcBef>
                <a:spcPts val="500"/>
              </a:spcBef>
            </a:pPr>
            <a:r>
              <a:rPr sz="1750" b="0">
                <a:solidFill>
                  <a:srgbClr val="111111"/>
                </a:solidFill>
                <a:latin typeface="Inter"/>
              </a:rPr>
              <a:t>the word play occurs with the music sense of bass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5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Sentences extracting using “FISH” and “PLAY”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93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72458"/>
            <a:ext cx="82296" cy="1608795"/>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35882"/>
            <a:ext cx="6907734" cy="1627083"/>
          </a:xfrm>
          <a:prstGeom prst="rect">
            <a:avLst/>
          </a:prstGeom>
          <a:noFill/>
        </p:spPr>
        <p:txBody>
          <a:bodyPr wrap="square" anchor="t" lIns="0" tIns="0" rIns="0" bIns="0">
            <a:spAutoFit/>
          </a:bodyPr>
          <a:lstStyle/>
          <a:p>
            <a:pPr algn="l"/>
            <a:r>
              <a:rPr sz="2540" b="1">
                <a:solidFill>
                  <a:srgbClr val="485174"/>
                </a:solidFill>
                <a:latin typeface="Bebas Neue"/>
              </a:rPr>
              <a:t>We need more good teachers – right now, there are only a half a dozen who can play the free bass with ease.</a:t>
            </a:r>
          </a:p>
        </p:txBody>
      </p:sp>
      <p:sp>
        <p:nvSpPr>
          <p:cNvPr id="10" name="TextBox 9"/>
          <p:cNvSpPr txBox="1"/>
          <p:nvPr/>
        </p:nvSpPr>
        <p:spPr>
          <a:xfrm>
            <a:off x="720547" y="3254989"/>
            <a:ext cx="6907734" cy="984122"/>
          </a:xfrm>
          <a:prstGeom prst="rect">
            <a:avLst/>
          </a:prstGeom>
          <a:noFill/>
        </p:spPr>
        <p:txBody>
          <a:bodyPr wrap="square" lIns="0" rIns="0" tIns="0" bIns="0">
            <a:spAutoFit/>
          </a:bodyPr>
          <a:lstStyle/>
          <a:p>
            <a:r>
              <a:rPr sz="2050">
                <a:solidFill>
                  <a:srgbClr val="111111"/>
                </a:solidFill>
                <a:latin typeface="Inter"/>
              </a:rPr>
              <a:t>An electric guitar and bass player stand off to one side, not really part of the scene, just as a sort of nod to gringo expectations perhaps.</a:t>
            </a:r>
          </a:p>
        </p:txBody>
      </p:sp>
      <p:sp>
        <p:nvSpPr>
          <p:cNvPr id="11" name="TextBox 10"/>
          <p:cNvSpPr txBox="1"/>
          <p:nvPr/>
        </p:nvSpPr>
        <p:spPr>
          <a:xfrm>
            <a:off x="720547" y="4367128"/>
            <a:ext cx="6907734" cy="984122"/>
          </a:xfrm>
          <a:prstGeom prst="rect">
            <a:avLst/>
          </a:prstGeom>
          <a:noFill/>
        </p:spPr>
        <p:txBody>
          <a:bodyPr wrap="square" lIns="0" rIns="0" tIns="0" bIns="0">
            <a:spAutoFit/>
          </a:bodyPr>
          <a:lstStyle/>
          <a:p>
            <a:r>
              <a:rPr sz="2050">
                <a:solidFill>
                  <a:srgbClr val="111111"/>
                </a:solidFill>
                <a:latin typeface="Inter"/>
              </a:rPr>
              <a:t>The researchers said the worms spend part of their life cycle in such fish as Pacific salmon and striped bass and Pacific rockfish or snapper.</a:t>
            </a:r>
          </a:p>
        </p:txBody>
      </p:sp>
      <p:sp>
        <p:nvSpPr>
          <p:cNvPr id="12" name="TextBox 11"/>
          <p:cNvSpPr txBox="1"/>
          <p:nvPr/>
        </p:nvSpPr>
        <p:spPr>
          <a:xfrm>
            <a:off x="720547" y="5479267"/>
            <a:ext cx="6907734" cy="656082"/>
          </a:xfrm>
          <a:prstGeom prst="rect">
            <a:avLst/>
          </a:prstGeom>
          <a:noFill/>
        </p:spPr>
        <p:txBody>
          <a:bodyPr wrap="square" lIns="0" rIns="0" tIns="0" bIns="0">
            <a:spAutoFit/>
          </a:bodyPr>
          <a:lstStyle/>
          <a:p>
            <a:r>
              <a:rPr sz="2050">
                <a:solidFill>
                  <a:srgbClr val="111111"/>
                </a:solidFill>
                <a:latin typeface="Inter"/>
              </a:rPr>
              <a:t>And it all started when fishermen decided the striped bass in Lake Mead were too skinny.</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Algorithm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94 / 114</a:t>
            </a:r>
          </a:p>
        </p:txBody>
      </p:sp>
      <p:sp>
        <p:nvSpPr>
          <p:cNvPr id="7" name="Rounded Rectangle 6">
            <a:hlinkClick r:id="rId3"/>
          </p:cNvPr>
          <p:cNvSpPr/>
          <p:nvPr/>
        </p:nvSpPr>
        <p:spPr>
          <a:xfrm>
            <a:off x="3682288" y="6455664"/>
            <a:ext cx="4824374"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Algorithm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803948"/>
            <a:ext cx="340156" cy="340156"/>
          </a:xfrm>
          <a:prstGeom prst="rect">
            <a:avLst/>
          </a:prstGeom>
        </p:spPr>
      </p:pic>
      <p:sp>
        <p:nvSpPr>
          <p:cNvPr id="12" name="TextBox 11"/>
          <p:cNvSpPr txBox="1"/>
          <p:nvPr/>
        </p:nvSpPr>
        <p:spPr>
          <a:xfrm>
            <a:off x="1408175" y="1371600"/>
            <a:ext cx="2689250" cy="1204853"/>
          </a:xfrm>
          <a:prstGeom prst="rect">
            <a:avLst/>
          </a:prstGeom>
          <a:noFill/>
        </p:spPr>
        <p:txBody>
          <a:bodyPr wrap="square" anchor="ctr" lIns="0" tIns="0" rIns="0" bIns="0">
            <a:spAutoFit/>
          </a:bodyPr>
          <a:lstStyle/>
          <a:p>
            <a:pPr algn="l"/>
            <a:r>
              <a:rPr sz="2280" b="1">
                <a:solidFill>
                  <a:srgbClr val="485174"/>
                </a:solidFill>
                <a:latin typeface="Bebas Neue"/>
              </a:rPr>
              <a:t>Collocations</a:t>
            </a:r>
          </a:p>
          <a:p>
            <a:pPr algn="l">
              <a:spcBef>
                <a:spcPts val="500"/>
              </a:spcBef>
            </a:pPr>
            <a:r>
              <a:rPr sz="1900" b="0">
                <a:solidFill>
                  <a:srgbClr val="111111"/>
                </a:solidFill>
                <a:latin typeface="Inter"/>
              </a:rPr>
              <a:t>“plant life”, “manufacturing plant”</a:t>
            </a:r>
          </a:p>
        </p:txBody>
      </p:sp>
      <p:sp>
        <p:nvSpPr>
          <p:cNvPr id="13" name="Rounded Rectangle 12"/>
          <p:cNvSpPr/>
          <p:nvPr/>
        </p:nvSpPr>
        <p:spPr>
          <a:xfrm>
            <a:off x="4499762" y="1298448"/>
            <a:ext cx="3841394"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803948"/>
            <a:ext cx="340156" cy="340156"/>
          </a:xfrm>
          <a:prstGeom prst="rect">
            <a:avLst/>
          </a:prstGeom>
        </p:spPr>
      </p:pic>
      <p:sp>
        <p:nvSpPr>
          <p:cNvPr id="16" name="TextBox 15"/>
          <p:cNvSpPr txBox="1"/>
          <p:nvPr/>
        </p:nvSpPr>
        <p:spPr>
          <a:xfrm>
            <a:off x="5450738" y="1371600"/>
            <a:ext cx="2689250" cy="1204853"/>
          </a:xfrm>
          <a:prstGeom prst="rect">
            <a:avLst/>
          </a:prstGeom>
          <a:noFill/>
        </p:spPr>
        <p:txBody>
          <a:bodyPr wrap="square" anchor="ctr" lIns="0" tIns="0" rIns="0" bIns="0">
            <a:spAutoFit/>
          </a:bodyPr>
          <a:lstStyle/>
          <a:p>
            <a:pPr algn="l"/>
            <a:r>
              <a:rPr sz="2280" b="1">
                <a:solidFill>
                  <a:srgbClr val="485174"/>
                </a:solidFill>
                <a:latin typeface="Bebas Neue"/>
              </a:rPr>
              <a:t>Assumption 1</a:t>
            </a:r>
          </a:p>
          <a:p>
            <a:pPr algn="l">
              <a:spcBef>
                <a:spcPts val="500"/>
              </a:spcBef>
            </a:pPr>
            <a:r>
              <a:rPr sz="1900" b="0">
                <a:solidFill>
                  <a:srgbClr val="111111"/>
                </a:solidFill>
                <a:latin typeface="Inter"/>
              </a:rPr>
              <a:t>One-sense-per-collocation</a:t>
            </a:r>
          </a:p>
        </p:txBody>
      </p:sp>
      <p:sp>
        <p:nvSpPr>
          <p:cNvPr id="17" name="Rounded Rectangle 16"/>
          <p:cNvSpPr/>
          <p:nvPr/>
        </p:nvSpPr>
        <p:spPr>
          <a:xfrm>
            <a:off x="457200" y="2850773"/>
            <a:ext cx="7883956"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4288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3356274"/>
            <a:ext cx="340156" cy="340156"/>
          </a:xfrm>
          <a:prstGeom prst="rect">
            <a:avLst/>
          </a:prstGeom>
        </p:spPr>
      </p:pic>
      <p:sp>
        <p:nvSpPr>
          <p:cNvPr id="20" name="TextBox 19"/>
          <p:cNvSpPr txBox="1"/>
          <p:nvPr/>
        </p:nvSpPr>
        <p:spPr>
          <a:xfrm>
            <a:off x="1408175" y="2923925"/>
            <a:ext cx="6731812" cy="1204853"/>
          </a:xfrm>
          <a:prstGeom prst="rect">
            <a:avLst/>
          </a:prstGeom>
          <a:noFill/>
        </p:spPr>
        <p:txBody>
          <a:bodyPr wrap="square" anchor="ctr" lIns="0" tIns="0" rIns="0" bIns="0">
            <a:spAutoFit/>
          </a:bodyPr>
          <a:lstStyle/>
          <a:p>
            <a:pPr algn="l"/>
            <a:r>
              <a:rPr sz="2280" b="1">
                <a:solidFill>
                  <a:srgbClr val="485174"/>
                </a:solidFill>
                <a:latin typeface="Bebas Neue"/>
              </a:rPr>
              <a:t>Assumption 2</a:t>
            </a:r>
          </a:p>
          <a:p>
            <a:pPr algn="l">
              <a:spcBef>
                <a:spcPts val="500"/>
              </a:spcBef>
            </a:pPr>
            <a:r>
              <a:rPr sz="1900" b="0">
                <a:solidFill>
                  <a:srgbClr val="111111"/>
                </a:solidFill>
                <a:latin typeface="Inter"/>
              </a:rPr>
              <a:t>One-sense-per-discourse</a:t>
            </a:r>
          </a:p>
        </p:txBody>
      </p:sp>
      <p:sp>
        <p:nvSpPr>
          <p:cNvPr id="21" name="Rounded Rectangle 20"/>
          <p:cNvSpPr/>
          <p:nvPr/>
        </p:nvSpPr>
        <p:spPr>
          <a:xfrm>
            <a:off x="457200" y="4403099"/>
            <a:ext cx="7883956"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SEMI-SUPERVISED:YAROWSKY The task: Learn a decision list classifier for each ambiguous word (e.g. “plant”: living/factory?) from lots of unlabeled sentences.</a:t>
            </a:r>
          </a:p>
        </p:txBody>
      </p:sp>
      <p:sp>
        <p:nvSpPr>
          <p:cNvPr id="24" name="Rounded Rectangle 2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A decision list — ordered list of yes-no questions bass1 = fish vs. bass2 = music</a:t>
            </a:r>
          </a:p>
        </p:txBody>
      </p:sp>
      <p:sp>
        <p:nvSpPr>
          <p:cNvPr id="25" name="Rectangle 2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5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YAROWSKY’S training regime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95 / 114</a:t>
            </a:r>
          </a:p>
        </p:txBody>
      </p:sp>
      <p:sp>
        <p:nvSpPr>
          <p:cNvPr id="8" name="Rounded Rectangle 7">
            <a:hlinkClick r:id="rId5"/>
          </p:cNvPr>
          <p:cNvSpPr/>
          <p:nvPr/>
        </p:nvSpPr>
        <p:spPr>
          <a:xfrm>
            <a:off x="2998317" y="6455664"/>
            <a:ext cx="6192316"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YAROWSKY’S training regime — step-through</a:t>
            </a:r>
          </a:p>
        </p:txBody>
      </p:sp>
      <p:sp>
        <p:nvSpPr>
          <p:cNvPr id="9" name="Rectangle 8"/>
          <p:cNvSpPr/>
          <p:nvPr/>
        </p:nvSpPr>
        <p:spPr>
          <a:xfrm>
            <a:off x="457200" y="1325880"/>
            <a:ext cx="73152" cy="36576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485174"/>
                </a:solidFill>
                <a:latin typeface="Bebas Neue"/>
              </a:rPr>
              <a:t>4. Repeat 2. and 3. until convergence.</a:t>
            </a:r>
          </a:p>
        </p:txBody>
      </p:sp>
      <p:sp>
        <p:nvSpPr>
          <p:cNvPr id="11" name="Rounded Rectangle 10"/>
          <p:cNvSpPr/>
          <p:nvPr/>
        </p:nvSpPr>
        <p:spPr>
          <a:xfrm>
            <a:off x="457200" y="1956815"/>
            <a:ext cx="3624072" cy="4443984"/>
          </a:xfrm>
          <a:prstGeom prst="roundRect">
            <a:avLst>
              <a:gd name="adj" fmla="val 38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17750"/>
            <a:ext cx="3221736" cy="4122115"/>
          </a:xfrm>
          <a:prstGeom prst="rect">
            <a:avLst/>
          </a:prstGeom>
          <a:noFill/>
        </p:spPr>
        <p:txBody>
          <a:bodyPr wrap="square" anchor="t" lIns="0" tIns="0" rIns="0" bIns="0">
            <a:spAutoFit/>
          </a:bodyPr>
          <a:lstStyle/>
          <a:p>
            <a:pPr algn="l"/>
            <a:r>
              <a:rPr sz="2500" b="1">
                <a:solidFill>
                  <a:srgbClr val="485174"/>
                </a:solidFill>
                <a:latin typeface="Bebas Neue"/>
              </a:rPr>
              <a:t>1. Initialization</a:t>
            </a:r>
          </a:p>
          <a:p>
            <a:pPr algn="l" marL="256032" indent="-256032" lvl="0">
              <a:spcBef>
                <a:spcPts val="700"/>
              </a:spcBef>
              <a:buClr>
                <a:srgbClr val="CC7B70"/>
              </a:buClr>
              <a:buFont typeface="Arial"/>
              <a:buChar char="•"/>
            </a:pPr>
            <a:r>
              <a:rPr sz="2000" b="0">
                <a:solidFill>
                  <a:srgbClr val="111111"/>
                </a:solidFill>
                <a:latin typeface="Inter"/>
              </a:rPr>
              <a:t>Label a few seed examples.</a:t>
            </a:r>
          </a:p>
          <a:p>
            <a:pPr algn="l" marL="256032" indent="-256032" lvl="0">
              <a:spcBef>
                <a:spcPts val="700"/>
              </a:spcBef>
              <a:buClr>
                <a:srgbClr val="CC7B70"/>
              </a:buClr>
              <a:buFont typeface="Arial"/>
              <a:buChar char="•"/>
            </a:pPr>
            <a:r>
              <a:rPr sz="2000" b="0">
                <a:solidFill>
                  <a:srgbClr val="111111"/>
                </a:solidFill>
                <a:latin typeface="Inter"/>
              </a:rPr>
              <a:t>Train an initial classifier on these seed examples</a:t>
            </a:r>
          </a:p>
        </p:txBody>
      </p:sp>
      <p:sp>
        <p:nvSpPr>
          <p:cNvPr id="14" name="Rounded Rectangle 13"/>
          <p:cNvSpPr/>
          <p:nvPr/>
        </p:nvSpPr>
        <p:spPr>
          <a:xfrm>
            <a:off x="4282440" y="1956815"/>
            <a:ext cx="3624072" cy="4443984"/>
          </a:xfrm>
          <a:prstGeom prst="roundRect">
            <a:avLst>
              <a:gd name="adj" fmla="val 38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244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3608" y="2117750"/>
            <a:ext cx="3221736" cy="4122115"/>
          </a:xfrm>
          <a:prstGeom prst="rect">
            <a:avLst/>
          </a:prstGeom>
          <a:noFill/>
        </p:spPr>
        <p:txBody>
          <a:bodyPr wrap="square" anchor="t" lIns="0" tIns="0" rIns="0" bIns="0">
            <a:spAutoFit/>
          </a:bodyPr>
          <a:lstStyle/>
          <a:p>
            <a:pPr algn="l"/>
            <a:r>
              <a:rPr sz="2500" b="1">
                <a:solidFill>
                  <a:srgbClr val="485174"/>
                </a:solidFill>
                <a:latin typeface="Bebas Neue"/>
              </a:rPr>
              <a:t>2. Relabel</a:t>
            </a:r>
          </a:p>
          <a:p>
            <a:pPr algn="l" marL="256032" indent="-256032" lvl="0">
              <a:spcBef>
                <a:spcPts val="700"/>
              </a:spcBef>
              <a:buClr>
                <a:srgbClr val="CC7B70"/>
              </a:buClr>
              <a:buFont typeface="Arial"/>
              <a:buChar char="•"/>
            </a:pPr>
            <a:r>
              <a:rPr sz="2000" b="0">
                <a:solidFill>
                  <a:srgbClr val="111111"/>
                </a:solidFill>
                <a:latin typeface="Inter"/>
              </a:rPr>
              <a:t>Label all examples with current classifier.</a:t>
            </a:r>
          </a:p>
          <a:p>
            <a:pPr algn="l" marL="256032" indent="-256032" lvl="0">
              <a:spcBef>
                <a:spcPts val="700"/>
              </a:spcBef>
              <a:buClr>
                <a:srgbClr val="CC7B70"/>
              </a:buClr>
              <a:buFont typeface="Arial"/>
              <a:buChar char="•"/>
            </a:pPr>
            <a:r>
              <a:rPr sz="2000" b="0">
                <a:solidFill>
                  <a:srgbClr val="111111"/>
                </a:solidFill>
                <a:latin typeface="Inter"/>
              </a:rPr>
              <a:t>Put all examples that are labeled with high confidence into a new labeled data set.</a:t>
            </a:r>
          </a:p>
          <a:p>
            <a:pPr algn="l" marL="256032" indent="-256032" lvl="0">
              <a:spcBef>
                <a:spcPts val="700"/>
              </a:spcBef>
              <a:buClr>
                <a:srgbClr val="CC7B70"/>
              </a:buClr>
              <a:buFont typeface="Arial"/>
              <a:buChar char="•"/>
            </a:pPr>
            <a:r>
              <a:rPr sz="2000" b="0">
                <a:solidFill>
                  <a:srgbClr val="111111"/>
                </a:solidFill>
                <a:latin typeface="Inter"/>
              </a:rPr>
              <a:t>Optional: apply one-sense-per-discourse to correct mistakes and get additional labels</a:t>
            </a:r>
          </a:p>
        </p:txBody>
      </p:sp>
      <p:sp>
        <p:nvSpPr>
          <p:cNvPr id="17" name="Rounded Rectangle 16"/>
          <p:cNvSpPr/>
          <p:nvPr/>
        </p:nvSpPr>
        <p:spPr>
          <a:xfrm>
            <a:off x="8107680" y="1956815"/>
            <a:ext cx="3624072" cy="4443984"/>
          </a:xfrm>
          <a:prstGeom prst="roundRect">
            <a:avLst>
              <a:gd name="adj" fmla="val 3885"/>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7680" y="2121408"/>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8848" y="2117750"/>
            <a:ext cx="3221736" cy="4122115"/>
          </a:xfrm>
          <a:prstGeom prst="rect">
            <a:avLst/>
          </a:prstGeom>
          <a:noFill/>
        </p:spPr>
        <p:txBody>
          <a:bodyPr wrap="square" anchor="t" lIns="0" tIns="0" rIns="0" bIns="0">
            <a:spAutoFit/>
          </a:bodyPr>
          <a:lstStyle/>
          <a:p>
            <a:pPr algn="l"/>
            <a:r>
              <a:rPr sz="2500" b="1">
                <a:solidFill>
                  <a:srgbClr val="485174"/>
                </a:solidFill>
                <a:latin typeface="Bebas Neue"/>
              </a:rPr>
              <a:t>3. Retrain</a:t>
            </a:r>
          </a:p>
          <a:p>
            <a:pPr algn="l" marL="256032" indent="-256032" lvl="0">
              <a:spcBef>
                <a:spcPts val="700"/>
              </a:spcBef>
              <a:buClr>
                <a:srgbClr val="CC7B70"/>
              </a:buClr>
              <a:buFont typeface="Arial"/>
              <a:buChar char="•"/>
            </a:pPr>
            <a:r>
              <a:rPr sz="2000" b="0">
                <a:solidFill>
                  <a:srgbClr val="111111"/>
                </a:solidFill>
                <a:latin typeface="Inter"/>
              </a:rPr>
              <a:t>Train a new classifier on the new labeled data set.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96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Fill in the blank: “Put all examples that are labeled with high _____ into a new labeled data set.”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confidence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languages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hand-built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target</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“Put all examples that are labeled with high confidence into a new labeled data set.”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Initial STATE: few labels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97 / 114</a:t>
            </a:r>
          </a:p>
        </p:txBody>
      </p:sp>
      <p:sp>
        <p:nvSpPr>
          <p:cNvPr id="7" name="Rounded Rectangle 6"/>
          <p:cNvSpPr/>
          <p:nvPr/>
        </p:nvSpPr>
        <p:spPr>
          <a:xfrm>
            <a:off x="3832184" y="1298448"/>
            <a:ext cx="4524582"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996776" y="1463040"/>
            <a:ext cx="4195398" cy="4773168"/>
          </a:xfrm>
          <a:prstGeom prst="rect">
            <a:avLst/>
          </a:prstGeom>
        </p:spPr>
      </p:pic>
    </p:spTree>
  </p:cSld>
  <p:clrMapOvr>
    <a:masterClrMapping/>
  </p:clrMapOvr>
  <p:transition spd="med">
    <p:zoom dir="in"/>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 initial decision list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98 / 114</a:t>
            </a:r>
          </a:p>
        </p:txBody>
      </p:sp>
      <p:sp>
        <p:nvSpPr>
          <p:cNvPr id="7" name="Rounded Rectangle 6"/>
          <p:cNvSpPr/>
          <p:nvPr/>
        </p:nvSpPr>
        <p:spPr>
          <a:xfrm>
            <a:off x="2653198" y="1298448"/>
            <a:ext cx="6882554"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817790" y="1463040"/>
            <a:ext cx="6553370" cy="4773168"/>
          </a:xfrm>
          <a:prstGeom prst="rect">
            <a:avLst/>
          </a:prstGeom>
        </p:spPr>
      </p:pic>
    </p:spTree>
  </p:cSld>
  <p:clrMapOvr>
    <a:masterClrMapping/>
  </p:clrMapOvr>
  <p:transition spd="med">
    <p:push dir="l"/>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Labels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99 / 114</a:t>
            </a:r>
          </a:p>
        </p:txBody>
      </p:sp>
      <p:sp>
        <p:nvSpPr>
          <p:cNvPr id="7" name="Rounded Rectangle 6"/>
          <p:cNvSpPr/>
          <p:nvPr/>
        </p:nvSpPr>
        <p:spPr>
          <a:xfrm>
            <a:off x="3447103" y="1298448"/>
            <a:ext cx="5294744"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611695" y="1463040"/>
            <a:ext cx="4965560" cy="4773168"/>
          </a:xfrm>
          <a:prstGeom prst="rect">
            <a:avLst/>
          </a:prstGeom>
        </p:spPr>
      </p:pic>
    </p:spTree>
  </p:cSld>
  <p:clrMapOvr>
    <a:masterClrMapping/>
  </p:clrMapOvr>
  <p:transition spd="med">
    <p:zoom dir="in"/>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Final STATE: almost everything labeled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100 / 114</a:t>
            </a:r>
          </a:p>
        </p:txBody>
      </p:sp>
      <p:sp>
        <p:nvSpPr>
          <p:cNvPr id="7" name="Rounded Rectangle 6"/>
          <p:cNvSpPr/>
          <p:nvPr/>
        </p:nvSpPr>
        <p:spPr>
          <a:xfrm>
            <a:off x="3493767" y="1298448"/>
            <a:ext cx="5201417"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658359" y="1463040"/>
            <a:ext cx="4872233" cy="4773168"/>
          </a:xfrm>
          <a:prstGeom prst="rect">
            <a:avLst/>
          </a:prstGeom>
        </p:spPr>
      </p:pic>
    </p:spTree>
  </p:cSld>
  <p:clrMapOvr>
    <a:masterClrMapping/>
  </p:clrMapOvr>
  <p:transition spd="med">
    <p:zoom dir="in"/>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INITIALVS. final decision lists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101 / 114</a:t>
            </a:r>
          </a:p>
        </p:txBody>
      </p:sp>
      <p:sp>
        <p:nvSpPr>
          <p:cNvPr id="7" name="Rounded Rectangle 6"/>
          <p:cNvSpPr/>
          <p:nvPr/>
        </p:nvSpPr>
        <p:spPr>
          <a:xfrm>
            <a:off x="2848399" y="1298448"/>
            <a:ext cx="6492152" cy="5102352"/>
          </a:xfrm>
          <a:prstGeom prst="roundRect">
            <a:avLst>
              <a:gd name="adj" fmla="val 3000"/>
            </a:avLst>
          </a:prstGeom>
          <a:solidFill>
            <a:srgbClr val="FFFFFF"/>
          </a:solidFill>
          <a:ln w="12700">
            <a:solidFill>
              <a:srgbClr val="B5B9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012991" y="1463040"/>
            <a:ext cx="6162968" cy="4773168"/>
          </a:xfrm>
          <a:prstGeom prst="rect">
            <a:avLst/>
          </a:prstGeom>
        </p:spPr>
      </p:pic>
    </p:spTree>
  </p:cSld>
  <p:clrMapOvr>
    <a:masterClrMapping/>
  </p:clrMapOvr>
  <p:transition spd="med">
    <p:zoom dir="in"/>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102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Fill in the blank: “The slide lists four _____ semantic components that the word “barrage” can belong to.”</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classes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stroll</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distinct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antonyms</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“The slide lists four distinct semantic components that the word “barrage” can belong to.”</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Stages intheyarowsky boot strapping algorithm for the word “PLANT”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103 / 114</a:t>
            </a:r>
          </a:p>
        </p:txBody>
      </p:sp>
      <p:pic>
        <p:nvPicPr>
          <p:cNvPr id="7" name="Picture 6" descr="image.png"/>
          <p:cNvPicPr>
            <a:picLocks noChangeAspect="1"/>
          </p:cNvPicPr>
          <p:nvPr/>
        </p:nvPicPr>
        <p:blipFill>
          <a:blip r:embed="rId3"/>
          <a:stretch>
            <a:fillRect/>
          </a:stretch>
        </p:blipFill>
        <p:spPr>
          <a:xfrm>
            <a:off x="7672913" y="2426069"/>
            <a:ext cx="4058838" cy="1731540"/>
          </a:xfrm>
          <a:prstGeom prst="rect">
            <a:avLst/>
          </a:prstGeom>
        </p:spPr>
      </p:pic>
      <p:sp>
        <p:nvSpPr>
          <p:cNvPr id="8" name="Rounded Rectangle 7"/>
          <p:cNvSpPr/>
          <p:nvPr/>
        </p:nvSpPr>
        <p:spPr>
          <a:xfrm>
            <a:off x="457200" y="1298448"/>
            <a:ext cx="3406688" cy="3145433"/>
          </a:xfrm>
          <a:prstGeom prst="roundRect">
            <a:avLst>
              <a:gd name="adj" fmla="val 447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613001"/>
            <a:ext cx="340156" cy="340156"/>
          </a:xfrm>
          <a:prstGeom prst="rect">
            <a:avLst/>
          </a:prstGeom>
        </p:spPr>
      </p:pic>
      <p:sp>
        <p:nvSpPr>
          <p:cNvPr id="11" name="TextBox 10"/>
          <p:cNvSpPr txBox="1"/>
          <p:nvPr/>
        </p:nvSpPr>
        <p:spPr>
          <a:xfrm>
            <a:off x="658368" y="2176272"/>
            <a:ext cx="3004352" cy="2066441"/>
          </a:xfrm>
          <a:prstGeom prst="rect">
            <a:avLst/>
          </a:prstGeom>
          <a:noFill/>
        </p:spPr>
        <p:txBody>
          <a:bodyPr wrap="square" anchor="b" lIns="0" tIns="0" rIns="0" bIns="0">
            <a:spAutoFit/>
          </a:bodyPr>
          <a:lstStyle/>
          <a:p>
            <a:pPr algn="l"/>
            <a:r>
              <a:rPr sz="6000" b="1">
                <a:solidFill>
                  <a:srgbClr val="485174"/>
                </a:solidFill>
                <a:latin typeface="Bebas Neue"/>
              </a:rPr>
              <a:t>0</a:t>
            </a:r>
          </a:p>
          <a:p>
            <a:pPr algn="l">
              <a:spcBef>
                <a:spcPts val="200"/>
              </a:spcBef>
            </a:pPr>
            <a:r>
              <a:rPr sz="2039" b="1">
                <a:solidFill>
                  <a:srgbClr val="CC7B70"/>
                </a:solidFill>
                <a:latin typeface="Bebas Neue"/>
              </a:rPr>
              <a:t>V</a:t>
            </a:r>
          </a:p>
          <a:p>
            <a:pPr algn="l">
              <a:spcBef>
                <a:spcPts val="400"/>
              </a:spcBef>
            </a:pPr>
            <a:r>
              <a:rPr sz="1800" b="0">
                <a:solidFill>
                  <a:srgbClr val="111111"/>
                </a:solidFill>
                <a:latin typeface="Inter"/>
              </a:rPr>
              <a:t>V0</a:t>
            </a:r>
          </a:p>
        </p:txBody>
      </p:sp>
      <p:sp>
        <p:nvSpPr>
          <p:cNvPr id="12" name="Rounded Rectangle 11"/>
          <p:cNvSpPr/>
          <p:nvPr/>
        </p:nvSpPr>
        <p:spPr>
          <a:xfrm>
            <a:off x="4065056" y="1298448"/>
            <a:ext cx="3406688" cy="3145433"/>
          </a:xfrm>
          <a:prstGeom prst="roundRect">
            <a:avLst>
              <a:gd name="adj" fmla="val 447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499616"/>
            <a:ext cx="566928" cy="566928"/>
          </a:xfrm>
          <a:prstGeom prst="ellipse">
            <a:avLst/>
          </a:prstGeom>
          <a:solidFill>
            <a:srgbClr val="EFD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613001"/>
            <a:ext cx="340156" cy="340156"/>
          </a:xfrm>
          <a:prstGeom prst="rect">
            <a:avLst/>
          </a:prstGeom>
        </p:spPr>
      </p:pic>
      <p:sp>
        <p:nvSpPr>
          <p:cNvPr id="15" name="TextBox 14"/>
          <p:cNvSpPr txBox="1"/>
          <p:nvPr/>
        </p:nvSpPr>
        <p:spPr>
          <a:xfrm>
            <a:off x="4266224" y="2176272"/>
            <a:ext cx="3004352" cy="2066441"/>
          </a:xfrm>
          <a:prstGeom prst="rect">
            <a:avLst/>
          </a:prstGeom>
          <a:noFill/>
        </p:spPr>
        <p:txBody>
          <a:bodyPr wrap="square" anchor="b" lIns="0" tIns="0" rIns="0" bIns="0">
            <a:spAutoFit/>
          </a:bodyPr>
          <a:lstStyle/>
          <a:p>
            <a:pPr algn="l"/>
            <a:r>
              <a:rPr sz="6000" b="1">
                <a:solidFill>
                  <a:srgbClr val="485174"/>
                </a:solidFill>
                <a:latin typeface="Bebas Neue"/>
              </a:rPr>
              <a:t>1</a:t>
            </a:r>
          </a:p>
          <a:p>
            <a:pPr algn="l">
              <a:spcBef>
                <a:spcPts val="200"/>
              </a:spcBef>
            </a:pPr>
            <a:r>
              <a:rPr sz="2039" b="1">
                <a:solidFill>
                  <a:srgbClr val="CC7B70"/>
                </a:solidFill>
                <a:latin typeface="Bebas Neue"/>
              </a:rPr>
              <a:t>V</a:t>
            </a:r>
          </a:p>
          <a:p>
            <a:pPr algn="l">
              <a:spcBef>
                <a:spcPts val="400"/>
              </a:spcBef>
            </a:pPr>
            <a:r>
              <a:rPr sz="1800" b="0">
                <a:solidFill>
                  <a:srgbClr val="111111"/>
                </a:solidFill>
                <a:latin typeface="Inter"/>
              </a:rPr>
              <a:t>V1</a:t>
            </a:r>
          </a:p>
        </p:txBody>
      </p:sp>
      <p:sp>
        <p:nvSpPr>
          <p:cNvPr id="16" name="Rounded Rectangle 15"/>
          <p:cNvSpPr/>
          <p:nvPr/>
        </p:nvSpPr>
        <p:spPr>
          <a:xfrm>
            <a:off x="457200" y="4645049"/>
            <a:ext cx="7014545" cy="6401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645049"/>
            <a:ext cx="73152" cy="6401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718201"/>
            <a:ext cx="6619524" cy="4938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MICROSCOPIC</a:t>
            </a:r>
          </a:p>
        </p:txBody>
      </p:sp>
      <p:sp>
        <p:nvSpPr>
          <p:cNvPr id="19" name="Rounded Rectangle 18"/>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takeaway:  </a:t>
            </a:r>
            <a:r>
              <a:rPr sz="1600" b="1">
                <a:solidFill>
                  <a:srgbClr val="111111"/>
                </a:solidFill>
                <a:latin typeface="Bebas Neue"/>
              </a:rPr>
              <a:t>Headline: 0 — v.</a:t>
            </a:r>
          </a:p>
        </p:txBody>
      </p:sp>
      <p:sp>
        <p:nvSpPr>
          <p:cNvPr id="20" name="Rectangle 19"/>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SUMMARY: generating seeds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104 / 114</a:t>
            </a:r>
          </a:p>
        </p:txBody>
      </p:sp>
      <p:sp>
        <p:nvSpPr>
          <p:cNvPr id="8" name="Rounded Rectangle 7">
            <a:hlinkClick r:id="rId5"/>
          </p:cNvPr>
          <p:cNvSpPr/>
          <p:nvPr/>
        </p:nvSpPr>
        <p:spPr>
          <a:xfrm>
            <a:off x="3440887" y="6455664"/>
            <a:ext cx="5307177" cy="310896"/>
          </a:xfrm>
          <a:prstGeom prst="round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Yarowsky's Seed Generation Lab</a:t>
            </a:r>
          </a:p>
        </p:txBody>
      </p:sp>
      <p:sp>
        <p:nvSpPr>
          <p:cNvPr id="9" name="Rounded Rectangle 8"/>
          <p:cNvSpPr/>
          <p:nvPr/>
        </p:nvSpPr>
        <p:spPr>
          <a:xfrm>
            <a:off x="457200" y="1298448"/>
            <a:ext cx="5536692" cy="5102352"/>
          </a:xfrm>
          <a:prstGeom prst="roundRect">
            <a:avLst>
              <a:gd name="adj" fmla="val 275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4780483"/>
          </a:xfrm>
          <a:prstGeom prst="rect">
            <a:avLst/>
          </a:prstGeom>
          <a:noFill/>
        </p:spPr>
        <p:txBody>
          <a:bodyPr wrap="square" anchor="t" lIns="0" tIns="0" rIns="0" bIns="0">
            <a:spAutoFit/>
          </a:bodyPr>
          <a:lstStyle/>
          <a:p>
            <a:pPr algn="l"/>
            <a:r>
              <a:rPr sz="2500" b="1">
                <a:solidFill>
                  <a:srgbClr val="485174"/>
                </a:solidFill>
                <a:latin typeface="Bebas Neue"/>
              </a:rPr>
              <a:t>1) Hand labeling 2) “One sense per collocation”</a:t>
            </a:r>
          </a:p>
          <a:p>
            <a:pPr algn="l" marL="256032" indent="-256032" lvl="0">
              <a:spcBef>
                <a:spcPts val="700"/>
              </a:spcBef>
              <a:buClr>
                <a:srgbClr val="CC7B70"/>
              </a:buClr>
              <a:buFont typeface="Arial"/>
              <a:buChar char="•"/>
            </a:pPr>
            <a:r>
              <a:rPr sz="2000" b="0">
                <a:solidFill>
                  <a:srgbClr val="111111"/>
                </a:solidFill>
                <a:latin typeface="Inter"/>
              </a:rPr>
              <a:t>A word reoccurring in collocation with the same word will almost surely have the same sense.</a:t>
            </a:r>
          </a:p>
        </p:txBody>
      </p:sp>
      <p:sp>
        <p:nvSpPr>
          <p:cNvPr id="12" name="Rounded Rectangle 11"/>
          <p:cNvSpPr/>
          <p:nvPr/>
        </p:nvSpPr>
        <p:spPr>
          <a:xfrm>
            <a:off x="6195059" y="1298448"/>
            <a:ext cx="5536692" cy="5102352"/>
          </a:xfrm>
          <a:prstGeom prst="roundRect">
            <a:avLst>
              <a:gd name="adj" fmla="val 2759"/>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4780483"/>
          </a:xfrm>
          <a:prstGeom prst="rect">
            <a:avLst/>
          </a:prstGeom>
          <a:noFill/>
        </p:spPr>
        <p:txBody>
          <a:bodyPr wrap="square" anchor="t" lIns="0" tIns="0" rIns="0" bIns="0">
            <a:spAutoFit/>
          </a:bodyPr>
          <a:lstStyle/>
          <a:p>
            <a:pPr algn="l"/>
            <a:r>
              <a:rPr sz="2500" b="1">
                <a:solidFill>
                  <a:srgbClr val="485174"/>
                </a:solidFill>
                <a:latin typeface="Bebas Neue"/>
              </a:rPr>
              <a:t>3) “One sense per discourse”</a:t>
            </a:r>
          </a:p>
          <a:p>
            <a:pPr algn="l" marL="256032" indent="-256032" lvl="0">
              <a:spcBef>
                <a:spcPts val="700"/>
              </a:spcBef>
              <a:buClr>
                <a:srgbClr val="CC7B70"/>
              </a:buClr>
              <a:buFont typeface="Arial"/>
              <a:buChar char="•"/>
            </a:pPr>
            <a:r>
              <a:rPr sz="2000" b="0">
                <a:solidFill>
                  <a:srgbClr val="111111"/>
                </a:solidFill>
                <a:latin typeface="Inter"/>
              </a:rPr>
              <a:t>The sense of a word is highly consistent within a document --Yarowsky (1995)</a:t>
            </a:r>
          </a:p>
          <a:p>
            <a:pPr algn="l" marL="256032" indent="-256032" lvl="0">
              <a:spcBef>
                <a:spcPts val="700"/>
              </a:spcBef>
              <a:buClr>
                <a:srgbClr val="CC7B70"/>
              </a:buClr>
              <a:buFont typeface="Arial"/>
              <a:buChar char="•"/>
            </a:pPr>
            <a:r>
              <a:rPr sz="2000" b="0">
                <a:solidFill>
                  <a:srgbClr val="111111"/>
                </a:solidFill>
                <a:latin typeface="Inter"/>
              </a:rPr>
              <a:t>(At least for non-functionwords, and especially topic-specific words)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Hyperlex</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105 / 114</a:t>
            </a:r>
          </a:p>
        </p:txBody>
      </p:sp>
      <p:pic>
        <p:nvPicPr>
          <p:cNvPr id="7" name="Picture 6" descr="image.png"/>
          <p:cNvPicPr>
            <a:picLocks noChangeAspect="1"/>
          </p:cNvPicPr>
          <p:nvPr/>
        </p:nvPicPr>
        <p:blipFill>
          <a:blip r:embed="rId3"/>
          <a:stretch>
            <a:fillRect/>
          </a:stretch>
        </p:blipFill>
        <p:spPr>
          <a:xfrm>
            <a:off x="7672913" y="2590870"/>
            <a:ext cx="4058838" cy="2517507"/>
          </a:xfrm>
          <a:prstGeom prst="rect">
            <a:avLst/>
          </a:prstGeom>
        </p:spPr>
      </p:pic>
      <p:sp>
        <p:nvSpPr>
          <p:cNvPr id="8" name="Rectangle 7"/>
          <p:cNvSpPr/>
          <p:nvPr/>
        </p:nvSpPr>
        <p:spPr>
          <a:xfrm>
            <a:off x="457200" y="2245034"/>
            <a:ext cx="82296" cy="51169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208458"/>
            <a:ext cx="6278614" cy="529986"/>
          </a:xfrm>
          <a:prstGeom prst="rect">
            <a:avLst/>
          </a:prstGeom>
          <a:noFill/>
        </p:spPr>
        <p:txBody>
          <a:bodyPr wrap="square" anchor="t" lIns="0" tIns="0" rIns="0" bIns="0">
            <a:spAutoFit/>
          </a:bodyPr>
          <a:lstStyle/>
          <a:p>
            <a:pPr algn="l"/>
            <a:r>
              <a:rPr sz="3310" b="1">
                <a:solidFill>
                  <a:srgbClr val="485174"/>
                </a:solidFill>
                <a:latin typeface="Bebas Neue"/>
              </a:rPr>
              <a:t>KEY IDEA.</a:t>
            </a:r>
          </a:p>
        </p:txBody>
      </p:sp>
      <p:sp>
        <p:nvSpPr>
          <p:cNvPr id="10" name="TextBox 9"/>
          <p:cNvSpPr txBox="1"/>
          <p:nvPr/>
        </p:nvSpPr>
        <p:spPr>
          <a:xfrm>
            <a:off x="720547" y="2930469"/>
            <a:ext cx="6278614" cy="1152144"/>
          </a:xfrm>
          <a:prstGeom prst="rect">
            <a:avLst/>
          </a:prstGeom>
          <a:noFill/>
        </p:spPr>
        <p:txBody>
          <a:bodyPr wrap="square" lIns="0" rIns="0" tIns="0" bIns="0">
            <a:spAutoFit/>
          </a:bodyPr>
          <a:lstStyle/>
          <a:p>
            <a:r>
              <a:rPr sz="1490" b="1">
                <a:solidFill>
                  <a:srgbClr val="C2410C"/>
                </a:solidFill>
                <a:latin typeface="Bebas Neue"/>
              </a:rPr>
              <a:t>BUT   </a:t>
            </a:r>
            <a:r>
              <a:rPr sz="2400" b="1">
                <a:solidFill>
                  <a:srgbClr val="C2410C"/>
                </a:solidFill>
                <a:latin typeface="Bebas Neue"/>
              </a:rPr>
              <a:t>Instead</a:t>
            </a:r>
            <a:r>
              <a:rPr sz="2400">
                <a:solidFill>
                  <a:srgbClr val="111111"/>
                </a:solidFill>
                <a:latin typeface="Bebas Neue"/>
              </a:rPr>
              <a:t> of using “dictionary defined senses” extract the “senses from the corpus” itself.</a:t>
            </a:r>
          </a:p>
        </p:txBody>
      </p:sp>
      <p:sp>
        <p:nvSpPr>
          <p:cNvPr id="11" name="TextBox 10"/>
          <p:cNvSpPr txBox="1"/>
          <p:nvPr/>
        </p:nvSpPr>
        <p:spPr>
          <a:xfrm>
            <a:off x="994867" y="4210629"/>
            <a:ext cx="6004294" cy="1152144"/>
          </a:xfrm>
          <a:prstGeom prst="rect">
            <a:avLst/>
          </a:prstGeom>
          <a:noFill/>
        </p:spPr>
        <p:txBody>
          <a:bodyPr wrap="square" lIns="0" rIns="0" tIns="0" bIns="0">
            <a:spAutoFit/>
          </a:bodyPr>
          <a:lstStyle/>
          <a:p>
            <a:r>
              <a:rPr sz="2400">
                <a:solidFill>
                  <a:srgbClr val="111111"/>
                </a:solidFill>
                <a:latin typeface="Bebas Neue"/>
              </a:rPr>
              <a:t>These “corpus senses” or “uses” correspond to clusters of similar contexts for a word.</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Detecting root hubs by iteratively removing highest-degree nodes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106 / 114</a:t>
            </a:r>
          </a:p>
        </p:txBody>
      </p:sp>
      <p:sp>
        <p:nvSpPr>
          <p:cNvPr id="8" name="Rounded Rectangle 7"/>
          <p:cNvSpPr/>
          <p:nvPr/>
        </p:nvSpPr>
        <p:spPr>
          <a:xfrm>
            <a:off x="457200" y="1298448"/>
            <a:ext cx="11274552" cy="3986784"/>
          </a:xfrm>
          <a:prstGeom prst="roundRect">
            <a:avLst>
              <a:gd name="adj" fmla="val 7064"/>
            </a:avLst>
          </a:prstGeom>
          <a:solidFill>
            <a:srgbClr val="F7F8F9"/>
          </a:solidFill>
          <a:ln w="12700">
            <a:solidFill>
              <a:srgbClr val="C8CA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98448"/>
            <a:ext cx="11274552" cy="384048"/>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0" rIns="201168" bIns="0"/>
          <a:lstStyle/>
          <a:p>
            <a:pPr algn="l"/>
            <a:r>
              <a:rPr sz="1300" b="1">
                <a:solidFill>
                  <a:srgbClr val="FFFFFF"/>
                </a:solidFill>
                <a:latin typeface="Bebas Neue"/>
              </a:rPr>
              <a:t>ALGORITHM</a:t>
            </a:r>
          </a:p>
        </p:txBody>
      </p:sp>
      <p:sp>
        <p:nvSpPr>
          <p:cNvPr id="10" name="TextBox 9"/>
          <p:cNvSpPr txBox="1"/>
          <p:nvPr/>
        </p:nvSpPr>
        <p:spPr>
          <a:xfrm>
            <a:off x="577900" y="1819655"/>
            <a:ext cx="411480" cy="603504"/>
          </a:xfrm>
          <a:prstGeom prst="rect">
            <a:avLst/>
          </a:prstGeom>
          <a:noFill/>
        </p:spPr>
        <p:txBody>
          <a:bodyPr wrap="none">
            <a:spAutoFit/>
          </a:bodyPr>
          <a:lstStyle/>
          <a:p>
            <a:r>
              <a:rPr sz="1350">
                <a:solidFill>
                  <a:srgbClr val="888888"/>
                </a:solidFill>
                <a:latin typeface="Inter"/>
              </a:rPr>
              <a:t>1</a:t>
            </a:r>
          </a:p>
        </p:txBody>
      </p:sp>
      <p:sp>
        <p:nvSpPr>
          <p:cNvPr id="11" name="TextBox 10"/>
          <p:cNvSpPr txBox="1"/>
          <p:nvPr/>
        </p:nvSpPr>
        <p:spPr>
          <a:xfrm>
            <a:off x="1069848" y="1819655"/>
            <a:ext cx="10460736" cy="603504"/>
          </a:xfrm>
          <a:prstGeom prst="rect">
            <a:avLst/>
          </a:prstGeom>
          <a:noFill/>
        </p:spPr>
        <p:txBody>
          <a:bodyPr wrap="square" lIns="0" rIns="0" tIns="0" bIns="0">
            <a:spAutoFit/>
          </a:bodyPr>
          <a:lstStyle/>
          <a:p>
            <a:r>
              <a:rPr sz="1800" b="0">
                <a:solidFill>
                  <a:srgbClr val="111111"/>
                </a:solidFill>
                <a:latin typeface="Inter"/>
              </a:rPr>
              <a:t>Different uses of a target word form highly interconnected bundles (or high density components)</a:t>
            </a:r>
          </a:p>
        </p:txBody>
      </p:sp>
      <p:sp>
        <p:nvSpPr>
          <p:cNvPr id="12" name="TextBox 11"/>
          <p:cNvSpPr txBox="1"/>
          <p:nvPr/>
        </p:nvSpPr>
        <p:spPr>
          <a:xfrm>
            <a:off x="577900" y="2423160"/>
            <a:ext cx="411480" cy="603504"/>
          </a:xfrm>
          <a:prstGeom prst="rect">
            <a:avLst/>
          </a:prstGeom>
          <a:noFill/>
        </p:spPr>
        <p:txBody>
          <a:bodyPr wrap="none">
            <a:spAutoFit/>
          </a:bodyPr>
          <a:lstStyle/>
          <a:p>
            <a:r>
              <a:rPr sz="1350">
                <a:solidFill>
                  <a:srgbClr val="888888"/>
                </a:solidFill>
                <a:latin typeface="Inter"/>
              </a:rPr>
              <a:t>2</a:t>
            </a:r>
          </a:p>
        </p:txBody>
      </p:sp>
      <p:sp>
        <p:nvSpPr>
          <p:cNvPr id="13" name="TextBox 12"/>
          <p:cNvSpPr txBox="1"/>
          <p:nvPr/>
        </p:nvSpPr>
        <p:spPr>
          <a:xfrm>
            <a:off x="1069848" y="2423160"/>
            <a:ext cx="10460736" cy="603504"/>
          </a:xfrm>
          <a:prstGeom prst="rect">
            <a:avLst/>
          </a:prstGeom>
          <a:noFill/>
        </p:spPr>
        <p:txBody>
          <a:bodyPr wrap="square" lIns="0" rIns="0" tIns="0" bIns="0">
            <a:spAutoFit/>
          </a:bodyPr>
          <a:lstStyle/>
          <a:p>
            <a:r>
              <a:rPr sz="1800" b="0">
                <a:solidFill>
                  <a:srgbClr val="111111"/>
                </a:solidFill>
                <a:latin typeface="Inter"/>
              </a:rPr>
              <a:t>In each high density component one of the nodes (hub) has a higher degree than the others.</a:t>
            </a:r>
          </a:p>
        </p:txBody>
      </p:sp>
      <p:sp>
        <p:nvSpPr>
          <p:cNvPr id="14" name="TextBox 13"/>
          <p:cNvSpPr txBox="1"/>
          <p:nvPr/>
        </p:nvSpPr>
        <p:spPr>
          <a:xfrm>
            <a:off x="577900" y="3026664"/>
            <a:ext cx="411480" cy="301752"/>
          </a:xfrm>
          <a:prstGeom prst="rect">
            <a:avLst/>
          </a:prstGeom>
          <a:noFill/>
        </p:spPr>
        <p:txBody>
          <a:bodyPr wrap="none">
            <a:spAutoFit/>
          </a:bodyPr>
          <a:lstStyle/>
          <a:p>
            <a:r>
              <a:rPr sz="1350">
                <a:solidFill>
                  <a:srgbClr val="888888"/>
                </a:solidFill>
                <a:latin typeface="Inter"/>
              </a:rPr>
              <a:t>3</a:t>
            </a:r>
          </a:p>
        </p:txBody>
      </p:sp>
      <p:sp>
        <p:nvSpPr>
          <p:cNvPr id="15" name="TextBox 14"/>
          <p:cNvSpPr txBox="1"/>
          <p:nvPr/>
        </p:nvSpPr>
        <p:spPr>
          <a:xfrm>
            <a:off x="1069848" y="3026664"/>
            <a:ext cx="10460736" cy="301752"/>
          </a:xfrm>
          <a:prstGeom prst="rect">
            <a:avLst/>
          </a:prstGeom>
          <a:noFill/>
        </p:spPr>
        <p:txBody>
          <a:bodyPr wrap="square" lIns="0" rIns="0" tIns="0" bIns="0">
            <a:spAutoFit/>
          </a:bodyPr>
          <a:lstStyle/>
          <a:p>
            <a:r>
              <a:rPr sz="1800" b="1">
                <a:solidFill>
                  <a:srgbClr val="485174"/>
                </a:solidFill>
                <a:latin typeface="Bebas Neue"/>
              </a:rPr>
              <a:t>Step 1:</a:t>
            </a:r>
            <a:r>
              <a:rPr sz="1800" b="0">
                <a:solidFill>
                  <a:srgbClr val="111111"/>
                </a:solidFill>
                <a:latin typeface="Inter"/>
              </a:rPr>
              <a:t> Construct co-occurrence graph, G.</a:t>
            </a:r>
          </a:p>
        </p:txBody>
      </p:sp>
      <p:sp>
        <p:nvSpPr>
          <p:cNvPr id="16" name="TextBox 15"/>
          <p:cNvSpPr txBox="1"/>
          <p:nvPr/>
        </p:nvSpPr>
        <p:spPr>
          <a:xfrm>
            <a:off x="577900" y="3328416"/>
            <a:ext cx="411480" cy="301752"/>
          </a:xfrm>
          <a:prstGeom prst="rect">
            <a:avLst/>
          </a:prstGeom>
          <a:noFill/>
        </p:spPr>
        <p:txBody>
          <a:bodyPr wrap="none">
            <a:spAutoFit/>
          </a:bodyPr>
          <a:lstStyle/>
          <a:p>
            <a:r>
              <a:rPr sz="1350">
                <a:solidFill>
                  <a:srgbClr val="888888"/>
                </a:solidFill>
                <a:latin typeface="Inter"/>
              </a:rPr>
              <a:t>4</a:t>
            </a:r>
          </a:p>
        </p:txBody>
      </p:sp>
      <p:sp>
        <p:nvSpPr>
          <p:cNvPr id="17" name="TextBox 16"/>
          <p:cNvSpPr txBox="1"/>
          <p:nvPr/>
        </p:nvSpPr>
        <p:spPr>
          <a:xfrm>
            <a:off x="1069848" y="3328416"/>
            <a:ext cx="10460736" cy="301752"/>
          </a:xfrm>
          <a:prstGeom prst="rect">
            <a:avLst/>
          </a:prstGeom>
          <a:noFill/>
        </p:spPr>
        <p:txBody>
          <a:bodyPr wrap="square" lIns="0" rIns="0" tIns="0" bIns="0">
            <a:spAutoFit/>
          </a:bodyPr>
          <a:lstStyle/>
          <a:p>
            <a:r>
              <a:rPr sz="1800" b="1">
                <a:solidFill>
                  <a:srgbClr val="485174"/>
                </a:solidFill>
                <a:latin typeface="Bebas Neue"/>
              </a:rPr>
              <a:t>Step 2:</a:t>
            </a:r>
            <a:r>
              <a:rPr sz="1800" b="0">
                <a:solidFill>
                  <a:srgbClr val="111111"/>
                </a:solidFill>
                <a:latin typeface="Inter"/>
              </a:rPr>
              <a:t> Arrange nodes in G in decreasing order of in-degree.</a:t>
            </a:r>
          </a:p>
        </p:txBody>
      </p:sp>
      <p:sp>
        <p:nvSpPr>
          <p:cNvPr id="18" name="TextBox 17"/>
          <p:cNvSpPr txBox="1"/>
          <p:nvPr/>
        </p:nvSpPr>
        <p:spPr>
          <a:xfrm>
            <a:off x="577900" y="3630168"/>
            <a:ext cx="411480" cy="603504"/>
          </a:xfrm>
          <a:prstGeom prst="rect">
            <a:avLst/>
          </a:prstGeom>
          <a:noFill/>
        </p:spPr>
        <p:txBody>
          <a:bodyPr wrap="none">
            <a:spAutoFit/>
          </a:bodyPr>
          <a:lstStyle/>
          <a:p>
            <a:r>
              <a:rPr sz="1350">
                <a:solidFill>
                  <a:srgbClr val="888888"/>
                </a:solidFill>
                <a:latin typeface="Inter"/>
              </a:rPr>
              <a:t>5</a:t>
            </a:r>
          </a:p>
        </p:txBody>
      </p:sp>
      <p:sp>
        <p:nvSpPr>
          <p:cNvPr id="19" name="TextBox 18"/>
          <p:cNvSpPr txBox="1"/>
          <p:nvPr/>
        </p:nvSpPr>
        <p:spPr>
          <a:xfrm>
            <a:off x="1069848" y="3630168"/>
            <a:ext cx="10460736" cy="603504"/>
          </a:xfrm>
          <a:prstGeom prst="rect">
            <a:avLst/>
          </a:prstGeom>
          <a:noFill/>
        </p:spPr>
        <p:txBody>
          <a:bodyPr wrap="square" lIns="0" rIns="0" tIns="0" bIns="0">
            <a:spAutoFit/>
          </a:bodyPr>
          <a:lstStyle/>
          <a:p>
            <a:r>
              <a:rPr sz="1800" b="1">
                <a:solidFill>
                  <a:srgbClr val="485174"/>
                </a:solidFill>
                <a:latin typeface="Bebas Neue"/>
              </a:rPr>
              <a:t>Step 3:</a:t>
            </a:r>
            <a:r>
              <a:rPr sz="1800" b="0">
                <a:solidFill>
                  <a:srgbClr val="111111"/>
                </a:solidFill>
                <a:latin typeface="Inter"/>
              </a:rPr>
              <a:t> Select the node from G which has the highest frequency. This node will be the hub of the first high density component.</a:t>
            </a:r>
          </a:p>
        </p:txBody>
      </p:sp>
      <p:sp>
        <p:nvSpPr>
          <p:cNvPr id="20" name="TextBox 19"/>
          <p:cNvSpPr txBox="1"/>
          <p:nvPr/>
        </p:nvSpPr>
        <p:spPr>
          <a:xfrm>
            <a:off x="577900" y="4233672"/>
            <a:ext cx="411480" cy="301752"/>
          </a:xfrm>
          <a:prstGeom prst="rect">
            <a:avLst/>
          </a:prstGeom>
          <a:noFill/>
        </p:spPr>
        <p:txBody>
          <a:bodyPr wrap="none">
            <a:spAutoFit/>
          </a:bodyPr>
          <a:lstStyle/>
          <a:p>
            <a:r>
              <a:rPr sz="1350">
                <a:solidFill>
                  <a:srgbClr val="888888"/>
                </a:solidFill>
                <a:latin typeface="Inter"/>
              </a:rPr>
              <a:t>6</a:t>
            </a:r>
          </a:p>
        </p:txBody>
      </p:sp>
      <p:sp>
        <p:nvSpPr>
          <p:cNvPr id="21" name="TextBox 20"/>
          <p:cNvSpPr txBox="1"/>
          <p:nvPr/>
        </p:nvSpPr>
        <p:spPr>
          <a:xfrm>
            <a:off x="1069848" y="4233672"/>
            <a:ext cx="10460736" cy="301752"/>
          </a:xfrm>
          <a:prstGeom prst="rect">
            <a:avLst/>
          </a:prstGeom>
          <a:noFill/>
        </p:spPr>
        <p:txBody>
          <a:bodyPr wrap="square" lIns="0" rIns="0" tIns="0" bIns="0">
            <a:spAutoFit/>
          </a:bodyPr>
          <a:lstStyle/>
          <a:p>
            <a:r>
              <a:rPr sz="1800" b="1">
                <a:solidFill>
                  <a:srgbClr val="485174"/>
                </a:solidFill>
                <a:latin typeface="Bebas Neue"/>
              </a:rPr>
              <a:t>Step 4:</a:t>
            </a:r>
            <a:r>
              <a:rPr sz="1800" b="0">
                <a:solidFill>
                  <a:srgbClr val="111111"/>
                </a:solidFill>
                <a:latin typeface="Inter"/>
              </a:rPr>
              <a:t>Delete this hub and all its neighbors from G.</a:t>
            </a:r>
          </a:p>
        </p:txBody>
      </p:sp>
      <p:sp>
        <p:nvSpPr>
          <p:cNvPr id="22" name="TextBox 21"/>
          <p:cNvSpPr txBox="1"/>
          <p:nvPr/>
        </p:nvSpPr>
        <p:spPr>
          <a:xfrm>
            <a:off x="577900" y="4535424"/>
            <a:ext cx="411480" cy="301752"/>
          </a:xfrm>
          <a:prstGeom prst="rect">
            <a:avLst/>
          </a:prstGeom>
          <a:noFill/>
        </p:spPr>
        <p:txBody>
          <a:bodyPr wrap="none">
            <a:spAutoFit/>
          </a:bodyPr>
          <a:lstStyle/>
          <a:p>
            <a:r>
              <a:rPr sz="1350">
                <a:solidFill>
                  <a:srgbClr val="888888"/>
                </a:solidFill>
                <a:latin typeface="Inter"/>
              </a:rPr>
              <a:t>7</a:t>
            </a:r>
          </a:p>
        </p:txBody>
      </p:sp>
      <p:sp>
        <p:nvSpPr>
          <p:cNvPr id="23" name="TextBox 22"/>
          <p:cNvSpPr txBox="1"/>
          <p:nvPr/>
        </p:nvSpPr>
        <p:spPr>
          <a:xfrm>
            <a:off x="1069848" y="4535424"/>
            <a:ext cx="10460736" cy="301752"/>
          </a:xfrm>
          <a:prstGeom prst="rect">
            <a:avLst/>
          </a:prstGeom>
          <a:noFill/>
        </p:spPr>
        <p:txBody>
          <a:bodyPr wrap="square" lIns="0" rIns="0" tIns="0" bIns="0">
            <a:spAutoFit/>
          </a:bodyPr>
          <a:lstStyle/>
          <a:p>
            <a:r>
              <a:rPr sz="1800" b="1">
                <a:solidFill>
                  <a:srgbClr val="485174"/>
                </a:solidFill>
                <a:latin typeface="Bebas Neue"/>
              </a:rPr>
              <a:t>Step 5:</a:t>
            </a:r>
            <a:r>
              <a:rPr sz="1800" b="0">
                <a:solidFill>
                  <a:srgbClr val="111111"/>
                </a:solidFill>
                <a:latin typeface="Inter"/>
              </a:rPr>
              <a:t>Repeat Step 3 and 4 to detect the hubs of other high density components</a:t>
            </a:r>
          </a:p>
        </p:txBody>
      </p:sp>
      <p:sp>
        <p:nvSpPr>
          <p:cNvPr id="24" name="Rounded Rectangle 23"/>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co-occurrence graph — a graph where nodes represent words and edges connect words that appear together  ·  high-density component — a tightly connected subgraph where one node has a markedly higher degree</a:t>
            </a:r>
          </a:p>
        </p:txBody>
      </p:sp>
      <p:sp>
        <p:nvSpPr>
          <p:cNvPr id="25" name="Rectangle 24"/>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45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5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Characterizing the four components for the target word “barrage”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107 / 114</a:t>
            </a:r>
          </a:p>
        </p:txBody>
      </p:sp>
      <p:pic>
        <p:nvPicPr>
          <p:cNvPr id="7" name="Picture 6" descr="image.png"/>
          <p:cNvPicPr>
            <a:picLocks noChangeAspect="1"/>
          </p:cNvPicPr>
          <p:nvPr/>
        </p:nvPicPr>
        <p:blipFill>
          <a:blip r:embed="rId3"/>
          <a:stretch>
            <a:fillRect/>
          </a:stretch>
        </p:blipFill>
        <p:spPr>
          <a:xfrm>
            <a:off x="7672913" y="2998876"/>
            <a:ext cx="4058838" cy="1701494"/>
          </a:xfrm>
          <a:prstGeom prst="rect">
            <a:avLst/>
          </a:prstGeom>
        </p:spPr>
      </p:pic>
      <p:sp>
        <p:nvSpPr>
          <p:cNvPr id="8" name="Rounded Rectangle 7"/>
          <p:cNvSpPr/>
          <p:nvPr/>
        </p:nvSpPr>
        <p:spPr>
          <a:xfrm>
            <a:off x="457200" y="1298448"/>
            <a:ext cx="7014545"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690725"/>
            <a:ext cx="340156" cy="340156"/>
          </a:xfrm>
          <a:prstGeom prst="rect">
            <a:avLst/>
          </a:prstGeom>
        </p:spPr>
      </p:pic>
      <p:sp>
        <p:nvSpPr>
          <p:cNvPr id="11" name="TextBox 10"/>
          <p:cNvSpPr txBox="1"/>
          <p:nvPr/>
        </p:nvSpPr>
        <p:spPr>
          <a:xfrm>
            <a:off x="1408175" y="1371600"/>
            <a:ext cx="5862401" cy="978408"/>
          </a:xfrm>
          <a:prstGeom prst="rect">
            <a:avLst/>
          </a:prstGeom>
          <a:noFill/>
        </p:spPr>
        <p:txBody>
          <a:bodyPr wrap="square" anchor="ctr" lIns="0" tIns="0" rIns="0" bIns="0">
            <a:spAutoFit/>
          </a:bodyPr>
          <a:lstStyle/>
          <a:p>
            <a:pPr algn="l"/>
            <a:r>
              <a:rPr sz="2100" b="1">
                <a:solidFill>
                  <a:srgbClr val="485174"/>
                </a:solidFill>
                <a:latin typeface="Bebas Neue"/>
              </a:rPr>
              <a:t>Four components</a:t>
            </a:r>
          </a:p>
          <a:p>
            <a:pPr algn="l">
              <a:spcBef>
                <a:spcPts val="500"/>
              </a:spcBef>
            </a:pPr>
            <a:r>
              <a:rPr sz="1750" b="0">
                <a:solidFill>
                  <a:srgbClr val="111111"/>
                </a:solidFill>
                <a:latin typeface="Inter"/>
              </a:rPr>
              <a:t>The four components for “barrage” can be characterized as</a:t>
            </a:r>
          </a:p>
        </p:txBody>
      </p:sp>
      <p:sp>
        <p:nvSpPr>
          <p:cNvPr id="12" name="Rounded Rectangle 11"/>
          <p:cNvSpPr/>
          <p:nvPr/>
        </p:nvSpPr>
        <p:spPr>
          <a:xfrm>
            <a:off x="457200" y="2624328"/>
            <a:ext cx="7014545"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3016605"/>
            <a:ext cx="340156" cy="340156"/>
          </a:xfrm>
          <a:prstGeom prst="rect">
            <a:avLst/>
          </a:prstGeom>
        </p:spPr>
      </p:pic>
      <p:sp>
        <p:nvSpPr>
          <p:cNvPr id="15" name="TextBox 14"/>
          <p:cNvSpPr txBox="1"/>
          <p:nvPr/>
        </p:nvSpPr>
        <p:spPr>
          <a:xfrm>
            <a:off x="1408175" y="2697480"/>
            <a:ext cx="5862401" cy="978408"/>
          </a:xfrm>
          <a:prstGeom prst="rect">
            <a:avLst/>
          </a:prstGeom>
          <a:noFill/>
        </p:spPr>
        <p:txBody>
          <a:bodyPr wrap="square" anchor="ctr" lIns="0" tIns="0" rIns="0" bIns="0">
            <a:spAutoFit/>
          </a:bodyPr>
          <a:lstStyle/>
          <a:p>
            <a:pPr algn="l"/>
            <a:r>
              <a:rPr sz="2100" b="1">
                <a:solidFill>
                  <a:srgbClr val="485174"/>
                </a:solidFill>
                <a:latin typeface="Bebas Neue"/>
              </a:rPr>
              <a:t>Slide lists four</a:t>
            </a:r>
          </a:p>
          <a:p>
            <a:pPr algn="l">
              <a:spcBef>
                <a:spcPts val="500"/>
              </a:spcBef>
            </a:pPr>
            <a:r>
              <a:rPr sz="1750" b="0">
                <a:solidFill>
                  <a:srgbClr val="111111"/>
                </a:solidFill>
                <a:latin typeface="Inter"/>
              </a:rPr>
              <a:t>The slide lists four distinct semantic components that the word “barrage” can belong to</a:t>
            </a:r>
          </a:p>
        </p:txBody>
      </p:sp>
      <p:sp>
        <p:nvSpPr>
          <p:cNvPr id="16" name="Rounded Rectangle 15"/>
          <p:cNvSpPr/>
          <p:nvPr/>
        </p:nvSpPr>
        <p:spPr>
          <a:xfrm>
            <a:off x="457200" y="3950208"/>
            <a:ext cx="7014545"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4342485"/>
            <a:ext cx="340156" cy="340156"/>
          </a:xfrm>
          <a:prstGeom prst="rect">
            <a:avLst/>
          </a:prstGeom>
        </p:spPr>
      </p:pic>
      <p:sp>
        <p:nvSpPr>
          <p:cNvPr id="19" name="TextBox 18"/>
          <p:cNvSpPr txBox="1"/>
          <p:nvPr/>
        </p:nvSpPr>
        <p:spPr>
          <a:xfrm>
            <a:off x="1408175" y="4023360"/>
            <a:ext cx="5862401" cy="978408"/>
          </a:xfrm>
          <a:prstGeom prst="rect">
            <a:avLst/>
          </a:prstGeom>
          <a:noFill/>
        </p:spPr>
        <p:txBody>
          <a:bodyPr wrap="square" anchor="ctr" lIns="0" tIns="0" rIns="0" bIns="0">
            <a:spAutoFit/>
          </a:bodyPr>
          <a:lstStyle/>
          <a:p>
            <a:pPr algn="l"/>
            <a:r>
              <a:rPr sz="1750" b="0">
                <a:solidFill>
                  <a:srgbClr val="111111"/>
                </a:solidFill>
                <a:latin typeface="Inter"/>
              </a:rPr>
              <a:t>Each component groups related senses such as water control, military fortification, or a type of barrier</a:t>
            </a:r>
          </a:p>
        </p:txBody>
      </p:sp>
      <p:sp>
        <p:nvSpPr>
          <p:cNvPr id="20" name="Rounded Rectangle 19"/>
          <p:cNvSpPr/>
          <p:nvPr/>
        </p:nvSpPr>
        <p:spPr>
          <a:xfrm>
            <a:off x="457200" y="5276088"/>
            <a:ext cx="7014545" cy="1124712"/>
          </a:xfrm>
          <a:prstGeom prst="roundRect">
            <a:avLst>
              <a:gd name="adj" fmla="val 1252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771753" y="5668365"/>
            <a:ext cx="340156" cy="340156"/>
          </a:xfrm>
          <a:prstGeom prst="rect">
            <a:avLst/>
          </a:prstGeom>
        </p:spPr>
      </p:pic>
      <p:sp>
        <p:nvSpPr>
          <p:cNvPr id="23" name="TextBox 22"/>
          <p:cNvSpPr txBox="1"/>
          <p:nvPr/>
        </p:nvSpPr>
        <p:spPr>
          <a:xfrm>
            <a:off x="1408175" y="5349240"/>
            <a:ext cx="5862401" cy="978408"/>
          </a:xfrm>
          <a:prstGeom prst="rect">
            <a:avLst/>
          </a:prstGeom>
          <a:noFill/>
        </p:spPr>
        <p:txBody>
          <a:bodyPr wrap="square" anchor="ctr" lIns="0" tIns="0" rIns="0" bIns="0">
            <a:spAutoFit/>
          </a:bodyPr>
          <a:lstStyle/>
          <a:p>
            <a:pPr algn="l"/>
            <a:r>
              <a:rPr sz="1750" b="0">
                <a:solidFill>
                  <a:srgbClr val="111111"/>
                </a:solidFill>
                <a:latin typeface="Inter"/>
              </a:rPr>
              <a:t>Understanding these groups helps in selecting the correct meaning in context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18</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108 / 114</a:t>
            </a:r>
          </a:p>
        </p:txBody>
      </p:sp>
      <p:sp>
        <p:nvSpPr>
          <p:cNvPr id="7" name="Rounded Rectangle 6"/>
          <p:cNvSpPr/>
          <p:nvPr/>
        </p:nvSpPr>
        <p:spPr>
          <a:xfrm>
            <a:off x="457200" y="1298448"/>
            <a:ext cx="11274552" cy="1326611"/>
          </a:xfrm>
          <a:prstGeom prst="roundRect">
            <a:avLst>
              <a:gd name="adj" fmla="val 10614"/>
            </a:avLst>
          </a:prstGeom>
          <a:solidFill>
            <a:srgbClr val="ECEDF1"/>
          </a:solidFill>
          <a:ln w="12700">
            <a:solidFill>
              <a:srgbClr val="4851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485174"/>
                </a:solidFill>
                <a:latin typeface="Bebas Neue"/>
              </a:rPr>
              <a:t>Which term matches this description: “important method of NLP by which the meaning of a word is determined, which is used in a…”?</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Semantic concordance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Word sense disambiguation</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Prior probability</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Inter-annotator agreement</a:t>
            </a:r>
          </a:p>
        </p:txBody>
      </p:sp>
      <p:sp>
        <p:nvSpPr>
          <p:cNvPr id="22" name="Rounded Rectangle 21"/>
          <p:cNvSpPr/>
          <p:nvPr/>
        </p:nvSpPr>
        <p:spPr>
          <a:xfrm>
            <a:off x="457200" y="5380329"/>
            <a:ext cx="11274552" cy="1020470"/>
          </a:xfrm>
          <a:prstGeom prst="roundRect">
            <a:avLst>
              <a:gd name="adj" fmla="val 12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450" b="0">
                <a:solidFill>
                  <a:srgbClr val="FFFFFF"/>
                </a:solidFill>
                <a:latin typeface="Inter"/>
              </a:rPr>
              <a:t>Word sense disambiguation: important method of NLP by which the meaning of a word is determined, which is used in a particular context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Assigning nodes to the nearest root hub using a minimum spanning tree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109 / 114</a:t>
            </a:r>
          </a:p>
        </p:txBody>
      </p:sp>
      <p:sp>
        <p:nvSpPr>
          <p:cNvPr id="8" name="Rounded Rectangle 7"/>
          <p:cNvSpPr/>
          <p:nvPr/>
        </p:nvSpPr>
        <p:spPr>
          <a:xfrm>
            <a:off x="457200" y="1298448"/>
            <a:ext cx="11274552" cy="994867"/>
          </a:xfrm>
          <a:prstGeom prst="roundRect">
            <a:avLst>
              <a:gd name="adj" fmla="val 1415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67281"/>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848563"/>
          </a:xfrm>
          <a:prstGeom prst="rect">
            <a:avLst/>
          </a:prstGeom>
          <a:noFill/>
        </p:spPr>
        <p:txBody>
          <a:bodyPr wrap="square" anchor="ctr" lIns="0" tIns="0" rIns="0" bIns="0">
            <a:spAutoFit/>
          </a:bodyPr>
          <a:lstStyle/>
          <a:p>
            <a:pPr algn="l"/>
            <a:r>
              <a:rPr sz="1839" b="1">
                <a:solidFill>
                  <a:srgbClr val="485174"/>
                </a:solidFill>
                <a:latin typeface="Bebas Neue"/>
              </a:rPr>
              <a:t>Add target word to graph  —  G ← G ∪ {t}</a:t>
            </a:r>
          </a:p>
          <a:p>
            <a:pPr algn="l">
              <a:spcBef>
                <a:spcPts val="300"/>
              </a:spcBef>
            </a:pPr>
            <a:r>
              <a:rPr sz="1600" b="0">
                <a:solidFill>
                  <a:srgbClr val="111111"/>
                </a:solidFill>
                <a:latin typeface="Inter"/>
              </a:rPr>
              <a:t>Insert the target word as a new vertex in the graph so it can participate in the MST.</a:t>
            </a:r>
          </a:p>
        </p:txBody>
      </p:sp>
      <p:sp>
        <p:nvSpPr>
          <p:cNvPr id="11" name="Rounded Rectangle 10"/>
          <p:cNvSpPr/>
          <p:nvPr/>
        </p:nvSpPr>
        <p:spPr>
          <a:xfrm>
            <a:off x="457200" y="2414016"/>
            <a:ext cx="11274552" cy="994867"/>
          </a:xfrm>
          <a:prstGeom prst="roundRect">
            <a:avLst>
              <a:gd name="adj" fmla="val 1415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682849"/>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487168"/>
            <a:ext cx="10213848" cy="848563"/>
          </a:xfrm>
          <a:prstGeom prst="rect">
            <a:avLst/>
          </a:prstGeom>
          <a:noFill/>
        </p:spPr>
        <p:txBody>
          <a:bodyPr wrap="square" anchor="ctr" lIns="0" tIns="0" rIns="0" bIns="0">
            <a:spAutoFit/>
          </a:bodyPr>
          <a:lstStyle/>
          <a:p>
            <a:pPr algn="l"/>
            <a:r>
              <a:rPr sz="1839" b="1">
                <a:solidFill>
                  <a:srgbClr val="485174"/>
                </a:solidFill>
                <a:latin typeface="Bebas Neue"/>
              </a:rPr>
              <a:t>Compute MST with target as root  —  MST ← Prim(G, start=t)</a:t>
            </a:r>
          </a:p>
          <a:p>
            <a:pPr algn="l">
              <a:spcBef>
                <a:spcPts val="300"/>
              </a:spcBef>
            </a:pPr>
            <a:r>
              <a:rPr sz="1600" b="0">
                <a:solidFill>
                  <a:srgbClr val="111111"/>
                </a:solidFill>
                <a:latin typeface="Inter"/>
              </a:rPr>
              <a:t>Run Prim’s algorithm starting from the target word to build a minimum spanning tree that connects all vertices with minimal total weight.</a:t>
            </a:r>
          </a:p>
        </p:txBody>
      </p:sp>
      <p:sp>
        <p:nvSpPr>
          <p:cNvPr id="14" name="Rounded Rectangle 13"/>
          <p:cNvSpPr/>
          <p:nvPr/>
        </p:nvSpPr>
        <p:spPr>
          <a:xfrm>
            <a:off x="457200" y="3529584"/>
            <a:ext cx="11274552" cy="994867"/>
          </a:xfrm>
          <a:prstGeom prst="roundRect">
            <a:avLst>
              <a:gd name="adj" fmla="val 1415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798417"/>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3602736"/>
            <a:ext cx="10213848" cy="848563"/>
          </a:xfrm>
          <a:prstGeom prst="rect">
            <a:avLst/>
          </a:prstGeom>
          <a:noFill/>
        </p:spPr>
        <p:txBody>
          <a:bodyPr wrap="square" anchor="ctr" lIns="0" tIns="0" rIns="0" bIns="0">
            <a:spAutoFit/>
          </a:bodyPr>
          <a:lstStyle/>
          <a:p>
            <a:pPr algn="l"/>
            <a:r>
              <a:rPr sz="1839" b="1">
                <a:solidFill>
                  <a:srgbClr val="485174"/>
                </a:solidFill>
                <a:latin typeface="Bebas Neue"/>
              </a:rPr>
              <a:t>Determine nearest root hub for each node</a:t>
            </a:r>
          </a:p>
          <a:p>
            <a:pPr algn="l">
              <a:spcBef>
                <a:spcPts val="300"/>
              </a:spcBef>
            </a:pPr>
            <a:r>
              <a:rPr sz="1600" b="0">
                <a:solidFill>
                  <a:srgbClr val="111111"/>
                </a:solidFill>
                <a:latin typeface="Inter"/>
              </a:rPr>
              <a:t>For every node, find the root hub that is closest in the MST by measuring the path weight between the node and each hub.</a:t>
            </a:r>
          </a:p>
        </p:txBody>
      </p:sp>
      <p:sp>
        <p:nvSpPr>
          <p:cNvPr id="17" name="Rounded Rectangle 16"/>
          <p:cNvSpPr/>
          <p:nvPr/>
        </p:nvSpPr>
        <p:spPr>
          <a:xfrm>
            <a:off x="457200" y="4645152"/>
            <a:ext cx="11274552" cy="994867"/>
          </a:xfrm>
          <a:prstGeom prst="roundRect">
            <a:avLst>
              <a:gd name="adj" fmla="val 14154"/>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913985"/>
            <a:ext cx="457200" cy="457200"/>
          </a:xfrm>
          <a:prstGeom prst="ellipse">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4718304"/>
            <a:ext cx="10213848" cy="848563"/>
          </a:xfrm>
          <a:prstGeom prst="rect">
            <a:avLst/>
          </a:prstGeom>
          <a:noFill/>
        </p:spPr>
        <p:txBody>
          <a:bodyPr wrap="square" anchor="ctr" lIns="0" tIns="0" rIns="0" bIns="0">
            <a:spAutoFit/>
          </a:bodyPr>
          <a:lstStyle/>
          <a:p>
            <a:pPr algn="l"/>
            <a:r>
              <a:rPr sz="1839" b="1">
                <a:solidFill>
                  <a:srgbClr val="485174"/>
                </a:solidFill>
                <a:latin typeface="Bebas Neue"/>
              </a:rPr>
              <a:t>Attach node to its nearest hub  —  attach(v, hub(v))</a:t>
            </a:r>
          </a:p>
          <a:p>
            <a:pPr algn="l">
              <a:spcBef>
                <a:spcPts val="300"/>
              </a:spcBef>
            </a:pPr>
            <a:r>
              <a:rPr sz="1600" b="0">
                <a:solidFill>
                  <a:srgbClr val="111111"/>
                </a:solidFill>
                <a:latin typeface="Inter"/>
              </a:rPr>
              <a:t>Create an edge or record that links the node to the hub identified in the previous step.</a:t>
            </a:r>
          </a:p>
        </p:txBody>
      </p:sp>
      <p:sp>
        <p:nvSpPr>
          <p:cNvPr id="20" name="Rounded Rectangle 19"/>
          <p:cNvSpPr/>
          <p:nvPr/>
        </p:nvSpPr>
        <p:spPr>
          <a:xfrm>
            <a:off x="457200" y="5760720"/>
            <a:ext cx="11274552" cy="640080"/>
          </a:xfrm>
          <a:prstGeom prst="roundRect">
            <a:avLst>
              <a:gd name="adj" fmla="val 20000"/>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1650" b="1">
                <a:solidFill>
                  <a:srgbClr val="FFFFFF"/>
                </a:solidFill>
                <a:latin typeface="Bebas Neue"/>
              </a:rPr>
              <a:t>Answer: Each node is now linked to the root hub that is closest to it in the minimum spanning tree.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Scoring MST nodes with component vectors for sense selection</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110 / 114</a:t>
            </a:r>
          </a:p>
        </p:txBody>
      </p:sp>
      <p:sp>
        <p:nvSpPr>
          <p:cNvPr id="8" name="Rounded Rectangle 7"/>
          <p:cNvSpPr/>
          <p:nvPr/>
        </p:nvSpPr>
        <p:spPr>
          <a:xfrm>
            <a:off x="457200" y="1298448"/>
            <a:ext cx="5536692" cy="1230182"/>
          </a:xfrm>
          <a:prstGeom prst="roundRect">
            <a:avLst>
              <a:gd name="adj" fmla="val 114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300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43460"/>
            <a:ext cx="340156" cy="340156"/>
          </a:xfrm>
          <a:prstGeom prst="rect">
            <a:avLst/>
          </a:prstGeom>
        </p:spPr>
      </p:pic>
      <p:sp>
        <p:nvSpPr>
          <p:cNvPr id="11" name="TextBox 10"/>
          <p:cNvSpPr txBox="1"/>
          <p:nvPr/>
        </p:nvSpPr>
        <p:spPr>
          <a:xfrm>
            <a:off x="1408175" y="1371600"/>
            <a:ext cx="4384548" cy="1083878"/>
          </a:xfrm>
          <a:prstGeom prst="rect">
            <a:avLst/>
          </a:prstGeom>
          <a:noFill/>
        </p:spPr>
        <p:txBody>
          <a:bodyPr wrap="square" anchor="ctr" lIns="0" tIns="0" rIns="0" bIns="0">
            <a:spAutoFit/>
          </a:bodyPr>
          <a:lstStyle/>
          <a:p>
            <a:pPr algn="l"/>
            <a:r>
              <a:rPr sz="2600" b="0">
                <a:solidFill>
                  <a:srgbClr val="111111"/>
                </a:solidFill>
                <a:latin typeface="Bebas Neue"/>
              </a:rPr>
              <a:t>Spluei = (0</a:t>
            </a:r>
          </a:p>
        </p:txBody>
      </p:sp>
      <p:sp>
        <p:nvSpPr>
          <p:cNvPr id="12" name="Rounded Rectangle 11"/>
          <p:cNvSpPr/>
          <p:nvPr/>
        </p:nvSpPr>
        <p:spPr>
          <a:xfrm>
            <a:off x="6195059" y="1298448"/>
            <a:ext cx="5536692" cy="1230182"/>
          </a:xfrm>
          <a:prstGeom prst="roundRect">
            <a:avLst>
              <a:gd name="adj" fmla="val 114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7" y="163007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6509613" y="1743460"/>
            <a:ext cx="340156" cy="340156"/>
          </a:xfrm>
          <a:prstGeom prst="rect">
            <a:avLst/>
          </a:prstGeom>
        </p:spPr>
      </p:pic>
      <p:sp>
        <p:nvSpPr>
          <p:cNvPr id="15" name="TextBox 14"/>
          <p:cNvSpPr txBox="1"/>
          <p:nvPr/>
        </p:nvSpPr>
        <p:spPr>
          <a:xfrm>
            <a:off x="7146036" y="1371600"/>
            <a:ext cx="4384547" cy="1083878"/>
          </a:xfrm>
          <a:prstGeom prst="rect">
            <a:avLst/>
          </a:prstGeom>
          <a:noFill/>
        </p:spPr>
        <p:txBody>
          <a:bodyPr wrap="square" anchor="ctr" lIns="0" tIns="0" rIns="0" bIns="0">
            <a:spAutoFit/>
          </a:bodyPr>
          <a:lstStyle/>
          <a:p>
            <a:pPr algn="l"/>
            <a:r>
              <a:rPr sz="2600" b="0">
                <a:solidFill>
                  <a:srgbClr val="111111"/>
                </a:solidFill>
                <a:latin typeface="Bebas Neue"/>
              </a:rPr>
              <a:t>0.82</a:t>
            </a:r>
          </a:p>
        </p:txBody>
      </p:sp>
      <p:sp>
        <p:nvSpPr>
          <p:cNvPr id="16" name="Rounded Rectangle 15"/>
          <p:cNvSpPr/>
          <p:nvPr/>
        </p:nvSpPr>
        <p:spPr>
          <a:xfrm>
            <a:off x="457200" y="2729798"/>
            <a:ext cx="11274552" cy="1230182"/>
          </a:xfrm>
          <a:prstGeom prst="roundRect">
            <a:avLst>
              <a:gd name="adj" fmla="val 11446"/>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61425"/>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74811"/>
            <a:ext cx="340156" cy="340156"/>
          </a:xfrm>
          <a:prstGeom prst="rect">
            <a:avLst/>
          </a:prstGeom>
        </p:spPr>
      </p:pic>
      <p:sp>
        <p:nvSpPr>
          <p:cNvPr id="19" name="TextBox 18"/>
          <p:cNvSpPr txBox="1"/>
          <p:nvPr/>
        </p:nvSpPr>
        <p:spPr>
          <a:xfrm>
            <a:off x="1408175" y="2802950"/>
            <a:ext cx="10122408" cy="1083878"/>
          </a:xfrm>
          <a:prstGeom prst="rect">
            <a:avLst/>
          </a:prstGeom>
          <a:noFill/>
        </p:spPr>
        <p:txBody>
          <a:bodyPr wrap="square" anchor="ctr" lIns="0" tIns="0" rIns="0" bIns="0">
            <a:spAutoFit/>
          </a:bodyPr>
          <a:lstStyle/>
          <a:p>
            <a:pPr algn="l"/>
            <a:r>
              <a:rPr sz="2600" b="0">
                <a:solidFill>
                  <a:srgbClr val="111111"/>
                </a:solidFill>
                <a:latin typeface="Bebas Neue"/>
              </a:rPr>
              <a:t>E.g. pluei(rain) belongs to the component EAU(water) and d(eau, pluie) = 0.82, spluei = (0.55, 0, 0, 0)</a:t>
            </a:r>
          </a:p>
        </p:txBody>
      </p:sp>
      <p:sp>
        <p:nvSpPr>
          <p:cNvPr id="20" name="Rounded Rectangle 19"/>
          <p:cNvSpPr/>
          <p:nvPr/>
        </p:nvSpPr>
        <p:spPr>
          <a:xfrm>
            <a:off x="457200" y="4161149"/>
            <a:ext cx="11274552" cy="112408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161149"/>
            <a:ext cx="73152" cy="112408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Each node in the MST is assigned a score vector with as many dimensions as there are components. Step 1: For a given context, add the score vectors of all words in that context. Step 2: Select the component that receives the highest weight.</a:t>
            </a:r>
          </a:p>
        </p:txBody>
      </p:sp>
      <p:sp>
        <p:nvSpPr>
          <p:cNvPr id="23" name="Rounded Rectangle 2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485174"/>
                </a:solidFill>
                <a:latin typeface="Bebas Neue"/>
              </a:rPr>
              <a:t>Key takeaway:  </a:t>
            </a:r>
            <a:r>
              <a:rPr sz="1300" b="0">
                <a:solidFill>
                  <a:srgbClr val="111111"/>
                </a:solidFill>
                <a:latin typeface="Inter"/>
              </a:rPr>
              <a:t>From 0.82 spluei = (0 down to 0.</a:t>
            </a:r>
          </a:p>
          <a:p>
            <a:pPr algn="l"/>
            <a:r>
              <a:rPr b="1" sz="1300">
                <a:solidFill>
                  <a:srgbClr val="485174"/>
                </a:solidFill>
                <a:latin typeface="Bebas Neue"/>
              </a:rPr>
              <a:t>Key terms:  </a:t>
            </a:r>
            <a:r>
              <a:rPr sz="1300" b="0">
                <a:solidFill>
                  <a:srgbClr val="111111"/>
                </a:solidFill>
                <a:latin typeface="Inter"/>
              </a:rPr>
              <a:t>mst — Compute a Minimum Spanning Tree  ·  eau — winner in this case  ·  score vector — a numeric representation indicating a node’s association strength with each component</a:t>
            </a:r>
          </a:p>
        </p:txBody>
      </p:sp>
      <p:sp>
        <p:nvSpPr>
          <p:cNvPr id="24" name="Rectangle 2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Calculating a reliability coefficient from the best and second best scores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111 / 114</a:t>
            </a:r>
          </a:p>
        </p:txBody>
      </p:sp>
      <p:sp>
        <p:nvSpPr>
          <p:cNvPr id="7" name="Rounded Rectangle 6"/>
          <p:cNvSpPr/>
          <p:nvPr/>
        </p:nvSpPr>
        <p:spPr>
          <a:xfrm>
            <a:off x="457200" y="1298448"/>
            <a:ext cx="5536692"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771753" y="1803948"/>
            <a:ext cx="340156" cy="340156"/>
          </a:xfrm>
          <a:prstGeom prst="rect">
            <a:avLst/>
          </a:prstGeom>
        </p:spPr>
      </p:pic>
      <p:sp>
        <p:nvSpPr>
          <p:cNvPr id="10" name="TextBox 9"/>
          <p:cNvSpPr txBox="1"/>
          <p:nvPr/>
        </p:nvSpPr>
        <p:spPr>
          <a:xfrm>
            <a:off x="1408175" y="1371600"/>
            <a:ext cx="4384548" cy="1204853"/>
          </a:xfrm>
          <a:prstGeom prst="rect">
            <a:avLst/>
          </a:prstGeom>
          <a:noFill/>
        </p:spPr>
        <p:txBody>
          <a:bodyPr wrap="square" anchor="ctr" lIns="0" tIns="0" rIns="0" bIns="0">
            <a:spAutoFit/>
          </a:bodyPr>
          <a:lstStyle/>
          <a:p>
            <a:pPr algn="l"/>
            <a:r>
              <a:rPr sz="1820" b="0">
                <a:solidFill>
                  <a:srgbClr val="111111"/>
                </a:solidFill>
                <a:latin typeface="Inter"/>
              </a:rPr>
              <a:t>Le barrage recueille l’eau a la saison des plueis. The dam collects water during the rainy season</a:t>
            </a:r>
          </a:p>
        </p:txBody>
      </p:sp>
      <p:sp>
        <p:nvSpPr>
          <p:cNvPr id="11" name="Rounded Rectangle 10"/>
          <p:cNvSpPr/>
          <p:nvPr/>
        </p:nvSpPr>
        <p:spPr>
          <a:xfrm>
            <a:off x="6195059" y="1298448"/>
            <a:ext cx="5536692"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1690562"/>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4"/>
          <a:stretch>
            <a:fillRect/>
          </a:stretch>
        </p:blipFill>
        <p:spPr>
          <a:xfrm>
            <a:off x="6509613" y="1803948"/>
            <a:ext cx="340156" cy="340156"/>
          </a:xfrm>
          <a:prstGeom prst="rect">
            <a:avLst/>
          </a:prstGeom>
        </p:spPr>
      </p:pic>
      <p:sp>
        <p:nvSpPr>
          <p:cNvPr id="14" name="TextBox 13"/>
          <p:cNvSpPr txBox="1"/>
          <p:nvPr/>
        </p:nvSpPr>
        <p:spPr>
          <a:xfrm>
            <a:off x="7146036" y="1371600"/>
            <a:ext cx="4384547" cy="1204853"/>
          </a:xfrm>
          <a:prstGeom prst="rect">
            <a:avLst/>
          </a:prstGeom>
          <a:noFill/>
        </p:spPr>
        <p:txBody>
          <a:bodyPr wrap="square" anchor="ctr" lIns="0" tIns="0" rIns="0" bIns="0">
            <a:spAutoFit/>
          </a:bodyPr>
          <a:lstStyle/>
          <a:p>
            <a:pPr algn="l"/>
            <a:r>
              <a:rPr sz="1820" b="0">
                <a:solidFill>
                  <a:srgbClr val="111111"/>
                </a:solidFill>
                <a:latin typeface="Inter"/>
              </a:rPr>
              <a:t>EAU is the winner in this case</a:t>
            </a:r>
          </a:p>
        </p:txBody>
      </p:sp>
      <p:sp>
        <p:nvSpPr>
          <p:cNvPr id="15" name="Rounded Rectangle 14"/>
          <p:cNvSpPr/>
          <p:nvPr/>
        </p:nvSpPr>
        <p:spPr>
          <a:xfrm>
            <a:off x="457200" y="2850773"/>
            <a:ext cx="5536692"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324288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771753" y="3356274"/>
            <a:ext cx="340156" cy="340156"/>
          </a:xfrm>
          <a:prstGeom prst="rect">
            <a:avLst/>
          </a:prstGeom>
        </p:spPr>
      </p:pic>
      <p:sp>
        <p:nvSpPr>
          <p:cNvPr id="18" name="TextBox 17"/>
          <p:cNvSpPr txBox="1"/>
          <p:nvPr/>
        </p:nvSpPr>
        <p:spPr>
          <a:xfrm>
            <a:off x="1408175" y="2923925"/>
            <a:ext cx="4384548" cy="1204853"/>
          </a:xfrm>
          <a:prstGeom prst="rect">
            <a:avLst/>
          </a:prstGeom>
          <a:noFill/>
        </p:spPr>
        <p:txBody>
          <a:bodyPr wrap="square" anchor="ctr" lIns="0" tIns="0" rIns="0" bIns="0">
            <a:spAutoFit/>
          </a:bodyPr>
          <a:lstStyle/>
          <a:p>
            <a:pPr algn="l"/>
            <a:r>
              <a:rPr sz="1980" b="1">
                <a:solidFill>
                  <a:srgbClr val="485174"/>
                </a:solidFill>
                <a:latin typeface="Bebas Neue"/>
              </a:rPr>
              <a:t>Reliability coefficient (ρ)</a:t>
            </a:r>
          </a:p>
          <a:p>
            <a:pPr algn="l">
              <a:spcBef>
                <a:spcPts val="500"/>
              </a:spcBef>
            </a:pPr>
            <a:r>
              <a:rPr sz="1650" b="0">
                <a:solidFill>
                  <a:srgbClr val="111111"/>
                </a:solidFill>
                <a:latin typeface="Inter"/>
              </a:rPr>
              <a:t>A reliability coefficient (ρ) can be calculated as the difference (δ) between the best score and the second best score</a:t>
            </a:r>
          </a:p>
        </p:txBody>
      </p:sp>
      <p:sp>
        <p:nvSpPr>
          <p:cNvPr id="19" name="Rounded Rectangle 18"/>
          <p:cNvSpPr/>
          <p:nvPr/>
        </p:nvSpPr>
        <p:spPr>
          <a:xfrm>
            <a:off x="6195059" y="2850773"/>
            <a:ext cx="5536692" cy="1351157"/>
          </a:xfrm>
          <a:prstGeom prst="roundRect">
            <a:avLst>
              <a:gd name="adj" fmla="val 10421"/>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3242888"/>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6509613" y="3356274"/>
            <a:ext cx="340156" cy="340156"/>
          </a:xfrm>
          <a:prstGeom prst="rect">
            <a:avLst/>
          </a:prstGeom>
        </p:spPr>
      </p:pic>
      <p:sp>
        <p:nvSpPr>
          <p:cNvPr id="22" name="TextBox 21"/>
          <p:cNvSpPr txBox="1"/>
          <p:nvPr/>
        </p:nvSpPr>
        <p:spPr>
          <a:xfrm>
            <a:off x="7146036" y="2923925"/>
            <a:ext cx="4384547" cy="1204853"/>
          </a:xfrm>
          <a:prstGeom prst="rect">
            <a:avLst/>
          </a:prstGeom>
          <a:noFill/>
        </p:spPr>
        <p:txBody>
          <a:bodyPr wrap="square" anchor="ctr" lIns="0" tIns="0" rIns="0" bIns="0">
            <a:spAutoFit/>
          </a:bodyPr>
          <a:lstStyle/>
          <a:p>
            <a:pPr algn="l"/>
            <a:r>
              <a:rPr sz="1820" b="0">
                <a:solidFill>
                  <a:srgbClr val="111111"/>
                </a:solidFill>
                <a:latin typeface="Inter"/>
              </a:rPr>
              <a:t>ρ = 1 – (1/(1+ δ))</a:t>
            </a:r>
          </a:p>
        </p:txBody>
      </p:sp>
      <p:sp>
        <p:nvSpPr>
          <p:cNvPr id="23" name="Rounded Rectangle 22"/>
          <p:cNvSpPr/>
          <p:nvPr/>
        </p:nvSpPr>
        <p:spPr>
          <a:xfrm>
            <a:off x="457200" y="4403099"/>
            <a:ext cx="11274552"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403099"/>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CC7B70"/>
                </a:solidFill>
                <a:latin typeface="Bebas Neue"/>
              </a:rPr>
              <a:t>IN PLAIN WORDS</a:t>
            </a:r>
          </a:p>
          <a:p>
            <a:pPr algn="l">
              <a:spcBef>
                <a:spcPts val="300"/>
              </a:spcBef>
            </a:pPr>
            <a:r>
              <a:rPr sz="1400" b="0">
                <a:solidFill>
                  <a:srgbClr val="111111"/>
                </a:solidFill>
                <a:latin typeface="Inter"/>
              </a:rPr>
              <a:t>After scoring, the highest-scoring component wins. The reliability coefficient ρ measures confidence by comparing the top score to the runner-up. A larger difference δ yields a ρ closer to 1, indicating higher certainty.</a:t>
            </a:r>
          </a:p>
        </p:txBody>
      </p:sp>
      <p:sp>
        <p:nvSpPr>
          <p:cNvPr id="26" name="Rounded Rectangle 25"/>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485174"/>
                </a:solidFill>
                <a:latin typeface="Bebas Neue"/>
              </a:rPr>
              <a:t>Key terms:  </a:t>
            </a:r>
            <a:r>
              <a:rPr sz="1600" b="1">
                <a:solidFill>
                  <a:srgbClr val="111111"/>
                </a:solidFill>
                <a:latin typeface="Bebas Neue"/>
              </a:rPr>
              <a:t>reliability coefficient — a value between 0 and 1 expressing confidence in the chosen sense</a:t>
            </a:r>
          </a:p>
        </p:txBody>
      </p:sp>
      <p:sp>
        <p:nvSpPr>
          <p:cNvPr id="27" name="Rectangle 26"/>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5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45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 sense disambiguation selects the correct meaning using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112 / 114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334192"/>
          </a:xfrm>
          <a:prstGeom prst="roundRect">
            <a:avLst>
              <a:gd name="adj" fmla="val 603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218624"/>
          </a:xfrm>
          <a:prstGeom prst="rect">
            <a:avLst/>
          </a:prstGeom>
          <a:noFill/>
        </p:spPr>
        <p:txBody>
          <a:bodyPr wrap="square" anchor="t" lIns="0" tIns="0" rIns="0" bIns="0">
            <a:spAutoFit/>
          </a:bodyPr>
          <a:lstStyle/>
          <a:p>
            <a:pPr algn="l"/>
            <a:r>
              <a:rPr sz="1739" b="1">
                <a:solidFill>
                  <a:srgbClr val="485174"/>
                </a:solidFill>
                <a:latin typeface="Bebas Neue"/>
              </a:rPr>
              <a:t>Word Sense Disambiguation</a:t>
            </a:r>
          </a:p>
          <a:p>
            <a:pPr algn="l">
              <a:spcBef>
                <a:spcPts val="500"/>
              </a:spcBef>
            </a:pPr>
            <a:r>
              <a:rPr sz="1450" b="0">
                <a:solidFill>
                  <a:srgbClr val="111111"/>
                </a:solidFill>
                <a:latin typeface="Inter"/>
              </a:rPr>
              <a:t>choosing correct sense in context</a:t>
            </a:r>
          </a:p>
        </p:txBody>
      </p:sp>
      <p:sp>
        <p:nvSpPr>
          <p:cNvPr id="12" name="Rounded Rectangle 11"/>
          <p:cNvSpPr/>
          <p:nvPr/>
        </p:nvSpPr>
        <p:spPr>
          <a:xfrm>
            <a:off x="3152241" y="1298448"/>
            <a:ext cx="2493873" cy="2334192"/>
          </a:xfrm>
          <a:prstGeom prst="roundRect">
            <a:avLst>
              <a:gd name="adj" fmla="val 603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218624"/>
          </a:xfrm>
          <a:prstGeom prst="rect">
            <a:avLst/>
          </a:prstGeom>
          <a:noFill/>
        </p:spPr>
        <p:txBody>
          <a:bodyPr wrap="square" anchor="t" lIns="0" tIns="0" rIns="0" bIns="0">
            <a:spAutoFit/>
          </a:bodyPr>
          <a:lstStyle/>
          <a:p>
            <a:pPr algn="l"/>
            <a:r>
              <a:rPr sz="1739" b="1">
                <a:solidFill>
                  <a:srgbClr val="485174"/>
                </a:solidFill>
                <a:latin typeface="Bebas Neue"/>
              </a:rPr>
              <a:t>Applications</a:t>
            </a:r>
          </a:p>
          <a:p>
            <a:pPr algn="l">
              <a:spcBef>
                <a:spcPts val="500"/>
              </a:spcBef>
            </a:pPr>
            <a:r>
              <a:rPr sz="1450" b="0">
                <a:solidFill>
                  <a:srgbClr val="111111"/>
                </a:solidFill>
                <a:latin typeface="Inter"/>
              </a:rPr>
              <a:t>MT, QA, etc</a:t>
            </a:r>
          </a:p>
        </p:txBody>
      </p:sp>
      <p:sp>
        <p:nvSpPr>
          <p:cNvPr id="16" name="Rounded Rectangle 15"/>
          <p:cNvSpPr/>
          <p:nvPr/>
        </p:nvSpPr>
        <p:spPr>
          <a:xfrm>
            <a:off x="5847283" y="1298448"/>
            <a:ext cx="2493873" cy="2334192"/>
          </a:xfrm>
          <a:prstGeom prst="roundRect">
            <a:avLst>
              <a:gd name="adj" fmla="val 6032"/>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218624"/>
          </a:xfrm>
          <a:prstGeom prst="rect">
            <a:avLst/>
          </a:prstGeom>
          <a:noFill/>
        </p:spPr>
        <p:txBody>
          <a:bodyPr wrap="square" anchor="t" lIns="0" tIns="0" rIns="0" bIns="0">
            <a:spAutoFit/>
          </a:bodyPr>
          <a:lstStyle/>
          <a:p>
            <a:pPr algn="l"/>
            <a:r>
              <a:rPr sz="1739" b="1">
                <a:solidFill>
                  <a:srgbClr val="485174"/>
                </a:solidFill>
                <a:latin typeface="Bebas Neue"/>
              </a:rPr>
              <a:t>Supervised Machine Learning</a:t>
            </a:r>
          </a:p>
          <a:p>
            <a:pPr algn="l">
              <a:spcBef>
                <a:spcPts val="500"/>
              </a:spcBef>
            </a:pPr>
            <a:r>
              <a:rPr sz="1450" b="0">
                <a:solidFill>
                  <a:srgbClr val="111111"/>
                </a:solidFill>
                <a:latin typeface="Inter"/>
              </a:rPr>
              <a:t>Naive Bayes classifier</a:t>
            </a:r>
          </a:p>
        </p:txBody>
      </p:sp>
      <p:sp>
        <p:nvSpPr>
          <p:cNvPr id="20" name="Rounded Rectangle 19"/>
          <p:cNvSpPr/>
          <p:nvPr/>
        </p:nvSpPr>
        <p:spPr>
          <a:xfrm>
            <a:off x="457200" y="3833808"/>
            <a:ext cx="7883956" cy="1451423"/>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833808"/>
            <a:ext cx="73152" cy="1451423"/>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906960"/>
            <a:ext cx="7488935" cy="1305119"/>
          </a:xfrm>
          <a:prstGeom prst="rect">
            <a:avLst/>
          </a:prstGeom>
          <a:noFill/>
        </p:spPr>
        <p:txBody>
          <a:bodyPr wrap="square" anchor="ctr" lIns="0" tIns="0" rIns="0" bIns="0">
            <a:spAutoFit/>
          </a:bodyPr>
          <a:lstStyle/>
          <a:p>
            <a:pPr algn="l"/>
            <a:r>
              <a:rPr sz="860" b="1">
                <a:solidFill>
                  <a:srgbClr val="CC7B70"/>
                </a:solidFill>
                <a:latin typeface="Bebas Neue"/>
              </a:rPr>
              <a:t>IN PLAIN WORDS</a:t>
            </a:r>
          </a:p>
          <a:p>
            <a:pPr algn="l">
              <a:spcBef>
                <a:spcPts val="300"/>
              </a:spcBef>
            </a:pPr>
            <a:r>
              <a:rPr sz="1200" b="0">
                <a:solidFill>
                  <a:srgbClr val="111111"/>
                </a:solidFill>
                <a:latin typeface="Inter"/>
              </a:rPr>
              <a:t>Word sense disambiguation (WSD) chooses the appropriate sense of a word in a given context. It is essential for applications like machine translation and question answering. Methods include supervised learning, dictionary-based approaches, and semi-supervised techniques that exploit contextual word counts.</a:t>
            </a:r>
          </a:p>
          <a:p>
            <a:pPr algn="l">
              <a:spcBef>
                <a:spcPts val="300"/>
              </a:spcBef>
            </a:pPr>
            <a:r>
              <a:rPr sz="1200" b="0">
                <a:solidFill>
                  <a:srgbClr val="111111"/>
                </a:solidFill>
                <a:latin typeface="Inter"/>
              </a:rPr>
              <a:t>Three classes of Methods Thesaurus/Dictionary Methods Semi-Supervised Learning Main intuition</a:t>
            </a:r>
          </a:p>
        </p:txBody>
      </p:sp>
      <p:sp>
        <p:nvSpPr>
          <p:cNvPr id="23" name="Rounded Rectangle 22"/>
          <p:cNvSpPr/>
          <p:nvPr/>
        </p:nvSpPr>
        <p:spPr>
          <a:xfrm>
            <a:off x="457200" y="5486400"/>
            <a:ext cx="11274552" cy="914400"/>
          </a:xfrm>
          <a:prstGeom prst="roundRect">
            <a:avLst>
              <a:gd name="adj" fmla="val 20000"/>
            </a:avLst>
          </a:prstGeom>
          <a:solidFill>
            <a:srgbClr val="F3E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485174"/>
                </a:solidFill>
                <a:latin typeface="Bebas Neue"/>
              </a:rPr>
              <a:t>Key terms:  </a:t>
            </a:r>
            <a:r>
              <a:rPr sz="1500" b="1">
                <a:solidFill>
                  <a:srgbClr val="111111"/>
                </a:solidFill>
                <a:latin typeface="Bebas Neue"/>
              </a:rPr>
              <a:t>Word sense disambiguation — important method of NLP by which the meaning of a word is determined, which is used in a particular context  ·  supervised machine learning — learning from labeled examples to predict word senses</a:t>
            </a:r>
          </a:p>
        </p:txBody>
      </p:sp>
      <p:sp>
        <p:nvSpPr>
          <p:cNvPr id="24" name="Rectangle 23"/>
          <p:cNvSpPr/>
          <p:nvPr/>
        </p:nvSpPr>
        <p:spPr>
          <a:xfrm>
            <a:off x="457200" y="5614416"/>
            <a:ext cx="82296" cy="658368"/>
          </a:xfrm>
          <a:prstGeom prst="rect">
            <a:avLst/>
          </a:prstGeom>
          <a:solidFill>
            <a:srgbClr val="CC7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Match the terms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113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566671"/>
          </a:xfrm>
          <a:prstGeom prst="roundRect">
            <a:avLst>
              <a:gd name="adj" fmla="val 89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983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11705"/>
            <a:ext cx="340156" cy="340156"/>
          </a:xfrm>
          <a:prstGeom prst="rect">
            <a:avLst/>
          </a:prstGeom>
        </p:spPr>
      </p:pic>
      <p:sp>
        <p:nvSpPr>
          <p:cNvPr id="11" name="TextBox 10"/>
          <p:cNvSpPr txBox="1"/>
          <p:nvPr/>
        </p:nvSpPr>
        <p:spPr>
          <a:xfrm>
            <a:off x="1408175" y="1371600"/>
            <a:ext cx="2592781" cy="1420368"/>
          </a:xfrm>
          <a:prstGeom prst="rect">
            <a:avLst/>
          </a:prstGeom>
          <a:noFill/>
        </p:spPr>
        <p:txBody>
          <a:bodyPr wrap="square" anchor="ctr" lIns="0" tIns="0" rIns="0" bIns="0">
            <a:spAutoFit/>
          </a:bodyPr>
          <a:lstStyle/>
          <a:p>
            <a:pPr algn="l"/>
            <a:r>
              <a:rPr sz="2340" b="1">
                <a:solidFill>
                  <a:srgbClr val="485174"/>
                </a:solidFill>
                <a:latin typeface="Bebas Neue"/>
              </a:rPr>
              <a:t>Eau</a:t>
            </a:r>
          </a:p>
          <a:p>
            <a:pPr algn="l">
              <a:spcBef>
                <a:spcPts val="500"/>
              </a:spcBef>
            </a:pPr>
            <a:r>
              <a:rPr sz="1950" b="0">
                <a:solidFill>
                  <a:srgbClr val="111111"/>
                </a:solidFill>
                <a:latin typeface="Inter"/>
              </a:rPr>
              <a:t>winner in this case</a:t>
            </a:r>
          </a:p>
        </p:txBody>
      </p:sp>
      <p:sp>
        <p:nvSpPr>
          <p:cNvPr id="12" name="Rounded Rectangle 11"/>
          <p:cNvSpPr/>
          <p:nvPr/>
        </p:nvSpPr>
        <p:spPr>
          <a:xfrm>
            <a:off x="4403293" y="1298448"/>
            <a:ext cx="3744925" cy="1566671"/>
          </a:xfrm>
          <a:prstGeom prst="roundRect">
            <a:avLst>
              <a:gd name="adj" fmla="val 89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79832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911705"/>
            <a:ext cx="340156" cy="340156"/>
          </a:xfrm>
          <a:prstGeom prst="rect">
            <a:avLst/>
          </a:prstGeom>
        </p:spPr>
      </p:pic>
      <p:sp>
        <p:nvSpPr>
          <p:cNvPr id="15" name="TextBox 14"/>
          <p:cNvSpPr txBox="1"/>
          <p:nvPr/>
        </p:nvSpPr>
        <p:spPr>
          <a:xfrm>
            <a:off x="5354269" y="1371600"/>
            <a:ext cx="2592781" cy="1420368"/>
          </a:xfrm>
          <a:prstGeom prst="rect">
            <a:avLst/>
          </a:prstGeom>
          <a:noFill/>
        </p:spPr>
        <p:txBody>
          <a:bodyPr wrap="square" anchor="ctr" lIns="0" tIns="0" rIns="0" bIns="0">
            <a:spAutoFit/>
          </a:bodyPr>
          <a:lstStyle/>
          <a:p>
            <a:pPr algn="l"/>
            <a:r>
              <a:rPr sz="2340" b="1">
                <a:solidFill>
                  <a:srgbClr val="485174"/>
                </a:solidFill>
                <a:latin typeface="Bebas Neue"/>
              </a:rPr>
              <a:t>A decision list</a:t>
            </a:r>
          </a:p>
          <a:p>
            <a:pPr algn="l">
              <a:spcBef>
                <a:spcPts val="500"/>
              </a:spcBef>
            </a:pPr>
            <a:r>
              <a:rPr sz="1950" b="0">
                <a:solidFill>
                  <a:srgbClr val="111111"/>
                </a:solidFill>
                <a:latin typeface="Inter"/>
              </a:rPr>
              <a:t>ordered list of yes-no questions bass1 = fish vs</a:t>
            </a:r>
          </a:p>
        </p:txBody>
      </p:sp>
      <p:sp>
        <p:nvSpPr>
          <p:cNvPr id="16" name="Rounded Rectangle 15"/>
          <p:cNvSpPr/>
          <p:nvPr/>
        </p:nvSpPr>
        <p:spPr>
          <a:xfrm>
            <a:off x="457200" y="3066287"/>
            <a:ext cx="3744925" cy="1566671"/>
          </a:xfrm>
          <a:prstGeom prst="roundRect">
            <a:avLst>
              <a:gd name="adj" fmla="val 89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56615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679545"/>
            <a:ext cx="340156" cy="340156"/>
          </a:xfrm>
          <a:prstGeom prst="rect">
            <a:avLst/>
          </a:prstGeom>
        </p:spPr>
      </p:pic>
      <p:sp>
        <p:nvSpPr>
          <p:cNvPr id="19" name="TextBox 18"/>
          <p:cNvSpPr txBox="1"/>
          <p:nvPr/>
        </p:nvSpPr>
        <p:spPr>
          <a:xfrm>
            <a:off x="1408175" y="3139440"/>
            <a:ext cx="2592781" cy="1420368"/>
          </a:xfrm>
          <a:prstGeom prst="rect">
            <a:avLst/>
          </a:prstGeom>
          <a:noFill/>
        </p:spPr>
        <p:txBody>
          <a:bodyPr wrap="square" anchor="ctr" lIns="0" tIns="0" rIns="0" bIns="0">
            <a:spAutoFit/>
          </a:bodyPr>
          <a:lstStyle/>
          <a:p>
            <a:pPr algn="l"/>
            <a:r>
              <a:rPr sz="2340" b="1">
                <a:solidFill>
                  <a:srgbClr val="485174"/>
                </a:solidFill>
                <a:latin typeface="Bebas Neue"/>
              </a:rPr>
              <a:t>Mst</a:t>
            </a:r>
          </a:p>
          <a:p>
            <a:pPr algn="l">
              <a:spcBef>
                <a:spcPts val="500"/>
              </a:spcBef>
            </a:pPr>
            <a:r>
              <a:rPr sz="1950" b="0">
                <a:solidFill>
                  <a:srgbClr val="111111"/>
                </a:solidFill>
                <a:latin typeface="Inter"/>
              </a:rPr>
              <a:t>Compute a Minimum Spanning Tree</a:t>
            </a:r>
          </a:p>
        </p:txBody>
      </p:sp>
      <p:sp>
        <p:nvSpPr>
          <p:cNvPr id="20" name="Rounded Rectangle 19"/>
          <p:cNvSpPr/>
          <p:nvPr/>
        </p:nvSpPr>
        <p:spPr>
          <a:xfrm>
            <a:off x="4403293" y="3066287"/>
            <a:ext cx="3744925" cy="1566671"/>
          </a:xfrm>
          <a:prstGeom prst="roundRect">
            <a:avLst>
              <a:gd name="adj" fmla="val 89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356615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679545"/>
            <a:ext cx="340156" cy="340156"/>
          </a:xfrm>
          <a:prstGeom prst="rect">
            <a:avLst/>
          </a:prstGeom>
        </p:spPr>
      </p:pic>
      <p:sp>
        <p:nvSpPr>
          <p:cNvPr id="23" name="TextBox 22"/>
          <p:cNvSpPr txBox="1"/>
          <p:nvPr/>
        </p:nvSpPr>
        <p:spPr>
          <a:xfrm>
            <a:off x="5354269" y="3139440"/>
            <a:ext cx="2592781" cy="1420368"/>
          </a:xfrm>
          <a:prstGeom prst="rect">
            <a:avLst/>
          </a:prstGeom>
          <a:noFill/>
        </p:spPr>
        <p:txBody>
          <a:bodyPr wrap="square" anchor="ctr" lIns="0" tIns="0" rIns="0" bIns="0">
            <a:spAutoFit/>
          </a:bodyPr>
          <a:lstStyle/>
          <a:p>
            <a:pPr algn="l"/>
            <a:r>
              <a:rPr sz="2340" b="1">
                <a:solidFill>
                  <a:srgbClr val="485174"/>
                </a:solidFill>
                <a:latin typeface="Bebas Neue"/>
              </a:rPr>
              <a:t>Carpet</a:t>
            </a:r>
          </a:p>
          <a:p>
            <a:pPr algn="l">
              <a:spcBef>
                <a:spcPts val="500"/>
              </a:spcBef>
            </a:pPr>
            <a:r>
              <a:rPr sz="1950" b="0">
                <a:solidFill>
                  <a:srgbClr val="111111"/>
                </a:solidFill>
                <a:latin typeface="Inter"/>
              </a:rPr>
              <a:t>lemma for carpets Dormir is the lemma for duermes</a:t>
            </a:r>
          </a:p>
        </p:txBody>
      </p:sp>
      <p:sp>
        <p:nvSpPr>
          <p:cNvPr id="24" name="Rounded Rectangle 23"/>
          <p:cNvSpPr/>
          <p:nvPr/>
        </p:nvSpPr>
        <p:spPr>
          <a:xfrm>
            <a:off x="457200" y="4834128"/>
            <a:ext cx="7691018" cy="1566671"/>
          </a:xfrm>
          <a:prstGeom prst="roundRect">
            <a:avLst>
              <a:gd name="adj" fmla="val 8988"/>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5334000"/>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5447385"/>
            <a:ext cx="340156" cy="340156"/>
          </a:xfrm>
          <a:prstGeom prst="rect">
            <a:avLst/>
          </a:prstGeom>
        </p:spPr>
      </p:pic>
      <p:sp>
        <p:nvSpPr>
          <p:cNvPr id="27" name="TextBox 26"/>
          <p:cNvSpPr txBox="1"/>
          <p:nvPr/>
        </p:nvSpPr>
        <p:spPr>
          <a:xfrm>
            <a:off x="1408175" y="4907280"/>
            <a:ext cx="6538874" cy="1420368"/>
          </a:xfrm>
          <a:prstGeom prst="rect">
            <a:avLst/>
          </a:prstGeom>
          <a:noFill/>
        </p:spPr>
        <p:txBody>
          <a:bodyPr wrap="square" anchor="ctr" lIns="0" tIns="0" rIns="0" bIns="0">
            <a:spAutoFit/>
          </a:bodyPr>
          <a:lstStyle/>
          <a:p>
            <a:pPr algn="l"/>
            <a:r>
              <a:rPr sz="2340" b="1">
                <a:solidFill>
                  <a:srgbClr val="485174"/>
                </a:solidFill>
                <a:latin typeface="Bebas Neue"/>
              </a:rPr>
              <a:t>Semantic analysis</a:t>
            </a:r>
          </a:p>
          <a:p>
            <a:pPr algn="l">
              <a:spcBef>
                <a:spcPts val="500"/>
              </a:spcBef>
            </a:pPr>
            <a:r>
              <a:rPr sz="1950" b="0">
                <a:solidFill>
                  <a:srgbClr val="111111"/>
                </a:solidFill>
                <a:latin typeface="Inter"/>
              </a:rPr>
              <a:t>process of finding the meaning from text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485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114 / 114</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776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31155"/>
            <a:ext cx="340156" cy="340156"/>
          </a:xfrm>
          <a:prstGeom prst="rect">
            <a:avLst/>
          </a:prstGeom>
        </p:spPr>
      </p:pic>
      <p:sp>
        <p:nvSpPr>
          <p:cNvPr id="11" name="TextBox 10"/>
          <p:cNvSpPr txBox="1"/>
          <p:nvPr/>
        </p:nvSpPr>
        <p:spPr>
          <a:xfrm>
            <a:off x="1408175" y="1371600"/>
            <a:ext cx="2592781" cy="1059267"/>
          </a:xfrm>
          <a:prstGeom prst="rect">
            <a:avLst/>
          </a:prstGeom>
          <a:noFill/>
        </p:spPr>
        <p:txBody>
          <a:bodyPr wrap="square" anchor="ctr" lIns="0" tIns="0" rIns="0" bIns="0">
            <a:spAutoFit/>
          </a:bodyPr>
          <a:lstStyle/>
          <a:p>
            <a:pPr algn="l"/>
            <a:r>
              <a:rPr sz="1510" b="1">
                <a:solidFill>
                  <a:srgbClr val="485174"/>
                </a:solidFill>
                <a:latin typeface="Bebas Neue"/>
              </a:rPr>
              <a:t>MODULE 4</a:t>
            </a:r>
          </a:p>
          <a:p>
            <a:pPr algn="l">
              <a:spcBef>
                <a:spcPts val="500"/>
              </a:spcBef>
            </a:pPr>
            <a:r>
              <a:rPr sz="1260" b="0">
                <a:solidFill>
                  <a:srgbClr val="111111"/>
                </a:solidFill>
                <a:latin typeface="Inter"/>
              </a:rPr>
              <a:t>Introduction, Meaning Representation</a:t>
            </a:r>
          </a:p>
        </p:txBody>
      </p:sp>
      <p:sp>
        <p:nvSpPr>
          <p:cNvPr id="12" name="Rounded Rectangle 11"/>
          <p:cNvSpPr/>
          <p:nvPr/>
        </p:nvSpPr>
        <p:spPr>
          <a:xfrm>
            <a:off x="4403293" y="1298448"/>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61776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731155"/>
            <a:ext cx="340156" cy="340156"/>
          </a:xfrm>
          <a:prstGeom prst="rect">
            <a:avLst/>
          </a:prstGeom>
        </p:spPr>
      </p:pic>
      <p:sp>
        <p:nvSpPr>
          <p:cNvPr id="15" name="TextBox 14"/>
          <p:cNvSpPr txBox="1"/>
          <p:nvPr/>
        </p:nvSpPr>
        <p:spPr>
          <a:xfrm>
            <a:off x="5354269" y="1371600"/>
            <a:ext cx="2592781" cy="1059267"/>
          </a:xfrm>
          <a:prstGeom prst="rect">
            <a:avLst/>
          </a:prstGeom>
          <a:noFill/>
        </p:spPr>
        <p:txBody>
          <a:bodyPr wrap="square" anchor="ctr" lIns="0" tIns="0" rIns="0" bIns="0">
            <a:spAutoFit/>
          </a:bodyPr>
          <a:lstStyle/>
          <a:p>
            <a:pPr algn="l"/>
            <a:r>
              <a:rPr sz="1380" b="1">
                <a:solidFill>
                  <a:srgbClr val="485174"/>
                </a:solidFill>
                <a:latin typeface="Bebas Neue"/>
              </a:rPr>
              <a:t>HIERARCHICAL SYNSET RELATIONS</a:t>
            </a:r>
          </a:p>
          <a:p>
            <a:pPr algn="l">
              <a:spcBef>
                <a:spcPts val="500"/>
              </a:spcBef>
            </a:pPr>
            <a:r>
              <a:rPr sz="1150" b="0">
                <a:solidFill>
                  <a:srgbClr val="111111"/>
                </a:solidFill>
                <a:latin typeface="Inter"/>
              </a:rPr>
              <a:t>NOUNS: Hypernym/hyponym (between concepts) The more general ‘meal’ is a hypernym of</a:t>
            </a:r>
          </a:p>
        </p:txBody>
      </p:sp>
      <p:sp>
        <p:nvSpPr>
          <p:cNvPr id="16" name="Rounded Rectangle 15"/>
          <p:cNvSpPr/>
          <p:nvPr/>
        </p:nvSpPr>
        <p:spPr>
          <a:xfrm>
            <a:off x="457200" y="270518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2450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37895"/>
            <a:ext cx="340156" cy="340156"/>
          </a:xfrm>
          <a:prstGeom prst="rect">
            <a:avLst/>
          </a:prstGeom>
        </p:spPr>
      </p:pic>
      <p:sp>
        <p:nvSpPr>
          <p:cNvPr id="19" name="TextBox 18"/>
          <p:cNvSpPr txBox="1"/>
          <p:nvPr/>
        </p:nvSpPr>
        <p:spPr>
          <a:xfrm>
            <a:off x="1408175" y="2778339"/>
            <a:ext cx="2592781" cy="1059267"/>
          </a:xfrm>
          <a:prstGeom prst="rect">
            <a:avLst/>
          </a:prstGeom>
          <a:noFill/>
        </p:spPr>
        <p:txBody>
          <a:bodyPr wrap="square" anchor="ctr" lIns="0" tIns="0" rIns="0" bIns="0">
            <a:spAutoFit/>
          </a:bodyPr>
          <a:lstStyle/>
          <a:p>
            <a:pPr algn="l"/>
            <a:r>
              <a:rPr sz="1510" b="1">
                <a:solidFill>
                  <a:srgbClr val="485174"/>
                </a:solidFill>
                <a:latin typeface="Bebas Neue"/>
              </a:rPr>
              <a:t>SEMCOR</a:t>
            </a:r>
          </a:p>
          <a:p>
            <a:pPr algn="l">
              <a:spcBef>
                <a:spcPts val="500"/>
              </a:spcBef>
            </a:pPr>
            <a:r>
              <a:rPr sz="1260" b="0">
                <a:solidFill>
                  <a:srgbClr val="111111"/>
                </a:solidFill>
                <a:latin typeface="Inter"/>
              </a:rPr>
              <a:t>wf pos=PRP&gt;He&lt;/wf&gt;</a:t>
            </a:r>
          </a:p>
        </p:txBody>
      </p:sp>
      <p:sp>
        <p:nvSpPr>
          <p:cNvPr id="20" name="Rounded Rectangle 19"/>
          <p:cNvSpPr/>
          <p:nvPr/>
        </p:nvSpPr>
        <p:spPr>
          <a:xfrm>
            <a:off x="4403293" y="270518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302450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137895"/>
            <a:ext cx="340156" cy="340156"/>
          </a:xfrm>
          <a:prstGeom prst="rect">
            <a:avLst/>
          </a:prstGeom>
        </p:spPr>
      </p:pic>
      <p:sp>
        <p:nvSpPr>
          <p:cNvPr id="23" name="TextBox 22"/>
          <p:cNvSpPr txBox="1"/>
          <p:nvPr/>
        </p:nvSpPr>
        <p:spPr>
          <a:xfrm>
            <a:off x="5354269" y="2778339"/>
            <a:ext cx="2592781" cy="1059267"/>
          </a:xfrm>
          <a:prstGeom prst="rect">
            <a:avLst/>
          </a:prstGeom>
          <a:noFill/>
        </p:spPr>
        <p:txBody>
          <a:bodyPr wrap="square" anchor="ctr" lIns="0" tIns="0" rIns="0" bIns="0">
            <a:spAutoFit/>
          </a:bodyPr>
          <a:lstStyle/>
          <a:p>
            <a:pPr algn="l"/>
            <a:r>
              <a:rPr sz="1510" b="1">
                <a:solidFill>
                  <a:srgbClr val="485174"/>
                </a:solidFill>
                <a:latin typeface="Bebas Neue"/>
              </a:rPr>
              <a:t>MACHINE LEARNING</a:t>
            </a:r>
          </a:p>
          <a:p>
            <a:pPr algn="l">
              <a:spcBef>
                <a:spcPts val="500"/>
              </a:spcBef>
            </a:pPr>
            <a:r>
              <a:rPr sz="1260" b="0">
                <a:solidFill>
                  <a:srgbClr val="111111"/>
                </a:solidFill>
                <a:latin typeface="Inter"/>
              </a:rPr>
              <a:t>METHODS: SUPERVISED</a:t>
            </a:r>
          </a:p>
        </p:txBody>
      </p:sp>
      <p:sp>
        <p:nvSpPr>
          <p:cNvPr id="24" name="Rounded Rectangle 23"/>
          <p:cNvSpPr/>
          <p:nvPr/>
        </p:nvSpPr>
        <p:spPr>
          <a:xfrm>
            <a:off x="457200" y="411192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3124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44635"/>
            <a:ext cx="340156" cy="340156"/>
          </a:xfrm>
          <a:prstGeom prst="rect">
            <a:avLst/>
          </a:prstGeom>
        </p:spPr>
      </p:pic>
      <p:sp>
        <p:nvSpPr>
          <p:cNvPr id="27" name="TextBox 26"/>
          <p:cNvSpPr txBox="1"/>
          <p:nvPr/>
        </p:nvSpPr>
        <p:spPr>
          <a:xfrm>
            <a:off x="1408175" y="4185079"/>
            <a:ext cx="2592781" cy="1059267"/>
          </a:xfrm>
          <a:prstGeom prst="rect">
            <a:avLst/>
          </a:prstGeom>
          <a:noFill/>
        </p:spPr>
        <p:txBody>
          <a:bodyPr wrap="square" anchor="ctr" lIns="0" tIns="0" rIns="0" bIns="0">
            <a:spAutoFit/>
          </a:bodyPr>
          <a:lstStyle/>
          <a:p>
            <a:pPr algn="l"/>
            <a:r>
              <a:rPr sz="1510" b="1">
                <a:solidFill>
                  <a:srgbClr val="485174"/>
                </a:solidFill>
                <a:latin typeface="Bebas Neue"/>
              </a:rPr>
              <a:t>The Lesk algorithm</a:t>
            </a:r>
          </a:p>
          <a:p>
            <a:pPr algn="l">
              <a:spcBef>
                <a:spcPts val="500"/>
              </a:spcBef>
            </a:pPr>
            <a:r>
              <a:rPr sz="1260" b="0">
                <a:solidFill>
                  <a:srgbClr val="111111"/>
                </a:solidFill>
                <a:latin typeface="Inter"/>
              </a:rPr>
              <a:t>Basic idea: Compare the context with the dictionary definition of the sense</a:t>
            </a:r>
          </a:p>
        </p:txBody>
      </p:sp>
      <p:sp>
        <p:nvSpPr>
          <p:cNvPr id="28" name="Rounded Rectangle 27"/>
          <p:cNvSpPr/>
          <p:nvPr/>
        </p:nvSpPr>
        <p:spPr>
          <a:xfrm>
            <a:off x="4403293" y="4111927"/>
            <a:ext cx="3744925" cy="1205571"/>
          </a:xfrm>
          <a:prstGeom prst="roundRect">
            <a:avLst>
              <a:gd name="adj" fmla="val 11680"/>
            </a:avLst>
          </a:prstGeom>
          <a:solidFill>
            <a:srgbClr val="F5F6F8"/>
          </a:solidFill>
          <a:ln w="12700">
            <a:solidFill>
              <a:srgbClr val="CB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04461" y="4431249"/>
            <a:ext cx="566928" cy="566928"/>
          </a:xfrm>
          <a:prstGeom prst="ellipse">
            <a:avLst/>
          </a:prstGeom>
          <a:solidFill>
            <a:srgbClr val="E5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17846" y="4544635"/>
            <a:ext cx="340156" cy="340156"/>
          </a:xfrm>
          <a:prstGeom prst="rect">
            <a:avLst/>
          </a:prstGeom>
        </p:spPr>
      </p:pic>
      <p:sp>
        <p:nvSpPr>
          <p:cNvPr id="31" name="TextBox 30"/>
          <p:cNvSpPr txBox="1"/>
          <p:nvPr/>
        </p:nvSpPr>
        <p:spPr>
          <a:xfrm>
            <a:off x="5354269" y="4185079"/>
            <a:ext cx="2592781" cy="1059267"/>
          </a:xfrm>
          <a:prstGeom prst="rect">
            <a:avLst/>
          </a:prstGeom>
          <a:noFill/>
        </p:spPr>
        <p:txBody>
          <a:bodyPr wrap="square" anchor="ctr" lIns="0" tIns="0" rIns="0" bIns="0">
            <a:spAutoFit/>
          </a:bodyPr>
          <a:lstStyle/>
          <a:p>
            <a:pPr algn="l"/>
            <a:r>
              <a:rPr sz="1510" b="1">
                <a:solidFill>
                  <a:srgbClr val="485174"/>
                </a:solidFill>
                <a:latin typeface="Bebas Neue"/>
              </a:rPr>
              <a:t>ALGORITHM</a:t>
            </a:r>
          </a:p>
          <a:p>
            <a:pPr algn="l">
              <a:spcBef>
                <a:spcPts val="500"/>
              </a:spcBef>
            </a:pPr>
            <a:r>
              <a:rPr sz="1260" b="0">
                <a:solidFill>
                  <a:srgbClr val="111111"/>
                </a:solidFill>
                <a:latin typeface="Inter"/>
              </a:rPr>
              <a:t>SEMI-SUPERVISED:YAROWSKY</a:t>
            </a:r>
          </a:p>
        </p:txBody>
      </p:sp>
      <p:sp>
        <p:nvSpPr>
          <p:cNvPr id="32" name="Rounded Rectangle 31"/>
          <p:cNvSpPr/>
          <p:nvPr/>
        </p:nvSpPr>
        <p:spPr>
          <a:xfrm>
            <a:off x="457200" y="5518667"/>
            <a:ext cx="7691018" cy="882132"/>
          </a:xfrm>
          <a:prstGeom prst="roundRect">
            <a:avLst>
              <a:gd name="adj" fmla="val 8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518667"/>
            <a:ext cx="73152" cy="882132"/>
          </a:xfrm>
          <a:prstGeom prst="rect">
            <a:avLst/>
          </a:prstGeom>
          <a:solidFill>
            <a:srgbClr val="CC7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5591819"/>
            <a:ext cx="7295997" cy="735828"/>
          </a:xfrm>
          <a:prstGeom prst="rect">
            <a:avLst/>
          </a:prstGeom>
          <a:noFill/>
        </p:spPr>
        <p:txBody>
          <a:bodyPr wrap="square" anchor="ctr" lIns="0" tIns="0" rIns="0" bIns="0">
            <a:spAutoFit/>
          </a:bodyPr>
          <a:lstStyle/>
          <a:p>
            <a:pPr algn="l"/>
            <a:r>
              <a:rPr sz="1010" b="1">
                <a:solidFill>
                  <a:srgbClr val="CC7B70"/>
                </a:solidFill>
                <a:latin typeface="Bebas Neue"/>
              </a:rPr>
              <a:t>ALSO ON THIS SLIDE</a:t>
            </a:r>
          </a:p>
          <a:p>
            <a:pPr algn="l">
              <a:spcBef>
                <a:spcPts val="300"/>
              </a:spcBef>
            </a:pPr>
            <a:r>
              <a:rPr sz="1400" b="0">
                <a:solidFill>
                  <a:srgbClr val="111111"/>
                </a:solidFill>
                <a:latin typeface="Inter"/>
              </a:rPr>
              <a:t>Homonymy (2/2): S: S: (n) position, place (the particular portion of space occupied by something) "he put the lamp back in its place"…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50"/>
                                        <p:tgtEl>
                                          <p:spTgt spid="33"/>
                                        </p:tgtEl>
                                      </p:cBhvr>
                                    </p:animEffect>
                                  </p:childTnLst>
                                </p:cTn>
                              </p:par>
                              <p:par>
                                <p:cTn id="93" presetID="10" presetClass="entr" presetSubtype="0" fill="hold"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485174"/>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D18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757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FFFF"/>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