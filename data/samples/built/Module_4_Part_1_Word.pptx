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spPr>
            <a:solidFill>
              <a:srgbClr val="1C7C73"/>
            </a:solidFill>
          </c:spPr>
          <c:cat>
            <c:strRef>
              <c:f>Sheet1!$A$2:$A$5</c:f>
              <c:strCache>
                <c:ptCount val="4"/>
                <c:pt idx="0">
                  <c:v>Book</c:v>
                </c:pt>
                <c:pt idx="1">
                  <c:v>flight</c:v>
                </c:pt>
                <c:pt idx="2">
                  <c:v>serve</c:v>
                </c:pt>
                <c:pt idx="3">
                  <c:v>dinner</c:v>
                </c:pt>
              </c:strCache>
            </c:strRef>
          </c:cat>
          <c:val>
            <c:numRef>
              <c:f>Sheet1!$B$2:$B$5</c:f>
              <c:numCache>
                <c:formatCode>General</c:formatCode>
                <c:ptCount val="4"/>
                <c:pt idx="0">
                  <c:v>1.0</c:v>
                </c:pt>
                <c:pt idx="1">
                  <c:v>1.0</c:v>
                </c:pt>
                <c:pt idx="2">
                  <c:v>1.0</c:v>
                </c:pt>
                <c:pt idx="3">
                  <c:v>1.0</c:v>
                </c:pt>
              </c:numCache>
            </c:numRef>
          </c:val>
        </c:ser>
        <c:dLbls>
          <c:txPr>
            <a:bodyPr/>
            <a:lstStyle/>
            <a:p>
              <a:pPr>
                <a:defRPr sz="1400" b="1"/>
              </a:pPr>
            </a:p>
          </c:txPr>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txPr>
          <a:bodyPr/>
          <a:lstStyle/>
          <a:p>
            <a:pPr>
              <a:defRPr sz="1400"/>
            </a:pPr>
          </a:p>
        </c:txPr>
        <c:crossAx val="-2113994440"/>
        <c:crosses val="autoZero"/>
        <c:auto val="1"/>
        <c:lblAlgn val="ctr"/>
        <c:lblOffset val="100"/>
        <c:noMultiLvlLbl val="0"/>
      </c:catAx>
      <c:valAx>
        <c:axId val="-2113994440"/>
        <c:scaling/>
        <c:delete val="0"/>
        <c:axPos val="b"/>
        <c:majorGridlines>
          <c:spPr>
            <a:ln>
              <a:solidFill>
                <a:srgbClr val="DCEBEA"/>
              </a:solidFill>
            </a:ln>
          </c:spPr>
        </c:majorGridlines>
        <c:majorTickMark val="out"/>
        <c:minorTickMark val="none"/>
        <c:tickLblPos val="nextTo"/>
        <c:txPr>
          <a:bodyPr/>
          <a:lstStyle/>
          <a:p>
            <a:pPr>
              <a:defRPr sz="1300"/>
            </a:pPr>
          </a:p>
        </c:txPr>
        <c:crossAx val="-2068027336"/>
        <c:crosses val="autoZero"/>
      </c:valAx>
    </c:plotArea>
    <c:dispBlanksAs val="gap"/>
  </c:chart>
  <c:txPr>
    <a:bodyPr/>
    <a:lstStyle/>
    <a:p>
      <a:pPr>
        <a:defRPr sz="1400">
          <a:solidFill>
            <a:srgbClr val="111111"/>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Part-Of-Speech tagging (POS)</a:t>
            </a:r>
          </a:p>
          <a:p>
            <a:r>
              <a:t>  2. Tag set for English (Upenn Treebank)</a:t>
            </a:r>
          </a:p>
          <a:p>
            <a:r>
              <a:t>  3. Difficulties /Challenges in POS tagging</a:t>
            </a:r>
          </a:p>
          <a:p>
            <a:r>
              <a:t>  4. Rule-based, Stochastic and Transformation-based tagging</a:t>
            </a:r>
          </a:p>
          <a:p>
            <a:r>
              <a:t>  5. Generative Model: Hidden Markov Model</a:t>
            </a:r>
          </a:p>
          <a:p>
            <a:r>
              <a:t>  6. (HMM Viterbi) for POS tagging</a:t>
            </a:r>
          </a:p>
          <a:p>
            <a:r>
              <a:t>  7. Issues in HMM POS tagging</a:t>
            </a:r>
          </a:p>
          <a:p/>
          <a:p>
            <a:r>
              <a:t>Read these exactly (do not paraphrase):</a:t>
            </a:r>
          </a:p>
          <a:p>
            <a:r>
              <a:t>  - POS tagging uses rule-based, stochastic, and transformation-based methods Part-Of-Speech tagging (POS) Tag set for English (Upenn Treebank) Difficulties /Challenges in POS tagging Rule-based, Stochastic and Transformation-based tagging Generative Model: Hidden Markov Model (HMM Viterbi) for POS tagging Issues in HMM POS tagging Discriminative Model: Maximum Entropy model Conditional random Field (CRF), CYK.</a:t>
            </a:r>
          </a:p>
          <a:p/>
          <a:p>
            <a:r>
              <a:t>Say what these mean, in your own words:</a:t>
            </a:r>
          </a:p>
          <a:p>
            <a:r>
              <a:t>  - Hidden Markov Model: A statistical model that predicts hidden states, like POS tags, from observed data.</a:t>
            </a:r>
          </a:p>
          <a:p>
            <a:r>
              <a:t>  - Conditional Random Field: A discriminative model that estimates the probability of a sequence of tags given the input.</a:t>
            </a:r>
          </a:p>
          <a:p/>
          <a:p>
            <a:r>
              <a:t>Pause: ask the class what they already know about “POS tagging uses rule-based, stochastic, and transformation-based methods” before revealing the slide.</a:t>
            </a:r>
          </a:p>
          <a:p/>
          <a:p>
            <a:r>
              <a:t>~61s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Following are the Parts-of-Speech:</a:t>
            </a:r>
          </a:p>
          <a:p>
            <a:r>
              <a:t>  2. Nouns:</a:t>
            </a:r>
          </a:p>
          <a:p>
            <a:r>
              <a:t>  3. Proper Nouns – Ravi, IBM, India</a:t>
            </a:r>
          </a:p>
          <a:p>
            <a:r>
              <a:t>  4. Common Nouns – Child, Dog, House</a:t>
            </a:r>
          </a:p>
          <a:p>
            <a:r>
              <a:t>  5. Pronoun:</a:t>
            </a:r>
          </a:p>
          <a:p>
            <a:r>
              <a:t>  6. Verbs</a:t>
            </a:r>
          </a:p>
          <a:p>
            <a:r>
              <a:t>  7. Adverbs</a:t>
            </a:r>
          </a:p>
          <a:p/>
          <a:p>
            <a:r>
              <a:t>Say what these mean, in your own words:</a:t>
            </a:r>
          </a:p>
          <a:p>
            <a:r>
              <a:t>  - Interjection: A word expressing emotion, often followed by an exclamation mark.</a:t>
            </a:r>
          </a:p>
          <a:p/>
          <a:p>
            <a:r>
              <a:t>Pause: ask the class what they already know about “English parts-of-speech include nouns, verbs, adjectives, adverbs, and functional words”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 grammar, a part-of-speech (POS) is known as word class or grammatical category, which is a category of words that hav</a:t>
            </a:r>
          </a:p>
          <a:p>
            <a:r>
              <a:t>  2. The English language has four major word classes:</a:t>
            </a:r>
          </a:p>
          <a:p>
            <a:r>
              <a:t>  3. Nouns, Verbs, Adjectives, and Adverbs.</a:t>
            </a:r>
          </a:p>
          <a:p>
            <a:r>
              <a:t>  4. In grammar, a part-of-speech (POS) is also called a word class.</a:t>
            </a:r>
          </a:p>
          <a:p>
            <a:r>
              <a:t>  5. It groups words that behave similarly in sentences.</a:t>
            </a:r>
          </a:p>
          <a:p>
            <a:r>
              <a:t>  6. English has four major classes: nouns, verbs, adjectives, and adverbs.</a:t>
            </a:r>
          </a:p>
          <a:p>
            <a:r>
              <a:t>  7. Example: Both "run" and "jump" belong to the verb class because they describe actions.</a:t>
            </a:r>
          </a:p>
          <a:p/>
          <a:p>
            <a:r>
              <a:t>Read these exactly (do not paraphrase):</a:t>
            </a:r>
          </a:p>
          <a:p>
            <a:r>
              <a:t>  - A part-of-speech is a grammatical category grouping words with similar properties In grammar, a part-of-speech (POS) is known as word class or grammatical category, which is a category of words that have similar grammatical properties.</a:t>
            </a:r>
          </a:p>
          <a:p>
            <a:r>
              <a:t>  - In grammar, a part-of-speech (POS) is also called a word class.</a:t>
            </a:r>
          </a:p>
          <a:p/>
          <a:p>
            <a:r>
              <a:t>Say what these mean, in your own words:</a:t>
            </a:r>
          </a:p>
          <a:p>
            <a:r>
              <a:t>  - pos: Part-Of-Speech tagging</a:t>
            </a:r>
          </a:p>
          <a:p>
            <a:r>
              <a:t>  - Word class: A category of words sharing grammatical functions, such as nouns or verbs.</a:t>
            </a:r>
          </a:p>
          <a:p/>
          <a:p>
            <a:r>
              <a:t>Pause: ask the class what they already know about “A part-of-speech is a grammatical category grouping words with similar properties” before revealing the slide.</a:t>
            </a:r>
          </a:p>
          <a:p/>
          <a:p>
            <a:r>
              <a:t>~61s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Parts-of-speech can be divided into two broad supercategories:</a:t>
            </a:r>
          </a:p>
          <a:p>
            <a:r>
              <a:t>  2. Closed class types</a:t>
            </a:r>
          </a:p>
          <a:p>
            <a:r>
              <a:t>  3. Closed classes are those with a relatively fixed/number of words, and we rarely add new words to these POS, such as prep</a:t>
            </a:r>
          </a:p>
          <a:p>
            <a:r>
              <a:t>  4. Closed class words are generally functional words like of, it, and, or you, which tend to be very short, occur frequentl</a:t>
            </a:r>
          </a:p>
          <a:p>
            <a:r>
              <a:t>  5. Example of closed class-</a:t>
            </a:r>
          </a:p>
          <a:p>
            <a:r>
              <a:t>  6. Determiners: a, an, the</a:t>
            </a:r>
          </a:p>
          <a:p>
            <a:r>
              <a:t>  7. Pronouns: she, he, I, others</a:t>
            </a:r>
          </a:p>
          <a:p/>
          <a:p>
            <a:r>
              <a:t>Say what these mean, in your own words:</a:t>
            </a:r>
          </a:p>
          <a:p>
            <a:r>
              <a:t>  - Closed class: A POS group with a limited, stable set of words, like prepositions.</a:t>
            </a:r>
          </a:p>
          <a:p/>
          <a:p>
            <a:r>
              <a:t>Pause: ask the class what they already know about “Closed-class parts-of-speech are functional words with a fixed vocabulary”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Parts-of-speech can be divided into two broad supercategories:</a:t>
            </a:r>
          </a:p>
          <a:p>
            <a:r>
              <a:t>  2. Open class types</a:t>
            </a:r>
          </a:p>
          <a:p>
            <a:r>
              <a:t>  3. Open Classes are mostly content-bearing, i.e., they refer to objects, actions, and features; it's called open classes si</a:t>
            </a:r>
          </a:p>
          <a:p>
            <a:r>
              <a:t>  4. By contrast, nouns and verbs, adjectives, and adverbs belong to open classes; new nouns and verbs like iPhone or to fax </a:t>
            </a:r>
          </a:p>
          <a:p>
            <a:r>
              <a:t>  5. Example of open class-</a:t>
            </a:r>
          </a:p>
          <a:p>
            <a:r>
              <a:t>  6. Nouns: computer, board, peace, school</a:t>
            </a:r>
          </a:p>
          <a:p>
            <a:r>
              <a:t>  7. Verbs: say, walk, run, belong</a:t>
            </a:r>
          </a:p>
          <a:p/>
          <a:p>
            <a:r>
              <a:t>Read these exactly (do not paraphrase):</a:t>
            </a:r>
          </a:p>
          <a:p>
            <a:r>
              <a:t>  - Open-class parts-of-speech are content words that expand over time Parts-of-speech can be divided into two broad supercategories: Open class types Open Classes are mostly content-bearing, i.e., they refer to objects, actions, and features; it's called open classes since new words are added all the time.</a:t>
            </a:r>
          </a:p>
          <a:p>
            <a:r>
              <a:t>  - By contrast, nouns and verbs, adjectives, and adverbs belong to open classes; new nouns and verbs like iPhone or to fax are continually being created or borrowed.</a:t>
            </a:r>
          </a:p>
          <a:p/>
          <a:p>
            <a:r>
              <a:t>Say what these mean, in your own words:</a:t>
            </a:r>
          </a:p>
          <a:p>
            <a:r>
              <a:t>  - Open class: A POS group that regularly gains new words, such as nouns and verbs.</a:t>
            </a:r>
          </a:p>
          <a:p/>
          <a:p>
            <a:r>
              <a:t>Pause: ask the class what they already know about “Open-class parts-of-speech are content words that expand over time”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Part-Of-Speech tagging (POS) (5/8)</a:t>
            </a:r>
          </a:p>
          <a:p/>
          <a:p>
            <a:r>
              <a:t>Full detail (from the source):</a:t>
            </a:r>
          </a:p>
          <a:p>
            <a:r>
              <a:t>  - Part-of-Speech (POS) tagging is a natural language processing technique that involves assigning specific grammatical categories or labels (such as nouns, verbs, adjectives, adverbs, pronouns, etc.) to individual words within a sentence.</a:t>
            </a:r>
          </a:p>
          <a:p>
            <a:r>
              <a:t>  - Example: “Our dog chased a brown cat away from the home” [TABLE DATA] | Word | POS Category | | --- | --- | | Our | Pronoun | | Dog, cat, home | Noun | | A, the | Determiners | | Brown | Adjective | | Away | Adverb | | From | Preposition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Part-Of-Speech tagging (POS) (6/8)</a:t>
            </a:r>
          </a:p>
          <a:p/>
          <a:p>
            <a:r>
              <a:t>Full detail (from the source):</a:t>
            </a:r>
          </a:p>
          <a:p>
            <a:r>
              <a:t>  - Part-of-Speech (POS) tagging problem is defined as a problem to identify the actual category for each of the word.</a:t>
            </a:r>
          </a:p>
          <a:p>
            <a:r>
              <a:t>  - Given a text in english, identify the parts of speech of each word in the sentence - “The boy put the toys in the bag” [TABLE DATA] | POS Category | Word | | --- | --- | | Noun (N) | Boy, toys, bag | | Determiners (Det) | the | | Verb (V) | put | | Preposition (P) | in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tagging requires tokenization to separate punctuation from words Part-of-speech tagging (or just tagging for short) is the process of assigning a part-of-speech or other syntactic class marker to each word in a corpus.</a:t>
            </a:r>
          </a:p>
          <a:p>
            <a:r>
              <a:t>  - Because tags are generally also applied to punctuation, tagging requires that the punctuation marks (period, comma, etc) be separated off of the words.</a:t>
            </a:r>
          </a:p>
          <a:p/>
          <a:p>
            <a:r>
              <a:t>Say what these mean, in your own words:</a:t>
            </a:r>
          </a:p>
          <a:p>
            <a:r>
              <a:t>  - Tokenization: The process of splitting text into words and punctuation marks.</a:t>
            </a:r>
          </a:p>
          <a:p/>
          <a:p>
            <a:r>
              <a:t>Pause: ask the class what they already know about “POS tagging requires tokenization to separate punctuation from words” before revealing the slide.</a:t>
            </a:r>
          </a:p>
          <a:p/>
          <a:p>
            <a:r>
              <a:t>Wording matters here — slow down, keep it precise.</a:t>
            </a:r>
          </a:p>
          <a:p/>
          <a:p>
            <a:r>
              <a:t>~19s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input to tagging algorithm is a string of words and a specific tagset. The output is a single best tag for each word</a:t>
            </a:r>
          </a:p>
          <a:p>
            <a:r>
              <a:t>  2. Example:</a:t>
            </a:r>
          </a:p>
          <a:p>
            <a:r>
              <a:t>  3. Book/VB that/DT flight/NN</a:t>
            </a:r>
          </a:p>
          <a:p>
            <a:r>
              <a:t>  4. Does/VBZ that/DT flight/NN serve/VB dinner/NN?/.</a:t>
            </a:r>
          </a:p>
          <a:p>
            <a:r>
              <a:t>  5. The input is a sequence of words and a predefined tagset.</a:t>
            </a:r>
          </a:p>
          <a:p>
            <a:r>
              <a:t>  6. The algorithm assigns one tag per word, producing a labeled sentence such as Book/VB that/DT flight/NN.</a:t>
            </a:r>
          </a:p>
          <a:p>
            <a:r>
              <a:t>  7. Example: Input: "Book that flight" → Output: Book/VB that/DT flight/NN.</a:t>
            </a:r>
          </a:p>
          <a:p/>
          <a:p>
            <a:r>
              <a:t>Read these exactly (do not paraphrase):</a:t>
            </a:r>
          </a:p>
          <a:p>
            <a:r>
              <a:t>  - Example: Input: "Book that flight" → Output: Book/VB that/DT flight/NN.</a:t>
            </a:r>
          </a:p>
          <a:p/>
          <a:p>
            <a:r>
              <a:t>Say what these mean, in your own words:</a:t>
            </a:r>
          </a:p>
          <a:p>
            <a:r>
              <a:t>  - Tagset: A predefined list of possible part-of-speech tags.</a:t>
            </a:r>
          </a:p>
          <a:p/>
          <a:p>
            <a:r>
              <a:t>Pause: ask the class what they already know about “A tagging algorithm outputs the best tag for each word in a string”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Tagging decisions are difficult to make.</a:t>
            </a:r>
          </a:p>
          <a:p>
            <a:r>
              <a:t>  2. Automatically assigning tags to the words is not trivial</a:t>
            </a:r>
          </a:p>
          <a:p>
            <a:r>
              <a:t>  3. For example, book is ambiguous</a:t>
            </a:r>
          </a:p>
          <a:p>
            <a:r>
              <a:t>  4. That is, it has more than one possible usage and part-of-speech.</a:t>
            </a:r>
          </a:p>
          <a:p>
            <a:r>
              <a:t>  5. It can be a verb (as in book that flight or to book the suspect) or a noun (as in hand me that book, or a book of matche</a:t>
            </a:r>
          </a:p>
          <a:p>
            <a:r>
              <a:t>  6. Similarly that can be a determiner (as in Does that flight serve dinner), or a complementizer (as in I thought that your</a:t>
            </a:r>
          </a:p>
          <a:p>
            <a:r>
              <a:t>  7. The problem of POS-tagging is to resolve these ambiguities, choosing the proper tag for the context.</a:t>
            </a:r>
          </a:p>
          <a:p/>
          <a:p>
            <a:r>
              <a:t>Read these exactly (do not paraphrase):</a:t>
            </a:r>
          </a:p>
          <a:p>
            <a:r>
              <a:t>  - It can be a verb (as in book that flight or to book the suspect) or a noun (as in hand me that book, or a book of matches).</a:t>
            </a:r>
          </a:p>
          <a:p>
            <a:r>
              <a:t>  - Similarly that can be a determiner (as in Does that flight serve dinner), or a complementizer (as in I thought that your flight was earlier).</a:t>
            </a:r>
          </a:p>
          <a:p/>
          <a:p>
            <a:r>
              <a:t>Say what these mean, in your own words:</a:t>
            </a:r>
          </a:p>
          <a:p>
            <a:r>
              <a:t>  - Ambiguity: A word having multiple possible part-of-speech tags.</a:t>
            </a:r>
          </a:p>
          <a:p/>
          <a:p>
            <a:r>
              <a:t>Pause: ask the class what they already know about “POS tagging must resolve word ambiguities using context”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Most words in English are unambiguous; i.e., they have only a single tag.</a:t>
            </a:r>
          </a:p>
          <a:p>
            <a:r>
              <a:t>  2. But many of the most common words of English are ambiguous</a:t>
            </a:r>
          </a:p>
          <a:p>
            <a:r>
              <a:t>  3. For example ‘can’ can be an auxiliary (‘to be able’),</a:t>
            </a:r>
          </a:p>
          <a:p>
            <a:r>
              <a:t>  4. A noun (‘a metal container’), or</a:t>
            </a:r>
          </a:p>
          <a:p>
            <a:r>
              <a:t>  5. A verb (‘to put something in such a metal container’)).</a:t>
            </a:r>
          </a:p>
          <a:p/>
          <a:p>
            <a:r>
              <a:t>Read these exactly (do not paraphrase):</a:t>
            </a:r>
          </a:p>
          <a:p>
            <a:r>
              <a:t>  - Many common English words are ambiguous and need contextual disambiguation Most words in English are unambiguous; i.e., they have only a single tag.</a:t>
            </a:r>
          </a:p>
          <a:p>
            <a:r>
              <a:t>  - But many of the most common words of English are ambiguous For example ‘can’ can be an auxiliary (‘to be able’), A noun (‘a metal container’), or A verb (‘to put something in such a metal container’)).</a:t>
            </a:r>
          </a:p>
          <a:p/>
          <a:p>
            <a:r>
              <a:t>Say what these mean, in your own words:</a:t>
            </a:r>
          </a:p>
          <a:p>
            <a:r>
              <a:t>  - Auxiliary: A helping verb that modifies the main verb, such as "can" in "can swim".</a:t>
            </a:r>
          </a:p>
          <a:p/>
          <a:p>
            <a:r>
              <a:t>Pause: ask the class what they already know about “Many common English words are ambiguous and need contextual disambiguation”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Difficulties /Challenges in POS tagging (continued)</a:t>
            </a:r>
          </a:p>
          <a:p/>
          <a:p>
            <a:r>
              <a:t>Pause: ask the class what they already know about “Difficulties /Challenges in POS tagging (continued)” before revealing the slide.</a:t>
            </a:r>
          </a:p>
          <a:p/>
          <a:p>
            <a:r>
              <a:t>Wording matters here — slow down, keep it precise.</a:t>
            </a:r>
          </a:p>
          <a:p/>
          <a:p>
            <a:r>
              <a:t>~19s</a:t>
            </a:r>
          </a:p>
          <a:p>
            <a:r>
              <a:t>Text in the figure: ee Original Treebank Unambiguous (1 tag)} 44,019 38,857 4,967 6,731 411 1621 91 357 17 90 2 (well, beat) 32 2 (still, down) 6 (well, set, round, open, fit, down) 4 (’s, half, back, a) 3 (that, more, in) Figure 5.10 The amount of tag ambiguity for word types in the Brown corpus, from the ICAME release of the original (87-tag) tagging and the Treebank-3 (45-tag) tagging. Numbers are not strictly comparable because only the Treebank segments An earlier estimate of some of these numbers is reported in DeRose (1988).</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There are small number of popular tagsets for English, many of which evolved from the 87-tag tagset used for the Brown c</a:t>
            </a:r>
          </a:p>
          <a:p>
            <a:r>
              <a:t>  2. Brown Corpus is a 1 million word collection of samples from 500 written texts from different genres which was assembled </a:t>
            </a:r>
          </a:p>
          <a:p>
            <a:r>
              <a:t>  3. This corpus was tagged with parts-of-speech by first applying the TAGGIT program and then hand-correcting the tags. → Br</a:t>
            </a:r>
          </a:p>
          <a:p>
            <a:r>
              <a:t>  4. Besides this original Brown tagset, two of the most commonly used tagsets are:</a:t>
            </a:r>
          </a:p>
          <a:p>
            <a:r>
              <a:t>  5. The small 45-tag Penn Treebank tagset (Marcus et al., 1993),</a:t>
            </a:r>
          </a:p>
          <a:p>
            <a:r>
              <a:t>  6. The medium-sized 61 tag C5 tagset used by the Lancaster UCREL project’s CLAWS (the Constituent Likelihood Automatic Word</a:t>
            </a:r>
          </a:p>
          <a:p/>
          <a:p>
            <a:r>
              <a:t>Read these exactly (do not paraphrase):</a:t>
            </a:r>
          </a:p>
          <a:p>
            <a:r>
              <a:t>  - English tagsets evolved from the 87-tag Brown corpus to the 45-tag Penn Treebank There are small number of popular tagsets for English, many of which evolved from the 87-tag tagset used for the Brown corpus Brown Corpus is a 1 million word collection of samples from 500 written texts from different genres which was assembled at Brown University in 1963-64.</a:t>
            </a:r>
          </a:p>
          <a:p>
            <a:r>
              <a:t>  - → Brown Corpus Tagset Besides this original Brown tagset, two of the most commonly used tagsets are: The small 45-tag Penn Treebank tagset (Marcus et al., 1993), The medium-sized 61 tag C5 tagset used by the Lancaster UCREL project’s CLAWS (the Constituent Likelihood Automatic Word-tagging System) tagger to tag the British National Corpus</a:t>
            </a:r>
          </a:p>
          <a:p/>
          <a:p>
            <a:r>
              <a:t>Say what these mean, in your own words:</a:t>
            </a:r>
          </a:p>
          <a:p>
            <a:r>
              <a:t>  - Taggit: first large rule-based tagger that used context-pattern rules</a:t>
            </a:r>
          </a:p>
          <a:p>
            <a:r>
              <a:t>  - Brown Corpus: A 1-million-word collection of diverse texts used for early POS tagging.</a:t>
            </a:r>
          </a:p>
          <a:p/>
          <a:p>
            <a:r>
              <a:t>Pause: ask the class what they already know about “English tagsets evolved from the 87-tag Brown corpus to the 45-tag Penn Treebank” before revealing the slide.</a:t>
            </a:r>
          </a:p>
          <a:p/>
          <a:p>
            <a:r>
              <a:t>Wording matters here — slow down, keep it precise.</a:t>
            </a:r>
          </a:p>
          <a:p/>
          <a:p>
            <a:r>
              <a:t>~54s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these mean, in your own words:</a:t>
            </a:r>
          </a:p>
          <a:p>
            <a:r>
              <a:t>  - Tag: A label indicating a word's grammatical category</a:t>
            </a:r>
          </a:p>
          <a:p>
            <a:r>
              <a:t>  - POS: Part-of-speech, the grammatical function of a word</a:t>
            </a:r>
          </a:p>
          <a:p/>
          <a:p>
            <a:r>
              <a:t>Pause: ask the class what they already know about “Tag Description Example lists part-of-speech tags with sample words”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Adj., comparative bigger Verb, non-3sg pres</a:t>
            </a:r>
          </a:p>
          <a:p>
            <a:r>
              <a:t>  2. JIS Adj., superlative wildest Verb, 3sg pres eats LS List item marker 1, 2, One Wh-determiner which, that MD Modal can, </a:t>
            </a:r>
          </a:p>
          <a:p>
            <a:r>
              <a:t>  3. Noun, plural llamas Wh-adverb how, where</a:t>
            </a:r>
          </a:p>
          <a:p>
            <a:r>
              <a:t>  4. NNP Proper noun, singular Dollar sign $ NNPS Proper noun, plural Carolinas Pound sign # PDT all, both Left quote * or “ </a:t>
            </a:r>
          </a:p>
          <a:p>
            <a:r>
              <a:t>  5. Adverb, comparative _faster; Sentence-final punc.!?</a:t>
            </a:r>
          </a:p>
          <a:p>
            <a:r>
              <a:t>  6. superlative —_fastest Mid-sentence —-</a:t>
            </a:r>
          </a:p>
          <a:p>
            <a:r>
              <a:t>  7. RP Particle up, off Figure 5.6 Penn Treebank part-of-speech tags (including punctuation).</a:t>
            </a:r>
          </a:p>
          <a:p/>
          <a:p>
            <a:r>
              <a:t>Read these exactly (do not paraphrase):</a:t>
            </a:r>
          </a:p>
          <a:p>
            <a:r>
              <a:t>  - or mass llama Possessive wh- whose Noun, plural llamas Wh-adverb how, where NNP Proper noun, singular Dollar sign $ NNPS Proper noun, plural Carolinas Pound sign # PDT all, both Left quote * or “ POS Possessive ending Right quote or” PRP Personal pronoun I, you, he Left parenthesis PRP$ _ Possessive pronoun your, one’s Right parenthesis RB Adverb quickly, never Comma 5 Adverb, comparative _faster; Sentence-final punc.!?</a:t>
            </a:r>
          </a:p>
          <a:p>
            <a:r>
              <a:t>  - superlative —_fastest Mid-sentence —- RP Particle up, off Figure 5.6 Penn Treebank part-of-speech tags (including punctuation).</a:t>
            </a:r>
          </a:p>
          <a:p/>
          <a:p>
            <a:r>
              <a:t>Say what these mean, in your own words:</a:t>
            </a:r>
          </a:p>
          <a:p>
            <a:r>
              <a:t>  - Adj.: Abbreviation for adjective, a word describing a noun</a:t>
            </a:r>
          </a:p>
          <a:p>
            <a:r>
              <a:t>  - JIS: Abbreviation for superlative adjective, the highest degree</a:t>
            </a:r>
          </a:p>
          <a:p/>
          <a:p>
            <a:r>
              <a:t>Pause: ask the class what they already know about “Adj slide presents comparative, superlative, and other adjective forms”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“Tag set for English: Noun Types” before revealing the slide.</a:t>
            </a:r>
          </a:p>
          <a:p/>
          <a:p>
            <a:r>
              <a:t>~19s</a:t>
            </a:r>
          </a:p>
          <a:p>
            <a:r>
              <a:t>Text in the figure: NN Singular Common Noun Woman, Orange, Table</a:t>
            </a:r>
          </a:p>
          <a:p>
            <a:r>
              <a:t>NNS Plural Common Noun Women, Oranges, Tables</a:t>
            </a:r>
          </a:p>
          <a:p>
            <a:r>
              <a:t>NNP Singular Proper Noun Priya, Zenith, Jack</a:t>
            </a:r>
          </a:p>
          <a:p/>
          <a:p>
            <a:r>
              <a:t>NNPS Plural Proper Noun Indians, Americas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VB Base form of a Verb walk, play, eat, read</a:t>
            </a:r>
          </a:p>
          <a:p>
            <a:r>
              <a:t>  2. VBD Past Tense of a Verb Walked, played, ate, read</a:t>
            </a:r>
          </a:p>
          <a:p>
            <a:r>
              <a:t>  3. VBN Past Participle of a Verb Walked, played, eaten, read</a:t>
            </a:r>
          </a:p>
          <a:p>
            <a:r>
              <a:t>  4. VBG Gerund form of a Verb fishing, walking, reading</a:t>
            </a:r>
          </a:p>
          <a:p>
            <a:r>
              <a:t>  5. VBZ 3'4 person verb on present tense Walks, plays, eats, read, is</a:t>
            </a:r>
          </a:p>
          <a:p>
            <a:r>
              <a:t>  6. VBP Non 34 person verb on present tense Walk, play, eat, read, am, are</a:t>
            </a:r>
          </a:p>
          <a:p>
            <a:r>
              <a:t>  7. MD Modal Verb Can, may, should</a:t>
            </a:r>
          </a:p>
          <a:p/>
          <a:p>
            <a:r>
              <a:t>Say what these mean, in your own words:</a:t>
            </a:r>
          </a:p>
          <a:p>
            <a:r>
              <a:t>  - VB: Base form of a verb, used in infinitives</a:t>
            </a:r>
          </a:p>
          <a:p>
            <a:r>
              <a:t>  - VBD: Past tense form of a verb, indicating completed action</a:t>
            </a:r>
          </a:p>
          <a:p/>
          <a:p>
            <a:r>
              <a:t>Pause: ask the class what they already know about “POS Type slide explains verb forms and their tense or aspect”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POS Type | Explanation | Examples</a:t>
            </a:r>
          </a:p>
          <a:p>
            <a:r>
              <a:t>  2. JJ Adjective Intelligent, small, fast</a:t>
            </a:r>
          </a:p>
          <a:p>
            <a:r>
              <a:t>  3. Comparative Adjective Better, smaller, faster</a:t>
            </a:r>
          </a:p>
          <a:p>
            <a:r>
              <a:t>  4. JIS Superlative Adjective Best, smallest, fastest</a:t>
            </a:r>
          </a:p>
          <a:p>
            <a:r>
              <a:t>  5. RB Adverb Back, behind, fast, slow</a:t>
            </a:r>
          </a:p>
          <a:p>
            <a:r>
              <a:t>  6. RBR Comparative Adverb Slower, faster</a:t>
            </a:r>
          </a:p>
          <a:p>
            <a:r>
              <a:t>  7. RBS Superlative Adverb Slowest, fastest</a:t>
            </a:r>
          </a:p>
          <a:p/>
          <a:p>
            <a:r>
              <a:t>Say what these mean, in your own words:</a:t>
            </a:r>
          </a:p>
          <a:p>
            <a:r>
              <a:t>  - JJ: Adjective, a word that modifies a noun</a:t>
            </a:r>
          </a:p>
          <a:p>
            <a:r>
              <a:t>  - RB: Adverb, a word that modifies a verb, adjective, or other adverb</a:t>
            </a:r>
          </a:p>
          <a:p/>
          <a:p>
            <a:r>
              <a:t>Pause: ask the class what they already know about “POS Type slide details adjective and adverb comparative and superlative forms”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these mean, in your own words:</a:t>
            </a:r>
          </a:p>
          <a:p>
            <a:r>
              <a:t>  - Pronoun: A word that replaces a noun or noun phrase</a:t>
            </a:r>
          </a:p>
          <a:p>
            <a:r>
              <a:t>  - Preposition: A word that shows relationship between nouns or pronouns</a:t>
            </a:r>
          </a:p>
          <a:p/>
          <a:p>
            <a:r>
              <a:t>Pause: ask the class what they already know about “Pronoun, Determiner, Preposition slide lists these three word classes” before revealing the slide.</a:t>
            </a:r>
          </a:p>
          <a:p/>
          <a:p>
            <a:r>
              <a:t>~19s</a:t>
            </a:r>
          </a:p>
          <a:p>
            <a:r>
              <a:t>Text in the figure: POS Type Explanation Examples PRP Pronoun He, she, they, |, we PRPS Possessive Pronoun His, her, your, our POS Possessive Marker India’s, Asian’s DT Determiner The, a cc Coordinating Conjunction And, or, also, but IN Preposition In, under, of, from, with cD Cardinal Number 20, two</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Word POS Type Explanation</a:t>
            </a:r>
          </a:p>
          <a:p>
            <a:r>
              <a:t>  2. I PRP Pronoun</a:t>
            </a:r>
          </a:p>
          <a:p>
            <a:r>
              <a:t>  3. al VBP Non 3 person verb on present tense a DT Determiner girl NN Singular Common Noun</a:t>
            </a:r>
          </a:p>
          <a:p>
            <a:r>
              <a:t>  4. Statement: Kavya is a intelligent girl.</a:t>
            </a:r>
          </a:p>
          <a:p>
            <a:r>
              <a:t>  5. NNP Singular Proper Noun</a:t>
            </a:r>
          </a:p>
          <a:p>
            <a:r>
              <a:t>  6. ea VBZ (Aux. verb) person verb on present tense a DT Determiner</a:t>
            </a:r>
          </a:p>
          <a:p/>
          <a:p>
            <a:r>
              <a:t>Read these exactly (do not paraphrase):</a:t>
            </a:r>
          </a:p>
          <a:p>
            <a:r>
              <a:t>  - NNP Singular Proper Noun ea VBZ (Aux.</a:t>
            </a:r>
          </a:p>
          <a:p>
            <a:r>
              <a:t>  - verb) person verb on present tense a DT Determiner</a:t>
            </a:r>
          </a:p>
          <a:p/>
          <a:p>
            <a:r>
              <a:t>Say what these mean, in your own words:</a:t>
            </a:r>
          </a:p>
          <a:p>
            <a:r>
              <a:t>  - PRP: Personal pronoun, referring to a person or thing</a:t>
            </a:r>
          </a:p>
          <a:p>
            <a:r>
              <a:t>  - DT: Determiner, a word that introduces a noun</a:t>
            </a:r>
          </a:p>
          <a:p/>
          <a:p>
            <a:r>
              <a:t>Pause: ask the class what they already know about “Word POS Type slide shows a sentence with each word’s grammatical tag”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Statement: She plays tennis.</a:t>
            </a:r>
          </a:p>
          <a:p>
            <a:r>
              <a:t>  2. She PRP Pronoun</a:t>
            </a:r>
          </a:p>
          <a:p>
            <a:r>
              <a:t>  3. plays VBZ person verb on present tense</a:t>
            </a:r>
          </a:p>
          <a:p>
            <a:r>
              <a:t>  4. tennis NN Singular Common Noun</a:t>
            </a:r>
          </a:p>
          <a:p>
            <a:r>
              <a:t>  5. Statement: They play football.</a:t>
            </a:r>
          </a:p>
          <a:p>
            <a:r>
              <a:t>  6. Word POS Type Explanation</a:t>
            </a:r>
          </a:p>
          <a:p>
            <a:r>
              <a:t>  7. They PRP Pronoun</a:t>
            </a:r>
          </a:p>
          <a:p/>
          <a:p>
            <a:r>
              <a:t>Say what these mean, in your own words:</a:t>
            </a:r>
          </a:p>
          <a:p>
            <a:r>
              <a:t>  - VBZ: Verb, third person singular present tense</a:t>
            </a:r>
          </a:p>
          <a:p>
            <a:r>
              <a:t>  - VBP: Verb, non-third person singular present tense</a:t>
            </a:r>
          </a:p>
          <a:p/>
          <a:p>
            <a:r>
              <a:t>Pause: ask the class what they already know about “Word POS Type slide demonstrates verb tense tagging in simple sentences”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Statement: And now for something completely different</a:t>
            </a:r>
          </a:p>
          <a:p>
            <a:r>
              <a:t>  2. POS Type Explanation</a:t>
            </a:r>
          </a:p>
          <a:p>
            <a:r>
              <a:t>  3. And cc Coordinating Conjunction</a:t>
            </a:r>
          </a:p>
          <a:p>
            <a:r>
              <a:t>  4. now RB Adverb</a:t>
            </a:r>
          </a:p>
          <a:p>
            <a:r>
              <a:t>  5. for IN Preposition Something NN Singular Common Noun completely RB Adverb different JJ Adjective</a:t>
            </a:r>
          </a:p>
          <a:p/>
          <a:p>
            <a:r>
              <a:t>Say what these mean, in your own words:</a:t>
            </a:r>
          </a:p>
          <a:p>
            <a:r>
              <a:t>  - cc: Coordinating conjunction, linking clauses or phrases</a:t>
            </a:r>
          </a:p>
          <a:p>
            <a:r>
              <a:t>  - RB: Adverb, modifying verbs, adjectives, or other adverbs</a:t>
            </a:r>
          </a:p>
          <a:p/>
          <a:p>
            <a:r>
              <a:t>Pause: ask the class what they already know about “Statement slide illustrates part-of-speech tags for a complex sentence”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“Tag set for English” before revealing the slide.</a:t>
            </a:r>
          </a:p>
          <a:p/>
          <a:p>
            <a:r>
              <a:t>~19s</a:t>
            </a:r>
          </a:p>
          <a:p>
            <a:r>
              <a:t>Text in the figure: Statement: They refuse to permit us. They | refuse to permit Us PRP VBP Det VB PRP Statement: They refuse to permit us to obtain refuse permit. They | refuse | to us To obtain | refuse PRP VBP Det VB PRP Det VB NN NN</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“POS Taggers” before revealing the slide.</a:t>
            </a:r>
          </a:p>
          <a:p/>
          <a:p>
            <a:r>
              <a:t>~19s</a:t>
            </a:r>
          </a:p>
          <a:p>
            <a:r>
              <a:t>Text in the figure: POS Tagger 1 Rule Based Stochastic/ Statistical based</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Rule-based part-of-speech tagging is the oldest approach that uses hand written rules for tagging</a:t>
            </a:r>
          </a:p>
          <a:p>
            <a:r>
              <a:t>  2. Rule-based taggers depends on dictionary or lexicon to get possible tags for each word to be tagged.</a:t>
            </a:r>
          </a:p>
          <a:p>
            <a:r>
              <a:t>  3. This algorithm automatically assigns part-of-speech that were based on a two stage architecture (Harris, 1962; Klein and</a:t>
            </a:r>
          </a:p>
          <a:p>
            <a:r>
              <a:t>  4. The first stage used a dictionary to assign each word a list of potential parts-of-speech.</a:t>
            </a:r>
          </a:p>
          <a:p>
            <a:r>
              <a:t>  5. The second stage used large lists of hand-written disambiguation rules to winnow down this list to a single part-of-spee</a:t>
            </a:r>
          </a:p>
          <a:p>
            <a:r>
              <a:t>  6. Example:</a:t>
            </a:r>
          </a:p>
          <a:p>
            <a:r>
              <a:t>  7. I want to play/VB a sport on weekend</a:t>
            </a:r>
          </a:p>
          <a:p/>
          <a:p>
            <a:r>
              <a:t>Read these exactly (do not paraphrase):</a:t>
            </a:r>
          </a:p>
          <a:p>
            <a:r>
              <a:t>  - This algorithm automatically assigns part-of-speech that were based on a two stage architecture (Harris, 1962; Klein and Simmons, 1963; Greene and Rubin, 1971).</a:t>
            </a:r>
          </a:p>
          <a:p/>
          <a:p>
            <a:r>
              <a:t>Say what these mean, in your own words:</a:t>
            </a:r>
          </a:p>
          <a:p>
            <a:r>
              <a:t>  - Rule-based tagger: A POS tagger that uses hand-written rules for disambiguation</a:t>
            </a:r>
          </a:p>
          <a:p>
            <a:r>
              <a:t>  - Lexicon: A dictionary of words with possible part-of-speech tags</a:t>
            </a:r>
          </a:p>
          <a:p/>
          <a:p>
            <a:r>
              <a:t>Pause: ask the class what they already know about “Rule-based tagger slide explains a two-stage tagging algorithm using dictionaries and rules”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rules may be context-pattern rules or as regular expressions compiled into finite-automata that are intersected with</a:t>
            </a:r>
          </a:p>
          <a:p>
            <a:r>
              <a:t>  2. TAGGIT is the first large rule-based tagger that used context-pattern rules</a:t>
            </a:r>
          </a:p>
          <a:p>
            <a:r>
              <a:t>  3. Limitations:</a:t>
            </a:r>
          </a:p>
          <a:p>
            <a:r>
              <a:t>  4. Hard coded rules are required</a:t>
            </a:r>
          </a:p>
          <a:p>
            <a:r>
              <a:t>  5. Rules has to be updated on language change</a:t>
            </a:r>
          </a:p>
          <a:p>
            <a:r>
              <a:t>  6. Lexicon needs to be checked every time which is not efficient approach</a:t>
            </a:r>
          </a:p>
          <a:p>
            <a:r>
              <a:t>  7. Strong language expert team is required</a:t>
            </a:r>
          </a:p>
          <a:p/>
          <a:p>
            <a:r>
              <a:t>Say what these mean, in your own words:</a:t>
            </a:r>
          </a:p>
          <a:p>
            <a:r>
              <a:t>  - context-pattern rules: Rules that use surrounding words to decide a tag</a:t>
            </a:r>
          </a:p>
          <a:p>
            <a:r>
              <a:t>  - finite-automata: Computational models that recognize patterns in text</a:t>
            </a:r>
          </a:p>
          <a:p/>
          <a:p>
            <a:r>
              <a:t>Pause: ask the class what they already know about “Rule-based tagger rules slide discusses context-pattern rules and their limitations”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Rule based taggers use additional POS features to refine lexical entries Additional POS features smaller COMPARATIVE entire ABSOLUTE ATTRIBUTIVE fast SUPERLATIVE that CENTRAL DEMONSTRATIVE SG all PREDETERMINER SG/PL QUANTIFIER dog’s GENITIVE SG furniture NOMINATIVE SG NOINDEFDETERMINER one-third SG she PERSONAL FEMININE NOMINATIVE SG3 show PRESENT -SG3 VFIN show NOMINATIVE SG shown SVOO SVO SV occurred occurred Figure 5.11 Sample lexical entries from the ENGTWOL lexicon described in Vouti- lainen (1995) and Heikkila (1995).</a:t>
            </a:r>
          </a:p>
          <a:p/>
          <a:p>
            <a:r>
              <a:t>Say what these mean, in your own words:</a:t>
            </a:r>
          </a:p>
          <a:p>
            <a:r>
              <a:t>  - POS features: Attributes that help distinguish part-of-speech tags in lexical entries</a:t>
            </a:r>
          </a:p>
          <a:p>
            <a:r>
              <a:t>  - lexical entry: A dictionary-like record that associates a word form with its possible tags</a:t>
            </a:r>
          </a:p>
          <a:p/>
          <a:p>
            <a:r>
              <a:t>Pause: ask the class what they already know about “Rule based taggers use additional POS features to refine lexical entries”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Another technique of tagging is Stochastic POS Tagging.</a:t>
            </a:r>
          </a:p>
          <a:p>
            <a:r>
              <a:t>  2. Here the question that arises here is which model can be stochastic.</a:t>
            </a:r>
          </a:p>
          <a:p>
            <a:r>
              <a:t>  3. The model that includes frequency or probability (statistics) can be called stochastic.</a:t>
            </a:r>
          </a:p>
          <a:p>
            <a:r>
              <a:t>  4. Any number of different approaches to the problem of part-of-speech tagging can be referred to as stochastic taggers.</a:t>
            </a:r>
          </a:p>
          <a:p>
            <a:r>
              <a:t>  5. Two Approaches:</a:t>
            </a:r>
          </a:p>
          <a:p>
            <a:r>
              <a:t>  6. Word Frequency Approach</a:t>
            </a:r>
          </a:p>
          <a:p>
            <a:r>
              <a:t>  7. In this approach, the stochastic taggers disambiguate the words based on the probability that a word occurs with a parti</a:t>
            </a:r>
          </a:p>
          <a:p/>
          <a:p>
            <a:r>
              <a:t>Read these exactly (do not paraphrase):</a:t>
            </a:r>
          </a:p>
          <a:p>
            <a:r>
              <a:t>  - The model that includes frequency or probability (statistics) can be called stochastic.</a:t>
            </a:r>
          </a:p>
          <a:p/>
          <a:p>
            <a:r>
              <a:t>Say what these mean, in your own words:</a:t>
            </a:r>
          </a:p>
          <a:p>
            <a:r>
              <a:t>  - stochastic tagger: A tagger that assigns tags based on statistical likelihoods</a:t>
            </a:r>
          </a:p>
          <a:p>
            <a:r>
              <a:t>  - frequency approach: Assigns the most frequent tag seen in training data to ambiguous words</a:t>
            </a:r>
          </a:p>
          <a:p/>
          <a:p>
            <a:r>
              <a:t>Pause: ask the class what they already know about “Stochastic taggers disambiguate words by using probability models”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Two Approaches:</a:t>
            </a:r>
          </a:p>
          <a:p>
            <a:r>
              <a:t>  2. Tag Sequence Probabilities</a:t>
            </a:r>
          </a:p>
          <a:p>
            <a:r>
              <a:t>  3. It is another approach of stochastic tagging, where the tagger calculates the probability of a given sequence of tags oc</a:t>
            </a:r>
          </a:p>
          <a:p>
            <a:r>
              <a:t>  4. It is also called the n-gram approach.</a:t>
            </a:r>
          </a:p>
          <a:p>
            <a:r>
              <a:t>  5. It is called so because the best tag for a given word is determined by the probability at which it occurs with the n pre</a:t>
            </a:r>
          </a:p>
          <a:p/>
          <a:p>
            <a:r>
              <a:t>Say what these mean, in your own words:</a:t>
            </a:r>
          </a:p>
          <a:p>
            <a:r>
              <a:t>  - n-gram: A sequence of n tags used to estimate probability in a tagger</a:t>
            </a:r>
          </a:p>
          <a:p/>
          <a:p>
            <a:r>
              <a:t>Pause: ask the class what they already know about “Tag sequence probabilities compute the likelihood of tag sequences in stochastic tagging”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Two Approaches:</a:t>
            </a:r>
          </a:p>
          <a:p>
            <a:r>
              <a:t>  2. Properties of Stochastic POST Tagging</a:t>
            </a:r>
          </a:p>
          <a:p>
            <a:r>
              <a:t>  3. Stochastic POS taggers possess the following properties −</a:t>
            </a:r>
          </a:p>
          <a:p>
            <a:r>
              <a:t>  4. This POS tagging is based on the probability of the tag occurring.</a:t>
            </a:r>
          </a:p>
          <a:p>
            <a:r>
              <a:t>  5. It requires training corpus</a:t>
            </a:r>
          </a:p>
          <a:p>
            <a:r>
              <a:t>  6. There would be no probability for the words that do not exist in the corpus.</a:t>
            </a:r>
          </a:p>
          <a:p>
            <a:r>
              <a:t>  7. It uses different testing corpus (other than training corpus).</a:t>
            </a:r>
          </a:p>
          <a:p/>
          <a:p>
            <a:r>
              <a:t>Read these exactly (do not paraphrase):</a:t>
            </a:r>
          </a:p>
          <a:p>
            <a:r>
              <a:t>  - It uses different testing corpus (other than training corpus).</a:t>
            </a:r>
          </a:p>
          <a:p/>
          <a:p>
            <a:r>
              <a:t>Say what these mean, in your own words:</a:t>
            </a:r>
          </a:p>
          <a:p>
            <a:r>
              <a:t>  - Following: Parts-of-Speech</a:t>
            </a:r>
          </a:p>
          <a:p>
            <a:r>
              <a:t>  - training corpus: A set of sentences with correct tags used to learn probabilities</a:t>
            </a:r>
          </a:p>
          <a:p/>
          <a:p>
            <a:r>
              <a:t>Pause: ask the class what they already know about “Stochastic POS taggers rely on training corpora to estimate tag probabilities”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Transformation Based Tagging is also called as Brill Tagging</a:t>
            </a:r>
          </a:p>
          <a:p>
            <a:r>
              <a:t>  2. This tagger is based on the concept of Transformation-Based Learning (TBL) approach</a:t>
            </a:r>
          </a:p>
          <a:p>
            <a:r>
              <a:t>  3. TBL uses Supervised Learning</a:t>
            </a:r>
          </a:p>
          <a:p>
            <a:r>
              <a:t>  4. There is assumption of pre-tagged training corpus</a:t>
            </a:r>
          </a:p>
          <a:p>
            <a:r>
              <a:t>  5. It draws inspiration from both rule-based and stochastic taggers</a:t>
            </a:r>
          </a:p>
          <a:p>
            <a:r>
              <a:t>  6. Like rule-based taggers, TBL is based on rules that specify what tags should be assigned to what word</a:t>
            </a:r>
          </a:p>
          <a:p>
            <a:r>
              <a:t>  7. And like stochastic taggers, TBL is a machine learning technique, in which rules are automatically induced from data</a:t>
            </a:r>
          </a:p>
          <a:p/>
          <a:p>
            <a:r>
              <a:t>Read these exactly (do not paraphrase):</a:t>
            </a:r>
          </a:p>
          <a:p>
            <a:r>
              <a:t>  - Transformation-based tagging blends rule-based and stochastic methods through machine learning Transformation Based Tagging is also called as Brill Tagging This tagger is based on the concept of Transformation-Based Learning (TBL) approach TBL uses Supervised Learning There is assumption of pre-tagged training corpus It draws inspiration from both rule-based and stochastic taggers Like rule-based taggers, TBL is based on rules that specify what tags should be assigned to what word And like stochastic taggers, TBL is a machine learning technique, in which rules are automatically induced from data</a:t>
            </a:r>
          </a:p>
          <a:p/>
          <a:p>
            <a:r>
              <a:t>Say what these mean, in your own words:</a:t>
            </a:r>
          </a:p>
          <a:p>
            <a:r>
              <a:t>  - Transformation-Based Learning: A supervised learning method that induces rules from data</a:t>
            </a:r>
          </a:p>
          <a:p>
            <a:r>
              <a:t>  - Brill Tagger: A popular implementation of transformation-based tagging</a:t>
            </a:r>
          </a:p>
          <a:p/>
          <a:p>
            <a:r>
              <a:t>Pause: ask the class what they already know about “Transformation-based tagging blends rule-based and stochastic methods through machine learning”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TBL algorithm has a set of tagging rules.</a:t>
            </a:r>
          </a:p>
          <a:p>
            <a:r>
              <a:t>  2. A corpus is first tagged using the broadest rule, that is, the one that applies to the most cases. Then a slightly more </a:t>
            </a:r>
          </a:p>
          <a:p>
            <a:r>
              <a:t>  3. Next an even narrower rule, which changes a smaller number of tags (some of which might be previously</a:t>
            </a:r>
          </a:p>
          <a:p>
            <a:r>
              <a:t>  4. changed tags)</a:t>
            </a:r>
          </a:p>
          <a:p/>
          <a:p>
            <a:r>
              <a:t>Read these exactly (do not paraphrase):</a:t>
            </a:r>
          </a:p>
          <a:p>
            <a:r>
              <a:t>  - Next an even narrower rule, which changes a smaller number of tags (some of which might be previously changed tags)</a:t>
            </a:r>
          </a:p>
          <a:p/>
          <a:p>
            <a:r>
              <a:t>Say what these mean, in your own words:</a:t>
            </a:r>
          </a:p>
          <a:p>
            <a:r>
              <a:t>  - tbl: Transformation-Based Learning</a:t>
            </a:r>
          </a:p>
          <a:p>
            <a:r>
              <a:t>  - tagging rule: A condition that changes a tag based on context</a:t>
            </a:r>
          </a:p>
          <a:p/>
          <a:p>
            <a:r>
              <a:t>Pause: ask the class what they already know about “The TBL algorithm applies increasingly specific rules to refine initial tags” before revealing the slide.</a:t>
            </a:r>
          </a:p>
          <a:p/>
          <a:p>
            <a:r>
              <a:t>~40s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8”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Label the training set with most frequent tags.</a:t>
            </a:r>
          </a:p>
          <a:p>
            <a:r>
              <a:t>  2. ‘Can’ can be Noun as well</a:t>
            </a:r>
          </a:p>
          <a:p>
            <a:r>
              <a:t>  3. The can was rusted</a:t>
            </a:r>
          </a:p>
          <a:p>
            <a:r>
              <a:t>  4. as Modal verb</a:t>
            </a:r>
          </a:p>
          <a:p>
            <a:r>
              <a:t>  5. TBL uses ML as well as grammar rules</a:t>
            </a:r>
          </a:p>
          <a:p>
            <a:r>
              <a:t>  6. Modal verb is never preceded by the determiner</a:t>
            </a:r>
          </a:p>
          <a:p>
            <a:r>
              <a:t>  7. Initially each word receives its most common tag from the training set.</a:t>
            </a:r>
          </a:p>
          <a:p/>
          <a:p>
            <a:r>
              <a:t>Read these exactly (do not paraphrase):</a:t>
            </a:r>
          </a:p>
          <a:p>
            <a:r>
              <a:t>  - The algorithm then learns rules that correct mislabelled words, such as distinguishing the modal verb "can" from the noun "can".</a:t>
            </a:r>
          </a:p>
          <a:p/>
          <a:p>
            <a:r>
              <a:t>Say what these mean, in your own words:</a:t>
            </a:r>
          </a:p>
          <a:p>
            <a:r>
              <a:t>  - most frequent tag: The tag that appears most often for a word in training data</a:t>
            </a:r>
          </a:p>
          <a:p/>
          <a:p>
            <a:r>
              <a:t>Pause: ask the class what they already know about “Transformation-based taggers label training data with most frequent tags before rule induction”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Add transformation rules to reduce training mistakes</a:t>
            </a:r>
          </a:p>
          <a:p>
            <a:r>
              <a:t>  2. Also in corpus, possibility of ‘determiner modal verb’ pair is zero</a:t>
            </a:r>
          </a:p>
          <a:p>
            <a:r>
              <a:t>  3. Hence ‘can’ is replaced by Noun Tag</a:t>
            </a:r>
          </a:p>
          <a:p>
            <a:r>
              <a:t>  4. Similarly, rusted can be VBD and VBN</a:t>
            </a:r>
          </a:p>
          <a:p>
            <a:r>
              <a:t>  5. In grammar, VBN is preceded by VBD</a:t>
            </a:r>
          </a:p>
          <a:p>
            <a:r>
              <a:t>  6. And in corpus VBD-VBD pair is negligible</a:t>
            </a:r>
          </a:p>
          <a:p/>
          <a:p>
            <a:r>
              <a:t>Say what these mean, in your own words:</a:t>
            </a:r>
          </a:p>
          <a:p>
            <a:r>
              <a:t>  - transformation rule: A rule that changes a tag based on surrounding context</a:t>
            </a:r>
          </a:p>
          <a:p/>
          <a:p>
            <a:r>
              <a:t>Pause: ask the class what they already know about “Adding transformation rules reduces training mistakes by correcting unlikely tag pairs”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(3/6)</a:t>
            </a:r>
          </a:p>
          <a:p/>
          <a:p>
            <a:r>
              <a:t>Pause: ask the class what they already know about “POS Taggers - Transformation Based Tagger”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(3/6)</a:t>
            </a:r>
          </a:p>
          <a:p/>
          <a:p>
            <a:r>
              <a:t>Pause: ask the class what they already know about “POS Taggers - Transformation Based Tagger”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9”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Before the rules apply, the tagger labels every word with its most-likely tag.</a:t>
            </a:r>
          </a:p>
          <a:p>
            <a:r>
              <a:t>  2. We get these most-likely tags from a tagged corpus.</a:t>
            </a:r>
          </a:p>
          <a:p>
            <a:r>
              <a:t>  3. For example, in the Brown corpus, race is most likely to be a noun</a:t>
            </a:r>
          </a:p>
          <a:p>
            <a:r>
              <a:t>  4. race/NN is incorrect in above sentence</a:t>
            </a:r>
          </a:p>
          <a:p>
            <a:r>
              <a:t>  5. race/NN is correctly tagged in above sentence</a:t>
            </a:r>
          </a:p>
          <a:p/>
          <a:p>
            <a:r>
              <a:t>Say what these mean, in your own words:</a:t>
            </a:r>
          </a:p>
          <a:p>
            <a:r>
              <a:t>  - Brown corpus: 1 million word collection of samples from 500 written texts from different genres which was assembled at Brown University in…</a:t>
            </a:r>
          </a:p>
          <a:p>
            <a:r>
              <a:t>  - most likely tag: The tag with the highest frequency for a word in training data</a:t>
            </a:r>
          </a:p>
          <a:p/>
          <a:p>
            <a:r>
              <a:t>Pause: ask the class what they already know about “Before applying rules, the tagger assigns each word its most likely tag from a corpus” before revealing the slide.</a:t>
            </a:r>
          </a:p>
          <a:p/>
          <a:p>
            <a:r>
              <a:t>~47s</a:t>
            </a:r>
          </a:p>
          <a:p>
            <a:r>
              <a:t>Ask the class: How does each level depend on the one beneath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(4/6)</a:t>
            </a:r>
          </a:p>
          <a:p/>
          <a:p>
            <a:r>
              <a:t>Pause: ask the class what they already know about “POS Taggers - Transformation Based Tagger”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(4/6)</a:t>
            </a:r>
          </a:p>
          <a:p/>
          <a:p>
            <a:r>
              <a:t>Pause: ask the class what they already know about “POS Taggers - Transformation Based Tagger”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(5/6)</a:t>
            </a:r>
          </a:p>
          <a:p/>
          <a:p>
            <a:r>
              <a:t>Full detail (from the source):</a:t>
            </a:r>
          </a:p>
          <a:p>
            <a:r>
              <a:t>  - After selecting most likely tag.</a:t>
            </a:r>
          </a:p>
          <a:p>
            <a:r>
              <a:t>  Brill’s tagger, applies transformation rules - Change NN to VB when previous tag is TO - Hence the correction would be [TABLE DATA] | Is | expected | to | race | tomorrow | | --- | --- | --- | --- | --- | | VBZ | VBN | TO | VB | NN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 Taggers - Transformation Based Tagger (continued)</a:t>
            </a:r>
          </a:p>
          <a:p/>
          <a:p>
            <a:r>
              <a:t>Pause: ask the class what they already know about “POS Taggers - Transformation Based Tagger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Brown corpus: 1 million word collection of samples from 500 written texts from different genres which was assembled at B</a:t>
            </a:r>
          </a:p>
          <a:p>
            <a:r>
              <a:t>  2. Taggit: first large rule-based tagger that used context-pattern rules</a:t>
            </a:r>
          </a:p>
          <a:p>
            <a:r>
              <a:t>  3. The output: single best tag for each word</a:t>
            </a:r>
          </a:p>
          <a:p>
            <a:r>
              <a:t>  4. rule-based part-of-speech tagg: oldest approach that uses hand written rules for tagging</a:t>
            </a:r>
          </a:p>
          <a:p/>
          <a:p>
            <a:r>
              <a:t>Pause: ask the class what they already know about “Glossary” before revealing the slide.</a:t>
            </a:r>
          </a:p>
          <a:p/>
          <a:p>
            <a:r>
              <a:t>~40s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Content: Part-Of-Speech tagging (POS)</a:t>
            </a:r>
          </a:p>
          <a:p>
            <a:r>
              <a:t>  2. Part-Of-Speech tagging (POS): Parts-of-speech can be divided into two broad supercategories:</a:t>
            </a:r>
          </a:p>
          <a:p>
            <a:r>
              <a:t>  3. Difficulties /Challenges in POS taggin: Most words in English are unambiguous; i.e., they have only a single tag.</a:t>
            </a:r>
          </a:p>
          <a:p>
            <a:r>
              <a:t>  4. Tag set for English: Noun Types</a:t>
            </a:r>
          </a:p>
          <a:p>
            <a:r>
              <a:t>  5. Word POS Type Explanation: Statement: She plays tennis.</a:t>
            </a:r>
          </a:p>
          <a:p>
            <a:r>
              <a:t>  6. POS Taggers - Rule based Tagger: Additional POS features</a:t>
            </a:r>
          </a:p>
          <a:p>
            <a:r>
              <a:t>  7. POS Taggers - Transformation Based Tag: Transformation Based Tagging is also called as Brill Tagging</a:t>
            </a:r>
          </a:p>
          <a:p/>
          <a:p>
            <a:r>
              <a:t>Read these exactly (do not paraphrase):</a:t>
            </a:r>
          </a:p>
          <a:p>
            <a:r>
              <a:t>  - Key takeaways Content: Part-Of-Speech tagging (POS) Part-Of-Speech tagging (POS): Parts-of-speech can be divided into two broad supercategories: Difficulties /Challenges in POS taggin: Most words in English are unambiguous; i.e., they have only a single tag.</a:t>
            </a:r>
          </a:p>
          <a:p/>
          <a:p>
            <a:r>
              <a:t>Pause: ask the class what they already know about “Key takeaways” before revealing the slide.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76e0c31af62fadcccf3e" TargetMode="External"/><Relationship Id="rId5" Type="http://schemas.openxmlformats.org/officeDocument/2006/relationships/hyperlink" Target="http://localhost:8000/api/labs/pos_tagging_hm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localhost:8000/api/art/78d22aec2f9eb4c6c883"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localhost:8000/api/art/7f26c41784a688f18724" TargetMode="External"/><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localhost:8000/api/art/acaead52447e33b52b35" TargetMode="External"/><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hyperlink" Target="http://localhost:8000/api/art/a62c095475cb422fd0e4" TargetMode="External"/><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hyperlink" Target="http://localhost:8000/api/art/43d0682fa429af8ca00f" TargetMode="External"/><Relationship Id="rId5" Type="http://schemas.openxmlformats.org/officeDocument/2006/relationships/hyperlink" Target="http://localhost:8000/api/labs/pos_tagging_hm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hyperlink" Target="http://localhost:8000/api/art/e008ba7359cc58143b4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hyperlink" Target="http://localhost:8000/api/art/bf346c1840b4565faa5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hyperlink" Target="http://localhost:8000/api/art/fb1761280262b8ca60f0" TargetMode="External"/><Relationship Id="rId5"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hyperlink" Target="http://localhost:8000/api/art/688cf0e789d0f814396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hyperlink" Target="http://localhost:8000/api/art/99c1bc07d62b0976f345" TargetMode="External"/><Relationship Id="rId5" Type="http://schemas.openxmlformats.org/officeDocument/2006/relationships/image" Target="../media/image9.png"/><Relationship Id="rId6"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hyperlink" Target="http://localhost:8000/api/art/aee9f77da081321f5862" TargetMode="External"/><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hyperlink" Target="http://localhost:8000/api/art/d109dccce05955b8d645" TargetMode="External"/><Relationship Id="rId5" Type="http://schemas.openxmlformats.org/officeDocument/2006/relationships/image" Target="../media/image29.png"/><Relationship Id="rId6"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hyperlink" Target="http://localhost:8000/api/art/9355192dfe808592a8b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hyperlink" Target="http://localhost:8000/api/art/4b02d64f8de2577b6100" TargetMode="External"/><Relationship Id="rId5" Type="http://schemas.openxmlformats.org/officeDocument/2006/relationships/image" Target="../media/image24.png"/><Relationship Id="rId6" Type="http://schemas.openxmlformats.org/officeDocument/2006/relationships/image" Target="../media/image14.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hyperlink" Target="http://localhost:8000/api/art/a508fc53640e43562f8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hyperlink" Target="http://localhost:8000/api/art/a2178649787d0a018248" TargetMode="External"/><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34.png"/><Relationship Id="rId8" Type="http://schemas.openxmlformats.org/officeDocument/2006/relationships/image" Target="../media/image39.png"/><Relationship Id="rId9"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1.png"/><Relationship Id="rId4" Type="http://schemas.openxmlformats.org/officeDocument/2006/relationships/hyperlink" Target="http://localhost:8000/api/art/b4794a24c1d671c404b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2.png"/><Relationship Id="rId4" Type="http://schemas.openxmlformats.org/officeDocument/2006/relationships/hyperlink" Target="http://localhost:8000/api/art/ed3250677f1c55ea762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5.png"/><Relationship Id="rId4" Type="http://schemas.openxmlformats.org/officeDocument/2006/relationships/hyperlink" Target="http://localhost:8000/api/art/6fd3e4317663bd0e5d91"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6.png"/><Relationship Id="rId4" Type="http://schemas.openxmlformats.org/officeDocument/2006/relationships/hyperlink" Target="http://localhost:8000/api/art/3e92565a92615e17b0a3" TargetMode="External"/><Relationship Id="rId5" Type="http://schemas.openxmlformats.org/officeDocument/2006/relationships/image" Target="../media/image47.png"/><Relationship Id="rId6" Type="http://schemas.openxmlformats.org/officeDocument/2006/relationships/image" Target="../media/image9.png"/><Relationship Id="rId7" Type="http://schemas.openxmlformats.org/officeDocument/2006/relationships/image" Target="../media/image15.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1.png"/><Relationship Id="rId4" Type="http://schemas.openxmlformats.org/officeDocument/2006/relationships/hyperlink" Target="http://localhost:8000/api/art/31c5c7b25e1ab741c01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2.png"/><Relationship Id="rId4" Type="http://schemas.openxmlformats.org/officeDocument/2006/relationships/hyperlink" Target="http://localhost:8000/api/art/7119388a8f815e443aa3"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3.png"/><Relationship Id="rId4" Type="http://schemas.openxmlformats.org/officeDocument/2006/relationships/hyperlink" Target="http://localhost:8000/api/art/b6267f689d1b58738105"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hyperlink" Target="http://localhost:8000/api/art/a1570d5d4988a08cb118"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hyperlink" Target="http://localhost:8000/api/art/b056a31101299df6e1c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6.png"/><Relationship Id="rId4" Type="http://schemas.openxmlformats.org/officeDocument/2006/relationships/hyperlink" Target="http://localhost:8000/api/art/bb1755e23269d2b854d4" TargetMode="External"/><Relationship Id="rId5"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8.png"/><Relationship Id="rId4" Type="http://schemas.openxmlformats.org/officeDocument/2006/relationships/hyperlink" Target="http://localhost:8000/api/art/7cd5612914ff1a3344fb"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9.png"/><Relationship Id="rId4" Type="http://schemas.openxmlformats.org/officeDocument/2006/relationships/hyperlink" Target="http://localhost:8000/api/art/91dab8d5da93da848ca8"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0.png"/><Relationship Id="rId4" Type="http://schemas.openxmlformats.org/officeDocument/2006/relationships/hyperlink" Target="http://localhost:8000/api/art/1712a075c36db3c04aac" TargetMode="External"/><Relationship Id="rId5" Type="http://schemas.openxmlformats.org/officeDocument/2006/relationships/hyperlink" Target="http://localhost:8000/api/labs/auto-d98922ce46a1"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1.png"/><Relationship Id="rId4" Type="http://schemas.openxmlformats.org/officeDocument/2006/relationships/hyperlink" Target="http://localhost:8000/api/art/99a2c2fc72552d07880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2.png"/><Relationship Id="rId4" Type="http://schemas.openxmlformats.org/officeDocument/2006/relationships/hyperlink" Target="http://localhost:8000/api/art/9d0fcb686f180b2e98c8"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3.png"/><Relationship Id="rId4" Type="http://schemas.openxmlformats.org/officeDocument/2006/relationships/hyperlink" Target="http://localhost:8000/api/art/bf5299c8603c3154936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4.png"/><Relationship Id="rId4" Type="http://schemas.openxmlformats.org/officeDocument/2006/relationships/hyperlink" Target="http://localhost:8000/api/art/9fd5b1d81629f96b55ff"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5.png"/><Relationship Id="rId4" Type="http://schemas.openxmlformats.org/officeDocument/2006/relationships/hyperlink" Target="http://localhost:8000/api/art/3d62c97a1f16cfbd3ad7"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7.png"/><Relationship Id="rId4" Type="http://schemas.openxmlformats.org/officeDocument/2006/relationships/hyperlink" Target="http://localhost:8000/api/art/a72622cf1182e5a65554" TargetMode="External"/><Relationship Id="rId5" Type="http://schemas.openxmlformats.org/officeDocument/2006/relationships/image" Target="../media/image68.png"/><Relationship Id="rId6" Type="http://schemas.openxmlformats.org/officeDocument/2006/relationships/image" Target="../media/image9.png"/><Relationship Id="rId7"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70.png"/><Relationship Id="rId4" Type="http://schemas.openxmlformats.org/officeDocument/2006/relationships/hyperlink" Target="http://localhost:8000/api/art/dfbeac459fb25801a7e7" TargetMode="External"/><Relationship Id="rId5" Type="http://schemas.openxmlformats.org/officeDocument/2006/relationships/image" Target="../media/image9.png"/><Relationship Id="rId6" Type="http://schemas.openxmlformats.org/officeDocument/2006/relationships/image" Target="../media/image71.png"/><Relationship Id="rId7" Type="http://schemas.openxmlformats.org/officeDocument/2006/relationships/image" Target="../media/image10.png"/><Relationship Id="rId8" Type="http://schemas.openxmlformats.org/officeDocument/2006/relationships/image" Target="../media/image7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7C73"/>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F6C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549C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FAE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Bebas Neue"/>
              </a:rPr>
              <a:t>Module 3: Syntax Analysis</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FFFFFF"/>
                </a:solidFill>
              </a:defRPr>
            </a:pPr>
            <a:r>
              <a:rPr>
                <a:latin typeface="Inter"/>
              </a:rPr>
              <a:t>By Tina D’abreo  •  52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POS tagging uses rule-based, stochastic, and transformation-based methods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52</a:t>
            </a:r>
          </a:p>
        </p:txBody>
      </p:sp>
      <p:sp>
        <p:nvSpPr>
          <p:cNvPr id="8" name="Rounded Rectangle 7">
            <a:hlinkClick r:id="rId5"/>
          </p:cNvPr>
          <p:cNvSpPr/>
          <p:nvPr/>
        </p:nvSpPr>
        <p:spPr>
          <a:xfrm>
            <a:off x="3802989" y="6455664"/>
            <a:ext cx="4582972" cy="310896"/>
          </a:xfrm>
          <a:prstGeom prst="round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graphicFrame>
        <p:nvGraphicFramePr>
          <p:cNvPr id="9" name="Table 8"/>
          <p:cNvGraphicFramePr>
            <a:graphicFrameLocks noGrp="1"/>
          </p:cNvGraphicFramePr>
          <p:nvPr/>
        </p:nvGraphicFramePr>
        <p:xfrm>
          <a:off x="457200" y="1298448"/>
          <a:ext cx="11274552" cy="3986783"/>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POS</a:t>
                      </a:r>
                    </a:p>
                  </a:txBody>
                  <a:tcPr marL="146304" marR="146304" anchor="ctr">
                    <a:solidFill>
                      <a:srgbClr val="1C7C73"/>
                    </a:solidFill>
                  </a:tcPr>
                </a:tc>
                <a:tc>
                  <a:txBody>
                    <a:bodyPr/>
                    <a:lstStyle/>
                    <a:p>
                      <a:pPr algn="l"/>
                      <a:r>
                        <a:rPr sz="2000" b="1">
                          <a:solidFill>
                            <a:srgbClr val="FFFFFF"/>
                          </a:solidFill>
                          <a:latin typeface="Bebas Neue"/>
                        </a:rPr>
                        <a:t>Transformation-based</a:t>
                      </a:r>
                    </a:p>
                  </a:txBody>
                  <a:tcPr marL="146304" marR="146304" anchor="ctr">
                    <a:solidFill>
                      <a:srgbClr val="1C7C73"/>
                    </a:solidFill>
                  </a:tcPr>
                </a:tc>
              </a:tr>
              <a:tr h="834036">
                <a:tc>
                  <a:txBody>
                    <a:bodyPr/>
                    <a:lstStyle/>
                    <a:p>
                      <a:pPr algn="l"/>
                      <a:r>
                        <a:rPr sz="2000" b="1">
                          <a:solidFill>
                            <a:srgbClr val="1C7C73"/>
                          </a:solidFill>
                          <a:latin typeface="Bebas Neue"/>
                        </a:rPr>
                        <a:t>Part-Of-Speech tagging (POS)</a:t>
                      </a:r>
                    </a:p>
                  </a:txBody>
                  <a:tcPr marL="146304" marR="146304" anchor="ctr">
                    <a:solidFill>
                      <a:srgbClr val="F5F6F8"/>
                    </a:solidFill>
                  </a:tcPr>
                </a:tc>
                <a:tc>
                  <a:txBody>
                    <a:bodyPr/>
                    <a:lstStyle/>
                    <a:p>
                      <a:pPr algn="l"/>
                      <a:r>
                        <a:rPr sz="2000" b="0">
                          <a:solidFill>
                            <a:srgbClr val="111111"/>
                          </a:solidFill>
                          <a:latin typeface="Inter"/>
                        </a:rPr>
                        <a:t>Rule-based, Stochastic and Transformation-based tagging</a:t>
                      </a:r>
                    </a:p>
                  </a:txBody>
                  <a:tcPr marL="146304" marR="146304" anchor="ctr">
                    <a:solidFill>
                      <a:srgbClr val="F5F6F8"/>
                    </a:solidFill>
                  </a:tcPr>
                </a:tc>
              </a:tr>
              <a:tr h="834036">
                <a:tc>
                  <a:txBody>
                    <a:bodyPr/>
                    <a:lstStyle/>
                    <a:p>
                      <a:pPr algn="l"/>
                      <a:r>
                        <a:rPr sz="2000" b="1">
                          <a:solidFill>
                            <a:srgbClr val="1C7C73"/>
                          </a:solidFill>
                          <a:latin typeface="Bebas Neue"/>
                        </a:rPr>
                        <a:t>Difficulties /Challenges in POS tagging</a:t>
                      </a:r>
                    </a:p>
                  </a:txBody>
                  <a:tcPr marL="146304" marR="146304" anchor="ctr">
                    <a:solidFill>
                      <a:srgbClr val="ECF4F3"/>
                    </a:solidFill>
                  </a:tcPr>
                </a:tc>
                <a:tc>
                  <a:txBody>
                    <a:bodyPr/>
                    <a:lstStyle/>
                    <a:p>
                      <a:pPr algn="l"/>
                      <a:r>
                        <a:rPr sz="2000" b="0">
                          <a:solidFill>
                            <a:srgbClr val="111111"/>
                          </a:solidFill>
                          <a:latin typeface="Inter"/>
                        </a:rPr>
                        <a:t>Refine initial guesses with learned corrections</a:t>
                      </a:r>
                    </a:p>
                  </a:txBody>
                  <a:tcPr marL="146304" marR="146304" anchor="ctr">
                    <a:solidFill>
                      <a:srgbClr val="ECF4F3"/>
                    </a:solidFill>
                  </a:tcPr>
                </a:tc>
              </a:tr>
              <a:tr h="798875">
                <a:tc>
                  <a:txBody>
                    <a:bodyPr/>
                    <a:lstStyle/>
                    <a:p>
                      <a:pPr algn="l"/>
                      <a:r>
                        <a:rPr sz="2000" b="1">
                          <a:solidFill>
                            <a:srgbClr val="1C7C73"/>
                          </a:solidFill>
                          <a:latin typeface="Bebas Neue"/>
                        </a:rPr>
                        <a:t>(HMM Viterbi) for POS tagging</a:t>
                      </a:r>
                    </a:p>
                  </a:txBody>
                  <a:tcPr marL="146304" marR="146304" anchor="ctr">
                    <a:solidFill>
                      <a:srgbClr val="F5F6F8"/>
                    </a:solidFill>
                  </a:tcPr>
                </a:tc>
                <a:tc>
                  <a:txBody>
                    <a:bodyPr/>
                    <a:lstStyle/>
                    <a:p>
                      <a:pPr algn="l"/>
                    </a:p>
                  </a:txBody>
                  <a:tcPr marL="146304" marR="146304" anchor="ctr">
                    <a:solidFill>
                      <a:srgbClr val="F5F6F8"/>
                    </a:solidFill>
                  </a:tcPr>
                </a:tc>
              </a:tr>
              <a:tr h="834036">
                <a:tc>
                  <a:txBody>
                    <a:bodyPr/>
                    <a:lstStyle/>
                    <a:p>
                      <a:pPr algn="l"/>
                      <a:r>
                        <a:rPr sz="2000" b="1">
                          <a:solidFill>
                            <a:srgbClr val="1C7C73"/>
                          </a:solidFill>
                          <a:latin typeface="Bebas Neue"/>
                        </a:rPr>
                        <a:t>Tagging assigns grammatical categories to words</a:t>
                      </a:r>
                    </a:p>
                  </a:txBody>
                  <a:tcPr marL="146304" marR="146304" anchor="ctr">
                    <a:solidFill>
                      <a:srgbClr val="ECF4F3"/>
                    </a:solidFill>
                  </a:tcPr>
                </a:tc>
                <a:tc>
                  <a:txBody>
                    <a:bodyPr/>
                    <a:lstStyle/>
                    <a:p>
                      <a:pPr algn="l"/>
                    </a:p>
                  </a:txBody>
                  <a:tcPr marL="146304" marR="146304" anchor="ctr">
                    <a:solidFill>
                      <a:srgbClr val="ECF4F3"/>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50">
                <a:solidFill>
                  <a:srgbClr val="1C7C73"/>
                </a:solidFill>
                <a:latin typeface="Bebas Neue"/>
              </a:rPr>
              <a:t>Key takeaway:  </a:t>
            </a:r>
            <a:r>
              <a:rPr sz="1250" b="0">
                <a:solidFill>
                  <a:srgbClr val="111111"/>
                </a:solidFill>
                <a:latin typeface="Inter"/>
              </a:rPr>
              <a:t>4 pos compared on transformation-based.</a:t>
            </a:r>
          </a:p>
          <a:p>
            <a:pPr algn="l"/>
            <a:r>
              <a:rPr b="1" sz="1250">
                <a:solidFill>
                  <a:srgbClr val="1C7C73"/>
                </a:solidFill>
                <a:latin typeface="Bebas Neue"/>
              </a:rPr>
              <a:t>Key terms:  </a:t>
            </a:r>
            <a:r>
              <a:rPr sz="1250" b="0">
                <a:solidFill>
                  <a:srgbClr val="111111"/>
                </a:solidFill>
                <a:latin typeface="Inter"/>
              </a:rPr>
              <a:t>Hidden Markov Model — A statistical model that predicts hidden states, like POS tags, from observed data.  ·  Conditional Random Field — A discriminative model that estimates the probability of a sequence of tags given the input.</a:t>
            </a:r>
          </a:p>
        </p:txBody>
      </p:sp>
      <p:sp>
        <p:nvSpPr>
          <p:cNvPr id="11" name="Rectangle 10"/>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English parts-of-speech include nouns, verbs, adjectives, adverbs, and functional words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52</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5637276"/>
                <a:gridCol w="5637276"/>
              </a:tblGrid>
              <a:tr h="442976">
                <a:tc>
                  <a:txBody>
                    <a:bodyPr/>
                    <a:lstStyle/>
                    <a:p>
                      <a:pPr algn="l"/>
                      <a:r>
                        <a:rPr sz="1850" b="1">
                          <a:solidFill>
                            <a:srgbClr val="FFFFFF"/>
                          </a:solidFill>
                          <a:latin typeface="Bebas Neue"/>
                        </a:rPr>
                        <a:t>Part of Speech</a:t>
                      </a:r>
                    </a:p>
                  </a:txBody>
                  <a:tcPr marL="146304" marR="146304" anchor="ctr">
                    <a:solidFill>
                      <a:srgbClr val="1C7C73"/>
                    </a:solidFill>
                  </a:tcPr>
                </a:tc>
                <a:tc>
                  <a:txBody>
                    <a:bodyPr/>
                    <a:lstStyle/>
                    <a:p>
                      <a:pPr algn="l"/>
                      <a:r>
                        <a:rPr sz="1850" b="1">
                          <a:solidFill>
                            <a:srgbClr val="FFFFFF"/>
                          </a:solidFill>
                          <a:latin typeface="Bebas Neue"/>
                        </a:rPr>
                        <a:t>Examples</a:t>
                      </a:r>
                    </a:p>
                  </a:txBody>
                  <a:tcPr marL="146304" marR="146304" anchor="ctr">
                    <a:solidFill>
                      <a:srgbClr val="1C7C73"/>
                    </a:solidFill>
                  </a:tcPr>
                </a:tc>
              </a:tr>
              <a:tr h="442976">
                <a:tc>
                  <a:txBody>
                    <a:bodyPr/>
                    <a:lstStyle/>
                    <a:p>
                      <a:pPr algn="l"/>
                      <a:r>
                        <a:rPr sz="1550" b="1">
                          <a:solidFill>
                            <a:srgbClr val="1C7C73"/>
                          </a:solidFill>
                          <a:latin typeface="Bebas Neue"/>
                        </a:rPr>
                        <a:t>Nouns</a:t>
                      </a:r>
                    </a:p>
                  </a:txBody>
                  <a:tcPr marL="146304" marR="146304" anchor="ctr">
                    <a:solidFill>
                      <a:srgbClr val="F5F6F8"/>
                    </a:solidFill>
                  </a:tcPr>
                </a:tc>
                <a:tc>
                  <a:txBody>
                    <a:bodyPr/>
                    <a:lstStyle/>
                    <a:p>
                      <a:pPr algn="l"/>
                      <a:r>
                        <a:rPr sz="1550" b="0">
                          <a:solidFill>
                            <a:srgbClr val="111111"/>
                          </a:solidFill>
                          <a:latin typeface="Inter"/>
                        </a:rPr>
                        <a:t>Proper: Ravi, IBM, India; Common: Child, Dog, House</a:t>
                      </a:r>
                    </a:p>
                  </a:txBody>
                  <a:tcPr marL="146304" marR="146304" anchor="ctr">
                    <a:solidFill>
                      <a:srgbClr val="F5F6F8"/>
                    </a:solidFill>
                  </a:tcPr>
                </a:tc>
              </a:tr>
              <a:tr h="442976">
                <a:tc>
                  <a:txBody>
                    <a:bodyPr/>
                    <a:lstStyle/>
                    <a:p>
                      <a:pPr algn="l"/>
                      <a:r>
                        <a:rPr sz="1550" b="1">
                          <a:solidFill>
                            <a:srgbClr val="1C7C73"/>
                          </a:solidFill>
                          <a:latin typeface="Bebas Neue"/>
                        </a:rPr>
                        <a:t>Pronoun</a:t>
                      </a:r>
                    </a:p>
                  </a:txBody>
                  <a:tcPr marL="146304" marR="146304" anchor="ctr">
                    <a:solidFill>
                      <a:srgbClr val="ECF4F3"/>
                    </a:solidFill>
                  </a:tcPr>
                </a:tc>
                <a:tc>
                  <a:txBody>
                    <a:bodyPr/>
                    <a:lstStyle/>
                    <a:p>
                      <a:pPr algn="l"/>
                    </a:p>
                  </a:txBody>
                  <a:tcPr marL="146304" marR="146304" anchor="ctr">
                    <a:solidFill>
                      <a:srgbClr val="ECF4F3"/>
                    </a:solidFill>
                  </a:tcPr>
                </a:tc>
              </a:tr>
              <a:tr h="442976">
                <a:tc>
                  <a:txBody>
                    <a:bodyPr/>
                    <a:lstStyle/>
                    <a:p>
                      <a:pPr algn="l"/>
                      <a:r>
                        <a:rPr sz="1550" b="1">
                          <a:solidFill>
                            <a:srgbClr val="1C7C73"/>
                          </a:solidFill>
                          <a:latin typeface="Bebas Neue"/>
                        </a:rPr>
                        <a:t>Verbs</a:t>
                      </a:r>
                    </a:p>
                  </a:txBody>
                  <a:tcPr marL="146304" marR="146304" anchor="ctr">
                    <a:solidFill>
                      <a:srgbClr val="F5F6F8"/>
                    </a:solidFill>
                  </a:tcPr>
                </a:tc>
                <a:tc>
                  <a:txBody>
                    <a:bodyPr/>
                    <a:lstStyle/>
                    <a:p>
                      <a:pPr algn="l"/>
                    </a:p>
                  </a:txBody>
                  <a:tcPr marL="146304" marR="146304" anchor="ctr">
                    <a:solidFill>
                      <a:srgbClr val="F5F6F8"/>
                    </a:solidFill>
                  </a:tcPr>
                </a:tc>
              </a:tr>
              <a:tr h="442976">
                <a:tc>
                  <a:txBody>
                    <a:bodyPr/>
                    <a:lstStyle/>
                    <a:p>
                      <a:pPr algn="l"/>
                      <a:r>
                        <a:rPr sz="1550" b="1">
                          <a:solidFill>
                            <a:srgbClr val="1C7C73"/>
                          </a:solidFill>
                          <a:latin typeface="Bebas Neue"/>
                        </a:rPr>
                        <a:t>Adverbs</a:t>
                      </a:r>
                    </a:p>
                  </a:txBody>
                  <a:tcPr marL="146304" marR="146304" anchor="ctr">
                    <a:solidFill>
                      <a:srgbClr val="ECF4F3"/>
                    </a:solidFill>
                  </a:tcPr>
                </a:tc>
                <a:tc>
                  <a:txBody>
                    <a:bodyPr/>
                    <a:lstStyle/>
                    <a:p>
                      <a:pPr algn="l"/>
                    </a:p>
                  </a:txBody>
                  <a:tcPr marL="146304" marR="146304" anchor="ctr">
                    <a:solidFill>
                      <a:srgbClr val="ECF4F3"/>
                    </a:solidFill>
                  </a:tcPr>
                </a:tc>
              </a:tr>
              <a:tr h="442976">
                <a:tc>
                  <a:txBody>
                    <a:bodyPr/>
                    <a:lstStyle/>
                    <a:p>
                      <a:pPr algn="l"/>
                      <a:r>
                        <a:rPr sz="1550" b="1">
                          <a:solidFill>
                            <a:srgbClr val="1C7C73"/>
                          </a:solidFill>
                          <a:latin typeface="Bebas Neue"/>
                        </a:rPr>
                        <a:t>Prepositions</a:t>
                      </a:r>
                    </a:p>
                  </a:txBody>
                  <a:tcPr marL="146304" marR="146304" anchor="ctr">
                    <a:solidFill>
                      <a:srgbClr val="F5F6F8"/>
                    </a:solidFill>
                  </a:tcPr>
                </a:tc>
                <a:tc>
                  <a:txBody>
                    <a:bodyPr/>
                    <a:lstStyle/>
                    <a:p>
                      <a:pPr algn="l"/>
                      <a:r>
                        <a:rPr sz="1550" b="0">
                          <a:solidFill>
                            <a:srgbClr val="111111"/>
                          </a:solidFill>
                          <a:latin typeface="Inter"/>
                        </a:rPr>
                        <a:t>in, out, besides, in front of, below, opposite</a:t>
                      </a:r>
                    </a:p>
                  </a:txBody>
                  <a:tcPr marL="146304" marR="146304" anchor="ctr">
                    <a:solidFill>
                      <a:srgbClr val="F5F6F8"/>
                    </a:solidFill>
                  </a:tcPr>
                </a:tc>
              </a:tr>
              <a:tr h="442976">
                <a:tc>
                  <a:txBody>
                    <a:bodyPr/>
                    <a:lstStyle/>
                    <a:p>
                      <a:pPr algn="l"/>
                      <a:r>
                        <a:rPr sz="1550" b="1">
                          <a:solidFill>
                            <a:srgbClr val="1C7C73"/>
                          </a:solidFill>
                          <a:latin typeface="Bebas Neue"/>
                        </a:rPr>
                        <a:t>Adjectives</a:t>
                      </a:r>
                    </a:p>
                  </a:txBody>
                  <a:tcPr marL="146304" marR="146304" anchor="ctr">
                    <a:solidFill>
                      <a:srgbClr val="ECF4F3"/>
                    </a:solidFill>
                  </a:tcPr>
                </a:tc>
                <a:tc>
                  <a:txBody>
                    <a:bodyPr/>
                    <a:lstStyle/>
                    <a:p>
                      <a:pPr algn="l"/>
                    </a:p>
                  </a:txBody>
                  <a:tcPr marL="146304" marR="146304" anchor="ctr">
                    <a:solidFill>
                      <a:srgbClr val="ECF4F3"/>
                    </a:solidFill>
                  </a:tcPr>
                </a:tc>
              </a:tr>
              <a:tr h="442976">
                <a:tc>
                  <a:txBody>
                    <a:bodyPr/>
                    <a:lstStyle/>
                    <a:p>
                      <a:pPr algn="l"/>
                      <a:r>
                        <a:rPr sz="1550" b="1">
                          <a:solidFill>
                            <a:srgbClr val="1C7C73"/>
                          </a:solidFill>
                          <a:latin typeface="Bebas Neue"/>
                        </a:rPr>
                        <a:t>Conjunctions</a:t>
                      </a:r>
                    </a:p>
                  </a:txBody>
                  <a:tcPr marL="146304" marR="146304" anchor="ctr">
                    <a:solidFill>
                      <a:srgbClr val="F5F6F8"/>
                    </a:solidFill>
                  </a:tcPr>
                </a:tc>
                <a:tc>
                  <a:txBody>
                    <a:bodyPr/>
                    <a:lstStyle/>
                    <a:p>
                      <a:pPr algn="l"/>
                      <a:r>
                        <a:rPr sz="1550" b="0">
                          <a:solidFill>
                            <a:srgbClr val="111111"/>
                          </a:solidFill>
                          <a:latin typeface="Inter"/>
                        </a:rPr>
                        <a:t>and, or, for, yet, although, because, not only</a:t>
                      </a:r>
                    </a:p>
                  </a:txBody>
                  <a:tcPr marL="146304" marR="146304" anchor="ctr">
                    <a:solidFill>
                      <a:srgbClr val="F5F6F8"/>
                    </a:solidFill>
                  </a:tcPr>
                </a:tc>
              </a:tr>
              <a:tr h="442976">
                <a:tc>
                  <a:txBody>
                    <a:bodyPr/>
                    <a:lstStyle/>
                    <a:p>
                      <a:pPr algn="l"/>
                      <a:r>
                        <a:rPr sz="1550" b="1">
                          <a:solidFill>
                            <a:srgbClr val="1C7C73"/>
                          </a:solidFill>
                          <a:latin typeface="Bebas Neue"/>
                        </a:rPr>
                        <a:t>Interjections</a:t>
                      </a:r>
                    </a:p>
                  </a:txBody>
                  <a:tcPr marL="146304" marR="146304" anchor="ctr">
                    <a:solidFill>
                      <a:srgbClr val="ECF4F3"/>
                    </a:solidFill>
                  </a:tcPr>
                </a:tc>
                <a:tc>
                  <a:txBody>
                    <a:bodyPr/>
                    <a:lstStyle/>
                    <a:p>
                      <a:pPr algn="l"/>
                      <a:r>
                        <a:rPr sz="1550" b="0">
                          <a:solidFill>
                            <a:srgbClr val="111111"/>
                          </a:solidFill>
                          <a:latin typeface="Inter"/>
                        </a:rPr>
                        <a:t>oh, wow, alas, yippee (followed by !)</a:t>
                      </a:r>
                    </a:p>
                  </a:txBody>
                  <a:tcPr marL="146304" marR="146304" anchor="ctr">
                    <a:solidFill>
                      <a:srgbClr val="ECF4F3"/>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English parts of speech include nouns, verbs, adjectives, adverbs, pronouns, prepositions, conjunctions, interjections, particles, and determiners.</a:t>
            </a:r>
          </a:p>
          <a:p>
            <a:pPr algn="l"/>
            <a:r>
              <a:rPr b="1" sz="1300">
                <a:solidFill>
                  <a:srgbClr val="1C7C73"/>
                </a:solidFill>
                <a:latin typeface="Bebas Neue"/>
              </a:rPr>
              <a:t>Key terms:  </a:t>
            </a:r>
            <a:r>
              <a:rPr sz="1300" b="0">
                <a:solidFill>
                  <a:srgbClr val="111111"/>
                </a:solidFill>
                <a:latin typeface="Inter"/>
              </a:rPr>
              <a:t>Interjection — A word expressing emotion, often followed by an exclamation mark.</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 part-of-speech is a grammatical category grouping words with similar properties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787915"/>
          </a:xfrm>
          <a:prstGeom prst="rect">
            <a:avLst/>
          </a:prstGeom>
          <a:noFill/>
        </p:spPr>
        <p:txBody>
          <a:bodyPr wrap="square" anchor="t" lIns="0" tIns="0" rIns="0" bIns="0">
            <a:spAutoFit/>
          </a:bodyPr>
          <a:lstStyle/>
          <a:p>
            <a:pPr algn="l"/>
            <a:r>
              <a:rPr sz="1980" b="1">
                <a:solidFill>
                  <a:srgbClr val="1C7C73"/>
                </a:solidFill>
                <a:latin typeface="Bebas Neue"/>
              </a:rPr>
              <a:t>Part‑of‑Speech Definition</a:t>
            </a:r>
          </a:p>
          <a:p>
            <a:pPr algn="l">
              <a:spcBef>
                <a:spcPts val="500"/>
              </a:spcBef>
            </a:pPr>
            <a:r>
              <a:rPr sz="1650" b="0">
                <a:solidFill>
                  <a:srgbClr val="111111"/>
                </a:solidFill>
                <a:latin typeface="Inter"/>
              </a:rPr>
              <a:t>A grammatical category grouping words with similar properties.</a:t>
            </a:r>
          </a:p>
        </p:txBody>
      </p:sp>
      <p:sp>
        <p:nvSpPr>
          <p:cNvPr id="12" name="Rounded Rectangle 11"/>
          <p:cNvSpPr/>
          <p:nvPr/>
        </p:nvSpPr>
        <p:spPr>
          <a:xfrm>
            <a:off x="3152241"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787915"/>
          </a:xfrm>
          <a:prstGeom prst="rect">
            <a:avLst/>
          </a:prstGeom>
          <a:noFill/>
        </p:spPr>
        <p:txBody>
          <a:bodyPr wrap="square" anchor="t" lIns="0" tIns="0" rIns="0" bIns="0">
            <a:spAutoFit/>
          </a:bodyPr>
          <a:lstStyle/>
          <a:p>
            <a:pPr algn="l"/>
            <a:r>
              <a:rPr sz="1980" b="1">
                <a:solidFill>
                  <a:srgbClr val="1C7C73"/>
                </a:solidFill>
                <a:latin typeface="Bebas Neue"/>
              </a:rPr>
              <a:t>Four Major Word Classes</a:t>
            </a:r>
          </a:p>
          <a:p>
            <a:pPr algn="l">
              <a:spcBef>
                <a:spcPts val="500"/>
              </a:spcBef>
            </a:pPr>
            <a:r>
              <a:rPr sz="1650" b="0">
                <a:solidFill>
                  <a:srgbClr val="111111"/>
                </a:solidFill>
                <a:latin typeface="Inter"/>
              </a:rPr>
              <a:t>Nouns, Verbs, Adjectives, Adverbs.</a:t>
            </a:r>
          </a:p>
        </p:txBody>
      </p:sp>
      <p:sp>
        <p:nvSpPr>
          <p:cNvPr id="16" name="Rounded Rectangle 15"/>
          <p:cNvSpPr/>
          <p:nvPr/>
        </p:nvSpPr>
        <p:spPr>
          <a:xfrm>
            <a:off x="5847283"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787915"/>
          </a:xfrm>
          <a:prstGeom prst="rect">
            <a:avLst/>
          </a:prstGeom>
          <a:noFill/>
        </p:spPr>
        <p:txBody>
          <a:bodyPr wrap="square" anchor="t" lIns="0" tIns="0" rIns="0" bIns="0">
            <a:spAutoFit/>
          </a:bodyPr>
          <a:lstStyle/>
          <a:p>
            <a:pPr algn="l"/>
            <a:r>
              <a:rPr sz="1980" b="1">
                <a:solidFill>
                  <a:srgbClr val="1C7C73"/>
                </a:solidFill>
                <a:latin typeface="Bebas Neue"/>
              </a:rPr>
              <a:t>Example</a:t>
            </a:r>
          </a:p>
          <a:p>
            <a:pPr algn="l">
              <a:spcBef>
                <a:spcPts val="500"/>
              </a:spcBef>
            </a:pPr>
            <a:r>
              <a:rPr sz="1650" b="0">
                <a:solidFill>
                  <a:srgbClr val="111111"/>
                </a:solidFill>
                <a:latin typeface="Inter"/>
              </a:rPr>
              <a:t>Both "run" and "jump" belong to the verb class because they describe actions.</a:t>
            </a:r>
          </a:p>
        </p:txBody>
      </p:sp>
      <p:sp>
        <p:nvSpPr>
          <p:cNvPr id="20" name="Rounded Rectangle 19"/>
          <p:cNvSpPr/>
          <p:nvPr/>
        </p:nvSpPr>
        <p:spPr>
          <a:xfrm>
            <a:off x="457200" y="4403099"/>
            <a:ext cx="7883956" cy="88213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403099"/>
            <a:ext cx="73152" cy="88213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In grammar, a part-of-speech (POS) is also called a word class. It groups words that behave similarly in sentences.</a:t>
            </a:r>
          </a:p>
        </p:txBody>
      </p:sp>
      <p:sp>
        <p:nvSpPr>
          <p:cNvPr id="23" name="Rounded Rectangle 22"/>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pos — Part-Of-Speech tagging  ·  Word class — A category of words sharing grammatical functions, such as nouns or verbs.</a:t>
            </a:r>
          </a:p>
        </p:txBody>
      </p:sp>
      <p:sp>
        <p:nvSpPr>
          <p:cNvPr id="24" name="Rectangle 23"/>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Closed-class parts-of-speech are functional words with a fixed vocabulary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52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3381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47199"/>
            <a:ext cx="340156" cy="340156"/>
          </a:xfrm>
          <a:prstGeom prst="rect">
            <a:avLst/>
          </a:prstGeom>
        </p:spPr>
      </p:pic>
      <p:sp>
        <p:nvSpPr>
          <p:cNvPr id="11" name="TextBox 10"/>
          <p:cNvSpPr txBox="1"/>
          <p:nvPr/>
        </p:nvSpPr>
        <p:spPr>
          <a:xfrm>
            <a:off x="1408175" y="1371600"/>
            <a:ext cx="2622804" cy="891355"/>
          </a:xfrm>
          <a:prstGeom prst="rect">
            <a:avLst/>
          </a:prstGeom>
          <a:noFill/>
        </p:spPr>
        <p:txBody>
          <a:bodyPr wrap="square" anchor="ctr" lIns="0" tIns="0" rIns="0" bIns="0">
            <a:spAutoFit/>
          </a:bodyPr>
          <a:lstStyle/>
          <a:p>
            <a:pPr algn="l"/>
            <a:r>
              <a:rPr sz="2640" b="1">
                <a:solidFill>
                  <a:srgbClr val="1C7C73"/>
                </a:solidFill>
                <a:latin typeface="Bebas Neue"/>
              </a:rPr>
              <a:t>Determiners</a:t>
            </a:r>
          </a:p>
          <a:p>
            <a:pPr algn="l">
              <a:spcBef>
                <a:spcPts val="500"/>
              </a:spcBef>
            </a:pPr>
            <a:r>
              <a:rPr sz="2200" b="0">
                <a:solidFill>
                  <a:srgbClr val="111111"/>
                </a:solidFill>
                <a:latin typeface="Inter"/>
              </a:rPr>
              <a:t>a, an, the</a:t>
            </a:r>
          </a:p>
        </p:txBody>
      </p:sp>
      <p:sp>
        <p:nvSpPr>
          <p:cNvPr id="12" name="Rounded Rectangle 11"/>
          <p:cNvSpPr/>
          <p:nvPr/>
        </p:nvSpPr>
        <p:spPr>
          <a:xfrm>
            <a:off x="4433315" y="1298448"/>
            <a:ext cx="3774947"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3381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47199"/>
            <a:ext cx="340156" cy="340156"/>
          </a:xfrm>
          <a:prstGeom prst="rect">
            <a:avLst/>
          </a:prstGeom>
        </p:spPr>
      </p:pic>
      <p:sp>
        <p:nvSpPr>
          <p:cNvPr id="15" name="TextBox 14"/>
          <p:cNvSpPr txBox="1"/>
          <p:nvPr/>
        </p:nvSpPr>
        <p:spPr>
          <a:xfrm>
            <a:off x="5384291" y="1371600"/>
            <a:ext cx="2622804" cy="891355"/>
          </a:xfrm>
          <a:prstGeom prst="rect">
            <a:avLst/>
          </a:prstGeom>
          <a:noFill/>
        </p:spPr>
        <p:txBody>
          <a:bodyPr wrap="square" anchor="ctr" lIns="0" tIns="0" rIns="0" bIns="0">
            <a:spAutoFit/>
          </a:bodyPr>
          <a:lstStyle/>
          <a:p>
            <a:pPr algn="l"/>
            <a:r>
              <a:rPr sz="2640" b="1">
                <a:solidFill>
                  <a:srgbClr val="1C7C73"/>
                </a:solidFill>
                <a:latin typeface="Bebas Neue"/>
              </a:rPr>
              <a:t>Pronouns</a:t>
            </a:r>
          </a:p>
          <a:p>
            <a:pPr algn="l">
              <a:spcBef>
                <a:spcPts val="500"/>
              </a:spcBef>
            </a:pPr>
            <a:r>
              <a:rPr sz="2200" b="0">
                <a:solidFill>
                  <a:srgbClr val="111111"/>
                </a:solidFill>
                <a:latin typeface="Inter"/>
              </a:rPr>
              <a:t>she, he, I, others</a:t>
            </a:r>
          </a:p>
        </p:txBody>
      </p:sp>
      <p:sp>
        <p:nvSpPr>
          <p:cNvPr id="16" name="Rounded Rectangle 15"/>
          <p:cNvSpPr/>
          <p:nvPr/>
        </p:nvSpPr>
        <p:spPr>
          <a:xfrm>
            <a:off x="457200" y="2537275"/>
            <a:ext cx="7751064"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77264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886026"/>
            <a:ext cx="340156" cy="340156"/>
          </a:xfrm>
          <a:prstGeom prst="rect">
            <a:avLst/>
          </a:prstGeom>
        </p:spPr>
      </p:pic>
      <p:sp>
        <p:nvSpPr>
          <p:cNvPr id="19" name="TextBox 18"/>
          <p:cNvSpPr txBox="1"/>
          <p:nvPr/>
        </p:nvSpPr>
        <p:spPr>
          <a:xfrm>
            <a:off x="1408175" y="2610427"/>
            <a:ext cx="6598919" cy="891355"/>
          </a:xfrm>
          <a:prstGeom prst="rect">
            <a:avLst/>
          </a:prstGeom>
          <a:noFill/>
        </p:spPr>
        <p:txBody>
          <a:bodyPr wrap="square" anchor="ctr" lIns="0" tIns="0" rIns="0" bIns="0">
            <a:spAutoFit/>
          </a:bodyPr>
          <a:lstStyle/>
          <a:p>
            <a:pPr algn="l"/>
            <a:r>
              <a:rPr sz="2640" b="1">
                <a:solidFill>
                  <a:srgbClr val="1C7C73"/>
                </a:solidFill>
                <a:latin typeface="Bebas Neue"/>
              </a:rPr>
              <a:t>Prepositions</a:t>
            </a:r>
          </a:p>
          <a:p>
            <a:pPr algn="l">
              <a:spcBef>
                <a:spcPts val="500"/>
              </a:spcBef>
            </a:pPr>
            <a:r>
              <a:rPr sz="2200" b="0">
                <a:solidFill>
                  <a:srgbClr val="111111"/>
                </a:solidFill>
                <a:latin typeface="Inter"/>
              </a:rPr>
              <a:t>on, under, over, near, by, at, from, to, with</a:t>
            </a:r>
          </a:p>
        </p:txBody>
      </p:sp>
      <p:sp>
        <p:nvSpPr>
          <p:cNvPr id="20" name="Rounded Rectangle 19"/>
          <p:cNvSpPr/>
          <p:nvPr/>
        </p:nvSpPr>
        <p:spPr>
          <a:xfrm>
            <a:off x="457200" y="3776102"/>
            <a:ext cx="7751064" cy="1509129"/>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356043" cy="1362825"/>
          </a:xfrm>
          <a:prstGeom prst="rect">
            <a:avLst/>
          </a:prstGeom>
          <a:noFill/>
        </p:spPr>
        <p:txBody>
          <a:bodyPr wrap="square" anchor="ctr" lIns="0" tIns="0" rIns="0" bIns="0">
            <a:spAutoFit/>
          </a:bodyPr>
          <a:lstStyle/>
          <a:p>
            <a:pPr algn="l"/>
            <a:r>
              <a:rPr sz="940" b="1">
                <a:solidFill>
                  <a:srgbClr val="1C7C73"/>
                </a:solidFill>
                <a:latin typeface="Bebas Neue"/>
              </a:rPr>
              <a:t>ALSO ON THIS SLIDE</a:t>
            </a:r>
          </a:p>
          <a:p>
            <a:pPr algn="l">
              <a:spcBef>
                <a:spcPts val="300"/>
              </a:spcBef>
            </a:pPr>
            <a:r>
              <a:rPr sz="1300" b="0">
                <a:solidFill>
                  <a:srgbClr val="111111"/>
                </a:solidFill>
                <a:latin typeface="Inter"/>
              </a:rPr>
              <a:t>Parts-of-speech can be divided into two broad supercategories: Closed class types Closed classes are those with a relatively fixed/number of words, and we rarely add new words to these POS, such as prepositions. Closed class words are generally functional words like of, it, and, or you, which tend to be very short, occur frequently, and often have structuring uses in grammar.</a:t>
            </a:r>
          </a:p>
        </p:txBody>
      </p:sp>
      <p:sp>
        <p:nvSpPr>
          <p:cNvPr id="23" name="Rounded Rectangle 22"/>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Closed class — A POS group with a limited, stable set of words, like prepositions.</a:t>
            </a:r>
          </a:p>
        </p:txBody>
      </p:sp>
      <p:sp>
        <p:nvSpPr>
          <p:cNvPr id="24" name="Rectangle 23"/>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 POS group with a limited, stable set of words, like prepositions.”?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Tag</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Taggit</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JIS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Closed class</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Closed class: A POS group with a limited, stable set of words, like prepositions.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Open-class parts-of-speech are content words that expand over time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3381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47199"/>
            <a:ext cx="340156" cy="340156"/>
          </a:xfrm>
          <a:prstGeom prst="rect">
            <a:avLst/>
          </a:prstGeom>
        </p:spPr>
      </p:pic>
      <p:sp>
        <p:nvSpPr>
          <p:cNvPr id="11" name="TextBox 10"/>
          <p:cNvSpPr txBox="1"/>
          <p:nvPr/>
        </p:nvSpPr>
        <p:spPr>
          <a:xfrm>
            <a:off x="1408175" y="1371600"/>
            <a:ext cx="2689250" cy="891355"/>
          </a:xfrm>
          <a:prstGeom prst="rect">
            <a:avLst/>
          </a:prstGeom>
          <a:noFill/>
        </p:spPr>
        <p:txBody>
          <a:bodyPr wrap="square" anchor="ctr" lIns="0" tIns="0" rIns="0" bIns="0">
            <a:spAutoFit/>
          </a:bodyPr>
          <a:lstStyle/>
          <a:p>
            <a:pPr algn="l"/>
            <a:r>
              <a:rPr sz="1920" b="1">
                <a:solidFill>
                  <a:srgbClr val="1C7C73"/>
                </a:solidFill>
                <a:latin typeface="Bebas Neue"/>
              </a:rPr>
              <a:t>Nouns</a:t>
            </a:r>
          </a:p>
          <a:p>
            <a:pPr algn="l">
              <a:spcBef>
                <a:spcPts val="500"/>
              </a:spcBef>
            </a:pPr>
            <a:r>
              <a:rPr sz="1600" b="0">
                <a:solidFill>
                  <a:srgbClr val="111111"/>
                </a:solidFill>
                <a:latin typeface="Inter"/>
              </a:rPr>
              <a:t>computer, board, peace, school</a:t>
            </a:r>
          </a:p>
        </p:txBody>
      </p:sp>
      <p:sp>
        <p:nvSpPr>
          <p:cNvPr id="12" name="Rounded Rectangle 11"/>
          <p:cNvSpPr/>
          <p:nvPr/>
        </p:nvSpPr>
        <p:spPr>
          <a:xfrm>
            <a:off x="4499762" y="1298448"/>
            <a:ext cx="3841394"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53381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47199"/>
            <a:ext cx="340156" cy="340156"/>
          </a:xfrm>
          <a:prstGeom prst="rect">
            <a:avLst/>
          </a:prstGeom>
        </p:spPr>
      </p:pic>
      <p:sp>
        <p:nvSpPr>
          <p:cNvPr id="15" name="TextBox 14"/>
          <p:cNvSpPr txBox="1"/>
          <p:nvPr/>
        </p:nvSpPr>
        <p:spPr>
          <a:xfrm>
            <a:off x="5450738" y="1371600"/>
            <a:ext cx="2689250" cy="891355"/>
          </a:xfrm>
          <a:prstGeom prst="rect">
            <a:avLst/>
          </a:prstGeom>
          <a:noFill/>
        </p:spPr>
        <p:txBody>
          <a:bodyPr wrap="square" anchor="ctr" lIns="0" tIns="0" rIns="0" bIns="0">
            <a:spAutoFit/>
          </a:bodyPr>
          <a:lstStyle/>
          <a:p>
            <a:pPr algn="l"/>
            <a:r>
              <a:rPr sz="1920" b="1">
                <a:solidFill>
                  <a:srgbClr val="1C7C73"/>
                </a:solidFill>
                <a:latin typeface="Bebas Neue"/>
              </a:rPr>
              <a:t>Verbs</a:t>
            </a:r>
          </a:p>
          <a:p>
            <a:pPr algn="l">
              <a:spcBef>
                <a:spcPts val="500"/>
              </a:spcBef>
            </a:pPr>
            <a:r>
              <a:rPr sz="1600" b="0">
                <a:solidFill>
                  <a:srgbClr val="111111"/>
                </a:solidFill>
                <a:latin typeface="Inter"/>
              </a:rPr>
              <a:t>say, walk, run, belong</a:t>
            </a:r>
          </a:p>
        </p:txBody>
      </p:sp>
      <p:sp>
        <p:nvSpPr>
          <p:cNvPr id="16" name="Rounded Rectangle 15"/>
          <p:cNvSpPr/>
          <p:nvPr/>
        </p:nvSpPr>
        <p:spPr>
          <a:xfrm>
            <a:off x="457200" y="2537275"/>
            <a:ext cx="3841394"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77264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886026"/>
            <a:ext cx="340156" cy="340156"/>
          </a:xfrm>
          <a:prstGeom prst="rect">
            <a:avLst/>
          </a:prstGeom>
        </p:spPr>
      </p:pic>
      <p:sp>
        <p:nvSpPr>
          <p:cNvPr id="19" name="TextBox 18"/>
          <p:cNvSpPr txBox="1"/>
          <p:nvPr/>
        </p:nvSpPr>
        <p:spPr>
          <a:xfrm>
            <a:off x="1408175" y="2610427"/>
            <a:ext cx="2689250" cy="891355"/>
          </a:xfrm>
          <a:prstGeom prst="rect">
            <a:avLst/>
          </a:prstGeom>
          <a:noFill/>
        </p:spPr>
        <p:txBody>
          <a:bodyPr wrap="square" anchor="ctr" lIns="0" tIns="0" rIns="0" bIns="0">
            <a:spAutoFit/>
          </a:bodyPr>
          <a:lstStyle/>
          <a:p>
            <a:pPr algn="l"/>
            <a:r>
              <a:rPr sz="1920" b="1">
                <a:solidFill>
                  <a:srgbClr val="1C7C73"/>
                </a:solidFill>
                <a:latin typeface="Bebas Neue"/>
              </a:rPr>
              <a:t>Adjectives</a:t>
            </a:r>
          </a:p>
          <a:p>
            <a:pPr algn="l">
              <a:spcBef>
                <a:spcPts val="500"/>
              </a:spcBef>
            </a:pPr>
            <a:r>
              <a:rPr sz="1600" b="0">
                <a:solidFill>
                  <a:srgbClr val="111111"/>
                </a:solidFill>
                <a:latin typeface="Inter"/>
              </a:rPr>
              <a:t>clean, quick, rapid, enormous</a:t>
            </a:r>
          </a:p>
        </p:txBody>
      </p:sp>
      <p:sp>
        <p:nvSpPr>
          <p:cNvPr id="20" name="Rounded Rectangle 19"/>
          <p:cNvSpPr/>
          <p:nvPr/>
        </p:nvSpPr>
        <p:spPr>
          <a:xfrm>
            <a:off x="4499762" y="2537275"/>
            <a:ext cx="3841394"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77264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886026"/>
            <a:ext cx="340156" cy="340156"/>
          </a:xfrm>
          <a:prstGeom prst="rect">
            <a:avLst/>
          </a:prstGeom>
        </p:spPr>
      </p:pic>
      <p:sp>
        <p:nvSpPr>
          <p:cNvPr id="23" name="TextBox 22"/>
          <p:cNvSpPr txBox="1"/>
          <p:nvPr/>
        </p:nvSpPr>
        <p:spPr>
          <a:xfrm>
            <a:off x="5450738" y="2610427"/>
            <a:ext cx="2689250" cy="891355"/>
          </a:xfrm>
          <a:prstGeom prst="rect">
            <a:avLst/>
          </a:prstGeom>
          <a:noFill/>
        </p:spPr>
        <p:txBody>
          <a:bodyPr wrap="square" anchor="ctr" lIns="0" tIns="0" rIns="0" bIns="0">
            <a:spAutoFit/>
          </a:bodyPr>
          <a:lstStyle/>
          <a:p>
            <a:pPr algn="l"/>
            <a:r>
              <a:rPr sz="1920" b="1">
                <a:solidFill>
                  <a:srgbClr val="1C7C73"/>
                </a:solidFill>
                <a:latin typeface="Bebas Neue"/>
              </a:rPr>
              <a:t>Adverbs</a:t>
            </a:r>
          </a:p>
          <a:p>
            <a:pPr algn="l">
              <a:spcBef>
                <a:spcPts val="500"/>
              </a:spcBef>
            </a:pPr>
            <a:r>
              <a:rPr sz="1600" b="0">
                <a:solidFill>
                  <a:srgbClr val="111111"/>
                </a:solidFill>
                <a:latin typeface="Inter"/>
              </a:rPr>
              <a:t>quickly, softly, enormously, cheerfully</a:t>
            </a:r>
          </a:p>
        </p:txBody>
      </p:sp>
      <p:sp>
        <p:nvSpPr>
          <p:cNvPr id="24" name="Rounded Rectangle 23"/>
          <p:cNvSpPr/>
          <p:nvPr/>
        </p:nvSpPr>
        <p:spPr>
          <a:xfrm>
            <a:off x="457200" y="3776102"/>
            <a:ext cx="7883956" cy="1509129"/>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776102"/>
            <a:ext cx="73152" cy="1509129"/>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C7C73"/>
                </a:solidFill>
                <a:latin typeface="Bebas Neue"/>
              </a:rPr>
              <a:t>ALSO ON THIS SLIDE</a:t>
            </a:r>
          </a:p>
          <a:p>
            <a:pPr algn="l">
              <a:spcBef>
                <a:spcPts val="300"/>
              </a:spcBef>
            </a:pPr>
            <a:r>
              <a:rPr sz="1300" b="0">
                <a:solidFill>
                  <a:srgbClr val="111111"/>
                </a:solidFill>
                <a:latin typeface="Inter"/>
              </a:rPr>
              <a:t>Parts-of-speech can be divided into two broad supercategories: Open class types Open Classes are mostly content-bearing, i.e., they refer to objects, actions, and features; it's called open classes since new words are added all the time. By contrast, nouns and verbs, adjectives, and adverbs belong to open classes; new nouns and verbs like iPhone or to fax are continually being created or borrowed.</a:t>
            </a:r>
          </a:p>
        </p:txBody>
      </p:sp>
      <p:sp>
        <p:nvSpPr>
          <p:cNvPr id="27" name="Rounded Rectangle 26"/>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Open class — A POS group that regularly gains new words, such as nouns and verbs.</a:t>
            </a:r>
          </a:p>
        </p:txBody>
      </p:sp>
      <p:sp>
        <p:nvSpPr>
          <p:cNvPr id="28" name="Rectangle 27"/>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Part-Of-Speech tagging (POS) (5/8)</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52</a:t>
            </a:r>
          </a:p>
        </p:txBody>
      </p:sp>
      <p:sp>
        <p:nvSpPr>
          <p:cNvPr id="8" name="Rounded Rectangle 7">
            <a:hlinkClick r:id="rId5"/>
          </p:cNvPr>
          <p:cNvSpPr/>
          <p:nvPr/>
        </p:nvSpPr>
        <p:spPr>
          <a:xfrm>
            <a:off x="3802989" y="6455664"/>
            <a:ext cx="4582972" cy="310896"/>
          </a:xfrm>
          <a:prstGeom prst="round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graphicFrame>
        <p:nvGraphicFramePr>
          <p:cNvPr id="9" name="Table 8"/>
          <p:cNvGraphicFramePr>
            <a:graphicFrameLocks noGrp="1"/>
          </p:cNvGraphicFramePr>
          <p:nvPr/>
        </p:nvGraphicFramePr>
        <p:xfrm>
          <a:off x="457200" y="1298448"/>
          <a:ext cx="11274552" cy="3986780"/>
        </p:xfrm>
        <a:graphic>
          <a:graphicData uri="http://schemas.openxmlformats.org/drawingml/2006/table">
            <a:tbl>
              <a:tblPr firstRow="1" bandRow="1">
                <a:tableStyleId>{5C22544A-7EE6-4342-B048-85BDC9FD1C3A}</a:tableStyleId>
              </a:tblPr>
              <a:tblGrid>
                <a:gridCol w="5637276"/>
                <a:gridCol w="5637276"/>
              </a:tblGrid>
              <a:tr h="569540">
                <a:tc>
                  <a:txBody>
                    <a:bodyPr/>
                    <a:lstStyle/>
                    <a:p>
                      <a:pPr algn="l"/>
                      <a:r>
                        <a:rPr sz="2000" b="1">
                          <a:solidFill>
                            <a:srgbClr val="FFFFFF"/>
                          </a:solidFill>
                          <a:latin typeface="Bebas Neue"/>
                        </a:rPr>
                        <a:t>Word</a:t>
                      </a:r>
                    </a:p>
                  </a:txBody>
                  <a:tcPr marL="146304" marR="146304" anchor="ctr">
                    <a:solidFill>
                      <a:srgbClr val="1C7C73"/>
                    </a:solidFill>
                  </a:tcPr>
                </a:tc>
                <a:tc>
                  <a:txBody>
                    <a:bodyPr/>
                    <a:lstStyle/>
                    <a:p>
                      <a:pPr algn="l"/>
                      <a:r>
                        <a:rPr sz="2000" b="1">
                          <a:solidFill>
                            <a:srgbClr val="FFFFFF"/>
                          </a:solidFill>
                          <a:latin typeface="Bebas Neue"/>
                        </a:rPr>
                        <a:t>POS Category</a:t>
                      </a:r>
                    </a:p>
                  </a:txBody>
                  <a:tcPr marL="146304" marR="146304" anchor="ctr">
                    <a:solidFill>
                      <a:srgbClr val="1C7C73"/>
                    </a:solidFill>
                  </a:tcPr>
                </a:tc>
              </a:tr>
              <a:tr h="569540">
                <a:tc>
                  <a:txBody>
                    <a:bodyPr/>
                    <a:lstStyle/>
                    <a:p>
                      <a:pPr algn="l"/>
                      <a:r>
                        <a:rPr sz="2000" b="1">
                          <a:solidFill>
                            <a:srgbClr val="1C7C73"/>
                          </a:solidFill>
                          <a:latin typeface="Bebas Neue"/>
                        </a:rPr>
                        <a:t>Our</a:t>
                      </a:r>
                    </a:p>
                  </a:txBody>
                  <a:tcPr marL="146304" marR="146304" anchor="ctr">
                    <a:solidFill>
                      <a:srgbClr val="F5F6F8"/>
                    </a:solidFill>
                  </a:tcPr>
                </a:tc>
                <a:tc>
                  <a:txBody>
                    <a:bodyPr/>
                    <a:lstStyle/>
                    <a:p>
                      <a:pPr algn="l"/>
                      <a:r>
                        <a:rPr sz="2000" b="0">
                          <a:solidFill>
                            <a:srgbClr val="111111"/>
                          </a:solidFill>
                          <a:latin typeface="Inter"/>
                        </a:rPr>
                        <a:t>Pronoun</a:t>
                      </a:r>
                    </a:p>
                  </a:txBody>
                  <a:tcPr marL="146304" marR="146304" anchor="ctr">
                    <a:solidFill>
                      <a:srgbClr val="F5F6F8"/>
                    </a:solidFill>
                  </a:tcPr>
                </a:tc>
              </a:tr>
              <a:tr h="569540">
                <a:tc>
                  <a:txBody>
                    <a:bodyPr/>
                    <a:lstStyle/>
                    <a:p>
                      <a:pPr algn="l"/>
                      <a:r>
                        <a:rPr sz="2000" b="1">
                          <a:solidFill>
                            <a:srgbClr val="1C7C73"/>
                          </a:solidFill>
                          <a:latin typeface="Bebas Neue"/>
                        </a:rPr>
                        <a:t>Dog, cat, home</a:t>
                      </a:r>
                    </a:p>
                  </a:txBody>
                  <a:tcPr marL="146304" marR="146304" anchor="ctr">
                    <a:solidFill>
                      <a:srgbClr val="ECF4F3"/>
                    </a:solidFill>
                  </a:tcPr>
                </a:tc>
                <a:tc>
                  <a:txBody>
                    <a:bodyPr/>
                    <a:lstStyle/>
                    <a:p>
                      <a:pPr algn="l"/>
                      <a:r>
                        <a:rPr sz="2000" b="0">
                          <a:solidFill>
                            <a:srgbClr val="111111"/>
                          </a:solidFill>
                          <a:latin typeface="Inter"/>
                        </a:rPr>
                        <a:t>Noun</a:t>
                      </a:r>
                    </a:p>
                  </a:txBody>
                  <a:tcPr marL="146304" marR="146304" anchor="ctr">
                    <a:solidFill>
                      <a:srgbClr val="ECF4F3"/>
                    </a:solidFill>
                  </a:tcPr>
                </a:tc>
              </a:tr>
              <a:tr h="569540">
                <a:tc>
                  <a:txBody>
                    <a:bodyPr/>
                    <a:lstStyle/>
                    <a:p>
                      <a:pPr algn="l"/>
                      <a:r>
                        <a:rPr sz="2000" b="1">
                          <a:solidFill>
                            <a:srgbClr val="1C7C73"/>
                          </a:solidFill>
                          <a:latin typeface="Bebas Neue"/>
                        </a:rPr>
                        <a:t>A, the</a:t>
                      </a:r>
                    </a:p>
                  </a:txBody>
                  <a:tcPr marL="146304" marR="146304" anchor="ctr">
                    <a:solidFill>
                      <a:srgbClr val="F5F6F8"/>
                    </a:solidFill>
                  </a:tcPr>
                </a:tc>
                <a:tc>
                  <a:txBody>
                    <a:bodyPr/>
                    <a:lstStyle/>
                    <a:p>
                      <a:pPr algn="l"/>
                      <a:r>
                        <a:rPr sz="2000" b="0">
                          <a:solidFill>
                            <a:srgbClr val="111111"/>
                          </a:solidFill>
                          <a:latin typeface="Inter"/>
                        </a:rPr>
                        <a:t>Determiners</a:t>
                      </a:r>
                    </a:p>
                  </a:txBody>
                  <a:tcPr marL="146304" marR="146304" anchor="ctr">
                    <a:solidFill>
                      <a:srgbClr val="F5F6F8"/>
                    </a:solidFill>
                  </a:tcPr>
                </a:tc>
              </a:tr>
              <a:tr h="569540">
                <a:tc>
                  <a:txBody>
                    <a:bodyPr/>
                    <a:lstStyle/>
                    <a:p>
                      <a:pPr algn="l"/>
                      <a:r>
                        <a:rPr sz="2000" b="1">
                          <a:solidFill>
                            <a:srgbClr val="1C7C73"/>
                          </a:solidFill>
                          <a:latin typeface="Bebas Neue"/>
                        </a:rPr>
                        <a:t>Brown</a:t>
                      </a:r>
                    </a:p>
                  </a:txBody>
                  <a:tcPr marL="146304" marR="146304" anchor="ctr">
                    <a:solidFill>
                      <a:srgbClr val="ECF4F3"/>
                    </a:solidFill>
                  </a:tcPr>
                </a:tc>
                <a:tc>
                  <a:txBody>
                    <a:bodyPr/>
                    <a:lstStyle/>
                    <a:p>
                      <a:pPr algn="l"/>
                      <a:r>
                        <a:rPr sz="2000" b="0">
                          <a:solidFill>
                            <a:srgbClr val="111111"/>
                          </a:solidFill>
                          <a:latin typeface="Inter"/>
                        </a:rPr>
                        <a:t>Adjective</a:t>
                      </a:r>
                    </a:p>
                  </a:txBody>
                  <a:tcPr marL="146304" marR="146304" anchor="ctr">
                    <a:solidFill>
                      <a:srgbClr val="ECF4F3"/>
                    </a:solidFill>
                  </a:tcPr>
                </a:tc>
              </a:tr>
              <a:tr h="569540">
                <a:tc>
                  <a:txBody>
                    <a:bodyPr/>
                    <a:lstStyle/>
                    <a:p>
                      <a:pPr algn="l"/>
                      <a:r>
                        <a:rPr sz="2000" b="1">
                          <a:solidFill>
                            <a:srgbClr val="1C7C73"/>
                          </a:solidFill>
                          <a:latin typeface="Bebas Neue"/>
                        </a:rPr>
                        <a:t>Away</a:t>
                      </a:r>
                    </a:p>
                  </a:txBody>
                  <a:tcPr marL="146304" marR="146304" anchor="ctr">
                    <a:solidFill>
                      <a:srgbClr val="F5F6F8"/>
                    </a:solidFill>
                  </a:tcPr>
                </a:tc>
                <a:tc>
                  <a:txBody>
                    <a:bodyPr/>
                    <a:lstStyle/>
                    <a:p>
                      <a:pPr algn="l"/>
                      <a:r>
                        <a:rPr sz="2000" b="0">
                          <a:solidFill>
                            <a:srgbClr val="111111"/>
                          </a:solidFill>
                          <a:latin typeface="Inter"/>
                        </a:rPr>
                        <a:t>Adverb</a:t>
                      </a:r>
                    </a:p>
                  </a:txBody>
                  <a:tcPr marL="146304" marR="146304" anchor="ctr">
                    <a:solidFill>
                      <a:srgbClr val="F5F6F8"/>
                    </a:solidFill>
                  </a:tcPr>
                </a:tc>
              </a:tr>
              <a:tr h="569540">
                <a:tc>
                  <a:txBody>
                    <a:bodyPr/>
                    <a:lstStyle/>
                    <a:p>
                      <a:pPr algn="l"/>
                      <a:r>
                        <a:rPr sz="2000" b="1">
                          <a:solidFill>
                            <a:srgbClr val="1C7C73"/>
                          </a:solidFill>
                          <a:latin typeface="Bebas Neue"/>
                        </a:rPr>
                        <a:t>From</a:t>
                      </a:r>
                    </a:p>
                  </a:txBody>
                  <a:tcPr marL="146304" marR="146304" anchor="ctr">
                    <a:solidFill>
                      <a:srgbClr val="ECF4F3"/>
                    </a:solidFill>
                  </a:tcPr>
                </a:tc>
                <a:tc>
                  <a:txBody>
                    <a:bodyPr/>
                    <a:lstStyle/>
                    <a:p>
                      <a:pPr algn="l"/>
                      <a:r>
                        <a:rPr sz="2000" b="0">
                          <a:solidFill>
                            <a:srgbClr val="111111"/>
                          </a:solidFill>
                          <a:latin typeface="Inter"/>
                        </a:rPr>
                        <a:t>Preposition</a:t>
                      </a:r>
                    </a:p>
                  </a:txBody>
                  <a:tcPr marL="146304" marR="146304" anchor="ctr">
                    <a:solidFill>
                      <a:srgbClr val="ECF4F3"/>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POS tagging assigns specific grammatical categories to individual words within a sentence based on their context.</a:t>
            </a:r>
          </a:p>
        </p:txBody>
      </p:sp>
      <p:sp>
        <p:nvSpPr>
          <p:cNvPr id="11" name="Rectangle 10"/>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Part-Of-Speech tagging (POS) (6/8)</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52</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POS Category</a:t>
                      </a:r>
                    </a:p>
                  </a:txBody>
                  <a:tcPr marL="146304" marR="146304" anchor="ctr">
                    <a:solidFill>
                      <a:srgbClr val="1C7C73"/>
                    </a:solidFill>
                  </a:tcPr>
                </a:tc>
                <a:tc>
                  <a:txBody>
                    <a:bodyPr/>
                    <a:lstStyle/>
                    <a:p>
                      <a:pPr algn="l"/>
                      <a:r>
                        <a:rPr sz="2000" b="1">
                          <a:solidFill>
                            <a:srgbClr val="FFFFFF"/>
                          </a:solidFill>
                          <a:latin typeface="Bebas Neue"/>
                        </a:rPr>
                        <a:t>Word</a:t>
                      </a:r>
                    </a:p>
                  </a:txBody>
                  <a:tcPr marL="146304" marR="146304" anchor="ctr">
                    <a:solidFill>
                      <a:srgbClr val="1C7C73"/>
                    </a:solidFill>
                  </a:tcPr>
                </a:tc>
              </a:tr>
              <a:tr h="825246">
                <a:tc>
                  <a:txBody>
                    <a:bodyPr/>
                    <a:lstStyle/>
                    <a:p>
                      <a:pPr algn="l"/>
                      <a:r>
                        <a:rPr sz="2000" b="1">
                          <a:solidFill>
                            <a:srgbClr val="1C7C73"/>
                          </a:solidFill>
                          <a:latin typeface="Bebas Neue"/>
                        </a:rPr>
                        <a:t>Noun (N)</a:t>
                      </a:r>
                    </a:p>
                  </a:txBody>
                  <a:tcPr marL="146304" marR="146304" anchor="ctr">
                    <a:solidFill>
                      <a:srgbClr val="F5F6F8"/>
                    </a:solidFill>
                  </a:tcPr>
                </a:tc>
                <a:tc>
                  <a:txBody>
                    <a:bodyPr/>
                    <a:lstStyle/>
                    <a:p>
                      <a:pPr algn="l"/>
                      <a:r>
                        <a:rPr sz="2000" b="0">
                          <a:solidFill>
                            <a:srgbClr val="111111"/>
                          </a:solidFill>
                          <a:latin typeface="Inter"/>
                        </a:rPr>
                        <a:t>Boy, toys, bag</a:t>
                      </a:r>
                    </a:p>
                  </a:txBody>
                  <a:tcPr marL="146304" marR="146304" anchor="ctr">
                    <a:solidFill>
                      <a:srgbClr val="F5F6F8"/>
                    </a:solidFill>
                  </a:tcPr>
                </a:tc>
              </a:tr>
              <a:tr h="825246">
                <a:tc>
                  <a:txBody>
                    <a:bodyPr/>
                    <a:lstStyle/>
                    <a:p>
                      <a:pPr algn="l"/>
                      <a:r>
                        <a:rPr sz="2000" b="1">
                          <a:solidFill>
                            <a:srgbClr val="1C7C73"/>
                          </a:solidFill>
                          <a:latin typeface="Bebas Neue"/>
                        </a:rPr>
                        <a:t>Determiners (Det)</a:t>
                      </a:r>
                    </a:p>
                  </a:txBody>
                  <a:tcPr marL="146304" marR="146304" anchor="ctr">
                    <a:solidFill>
                      <a:srgbClr val="ECF4F3"/>
                    </a:solidFill>
                  </a:tcPr>
                </a:tc>
                <a:tc>
                  <a:txBody>
                    <a:bodyPr/>
                    <a:lstStyle/>
                    <a:p>
                      <a:pPr algn="l"/>
                      <a:r>
                        <a:rPr sz="2000" b="0">
                          <a:solidFill>
                            <a:srgbClr val="111111"/>
                          </a:solidFill>
                          <a:latin typeface="Inter"/>
                        </a:rPr>
                        <a:t>the</a:t>
                      </a:r>
                    </a:p>
                  </a:txBody>
                  <a:tcPr marL="146304" marR="146304" anchor="ctr">
                    <a:solidFill>
                      <a:srgbClr val="ECF4F3"/>
                    </a:solidFill>
                  </a:tcPr>
                </a:tc>
              </a:tr>
              <a:tr h="825246">
                <a:tc>
                  <a:txBody>
                    <a:bodyPr/>
                    <a:lstStyle/>
                    <a:p>
                      <a:pPr algn="l"/>
                      <a:r>
                        <a:rPr sz="2000" b="1">
                          <a:solidFill>
                            <a:srgbClr val="1C7C73"/>
                          </a:solidFill>
                          <a:latin typeface="Bebas Neue"/>
                        </a:rPr>
                        <a:t>Verb (V)</a:t>
                      </a:r>
                    </a:p>
                  </a:txBody>
                  <a:tcPr marL="146304" marR="146304" anchor="ctr">
                    <a:solidFill>
                      <a:srgbClr val="F5F6F8"/>
                    </a:solidFill>
                  </a:tcPr>
                </a:tc>
                <a:tc>
                  <a:txBody>
                    <a:bodyPr/>
                    <a:lstStyle/>
                    <a:p>
                      <a:pPr algn="l"/>
                      <a:r>
                        <a:rPr sz="2000" b="0">
                          <a:solidFill>
                            <a:srgbClr val="111111"/>
                          </a:solidFill>
                          <a:latin typeface="Inter"/>
                        </a:rPr>
                        <a:t>put</a:t>
                      </a:r>
                    </a:p>
                  </a:txBody>
                  <a:tcPr marL="146304" marR="146304" anchor="ctr">
                    <a:solidFill>
                      <a:srgbClr val="F5F6F8"/>
                    </a:solidFill>
                  </a:tcPr>
                </a:tc>
              </a:tr>
              <a:tr h="825246">
                <a:tc>
                  <a:txBody>
                    <a:bodyPr/>
                    <a:lstStyle/>
                    <a:p>
                      <a:pPr algn="l"/>
                      <a:r>
                        <a:rPr sz="2000" b="1">
                          <a:solidFill>
                            <a:srgbClr val="1C7C73"/>
                          </a:solidFill>
                          <a:latin typeface="Bebas Neue"/>
                        </a:rPr>
                        <a:t>Preposition (P)</a:t>
                      </a:r>
                    </a:p>
                  </a:txBody>
                  <a:tcPr marL="146304" marR="146304" anchor="ctr">
                    <a:solidFill>
                      <a:srgbClr val="ECF4F3"/>
                    </a:solidFill>
                  </a:tcPr>
                </a:tc>
                <a:tc>
                  <a:txBody>
                    <a:bodyPr/>
                    <a:lstStyle/>
                    <a:p>
                      <a:pPr algn="l"/>
                      <a:r>
                        <a:rPr sz="2000" b="0">
                          <a:solidFill>
                            <a:srgbClr val="111111"/>
                          </a:solidFill>
                          <a:latin typeface="Inter"/>
                        </a:rPr>
                        <a:t>in</a:t>
                      </a:r>
                    </a:p>
                  </a:txBody>
                  <a:tcPr marL="146304" marR="146304" anchor="ctr">
                    <a:solidFill>
                      <a:srgbClr val="ECF4F3"/>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The POS tagging problem requires identifying the actual grammatical category for each word in an English text.</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POS tagging requires tokenization to separate punctuation from words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2471806"/>
          </a:xfrm>
          <a:prstGeom prst="roundRect">
            <a:avLst>
              <a:gd name="adj" fmla="val 8138"/>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99616"/>
            <a:ext cx="91440" cy="206947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499616"/>
            <a:ext cx="7298740" cy="2069470"/>
          </a:xfrm>
          <a:prstGeom prst="rect">
            <a:avLst/>
          </a:prstGeom>
          <a:noFill/>
        </p:spPr>
        <p:txBody>
          <a:bodyPr wrap="square" anchor="ctr" lIns="0" tIns="0" rIns="0" bIns="0">
            <a:spAutoFit/>
          </a:bodyPr>
          <a:lstStyle/>
          <a:p>
            <a:pPr algn="l"/>
            <a:r>
              <a:rPr sz="4420" b="1">
                <a:solidFill>
                  <a:srgbClr val="1C7C73"/>
                </a:solidFill>
                <a:latin typeface="Bebas Neue"/>
              </a:rPr>
              <a:t>Part-of-speech tagging</a:t>
            </a:r>
          </a:p>
          <a:p>
            <a:pPr algn="l">
              <a:spcBef>
                <a:spcPts val="800"/>
              </a:spcBef>
            </a:pPr>
            <a:r>
              <a:rPr sz="2600" b="0">
                <a:solidFill>
                  <a:srgbClr val="111111"/>
                </a:solidFill>
                <a:latin typeface="Bebas Neue"/>
              </a:rPr>
              <a:t>The process of assigning a part-of-speech or other syntactic class marker to each word in a corpus</a:t>
            </a:r>
          </a:p>
        </p:txBody>
      </p:sp>
      <p:sp>
        <p:nvSpPr>
          <p:cNvPr id="11" name="Rounded Rectangle 10"/>
          <p:cNvSpPr/>
          <p:nvPr/>
        </p:nvSpPr>
        <p:spPr>
          <a:xfrm>
            <a:off x="457200" y="3971422"/>
            <a:ext cx="3841394" cy="1313809"/>
          </a:xfrm>
          <a:prstGeom prst="roundRect">
            <a:avLst>
              <a:gd name="adj" fmla="val 1071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172590"/>
            <a:ext cx="3439058" cy="911473"/>
          </a:xfrm>
          <a:prstGeom prst="rect">
            <a:avLst/>
          </a:prstGeom>
          <a:noFill/>
        </p:spPr>
        <p:txBody>
          <a:bodyPr wrap="square" anchor="ctr" lIns="0" tIns="0" rIns="0" bIns="0">
            <a:spAutoFit/>
          </a:bodyPr>
          <a:lstStyle/>
          <a:p>
            <a:pPr algn="l"/>
            <a:r>
              <a:rPr sz="1100" b="0">
                <a:solidFill>
                  <a:srgbClr val="111111"/>
                </a:solidFill>
                <a:latin typeface="Inter"/>
              </a:rPr>
              <a:t>Because tags are generally also applied to punctuation, tagging requires that the punctuation marks (period, comma, etc) be separated off of the words</a:t>
            </a:r>
          </a:p>
        </p:txBody>
      </p:sp>
      <p:sp>
        <p:nvSpPr>
          <p:cNvPr id="13" name="Rounded Rectangle 12"/>
          <p:cNvSpPr/>
          <p:nvPr/>
        </p:nvSpPr>
        <p:spPr>
          <a:xfrm>
            <a:off x="4499762" y="3971422"/>
            <a:ext cx="3841394" cy="1313809"/>
          </a:xfrm>
          <a:prstGeom prst="roundRect">
            <a:avLst>
              <a:gd name="adj" fmla="val 1071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0930" y="4172590"/>
            <a:ext cx="3439058" cy="911473"/>
          </a:xfrm>
          <a:prstGeom prst="rect">
            <a:avLst/>
          </a:prstGeom>
          <a:noFill/>
        </p:spPr>
        <p:txBody>
          <a:bodyPr wrap="square" anchor="ctr" lIns="0" tIns="0" rIns="0" bIns="0">
            <a:spAutoFit/>
          </a:bodyPr>
          <a:lstStyle/>
          <a:p>
            <a:pPr algn="l"/>
            <a:r>
              <a:rPr sz="1100" b="0">
                <a:solidFill>
                  <a:srgbClr val="111111"/>
                </a:solidFill>
                <a:latin typeface="Inter"/>
              </a:rPr>
              <a:t>Thus tokenization o is usually performed before, or as part of, the tagging process, separating commas, quotation marks, etc., from words, and disambiguating end-of-sentence punctuation</a:t>
            </a:r>
          </a:p>
        </p:txBody>
      </p:sp>
      <p:sp>
        <p:nvSpPr>
          <p:cNvPr id="15" name="Rounded Rectangle 14"/>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The process of assigning a part-of-speech or other syntactic class marker to each word in a corpus.</a:t>
            </a:r>
          </a:p>
          <a:p>
            <a:pPr algn="l"/>
            <a:r>
              <a:rPr b="1" sz="1300">
                <a:solidFill>
                  <a:srgbClr val="1C7C73"/>
                </a:solidFill>
                <a:latin typeface="Bebas Neue"/>
              </a:rPr>
              <a:t>Key terms:  </a:t>
            </a:r>
            <a:r>
              <a:rPr sz="1300" b="0">
                <a:solidFill>
                  <a:srgbClr val="111111"/>
                </a:solidFill>
                <a:latin typeface="Inter"/>
              </a:rPr>
              <a:t>Tokenization — The process of splitting text into words and punctuation marks.</a:t>
            </a:r>
          </a:p>
        </p:txBody>
      </p:sp>
      <p:sp>
        <p:nvSpPr>
          <p:cNvPr id="16" name="Rectangle 15"/>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“The process of splitting text into words and punctuation marks.”?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Tokenization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cc</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Rule-based tagger</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Hidden Markov Model</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Tokenization: The process of splitting text into words and punctuation marks.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 tagging algorithm outputs the best tag for each word in a string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52</a:t>
            </a:r>
          </a:p>
        </p:txBody>
      </p:sp>
      <p:sp>
        <p:nvSpPr>
          <p:cNvPr id="8" name="Rounded Rectangle 7"/>
          <p:cNvSpPr/>
          <p:nvPr/>
        </p:nvSpPr>
        <p:spPr>
          <a:xfrm>
            <a:off x="457200" y="1298448"/>
            <a:ext cx="11274552" cy="2903483"/>
          </a:xfrm>
          <a:prstGeom prst="roundRect">
            <a:avLst>
              <a:gd name="adj" fmla="val 484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594360" y="1435607"/>
          <a:ext cx="11000232" cy="2629163"/>
        </p:xfrm>
        <a:graphic>
          <a:graphicData uri="http://schemas.openxmlformats.org/drawingml/2006/chart">
            <c:chart xmlns:c="http://schemas.openxmlformats.org/drawingml/2006/chart" r:id="rId5"/>
          </a:graphicData>
        </a:graphic>
      </p:graphicFrame>
      <p:sp>
        <p:nvSpPr>
          <p:cNvPr id="10" name="Rounded Rectangle 9"/>
          <p:cNvSpPr/>
          <p:nvPr/>
        </p:nvSpPr>
        <p:spPr>
          <a:xfrm>
            <a:off x="457200" y="4403099"/>
            <a:ext cx="11274552" cy="88213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4403099"/>
            <a:ext cx="73152" cy="88213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1286" y="4476251"/>
            <a:ext cx="10879531" cy="73582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The input to tagging algorithm is a string of words and a specific tagset. The output is a single best tag for each word. Example: The input is a sequence of words and a predefined tagset.</a:t>
            </a:r>
          </a:p>
        </p:txBody>
      </p:sp>
      <p:sp>
        <p:nvSpPr>
          <p:cNvPr id="13" name="Rounded Rectangle 12"/>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A tagging algorithm takes a string of words and a predefined tagset to output the single best tag per word.</a:t>
            </a:r>
          </a:p>
          <a:p>
            <a:pPr algn="l"/>
            <a:r>
              <a:rPr b="1" sz="1300">
                <a:solidFill>
                  <a:srgbClr val="1C7C73"/>
                </a:solidFill>
                <a:latin typeface="Bebas Neue"/>
              </a:rPr>
              <a:t>Key terms:  </a:t>
            </a:r>
            <a:r>
              <a:rPr sz="1300" b="0">
                <a:solidFill>
                  <a:srgbClr val="111111"/>
                </a:solidFill>
                <a:latin typeface="Inter"/>
              </a:rPr>
              <a:t>Tagset — A predefined list of possible part-of-speech tags.</a:t>
            </a:r>
          </a:p>
        </p:txBody>
      </p:sp>
      <p:sp>
        <p:nvSpPr>
          <p:cNvPr id="14" name="Rectangle 13"/>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tagging must resolve word ambiguities using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82585"/>
            <a:ext cx="82296" cy="312953"/>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46009"/>
            <a:ext cx="7087166" cy="331241"/>
          </a:xfrm>
          <a:prstGeom prst="rect">
            <a:avLst/>
          </a:prstGeom>
          <a:noFill/>
        </p:spPr>
        <p:txBody>
          <a:bodyPr wrap="square" anchor="t" lIns="0" tIns="0" rIns="0" bIns="0">
            <a:spAutoFit/>
          </a:bodyPr>
          <a:lstStyle/>
          <a:p>
            <a:pPr algn="l"/>
            <a:r>
              <a:rPr sz="2070" b="1">
                <a:solidFill>
                  <a:srgbClr val="1C7C73"/>
                </a:solidFill>
                <a:latin typeface="Bebas Neue"/>
              </a:rPr>
              <a:t>Tagging decisions are difficult to make.</a:t>
            </a:r>
          </a:p>
        </p:txBody>
      </p:sp>
      <p:sp>
        <p:nvSpPr>
          <p:cNvPr id="10" name="TextBox 9"/>
          <p:cNvSpPr txBox="1"/>
          <p:nvPr/>
        </p:nvSpPr>
        <p:spPr>
          <a:xfrm>
            <a:off x="720547" y="1969274"/>
            <a:ext cx="7087166" cy="240029"/>
          </a:xfrm>
          <a:prstGeom prst="rect">
            <a:avLst/>
          </a:prstGeom>
          <a:noFill/>
        </p:spPr>
        <p:txBody>
          <a:bodyPr wrap="square" lIns="0" rIns="0" tIns="0" bIns="0">
            <a:spAutoFit/>
          </a:bodyPr>
          <a:lstStyle/>
          <a:p>
            <a:r>
              <a:rPr sz="1500">
                <a:solidFill>
                  <a:srgbClr val="111111"/>
                </a:solidFill>
                <a:latin typeface="Inter"/>
              </a:rPr>
              <a:t>Automatically assigning tags to the words is not trivial.</a:t>
            </a:r>
          </a:p>
        </p:txBody>
      </p:sp>
      <p:sp>
        <p:nvSpPr>
          <p:cNvPr id="11" name="TextBox 10"/>
          <p:cNvSpPr txBox="1"/>
          <p:nvPr/>
        </p:nvSpPr>
        <p:spPr>
          <a:xfrm>
            <a:off x="994867" y="2337320"/>
            <a:ext cx="6812846" cy="240029"/>
          </a:xfrm>
          <a:prstGeom prst="rect">
            <a:avLst/>
          </a:prstGeom>
          <a:noFill/>
        </p:spPr>
        <p:txBody>
          <a:bodyPr wrap="square" lIns="0" rIns="0" tIns="0" bIns="0">
            <a:spAutoFit/>
          </a:bodyPr>
          <a:lstStyle/>
          <a:p>
            <a:r>
              <a:rPr sz="930" b="1">
                <a:solidFill>
                  <a:srgbClr val="0F766E"/>
                </a:solidFill>
                <a:latin typeface="Bebas Neue"/>
              </a:rPr>
              <a:t>E.G.   </a:t>
            </a:r>
            <a:r>
              <a:rPr sz="1500" b="1">
                <a:solidFill>
                  <a:srgbClr val="0F766E"/>
                </a:solidFill>
                <a:latin typeface="Bebas Neue"/>
              </a:rPr>
              <a:t>For example</a:t>
            </a:r>
            <a:r>
              <a:rPr sz="1500">
                <a:solidFill>
                  <a:srgbClr val="111111"/>
                </a:solidFill>
                <a:latin typeface="Inter"/>
              </a:rPr>
              <a:t>, book is ambiguous.</a:t>
            </a:r>
          </a:p>
        </p:txBody>
      </p:sp>
      <p:sp>
        <p:nvSpPr>
          <p:cNvPr id="12" name="TextBox 11"/>
          <p:cNvSpPr txBox="1"/>
          <p:nvPr/>
        </p:nvSpPr>
        <p:spPr>
          <a:xfrm>
            <a:off x="994867" y="2705366"/>
            <a:ext cx="6812846" cy="240029"/>
          </a:xfrm>
          <a:prstGeom prst="rect">
            <a:avLst/>
          </a:prstGeom>
          <a:noFill/>
        </p:spPr>
        <p:txBody>
          <a:bodyPr wrap="square" lIns="0" rIns="0" tIns="0" bIns="0">
            <a:spAutoFit/>
          </a:bodyPr>
          <a:lstStyle/>
          <a:p>
            <a:r>
              <a:rPr sz="1500">
                <a:solidFill>
                  <a:srgbClr val="111111"/>
                </a:solidFill>
                <a:latin typeface="Inter"/>
              </a:rPr>
              <a:t>That is, it has more than one possible usage and part-of-speech.</a:t>
            </a:r>
          </a:p>
        </p:txBody>
      </p:sp>
      <p:sp>
        <p:nvSpPr>
          <p:cNvPr id="13" name="TextBox 12"/>
          <p:cNvSpPr txBox="1"/>
          <p:nvPr/>
        </p:nvSpPr>
        <p:spPr>
          <a:xfrm>
            <a:off x="994867" y="3073412"/>
            <a:ext cx="6812846" cy="480059"/>
          </a:xfrm>
          <a:prstGeom prst="rect">
            <a:avLst/>
          </a:prstGeom>
          <a:noFill/>
        </p:spPr>
        <p:txBody>
          <a:bodyPr wrap="square" lIns="0" rIns="0" tIns="0" bIns="0">
            <a:spAutoFit/>
          </a:bodyPr>
          <a:lstStyle/>
          <a:p>
            <a:r>
              <a:rPr sz="1500">
                <a:solidFill>
                  <a:srgbClr val="111111"/>
                </a:solidFill>
                <a:latin typeface="Inter"/>
              </a:rPr>
              <a:t>It can be a verb (as in book that flight or to book the suspect) or a noun (as in hand me that book, or a book of matches).</a:t>
            </a:r>
          </a:p>
        </p:txBody>
      </p:sp>
      <p:sp>
        <p:nvSpPr>
          <p:cNvPr id="14" name="TextBox 13"/>
          <p:cNvSpPr txBox="1"/>
          <p:nvPr/>
        </p:nvSpPr>
        <p:spPr>
          <a:xfrm>
            <a:off x="720547" y="3681488"/>
            <a:ext cx="7087166" cy="720090"/>
          </a:xfrm>
          <a:prstGeom prst="rect">
            <a:avLst/>
          </a:prstGeom>
          <a:noFill/>
        </p:spPr>
        <p:txBody>
          <a:bodyPr wrap="square" lIns="0" rIns="0" tIns="0" bIns="0">
            <a:spAutoFit/>
          </a:bodyPr>
          <a:lstStyle/>
          <a:p>
            <a:r>
              <a:rPr sz="930" b="1">
                <a:solidFill>
                  <a:srgbClr val="0F766E"/>
                </a:solidFill>
                <a:latin typeface="Bebas Neue"/>
              </a:rPr>
              <a:t>ALSO   </a:t>
            </a:r>
            <a:r>
              <a:rPr sz="1500" b="1">
                <a:solidFill>
                  <a:srgbClr val="0F766E"/>
                </a:solidFill>
                <a:latin typeface="Bebas Neue"/>
              </a:rPr>
              <a:t>Similarly</a:t>
            </a:r>
            <a:r>
              <a:rPr sz="1500">
                <a:solidFill>
                  <a:srgbClr val="111111"/>
                </a:solidFill>
                <a:latin typeface="Inter"/>
              </a:rPr>
              <a:t> that can be a determiner (as in Does that flight serve dinner), or a complementizer (as in I thought that your flight was earlier).</a:t>
            </a:r>
          </a:p>
        </p:txBody>
      </p:sp>
      <p:sp>
        <p:nvSpPr>
          <p:cNvPr id="15" name="TextBox 14"/>
          <p:cNvSpPr txBox="1"/>
          <p:nvPr/>
        </p:nvSpPr>
        <p:spPr>
          <a:xfrm>
            <a:off x="720547" y="4529594"/>
            <a:ext cx="7087166" cy="480059"/>
          </a:xfrm>
          <a:prstGeom prst="rect">
            <a:avLst/>
          </a:prstGeom>
          <a:noFill/>
        </p:spPr>
        <p:txBody>
          <a:bodyPr wrap="square" lIns="0" rIns="0" tIns="0" bIns="0">
            <a:spAutoFit/>
          </a:bodyPr>
          <a:lstStyle/>
          <a:p>
            <a:r>
              <a:rPr sz="1500">
                <a:solidFill>
                  <a:srgbClr val="111111"/>
                </a:solidFill>
                <a:latin typeface="Inter"/>
              </a:rPr>
              <a:t>The problem of POS-tagging is to resolve these ambiguities, choosing the proper tag for the context.</a:t>
            </a:r>
          </a:p>
        </p:txBody>
      </p:sp>
      <p:sp>
        <p:nvSpPr>
          <p:cNvPr id="16" name="Rounded Rectangle 15"/>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POS tagging must resolve word ambiguities by choosing the proper part-of-speech tag for the specific context.</a:t>
            </a:r>
          </a:p>
          <a:p>
            <a:pPr algn="l"/>
            <a:r>
              <a:rPr b="1" sz="1300">
                <a:solidFill>
                  <a:srgbClr val="1C7C73"/>
                </a:solidFill>
                <a:latin typeface="Bebas Neue"/>
              </a:rPr>
              <a:t>Key terms:  </a:t>
            </a:r>
            <a:r>
              <a:rPr sz="1300" b="0">
                <a:solidFill>
                  <a:srgbClr val="111111"/>
                </a:solidFill>
                <a:latin typeface="Inter"/>
              </a:rPr>
              <a:t>Ambiguity — A word having multiple possible part-of-speech tags.</a:t>
            </a:r>
          </a:p>
        </p:txBody>
      </p:sp>
      <p:sp>
        <p:nvSpPr>
          <p:cNvPr id="17" name="Rectangle 16"/>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Many common English words are ambiguous and need contextual disambiguation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2235338"/>
          </a:xfrm>
          <a:prstGeom prst="roundRect">
            <a:avLst>
              <a:gd name="adj" fmla="val 629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176272"/>
            <a:ext cx="3439058" cy="1156346"/>
          </a:xfrm>
          <a:prstGeom prst="rect">
            <a:avLst/>
          </a:prstGeom>
          <a:noFill/>
        </p:spPr>
        <p:txBody>
          <a:bodyPr wrap="square" anchor="b" lIns="0" tIns="0" rIns="0" bIns="0">
            <a:spAutoFit/>
          </a:bodyPr>
          <a:lstStyle/>
          <a:p>
            <a:pPr algn="l"/>
            <a:r>
              <a:rPr sz="4100" b="1">
                <a:solidFill>
                  <a:srgbClr val="1C7C73"/>
                </a:solidFill>
                <a:latin typeface="Bebas Neue"/>
              </a:rPr>
              <a:t>Most</a:t>
            </a:r>
          </a:p>
          <a:p>
            <a:pPr algn="l">
              <a:spcBef>
                <a:spcPts val="200"/>
              </a:spcBef>
            </a:pPr>
            <a:r>
              <a:rPr sz="1390" b="1">
                <a:solidFill>
                  <a:srgbClr val="1C7C73"/>
                </a:solidFill>
                <a:latin typeface="Bebas Neue"/>
              </a:rPr>
              <a:t>UNAMBIGUOUS WORDS</a:t>
            </a:r>
          </a:p>
          <a:p>
            <a:pPr algn="l">
              <a:spcBef>
                <a:spcPts val="400"/>
              </a:spcBef>
            </a:pPr>
            <a:r>
              <a:rPr sz="1230" b="0">
                <a:solidFill>
                  <a:srgbClr val="111111"/>
                </a:solidFill>
                <a:latin typeface="Inter"/>
              </a:rPr>
              <a:t>Only a single tag.</a:t>
            </a:r>
          </a:p>
        </p:txBody>
      </p:sp>
      <p:sp>
        <p:nvSpPr>
          <p:cNvPr id="12" name="Rounded Rectangle 11"/>
          <p:cNvSpPr/>
          <p:nvPr/>
        </p:nvSpPr>
        <p:spPr>
          <a:xfrm>
            <a:off x="4499762" y="1298448"/>
            <a:ext cx="3841394" cy="2235338"/>
          </a:xfrm>
          <a:prstGeom prst="roundRect">
            <a:avLst>
              <a:gd name="adj" fmla="val 629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99616"/>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13001"/>
            <a:ext cx="340156" cy="340156"/>
          </a:xfrm>
          <a:prstGeom prst="rect">
            <a:avLst/>
          </a:prstGeom>
        </p:spPr>
      </p:pic>
      <p:sp>
        <p:nvSpPr>
          <p:cNvPr id="15" name="TextBox 14"/>
          <p:cNvSpPr txBox="1"/>
          <p:nvPr/>
        </p:nvSpPr>
        <p:spPr>
          <a:xfrm>
            <a:off x="4700930" y="2176272"/>
            <a:ext cx="3439058" cy="1156346"/>
          </a:xfrm>
          <a:prstGeom prst="rect">
            <a:avLst/>
          </a:prstGeom>
          <a:noFill/>
        </p:spPr>
        <p:txBody>
          <a:bodyPr wrap="square" anchor="b" lIns="0" tIns="0" rIns="0" bIns="0">
            <a:spAutoFit/>
          </a:bodyPr>
          <a:lstStyle/>
          <a:p>
            <a:pPr algn="l"/>
            <a:r>
              <a:rPr sz="4100" b="1">
                <a:solidFill>
                  <a:srgbClr val="1C7C73"/>
                </a:solidFill>
                <a:latin typeface="Bebas Neue"/>
              </a:rPr>
              <a:t>Many</a:t>
            </a:r>
          </a:p>
          <a:p>
            <a:pPr algn="l">
              <a:spcBef>
                <a:spcPts val="200"/>
              </a:spcBef>
            </a:pPr>
            <a:r>
              <a:rPr sz="1390" b="1">
                <a:solidFill>
                  <a:srgbClr val="1C7C73"/>
                </a:solidFill>
                <a:latin typeface="Bebas Neue"/>
              </a:rPr>
              <a:t>AMBIGUOUS WORDS</a:t>
            </a:r>
          </a:p>
          <a:p>
            <a:pPr algn="l">
              <a:spcBef>
                <a:spcPts val="400"/>
              </a:spcBef>
            </a:pPr>
            <a:r>
              <a:rPr sz="1230" b="0">
                <a:solidFill>
                  <a:srgbClr val="111111"/>
                </a:solidFill>
                <a:latin typeface="Inter"/>
              </a:rPr>
              <a:t>e.g., can: auxiliary, noun, verb.</a:t>
            </a:r>
          </a:p>
        </p:txBody>
      </p:sp>
      <p:sp>
        <p:nvSpPr>
          <p:cNvPr id="16" name="Rounded Rectangle 15"/>
          <p:cNvSpPr/>
          <p:nvPr/>
        </p:nvSpPr>
        <p:spPr>
          <a:xfrm>
            <a:off x="457200" y="3734954"/>
            <a:ext cx="7883956" cy="1550277"/>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34954"/>
            <a:ext cx="73152" cy="1550277"/>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08106"/>
            <a:ext cx="7488935" cy="1403973"/>
          </a:xfrm>
          <a:prstGeom prst="rect">
            <a:avLst/>
          </a:prstGeom>
          <a:noFill/>
        </p:spPr>
        <p:txBody>
          <a:bodyPr wrap="square" anchor="ctr" lIns="0" tIns="0" rIns="0" bIns="0">
            <a:spAutoFit/>
          </a:bodyPr>
          <a:lstStyle/>
          <a:p>
            <a:pPr algn="l"/>
            <a:r>
              <a:rPr sz="940" b="1">
                <a:solidFill>
                  <a:srgbClr val="1C7C73"/>
                </a:solidFill>
                <a:latin typeface="Bebas Neue"/>
              </a:rPr>
              <a:t>IN PLAIN WORDS</a:t>
            </a:r>
          </a:p>
          <a:p>
            <a:pPr algn="l">
              <a:spcBef>
                <a:spcPts val="300"/>
              </a:spcBef>
            </a:pPr>
            <a:r>
              <a:rPr sz="1300" b="0">
                <a:solidFill>
                  <a:srgbClr val="111111"/>
                </a:solidFill>
                <a:latin typeface="Inter"/>
              </a:rPr>
              <a:t>Although most words have a single tag, frequent words like "can" can be a noun, verb, or auxiliary. Taggers must choose the correct tag based on surrounding words. For example, "Can" in "I can swim" is a verb, while in "a can of soda" it is a noun.</a:t>
            </a:r>
          </a:p>
          <a:p>
            <a:pPr algn="l">
              <a:spcBef>
                <a:spcPts val="300"/>
              </a:spcBef>
            </a:pPr>
            <a:r>
              <a:rPr sz="1300" b="0">
                <a:solidFill>
                  <a:srgbClr val="111111"/>
                </a:solidFill>
                <a:latin typeface="Inter"/>
              </a:rPr>
              <a:t>For example ‘can’ can be an auxiliary (‘to be able’), A noun (‘a metal container’), or A verb (‘to put something in such a metal container’)).</a:t>
            </a:r>
          </a:p>
        </p:txBody>
      </p:sp>
      <p:sp>
        <p:nvSpPr>
          <p:cNvPr id="19" name="Rounded Rectangle 1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Auxiliary — A helping verb that modifies the main verb, such as "can" in "can swim".</a:t>
            </a:r>
          </a:p>
        </p:txBody>
      </p:sp>
      <p:sp>
        <p:nvSpPr>
          <p:cNvPr id="20" name="Rectangle 1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Difficulties /Challenges in POS tagging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52</a:t>
            </a:r>
          </a:p>
        </p:txBody>
      </p:sp>
      <p:sp>
        <p:nvSpPr>
          <p:cNvPr id="7" name="Rounded Rectangle 6"/>
          <p:cNvSpPr/>
          <p:nvPr/>
        </p:nvSpPr>
        <p:spPr>
          <a:xfrm>
            <a:off x="2006484" y="1298448"/>
            <a:ext cx="8175982" cy="5102352"/>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71076" y="1463040"/>
            <a:ext cx="7846798" cy="4773168"/>
          </a:xfrm>
          <a:prstGeom prst="rect">
            <a:avLst/>
          </a:prstGeom>
        </p:spPr>
      </p:pic>
    </p:spTree>
  </p:cSld>
  <p:clrMapOvr>
    <a:masterClrMapping/>
  </p:clrMapOvr>
  <p:transition spd="med">
    <p:cover dir="r"/>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 helping verb that modifies the main verb, such as "can" in "can swim".”?</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Auxiliary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JIS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n-gram</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VB</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Auxiliary: A helping verb that modifies the main verb, such as "can" in "can swim".</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English tagsets evolved from the 87-tag Brown corpus to the 45-tag Penn Treebank</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52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149993"/>
          </a:xfrm>
          <a:prstGeom prst="roundRect">
            <a:avLst>
              <a:gd name="adj" fmla="val 1224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176272"/>
            <a:ext cx="3372611" cy="71001"/>
          </a:xfrm>
          <a:prstGeom prst="rect">
            <a:avLst/>
          </a:prstGeom>
          <a:noFill/>
        </p:spPr>
        <p:txBody>
          <a:bodyPr wrap="square" anchor="b" lIns="0" tIns="0" rIns="0" bIns="0">
            <a:spAutoFit/>
          </a:bodyPr>
          <a:lstStyle/>
          <a:p>
            <a:pPr algn="l"/>
            <a:r>
              <a:rPr sz="2200" b="1">
                <a:solidFill>
                  <a:srgbClr val="1C7C73"/>
                </a:solidFill>
                <a:latin typeface="Bebas Neue"/>
              </a:rPr>
              <a:t>87</a:t>
            </a:r>
          </a:p>
          <a:p>
            <a:pPr algn="l">
              <a:spcBef>
                <a:spcPts val="200"/>
              </a:spcBef>
            </a:pPr>
            <a:r>
              <a:rPr sz="1200" b="1">
                <a:solidFill>
                  <a:srgbClr val="1C7C73"/>
                </a:solidFill>
                <a:latin typeface="Bebas Neue"/>
              </a:rPr>
              <a:t>THERE ARE SMALL NUMBER OF POPULAR</a:t>
            </a:r>
          </a:p>
          <a:p>
            <a:pPr algn="l">
              <a:spcBef>
                <a:spcPts val="400"/>
              </a:spcBef>
            </a:pPr>
            <a:r>
              <a:rPr sz="1200" b="0">
                <a:solidFill>
                  <a:srgbClr val="111111"/>
                </a:solidFill>
                <a:latin typeface="Inter"/>
              </a:rPr>
              <a:t>There are small number of popular tagsets for English, many of which evolved from the 87-tag tagset used for the Brown corpus</a:t>
            </a:r>
          </a:p>
        </p:txBody>
      </p:sp>
      <p:sp>
        <p:nvSpPr>
          <p:cNvPr id="12" name="Rounded Rectangle 11"/>
          <p:cNvSpPr/>
          <p:nvPr/>
        </p:nvSpPr>
        <p:spPr>
          <a:xfrm>
            <a:off x="4433315" y="1298448"/>
            <a:ext cx="3774947" cy="1149993"/>
          </a:xfrm>
          <a:prstGeom prst="roundRect">
            <a:avLst>
              <a:gd name="adj" fmla="val 1224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499616"/>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13001"/>
            <a:ext cx="340156" cy="340156"/>
          </a:xfrm>
          <a:prstGeom prst="rect">
            <a:avLst/>
          </a:prstGeom>
        </p:spPr>
      </p:pic>
      <p:sp>
        <p:nvSpPr>
          <p:cNvPr id="15" name="TextBox 14"/>
          <p:cNvSpPr txBox="1"/>
          <p:nvPr/>
        </p:nvSpPr>
        <p:spPr>
          <a:xfrm>
            <a:off x="4634483" y="2176272"/>
            <a:ext cx="3372611" cy="71001"/>
          </a:xfrm>
          <a:prstGeom prst="rect">
            <a:avLst/>
          </a:prstGeom>
          <a:noFill/>
        </p:spPr>
        <p:txBody>
          <a:bodyPr wrap="square" anchor="b" lIns="0" tIns="0" rIns="0" bIns="0">
            <a:spAutoFit/>
          </a:bodyPr>
          <a:lstStyle/>
          <a:p>
            <a:pPr algn="l"/>
            <a:r>
              <a:rPr sz="2200" b="1">
                <a:solidFill>
                  <a:srgbClr val="1C7C73"/>
                </a:solidFill>
                <a:latin typeface="Bebas Neue"/>
              </a:rPr>
              <a:t>1 million</a:t>
            </a:r>
          </a:p>
          <a:p>
            <a:pPr algn="l">
              <a:spcBef>
                <a:spcPts val="200"/>
              </a:spcBef>
            </a:pPr>
            <a:r>
              <a:rPr sz="1200" b="1">
                <a:solidFill>
                  <a:srgbClr val="1C7C73"/>
                </a:solidFill>
                <a:latin typeface="Bebas Neue"/>
              </a:rPr>
              <a:t>WORD COLLECTION</a:t>
            </a:r>
          </a:p>
          <a:p>
            <a:pPr algn="l">
              <a:spcBef>
                <a:spcPts val="400"/>
              </a:spcBef>
            </a:pPr>
            <a:r>
              <a:rPr sz="1200" b="0">
                <a:solidFill>
                  <a:srgbClr val="111111"/>
                </a:solidFill>
                <a:latin typeface="Inter"/>
              </a:rPr>
              <a:t>Brown Corpus is a 1 million word collection of samples from 500 written texts from different genres which was assembled at Brown University in 1963-64</a:t>
            </a:r>
          </a:p>
        </p:txBody>
      </p:sp>
      <p:sp>
        <p:nvSpPr>
          <p:cNvPr id="16" name="Rounded Rectangle 15"/>
          <p:cNvSpPr/>
          <p:nvPr/>
        </p:nvSpPr>
        <p:spPr>
          <a:xfrm>
            <a:off x="457200" y="2649609"/>
            <a:ext cx="3774947" cy="1149993"/>
          </a:xfrm>
          <a:prstGeom prst="roundRect">
            <a:avLst>
              <a:gd name="adj" fmla="val 1224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50777"/>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964162"/>
            <a:ext cx="340156" cy="340156"/>
          </a:xfrm>
          <a:prstGeom prst="rect">
            <a:avLst/>
          </a:prstGeom>
        </p:spPr>
      </p:pic>
      <p:sp>
        <p:nvSpPr>
          <p:cNvPr id="19" name="TextBox 18"/>
          <p:cNvSpPr txBox="1"/>
          <p:nvPr/>
        </p:nvSpPr>
        <p:spPr>
          <a:xfrm>
            <a:off x="658368" y="3527433"/>
            <a:ext cx="3372611" cy="71001"/>
          </a:xfrm>
          <a:prstGeom prst="rect">
            <a:avLst/>
          </a:prstGeom>
          <a:noFill/>
        </p:spPr>
        <p:txBody>
          <a:bodyPr wrap="square" anchor="b" lIns="0" tIns="0" rIns="0" bIns="0">
            <a:spAutoFit/>
          </a:bodyPr>
          <a:lstStyle/>
          <a:p>
            <a:pPr algn="l"/>
            <a:r>
              <a:rPr sz="2200" b="1">
                <a:solidFill>
                  <a:srgbClr val="1C7C73"/>
                </a:solidFill>
                <a:latin typeface="Bebas Neue"/>
              </a:rPr>
              <a:t>500</a:t>
            </a:r>
          </a:p>
          <a:p>
            <a:pPr algn="l">
              <a:spcBef>
                <a:spcPts val="200"/>
              </a:spcBef>
            </a:pPr>
            <a:r>
              <a:rPr sz="1200" b="1">
                <a:solidFill>
                  <a:srgbClr val="1C7C73"/>
                </a:solidFill>
                <a:latin typeface="Bebas Neue"/>
              </a:rPr>
              <a:t>WRITTEN TEXTS</a:t>
            </a:r>
          </a:p>
        </p:txBody>
      </p:sp>
      <p:sp>
        <p:nvSpPr>
          <p:cNvPr id="20" name="Rounded Rectangle 19"/>
          <p:cNvSpPr/>
          <p:nvPr/>
        </p:nvSpPr>
        <p:spPr>
          <a:xfrm>
            <a:off x="4433315" y="2649609"/>
            <a:ext cx="3774947" cy="1149993"/>
          </a:xfrm>
          <a:prstGeom prst="roundRect">
            <a:avLst>
              <a:gd name="adj" fmla="val 1224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850777"/>
            <a:ext cx="566928" cy="566928"/>
          </a:xfrm>
          <a:prstGeom prst="ellipse">
            <a:avLst/>
          </a:prstGeom>
          <a:solidFill>
            <a:srgbClr val="FCEE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964162"/>
            <a:ext cx="340156" cy="340156"/>
          </a:xfrm>
          <a:prstGeom prst="rect">
            <a:avLst/>
          </a:prstGeom>
        </p:spPr>
      </p:pic>
      <p:sp>
        <p:nvSpPr>
          <p:cNvPr id="23" name="TextBox 22"/>
          <p:cNvSpPr txBox="1"/>
          <p:nvPr/>
        </p:nvSpPr>
        <p:spPr>
          <a:xfrm>
            <a:off x="4634483" y="3527433"/>
            <a:ext cx="3372611" cy="71001"/>
          </a:xfrm>
          <a:prstGeom prst="rect">
            <a:avLst/>
          </a:prstGeom>
          <a:noFill/>
        </p:spPr>
        <p:txBody>
          <a:bodyPr wrap="square" anchor="b" lIns="0" tIns="0" rIns="0" bIns="0">
            <a:spAutoFit/>
          </a:bodyPr>
          <a:lstStyle/>
          <a:p>
            <a:pPr algn="l"/>
            <a:r>
              <a:rPr sz="2200" b="1">
                <a:solidFill>
                  <a:srgbClr val="1C7C73"/>
                </a:solidFill>
                <a:latin typeface="Bebas Neue"/>
              </a:rPr>
              <a:t>64</a:t>
            </a:r>
          </a:p>
          <a:p>
            <a:pPr algn="l">
              <a:spcBef>
                <a:spcPts val="200"/>
              </a:spcBef>
            </a:pPr>
            <a:r>
              <a:rPr sz="1200" b="1">
                <a:solidFill>
                  <a:srgbClr val="1C7C73"/>
                </a:solidFill>
                <a:latin typeface="Bebas Neue"/>
              </a:rPr>
              <a:t>WRITTEN TEXTS</a:t>
            </a:r>
          </a:p>
        </p:txBody>
      </p:sp>
      <p:sp>
        <p:nvSpPr>
          <p:cNvPr id="24" name="Rounded Rectangle 23"/>
          <p:cNvSpPr/>
          <p:nvPr/>
        </p:nvSpPr>
        <p:spPr>
          <a:xfrm>
            <a:off x="457200" y="4000770"/>
            <a:ext cx="7751064" cy="1284461"/>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000770"/>
            <a:ext cx="73152" cy="1284461"/>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4073922"/>
            <a:ext cx="7356043" cy="1138157"/>
          </a:xfrm>
          <a:prstGeom prst="rect">
            <a:avLst/>
          </a:prstGeom>
          <a:noFill/>
        </p:spPr>
        <p:txBody>
          <a:bodyPr wrap="square" anchor="ctr" lIns="0" tIns="0" rIns="0" bIns="0">
            <a:spAutoFit/>
          </a:bodyPr>
          <a:lstStyle/>
          <a:p>
            <a:pPr algn="l"/>
            <a:r>
              <a:rPr sz="940" b="1">
                <a:solidFill>
                  <a:srgbClr val="1C7C73"/>
                </a:solidFill>
                <a:latin typeface="Bebas Neue"/>
              </a:rPr>
              <a:t>ALSO ON THIS SLIDE</a:t>
            </a:r>
          </a:p>
          <a:p>
            <a:pPr algn="l">
              <a:spcBef>
                <a:spcPts val="300"/>
              </a:spcBef>
            </a:pPr>
            <a:r>
              <a:rPr sz="1300" b="0">
                <a:solidFill>
                  <a:srgbClr val="111111"/>
                </a:solidFill>
                <a:latin typeface="Inter"/>
              </a:rPr>
              <a:t>Besides this original Brown tagset, two of the most commonly used tagsets are: The small 45-tag Penn Treebank tagset (Marcus et al., 1993), The medium-sized 61 tag C5 tagset used by the Lancaster UCREL project’s CLAWS (the Constituent Likelihood Automatic Word-tagging System) tagger to tag the British National Corpus</a:t>
            </a:r>
          </a:p>
        </p:txBody>
      </p:sp>
      <p:sp>
        <p:nvSpPr>
          <p:cNvPr id="27" name="Rounded Rectangle 26"/>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English tagsets evolved from the 87-tag Brown corpus to the 45-tag Penn Treebank and 61-tag C5 tagsets.</a:t>
            </a:r>
          </a:p>
          <a:p>
            <a:pPr algn="l"/>
            <a:r>
              <a:rPr b="1" sz="1300">
                <a:solidFill>
                  <a:srgbClr val="1C7C73"/>
                </a:solidFill>
                <a:latin typeface="Bebas Neue"/>
              </a:rPr>
              <a:t>Key terms:  </a:t>
            </a:r>
            <a:r>
              <a:rPr sz="1300" b="0">
                <a:solidFill>
                  <a:srgbClr val="111111"/>
                </a:solidFill>
                <a:latin typeface="Inter"/>
              </a:rPr>
              <a:t>Taggit — first large rule-based tagger that used context-pattern rules  ·  Brown Corpus — A 1-million-word collection of diverse texts used for early POS tagging.</a:t>
            </a:r>
          </a:p>
        </p:txBody>
      </p:sp>
      <p:sp>
        <p:nvSpPr>
          <p:cNvPr id="28" name="Rectangle 27"/>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50"/>
                                        <p:tgtEl>
                                          <p:spTgt spid="27"/>
                                        </p:tgtEl>
                                      </p:cBhvr>
                                    </p:animEffect>
                                  </p:childTnLst>
                                </p:cTn>
                              </p:par>
                              <p:par>
                                <p:cTn id="73" presetID="10" presetClass="entr" presetSubtype="0" fill="hold"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Tag Description Example lists part-of-speech tags with sample words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3381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47199"/>
            <a:ext cx="340156" cy="340156"/>
          </a:xfrm>
          <a:prstGeom prst="rect">
            <a:avLst/>
          </a:prstGeom>
        </p:spPr>
      </p:pic>
      <p:sp>
        <p:nvSpPr>
          <p:cNvPr id="11" name="TextBox 10"/>
          <p:cNvSpPr txBox="1"/>
          <p:nvPr/>
        </p:nvSpPr>
        <p:spPr>
          <a:xfrm>
            <a:off x="1408175" y="1371600"/>
            <a:ext cx="6731812" cy="891355"/>
          </a:xfrm>
          <a:prstGeom prst="rect">
            <a:avLst/>
          </a:prstGeom>
          <a:noFill/>
        </p:spPr>
        <p:txBody>
          <a:bodyPr wrap="square" anchor="ctr" lIns="0" tIns="0" rIns="0" bIns="0">
            <a:spAutoFit/>
          </a:bodyPr>
          <a:lstStyle/>
          <a:p>
            <a:pPr algn="l"/>
            <a:r>
              <a:rPr sz="3120" b="1">
                <a:solidFill>
                  <a:srgbClr val="1C7C73"/>
                </a:solidFill>
                <a:latin typeface="Bebas Neue"/>
              </a:rPr>
              <a:t>Clear tag mapping</a:t>
            </a:r>
          </a:p>
        </p:txBody>
      </p:sp>
      <p:sp>
        <p:nvSpPr>
          <p:cNvPr id="12" name="Rounded Rectangle 11"/>
          <p:cNvSpPr/>
          <p:nvPr/>
        </p:nvSpPr>
        <p:spPr>
          <a:xfrm>
            <a:off x="457200" y="2537275"/>
            <a:ext cx="7883956" cy="1037659"/>
          </a:xfrm>
          <a:prstGeom prst="roundRect">
            <a:avLst>
              <a:gd name="adj" fmla="val 1357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77264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886026"/>
            <a:ext cx="340156" cy="340156"/>
          </a:xfrm>
          <a:prstGeom prst="rect">
            <a:avLst/>
          </a:prstGeom>
        </p:spPr>
      </p:pic>
      <p:sp>
        <p:nvSpPr>
          <p:cNvPr id="15" name="TextBox 14"/>
          <p:cNvSpPr txBox="1"/>
          <p:nvPr/>
        </p:nvSpPr>
        <p:spPr>
          <a:xfrm>
            <a:off x="1408175" y="2610427"/>
            <a:ext cx="6731812" cy="891355"/>
          </a:xfrm>
          <a:prstGeom prst="rect">
            <a:avLst/>
          </a:prstGeom>
          <a:noFill/>
        </p:spPr>
        <p:txBody>
          <a:bodyPr wrap="square" anchor="ctr" lIns="0" tIns="0" rIns="0" bIns="0">
            <a:spAutoFit/>
          </a:bodyPr>
          <a:lstStyle/>
          <a:p>
            <a:pPr algn="l"/>
            <a:r>
              <a:rPr sz="3120" b="1">
                <a:solidFill>
                  <a:srgbClr val="1C7C73"/>
                </a:solidFill>
                <a:latin typeface="Bebas Neue"/>
              </a:rPr>
              <a:t>Large tag set</a:t>
            </a:r>
          </a:p>
        </p:txBody>
      </p:sp>
      <p:sp>
        <p:nvSpPr>
          <p:cNvPr id="16" name="Rounded Rectangle 15"/>
          <p:cNvSpPr/>
          <p:nvPr/>
        </p:nvSpPr>
        <p:spPr>
          <a:xfrm>
            <a:off x="457200" y="3776102"/>
            <a:ext cx="7883956" cy="1509129"/>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76102"/>
            <a:ext cx="73152" cy="1509129"/>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1C7C73"/>
                </a:solidFill>
                <a:latin typeface="Bebas Neue"/>
              </a:rPr>
              <a:t>ALSO ON THIS SLIDE</a:t>
            </a:r>
          </a:p>
          <a:p>
            <a:pPr algn="l">
              <a:spcBef>
                <a:spcPts val="300"/>
              </a:spcBef>
            </a:pPr>
            <a:r>
              <a:rPr sz="1300" b="0">
                <a:solidFill>
                  <a:srgbClr val="111111"/>
                </a:solidFill>
                <a:latin typeface="Inter"/>
              </a:rPr>
              <a:t>Tag Description Example | Tag Description Example CE Coordin. Conjunction and, but, or Symbol +,%, &amp; CD Cardinal number one, two, three “to” to DT Determiner a, the Interjection ah, oops EX Existential ‘there’ there Verb, base form eat FW Foreign word mea culpa Verb, past tense ate IN Preposition/sub-conj in, by Verb, gerund eating JJ Adjective yellow Verb, past participle eaten</a:t>
            </a:r>
          </a:p>
        </p:txBody>
      </p:sp>
      <p:sp>
        <p:nvSpPr>
          <p:cNvPr id="19" name="Rounded Rectangle 1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00">
                <a:solidFill>
                  <a:srgbClr val="1C7C73"/>
                </a:solidFill>
                <a:latin typeface="Bebas Neue"/>
              </a:rPr>
              <a:t>Key takeaway:  </a:t>
            </a:r>
            <a:r>
              <a:rPr sz="1200" b="0">
                <a:solidFill>
                  <a:srgbClr val="111111"/>
                </a:solidFill>
                <a:latin typeface="Inter"/>
              </a:rPr>
              <a:t>Standard tag sets list specific descriptions and sample words for categories like conjunctions, determiners, and verbs.</a:t>
            </a:r>
          </a:p>
          <a:p>
            <a:pPr algn="l"/>
            <a:r>
              <a:rPr b="1" sz="1200">
                <a:solidFill>
                  <a:srgbClr val="1C7C73"/>
                </a:solidFill>
                <a:latin typeface="Bebas Neue"/>
              </a:rPr>
              <a:t>Key terms:  </a:t>
            </a:r>
            <a:r>
              <a:rPr sz="1200" b="0">
                <a:solidFill>
                  <a:srgbClr val="111111"/>
                </a:solidFill>
                <a:latin typeface="Inter"/>
              </a:rPr>
              <a:t>Tag — A label indicating a word's grammatical category  ·  POS — Part-of-speech, the grammatical function of a word</a:t>
            </a:r>
          </a:p>
        </p:txBody>
      </p:sp>
      <p:sp>
        <p:nvSpPr>
          <p:cNvPr id="20" name="Rectangle 1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Adj slide presents comparative, superlative, and other adjective forms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52</a:t>
            </a:r>
          </a:p>
        </p:txBody>
      </p:sp>
      <p:sp>
        <p:nvSpPr>
          <p:cNvPr id="8" name="Rectangle 7"/>
          <p:cNvSpPr/>
          <p:nvPr/>
        </p:nvSpPr>
        <p:spPr>
          <a:xfrm>
            <a:off x="457200" y="1325880"/>
            <a:ext cx="73152" cy="7498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C7C73"/>
                </a:solidFill>
                <a:latin typeface="Bebas Neue"/>
              </a:rPr>
              <a:t>RP Particle up, off Figure 5.6 Penn Treebank part-of-speech tags (including punctuation).</a:t>
            </a:r>
          </a:p>
        </p:txBody>
      </p:sp>
      <p:sp>
        <p:nvSpPr>
          <p:cNvPr id="10" name="Rounded Rectangle 9"/>
          <p:cNvSpPr/>
          <p:nvPr/>
        </p:nvSpPr>
        <p:spPr>
          <a:xfrm>
            <a:off x="457200" y="2340864"/>
            <a:ext cx="5536692" cy="2944368"/>
          </a:xfrm>
          <a:prstGeom prst="roundRect">
            <a:avLst>
              <a:gd name="adj" fmla="val 4782"/>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5134355" cy="2622499"/>
          </a:xfrm>
          <a:prstGeom prst="rect">
            <a:avLst/>
          </a:prstGeom>
          <a:noFill/>
        </p:spPr>
        <p:txBody>
          <a:bodyPr wrap="square" anchor="t" lIns="0" tIns="0" rIns="0" bIns="0">
            <a:spAutoFit/>
          </a:bodyPr>
          <a:lstStyle/>
          <a:p>
            <a:pPr algn="l"/>
            <a:r>
              <a:rPr sz="1560" b="1">
                <a:solidFill>
                  <a:srgbClr val="1C7C73"/>
                </a:solidFill>
                <a:latin typeface="Bebas Neue"/>
              </a:rPr>
              <a:t>JIS Adj., superlative wildest Verb, 3sg pres eats LS List item marker 1, 2, One Wh-determiner which, that MD Modal can, should Wh-pronoun what, who NN Noun, sing. or mass llama Possessive wh- whose</a:t>
            </a:r>
          </a:p>
          <a:p>
            <a:pPr algn="l" marL="256032" indent="-256032" lvl="0">
              <a:spcBef>
                <a:spcPts val="700"/>
              </a:spcBef>
              <a:buClr>
                <a:srgbClr val="F6C887"/>
              </a:buClr>
              <a:buFont typeface="Arial"/>
              <a:buChar char="•"/>
            </a:pPr>
            <a:r>
              <a:rPr sz="1250" b="0">
                <a:solidFill>
                  <a:srgbClr val="111111"/>
                </a:solidFill>
                <a:latin typeface="Inter"/>
              </a:rPr>
              <a:t>Noun, plural llamas Wh-adverb how, where</a:t>
            </a:r>
          </a:p>
        </p:txBody>
      </p:sp>
      <p:sp>
        <p:nvSpPr>
          <p:cNvPr id="13" name="Rounded Rectangle 12"/>
          <p:cNvSpPr/>
          <p:nvPr/>
        </p:nvSpPr>
        <p:spPr>
          <a:xfrm>
            <a:off x="6195059" y="2340864"/>
            <a:ext cx="5536692" cy="2944368"/>
          </a:xfrm>
          <a:prstGeom prst="roundRect">
            <a:avLst>
              <a:gd name="adj" fmla="val 4782"/>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505456"/>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501798"/>
            <a:ext cx="5134355" cy="2622499"/>
          </a:xfrm>
          <a:prstGeom prst="rect">
            <a:avLst/>
          </a:prstGeom>
          <a:noFill/>
        </p:spPr>
        <p:txBody>
          <a:bodyPr wrap="square" anchor="t" lIns="0" tIns="0" rIns="0" bIns="0">
            <a:spAutoFit/>
          </a:bodyPr>
          <a:lstStyle/>
          <a:p>
            <a:pPr algn="l"/>
            <a:r>
              <a:rPr sz="1560" b="1">
                <a:solidFill>
                  <a:srgbClr val="1C7C73"/>
                </a:solidFill>
                <a:latin typeface="Bebas Neue"/>
              </a:rPr>
              <a:t>NNP Proper noun, singular Dollar sign NNPS Proper noun, plural Carolinas Pound sign # PDT all, both Left quote * or “ POS Possessive ending Right quote or” PRP Personal pronoun I, you, he Left parenthesis PRP _ Possessive pronoun your, one’s Right parenthesis RB Adverb quickly, never Comma 5</a:t>
            </a:r>
          </a:p>
          <a:p>
            <a:pPr algn="l" marL="256032" indent="-256032" lvl="0">
              <a:spcBef>
                <a:spcPts val="700"/>
              </a:spcBef>
              <a:buClr>
                <a:srgbClr val="F6C887"/>
              </a:buClr>
              <a:buFont typeface="Arial"/>
              <a:buChar char="•"/>
            </a:pPr>
            <a:r>
              <a:rPr sz="1250" b="0">
                <a:solidFill>
                  <a:srgbClr val="111111"/>
                </a:solidFill>
                <a:latin typeface="Inter"/>
              </a:rPr>
              <a:t>Adverb, comparative _faster; Sentence-final punc.!?</a:t>
            </a:r>
          </a:p>
          <a:p>
            <a:pPr algn="l" marL="512064" indent="-219456" lvl="1">
              <a:spcBef>
                <a:spcPts val="300"/>
              </a:spcBef>
              <a:buClr>
                <a:srgbClr val="F6C887"/>
              </a:buClr>
              <a:buFont typeface="Arial"/>
              <a:buChar char="–"/>
            </a:pPr>
            <a:r>
              <a:rPr sz="1120" b="0">
                <a:solidFill>
                  <a:srgbClr val="555555"/>
                </a:solidFill>
                <a:latin typeface="Inter"/>
              </a:rPr>
              <a:t>superlative —_fastest Mid-sentence —-</a:t>
            </a:r>
          </a:p>
        </p:txBody>
      </p:sp>
      <p:sp>
        <p:nvSpPr>
          <p:cNvPr id="16" name="Rounded Rectangle 15"/>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Adj. — Abbreviation for adjective, a word describing a noun  ·  JIS — Abbreviation for superlative adjective, the highest degree</a:t>
            </a:r>
          </a:p>
        </p:txBody>
      </p:sp>
      <p:sp>
        <p:nvSpPr>
          <p:cNvPr id="17" name="Rectangle 16"/>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Tag set for English: Noun Types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52</a:t>
            </a:r>
          </a:p>
        </p:txBody>
      </p:sp>
      <p:sp>
        <p:nvSpPr>
          <p:cNvPr id="7" name="Rounded Rectangle 6"/>
          <p:cNvSpPr/>
          <p:nvPr/>
        </p:nvSpPr>
        <p:spPr>
          <a:xfrm>
            <a:off x="457199" y="1650716"/>
            <a:ext cx="11274552" cy="4397815"/>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815308"/>
            <a:ext cx="10945368" cy="4068631"/>
          </a:xfrm>
          <a:prstGeom prst="rect">
            <a:avLst/>
          </a:prstGeom>
        </p:spPr>
      </p:pic>
    </p:spTree>
  </p:cSld>
  <p:clrMapOvr>
    <a:masterClrMapping/>
  </p:clrMapOvr>
  <p:transition spd="med">
    <p:cover dir="r"/>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“Abbreviation for adjective, a word describing a noun”?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Tokenization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RB</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Adj.</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cc</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Adj.: Abbreviation for adjective, a word describing a noun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550" b="1">
                <a:solidFill>
                  <a:srgbClr val="FFFFFF"/>
                </a:solidFill>
              </a:defRPr>
            </a:pPr>
            <a:r>
              <a:rPr>
                <a:latin typeface="Bebas Neue"/>
              </a:rPr>
              <a:t>POS Type slide explains verb forms and their tense or aspect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52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7216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85552"/>
            <a:ext cx="340156" cy="340156"/>
          </a:xfrm>
          <a:prstGeom prst="rect">
            <a:avLst/>
          </a:prstGeom>
        </p:spPr>
      </p:pic>
      <p:sp>
        <p:nvSpPr>
          <p:cNvPr id="11" name="TextBox 10"/>
          <p:cNvSpPr txBox="1"/>
          <p:nvPr/>
        </p:nvSpPr>
        <p:spPr>
          <a:xfrm>
            <a:off x="1408175" y="1371600"/>
            <a:ext cx="2622804" cy="768061"/>
          </a:xfrm>
          <a:prstGeom prst="rect">
            <a:avLst/>
          </a:prstGeom>
          <a:noFill/>
        </p:spPr>
        <p:txBody>
          <a:bodyPr wrap="square" anchor="ctr" lIns="0" tIns="0" rIns="0" bIns="0">
            <a:spAutoFit/>
          </a:bodyPr>
          <a:lstStyle/>
          <a:p>
            <a:pPr algn="l"/>
            <a:r>
              <a:rPr sz="1550" b="0">
                <a:solidFill>
                  <a:srgbClr val="111111"/>
                </a:solidFill>
                <a:latin typeface="Inter"/>
              </a:rPr>
              <a:t>VB Base form of a Verb walk, play, eat, read</a:t>
            </a:r>
          </a:p>
        </p:txBody>
      </p:sp>
      <p:sp>
        <p:nvSpPr>
          <p:cNvPr id="12" name="Rounded Rectangle 11"/>
          <p:cNvSpPr/>
          <p:nvPr/>
        </p:nvSpPr>
        <p:spPr>
          <a:xfrm>
            <a:off x="4433315" y="1298448"/>
            <a:ext cx="3774947"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47216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585552"/>
            <a:ext cx="340156" cy="340156"/>
          </a:xfrm>
          <a:prstGeom prst="rect">
            <a:avLst/>
          </a:prstGeom>
        </p:spPr>
      </p:pic>
      <p:sp>
        <p:nvSpPr>
          <p:cNvPr id="15" name="TextBox 14"/>
          <p:cNvSpPr txBox="1"/>
          <p:nvPr/>
        </p:nvSpPr>
        <p:spPr>
          <a:xfrm>
            <a:off x="5384291" y="1371600"/>
            <a:ext cx="2622804" cy="768061"/>
          </a:xfrm>
          <a:prstGeom prst="rect">
            <a:avLst/>
          </a:prstGeom>
          <a:noFill/>
        </p:spPr>
        <p:txBody>
          <a:bodyPr wrap="square" anchor="ctr" lIns="0" tIns="0" rIns="0" bIns="0">
            <a:spAutoFit/>
          </a:bodyPr>
          <a:lstStyle/>
          <a:p>
            <a:pPr algn="l"/>
            <a:r>
              <a:rPr sz="1550" b="0">
                <a:solidFill>
                  <a:srgbClr val="111111"/>
                </a:solidFill>
                <a:latin typeface="Inter"/>
              </a:rPr>
              <a:t>VBD Past Tense of a Verb Walked, played, ate, read</a:t>
            </a:r>
          </a:p>
        </p:txBody>
      </p:sp>
      <p:sp>
        <p:nvSpPr>
          <p:cNvPr id="16" name="Rounded Rectangle 15"/>
          <p:cNvSpPr/>
          <p:nvPr/>
        </p:nvSpPr>
        <p:spPr>
          <a:xfrm>
            <a:off x="457200" y="2413981"/>
            <a:ext cx="3774947"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701086"/>
            <a:ext cx="340156" cy="340156"/>
          </a:xfrm>
          <a:prstGeom prst="rect">
            <a:avLst/>
          </a:prstGeom>
        </p:spPr>
      </p:pic>
      <p:sp>
        <p:nvSpPr>
          <p:cNvPr id="19" name="TextBox 18"/>
          <p:cNvSpPr txBox="1"/>
          <p:nvPr/>
        </p:nvSpPr>
        <p:spPr>
          <a:xfrm>
            <a:off x="1408175" y="2487133"/>
            <a:ext cx="2622804" cy="768061"/>
          </a:xfrm>
          <a:prstGeom prst="rect">
            <a:avLst/>
          </a:prstGeom>
          <a:noFill/>
        </p:spPr>
        <p:txBody>
          <a:bodyPr wrap="square" anchor="ctr" lIns="0" tIns="0" rIns="0" bIns="0">
            <a:spAutoFit/>
          </a:bodyPr>
          <a:lstStyle/>
          <a:p>
            <a:pPr algn="l"/>
            <a:r>
              <a:rPr sz="1550" b="0">
                <a:solidFill>
                  <a:srgbClr val="111111"/>
                </a:solidFill>
                <a:latin typeface="Inter"/>
              </a:rPr>
              <a:t>VBG Gerund form of a Verb fishing, walking, reading</a:t>
            </a:r>
          </a:p>
        </p:txBody>
      </p:sp>
      <p:sp>
        <p:nvSpPr>
          <p:cNvPr id="20" name="Rounded Rectangle 19"/>
          <p:cNvSpPr/>
          <p:nvPr/>
        </p:nvSpPr>
        <p:spPr>
          <a:xfrm>
            <a:off x="4433315" y="2413981"/>
            <a:ext cx="3774947"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58770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701086"/>
            <a:ext cx="340156" cy="340156"/>
          </a:xfrm>
          <a:prstGeom prst="rect">
            <a:avLst/>
          </a:prstGeom>
        </p:spPr>
      </p:pic>
      <p:sp>
        <p:nvSpPr>
          <p:cNvPr id="23" name="TextBox 22"/>
          <p:cNvSpPr txBox="1"/>
          <p:nvPr/>
        </p:nvSpPr>
        <p:spPr>
          <a:xfrm>
            <a:off x="5384291" y="2487133"/>
            <a:ext cx="2622804" cy="768061"/>
          </a:xfrm>
          <a:prstGeom prst="rect">
            <a:avLst/>
          </a:prstGeom>
          <a:noFill/>
        </p:spPr>
        <p:txBody>
          <a:bodyPr wrap="square" anchor="ctr" lIns="0" tIns="0" rIns="0" bIns="0">
            <a:spAutoFit/>
          </a:bodyPr>
          <a:lstStyle/>
          <a:p>
            <a:pPr algn="l"/>
            <a:r>
              <a:rPr sz="1550" b="0">
                <a:solidFill>
                  <a:srgbClr val="111111"/>
                </a:solidFill>
                <a:latin typeface="Inter"/>
              </a:rPr>
              <a:t>VBZ 3'4 person verb on present tense Walks, plays, eats, read, is</a:t>
            </a:r>
          </a:p>
        </p:txBody>
      </p:sp>
      <p:sp>
        <p:nvSpPr>
          <p:cNvPr id="24" name="Rounded Rectangle 23"/>
          <p:cNvSpPr/>
          <p:nvPr/>
        </p:nvSpPr>
        <p:spPr>
          <a:xfrm>
            <a:off x="457200" y="3529515"/>
            <a:ext cx="775106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703234"/>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816620"/>
            <a:ext cx="340156" cy="340156"/>
          </a:xfrm>
          <a:prstGeom prst="rect">
            <a:avLst/>
          </a:prstGeom>
        </p:spPr>
      </p:pic>
      <p:sp>
        <p:nvSpPr>
          <p:cNvPr id="27" name="TextBox 26"/>
          <p:cNvSpPr txBox="1"/>
          <p:nvPr/>
        </p:nvSpPr>
        <p:spPr>
          <a:xfrm>
            <a:off x="1408175" y="3602667"/>
            <a:ext cx="6598919" cy="768061"/>
          </a:xfrm>
          <a:prstGeom prst="rect">
            <a:avLst/>
          </a:prstGeom>
          <a:noFill/>
        </p:spPr>
        <p:txBody>
          <a:bodyPr wrap="square" anchor="ctr" lIns="0" tIns="0" rIns="0" bIns="0">
            <a:spAutoFit/>
          </a:bodyPr>
          <a:lstStyle/>
          <a:p>
            <a:pPr algn="l"/>
            <a:r>
              <a:rPr sz="1550" b="0">
                <a:solidFill>
                  <a:srgbClr val="111111"/>
                </a:solidFill>
                <a:latin typeface="Inter"/>
              </a:rPr>
              <a:t>VBP Non 34 person verb on present tense Walk, play, eat, read, am, are</a:t>
            </a:r>
          </a:p>
        </p:txBody>
      </p:sp>
      <p:sp>
        <p:nvSpPr>
          <p:cNvPr id="28" name="Rounded Rectangle 27"/>
          <p:cNvSpPr/>
          <p:nvPr/>
        </p:nvSpPr>
        <p:spPr>
          <a:xfrm>
            <a:off x="457200" y="4645049"/>
            <a:ext cx="7751064" cy="6401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645049"/>
            <a:ext cx="73152" cy="6401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718201"/>
            <a:ext cx="7356043" cy="49387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MD Modal Verb Can, may, should</a:t>
            </a:r>
          </a:p>
        </p:txBody>
      </p:sp>
      <p:sp>
        <p:nvSpPr>
          <p:cNvPr id="31" name="Rounded Rectangle 30"/>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VB — Base form of a verb, used in infinitives  ·  VBD — Past tense form of a verb, indicating completed action</a:t>
            </a:r>
          </a:p>
        </p:txBody>
      </p:sp>
      <p:sp>
        <p:nvSpPr>
          <p:cNvPr id="32" name="Rectangle 31"/>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POS Type slide details adjective and adverb comparative and superlative forms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52</a:t>
            </a:r>
          </a:p>
        </p:txBody>
      </p:sp>
      <p:sp>
        <p:nvSpPr>
          <p:cNvPr id="8" name="Rectangle 7"/>
          <p:cNvSpPr/>
          <p:nvPr/>
        </p:nvSpPr>
        <p:spPr>
          <a:xfrm>
            <a:off x="457200" y="1325880"/>
            <a:ext cx="73152" cy="956056"/>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047496"/>
          </a:xfrm>
          <a:prstGeom prst="rect">
            <a:avLst/>
          </a:prstGeom>
          <a:noFill/>
        </p:spPr>
        <p:txBody>
          <a:bodyPr wrap="square" anchor="ctr" lIns="0" tIns="0" rIns="0" bIns="0">
            <a:spAutoFit/>
          </a:bodyPr>
          <a:lstStyle/>
          <a:p>
            <a:pPr algn="l"/>
            <a:r>
              <a:rPr sz="2400" b="1">
                <a:solidFill>
                  <a:srgbClr val="1C7C73"/>
                </a:solidFill>
                <a:latin typeface="Bebas Neue"/>
              </a:rPr>
              <a:t>POS Type | Explanation | Examples</a:t>
            </a:r>
          </a:p>
          <a:p>
            <a:pPr algn="l">
              <a:spcBef>
                <a:spcPts val="400"/>
              </a:spcBef>
            </a:pPr>
            <a:r>
              <a:rPr sz="1400" b="0">
                <a:solidFill>
                  <a:srgbClr val="111111"/>
                </a:solidFill>
                <a:latin typeface="Inter"/>
              </a:rPr>
              <a:t>JIS Superlative Adjective Best, smallest, fastest</a:t>
            </a:r>
          </a:p>
          <a:p>
            <a:pPr algn="l">
              <a:spcBef>
                <a:spcPts val="400"/>
              </a:spcBef>
            </a:pPr>
            <a:r>
              <a:rPr sz="1400" b="0">
                <a:solidFill>
                  <a:srgbClr val="111111"/>
                </a:solidFill>
                <a:latin typeface="Inter"/>
              </a:rPr>
              <a:t>RB Adverb Back, behind, fast, slow</a:t>
            </a:r>
          </a:p>
        </p:txBody>
      </p:sp>
      <p:sp>
        <p:nvSpPr>
          <p:cNvPr id="10" name="Rounded Rectangle 9"/>
          <p:cNvSpPr/>
          <p:nvPr/>
        </p:nvSpPr>
        <p:spPr>
          <a:xfrm>
            <a:off x="457200" y="2547112"/>
            <a:ext cx="11274552" cy="2152904"/>
          </a:xfrm>
          <a:prstGeom prst="roundRect">
            <a:avLst>
              <a:gd name="adj" fmla="val 654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11704"/>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08046"/>
            <a:ext cx="10872216" cy="1831035"/>
          </a:xfrm>
          <a:prstGeom prst="rect">
            <a:avLst/>
          </a:prstGeom>
          <a:noFill/>
        </p:spPr>
        <p:txBody>
          <a:bodyPr wrap="square" anchor="t" lIns="0" tIns="0" rIns="0" bIns="0">
            <a:spAutoFit/>
          </a:bodyPr>
          <a:lstStyle/>
          <a:p>
            <a:pPr algn="l"/>
            <a:r>
              <a:rPr sz="2500" b="1">
                <a:solidFill>
                  <a:srgbClr val="1C7C73"/>
                </a:solidFill>
                <a:latin typeface="Bebas Neue"/>
              </a:rPr>
              <a:t>JJ Adjective Intelligent, small, fast</a:t>
            </a:r>
          </a:p>
          <a:p>
            <a:pPr algn="l" marL="256032" indent="-256032" lvl="0">
              <a:spcBef>
                <a:spcPts val="700"/>
              </a:spcBef>
              <a:buClr>
                <a:srgbClr val="F6C887"/>
              </a:buClr>
              <a:buFont typeface="Arial"/>
              <a:buChar char="•"/>
            </a:pPr>
            <a:r>
              <a:rPr sz="2000" b="0">
                <a:solidFill>
                  <a:srgbClr val="111111"/>
                </a:solidFill>
                <a:latin typeface="Inter"/>
              </a:rPr>
              <a:t>Comparative Adjective Better, smaller, faster</a:t>
            </a:r>
          </a:p>
        </p:txBody>
      </p:sp>
      <p:sp>
        <p:nvSpPr>
          <p:cNvPr id="13" name="Rounded Rectangle 12"/>
          <p:cNvSpPr/>
          <p:nvPr/>
        </p:nvSpPr>
        <p:spPr>
          <a:xfrm>
            <a:off x="457200"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000" b="1">
                <a:solidFill>
                  <a:srgbClr val="1C7C73"/>
                </a:solidFill>
                <a:latin typeface="Bebas Neue"/>
              </a:rPr>
              <a:t>RBR Comparative Adverb Slower, faster</a:t>
            </a:r>
          </a:p>
        </p:txBody>
      </p:sp>
      <p:sp>
        <p:nvSpPr>
          <p:cNvPr id="14" name="Rounded Rectangle 13"/>
          <p:cNvSpPr/>
          <p:nvPr/>
        </p:nvSpPr>
        <p:spPr>
          <a:xfrm>
            <a:off x="2737713"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000" b="1">
                <a:solidFill>
                  <a:srgbClr val="1C7C73"/>
                </a:solidFill>
                <a:latin typeface="Bebas Neue"/>
              </a:rPr>
              <a:t>RBS Superlative Adverb Slowest, fastest</a:t>
            </a:r>
          </a:p>
        </p:txBody>
      </p:sp>
      <p:sp>
        <p:nvSpPr>
          <p:cNvPr id="15" name="Rounded Rectangle 14"/>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JJ — Adjective, a word that modifies a noun  ·  RB — Adverb, a word that modifies a verb, adjective, or other adverb</a:t>
            </a:r>
          </a:p>
        </p:txBody>
      </p:sp>
      <p:sp>
        <p:nvSpPr>
          <p:cNvPr id="16" name="Rectangle 15"/>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Pronoun, Determiner, Preposition slide lists these three word classes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52</a:t>
            </a:r>
          </a:p>
        </p:txBody>
      </p:sp>
      <p:sp>
        <p:nvSpPr>
          <p:cNvPr id="7" name="Rounded Rectangle 6"/>
          <p:cNvSpPr/>
          <p:nvPr/>
        </p:nvSpPr>
        <p:spPr>
          <a:xfrm>
            <a:off x="1289041" y="1298448"/>
            <a:ext cx="9610869" cy="5102352"/>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453633" y="1463040"/>
            <a:ext cx="9281685" cy="4773168"/>
          </a:xfrm>
          <a:prstGeom prst="rect">
            <a:avLst/>
          </a:prstGeom>
        </p:spPr>
      </p:pic>
    </p:spTree>
  </p:cSld>
  <p:clrMapOvr>
    <a:masterClrMapping/>
  </p:clrMapOvr>
  <p:transition spd="med">
    <p:cover dir="r"/>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 POS Type slide shows a sentence with each word’s grammatical tag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636422"/>
          </a:xfrm>
          <a:prstGeom prst="roundRect">
            <a:avLst>
              <a:gd name="adj" fmla="val 2212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3195"/>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46580"/>
            <a:ext cx="340156" cy="340156"/>
          </a:xfrm>
          <a:prstGeom prst="rect">
            <a:avLst/>
          </a:prstGeom>
        </p:spPr>
      </p:pic>
      <p:sp>
        <p:nvSpPr>
          <p:cNvPr id="11" name="TextBox 10"/>
          <p:cNvSpPr txBox="1"/>
          <p:nvPr/>
        </p:nvSpPr>
        <p:spPr>
          <a:xfrm>
            <a:off x="1408175" y="1371600"/>
            <a:ext cx="6731812" cy="490118"/>
          </a:xfrm>
          <a:prstGeom prst="rect">
            <a:avLst/>
          </a:prstGeom>
          <a:noFill/>
        </p:spPr>
        <p:txBody>
          <a:bodyPr wrap="square" anchor="ctr" lIns="0" tIns="0" rIns="0" bIns="0">
            <a:spAutoFit/>
          </a:bodyPr>
          <a:lstStyle/>
          <a:p>
            <a:pPr algn="l"/>
            <a:r>
              <a:rPr sz="1820" b="0">
                <a:solidFill>
                  <a:srgbClr val="111111"/>
                </a:solidFill>
                <a:latin typeface="Inter"/>
              </a:rPr>
              <a:t>Word POS Type Explanation</a:t>
            </a:r>
          </a:p>
        </p:txBody>
      </p:sp>
      <p:sp>
        <p:nvSpPr>
          <p:cNvPr id="12" name="Rounded Rectangle 11"/>
          <p:cNvSpPr/>
          <p:nvPr/>
        </p:nvSpPr>
        <p:spPr>
          <a:xfrm>
            <a:off x="457200" y="2136038"/>
            <a:ext cx="7883956" cy="636422"/>
          </a:xfrm>
          <a:prstGeom prst="roundRect">
            <a:avLst>
              <a:gd name="adj" fmla="val 2212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170785"/>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284171"/>
            <a:ext cx="340156" cy="340156"/>
          </a:xfrm>
          <a:prstGeom prst="rect">
            <a:avLst/>
          </a:prstGeom>
        </p:spPr>
      </p:pic>
      <p:sp>
        <p:nvSpPr>
          <p:cNvPr id="15" name="TextBox 14"/>
          <p:cNvSpPr txBox="1"/>
          <p:nvPr/>
        </p:nvSpPr>
        <p:spPr>
          <a:xfrm>
            <a:off x="1408175" y="2209190"/>
            <a:ext cx="6731812" cy="490118"/>
          </a:xfrm>
          <a:prstGeom prst="rect">
            <a:avLst/>
          </a:prstGeom>
          <a:noFill/>
        </p:spPr>
        <p:txBody>
          <a:bodyPr wrap="square" anchor="ctr" lIns="0" tIns="0" rIns="0" bIns="0">
            <a:spAutoFit/>
          </a:bodyPr>
          <a:lstStyle/>
          <a:p>
            <a:pPr algn="l"/>
            <a:r>
              <a:rPr sz="1820" b="0">
                <a:solidFill>
                  <a:srgbClr val="111111"/>
                </a:solidFill>
                <a:latin typeface="Inter"/>
              </a:rPr>
              <a:t>I PRP Pronoun</a:t>
            </a:r>
          </a:p>
        </p:txBody>
      </p:sp>
      <p:sp>
        <p:nvSpPr>
          <p:cNvPr id="16" name="Rounded Rectangle 15"/>
          <p:cNvSpPr/>
          <p:nvPr/>
        </p:nvSpPr>
        <p:spPr>
          <a:xfrm>
            <a:off x="457200" y="2973628"/>
            <a:ext cx="7883956" cy="636422"/>
          </a:xfrm>
          <a:prstGeom prst="roundRect">
            <a:avLst>
              <a:gd name="adj" fmla="val 2212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3046780"/>
            <a:ext cx="6731812" cy="490118"/>
          </a:xfrm>
          <a:prstGeom prst="rect">
            <a:avLst/>
          </a:prstGeom>
          <a:noFill/>
        </p:spPr>
        <p:txBody>
          <a:bodyPr wrap="square" anchor="ctr" lIns="0" tIns="0" rIns="0" bIns="0">
            <a:spAutoFit/>
          </a:bodyPr>
          <a:lstStyle/>
          <a:p>
            <a:pPr algn="l"/>
            <a:r>
              <a:rPr sz="1500" b="0">
                <a:solidFill>
                  <a:srgbClr val="111111"/>
                </a:solidFill>
                <a:latin typeface="Inter"/>
              </a:rPr>
              <a:t>al VBP Non 3 person verb on present tense a DT Determiner girl NN Singular Common Noun</a:t>
            </a:r>
          </a:p>
        </p:txBody>
      </p:sp>
      <p:sp>
        <p:nvSpPr>
          <p:cNvPr id="20" name="Rounded Rectangle 19"/>
          <p:cNvSpPr/>
          <p:nvPr/>
        </p:nvSpPr>
        <p:spPr>
          <a:xfrm>
            <a:off x="457200" y="3811219"/>
            <a:ext cx="7883956" cy="636422"/>
          </a:xfrm>
          <a:prstGeom prst="roundRect">
            <a:avLst>
              <a:gd name="adj" fmla="val 2212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84596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3959352"/>
            <a:ext cx="340156" cy="340156"/>
          </a:xfrm>
          <a:prstGeom prst="rect">
            <a:avLst/>
          </a:prstGeom>
        </p:spPr>
      </p:pic>
      <p:sp>
        <p:nvSpPr>
          <p:cNvPr id="23" name="TextBox 22"/>
          <p:cNvSpPr txBox="1"/>
          <p:nvPr/>
        </p:nvSpPr>
        <p:spPr>
          <a:xfrm>
            <a:off x="1408175" y="3884371"/>
            <a:ext cx="6731812" cy="490118"/>
          </a:xfrm>
          <a:prstGeom prst="rect">
            <a:avLst/>
          </a:prstGeom>
          <a:noFill/>
        </p:spPr>
        <p:txBody>
          <a:bodyPr wrap="square" anchor="ctr" lIns="0" tIns="0" rIns="0" bIns="0">
            <a:spAutoFit/>
          </a:bodyPr>
          <a:lstStyle/>
          <a:p>
            <a:pPr algn="l"/>
            <a:r>
              <a:rPr sz="1820" b="0">
                <a:solidFill>
                  <a:srgbClr val="111111"/>
                </a:solidFill>
                <a:latin typeface="Inter"/>
              </a:rPr>
              <a:t>Statement: Kavya is a intelligent girl</a:t>
            </a:r>
          </a:p>
        </p:txBody>
      </p:sp>
      <p:sp>
        <p:nvSpPr>
          <p:cNvPr id="24" name="Rounded Rectangle 23"/>
          <p:cNvSpPr/>
          <p:nvPr/>
        </p:nvSpPr>
        <p:spPr>
          <a:xfrm>
            <a:off x="457200" y="4648809"/>
            <a:ext cx="7883956" cy="636422"/>
          </a:xfrm>
          <a:prstGeom prst="roundRect">
            <a:avLst>
              <a:gd name="adj" fmla="val 2212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68355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796942"/>
            <a:ext cx="340156" cy="340156"/>
          </a:xfrm>
          <a:prstGeom prst="rect">
            <a:avLst/>
          </a:prstGeom>
        </p:spPr>
      </p:pic>
      <p:sp>
        <p:nvSpPr>
          <p:cNvPr id="27" name="TextBox 26"/>
          <p:cNvSpPr txBox="1"/>
          <p:nvPr/>
        </p:nvSpPr>
        <p:spPr>
          <a:xfrm>
            <a:off x="1408175" y="4721961"/>
            <a:ext cx="6731812" cy="490118"/>
          </a:xfrm>
          <a:prstGeom prst="rect">
            <a:avLst/>
          </a:prstGeom>
          <a:noFill/>
        </p:spPr>
        <p:txBody>
          <a:bodyPr wrap="square" anchor="ctr" lIns="0" tIns="0" rIns="0" bIns="0">
            <a:spAutoFit/>
          </a:bodyPr>
          <a:lstStyle/>
          <a:p>
            <a:pPr algn="l"/>
            <a:r>
              <a:rPr sz="1820" b="0">
                <a:solidFill>
                  <a:srgbClr val="111111"/>
                </a:solidFill>
                <a:latin typeface="Inter"/>
              </a:rPr>
              <a:t>NNP Singular Proper Noun</a:t>
            </a:r>
          </a:p>
        </p:txBody>
      </p:sp>
      <p:sp>
        <p:nvSpPr>
          <p:cNvPr id="28" name="Rounded Rectangle 27"/>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PRP — Personal pronoun, referring to a person or thing  ·  DT — Determiner, a word that introduces a noun</a:t>
            </a:r>
          </a:p>
        </p:txBody>
      </p:sp>
      <p:sp>
        <p:nvSpPr>
          <p:cNvPr id="29" name="Rectangle 28"/>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“Personal pronoun, referring to a person or thing”?</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cc</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PRP</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Hidden Markov Model</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PRP: Personal pronoun, referring to a person or thing</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Word POS Type slide demonstrates verb tense tagging in simple sentences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52</a:t>
            </a:r>
          </a:p>
        </p:txBody>
      </p:sp>
      <p:sp>
        <p:nvSpPr>
          <p:cNvPr id="8" name="Rectangle 7"/>
          <p:cNvSpPr/>
          <p:nvPr/>
        </p:nvSpPr>
        <p:spPr>
          <a:xfrm>
            <a:off x="457200" y="1325880"/>
            <a:ext cx="73152" cy="956056"/>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047496"/>
          </a:xfrm>
          <a:prstGeom prst="rect">
            <a:avLst/>
          </a:prstGeom>
          <a:noFill/>
        </p:spPr>
        <p:txBody>
          <a:bodyPr wrap="square" anchor="ctr" lIns="0" tIns="0" rIns="0" bIns="0">
            <a:spAutoFit/>
          </a:bodyPr>
          <a:lstStyle/>
          <a:p>
            <a:pPr algn="l"/>
            <a:r>
              <a:rPr sz="2400" b="1">
                <a:solidFill>
                  <a:srgbClr val="1C7C73"/>
                </a:solidFill>
                <a:latin typeface="Bebas Neue"/>
              </a:rPr>
              <a:t>Statement: She plays tennis.</a:t>
            </a:r>
          </a:p>
          <a:p>
            <a:pPr algn="l">
              <a:spcBef>
                <a:spcPts val="400"/>
              </a:spcBef>
            </a:pPr>
            <a:r>
              <a:rPr sz="1400" b="0">
                <a:solidFill>
                  <a:srgbClr val="111111"/>
                </a:solidFill>
                <a:latin typeface="Inter"/>
              </a:rPr>
              <a:t>She PRP Pronoun</a:t>
            </a:r>
          </a:p>
          <a:p>
            <a:pPr algn="l">
              <a:spcBef>
                <a:spcPts val="400"/>
              </a:spcBef>
            </a:pPr>
            <a:r>
              <a:rPr sz="1400" b="0">
                <a:solidFill>
                  <a:srgbClr val="111111"/>
                </a:solidFill>
                <a:latin typeface="Inter"/>
              </a:rPr>
              <a:t>Play VBP Non 34 person verb on present tense</a:t>
            </a:r>
          </a:p>
        </p:txBody>
      </p:sp>
      <p:sp>
        <p:nvSpPr>
          <p:cNvPr id="10" name="Rounded Rectangle 9"/>
          <p:cNvSpPr/>
          <p:nvPr/>
        </p:nvSpPr>
        <p:spPr>
          <a:xfrm>
            <a:off x="457200" y="2547112"/>
            <a:ext cx="11274552" cy="2152904"/>
          </a:xfrm>
          <a:prstGeom prst="roundRect">
            <a:avLst>
              <a:gd name="adj" fmla="val 654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11704"/>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08046"/>
            <a:ext cx="10872216" cy="1831035"/>
          </a:xfrm>
          <a:prstGeom prst="rect">
            <a:avLst/>
          </a:prstGeom>
          <a:noFill/>
        </p:spPr>
        <p:txBody>
          <a:bodyPr wrap="square" anchor="t" lIns="0" tIns="0" rIns="0" bIns="0">
            <a:spAutoFit/>
          </a:bodyPr>
          <a:lstStyle/>
          <a:p>
            <a:pPr algn="l"/>
            <a:r>
              <a:rPr sz="2500" b="1">
                <a:solidFill>
                  <a:srgbClr val="1C7C73"/>
                </a:solidFill>
                <a:latin typeface="Bebas Neue"/>
              </a:rPr>
              <a:t>Statement: They play football.</a:t>
            </a:r>
          </a:p>
          <a:p>
            <a:pPr algn="l" marL="256032" indent="-256032" lvl="0">
              <a:spcBef>
                <a:spcPts val="700"/>
              </a:spcBef>
              <a:buClr>
                <a:srgbClr val="F6C887"/>
              </a:buClr>
              <a:buFont typeface="Arial"/>
              <a:buChar char="•"/>
            </a:pPr>
            <a:r>
              <a:rPr sz="2000" b="0">
                <a:solidFill>
                  <a:srgbClr val="111111"/>
                </a:solidFill>
                <a:latin typeface="Inter"/>
              </a:rPr>
              <a:t>Word POS Type Explanation</a:t>
            </a:r>
          </a:p>
        </p:txBody>
      </p:sp>
      <p:sp>
        <p:nvSpPr>
          <p:cNvPr id="13" name="Rounded Rectangle 12"/>
          <p:cNvSpPr/>
          <p:nvPr/>
        </p:nvSpPr>
        <p:spPr>
          <a:xfrm>
            <a:off x="457200"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b="1">
                <a:solidFill>
                  <a:srgbClr val="1C7C73"/>
                </a:solidFill>
                <a:latin typeface="Bebas Neue"/>
              </a:rPr>
              <a:t>They PRP Pronoun</a:t>
            </a:r>
          </a:p>
        </p:txBody>
      </p:sp>
      <p:sp>
        <p:nvSpPr>
          <p:cNvPr id="14" name="Rounded Rectangle 13"/>
          <p:cNvSpPr/>
          <p:nvPr/>
        </p:nvSpPr>
        <p:spPr>
          <a:xfrm>
            <a:off x="2737713"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000" b="1">
                <a:solidFill>
                  <a:srgbClr val="1C7C73"/>
                </a:solidFill>
                <a:latin typeface="Bebas Neue"/>
              </a:rPr>
              <a:t>Football NN Singular Common Noun</a:t>
            </a:r>
          </a:p>
        </p:txBody>
      </p:sp>
      <p:sp>
        <p:nvSpPr>
          <p:cNvPr id="15" name="Rounded Rectangle 14"/>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Simple sentence analysis demonstrates tagging pronoun, verb tense, and singular common noun categories.</a:t>
            </a:r>
          </a:p>
          <a:p>
            <a:pPr algn="l"/>
            <a:r>
              <a:rPr b="1" sz="1300">
                <a:solidFill>
                  <a:srgbClr val="1C7C73"/>
                </a:solidFill>
                <a:latin typeface="Bebas Neue"/>
              </a:rPr>
              <a:t>Key terms:  </a:t>
            </a:r>
            <a:r>
              <a:rPr sz="1300" b="0">
                <a:solidFill>
                  <a:srgbClr val="111111"/>
                </a:solidFill>
                <a:latin typeface="Inter"/>
              </a:rPr>
              <a:t>VBZ — Verb, third person singular present tense  ·  VBP — Verb, non-third person singular present tense</a:t>
            </a:r>
          </a:p>
        </p:txBody>
      </p:sp>
      <p:sp>
        <p:nvSpPr>
          <p:cNvPr id="16" name="Rectangle 15"/>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Statement slide illustrates part-of-speech tags for a complex sentence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52</a:t>
            </a:r>
          </a:p>
        </p:txBody>
      </p:sp>
      <p:sp>
        <p:nvSpPr>
          <p:cNvPr id="8" name="Rectangle 7"/>
          <p:cNvSpPr/>
          <p:nvPr/>
        </p:nvSpPr>
        <p:spPr>
          <a:xfrm>
            <a:off x="457200" y="1325880"/>
            <a:ext cx="73152" cy="7498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C7C73"/>
                </a:solidFill>
                <a:latin typeface="Bebas Neue"/>
              </a:rPr>
              <a:t>For IN Preposition Something NN Singular Common Noun completely RB Adverb different JJ Adjective</a:t>
            </a:r>
          </a:p>
        </p:txBody>
      </p:sp>
      <p:sp>
        <p:nvSpPr>
          <p:cNvPr id="10" name="Rounded Rectangle 9"/>
          <p:cNvSpPr/>
          <p:nvPr/>
        </p:nvSpPr>
        <p:spPr>
          <a:xfrm>
            <a:off x="457200" y="2340864"/>
            <a:ext cx="11274552" cy="2359152"/>
          </a:xfrm>
          <a:prstGeom prst="roundRect">
            <a:avLst>
              <a:gd name="adj" fmla="val 596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10872216" cy="2037283"/>
          </a:xfrm>
          <a:prstGeom prst="rect">
            <a:avLst/>
          </a:prstGeom>
          <a:noFill/>
        </p:spPr>
        <p:txBody>
          <a:bodyPr wrap="square" anchor="t" lIns="0" tIns="0" rIns="0" bIns="0">
            <a:spAutoFit/>
          </a:bodyPr>
          <a:lstStyle/>
          <a:p>
            <a:pPr algn="l"/>
            <a:r>
              <a:rPr sz="2500" b="1">
                <a:solidFill>
                  <a:srgbClr val="1C7C73"/>
                </a:solidFill>
                <a:latin typeface="Bebas Neue"/>
              </a:rPr>
              <a:t>Statement: And now for something completely different</a:t>
            </a:r>
          </a:p>
          <a:p>
            <a:pPr algn="l" marL="256032" indent="-256032" lvl="0">
              <a:spcBef>
                <a:spcPts val="700"/>
              </a:spcBef>
              <a:buClr>
                <a:srgbClr val="F6C887"/>
              </a:buClr>
              <a:buFont typeface="Arial"/>
              <a:buChar char="•"/>
            </a:pPr>
            <a:r>
              <a:rPr sz="2000" b="0">
                <a:solidFill>
                  <a:srgbClr val="111111"/>
                </a:solidFill>
                <a:latin typeface="Inter"/>
              </a:rPr>
              <a:t>POS Type Explanation</a:t>
            </a:r>
          </a:p>
        </p:txBody>
      </p:sp>
      <p:sp>
        <p:nvSpPr>
          <p:cNvPr id="13" name="Rounded Rectangle 12"/>
          <p:cNvSpPr/>
          <p:nvPr/>
        </p:nvSpPr>
        <p:spPr>
          <a:xfrm>
            <a:off x="457200"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000" b="1">
                <a:solidFill>
                  <a:srgbClr val="1C7C73"/>
                </a:solidFill>
                <a:latin typeface="Bebas Neue"/>
              </a:rPr>
              <a:t>And cc Coordinating Conjunction</a:t>
            </a:r>
          </a:p>
        </p:txBody>
      </p:sp>
      <p:sp>
        <p:nvSpPr>
          <p:cNvPr id="14" name="Rounded Rectangle 13"/>
          <p:cNvSpPr/>
          <p:nvPr/>
        </p:nvSpPr>
        <p:spPr>
          <a:xfrm>
            <a:off x="2737713" y="4901184"/>
            <a:ext cx="2152497" cy="384048"/>
          </a:xfrm>
          <a:prstGeom prst="roundRect">
            <a:avLst>
              <a:gd name="adj" fmla="val 50000"/>
            </a:avLst>
          </a:prstGeom>
          <a:solidFill>
            <a:srgbClr val="E3EFEE"/>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500" b="1">
                <a:solidFill>
                  <a:srgbClr val="1C7C73"/>
                </a:solidFill>
                <a:latin typeface="Bebas Neue"/>
              </a:rPr>
              <a:t>Now RB Adverb</a:t>
            </a:r>
          </a:p>
        </p:txBody>
      </p:sp>
      <p:sp>
        <p:nvSpPr>
          <p:cNvPr id="15" name="Rounded Rectangle 14"/>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50">
                <a:solidFill>
                  <a:srgbClr val="1C7C73"/>
                </a:solidFill>
                <a:latin typeface="Bebas Neue"/>
              </a:rPr>
              <a:t>Key takeaway:  </a:t>
            </a:r>
            <a:r>
              <a:rPr sz="1150" b="0">
                <a:solidFill>
                  <a:srgbClr val="111111"/>
                </a:solidFill>
                <a:latin typeface="Inter"/>
              </a:rPr>
              <a:t>Complex sentences contain diverse POS tags including coordinating conjunctions, adverbs, prepositions, and adjectives.</a:t>
            </a:r>
          </a:p>
          <a:p>
            <a:pPr algn="l"/>
            <a:r>
              <a:rPr b="1" sz="1150">
                <a:solidFill>
                  <a:srgbClr val="1C7C73"/>
                </a:solidFill>
                <a:latin typeface="Bebas Neue"/>
              </a:rPr>
              <a:t>Key terms:  </a:t>
            </a:r>
            <a:r>
              <a:rPr sz="1150" b="0">
                <a:solidFill>
                  <a:srgbClr val="111111"/>
                </a:solidFill>
                <a:latin typeface="Inter"/>
              </a:rPr>
              <a:t>cc — Coordinating conjunction, linking clauses or phrases  ·  RB — Adverb, modifying verbs, adjectives, or other adverbs</a:t>
            </a:r>
          </a:p>
        </p:txBody>
      </p:sp>
      <p:sp>
        <p:nvSpPr>
          <p:cNvPr id="16" name="Rectangle 15"/>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Tag set for English</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52</a:t>
            </a:r>
          </a:p>
        </p:txBody>
      </p:sp>
      <p:sp>
        <p:nvSpPr>
          <p:cNvPr id="7" name="Rounded Rectangle 6"/>
          <p:cNvSpPr/>
          <p:nvPr/>
        </p:nvSpPr>
        <p:spPr>
          <a:xfrm>
            <a:off x="1648352" y="1298448"/>
            <a:ext cx="8892247" cy="5102352"/>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12944" y="1463040"/>
            <a:ext cx="8563063" cy="4773168"/>
          </a:xfrm>
          <a:prstGeom prst="rect">
            <a:avLst/>
          </a:prstGeom>
        </p:spPr>
      </p:pic>
    </p:spTree>
  </p:cSld>
  <p:clrMapOvr>
    <a:masterClrMapping/>
  </p:clrMapOvr>
  <p:transition spd="med">
    <p:zoom dir="in"/>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POS Taggers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52</a:t>
            </a:r>
          </a:p>
        </p:txBody>
      </p:sp>
      <p:sp>
        <p:nvSpPr>
          <p:cNvPr id="7" name="Rounded Rectangle 6"/>
          <p:cNvSpPr/>
          <p:nvPr/>
        </p:nvSpPr>
        <p:spPr>
          <a:xfrm>
            <a:off x="1640546" y="1298448"/>
            <a:ext cx="8907859" cy="4690872"/>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05138" y="1463040"/>
            <a:ext cx="8578675"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 a ; 1 Rule Based Stochastic/ Statistical based i L 7 Transformation based Probablistic i L 7</a:t>
            </a:r>
          </a:p>
        </p:txBody>
      </p:sp>
    </p:spTree>
  </p:cSld>
  <p:clrMapOvr>
    <a:masterClrMapping/>
  </p:clrMapOvr>
  <p:transition spd="med">
    <p:zoom dir="in"/>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“Coordinating conjunction, linking clauses or phrases”?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cc</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Hidden Markov Model</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VBD</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Tag</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cc: Coordinating conjunction, linking clauses or phrases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Rule-based tagger slide explains a two-stage tagging algorithm using dictionaries and rules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52</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1950" b="1">
                          <a:solidFill>
                            <a:srgbClr val="FFFFFF"/>
                          </a:solidFill>
                          <a:latin typeface="Bebas Neue"/>
                        </a:rPr>
                        <a:t>Rule-based</a:t>
                      </a:r>
                    </a:p>
                  </a:txBody>
                  <a:tcPr marL="146304" marR="146304" anchor="ctr">
                    <a:solidFill>
                      <a:srgbClr val="1C7C73"/>
                    </a:solidFill>
                  </a:tcPr>
                </a:tc>
                <a:tc>
                  <a:txBody>
                    <a:bodyPr/>
                    <a:lstStyle/>
                    <a:p>
                      <a:pPr algn="l"/>
                      <a:r>
                        <a:rPr sz="1950" b="1">
                          <a:solidFill>
                            <a:srgbClr val="FFFFFF"/>
                          </a:solidFill>
                          <a:latin typeface="Bebas Neue"/>
                        </a:rPr>
                        <a:t>Rules</a:t>
                      </a:r>
                    </a:p>
                  </a:txBody>
                  <a:tcPr marL="146304" marR="146304" anchor="ctr">
                    <a:solidFill>
                      <a:srgbClr val="1C7C73"/>
                    </a:solidFill>
                  </a:tcPr>
                </a:tc>
              </a:tr>
              <a:tr h="1051560">
                <a:tc>
                  <a:txBody>
                    <a:bodyPr/>
                    <a:lstStyle/>
                    <a:p>
                      <a:pPr algn="l"/>
                      <a:r>
                        <a:rPr sz="1650" b="1">
                          <a:solidFill>
                            <a:srgbClr val="1C7C73"/>
                          </a:solidFill>
                          <a:latin typeface="Bebas Neue"/>
                        </a:rPr>
                        <a:t>Part-of-speech tagging is the oldest approach that uses hand written</a:t>
                      </a:r>
                    </a:p>
                  </a:txBody>
                  <a:tcPr marL="146304" marR="146304" anchor="ctr">
                    <a:solidFill>
                      <a:srgbClr val="F5F6F8"/>
                    </a:solidFill>
                  </a:tcPr>
                </a:tc>
                <a:tc>
                  <a:txBody>
                    <a:bodyPr/>
                    <a:lstStyle/>
                    <a:p>
                      <a:pPr algn="l"/>
                      <a:r>
                        <a:rPr sz="1650" b="0">
                          <a:solidFill>
                            <a:srgbClr val="111111"/>
                          </a:solidFill>
                          <a:latin typeface="Inter"/>
                        </a:rPr>
                        <a:t>For tagging</a:t>
                      </a:r>
                    </a:p>
                  </a:txBody>
                  <a:tcPr marL="146304" marR="146304" anchor="ctr">
                    <a:solidFill>
                      <a:srgbClr val="F5F6F8"/>
                    </a:solidFill>
                  </a:tcPr>
                </a:tc>
              </a:tr>
              <a:tr h="1051560">
                <a:tc>
                  <a:txBody>
                    <a:bodyPr/>
                    <a:lstStyle/>
                    <a:p>
                      <a:pPr algn="l"/>
                      <a:r>
                        <a:rPr sz="1650" b="1">
                          <a:solidFill>
                            <a:srgbClr val="1C7C73"/>
                          </a:solidFill>
                          <a:latin typeface="Bebas Neue"/>
                        </a:rPr>
                        <a:t>Taggers depends on dictionary or lexicon to get possible tags for each word to be tagged</a:t>
                      </a:r>
                    </a:p>
                  </a:txBody>
                  <a:tcPr marL="146304" marR="146304" anchor="ctr">
                    <a:solidFill>
                      <a:srgbClr val="ECF4F3"/>
                    </a:solidFill>
                  </a:tcPr>
                </a:tc>
                <a:tc>
                  <a:txBody>
                    <a:bodyPr/>
                    <a:lstStyle/>
                    <a:p>
                      <a:pPr algn="l"/>
                      <a:r>
                        <a:rPr sz="1650" b="0">
                          <a:solidFill>
                            <a:srgbClr val="111111"/>
                          </a:solidFill>
                          <a:latin typeface="Inter"/>
                        </a:rPr>
                        <a:t>The second stage used large lists of hand-written disambiguation rules to winnow down this list to a single part-of-speech for each word</a:t>
                      </a:r>
                    </a:p>
                  </a:txBody>
                  <a:tcPr marL="146304" marR="146304" anchor="ctr">
                    <a:solidFill>
                      <a:srgbClr val="ECF4F3"/>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50">
                <a:solidFill>
                  <a:srgbClr val="1C7C73"/>
                </a:solidFill>
                <a:latin typeface="Bebas Neue"/>
              </a:rPr>
              <a:t>Key takeaway:  </a:t>
            </a:r>
            <a:r>
              <a:rPr sz="1150" b="0">
                <a:solidFill>
                  <a:srgbClr val="111111"/>
                </a:solidFill>
                <a:latin typeface="Inter"/>
              </a:rPr>
              <a:t>Rule-based taggers use a two-stage architecture with dictionaries and hand-written disambiguation rules to tag words.</a:t>
            </a:r>
          </a:p>
          <a:p>
            <a:pPr algn="l"/>
            <a:r>
              <a:rPr b="1" sz="1150">
                <a:solidFill>
                  <a:srgbClr val="1C7C73"/>
                </a:solidFill>
                <a:latin typeface="Bebas Neue"/>
              </a:rPr>
              <a:t>Key terms:  </a:t>
            </a:r>
            <a:r>
              <a:rPr sz="1150" b="0">
                <a:solidFill>
                  <a:srgbClr val="111111"/>
                </a:solidFill>
                <a:latin typeface="Inter"/>
              </a:rPr>
              <a:t>Rule-based tagger — A POS tagger that uses hand-written rules for disambiguation  ·  Lexicon — A dictionary of words with possible part-of-speech tags</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Rule-based tagger rules slide discusses context-pattern rules and their limitations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7216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85552"/>
            <a:ext cx="340156" cy="340156"/>
          </a:xfrm>
          <a:prstGeom prst="rect">
            <a:avLst/>
          </a:prstGeom>
        </p:spPr>
      </p:pic>
      <p:sp>
        <p:nvSpPr>
          <p:cNvPr id="11" name="TextBox 10"/>
          <p:cNvSpPr txBox="1"/>
          <p:nvPr/>
        </p:nvSpPr>
        <p:spPr>
          <a:xfrm>
            <a:off x="1408175" y="1371600"/>
            <a:ext cx="2689250" cy="768061"/>
          </a:xfrm>
          <a:prstGeom prst="rect">
            <a:avLst/>
          </a:prstGeom>
          <a:noFill/>
        </p:spPr>
        <p:txBody>
          <a:bodyPr wrap="square" anchor="ctr" lIns="0" tIns="0" rIns="0" bIns="0">
            <a:spAutoFit/>
          </a:bodyPr>
          <a:lstStyle/>
          <a:p>
            <a:pPr algn="l"/>
            <a:r>
              <a:rPr sz="1260" b="1">
                <a:solidFill>
                  <a:srgbClr val="1C7C73"/>
                </a:solidFill>
                <a:latin typeface="Bebas Neue"/>
              </a:rPr>
              <a:t>Rules</a:t>
            </a:r>
          </a:p>
          <a:p>
            <a:pPr algn="l">
              <a:spcBef>
                <a:spcPts val="500"/>
              </a:spcBef>
            </a:pPr>
            <a:r>
              <a:rPr sz="1050" b="0">
                <a:solidFill>
                  <a:srgbClr val="111111"/>
                </a:solidFill>
                <a:latin typeface="Inter"/>
              </a:rPr>
              <a:t>The rules may be context-pattern rules or as regular expressions compiled into finite-automata that are intersected with lexically ambiguous sentence representation</a:t>
            </a:r>
          </a:p>
        </p:txBody>
      </p:sp>
      <p:sp>
        <p:nvSpPr>
          <p:cNvPr id="12" name="Rounded Rectangle 11"/>
          <p:cNvSpPr/>
          <p:nvPr/>
        </p:nvSpPr>
        <p:spPr>
          <a:xfrm>
            <a:off x="4499762" y="1298448"/>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7216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85552"/>
            <a:ext cx="340156" cy="340156"/>
          </a:xfrm>
          <a:prstGeom prst="rect">
            <a:avLst/>
          </a:prstGeom>
        </p:spPr>
      </p:pic>
      <p:sp>
        <p:nvSpPr>
          <p:cNvPr id="15" name="TextBox 14"/>
          <p:cNvSpPr txBox="1"/>
          <p:nvPr/>
        </p:nvSpPr>
        <p:spPr>
          <a:xfrm>
            <a:off x="5450738" y="1371600"/>
            <a:ext cx="2689250" cy="768061"/>
          </a:xfrm>
          <a:prstGeom prst="rect">
            <a:avLst/>
          </a:prstGeom>
          <a:noFill/>
        </p:spPr>
        <p:txBody>
          <a:bodyPr wrap="square" anchor="ctr" lIns="0" tIns="0" rIns="0" bIns="0">
            <a:spAutoFit/>
          </a:bodyPr>
          <a:lstStyle/>
          <a:p>
            <a:pPr algn="l"/>
            <a:r>
              <a:rPr sz="1220" b="0">
                <a:solidFill>
                  <a:srgbClr val="111111"/>
                </a:solidFill>
                <a:latin typeface="Inter"/>
              </a:rPr>
              <a:t>TAGGIT is the first large rule-based tagger that used context-pattern rules</a:t>
            </a:r>
          </a:p>
        </p:txBody>
      </p:sp>
      <p:sp>
        <p:nvSpPr>
          <p:cNvPr id="16" name="Rounded Rectangle 15"/>
          <p:cNvSpPr/>
          <p:nvPr/>
        </p:nvSpPr>
        <p:spPr>
          <a:xfrm>
            <a:off x="457200" y="2413981"/>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701086"/>
            <a:ext cx="340156" cy="340156"/>
          </a:xfrm>
          <a:prstGeom prst="rect">
            <a:avLst/>
          </a:prstGeom>
        </p:spPr>
      </p:pic>
      <p:sp>
        <p:nvSpPr>
          <p:cNvPr id="19" name="TextBox 18"/>
          <p:cNvSpPr txBox="1"/>
          <p:nvPr/>
        </p:nvSpPr>
        <p:spPr>
          <a:xfrm>
            <a:off x="1408175" y="2487133"/>
            <a:ext cx="2689250" cy="768061"/>
          </a:xfrm>
          <a:prstGeom prst="rect">
            <a:avLst/>
          </a:prstGeom>
          <a:noFill/>
        </p:spPr>
        <p:txBody>
          <a:bodyPr wrap="square" anchor="ctr" lIns="0" tIns="0" rIns="0" bIns="0">
            <a:spAutoFit/>
          </a:bodyPr>
          <a:lstStyle/>
          <a:p>
            <a:pPr algn="l"/>
            <a:r>
              <a:rPr sz="1220" b="0">
                <a:solidFill>
                  <a:srgbClr val="111111"/>
                </a:solidFill>
                <a:latin typeface="Inter"/>
              </a:rPr>
              <a:t>Hard coded rules are required</a:t>
            </a:r>
          </a:p>
        </p:txBody>
      </p:sp>
      <p:sp>
        <p:nvSpPr>
          <p:cNvPr id="20" name="Rounded Rectangle 19"/>
          <p:cNvSpPr/>
          <p:nvPr/>
        </p:nvSpPr>
        <p:spPr>
          <a:xfrm>
            <a:off x="4499762" y="2413981"/>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587700"/>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701086"/>
            <a:ext cx="340156" cy="340156"/>
          </a:xfrm>
          <a:prstGeom prst="rect">
            <a:avLst/>
          </a:prstGeom>
        </p:spPr>
      </p:pic>
      <p:sp>
        <p:nvSpPr>
          <p:cNvPr id="23" name="TextBox 22"/>
          <p:cNvSpPr txBox="1"/>
          <p:nvPr/>
        </p:nvSpPr>
        <p:spPr>
          <a:xfrm>
            <a:off x="5450738" y="2487133"/>
            <a:ext cx="2689250" cy="768061"/>
          </a:xfrm>
          <a:prstGeom prst="rect">
            <a:avLst/>
          </a:prstGeom>
          <a:noFill/>
        </p:spPr>
        <p:txBody>
          <a:bodyPr wrap="square" anchor="ctr" lIns="0" tIns="0" rIns="0" bIns="0">
            <a:spAutoFit/>
          </a:bodyPr>
          <a:lstStyle/>
          <a:p>
            <a:pPr algn="l"/>
            <a:r>
              <a:rPr sz="1220" b="0">
                <a:solidFill>
                  <a:srgbClr val="111111"/>
                </a:solidFill>
                <a:latin typeface="Inter"/>
              </a:rPr>
              <a:t>Rules has to be updated on language change</a:t>
            </a:r>
          </a:p>
        </p:txBody>
      </p:sp>
      <p:sp>
        <p:nvSpPr>
          <p:cNvPr id="24" name="Rounded Rectangle 23"/>
          <p:cNvSpPr/>
          <p:nvPr/>
        </p:nvSpPr>
        <p:spPr>
          <a:xfrm>
            <a:off x="457200" y="3529515"/>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703234"/>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816620"/>
            <a:ext cx="340156" cy="340156"/>
          </a:xfrm>
          <a:prstGeom prst="rect">
            <a:avLst/>
          </a:prstGeom>
        </p:spPr>
      </p:pic>
      <p:sp>
        <p:nvSpPr>
          <p:cNvPr id="27" name="TextBox 26"/>
          <p:cNvSpPr txBox="1"/>
          <p:nvPr/>
        </p:nvSpPr>
        <p:spPr>
          <a:xfrm>
            <a:off x="1408175" y="3602667"/>
            <a:ext cx="2689250" cy="768061"/>
          </a:xfrm>
          <a:prstGeom prst="rect">
            <a:avLst/>
          </a:prstGeom>
          <a:noFill/>
        </p:spPr>
        <p:txBody>
          <a:bodyPr wrap="square" anchor="ctr" lIns="0" tIns="0" rIns="0" bIns="0">
            <a:spAutoFit/>
          </a:bodyPr>
          <a:lstStyle/>
          <a:p>
            <a:pPr algn="l"/>
            <a:r>
              <a:rPr sz="1220" b="0">
                <a:solidFill>
                  <a:srgbClr val="111111"/>
                </a:solidFill>
                <a:latin typeface="Inter"/>
              </a:rPr>
              <a:t>Lexicon needs to be checked every time which is not efficient approach</a:t>
            </a:r>
          </a:p>
        </p:txBody>
      </p:sp>
      <p:sp>
        <p:nvSpPr>
          <p:cNvPr id="28" name="Rounded Rectangle 27"/>
          <p:cNvSpPr/>
          <p:nvPr/>
        </p:nvSpPr>
        <p:spPr>
          <a:xfrm>
            <a:off x="4499762" y="3529515"/>
            <a:ext cx="3841394" cy="914365"/>
          </a:xfrm>
          <a:prstGeom prst="roundRect">
            <a:avLst>
              <a:gd name="adj" fmla="val 15400"/>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3703234"/>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3816620"/>
            <a:ext cx="340156" cy="340156"/>
          </a:xfrm>
          <a:prstGeom prst="rect">
            <a:avLst/>
          </a:prstGeom>
        </p:spPr>
      </p:pic>
      <p:sp>
        <p:nvSpPr>
          <p:cNvPr id="31" name="TextBox 30"/>
          <p:cNvSpPr txBox="1"/>
          <p:nvPr/>
        </p:nvSpPr>
        <p:spPr>
          <a:xfrm>
            <a:off x="5450738" y="3602667"/>
            <a:ext cx="2689250" cy="768061"/>
          </a:xfrm>
          <a:prstGeom prst="rect">
            <a:avLst/>
          </a:prstGeom>
          <a:noFill/>
        </p:spPr>
        <p:txBody>
          <a:bodyPr wrap="square" anchor="ctr" lIns="0" tIns="0" rIns="0" bIns="0">
            <a:spAutoFit/>
          </a:bodyPr>
          <a:lstStyle/>
          <a:p>
            <a:pPr algn="l"/>
            <a:r>
              <a:rPr sz="1220" b="0">
                <a:solidFill>
                  <a:srgbClr val="111111"/>
                </a:solidFill>
                <a:latin typeface="Inter"/>
              </a:rPr>
              <a:t>Strong language expert team is required</a:t>
            </a:r>
          </a:p>
        </p:txBody>
      </p:sp>
      <p:sp>
        <p:nvSpPr>
          <p:cNvPr id="32" name="Rounded Rectangle 31"/>
          <p:cNvSpPr/>
          <p:nvPr/>
        </p:nvSpPr>
        <p:spPr>
          <a:xfrm>
            <a:off x="457200" y="4645049"/>
            <a:ext cx="7883956" cy="6401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7488935" cy="49387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Limitations:</a:t>
            </a:r>
          </a:p>
        </p:txBody>
      </p:sp>
      <p:sp>
        <p:nvSpPr>
          <p:cNvPr id="35" name="Rounded Rectangle 34"/>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150">
                <a:solidFill>
                  <a:srgbClr val="1C7C73"/>
                </a:solidFill>
                <a:latin typeface="Bebas Neue"/>
              </a:rPr>
              <a:t>Key takeaway:  </a:t>
            </a:r>
            <a:r>
              <a:rPr sz="1150" b="0">
                <a:solidFill>
                  <a:srgbClr val="111111"/>
                </a:solidFill>
                <a:latin typeface="Inter"/>
              </a:rPr>
              <a:t>TAGGIT was the first large rule-based tagger, but such systems require hard-coded rules and frequent lexicon updates.</a:t>
            </a:r>
          </a:p>
          <a:p>
            <a:pPr algn="l"/>
            <a:r>
              <a:rPr b="1" sz="1150">
                <a:solidFill>
                  <a:srgbClr val="1C7C73"/>
                </a:solidFill>
                <a:latin typeface="Bebas Neue"/>
              </a:rPr>
              <a:t>Key terms:  </a:t>
            </a:r>
            <a:r>
              <a:rPr sz="1150" b="0">
                <a:solidFill>
                  <a:srgbClr val="111111"/>
                </a:solidFill>
                <a:latin typeface="Inter"/>
              </a:rPr>
              <a:t>context-pattern rules — Rules that use surrounding words to decide a tag  ·  finite-automata — Computational models that recognize patterns in text</a:t>
            </a:r>
          </a:p>
        </p:txBody>
      </p:sp>
      <p:sp>
        <p:nvSpPr>
          <p:cNvPr id="36" name="Rectangle 35"/>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Rule based taggers use additional POS features to refine lexical entries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2195474"/>
            <a:ext cx="7883956" cy="2192731"/>
          </a:xfrm>
          <a:prstGeom prst="roundRect">
            <a:avLst>
              <a:gd name="adj" fmla="val 6422"/>
            </a:avLst>
          </a:prstGeom>
          <a:solidFill>
            <a:srgbClr val="E8F1F1"/>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96642"/>
            <a:ext cx="109728" cy="1790395"/>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96642"/>
            <a:ext cx="7024420" cy="1790395"/>
          </a:xfrm>
          <a:prstGeom prst="rect">
            <a:avLst/>
          </a:prstGeom>
          <a:noFill/>
        </p:spPr>
        <p:txBody>
          <a:bodyPr wrap="square" anchor="ctr" lIns="0" tIns="0" rIns="0" bIns="0">
            <a:spAutoFit/>
          </a:bodyPr>
          <a:lstStyle/>
          <a:p>
            <a:pPr algn="l"/>
            <a:r>
              <a:rPr sz="2800" b="1">
                <a:solidFill>
                  <a:srgbClr val="1C7C73"/>
                </a:solidFill>
                <a:latin typeface="Bebas Neue"/>
              </a:rPr>
              <a:t>“Additional POS features”</a:t>
            </a:r>
          </a:p>
          <a:p>
            <a:pPr algn="l">
              <a:spcBef>
                <a:spcPts val="1000"/>
              </a:spcBef>
            </a:pPr>
            <a:r>
              <a:rPr sz="1400" b="0">
                <a:solidFill>
                  <a:srgbClr val="111111"/>
                </a:solidFill>
                <a:latin typeface="Inter"/>
              </a:rPr>
              <a:t>— Rule based taggers use additional POS features to refine lexical entries</a:t>
            </a:r>
          </a:p>
        </p:txBody>
      </p:sp>
      <p:sp>
        <p:nvSpPr>
          <p:cNvPr id="11" name="Rounded Rectangle 10"/>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1C7C73"/>
                </a:solidFill>
                <a:latin typeface="Bebas Neue"/>
              </a:rPr>
              <a:t>Key terms:  </a:t>
            </a:r>
            <a:r>
              <a:rPr sz="1550" b="1">
                <a:solidFill>
                  <a:srgbClr val="111111"/>
                </a:solidFill>
                <a:latin typeface="Bebas Neue"/>
              </a:rPr>
              <a:t>POS features — Attributes that help distinguish part-of-speech tags in lexical entries  ·  lexical entry — A dictionary-like record that associates a word form with its possible tags</a:t>
            </a:r>
          </a:p>
        </p:txBody>
      </p:sp>
      <p:sp>
        <p:nvSpPr>
          <p:cNvPr id="12" name="Rectangle 11"/>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Stochastic taggers disambiguate words by using probability models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52</a:t>
            </a:r>
          </a:p>
        </p:txBody>
      </p:sp>
      <p:sp>
        <p:nvSpPr>
          <p:cNvPr id="8" name="Rectangle 7"/>
          <p:cNvSpPr/>
          <p:nvPr/>
        </p:nvSpPr>
        <p:spPr>
          <a:xfrm>
            <a:off x="457200" y="1325880"/>
            <a:ext cx="73152" cy="68122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1C7C73"/>
                </a:solidFill>
                <a:latin typeface="Bebas Neue"/>
              </a:rPr>
              <a:t>Another technique of tagging is Stochastic POS Tagging.</a:t>
            </a:r>
          </a:p>
          <a:p>
            <a:pPr algn="l">
              <a:spcBef>
                <a:spcPts val="400"/>
              </a:spcBef>
            </a:pPr>
            <a:r>
              <a:rPr sz="1400" b="0">
                <a:solidFill>
                  <a:srgbClr val="111111"/>
                </a:solidFill>
                <a:latin typeface="Inter"/>
              </a:rPr>
              <a:t>Here the question that arises here is which model can be stochastic.</a:t>
            </a:r>
          </a:p>
        </p:txBody>
      </p:sp>
      <p:sp>
        <p:nvSpPr>
          <p:cNvPr id="10" name="Rounded Rectangle 9"/>
          <p:cNvSpPr/>
          <p:nvPr/>
        </p:nvSpPr>
        <p:spPr>
          <a:xfrm>
            <a:off x="457200" y="2272284"/>
            <a:ext cx="11274552" cy="2171597"/>
          </a:xfrm>
          <a:prstGeom prst="roundRect">
            <a:avLst>
              <a:gd name="adj" fmla="val 6484"/>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10872216" cy="1849728"/>
          </a:xfrm>
          <a:prstGeom prst="rect">
            <a:avLst/>
          </a:prstGeom>
          <a:noFill/>
        </p:spPr>
        <p:txBody>
          <a:bodyPr wrap="square" anchor="t" lIns="0" tIns="0" rIns="0" bIns="0">
            <a:spAutoFit/>
          </a:bodyPr>
          <a:lstStyle/>
          <a:p>
            <a:pPr algn="l"/>
            <a:r>
              <a:rPr sz="1750" b="1">
                <a:solidFill>
                  <a:srgbClr val="1C7C73"/>
                </a:solidFill>
                <a:latin typeface="Bebas Neue"/>
              </a:rPr>
              <a:t>Two Approaches</a:t>
            </a:r>
          </a:p>
          <a:p>
            <a:pPr algn="l" marL="256032" indent="-256032" lvl="0">
              <a:spcBef>
                <a:spcPts val="700"/>
              </a:spcBef>
              <a:buClr>
                <a:srgbClr val="F6C887"/>
              </a:buClr>
              <a:buFont typeface="Arial"/>
              <a:buChar char="•"/>
            </a:pPr>
            <a:r>
              <a:rPr sz="1400" b="0">
                <a:solidFill>
                  <a:srgbClr val="111111"/>
                </a:solidFill>
                <a:latin typeface="Inter"/>
              </a:rPr>
              <a:t>Word Frequency Approach</a:t>
            </a:r>
          </a:p>
          <a:p>
            <a:pPr algn="l" marL="512064" indent="-219456" lvl="1">
              <a:spcBef>
                <a:spcPts val="300"/>
              </a:spcBef>
              <a:buClr>
                <a:srgbClr val="F6C887"/>
              </a:buClr>
              <a:buFont typeface="Arial"/>
              <a:buChar char="–"/>
            </a:pPr>
            <a:r>
              <a:rPr sz="1260" b="0">
                <a:solidFill>
                  <a:srgbClr val="555555"/>
                </a:solidFill>
                <a:latin typeface="Inter"/>
              </a:rPr>
              <a:t>In this approach, the stochastic taggers disambiguate the words based on the probability that a word occurs with a particular tag.</a:t>
            </a:r>
          </a:p>
          <a:p>
            <a:pPr algn="l" marL="512064" indent="-219456" lvl="1">
              <a:spcBef>
                <a:spcPts val="300"/>
              </a:spcBef>
              <a:buClr>
                <a:srgbClr val="F6C887"/>
              </a:buClr>
              <a:buFont typeface="Arial"/>
              <a:buChar char="–"/>
            </a:pPr>
            <a:r>
              <a:rPr sz="1260" b="0">
                <a:solidFill>
                  <a:srgbClr val="555555"/>
                </a:solidFill>
                <a:latin typeface="Inter"/>
              </a:rPr>
              <a:t>We can also say that the tag encountered most frequently with the word in the training set is the one assigned to an ambiguous instance of that word.</a:t>
            </a:r>
          </a:p>
          <a:p>
            <a:pPr algn="l" marL="512064" indent="-219456" lvl="1">
              <a:spcBef>
                <a:spcPts val="300"/>
              </a:spcBef>
              <a:buClr>
                <a:srgbClr val="F6C887"/>
              </a:buClr>
              <a:buFont typeface="Arial"/>
              <a:buChar char="–"/>
            </a:pPr>
            <a:r>
              <a:rPr sz="1260" b="0">
                <a:solidFill>
                  <a:srgbClr val="555555"/>
                </a:solidFill>
                <a:latin typeface="Inter"/>
              </a:rPr>
              <a:t>The main issue with this approach is that it may yield an inadmissible sequence of tags.</a:t>
            </a:r>
          </a:p>
        </p:txBody>
      </p:sp>
      <p:sp>
        <p:nvSpPr>
          <p:cNvPr id="13" name="Rounded Rectangle 12"/>
          <p:cNvSpPr/>
          <p:nvPr/>
        </p:nvSpPr>
        <p:spPr>
          <a:xfrm>
            <a:off x="457200" y="4645049"/>
            <a:ext cx="11274552" cy="6401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645049"/>
            <a:ext cx="73152" cy="6401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Any number of different approaches to the problem of part-of-speech tagging can be referred to as stochastic taggers.</a:t>
            </a:r>
          </a:p>
        </p:txBody>
      </p:sp>
      <p:sp>
        <p:nvSpPr>
          <p:cNvPr id="16" name="Rounded Rectangle 15"/>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50">
                <a:solidFill>
                  <a:srgbClr val="1C7C73"/>
                </a:solidFill>
                <a:latin typeface="Bebas Neue"/>
              </a:rPr>
              <a:t>Key takeaway:  </a:t>
            </a:r>
            <a:r>
              <a:rPr sz="1250" b="0">
                <a:solidFill>
                  <a:srgbClr val="111111"/>
                </a:solidFill>
                <a:latin typeface="Inter"/>
              </a:rPr>
              <a:t>Stochastic POS taggers use probability models and word frequencies to disambiguate and assign tags to words.</a:t>
            </a:r>
          </a:p>
          <a:p>
            <a:pPr algn="l"/>
            <a:r>
              <a:rPr b="1" sz="1250">
                <a:solidFill>
                  <a:srgbClr val="1C7C73"/>
                </a:solidFill>
                <a:latin typeface="Bebas Neue"/>
              </a:rPr>
              <a:t>Key terms:  </a:t>
            </a:r>
            <a:r>
              <a:rPr sz="1250" b="0">
                <a:solidFill>
                  <a:srgbClr val="111111"/>
                </a:solidFill>
                <a:latin typeface="Inter"/>
              </a:rPr>
              <a:t>stochastic tagger — A tagger that assigns tags based on statistical likelihoods  ·  frequency approach — Assigns the most frequent tag seen in training data to ambiguous words</a:t>
            </a:r>
          </a:p>
        </p:txBody>
      </p:sp>
      <p:sp>
        <p:nvSpPr>
          <p:cNvPr id="17" name="Rectangle 16"/>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35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 tagger that assigns tags based on statistical likelihoods”?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n-gram</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Open class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stochastic tagger</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Brown Corpus</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stochastic tagger: A tagger that assigns tags based on statistical likelihoods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Tag sequence probabilities compute the likelihood of tag sequences in stochastic tagging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36 / 52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83131"/>
            <a:ext cx="82296" cy="257746"/>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46555"/>
            <a:ext cx="6963576" cy="276034"/>
          </a:xfrm>
          <a:prstGeom prst="rect">
            <a:avLst/>
          </a:prstGeom>
          <a:noFill/>
        </p:spPr>
        <p:txBody>
          <a:bodyPr wrap="square" anchor="t" lIns="0" tIns="0" rIns="0" bIns="0">
            <a:spAutoFit/>
          </a:bodyPr>
          <a:lstStyle/>
          <a:p>
            <a:pPr algn="l"/>
            <a:r>
              <a:rPr sz="1720" b="1">
                <a:solidFill>
                  <a:srgbClr val="1C7C73"/>
                </a:solidFill>
                <a:latin typeface="Bebas Neue"/>
              </a:rPr>
              <a:t>Two Approaches.</a:t>
            </a:r>
          </a:p>
        </p:txBody>
      </p:sp>
      <p:sp>
        <p:nvSpPr>
          <p:cNvPr id="10" name="TextBox 9"/>
          <p:cNvSpPr txBox="1"/>
          <p:nvPr/>
        </p:nvSpPr>
        <p:spPr>
          <a:xfrm>
            <a:off x="720547" y="1814613"/>
            <a:ext cx="6963576" cy="200025"/>
          </a:xfrm>
          <a:prstGeom prst="rect">
            <a:avLst/>
          </a:prstGeom>
          <a:noFill/>
        </p:spPr>
        <p:txBody>
          <a:bodyPr wrap="square" lIns="0" rIns="0" tIns="0" bIns="0">
            <a:spAutoFit/>
          </a:bodyPr>
          <a:lstStyle/>
          <a:p>
            <a:r>
              <a:rPr sz="1250">
                <a:solidFill>
                  <a:srgbClr val="111111"/>
                </a:solidFill>
                <a:latin typeface="Inter"/>
              </a:rPr>
              <a:t>Tag Sequence Probabilities.</a:t>
            </a:r>
          </a:p>
        </p:txBody>
      </p:sp>
      <p:sp>
        <p:nvSpPr>
          <p:cNvPr id="11" name="TextBox 10"/>
          <p:cNvSpPr txBox="1"/>
          <p:nvPr/>
        </p:nvSpPr>
        <p:spPr>
          <a:xfrm>
            <a:off x="994867" y="2142654"/>
            <a:ext cx="6689256" cy="400050"/>
          </a:xfrm>
          <a:prstGeom prst="rect">
            <a:avLst/>
          </a:prstGeom>
          <a:noFill/>
        </p:spPr>
        <p:txBody>
          <a:bodyPr wrap="square" lIns="0" rIns="0" tIns="0" bIns="0">
            <a:spAutoFit/>
          </a:bodyPr>
          <a:lstStyle/>
          <a:p>
            <a:r>
              <a:rPr sz="1250">
                <a:solidFill>
                  <a:srgbClr val="111111"/>
                </a:solidFill>
                <a:latin typeface="Inter"/>
              </a:rPr>
              <a:t>It is another approach of stochastic tagging, where the tagger calculates the probability of a given sequence of tags occurring.</a:t>
            </a:r>
          </a:p>
        </p:txBody>
      </p:sp>
      <p:sp>
        <p:nvSpPr>
          <p:cNvPr id="12" name="TextBox 11"/>
          <p:cNvSpPr txBox="1"/>
          <p:nvPr/>
        </p:nvSpPr>
        <p:spPr>
          <a:xfrm>
            <a:off x="720547" y="2670720"/>
            <a:ext cx="6963576" cy="200025"/>
          </a:xfrm>
          <a:prstGeom prst="rect">
            <a:avLst/>
          </a:prstGeom>
          <a:noFill/>
        </p:spPr>
        <p:txBody>
          <a:bodyPr wrap="square" lIns="0" rIns="0" tIns="0" bIns="0">
            <a:spAutoFit/>
          </a:bodyPr>
          <a:lstStyle/>
          <a:p>
            <a:r>
              <a:rPr sz="780" b="1">
                <a:solidFill>
                  <a:srgbClr val="0F766E"/>
                </a:solidFill>
                <a:latin typeface="Bebas Neue"/>
              </a:rPr>
              <a:t>ALSO   </a:t>
            </a:r>
            <a:r>
              <a:rPr sz="1250">
                <a:solidFill>
                  <a:srgbClr val="111111"/>
                </a:solidFill>
                <a:latin typeface="Inter"/>
              </a:rPr>
              <a:t>It is </a:t>
            </a:r>
            <a:r>
              <a:rPr sz="1250" b="1">
                <a:solidFill>
                  <a:srgbClr val="0F766E"/>
                </a:solidFill>
                <a:latin typeface="Bebas Neue"/>
              </a:rPr>
              <a:t>also</a:t>
            </a:r>
            <a:r>
              <a:rPr sz="1250">
                <a:solidFill>
                  <a:srgbClr val="111111"/>
                </a:solidFill>
                <a:latin typeface="Inter"/>
              </a:rPr>
              <a:t> called the n-gram approach.</a:t>
            </a:r>
          </a:p>
        </p:txBody>
      </p:sp>
      <p:sp>
        <p:nvSpPr>
          <p:cNvPr id="13" name="TextBox 12"/>
          <p:cNvSpPr txBox="1"/>
          <p:nvPr/>
        </p:nvSpPr>
        <p:spPr>
          <a:xfrm>
            <a:off x="994867" y="2998761"/>
            <a:ext cx="6689256" cy="400050"/>
          </a:xfrm>
          <a:prstGeom prst="rect">
            <a:avLst/>
          </a:prstGeom>
          <a:noFill/>
        </p:spPr>
        <p:txBody>
          <a:bodyPr wrap="square" lIns="0" rIns="0" tIns="0" bIns="0">
            <a:spAutoFit/>
          </a:bodyPr>
          <a:lstStyle/>
          <a:p>
            <a:r>
              <a:rPr sz="1250">
                <a:solidFill>
                  <a:srgbClr val="111111"/>
                </a:solidFill>
                <a:latin typeface="Inter"/>
              </a:rPr>
              <a:t>It is called so </a:t>
            </a:r>
            <a:r>
              <a:rPr sz="1250" b="1">
                <a:solidFill>
                  <a:srgbClr val="1D4ED8"/>
                </a:solidFill>
                <a:latin typeface="Bebas Neue"/>
              </a:rPr>
              <a:t>because</a:t>
            </a:r>
            <a:r>
              <a:rPr sz="1250">
                <a:solidFill>
                  <a:srgbClr val="111111"/>
                </a:solidFill>
                <a:latin typeface="Inter"/>
              </a:rPr>
              <a:t> the best tag for a given word is determined by the probability at which it occurs with the n previous tags.</a:t>
            </a:r>
          </a:p>
        </p:txBody>
      </p:sp>
      <p:sp>
        <p:nvSpPr>
          <p:cNvPr id="14" name="Rounded Rectangle 13"/>
          <p:cNvSpPr/>
          <p:nvPr/>
        </p:nvSpPr>
        <p:spPr>
          <a:xfrm>
            <a:off x="457200" y="3776102"/>
            <a:ext cx="7751064" cy="1509129"/>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776102"/>
            <a:ext cx="73152" cy="1509129"/>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3849254"/>
            <a:ext cx="7356043" cy="1362825"/>
          </a:xfrm>
          <a:prstGeom prst="rect">
            <a:avLst/>
          </a:prstGeom>
          <a:noFill/>
        </p:spPr>
        <p:txBody>
          <a:bodyPr wrap="square" anchor="ctr" lIns="0" tIns="0" rIns="0" bIns="0">
            <a:spAutoFit/>
          </a:bodyPr>
          <a:lstStyle/>
          <a:p>
            <a:pPr algn="l"/>
            <a:r>
              <a:rPr sz="940" b="1">
                <a:solidFill>
                  <a:srgbClr val="1C7C73"/>
                </a:solidFill>
                <a:latin typeface="Bebas Neue"/>
              </a:rPr>
              <a:t>IN PLAIN WORDS</a:t>
            </a:r>
          </a:p>
          <a:p>
            <a:pPr algn="l">
              <a:spcBef>
                <a:spcPts val="300"/>
              </a:spcBef>
            </a:pPr>
            <a:r>
              <a:rPr sz="1300" b="0">
                <a:solidFill>
                  <a:srgbClr val="111111"/>
                </a:solidFill>
                <a:latin typeface="Inter"/>
              </a:rPr>
              <a:t>Stochastic taggers can use tag sequence probabilities to choose the best tag for a word. This method, known as the n-gram approach, looks at the probability of a tag occurring with the previous n tags. It helps capture contextual patterns that single-word frequencies miss. For example, choosing the tag for "bank" after "river" versus after "money"</a:t>
            </a:r>
          </a:p>
        </p:txBody>
      </p:sp>
      <p:sp>
        <p:nvSpPr>
          <p:cNvPr id="17" name="Rounded Rectangle 16"/>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Tag sequence probabilities use n-gram approaches to determine a word's best tag based on previous tags.</a:t>
            </a:r>
          </a:p>
          <a:p>
            <a:pPr algn="l"/>
            <a:r>
              <a:rPr b="1" sz="1300">
                <a:solidFill>
                  <a:srgbClr val="1C7C73"/>
                </a:solidFill>
                <a:latin typeface="Bebas Neue"/>
              </a:rPr>
              <a:t>Key terms:  </a:t>
            </a:r>
            <a:r>
              <a:rPr sz="1300" b="0">
                <a:solidFill>
                  <a:srgbClr val="111111"/>
                </a:solidFill>
                <a:latin typeface="Inter"/>
              </a:rPr>
              <a:t>n-gram — A sequence of n tags used to estimate probability in a tagger</a:t>
            </a:r>
          </a:p>
        </p:txBody>
      </p:sp>
      <p:sp>
        <p:nvSpPr>
          <p:cNvPr id="18" name="Rectangle 17"/>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Stochastic POS taggers rely on training corpora to estimate tag probabilities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37 / 52</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85710"/>
            <a:ext cx="82296" cy="235663"/>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49134"/>
            <a:ext cx="6963576" cy="253951"/>
          </a:xfrm>
          <a:prstGeom prst="rect">
            <a:avLst/>
          </a:prstGeom>
          <a:noFill/>
        </p:spPr>
        <p:txBody>
          <a:bodyPr wrap="square" anchor="t" lIns="0" tIns="0" rIns="0" bIns="0">
            <a:spAutoFit/>
          </a:bodyPr>
          <a:lstStyle/>
          <a:p>
            <a:pPr algn="l"/>
            <a:r>
              <a:rPr sz="1590" b="1">
                <a:solidFill>
                  <a:srgbClr val="1C7C73"/>
                </a:solidFill>
                <a:latin typeface="Bebas Neue"/>
              </a:rPr>
              <a:t>Two Approaches.</a:t>
            </a:r>
          </a:p>
        </p:txBody>
      </p:sp>
      <p:sp>
        <p:nvSpPr>
          <p:cNvPr id="10" name="TextBox 9"/>
          <p:cNvSpPr txBox="1"/>
          <p:nvPr/>
        </p:nvSpPr>
        <p:spPr>
          <a:xfrm>
            <a:off x="720547" y="1795110"/>
            <a:ext cx="6963576" cy="184023"/>
          </a:xfrm>
          <a:prstGeom prst="rect">
            <a:avLst/>
          </a:prstGeom>
          <a:noFill/>
        </p:spPr>
        <p:txBody>
          <a:bodyPr wrap="square" lIns="0" rIns="0" tIns="0" bIns="0">
            <a:spAutoFit/>
          </a:bodyPr>
          <a:lstStyle/>
          <a:p>
            <a:r>
              <a:rPr sz="1150">
                <a:solidFill>
                  <a:srgbClr val="111111"/>
                </a:solidFill>
                <a:latin typeface="Inter"/>
              </a:rPr>
              <a:t>Properties of Stochastic POST Tagging.</a:t>
            </a:r>
          </a:p>
        </p:txBody>
      </p:sp>
      <p:sp>
        <p:nvSpPr>
          <p:cNvPr id="11" name="TextBox 10"/>
          <p:cNvSpPr txBox="1"/>
          <p:nvPr/>
        </p:nvSpPr>
        <p:spPr>
          <a:xfrm>
            <a:off x="720547" y="2107149"/>
            <a:ext cx="6963576" cy="184023"/>
          </a:xfrm>
          <a:prstGeom prst="rect">
            <a:avLst/>
          </a:prstGeom>
          <a:noFill/>
        </p:spPr>
        <p:txBody>
          <a:bodyPr wrap="square" lIns="0" rIns="0" tIns="0" bIns="0">
            <a:spAutoFit/>
          </a:bodyPr>
          <a:lstStyle/>
          <a:p>
            <a:r>
              <a:rPr sz="1150">
                <a:solidFill>
                  <a:srgbClr val="111111"/>
                </a:solidFill>
                <a:latin typeface="Inter"/>
              </a:rPr>
              <a:t>Stochastic POS taggers possess the following properties −.</a:t>
            </a:r>
          </a:p>
        </p:txBody>
      </p:sp>
      <p:sp>
        <p:nvSpPr>
          <p:cNvPr id="12" name="TextBox 11"/>
          <p:cNvSpPr txBox="1"/>
          <p:nvPr/>
        </p:nvSpPr>
        <p:spPr>
          <a:xfrm>
            <a:off x="994867" y="2419188"/>
            <a:ext cx="6689256" cy="184023"/>
          </a:xfrm>
          <a:prstGeom prst="rect">
            <a:avLst/>
          </a:prstGeom>
          <a:noFill/>
        </p:spPr>
        <p:txBody>
          <a:bodyPr wrap="square" lIns="0" rIns="0" tIns="0" bIns="0">
            <a:spAutoFit/>
          </a:bodyPr>
          <a:lstStyle/>
          <a:p>
            <a:r>
              <a:rPr sz="1150">
                <a:solidFill>
                  <a:srgbClr val="111111"/>
                </a:solidFill>
                <a:latin typeface="Inter"/>
              </a:rPr>
              <a:t>This POS tagging is based on the probability of the tag occurring.</a:t>
            </a:r>
          </a:p>
        </p:txBody>
      </p:sp>
      <p:sp>
        <p:nvSpPr>
          <p:cNvPr id="13" name="TextBox 12"/>
          <p:cNvSpPr txBox="1"/>
          <p:nvPr/>
        </p:nvSpPr>
        <p:spPr>
          <a:xfrm>
            <a:off x="994867" y="2731227"/>
            <a:ext cx="6689256" cy="184023"/>
          </a:xfrm>
          <a:prstGeom prst="rect">
            <a:avLst/>
          </a:prstGeom>
          <a:noFill/>
        </p:spPr>
        <p:txBody>
          <a:bodyPr wrap="square" lIns="0" rIns="0" tIns="0" bIns="0">
            <a:spAutoFit/>
          </a:bodyPr>
          <a:lstStyle/>
          <a:p>
            <a:r>
              <a:rPr sz="1150">
                <a:solidFill>
                  <a:srgbClr val="111111"/>
                </a:solidFill>
                <a:latin typeface="Inter"/>
              </a:rPr>
              <a:t>It requires training corpus.</a:t>
            </a:r>
          </a:p>
        </p:txBody>
      </p:sp>
      <p:sp>
        <p:nvSpPr>
          <p:cNvPr id="14" name="TextBox 13"/>
          <p:cNvSpPr txBox="1"/>
          <p:nvPr/>
        </p:nvSpPr>
        <p:spPr>
          <a:xfrm>
            <a:off x="720547" y="3043266"/>
            <a:ext cx="6963576" cy="184023"/>
          </a:xfrm>
          <a:prstGeom prst="rect">
            <a:avLst/>
          </a:prstGeom>
          <a:noFill/>
        </p:spPr>
        <p:txBody>
          <a:bodyPr wrap="square" lIns="0" rIns="0" tIns="0" bIns="0">
            <a:spAutoFit/>
          </a:bodyPr>
          <a:lstStyle/>
          <a:p>
            <a:r>
              <a:rPr sz="1150">
                <a:solidFill>
                  <a:srgbClr val="111111"/>
                </a:solidFill>
                <a:latin typeface="Inter"/>
              </a:rPr>
              <a:t>There would be no probability for the words that do not exist in the corpus.</a:t>
            </a:r>
          </a:p>
        </p:txBody>
      </p:sp>
      <p:sp>
        <p:nvSpPr>
          <p:cNvPr id="15" name="TextBox 14"/>
          <p:cNvSpPr txBox="1"/>
          <p:nvPr/>
        </p:nvSpPr>
        <p:spPr>
          <a:xfrm>
            <a:off x="994867" y="3355305"/>
            <a:ext cx="6689256" cy="184023"/>
          </a:xfrm>
          <a:prstGeom prst="rect">
            <a:avLst/>
          </a:prstGeom>
          <a:noFill/>
        </p:spPr>
        <p:txBody>
          <a:bodyPr wrap="square" lIns="0" rIns="0" tIns="0" bIns="0">
            <a:spAutoFit/>
          </a:bodyPr>
          <a:lstStyle/>
          <a:p>
            <a:r>
              <a:rPr sz="1150">
                <a:solidFill>
                  <a:srgbClr val="111111"/>
                </a:solidFill>
                <a:latin typeface="Inter"/>
              </a:rPr>
              <a:t>It uses different testing corpus (other than training corpus).</a:t>
            </a:r>
          </a:p>
        </p:txBody>
      </p:sp>
      <p:sp>
        <p:nvSpPr>
          <p:cNvPr id="16" name="Rounded Rectangle 15"/>
          <p:cNvSpPr/>
          <p:nvPr/>
        </p:nvSpPr>
        <p:spPr>
          <a:xfrm>
            <a:off x="457200" y="3919198"/>
            <a:ext cx="7751064" cy="1366033"/>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19198"/>
            <a:ext cx="73152" cy="1366033"/>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1C7C73"/>
                </a:solidFill>
                <a:latin typeface="Bebas Neue"/>
              </a:rPr>
              <a:t>IN PLAIN WORDS</a:t>
            </a:r>
          </a:p>
          <a:p>
            <a:pPr algn="l">
              <a:spcBef>
                <a:spcPts val="300"/>
              </a:spcBef>
            </a:pPr>
            <a:r>
              <a:rPr sz="1400" b="0">
                <a:solidFill>
                  <a:srgbClr val="111111"/>
                </a:solidFill>
                <a:latin typeface="Inter"/>
              </a:rPr>
              <a:t>These taggers need a labeled training corpus to learn how often tags occur. They cannot assign probabilities to words absent from the corpus. Testing on a separate corpus evaluates how well the learned probabilities generalize to new data.</a:t>
            </a:r>
          </a:p>
        </p:txBody>
      </p:sp>
      <p:sp>
        <p:nvSpPr>
          <p:cNvPr id="19" name="Rounded Rectangle 1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Following — Parts-of-Speech  ·  training corpus — A set of sentences with correct tags used to learn probabilities</a:t>
            </a:r>
          </a:p>
        </p:txBody>
      </p:sp>
      <p:sp>
        <p:nvSpPr>
          <p:cNvPr id="20" name="Rectangle 1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Transformation-based tagging blends rule-based and stochastic methods through machine learning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38 / 52</a:t>
            </a:r>
          </a:p>
        </p:txBody>
      </p:sp>
      <p:sp>
        <p:nvSpPr>
          <p:cNvPr id="8" name="Rectangle 7"/>
          <p:cNvSpPr/>
          <p:nvPr/>
        </p:nvSpPr>
        <p:spPr>
          <a:xfrm>
            <a:off x="457200" y="1325880"/>
            <a:ext cx="73152" cy="68122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1C7C73"/>
                </a:solidFill>
                <a:latin typeface="Bebas Neue"/>
              </a:rPr>
              <a:t>Transformation Based Tagging is also called as Brill Tagging</a:t>
            </a:r>
          </a:p>
          <a:p>
            <a:pPr algn="l">
              <a:spcBef>
                <a:spcPts val="400"/>
              </a:spcBef>
            </a:pPr>
            <a:r>
              <a:rPr sz="1400" b="0">
                <a:solidFill>
                  <a:srgbClr val="111111"/>
                </a:solidFill>
                <a:latin typeface="Inter"/>
              </a:rPr>
              <a:t>This tagger is based on the concept of Transformation-Based Learning (TBL) approach</a:t>
            </a:r>
          </a:p>
        </p:txBody>
      </p:sp>
      <p:sp>
        <p:nvSpPr>
          <p:cNvPr id="10" name="Rounded Rectangle 9"/>
          <p:cNvSpPr/>
          <p:nvPr/>
        </p:nvSpPr>
        <p:spPr>
          <a:xfrm>
            <a:off x="457200" y="2272284"/>
            <a:ext cx="11274552" cy="2171597"/>
          </a:xfrm>
          <a:prstGeom prst="roundRect">
            <a:avLst>
              <a:gd name="adj" fmla="val 6484"/>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10872216" cy="1849728"/>
          </a:xfrm>
          <a:prstGeom prst="rect">
            <a:avLst/>
          </a:prstGeom>
          <a:noFill/>
        </p:spPr>
        <p:txBody>
          <a:bodyPr wrap="square" anchor="t" lIns="0" tIns="0" rIns="0" bIns="0">
            <a:spAutoFit/>
          </a:bodyPr>
          <a:lstStyle/>
          <a:p>
            <a:pPr algn="l"/>
            <a:r>
              <a:rPr sz="2310" b="1">
                <a:solidFill>
                  <a:srgbClr val="1C7C73"/>
                </a:solidFill>
                <a:latin typeface="Bebas Neue"/>
              </a:rPr>
              <a:t>It draws inspiration from both rule-based and stochastic taggers</a:t>
            </a:r>
          </a:p>
          <a:p>
            <a:pPr algn="l" marL="256032" indent="-256032" lvl="0">
              <a:spcBef>
                <a:spcPts val="700"/>
              </a:spcBef>
              <a:buClr>
                <a:srgbClr val="F6C887"/>
              </a:buClr>
              <a:buFont typeface="Arial"/>
              <a:buChar char="•"/>
            </a:pPr>
            <a:r>
              <a:rPr sz="1850" b="0">
                <a:solidFill>
                  <a:srgbClr val="111111"/>
                </a:solidFill>
                <a:latin typeface="Inter"/>
              </a:rPr>
              <a:t>Like rule-based taggers, TBL is based on rules that specify what tags should be assigned to what word</a:t>
            </a:r>
          </a:p>
          <a:p>
            <a:pPr algn="l" marL="256032" indent="-256032" lvl="0">
              <a:spcBef>
                <a:spcPts val="700"/>
              </a:spcBef>
              <a:buClr>
                <a:srgbClr val="F6C887"/>
              </a:buClr>
              <a:buFont typeface="Arial"/>
              <a:buChar char="•"/>
            </a:pPr>
            <a:r>
              <a:rPr sz="1850" b="0">
                <a:solidFill>
                  <a:srgbClr val="111111"/>
                </a:solidFill>
                <a:latin typeface="Inter"/>
              </a:rPr>
              <a:t>And like stochastic taggers, TBL is a machine learning technique, in which rules are automatically induced from data</a:t>
            </a:r>
          </a:p>
        </p:txBody>
      </p:sp>
      <p:sp>
        <p:nvSpPr>
          <p:cNvPr id="13" name="Rounded Rectangle 12"/>
          <p:cNvSpPr/>
          <p:nvPr/>
        </p:nvSpPr>
        <p:spPr>
          <a:xfrm>
            <a:off x="457200" y="4645049"/>
            <a:ext cx="11274552" cy="6401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645049"/>
            <a:ext cx="73152" cy="6401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TBL uses Supervised Learning There is assumption of pre-tagged training corpus</a:t>
            </a:r>
          </a:p>
        </p:txBody>
      </p:sp>
      <p:sp>
        <p:nvSpPr>
          <p:cNvPr id="16" name="Rounded Rectangle 15"/>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00">
                <a:solidFill>
                  <a:srgbClr val="1C7C73"/>
                </a:solidFill>
                <a:latin typeface="Bebas Neue"/>
              </a:rPr>
              <a:t>Key takeaway:  </a:t>
            </a:r>
            <a:r>
              <a:rPr sz="1200" b="0">
                <a:solidFill>
                  <a:srgbClr val="111111"/>
                </a:solidFill>
                <a:latin typeface="Inter"/>
              </a:rPr>
              <a:t>Transformation-based tagging, or Brill tagging, uses supervised learning to automatically induce rules from data.</a:t>
            </a:r>
          </a:p>
          <a:p>
            <a:pPr algn="l"/>
            <a:r>
              <a:rPr b="1" sz="1200">
                <a:solidFill>
                  <a:srgbClr val="1C7C73"/>
                </a:solidFill>
                <a:latin typeface="Bebas Neue"/>
              </a:rPr>
              <a:t>Key terms:  </a:t>
            </a:r>
            <a:r>
              <a:rPr sz="1200" b="0">
                <a:solidFill>
                  <a:srgbClr val="111111"/>
                </a:solidFill>
                <a:latin typeface="Inter"/>
              </a:rPr>
              <a:t>Transformation-Based Learning — A supervised learning method that induces rules from data  ·  Brill Tagger — A popular implementation of transformation-based tagging</a:t>
            </a:r>
          </a:p>
        </p:txBody>
      </p:sp>
      <p:sp>
        <p:nvSpPr>
          <p:cNvPr id="17" name="Rectangle 16"/>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TBL algorithm applies increasingly specific rules to refine initial tags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39 / 52</a:t>
            </a:r>
          </a:p>
        </p:txBody>
      </p:sp>
      <p:sp>
        <p:nvSpPr>
          <p:cNvPr id="8" name="Rounded Rectangle 7"/>
          <p:cNvSpPr/>
          <p:nvPr/>
        </p:nvSpPr>
        <p:spPr>
          <a:xfrm>
            <a:off x="457200" y="1298448"/>
            <a:ext cx="2457968" cy="3145433"/>
          </a:xfrm>
          <a:prstGeom prst="roundRect">
            <a:avLst>
              <a:gd name="adj" fmla="val 572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457200" cy="457200"/>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658368" y="2103120"/>
            <a:ext cx="2055632" cy="2139593"/>
          </a:xfrm>
          <a:prstGeom prst="rect">
            <a:avLst/>
          </a:prstGeom>
          <a:noFill/>
        </p:spPr>
        <p:txBody>
          <a:bodyPr wrap="square" anchor="t" lIns="0" tIns="0" rIns="0" bIns="0">
            <a:spAutoFit/>
          </a:bodyPr>
          <a:lstStyle/>
          <a:p>
            <a:pPr algn="l"/>
            <a:r>
              <a:rPr sz="2039" b="1">
                <a:solidFill>
                  <a:srgbClr val="1C7C73"/>
                </a:solidFill>
                <a:latin typeface="Bebas Neue"/>
              </a:rPr>
              <a:t>Corpus is first tagged using</a:t>
            </a:r>
          </a:p>
          <a:p>
            <a:pPr algn="l">
              <a:spcBef>
                <a:spcPts val="500"/>
              </a:spcBef>
            </a:pPr>
            <a:r>
              <a:rPr sz="1700" b="0">
                <a:solidFill>
                  <a:srgbClr val="111111"/>
                </a:solidFill>
                <a:latin typeface="Inter"/>
              </a:rPr>
              <a:t>the broadest rule, that is, the one that applies to the most cases</a:t>
            </a:r>
          </a:p>
        </p:txBody>
      </p:sp>
      <p:sp>
        <p:nvSpPr>
          <p:cNvPr id="11" name="Right Arrow 10"/>
          <p:cNvSpPr/>
          <p:nvPr/>
        </p:nvSpPr>
        <p:spPr>
          <a:xfrm>
            <a:off x="2970032" y="2715716"/>
            <a:ext cx="274320" cy="310896"/>
          </a:xfrm>
          <a:prstGeom prst="rightArrow">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299216" y="1298448"/>
            <a:ext cx="2457968" cy="3145433"/>
          </a:xfrm>
          <a:prstGeom prst="roundRect">
            <a:avLst>
              <a:gd name="adj" fmla="val 572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00384" y="1499616"/>
            <a:ext cx="457200" cy="457200"/>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3500384" y="2103120"/>
            <a:ext cx="2055632" cy="2139593"/>
          </a:xfrm>
          <a:prstGeom prst="rect">
            <a:avLst/>
          </a:prstGeom>
          <a:noFill/>
        </p:spPr>
        <p:txBody>
          <a:bodyPr wrap="square" anchor="t" lIns="0" tIns="0" rIns="0" bIns="0">
            <a:spAutoFit/>
          </a:bodyPr>
          <a:lstStyle/>
          <a:p>
            <a:pPr algn="l"/>
            <a:r>
              <a:rPr sz="2039" b="1">
                <a:solidFill>
                  <a:srgbClr val="1C7C73"/>
                </a:solidFill>
                <a:latin typeface="Bebas Neue"/>
              </a:rPr>
              <a:t>Slightly more specific rule</a:t>
            </a:r>
          </a:p>
          <a:p>
            <a:pPr algn="l">
              <a:spcBef>
                <a:spcPts val="500"/>
              </a:spcBef>
            </a:pPr>
            <a:r>
              <a:rPr sz="1700" b="0">
                <a:solidFill>
                  <a:srgbClr val="111111"/>
                </a:solidFill>
                <a:latin typeface="Inter"/>
              </a:rPr>
              <a:t>is chosen, which changes some of the original tags</a:t>
            </a:r>
          </a:p>
        </p:txBody>
      </p:sp>
      <p:sp>
        <p:nvSpPr>
          <p:cNvPr id="15" name="Right Arrow 14"/>
          <p:cNvSpPr/>
          <p:nvPr/>
        </p:nvSpPr>
        <p:spPr>
          <a:xfrm>
            <a:off x="5812048" y="2715716"/>
            <a:ext cx="274320" cy="310896"/>
          </a:xfrm>
          <a:prstGeom prst="rightArrow">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41232" y="1298448"/>
            <a:ext cx="2457968" cy="3145433"/>
          </a:xfrm>
          <a:prstGeom prst="roundRect">
            <a:avLst>
              <a:gd name="adj" fmla="val 5729"/>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42400" y="1499616"/>
            <a:ext cx="457200" cy="457200"/>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6342400" y="2103120"/>
            <a:ext cx="2055632" cy="2139593"/>
          </a:xfrm>
          <a:prstGeom prst="rect">
            <a:avLst/>
          </a:prstGeom>
          <a:noFill/>
        </p:spPr>
        <p:txBody>
          <a:bodyPr wrap="square" anchor="t" lIns="0" tIns="0" rIns="0" bIns="0">
            <a:spAutoFit/>
          </a:bodyPr>
          <a:lstStyle/>
          <a:p>
            <a:pPr algn="l"/>
            <a:r>
              <a:rPr sz="2039" b="1">
                <a:solidFill>
                  <a:srgbClr val="1C7C73"/>
                </a:solidFill>
                <a:latin typeface="Bebas Neue"/>
              </a:rPr>
              <a:t>Even narrower rule</a:t>
            </a:r>
          </a:p>
          <a:p>
            <a:pPr algn="l">
              <a:spcBef>
                <a:spcPts val="500"/>
              </a:spcBef>
            </a:pPr>
            <a:r>
              <a:rPr sz="1700" b="0">
                <a:solidFill>
                  <a:srgbClr val="111111"/>
                </a:solidFill>
                <a:latin typeface="Inter"/>
              </a:rPr>
              <a:t>which changes a smaller number of tags (some of which might be previously</a:t>
            </a:r>
          </a:p>
        </p:txBody>
      </p:sp>
      <p:sp>
        <p:nvSpPr>
          <p:cNvPr id="19" name="Rounded Rectangle 18"/>
          <p:cNvSpPr/>
          <p:nvPr/>
        </p:nvSpPr>
        <p:spPr>
          <a:xfrm>
            <a:off x="457200" y="4645049"/>
            <a:ext cx="8142000" cy="6401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45049"/>
            <a:ext cx="73152" cy="6401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718201"/>
            <a:ext cx="7746979" cy="49387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The TBL algorithm has a set of tagging rules. changed tags)</a:t>
            </a:r>
          </a:p>
        </p:txBody>
      </p:sp>
      <p:pic>
        <p:nvPicPr>
          <p:cNvPr id="22" name="Picture 21" descr="image.png"/>
          <p:cNvPicPr>
            <a:picLocks noChangeAspect="1"/>
          </p:cNvPicPr>
          <p:nvPr/>
        </p:nvPicPr>
        <p:blipFill>
          <a:blip r:embed="rId5"/>
          <a:stretch>
            <a:fillRect/>
          </a:stretch>
        </p:blipFill>
        <p:spPr>
          <a:xfrm>
            <a:off x="8800368" y="1298448"/>
            <a:ext cx="2931383" cy="3986784"/>
          </a:xfrm>
          <a:prstGeom prst="rect">
            <a:avLst/>
          </a:prstGeom>
        </p:spPr>
      </p:pic>
      <p:sp>
        <p:nvSpPr>
          <p:cNvPr id="23" name="Rounded Rectangle 22"/>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The TBL algorithm applies progressively narrower rules to refine and change previously assigned tags.</a:t>
            </a:r>
          </a:p>
          <a:p>
            <a:pPr algn="l"/>
            <a:r>
              <a:rPr b="1" sz="1300">
                <a:solidFill>
                  <a:srgbClr val="1C7C73"/>
                </a:solidFill>
                <a:latin typeface="Bebas Neue"/>
              </a:rPr>
              <a:t>Key terms:  </a:t>
            </a:r>
            <a:r>
              <a:rPr sz="1300" b="0">
                <a:solidFill>
                  <a:srgbClr val="111111"/>
                </a:solidFill>
                <a:latin typeface="Inter"/>
              </a:rPr>
              <a:t>tbl — Transformation-Based Learning  ·  tagging rule — A condition that changes a tag based on context</a:t>
            </a:r>
          </a:p>
        </p:txBody>
      </p:sp>
      <p:sp>
        <p:nvSpPr>
          <p:cNvPr id="24" name="Rectangle 23"/>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5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450"/>
                                        <p:tgtEl>
                                          <p:spTgt spid="22"/>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450"/>
                                        <p:tgtEl>
                                          <p:spTgt spid="23"/>
                                        </p:tgtEl>
                                      </p:cBhvr>
                                    </p:animEffect>
                                  </p:childTnLst>
                                </p:cTn>
                              </p:par>
                              <p:par>
                                <p:cTn id="36" presetID="10"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8</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40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 condition that changes a tag based on context”?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most likely tag</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PRP</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n-gram</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tagging rule</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tagging rule: A condition that changes a tag based on context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Transformation-based taggers label training data with most frequent tags before rule induction</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41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50101"/>
            <a:ext cx="82296" cy="577946"/>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13525"/>
            <a:ext cx="7087166" cy="596234"/>
          </a:xfrm>
          <a:prstGeom prst="rect">
            <a:avLst/>
          </a:prstGeom>
          <a:noFill/>
        </p:spPr>
        <p:txBody>
          <a:bodyPr wrap="square" anchor="t" lIns="0" tIns="0" rIns="0" bIns="0">
            <a:spAutoFit/>
          </a:bodyPr>
          <a:lstStyle/>
          <a:p>
            <a:pPr algn="l"/>
            <a:r>
              <a:rPr sz="1860" b="1">
                <a:solidFill>
                  <a:srgbClr val="1C7C73"/>
                </a:solidFill>
                <a:latin typeface="Bebas Neue"/>
              </a:rPr>
              <a:t>Label the training set with most frequent tags.</a:t>
            </a:r>
          </a:p>
        </p:txBody>
      </p:sp>
      <p:sp>
        <p:nvSpPr>
          <p:cNvPr id="10" name="TextBox 9"/>
          <p:cNvSpPr txBox="1"/>
          <p:nvPr/>
        </p:nvSpPr>
        <p:spPr>
          <a:xfrm>
            <a:off x="720547" y="2201783"/>
            <a:ext cx="7087166" cy="216027"/>
          </a:xfrm>
          <a:prstGeom prst="rect">
            <a:avLst/>
          </a:prstGeom>
          <a:noFill/>
        </p:spPr>
        <p:txBody>
          <a:bodyPr wrap="square" lIns="0" rIns="0" tIns="0" bIns="0">
            <a:spAutoFit/>
          </a:bodyPr>
          <a:lstStyle/>
          <a:p>
            <a:r>
              <a:rPr sz="1350">
                <a:solidFill>
                  <a:srgbClr val="111111"/>
                </a:solidFill>
                <a:latin typeface="Inter"/>
              </a:rPr>
              <a:t>‘Can’ can be Noun as well.</a:t>
            </a:r>
          </a:p>
        </p:txBody>
      </p:sp>
      <p:sp>
        <p:nvSpPr>
          <p:cNvPr id="11" name="TextBox 10"/>
          <p:cNvSpPr txBox="1"/>
          <p:nvPr/>
        </p:nvSpPr>
        <p:spPr>
          <a:xfrm>
            <a:off x="720547" y="2545826"/>
            <a:ext cx="7087166" cy="216027"/>
          </a:xfrm>
          <a:prstGeom prst="rect">
            <a:avLst/>
          </a:prstGeom>
          <a:noFill/>
        </p:spPr>
        <p:txBody>
          <a:bodyPr wrap="square" lIns="0" rIns="0" tIns="0" bIns="0">
            <a:spAutoFit/>
          </a:bodyPr>
          <a:lstStyle/>
          <a:p>
            <a:r>
              <a:rPr sz="1350">
                <a:solidFill>
                  <a:srgbClr val="111111"/>
                </a:solidFill>
                <a:latin typeface="Inter"/>
              </a:rPr>
              <a:t>The can was rusted.</a:t>
            </a:r>
          </a:p>
        </p:txBody>
      </p:sp>
      <p:sp>
        <p:nvSpPr>
          <p:cNvPr id="12" name="TextBox 11"/>
          <p:cNvSpPr txBox="1"/>
          <p:nvPr/>
        </p:nvSpPr>
        <p:spPr>
          <a:xfrm>
            <a:off x="720547" y="2889869"/>
            <a:ext cx="7087166" cy="216027"/>
          </a:xfrm>
          <a:prstGeom prst="rect">
            <a:avLst/>
          </a:prstGeom>
          <a:noFill/>
        </p:spPr>
        <p:txBody>
          <a:bodyPr wrap="square" lIns="0" rIns="0" tIns="0" bIns="0">
            <a:spAutoFit/>
          </a:bodyPr>
          <a:lstStyle/>
          <a:p>
            <a:r>
              <a:rPr sz="1350">
                <a:solidFill>
                  <a:srgbClr val="111111"/>
                </a:solidFill>
                <a:latin typeface="Inter"/>
              </a:rPr>
              <a:t>as Modal verb.</a:t>
            </a:r>
          </a:p>
        </p:txBody>
      </p:sp>
      <p:sp>
        <p:nvSpPr>
          <p:cNvPr id="13" name="TextBox 12"/>
          <p:cNvSpPr txBox="1"/>
          <p:nvPr/>
        </p:nvSpPr>
        <p:spPr>
          <a:xfrm>
            <a:off x="720547" y="3233912"/>
            <a:ext cx="7087166" cy="216027"/>
          </a:xfrm>
          <a:prstGeom prst="rect">
            <a:avLst/>
          </a:prstGeom>
          <a:noFill/>
        </p:spPr>
        <p:txBody>
          <a:bodyPr wrap="square" lIns="0" rIns="0" tIns="0" bIns="0">
            <a:spAutoFit/>
          </a:bodyPr>
          <a:lstStyle/>
          <a:p>
            <a:r>
              <a:rPr sz="840" b="1">
                <a:solidFill>
                  <a:srgbClr val="0F766E"/>
                </a:solidFill>
                <a:latin typeface="Bebas Neue"/>
              </a:rPr>
              <a:t>ALSO   </a:t>
            </a:r>
            <a:r>
              <a:rPr sz="1350">
                <a:solidFill>
                  <a:srgbClr val="111111"/>
                </a:solidFill>
                <a:latin typeface="Inter"/>
              </a:rPr>
              <a:t>TBL uses ML </a:t>
            </a:r>
            <a:r>
              <a:rPr sz="1350" b="1">
                <a:solidFill>
                  <a:srgbClr val="0F766E"/>
                </a:solidFill>
                <a:latin typeface="Bebas Neue"/>
              </a:rPr>
              <a:t>as well as</a:t>
            </a:r>
            <a:r>
              <a:rPr sz="1350">
                <a:solidFill>
                  <a:srgbClr val="111111"/>
                </a:solidFill>
                <a:latin typeface="Inter"/>
              </a:rPr>
              <a:t> grammar rules.</a:t>
            </a:r>
          </a:p>
        </p:txBody>
      </p:sp>
      <p:sp>
        <p:nvSpPr>
          <p:cNvPr id="14" name="TextBox 13"/>
          <p:cNvSpPr txBox="1"/>
          <p:nvPr/>
        </p:nvSpPr>
        <p:spPr>
          <a:xfrm>
            <a:off x="720547" y="3577955"/>
            <a:ext cx="7087166" cy="216027"/>
          </a:xfrm>
          <a:prstGeom prst="rect">
            <a:avLst/>
          </a:prstGeom>
          <a:noFill/>
        </p:spPr>
        <p:txBody>
          <a:bodyPr wrap="square" lIns="0" rIns="0" tIns="0" bIns="0">
            <a:spAutoFit/>
          </a:bodyPr>
          <a:lstStyle/>
          <a:p>
            <a:r>
              <a:rPr sz="1350">
                <a:solidFill>
                  <a:srgbClr val="111111"/>
                </a:solidFill>
                <a:latin typeface="Inter"/>
              </a:rPr>
              <a:t>Modal verb is never preceded by the determiner.</a:t>
            </a:r>
          </a:p>
        </p:txBody>
      </p:sp>
      <p:sp>
        <p:nvSpPr>
          <p:cNvPr id="15" name="TextBox 14"/>
          <p:cNvSpPr txBox="1"/>
          <p:nvPr/>
        </p:nvSpPr>
        <p:spPr>
          <a:xfrm>
            <a:off x="720547" y="3921998"/>
            <a:ext cx="7087166" cy="216027"/>
          </a:xfrm>
          <a:prstGeom prst="rect">
            <a:avLst/>
          </a:prstGeom>
          <a:noFill/>
        </p:spPr>
        <p:txBody>
          <a:bodyPr wrap="square" lIns="0" rIns="0" tIns="0" bIns="0">
            <a:spAutoFit/>
          </a:bodyPr>
          <a:lstStyle/>
          <a:p>
            <a:r>
              <a:rPr sz="1350">
                <a:solidFill>
                  <a:srgbClr val="111111"/>
                </a:solidFill>
                <a:latin typeface="Inter"/>
              </a:rPr>
              <a:t>Initially each word receives its most common tag from the training set.</a:t>
            </a:r>
          </a:p>
        </p:txBody>
      </p:sp>
      <p:sp>
        <p:nvSpPr>
          <p:cNvPr id="16" name="TextBox 15"/>
          <p:cNvSpPr txBox="1"/>
          <p:nvPr/>
        </p:nvSpPr>
        <p:spPr>
          <a:xfrm>
            <a:off x="720547" y="4266041"/>
            <a:ext cx="7087166" cy="432054"/>
          </a:xfrm>
          <a:prstGeom prst="rect">
            <a:avLst/>
          </a:prstGeom>
          <a:noFill/>
        </p:spPr>
        <p:txBody>
          <a:bodyPr wrap="square" lIns="0" rIns="0" tIns="0" bIns="0">
            <a:spAutoFit/>
          </a:bodyPr>
          <a:lstStyle/>
          <a:p>
            <a:r>
              <a:rPr sz="840" b="1">
                <a:solidFill>
                  <a:srgbClr val="6D28D9"/>
                </a:solidFill>
                <a:latin typeface="Bebas Neue"/>
              </a:rPr>
              <a:t>THEN   </a:t>
            </a:r>
            <a:r>
              <a:rPr sz="1350">
                <a:solidFill>
                  <a:srgbClr val="111111"/>
                </a:solidFill>
                <a:latin typeface="Inter"/>
              </a:rPr>
              <a:t>The algorithm </a:t>
            </a:r>
            <a:r>
              <a:rPr sz="1350" b="1">
                <a:solidFill>
                  <a:srgbClr val="6D28D9"/>
                </a:solidFill>
                <a:latin typeface="Bebas Neue"/>
              </a:rPr>
              <a:t>then</a:t>
            </a:r>
            <a:r>
              <a:rPr sz="1350">
                <a:solidFill>
                  <a:srgbClr val="111111"/>
                </a:solidFill>
                <a:latin typeface="Inter"/>
              </a:rPr>
              <a:t> learns rules that correct mislabelled words, </a:t>
            </a:r>
            <a:r>
              <a:rPr sz="1350" b="1">
                <a:solidFill>
                  <a:srgbClr val="0F766E"/>
                </a:solidFill>
                <a:latin typeface="Bebas Neue"/>
              </a:rPr>
              <a:t>such as</a:t>
            </a:r>
            <a:r>
              <a:rPr sz="1350">
                <a:solidFill>
                  <a:srgbClr val="111111"/>
                </a:solidFill>
                <a:latin typeface="Inter"/>
              </a:rPr>
              <a:t> distinguishing the modal verb "can" from the noun "can".</a:t>
            </a:r>
          </a:p>
        </p:txBody>
      </p:sp>
      <p:sp>
        <p:nvSpPr>
          <p:cNvPr id="17" name="TextBox 16"/>
          <p:cNvSpPr txBox="1"/>
          <p:nvPr/>
        </p:nvSpPr>
        <p:spPr>
          <a:xfrm>
            <a:off x="994867" y="4826111"/>
            <a:ext cx="6812846" cy="216027"/>
          </a:xfrm>
          <a:prstGeom prst="rect">
            <a:avLst/>
          </a:prstGeom>
          <a:noFill/>
        </p:spPr>
        <p:txBody>
          <a:bodyPr wrap="square" lIns="0" rIns="0" tIns="0" bIns="0">
            <a:spAutoFit/>
          </a:bodyPr>
          <a:lstStyle/>
          <a:p>
            <a:r>
              <a:rPr sz="1350">
                <a:solidFill>
                  <a:srgbClr val="111111"/>
                </a:solidFill>
                <a:latin typeface="Inter"/>
              </a:rPr>
              <a:t>This hybrid approach uses both data and grammar.</a:t>
            </a:r>
          </a:p>
        </p:txBody>
      </p:sp>
      <p:sp>
        <p:nvSpPr>
          <p:cNvPr id="18" name="Rounded Rectangle 17"/>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C7C73"/>
                </a:solidFill>
                <a:latin typeface="Bebas Neue"/>
              </a:rPr>
              <a:t>Key takeaway:  </a:t>
            </a:r>
            <a:r>
              <a:rPr sz="1300" b="0">
                <a:solidFill>
                  <a:srgbClr val="111111"/>
                </a:solidFill>
                <a:latin typeface="Inter"/>
              </a:rPr>
              <a:t>TBL initializes training data with most frequent tags before learning grammar rules to correct mislabeled words.</a:t>
            </a:r>
          </a:p>
          <a:p>
            <a:pPr algn="l"/>
            <a:r>
              <a:rPr b="1" sz="1300">
                <a:solidFill>
                  <a:srgbClr val="1C7C73"/>
                </a:solidFill>
                <a:latin typeface="Bebas Neue"/>
              </a:rPr>
              <a:t>Key terms:  </a:t>
            </a:r>
            <a:r>
              <a:rPr sz="1300" b="0">
                <a:solidFill>
                  <a:srgbClr val="111111"/>
                </a:solidFill>
                <a:latin typeface="Inter"/>
              </a:rPr>
              <a:t>most frequent tag — The tag that appears most often for a word in training data</a:t>
            </a:r>
          </a:p>
        </p:txBody>
      </p:sp>
      <p:sp>
        <p:nvSpPr>
          <p:cNvPr id="19" name="Rectangle 18"/>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Adding transformation rules reduces training mistakes by correcting unlikely tag pairs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42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83710"/>
            <a:ext cx="82296" cy="51169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47134"/>
            <a:ext cx="7087166" cy="529986"/>
          </a:xfrm>
          <a:prstGeom prst="rect">
            <a:avLst/>
          </a:prstGeom>
          <a:noFill/>
        </p:spPr>
        <p:txBody>
          <a:bodyPr wrap="square" anchor="t" lIns="0" tIns="0" rIns="0" bIns="0">
            <a:spAutoFit/>
          </a:bodyPr>
          <a:lstStyle/>
          <a:p>
            <a:pPr algn="l"/>
            <a:r>
              <a:rPr sz="1660" b="1">
                <a:solidFill>
                  <a:srgbClr val="1C7C73"/>
                </a:solidFill>
                <a:latin typeface="Bebas Neue"/>
              </a:rPr>
              <a:t>Add transformation rules to reduce training mistakes.</a:t>
            </a:r>
          </a:p>
        </p:txBody>
      </p:sp>
      <p:sp>
        <p:nvSpPr>
          <p:cNvPr id="10" name="TextBox 9"/>
          <p:cNvSpPr txBox="1"/>
          <p:nvPr/>
        </p:nvSpPr>
        <p:spPr>
          <a:xfrm>
            <a:off x="720547" y="2069144"/>
            <a:ext cx="7087166" cy="192024"/>
          </a:xfrm>
          <a:prstGeom prst="rect">
            <a:avLst/>
          </a:prstGeom>
          <a:noFill/>
        </p:spPr>
        <p:txBody>
          <a:bodyPr wrap="square" lIns="0" rIns="0" tIns="0" bIns="0">
            <a:spAutoFit/>
          </a:bodyPr>
          <a:lstStyle/>
          <a:p>
            <a:r>
              <a:rPr sz="740" b="1">
                <a:solidFill>
                  <a:srgbClr val="0F766E"/>
                </a:solidFill>
                <a:latin typeface="Bebas Neue"/>
              </a:rPr>
              <a:t>ALSO   </a:t>
            </a:r>
            <a:r>
              <a:rPr sz="1200" b="1">
                <a:solidFill>
                  <a:srgbClr val="0F766E"/>
                </a:solidFill>
                <a:latin typeface="Bebas Neue"/>
              </a:rPr>
              <a:t>Also</a:t>
            </a:r>
            <a:r>
              <a:rPr sz="1200">
                <a:solidFill>
                  <a:srgbClr val="111111"/>
                </a:solidFill>
                <a:latin typeface="Inter"/>
              </a:rPr>
              <a:t> in corpus, possibility of ‘determiner modal verb’ pair is zero.</a:t>
            </a:r>
          </a:p>
        </p:txBody>
      </p:sp>
      <p:sp>
        <p:nvSpPr>
          <p:cNvPr id="11" name="TextBox 10"/>
          <p:cNvSpPr txBox="1"/>
          <p:nvPr/>
        </p:nvSpPr>
        <p:spPr>
          <a:xfrm>
            <a:off x="720547" y="2389184"/>
            <a:ext cx="7087166" cy="192024"/>
          </a:xfrm>
          <a:prstGeom prst="rect">
            <a:avLst/>
          </a:prstGeom>
          <a:noFill/>
        </p:spPr>
        <p:txBody>
          <a:bodyPr wrap="square" lIns="0" rIns="0" tIns="0" bIns="0">
            <a:spAutoFit/>
          </a:bodyPr>
          <a:lstStyle/>
          <a:p>
            <a:r>
              <a:rPr sz="740" b="1">
                <a:solidFill>
                  <a:srgbClr val="1D4ED8"/>
                </a:solidFill>
                <a:latin typeface="Bebas Neue"/>
              </a:rPr>
              <a:t>SO   </a:t>
            </a:r>
            <a:r>
              <a:rPr sz="1200" b="1">
                <a:solidFill>
                  <a:srgbClr val="1D4ED8"/>
                </a:solidFill>
                <a:latin typeface="Bebas Neue"/>
              </a:rPr>
              <a:t>Hence</a:t>
            </a:r>
            <a:r>
              <a:rPr sz="1200">
                <a:solidFill>
                  <a:srgbClr val="111111"/>
                </a:solidFill>
                <a:latin typeface="Inter"/>
              </a:rPr>
              <a:t> ‘can’ is replaced by Noun Tag.</a:t>
            </a:r>
          </a:p>
        </p:txBody>
      </p:sp>
      <p:sp>
        <p:nvSpPr>
          <p:cNvPr id="12" name="TextBox 11"/>
          <p:cNvSpPr txBox="1"/>
          <p:nvPr/>
        </p:nvSpPr>
        <p:spPr>
          <a:xfrm>
            <a:off x="720547" y="2709224"/>
            <a:ext cx="7087166" cy="192024"/>
          </a:xfrm>
          <a:prstGeom prst="rect">
            <a:avLst/>
          </a:prstGeom>
          <a:noFill/>
        </p:spPr>
        <p:txBody>
          <a:bodyPr wrap="square" lIns="0" rIns="0" tIns="0" bIns="0">
            <a:spAutoFit/>
          </a:bodyPr>
          <a:lstStyle/>
          <a:p>
            <a:r>
              <a:rPr sz="740" b="1">
                <a:solidFill>
                  <a:srgbClr val="0F766E"/>
                </a:solidFill>
                <a:latin typeface="Bebas Neue"/>
              </a:rPr>
              <a:t>ALSO   </a:t>
            </a:r>
            <a:r>
              <a:rPr sz="1200" b="1">
                <a:solidFill>
                  <a:srgbClr val="0F766E"/>
                </a:solidFill>
                <a:latin typeface="Bebas Neue"/>
              </a:rPr>
              <a:t>Similarly</a:t>
            </a:r>
            <a:r>
              <a:rPr sz="1200">
                <a:solidFill>
                  <a:srgbClr val="111111"/>
                </a:solidFill>
                <a:latin typeface="Inter"/>
              </a:rPr>
              <a:t>, rusted can be VBD and VBN.</a:t>
            </a:r>
          </a:p>
        </p:txBody>
      </p:sp>
      <p:sp>
        <p:nvSpPr>
          <p:cNvPr id="13" name="TextBox 12"/>
          <p:cNvSpPr txBox="1"/>
          <p:nvPr/>
        </p:nvSpPr>
        <p:spPr>
          <a:xfrm>
            <a:off x="720547" y="3029264"/>
            <a:ext cx="7087166" cy="192024"/>
          </a:xfrm>
          <a:prstGeom prst="rect">
            <a:avLst/>
          </a:prstGeom>
          <a:noFill/>
        </p:spPr>
        <p:txBody>
          <a:bodyPr wrap="square" lIns="0" rIns="0" tIns="0" bIns="0">
            <a:spAutoFit/>
          </a:bodyPr>
          <a:lstStyle/>
          <a:p>
            <a:r>
              <a:rPr sz="1200">
                <a:solidFill>
                  <a:srgbClr val="111111"/>
                </a:solidFill>
                <a:latin typeface="Inter"/>
              </a:rPr>
              <a:t>In grammar, VBN is preceded by VBD.</a:t>
            </a:r>
          </a:p>
        </p:txBody>
      </p:sp>
      <p:sp>
        <p:nvSpPr>
          <p:cNvPr id="14" name="TextBox 13"/>
          <p:cNvSpPr txBox="1"/>
          <p:nvPr/>
        </p:nvSpPr>
        <p:spPr>
          <a:xfrm>
            <a:off x="720547" y="3349304"/>
            <a:ext cx="7087166" cy="192024"/>
          </a:xfrm>
          <a:prstGeom prst="rect">
            <a:avLst/>
          </a:prstGeom>
          <a:noFill/>
        </p:spPr>
        <p:txBody>
          <a:bodyPr wrap="square" lIns="0" rIns="0" tIns="0" bIns="0">
            <a:spAutoFit/>
          </a:bodyPr>
          <a:lstStyle/>
          <a:p>
            <a:r>
              <a:rPr sz="1200">
                <a:solidFill>
                  <a:srgbClr val="111111"/>
                </a:solidFill>
                <a:latin typeface="Inter"/>
              </a:rPr>
              <a:t>And in corpus VBD-VBD pair is negligible.</a:t>
            </a:r>
          </a:p>
        </p:txBody>
      </p:sp>
      <p:sp>
        <p:nvSpPr>
          <p:cNvPr id="15" name="Rounded Rectangle 14"/>
          <p:cNvSpPr/>
          <p:nvPr/>
        </p:nvSpPr>
        <p:spPr>
          <a:xfrm>
            <a:off x="457200" y="3919198"/>
            <a:ext cx="7883956" cy="1366033"/>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919198"/>
            <a:ext cx="73152" cy="1366033"/>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1C7C73"/>
                </a:solidFill>
                <a:latin typeface="Bebas Neue"/>
              </a:rPr>
              <a:t>IN PLAIN WORDS</a:t>
            </a:r>
          </a:p>
          <a:p>
            <a:pPr algn="l">
              <a:spcBef>
                <a:spcPts val="300"/>
              </a:spcBef>
            </a:pPr>
            <a:r>
              <a:rPr sz="1400" b="0">
                <a:solidFill>
                  <a:srgbClr val="111111"/>
                </a:solidFill>
                <a:latin typeface="Inter"/>
              </a:rPr>
              <a:t>Rules are added to fix errors like "determiner modal verb" pairs, which rarely occur. For example, the word "can" is replaced with a noun tag when the preceding word is a determiner. Such targeted corrections improve overall tagging accuracy.</a:t>
            </a:r>
          </a:p>
        </p:txBody>
      </p:sp>
      <p:sp>
        <p:nvSpPr>
          <p:cNvPr id="18" name="Rounded Rectangle 17"/>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terms:  </a:t>
            </a:r>
            <a:r>
              <a:rPr sz="1600" b="1">
                <a:solidFill>
                  <a:srgbClr val="111111"/>
                </a:solidFill>
                <a:latin typeface="Bebas Neue"/>
              </a:rPr>
              <a:t>transformation rule — A rule that changes a tag based on surrounding context</a:t>
            </a:r>
          </a:p>
        </p:txBody>
      </p:sp>
      <p:sp>
        <p:nvSpPr>
          <p:cNvPr id="19" name="Rectangle 18"/>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Taggers - Transformation Based Tagger (3/6)</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43 / 52</a:t>
            </a:r>
          </a:p>
        </p:txBody>
      </p:sp>
      <p:sp>
        <p:nvSpPr>
          <p:cNvPr id="8" name="Rounded Rectangle 7">
            <a:hlinkClick r:id="rId5"/>
          </p:cNvPr>
          <p:cNvSpPr/>
          <p:nvPr/>
        </p:nvSpPr>
        <p:spPr>
          <a:xfrm>
            <a:off x="3199485" y="6455664"/>
            <a:ext cx="5789980" cy="310896"/>
          </a:xfrm>
          <a:prstGeom prst="round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Transformation‑Based POS Tagging Lab</a:t>
            </a:r>
          </a:p>
        </p:txBody>
      </p:sp>
      <p:graphicFrame>
        <p:nvGraphicFramePr>
          <p:cNvPr id="9" name="Table 8"/>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818638"/>
                <a:gridCol w="2818638"/>
                <a:gridCol w="2818638"/>
                <a:gridCol w="2818638"/>
              </a:tblGrid>
              <a:tr h="685800">
                <a:tc>
                  <a:txBody>
                    <a:bodyPr/>
                    <a:lstStyle/>
                    <a:p>
                      <a:pPr algn="l"/>
                      <a:r>
                        <a:rPr sz="2000" b="1">
                          <a:solidFill>
                            <a:srgbClr val="FFFFFF"/>
                          </a:solidFill>
                          <a:latin typeface="Bebas Neue"/>
                        </a:rPr>
                        <a:t>The</a:t>
                      </a:r>
                    </a:p>
                  </a:txBody>
                  <a:tcPr marL="146304" marR="146304" anchor="ctr">
                    <a:solidFill>
                      <a:srgbClr val="1C7C73"/>
                    </a:solidFill>
                  </a:tcPr>
                </a:tc>
                <a:tc>
                  <a:txBody>
                    <a:bodyPr/>
                    <a:lstStyle/>
                    <a:p>
                      <a:pPr algn="l"/>
                      <a:r>
                        <a:rPr sz="2000" b="1">
                          <a:solidFill>
                            <a:srgbClr val="FFFFFF"/>
                          </a:solidFill>
                          <a:latin typeface="Bebas Neue"/>
                        </a:rPr>
                        <a:t>Can</a:t>
                      </a:r>
                    </a:p>
                  </a:txBody>
                  <a:tcPr marL="146304" marR="146304" anchor="ctr">
                    <a:solidFill>
                      <a:srgbClr val="1C7C73"/>
                    </a:solidFill>
                  </a:tcPr>
                </a:tc>
                <a:tc>
                  <a:txBody>
                    <a:bodyPr/>
                    <a:lstStyle/>
                    <a:p>
                      <a:pPr algn="l"/>
                      <a:r>
                        <a:rPr sz="2000" b="1">
                          <a:solidFill>
                            <a:srgbClr val="FFFFFF"/>
                          </a:solidFill>
                          <a:latin typeface="Bebas Neue"/>
                        </a:rPr>
                        <a:t>Was</a:t>
                      </a:r>
                    </a:p>
                  </a:txBody>
                  <a:tcPr marL="146304" marR="146304" anchor="ctr">
                    <a:solidFill>
                      <a:srgbClr val="1C7C73"/>
                    </a:solidFill>
                  </a:tcPr>
                </a:tc>
                <a:tc>
                  <a:txBody>
                    <a:bodyPr/>
                    <a:lstStyle/>
                    <a:p>
                      <a:pPr algn="l"/>
                      <a:r>
                        <a:rPr sz="2000" b="1">
                          <a:solidFill>
                            <a:srgbClr val="FFFFFF"/>
                          </a:solidFill>
                          <a:latin typeface="Bebas Neue"/>
                        </a:rPr>
                        <a:t>rusted</a:t>
                      </a:r>
                    </a:p>
                  </a:txBody>
                  <a:tcPr marL="146304" marR="146304" anchor="ctr">
                    <a:solidFill>
                      <a:srgbClr val="1C7C73"/>
                    </a:solidFill>
                  </a:tcPr>
                </a:tc>
              </a:tr>
              <a:tr h="1051560">
                <a:tc>
                  <a:txBody>
                    <a:bodyPr/>
                    <a:lstStyle/>
                    <a:p>
                      <a:pPr algn="l"/>
                      <a:r>
                        <a:rPr sz="2000" b="1">
                          <a:solidFill>
                            <a:srgbClr val="1C7C73"/>
                          </a:solidFill>
                          <a:latin typeface="Bebas Neue"/>
                        </a:rPr>
                        <a:t>DET</a:t>
                      </a:r>
                    </a:p>
                  </a:txBody>
                  <a:tcPr marL="146304" marR="146304" anchor="ctr">
                    <a:solidFill>
                      <a:srgbClr val="F5F6F8"/>
                    </a:solidFill>
                  </a:tcPr>
                </a:tc>
                <a:tc>
                  <a:txBody>
                    <a:bodyPr/>
                    <a:lstStyle/>
                    <a:p>
                      <a:pPr algn="l"/>
                      <a:r>
                        <a:rPr sz="2000" b="0">
                          <a:solidFill>
                            <a:srgbClr val="111111"/>
                          </a:solidFill>
                          <a:latin typeface="Inter"/>
                        </a:rPr>
                        <a:t>MD</a:t>
                      </a:r>
                    </a:p>
                  </a:txBody>
                  <a:tcPr marL="146304" marR="146304" anchor="ctr">
                    <a:solidFill>
                      <a:srgbClr val="F5F6F8"/>
                    </a:solidFill>
                  </a:tcPr>
                </a:tc>
                <a:tc>
                  <a:txBody>
                    <a:bodyPr/>
                    <a:lstStyle/>
                    <a:p>
                      <a:pPr algn="l"/>
                      <a:r>
                        <a:rPr sz="2000" b="0">
                          <a:solidFill>
                            <a:srgbClr val="111111"/>
                          </a:solidFill>
                          <a:latin typeface="Inter"/>
                        </a:rPr>
                        <a:t>VBD</a:t>
                      </a:r>
                    </a:p>
                  </a:txBody>
                  <a:tcPr marL="146304" marR="146304" anchor="ctr">
                    <a:solidFill>
                      <a:srgbClr val="F5F6F8"/>
                    </a:solidFill>
                  </a:tcPr>
                </a:tc>
                <a:tc>
                  <a:txBody>
                    <a:bodyPr/>
                    <a:lstStyle/>
                    <a:p>
                      <a:pPr algn="l"/>
                      <a:r>
                        <a:rPr sz="2000" b="0">
                          <a:solidFill>
                            <a:srgbClr val="111111"/>
                          </a:solidFill>
                          <a:latin typeface="Inter"/>
                        </a:rPr>
                        <a:t>VBD</a:t>
                      </a:r>
                    </a:p>
                  </a:txBody>
                  <a:tcPr marL="146304" marR="146304" anchor="ctr">
                    <a:solidFill>
                      <a:srgbClr val="F5F6F8"/>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Initial tagging of words like 'can' can mistakenly assign modal verb tags instead of nouns.</a:t>
            </a:r>
          </a:p>
        </p:txBody>
      </p:sp>
      <p:sp>
        <p:nvSpPr>
          <p:cNvPr id="11" name="Rectangle 10"/>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Taggers - Transformation Based Tagger (3/6)</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44 / 52</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818638"/>
                <a:gridCol w="2818638"/>
                <a:gridCol w="2818638"/>
                <a:gridCol w="2818638"/>
              </a:tblGrid>
              <a:tr h="685800">
                <a:tc>
                  <a:txBody>
                    <a:bodyPr/>
                    <a:lstStyle/>
                    <a:p>
                      <a:pPr algn="l"/>
                      <a:r>
                        <a:rPr sz="2000" b="1">
                          <a:solidFill>
                            <a:srgbClr val="FFFFFF"/>
                          </a:solidFill>
                          <a:latin typeface="Bebas Neue"/>
                        </a:rPr>
                        <a:t>The</a:t>
                      </a:r>
                    </a:p>
                  </a:txBody>
                  <a:tcPr marL="146304" marR="146304" anchor="ctr">
                    <a:solidFill>
                      <a:srgbClr val="1C7C73"/>
                    </a:solidFill>
                  </a:tcPr>
                </a:tc>
                <a:tc>
                  <a:txBody>
                    <a:bodyPr/>
                    <a:lstStyle/>
                    <a:p>
                      <a:pPr algn="l"/>
                      <a:r>
                        <a:rPr sz="2000" b="1">
                          <a:solidFill>
                            <a:srgbClr val="FFFFFF"/>
                          </a:solidFill>
                          <a:latin typeface="Bebas Neue"/>
                        </a:rPr>
                        <a:t>Can</a:t>
                      </a:r>
                    </a:p>
                  </a:txBody>
                  <a:tcPr marL="146304" marR="146304" anchor="ctr">
                    <a:solidFill>
                      <a:srgbClr val="1C7C73"/>
                    </a:solidFill>
                  </a:tcPr>
                </a:tc>
                <a:tc>
                  <a:txBody>
                    <a:bodyPr/>
                    <a:lstStyle/>
                    <a:p>
                      <a:pPr algn="l"/>
                      <a:r>
                        <a:rPr sz="2000" b="1">
                          <a:solidFill>
                            <a:srgbClr val="FFFFFF"/>
                          </a:solidFill>
                          <a:latin typeface="Bebas Neue"/>
                        </a:rPr>
                        <a:t>Was</a:t>
                      </a:r>
                    </a:p>
                  </a:txBody>
                  <a:tcPr marL="146304" marR="146304" anchor="ctr">
                    <a:solidFill>
                      <a:srgbClr val="1C7C73"/>
                    </a:solidFill>
                  </a:tcPr>
                </a:tc>
                <a:tc>
                  <a:txBody>
                    <a:bodyPr/>
                    <a:lstStyle/>
                    <a:p>
                      <a:pPr algn="l"/>
                      <a:r>
                        <a:rPr sz="2000" b="1">
                          <a:solidFill>
                            <a:srgbClr val="FFFFFF"/>
                          </a:solidFill>
                          <a:latin typeface="Bebas Neue"/>
                        </a:rPr>
                        <a:t>rusted</a:t>
                      </a:r>
                    </a:p>
                  </a:txBody>
                  <a:tcPr marL="146304" marR="146304" anchor="ctr">
                    <a:solidFill>
                      <a:srgbClr val="1C7C73"/>
                    </a:solidFill>
                  </a:tcPr>
                </a:tc>
              </a:tr>
              <a:tr h="1051560">
                <a:tc>
                  <a:txBody>
                    <a:bodyPr/>
                    <a:lstStyle/>
                    <a:p>
                      <a:pPr algn="l"/>
                      <a:r>
                        <a:rPr sz="2000" b="1">
                          <a:solidFill>
                            <a:srgbClr val="1C7C73"/>
                          </a:solidFill>
                          <a:latin typeface="Bebas Neue"/>
                        </a:rPr>
                        <a:t>DET</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c>
                  <a:txBody>
                    <a:bodyPr/>
                    <a:lstStyle/>
                    <a:p>
                      <a:pPr algn="l"/>
                      <a:r>
                        <a:rPr sz="2000" b="0">
                          <a:solidFill>
                            <a:srgbClr val="111111"/>
                          </a:solidFill>
                          <a:latin typeface="Inter"/>
                        </a:rPr>
                        <a:t>VBD</a:t>
                      </a:r>
                    </a:p>
                  </a:txBody>
                  <a:tcPr marL="146304" marR="146304" anchor="ctr">
                    <a:solidFill>
                      <a:srgbClr val="F5F6F8"/>
                    </a:solidFill>
                  </a:tcPr>
                </a:tc>
                <a:tc>
                  <a:txBody>
                    <a:bodyPr/>
                    <a:lstStyle/>
                    <a:p>
                      <a:pPr algn="l"/>
                      <a:r>
                        <a:rPr sz="2000" b="0">
                          <a:solidFill>
                            <a:srgbClr val="111111"/>
                          </a:solidFill>
                          <a:latin typeface="Inter"/>
                        </a:rPr>
                        <a:t>VBN</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Taggers initially assign specific base tags like nouns and verbs before applying transformation correction rules.</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9</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45 / 52</a:t>
            </a:r>
          </a:p>
        </p:txBody>
      </p:sp>
      <p:sp>
        <p:nvSpPr>
          <p:cNvPr id="7" name="Rounded Rectangle 6"/>
          <p:cNvSpPr/>
          <p:nvPr/>
        </p:nvSpPr>
        <p:spPr>
          <a:xfrm>
            <a:off x="457200" y="1298448"/>
            <a:ext cx="11274552" cy="1326611"/>
          </a:xfrm>
          <a:prstGeom prst="roundRect">
            <a:avLst>
              <a:gd name="adj" fmla="val 10614"/>
            </a:avLst>
          </a:prstGeom>
          <a:solidFill>
            <a:srgbClr val="E8F1F1"/>
          </a:solidFill>
          <a:ln w="12700">
            <a:solidFill>
              <a:srgbClr val="1C7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C7C73"/>
                </a:solidFill>
                <a:latin typeface="Bebas Neue"/>
              </a:rPr>
              <a:t>Which term matches this description: “A rule that changes a tag based on surrounding context”?</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lexical entry</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finite-automata</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most frequent tag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transformation rule</a:t>
            </a:r>
          </a:p>
        </p:txBody>
      </p:sp>
      <p:sp>
        <p:nvSpPr>
          <p:cNvPr id="22" name="Rounded Rectangle 21"/>
          <p:cNvSpPr/>
          <p:nvPr/>
        </p:nvSpPr>
        <p:spPr>
          <a:xfrm>
            <a:off x="457200" y="5380329"/>
            <a:ext cx="11274552" cy="1020470"/>
          </a:xfrm>
          <a:prstGeom prst="roundRect">
            <a:avLst>
              <a:gd name="adj" fmla="val 1200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transformation rule: A rule that changes a tag based on surrounding context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Before applying rules, the tagger assigns each word its most likely tag from a corpus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46 / 52</a:t>
            </a:r>
          </a:p>
        </p:txBody>
      </p:sp>
      <p:sp>
        <p:nvSpPr>
          <p:cNvPr id="8" name="Rounded Rectangle 7"/>
          <p:cNvSpPr/>
          <p:nvPr/>
        </p:nvSpPr>
        <p:spPr>
          <a:xfrm>
            <a:off x="457200" y="1298448"/>
            <a:ext cx="11274552" cy="806710"/>
          </a:xfrm>
          <a:prstGeom prst="roundRect">
            <a:avLst>
              <a:gd name="adj" fmla="val 6120"/>
            </a:avLst>
          </a:prstGeom>
          <a:solidFill>
            <a:srgbClr val="D1E4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353312"/>
            <a:ext cx="2958442" cy="696982"/>
          </a:xfrm>
          <a:prstGeom prst="rect">
            <a:avLst/>
          </a:prstGeom>
          <a:noFill/>
        </p:spPr>
        <p:txBody>
          <a:bodyPr wrap="square" anchor="ctr" lIns="0" tIns="0" rIns="0" bIns="0">
            <a:spAutoFit/>
          </a:bodyPr>
          <a:lstStyle/>
          <a:p>
            <a:pPr algn="l"/>
            <a:r>
              <a:rPr sz="2400" b="1">
                <a:solidFill>
                  <a:srgbClr val="101424"/>
                </a:solidFill>
                <a:latin typeface="Bebas Neue"/>
              </a:rPr>
              <a:t>Before the rules</a:t>
            </a:r>
          </a:p>
        </p:txBody>
      </p:sp>
      <p:sp>
        <p:nvSpPr>
          <p:cNvPr id="10" name="TextBox 9"/>
          <p:cNvSpPr txBox="1"/>
          <p:nvPr/>
        </p:nvSpPr>
        <p:spPr>
          <a:xfrm>
            <a:off x="3817978" y="1353312"/>
            <a:ext cx="7712605" cy="696982"/>
          </a:xfrm>
          <a:prstGeom prst="rect">
            <a:avLst/>
          </a:prstGeom>
          <a:noFill/>
        </p:spPr>
        <p:txBody>
          <a:bodyPr wrap="square" anchor="ctr" lIns="0" tIns="0" rIns="0" bIns="0">
            <a:spAutoFit/>
          </a:bodyPr>
          <a:lstStyle/>
          <a:p>
            <a:pPr algn="l"/>
            <a:r>
              <a:rPr sz="1350" b="0">
                <a:solidFill>
                  <a:srgbClr val="101424"/>
                </a:solidFill>
                <a:latin typeface="Inter"/>
              </a:rPr>
              <a:t>Before the rules apply, the tagger labels every word with its most-likely tag</a:t>
            </a:r>
          </a:p>
        </p:txBody>
      </p:sp>
      <p:sp>
        <p:nvSpPr>
          <p:cNvPr id="11" name="Rounded Rectangle 10"/>
          <p:cNvSpPr/>
          <p:nvPr/>
        </p:nvSpPr>
        <p:spPr>
          <a:xfrm>
            <a:off x="964554" y="2225859"/>
            <a:ext cx="10259842" cy="806710"/>
          </a:xfrm>
          <a:prstGeom prst="roundRect">
            <a:avLst>
              <a:gd name="adj" fmla="val 6120"/>
            </a:avLst>
          </a:prstGeom>
          <a:solidFill>
            <a:srgbClr val="76B0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5722" y="2280723"/>
            <a:ext cx="2958442" cy="696982"/>
          </a:xfrm>
          <a:prstGeom prst="rect">
            <a:avLst/>
          </a:prstGeom>
          <a:noFill/>
        </p:spPr>
        <p:txBody>
          <a:bodyPr wrap="square" anchor="ctr" lIns="0" tIns="0" rIns="0" bIns="0">
            <a:spAutoFit/>
          </a:bodyPr>
          <a:lstStyle/>
          <a:p>
            <a:pPr algn="l"/>
            <a:r>
              <a:rPr sz="2400" b="1">
                <a:solidFill>
                  <a:srgbClr val="101424"/>
                </a:solidFill>
                <a:latin typeface="Bebas Neue"/>
              </a:rPr>
              <a:t>We</a:t>
            </a:r>
          </a:p>
        </p:txBody>
      </p:sp>
      <p:sp>
        <p:nvSpPr>
          <p:cNvPr id="13" name="TextBox 12"/>
          <p:cNvSpPr txBox="1"/>
          <p:nvPr/>
        </p:nvSpPr>
        <p:spPr>
          <a:xfrm>
            <a:off x="4325333" y="2280723"/>
            <a:ext cx="6697895" cy="696982"/>
          </a:xfrm>
          <a:prstGeom prst="rect">
            <a:avLst/>
          </a:prstGeom>
          <a:noFill/>
        </p:spPr>
        <p:txBody>
          <a:bodyPr wrap="square" anchor="ctr" lIns="0" tIns="0" rIns="0" bIns="0">
            <a:spAutoFit/>
          </a:bodyPr>
          <a:lstStyle/>
          <a:p>
            <a:pPr algn="l"/>
            <a:r>
              <a:rPr sz="1350" b="0">
                <a:solidFill>
                  <a:srgbClr val="101424"/>
                </a:solidFill>
                <a:latin typeface="Inter"/>
              </a:rPr>
              <a:t>We get these most-likely tags from a tagged corpus</a:t>
            </a:r>
          </a:p>
        </p:txBody>
      </p:sp>
      <p:sp>
        <p:nvSpPr>
          <p:cNvPr id="14" name="Rounded Rectangle 13"/>
          <p:cNvSpPr/>
          <p:nvPr/>
        </p:nvSpPr>
        <p:spPr>
          <a:xfrm>
            <a:off x="1471909" y="3153270"/>
            <a:ext cx="9245132" cy="806710"/>
          </a:xfrm>
          <a:prstGeom prst="roundRect">
            <a:avLst>
              <a:gd name="adj" fmla="val 6120"/>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73077" y="3208134"/>
            <a:ext cx="2958442" cy="696982"/>
          </a:xfrm>
          <a:prstGeom prst="rect">
            <a:avLst/>
          </a:prstGeom>
          <a:noFill/>
        </p:spPr>
        <p:txBody>
          <a:bodyPr wrap="square" anchor="ctr" lIns="0" tIns="0" rIns="0" bIns="0">
            <a:spAutoFit/>
          </a:bodyPr>
          <a:lstStyle/>
          <a:p>
            <a:pPr algn="l"/>
            <a:r>
              <a:rPr sz="2400" b="1">
                <a:solidFill>
                  <a:srgbClr val="FFFFFF"/>
                </a:solidFill>
                <a:latin typeface="Bebas Neue"/>
              </a:rPr>
              <a:t>For example</a:t>
            </a:r>
          </a:p>
        </p:txBody>
      </p:sp>
      <p:sp>
        <p:nvSpPr>
          <p:cNvPr id="16" name="TextBox 15"/>
          <p:cNvSpPr txBox="1"/>
          <p:nvPr/>
        </p:nvSpPr>
        <p:spPr>
          <a:xfrm>
            <a:off x="4832688" y="3208134"/>
            <a:ext cx="5683186" cy="696982"/>
          </a:xfrm>
          <a:prstGeom prst="rect">
            <a:avLst/>
          </a:prstGeom>
          <a:noFill/>
        </p:spPr>
        <p:txBody>
          <a:bodyPr wrap="square" anchor="ctr" lIns="0" tIns="0" rIns="0" bIns="0">
            <a:spAutoFit/>
          </a:bodyPr>
          <a:lstStyle/>
          <a:p>
            <a:pPr algn="l"/>
            <a:r>
              <a:rPr sz="1350" b="0">
                <a:solidFill>
                  <a:srgbClr val="FFFFFF"/>
                </a:solidFill>
                <a:latin typeface="Inter"/>
              </a:rPr>
              <a:t>For example, in the Brown corpus, race is most likely to be a noun race/NN is incorrect in above sentence race/NN is correctly tagged in above sentence</a:t>
            </a:r>
          </a:p>
        </p:txBody>
      </p:sp>
      <p:sp>
        <p:nvSpPr>
          <p:cNvPr id="17" name="Rounded Rectangle 16"/>
          <p:cNvSpPr/>
          <p:nvPr/>
        </p:nvSpPr>
        <p:spPr>
          <a:xfrm>
            <a:off x="457200" y="4161149"/>
            <a:ext cx="11274552" cy="112408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161149"/>
            <a:ext cx="73152" cy="112408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1C7C73"/>
                </a:solidFill>
                <a:latin typeface="Bebas Neue"/>
              </a:rPr>
              <a:t>IN PLAIN WORDS</a:t>
            </a:r>
          </a:p>
          <a:p>
            <a:pPr algn="l">
              <a:spcBef>
                <a:spcPts val="300"/>
              </a:spcBef>
            </a:pPr>
            <a:r>
              <a:rPr sz="1400" b="0">
                <a:solidFill>
                  <a:srgbClr val="111111"/>
                </a:solidFill>
                <a:latin typeface="Inter"/>
              </a:rPr>
              <a:t>The tagger first labels every word with the tag that appears most often in a labeled corpus, such as the Brown corpus. For instance, "race" is usually tagged as a noun, but in the sentence "race/NN is incorrect" it should be a verb. This initial labeling sets the stage for rule corrections.</a:t>
            </a:r>
          </a:p>
        </p:txBody>
      </p:sp>
      <p:sp>
        <p:nvSpPr>
          <p:cNvPr id="20" name="Rounded Rectangle 19"/>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50">
                <a:solidFill>
                  <a:srgbClr val="1C7C73"/>
                </a:solidFill>
                <a:latin typeface="Bebas Neue"/>
              </a:rPr>
              <a:t>Key takeaway:  </a:t>
            </a:r>
            <a:r>
              <a:rPr sz="1250" b="0">
                <a:solidFill>
                  <a:srgbClr val="111111"/>
                </a:solidFill>
                <a:latin typeface="Inter"/>
              </a:rPr>
              <a:t>Taggers rely on a tagged corpus to assign every word its most likely tag before applying correction rules.</a:t>
            </a:r>
          </a:p>
          <a:p>
            <a:pPr algn="l"/>
            <a:r>
              <a:rPr b="1" sz="1250">
                <a:solidFill>
                  <a:srgbClr val="1C7C73"/>
                </a:solidFill>
                <a:latin typeface="Bebas Neue"/>
              </a:rPr>
              <a:t>Key terms:  </a:t>
            </a:r>
            <a:r>
              <a:rPr sz="1250" b="0">
                <a:solidFill>
                  <a:srgbClr val="111111"/>
                </a:solidFill>
                <a:latin typeface="Inter"/>
              </a:rPr>
              <a:t>Brown corpus — 1 million word collection of samples from 500 written texts from different genres which was assembled at Brown University in…  ·  most likely tag — The tag with the highest frequency for a word in training data</a:t>
            </a:r>
          </a:p>
        </p:txBody>
      </p:sp>
      <p:sp>
        <p:nvSpPr>
          <p:cNvPr id="21" name="Rectangle 20"/>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Taggers - Transformation Based Tagger (4/6)</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47 / 52</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Is</a:t>
                      </a:r>
                    </a:p>
                  </a:txBody>
                  <a:tcPr marL="146304" marR="146304" anchor="ctr">
                    <a:solidFill>
                      <a:srgbClr val="1C7C73"/>
                    </a:solidFill>
                  </a:tcPr>
                </a:tc>
                <a:tc>
                  <a:txBody>
                    <a:bodyPr/>
                    <a:lstStyle/>
                    <a:p>
                      <a:pPr algn="l"/>
                      <a:r>
                        <a:rPr sz="2000" b="1">
                          <a:solidFill>
                            <a:srgbClr val="FFFFFF"/>
                          </a:solidFill>
                          <a:latin typeface="Bebas Neue"/>
                        </a:rPr>
                        <a:t>expected</a:t>
                      </a:r>
                    </a:p>
                  </a:txBody>
                  <a:tcPr marL="146304" marR="146304" anchor="ctr">
                    <a:solidFill>
                      <a:srgbClr val="1C7C73"/>
                    </a:solidFill>
                  </a:tcPr>
                </a:tc>
                <a:tc>
                  <a:txBody>
                    <a:bodyPr/>
                    <a:lstStyle/>
                    <a:p>
                      <a:pPr algn="l"/>
                      <a:r>
                        <a:rPr sz="2000" b="1">
                          <a:solidFill>
                            <a:srgbClr val="FFFFFF"/>
                          </a:solidFill>
                          <a:latin typeface="Bebas Neue"/>
                        </a:rPr>
                        <a:t>to</a:t>
                      </a:r>
                    </a:p>
                  </a:txBody>
                  <a:tcPr marL="146304" marR="146304" anchor="ctr">
                    <a:solidFill>
                      <a:srgbClr val="1C7C73"/>
                    </a:solidFill>
                  </a:tcPr>
                </a:tc>
                <a:tc>
                  <a:txBody>
                    <a:bodyPr/>
                    <a:lstStyle/>
                    <a:p>
                      <a:pPr algn="l"/>
                      <a:r>
                        <a:rPr sz="2000" b="1">
                          <a:solidFill>
                            <a:srgbClr val="FFFFFF"/>
                          </a:solidFill>
                          <a:latin typeface="Bebas Neue"/>
                        </a:rPr>
                        <a:t>race</a:t>
                      </a:r>
                    </a:p>
                  </a:txBody>
                  <a:tcPr marL="146304" marR="146304" anchor="ctr">
                    <a:solidFill>
                      <a:srgbClr val="1C7C73"/>
                    </a:solidFill>
                  </a:tcPr>
                </a:tc>
                <a:tc>
                  <a:txBody>
                    <a:bodyPr/>
                    <a:lstStyle/>
                    <a:p>
                      <a:pPr algn="l"/>
                      <a:r>
                        <a:rPr sz="2000" b="1">
                          <a:solidFill>
                            <a:srgbClr val="FFFFFF"/>
                          </a:solidFill>
                          <a:latin typeface="Bebas Neue"/>
                        </a:rPr>
                        <a:t>tomorrow</a:t>
                      </a:r>
                    </a:p>
                  </a:txBody>
                  <a:tcPr marL="146304" marR="146304" anchor="ctr">
                    <a:solidFill>
                      <a:srgbClr val="1C7C73"/>
                    </a:solidFill>
                  </a:tcPr>
                </a:tc>
              </a:tr>
              <a:tr h="1051560">
                <a:tc>
                  <a:txBody>
                    <a:bodyPr/>
                    <a:lstStyle/>
                    <a:p>
                      <a:pPr algn="l"/>
                      <a:r>
                        <a:rPr sz="2000" b="1">
                          <a:solidFill>
                            <a:srgbClr val="1C7C73"/>
                          </a:solidFill>
                          <a:latin typeface="Bebas Neue"/>
                        </a:rPr>
                        <a:t>VBZ</a:t>
                      </a:r>
                    </a:p>
                  </a:txBody>
                  <a:tcPr marL="146304" marR="146304" anchor="ctr">
                    <a:solidFill>
                      <a:srgbClr val="F5F6F8"/>
                    </a:solidFill>
                  </a:tcPr>
                </a:tc>
                <a:tc>
                  <a:txBody>
                    <a:bodyPr/>
                    <a:lstStyle/>
                    <a:p>
                      <a:pPr algn="l"/>
                      <a:r>
                        <a:rPr sz="2000" b="0">
                          <a:solidFill>
                            <a:srgbClr val="111111"/>
                          </a:solidFill>
                          <a:latin typeface="Inter"/>
                        </a:rPr>
                        <a:t>VBN</a:t>
                      </a:r>
                    </a:p>
                  </a:txBody>
                  <a:tcPr marL="146304" marR="146304" anchor="ctr">
                    <a:solidFill>
                      <a:srgbClr val="F5F6F8"/>
                    </a:solidFill>
                  </a:tcPr>
                </a:tc>
                <a:tc>
                  <a:txBody>
                    <a:bodyPr/>
                    <a:lstStyle/>
                    <a:p>
                      <a:pPr algn="l"/>
                      <a:r>
                        <a:rPr sz="2000" b="0">
                          <a:solidFill>
                            <a:srgbClr val="111111"/>
                          </a:solidFill>
                          <a:latin typeface="Inter"/>
                        </a:rPr>
                        <a:t>TO</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Words like 'race' may be incorrectly tagged as nouns by initial frequency-based methods in a sentence.</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Taggers - Transformation Based Tagger (4/6)</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48 / 52</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The</a:t>
                      </a:r>
                    </a:p>
                  </a:txBody>
                  <a:tcPr marL="146304" marR="146304" anchor="ctr">
                    <a:solidFill>
                      <a:srgbClr val="1C7C73"/>
                    </a:solidFill>
                  </a:tcPr>
                </a:tc>
                <a:tc>
                  <a:txBody>
                    <a:bodyPr/>
                    <a:lstStyle/>
                    <a:p>
                      <a:pPr algn="l"/>
                      <a:r>
                        <a:rPr sz="2000" b="1">
                          <a:solidFill>
                            <a:srgbClr val="FFFFFF"/>
                          </a:solidFill>
                          <a:latin typeface="Bebas Neue"/>
                        </a:rPr>
                        <a:t>Race</a:t>
                      </a:r>
                    </a:p>
                  </a:txBody>
                  <a:tcPr marL="146304" marR="146304" anchor="ctr">
                    <a:solidFill>
                      <a:srgbClr val="1C7C73"/>
                    </a:solidFill>
                  </a:tcPr>
                </a:tc>
                <a:tc>
                  <a:txBody>
                    <a:bodyPr/>
                    <a:lstStyle/>
                    <a:p>
                      <a:pPr algn="l"/>
                      <a:r>
                        <a:rPr sz="2000" b="1">
                          <a:solidFill>
                            <a:srgbClr val="FFFFFF"/>
                          </a:solidFill>
                          <a:latin typeface="Bebas Neue"/>
                        </a:rPr>
                        <a:t>for</a:t>
                      </a:r>
                    </a:p>
                  </a:txBody>
                  <a:tcPr marL="146304" marR="146304" anchor="ctr">
                    <a:solidFill>
                      <a:srgbClr val="1C7C73"/>
                    </a:solidFill>
                  </a:tcPr>
                </a:tc>
                <a:tc>
                  <a:txBody>
                    <a:bodyPr/>
                    <a:lstStyle/>
                    <a:p>
                      <a:pPr algn="l"/>
                      <a:r>
                        <a:rPr sz="2000" b="1">
                          <a:solidFill>
                            <a:srgbClr val="FFFFFF"/>
                          </a:solidFill>
                          <a:latin typeface="Bebas Neue"/>
                        </a:rPr>
                        <a:t>outer</a:t>
                      </a:r>
                    </a:p>
                  </a:txBody>
                  <a:tcPr marL="146304" marR="146304" anchor="ctr">
                    <a:solidFill>
                      <a:srgbClr val="1C7C73"/>
                    </a:solidFill>
                  </a:tcPr>
                </a:tc>
                <a:tc>
                  <a:txBody>
                    <a:bodyPr/>
                    <a:lstStyle/>
                    <a:p>
                      <a:pPr algn="l"/>
                      <a:r>
                        <a:rPr sz="2000" b="1">
                          <a:solidFill>
                            <a:srgbClr val="FFFFFF"/>
                          </a:solidFill>
                          <a:latin typeface="Bebas Neue"/>
                        </a:rPr>
                        <a:t>space</a:t>
                      </a:r>
                    </a:p>
                  </a:txBody>
                  <a:tcPr marL="146304" marR="146304" anchor="ctr">
                    <a:solidFill>
                      <a:srgbClr val="1C7C73"/>
                    </a:solidFill>
                  </a:tcPr>
                </a:tc>
              </a:tr>
              <a:tr h="1051560">
                <a:tc>
                  <a:txBody>
                    <a:bodyPr/>
                    <a:lstStyle/>
                    <a:p>
                      <a:pPr algn="l"/>
                      <a:r>
                        <a:rPr sz="2000" b="1">
                          <a:solidFill>
                            <a:srgbClr val="1C7C73"/>
                          </a:solidFill>
                          <a:latin typeface="Bebas Neue"/>
                        </a:rPr>
                        <a:t>DET</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c>
                  <a:txBody>
                    <a:bodyPr/>
                    <a:lstStyle/>
                    <a:p>
                      <a:pPr algn="l"/>
                      <a:r>
                        <a:rPr sz="2000" b="0">
                          <a:solidFill>
                            <a:srgbClr val="111111"/>
                          </a:solidFill>
                          <a:latin typeface="Inter"/>
                        </a:rPr>
                        <a:t>IN</a:t>
                      </a:r>
                    </a:p>
                  </a:txBody>
                  <a:tcPr marL="146304" marR="146304" anchor="ctr">
                    <a:solidFill>
                      <a:srgbClr val="F5F6F8"/>
                    </a:solidFill>
                  </a:tcPr>
                </a:tc>
                <a:tc>
                  <a:txBody>
                    <a:bodyPr/>
                    <a:lstStyle/>
                    <a:p>
                      <a:pPr algn="l"/>
                      <a:r>
                        <a:rPr sz="2000" b="0">
                          <a:solidFill>
                            <a:srgbClr val="111111"/>
                          </a:solidFill>
                          <a:latin typeface="Inter"/>
                        </a:rPr>
                        <a:t>JJ</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Sentences contain multiple POS tags such as determiners, nouns, prepositions, and adjectives.</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POS Taggers - Transformation Based Tagger (5/6)</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49 / 52</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Is</a:t>
                      </a:r>
                    </a:p>
                  </a:txBody>
                  <a:tcPr marL="146304" marR="146304" anchor="ctr">
                    <a:solidFill>
                      <a:srgbClr val="1C7C73"/>
                    </a:solidFill>
                  </a:tcPr>
                </a:tc>
                <a:tc>
                  <a:txBody>
                    <a:bodyPr/>
                    <a:lstStyle/>
                    <a:p>
                      <a:pPr algn="l"/>
                      <a:r>
                        <a:rPr sz="2000" b="1">
                          <a:solidFill>
                            <a:srgbClr val="FFFFFF"/>
                          </a:solidFill>
                          <a:latin typeface="Bebas Neue"/>
                        </a:rPr>
                        <a:t>expected</a:t>
                      </a:r>
                    </a:p>
                  </a:txBody>
                  <a:tcPr marL="146304" marR="146304" anchor="ctr">
                    <a:solidFill>
                      <a:srgbClr val="1C7C73"/>
                    </a:solidFill>
                  </a:tcPr>
                </a:tc>
                <a:tc>
                  <a:txBody>
                    <a:bodyPr/>
                    <a:lstStyle/>
                    <a:p>
                      <a:pPr algn="l"/>
                      <a:r>
                        <a:rPr sz="2000" b="1">
                          <a:solidFill>
                            <a:srgbClr val="FFFFFF"/>
                          </a:solidFill>
                          <a:latin typeface="Bebas Neue"/>
                        </a:rPr>
                        <a:t>to</a:t>
                      </a:r>
                    </a:p>
                  </a:txBody>
                  <a:tcPr marL="146304" marR="146304" anchor="ctr">
                    <a:solidFill>
                      <a:srgbClr val="1C7C73"/>
                    </a:solidFill>
                  </a:tcPr>
                </a:tc>
                <a:tc>
                  <a:txBody>
                    <a:bodyPr/>
                    <a:lstStyle/>
                    <a:p>
                      <a:pPr algn="l"/>
                      <a:r>
                        <a:rPr sz="2000" b="1">
                          <a:solidFill>
                            <a:srgbClr val="FFFFFF"/>
                          </a:solidFill>
                          <a:latin typeface="Bebas Neue"/>
                        </a:rPr>
                        <a:t>race</a:t>
                      </a:r>
                    </a:p>
                  </a:txBody>
                  <a:tcPr marL="146304" marR="146304" anchor="ctr">
                    <a:solidFill>
                      <a:srgbClr val="1C7C73"/>
                    </a:solidFill>
                  </a:tcPr>
                </a:tc>
                <a:tc>
                  <a:txBody>
                    <a:bodyPr/>
                    <a:lstStyle/>
                    <a:p>
                      <a:pPr algn="l"/>
                      <a:r>
                        <a:rPr sz="2000" b="1">
                          <a:solidFill>
                            <a:srgbClr val="FFFFFF"/>
                          </a:solidFill>
                          <a:latin typeface="Bebas Neue"/>
                        </a:rPr>
                        <a:t>tomorrow</a:t>
                      </a:r>
                    </a:p>
                  </a:txBody>
                  <a:tcPr marL="146304" marR="146304" anchor="ctr">
                    <a:solidFill>
                      <a:srgbClr val="1C7C73"/>
                    </a:solidFill>
                  </a:tcPr>
                </a:tc>
              </a:tr>
              <a:tr h="1051560">
                <a:tc>
                  <a:txBody>
                    <a:bodyPr/>
                    <a:lstStyle/>
                    <a:p>
                      <a:pPr algn="l"/>
                      <a:r>
                        <a:rPr sz="2000" b="1">
                          <a:solidFill>
                            <a:srgbClr val="1C7C73"/>
                          </a:solidFill>
                          <a:latin typeface="Bebas Neue"/>
                        </a:rPr>
                        <a:t>VBZ</a:t>
                      </a:r>
                    </a:p>
                  </a:txBody>
                  <a:tcPr marL="146304" marR="146304" anchor="ctr">
                    <a:solidFill>
                      <a:srgbClr val="F5F6F8"/>
                    </a:solidFill>
                  </a:tcPr>
                </a:tc>
                <a:tc>
                  <a:txBody>
                    <a:bodyPr/>
                    <a:lstStyle/>
                    <a:p>
                      <a:pPr algn="l"/>
                      <a:r>
                        <a:rPr sz="2000" b="0">
                          <a:solidFill>
                            <a:srgbClr val="111111"/>
                          </a:solidFill>
                          <a:latin typeface="Inter"/>
                        </a:rPr>
                        <a:t>VBN</a:t>
                      </a:r>
                    </a:p>
                  </a:txBody>
                  <a:tcPr marL="146304" marR="146304" anchor="ctr">
                    <a:solidFill>
                      <a:srgbClr val="F5F6F8"/>
                    </a:solidFill>
                  </a:tcPr>
                </a:tc>
                <a:tc>
                  <a:txBody>
                    <a:bodyPr/>
                    <a:lstStyle/>
                    <a:p>
                      <a:pPr algn="l"/>
                      <a:r>
                        <a:rPr sz="2000" b="0">
                          <a:solidFill>
                            <a:srgbClr val="111111"/>
                          </a:solidFill>
                          <a:latin typeface="Inter"/>
                        </a:rPr>
                        <a:t>TO</a:t>
                      </a:r>
                    </a:p>
                  </a:txBody>
                  <a:tcPr marL="146304" marR="146304" anchor="ctr">
                    <a:solidFill>
                      <a:srgbClr val="F5F6F8"/>
                    </a:solidFill>
                  </a:tcPr>
                </a:tc>
                <a:tc>
                  <a:txBody>
                    <a:bodyPr/>
                    <a:lstStyle/>
                    <a:p>
                      <a:pPr algn="l"/>
                      <a:r>
                        <a:rPr sz="2000" b="0">
                          <a:solidFill>
                            <a:srgbClr val="111111"/>
                          </a:solidFill>
                          <a:latin typeface="Inter"/>
                        </a:rPr>
                        <a:t>VB</a:t>
                      </a:r>
                    </a:p>
                  </a:txBody>
                  <a:tcPr marL="146304" marR="146304" anchor="ctr">
                    <a:solidFill>
                      <a:srgbClr val="F5F6F8"/>
                    </a:solidFill>
                  </a:tcPr>
                </a:tc>
                <a:tc>
                  <a:txBody>
                    <a:bodyPr/>
                    <a:lstStyle/>
                    <a:p>
                      <a:pPr algn="l"/>
                      <a:r>
                        <a:rPr sz="2000" b="0">
                          <a:solidFill>
                            <a:srgbClr val="111111"/>
                          </a:solidFill>
                          <a:latin typeface="Inter"/>
                        </a:rPr>
                        <a:t>NN</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Brill's tagger applies transformation rules, such as changing NN to VB when preceded by TO.</a:t>
            </a:r>
          </a:p>
        </p:txBody>
      </p:sp>
      <p:sp>
        <p:nvSpPr>
          <p:cNvPr id="10" name="Rectangle 9"/>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00" b="1">
                <a:solidFill>
                  <a:srgbClr val="FFFFFF"/>
                </a:solidFill>
              </a:defRPr>
            </a:pPr>
            <a:r>
              <a:rPr>
                <a:latin typeface="Bebas Neue"/>
              </a:rPr>
              <a:t>POS Taggers - Transformation Based Tagger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50 / 52</a:t>
            </a:r>
          </a:p>
        </p:txBody>
      </p:sp>
      <p:sp>
        <p:nvSpPr>
          <p:cNvPr id="7" name="Rounded Rectangle 6"/>
          <p:cNvSpPr/>
          <p:nvPr/>
        </p:nvSpPr>
        <p:spPr>
          <a:xfrm>
            <a:off x="457199" y="2103476"/>
            <a:ext cx="11274552" cy="3492294"/>
          </a:xfrm>
          <a:prstGeom prst="roundRect">
            <a:avLst>
              <a:gd name="adj" fmla="val 3000"/>
            </a:avLst>
          </a:prstGeom>
          <a:solidFill>
            <a:srgbClr val="FFFFFF"/>
          </a:solidFill>
          <a:ln w="12700">
            <a:solidFill>
              <a:srgbClr val="A4CA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2268068"/>
            <a:ext cx="10945368" cy="3163110"/>
          </a:xfrm>
          <a:prstGeom prst="rect">
            <a:avLst/>
          </a:prstGeom>
        </p:spPr>
      </p:pic>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Glossary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51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787915"/>
          </a:xfrm>
          <a:prstGeom prst="rect">
            <a:avLst/>
          </a:prstGeom>
          <a:noFill/>
        </p:spPr>
        <p:txBody>
          <a:bodyPr wrap="square" anchor="t" lIns="0" tIns="0" rIns="0" bIns="0">
            <a:spAutoFit/>
          </a:bodyPr>
          <a:lstStyle/>
          <a:p>
            <a:pPr algn="l"/>
            <a:r>
              <a:rPr sz="1680" b="1">
                <a:solidFill>
                  <a:srgbClr val="1C7C73"/>
                </a:solidFill>
                <a:latin typeface="Bebas Neue"/>
              </a:rPr>
              <a:t>Brown corpus</a:t>
            </a:r>
          </a:p>
          <a:p>
            <a:pPr algn="l">
              <a:spcBef>
                <a:spcPts val="500"/>
              </a:spcBef>
            </a:pPr>
            <a:r>
              <a:rPr sz="1400" b="0">
                <a:solidFill>
                  <a:srgbClr val="111111"/>
                </a:solidFill>
                <a:latin typeface="Inter"/>
              </a:rPr>
              <a:t>1 million word collection of samples from 500 written texts from different genres which was assembled at Brown University in…</a:t>
            </a:r>
          </a:p>
        </p:txBody>
      </p:sp>
      <p:sp>
        <p:nvSpPr>
          <p:cNvPr id="12" name="Rounded Rectangle 11"/>
          <p:cNvSpPr/>
          <p:nvPr/>
        </p:nvSpPr>
        <p:spPr>
          <a:xfrm>
            <a:off x="3152241"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787915"/>
          </a:xfrm>
          <a:prstGeom prst="rect">
            <a:avLst/>
          </a:prstGeom>
          <a:noFill/>
        </p:spPr>
        <p:txBody>
          <a:bodyPr wrap="square" anchor="t" lIns="0" tIns="0" rIns="0" bIns="0">
            <a:spAutoFit/>
          </a:bodyPr>
          <a:lstStyle/>
          <a:p>
            <a:pPr algn="l"/>
            <a:r>
              <a:rPr sz="1680" b="1">
                <a:solidFill>
                  <a:srgbClr val="1C7C73"/>
                </a:solidFill>
                <a:latin typeface="Bebas Neue"/>
              </a:rPr>
              <a:t>Taggit</a:t>
            </a:r>
          </a:p>
          <a:p>
            <a:pPr algn="l">
              <a:spcBef>
                <a:spcPts val="500"/>
              </a:spcBef>
            </a:pPr>
            <a:r>
              <a:rPr sz="1400" b="0">
                <a:solidFill>
                  <a:srgbClr val="111111"/>
                </a:solidFill>
                <a:latin typeface="Inter"/>
              </a:rPr>
              <a:t>first large rule-based tagger that used context-pattern rules</a:t>
            </a:r>
          </a:p>
        </p:txBody>
      </p:sp>
      <p:sp>
        <p:nvSpPr>
          <p:cNvPr id="16" name="Rounded Rectangle 15"/>
          <p:cNvSpPr/>
          <p:nvPr/>
        </p:nvSpPr>
        <p:spPr>
          <a:xfrm>
            <a:off x="5847283" y="1298448"/>
            <a:ext cx="2493873" cy="2903483"/>
          </a:xfrm>
          <a:prstGeom prst="roundRect">
            <a:avLst>
              <a:gd name="adj" fmla="val 5646"/>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787915"/>
          </a:xfrm>
          <a:prstGeom prst="rect">
            <a:avLst/>
          </a:prstGeom>
          <a:noFill/>
        </p:spPr>
        <p:txBody>
          <a:bodyPr wrap="square" anchor="t" lIns="0" tIns="0" rIns="0" bIns="0">
            <a:spAutoFit/>
          </a:bodyPr>
          <a:lstStyle/>
          <a:p>
            <a:pPr algn="l"/>
            <a:r>
              <a:rPr sz="1680" b="1">
                <a:solidFill>
                  <a:srgbClr val="1C7C73"/>
                </a:solidFill>
                <a:latin typeface="Bebas Neue"/>
              </a:rPr>
              <a:t>The output</a:t>
            </a:r>
          </a:p>
          <a:p>
            <a:pPr algn="l">
              <a:spcBef>
                <a:spcPts val="500"/>
              </a:spcBef>
            </a:pPr>
            <a:r>
              <a:rPr sz="1400" b="0">
                <a:solidFill>
                  <a:srgbClr val="111111"/>
                </a:solidFill>
                <a:latin typeface="Inter"/>
              </a:rPr>
              <a:t>single best tag for each word</a:t>
            </a:r>
          </a:p>
        </p:txBody>
      </p:sp>
      <p:sp>
        <p:nvSpPr>
          <p:cNvPr id="20" name="Rounded Rectangle 19"/>
          <p:cNvSpPr/>
          <p:nvPr/>
        </p:nvSpPr>
        <p:spPr>
          <a:xfrm>
            <a:off x="457200" y="4403099"/>
            <a:ext cx="7883956" cy="882132"/>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403099"/>
            <a:ext cx="73152" cy="882132"/>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rule-based part-of-speech tagg: oldest approach that uses hand written rules for tagging</a:t>
            </a:r>
          </a:p>
        </p:txBody>
      </p:sp>
      <p:sp>
        <p:nvSpPr>
          <p:cNvPr id="23" name="Rounded Rectangle 22"/>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The Brown corpus contains one million words from 500 written texts assembled at Brown University.</a:t>
            </a:r>
          </a:p>
        </p:txBody>
      </p:sp>
      <p:sp>
        <p:nvSpPr>
          <p:cNvPr id="24" name="Rectangle 23"/>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BF0"/>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C7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52 / 52</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109207"/>
          </a:xfrm>
          <a:prstGeom prst="roundRect">
            <a:avLst>
              <a:gd name="adj" fmla="val 1269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69587"/>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2973"/>
            <a:ext cx="340156" cy="340156"/>
          </a:xfrm>
          <a:prstGeom prst="rect">
            <a:avLst/>
          </a:prstGeom>
        </p:spPr>
      </p:pic>
      <p:sp>
        <p:nvSpPr>
          <p:cNvPr id="11" name="TextBox 10"/>
          <p:cNvSpPr txBox="1"/>
          <p:nvPr/>
        </p:nvSpPr>
        <p:spPr>
          <a:xfrm>
            <a:off x="1408175" y="1371600"/>
            <a:ext cx="2689250" cy="962903"/>
          </a:xfrm>
          <a:prstGeom prst="rect">
            <a:avLst/>
          </a:prstGeom>
          <a:noFill/>
        </p:spPr>
        <p:txBody>
          <a:bodyPr wrap="square" anchor="ctr" lIns="0" tIns="0" rIns="0" bIns="0">
            <a:spAutoFit/>
          </a:bodyPr>
          <a:lstStyle/>
          <a:p>
            <a:pPr algn="l"/>
            <a:r>
              <a:rPr sz="1800" b="1">
                <a:solidFill>
                  <a:srgbClr val="1C7C73"/>
                </a:solidFill>
                <a:latin typeface="Bebas Neue"/>
              </a:rPr>
              <a:t>Content</a:t>
            </a:r>
          </a:p>
          <a:p>
            <a:pPr algn="l">
              <a:spcBef>
                <a:spcPts val="500"/>
              </a:spcBef>
            </a:pPr>
            <a:r>
              <a:rPr sz="1500" b="0">
                <a:solidFill>
                  <a:srgbClr val="111111"/>
                </a:solidFill>
                <a:latin typeface="Inter"/>
              </a:rPr>
              <a:t>Part-Of-Speech tagging (POS)</a:t>
            </a:r>
          </a:p>
        </p:txBody>
      </p:sp>
      <p:sp>
        <p:nvSpPr>
          <p:cNvPr id="12" name="Rounded Rectangle 11"/>
          <p:cNvSpPr/>
          <p:nvPr/>
        </p:nvSpPr>
        <p:spPr>
          <a:xfrm>
            <a:off x="4499762" y="1298448"/>
            <a:ext cx="3841394" cy="1109207"/>
          </a:xfrm>
          <a:prstGeom prst="roundRect">
            <a:avLst>
              <a:gd name="adj" fmla="val 1269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569587"/>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82973"/>
            <a:ext cx="340156" cy="340156"/>
          </a:xfrm>
          <a:prstGeom prst="rect">
            <a:avLst/>
          </a:prstGeom>
        </p:spPr>
      </p:pic>
      <p:sp>
        <p:nvSpPr>
          <p:cNvPr id="15" name="TextBox 14"/>
          <p:cNvSpPr txBox="1"/>
          <p:nvPr/>
        </p:nvSpPr>
        <p:spPr>
          <a:xfrm>
            <a:off x="5450738" y="1371600"/>
            <a:ext cx="2689250" cy="962903"/>
          </a:xfrm>
          <a:prstGeom prst="rect">
            <a:avLst/>
          </a:prstGeom>
          <a:noFill/>
        </p:spPr>
        <p:txBody>
          <a:bodyPr wrap="square" anchor="ctr" lIns="0" tIns="0" rIns="0" bIns="0">
            <a:spAutoFit/>
          </a:bodyPr>
          <a:lstStyle/>
          <a:p>
            <a:pPr algn="l"/>
            <a:r>
              <a:rPr sz="1800" b="1">
                <a:solidFill>
                  <a:srgbClr val="1C7C73"/>
                </a:solidFill>
                <a:latin typeface="Bebas Neue"/>
              </a:rPr>
              <a:t>Tag set for English</a:t>
            </a:r>
          </a:p>
          <a:p>
            <a:pPr algn="l">
              <a:spcBef>
                <a:spcPts val="500"/>
              </a:spcBef>
            </a:pPr>
            <a:r>
              <a:rPr sz="1500" b="0">
                <a:solidFill>
                  <a:srgbClr val="111111"/>
                </a:solidFill>
                <a:latin typeface="Inter"/>
              </a:rPr>
              <a:t>Noun Types</a:t>
            </a:r>
          </a:p>
        </p:txBody>
      </p:sp>
      <p:sp>
        <p:nvSpPr>
          <p:cNvPr id="16" name="Rounded Rectangle 15"/>
          <p:cNvSpPr/>
          <p:nvPr/>
        </p:nvSpPr>
        <p:spPr>
          <a:xfrm>
            <a:off x="457200" y="2608823"/>
            <a:ext cx="3841394" cy="1109207"/>
          </a:xfrm>
          <a:prstGeom prst="roundRect">
            <a:avLst>
              <a:gd name="adj" fmla="val 1269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7996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993348"/>
            <a:ext cx="340156" cy="340156"/>
          </a:xfrm>
          <a:prstGeom prst="rect">
            <a:avLst/>
          </a:prstGeom>
        </p:spPr>
      </p:pic>
      <p:sp>
        <p:nvSpPr>
          <p:cNvPr id="19" name="TextBox 18"/>
          <p:cNvSpPr txBox="1"/>
          <p:nvPr/>
        </p:nvSpPr>
        <p:spPr>
          <a:xfrm>
            <a:off x="1408175" y="2681975"/>
            <a:ext cx="2689250" cy="962903"/>
          </a:xfrm>
          <a:prstGeom prst="rect">
            <a:avLst/>
          </a:prstGeom>
          <a:noFill/>
        </p:spPr>
        <p:txBody>
          <a:bodyPr wrap="square" anchor="ctr" lIns="0" tIns="0" rIns="0" bIns="0">
            <a:spAutoFit/>
          </a:bodyPr>
          <a:lstStyle/>
          <a:p>
            <a:pPr algn="l"/>
            <a:r>
              <a:rPr sz="1800" b="1">
                <a:solidFill>
                  <a:srgbClr val="1C7C73"/>
                </a:solidFill>
                <a:latin typeface="Bebas Neue"/>
              </a:rPr>
              <a:t>Word POS Type Explanation</a:t>
            </a:r>
          </a:p>
          <a:p>
            <a:pPr algn="l">
              <a:spcBef>
                <a:spcPts val="500"/>
              </a:spcBef>
            </a:pPr>
            <a:r>
              <a:rPr sz="1500" b="0">
                <a:solidFill>
                  <a:srgbClr val="111111"/>
                </a:solidFill>
                <a:latin typeface="Inter"/>
              </a:rPr>
              <a:t>Statement: She plays tennis</a:t>
            </a:r>
          </a:p>
        </p:txBody>
      </p:sp>
      <p:sp>
        <p:nvSpPr>
          <p:cNvPr id="20" name="Rounded Rectangle 19"/>
          <p:cNvSpPr/>
          <p:nvPr/>
        </p:nvSpPr>
        <p:spPr>
          <a:xfrm>
            <a:off x="4499762" y="2608823"/>
            <a:ext cx="3841394" cy="1109207"/>
          </a:xfrm>
          <a:prstGeom prst="roundRect">
            <a:avLst>
              <a:gd name="adj" fmla="val 12695"/>
            </a:avLst>
          </a:prstGeom>
          <a:solidFill>
            <a:srgbClr val="F5F6F8"/>
          </a:solidFill>
          <a:ln w="12700">
            <a:solidFill>
              <a:srgbClr val="BF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879963"/>
            <a:ext cx="566928" cy="566928"/>
          </a:xfrm>
          <a:prstGeom prst="ellipse">
            <a:avLst/>
          </a:prstGeom>
          <a:solidFill>
            <a:srgbClr val="DFE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993348"/>
            <a:ext cx="340156" cy="340156"/>
          </a:xfrm>
          <a:prstGeom prst="rect">
            <a:avLst/>
          </a:prstGeom>
        </p:spPr>
      </p:pic>
      <p:sp>
        <p:nvSpPr>
          <p:cNvPr id="23" name="TextBox 22"/>
          <p:cNvSpPr txBox="1"/>
          <p:nvPr/>
        </p:nvSpPr>
        <p:spPr>
          <a:xfrm>
            <a:off x="5450738" y="2681975"/>
            <a:ext cx="2689250" cy="962903"/>
          </a:xfrm>
          <a:prstGeom prst="rect">
            <a:avLst/>
          </a:prstGeom>
          <a:noFill/>
        </p:spPr>
        <p:txBody>
          <a:bodyPr wrap="square" anchor="ctr" lIns="0" tIns="0" rIns="0" bIns="0">
            <a:spAutoFit/>
          </a:bodyPr>
          <a:lstStyle/>
          <a:p>
            <a:pPr algn="l"/>
            <a:r>
              <a:rPr sz="1800" b="1">
                <a:solidFill>
                  <a:srgbClr val="1C7C73"/>
                </a:solidFill>
                <a:latin typeface="Bebas Neue"/>
              </a:rPr>
              <a:t>POS Taggers - Rule based Tagger</a:t>
            </a:r>
          </a:p>
          <a:p>
            <a:pPr algn="l">
              <a:spcBef>
                <a:spcPts val="500"/>
              </a:spcBef>
            </a:pPr>
            <a:r>
              <a:rPr sz="1500" b="0">
                <a:solidFill>
                  <a:srgbClr val="111111"/>
                </a:solidFill>
                <a:latin typeface="Inter"/>
              </a:rPr>
              <a:t>Additional POS features</a:t>
            </a:r>
          </a:p>
        </p:txBody>
      </p:sp>
      <p:sp>
        <p:nvSpPr>
          <p:cNvPr id="24" name="Rounded Rectangle 23"/>
          <p:cNvSpPr/>
          <p:nvPr/>
        </p:nvSpPr>
        <p:spPr>
          <a:xfrm>
            <a:off x="457200" y="3919198"/>
            <a:ext cx="7883956" cy="1366033"/>
          </a:xfrm>
          <a:prstGeom prst="roundRect">
            <a:avLst>
              <a:gd name="adj" fmla="val 8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19198"/>
            <a:ext cx="73152" cy="1366033"/>
          </a:xfrm>
          <a:prstGeom prst="rect">
            <a:avLst/>
          </a:prstGeom>
          <a:solidFill>
            <a:srgbClr val="F6C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1C7C73"/>
                </a:solidFill>
                <a:latin typeface="Bebas Neue"/>
              </a:rPr>
              <a:t>ALSO ON THIS SLIDE</a:t>
            </a:r>
          </a:p>
          <a:p>
            <a:pPr algn="l">
              <a:spcBef>
                <a:spcPts val="300"/>
              </a:spcBef>
            </a:pPr>
            <a:r>
              <a:rPr sz="1400" b="0">
                <a:solidFill>
                  <a:srgbClr val="111111"/>
                </a:solidFill>
                <a:latin typeface="Inter"/>
              </a:rPr>
              <a:t>Part-Of-Speech tagging (POS): Parts-of-speech can be divided into two broad supercategories: Difficulties /Challenges in POS taggin: Most words in English are unambiguous; i.e., they have only a single tag. POS Taggers - Transformation Based Tag: Transformation Based Tagging is also called as Brill Tagging</a:t>
            </a:r>
          </a:p>
        </p:txBody>
      </p:sp>
      <p:sp>
        <p:nvSpPr>
          <p:cNvPr id="27" name="Rounded Rectangle 26"/>
          <p:cNvSpPr/>
          <p:nvPr/>
        </p:nvSpPr>
        <p:spPr>
          <a:xfrm>
            <a:off x="457200" y="5486400"/>
            <a:ext cx="11274552" cy="914400"/>
          </a:xfrm>
          <a:prstGeom prst="roundRect">
            <a:avLst>
              <a:gd name="adj" fmla="val 20000"/>
            </a:avLst>
          </a:prstGeom>
          <a:solidFill>
            <a:srgbClr val="FDF2E4"/>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C7C73"/>
                </a:solidFill>
                <a:latin typeface="Bebas Neue"/>
              </a:rPr>
              <a:t>Key takeaway:  </a:t>
            </a:r>
            <a:r>
              <a:rPr sz="1600" b="1">
                <a:solidFill>
                  <a:srgbClr val="111111"/>
                </a:solidFill>
                <a:latin typeface="Bebas Neue"/>
              </a:rPr>
              <a:t>POS tagging encompasses multiple tagger types, distinct tag sets, and specific linguistic challenge resolutions.</a:t>
            </a:r>
          </a:p>
        </p:txBody>
      </p:sp>
      <p:sp>
        <p:nvSpPr>
          <p:cNvPr id="28" name="Rectangle 27"/>
          <p:cNvSpPr/>
          <p:nvPr/>
        </p:nvSpPr>
        <p:spPr>
          <a:xfrm>
            <a:off x="457200" y="5614416"/>
            <a:ext cx="82296" cy="658368"/>
          </a:xfrm>
          <a:prstGeom prst="rect">
            <a:avLst/>
          </a:prstGeom>
          <a:solidFill>
            <a:srgbClr val="F6C8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C7C73"/>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F6C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549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FFFF"/>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