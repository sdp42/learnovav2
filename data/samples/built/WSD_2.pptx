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Section 1</a:t>
            </a:r>
          </a:p>
          <a:p>
            <a:r>
              <a:t>  2. WSD</a:t>
            </a:r>
          </a:p>
          <a:p>
            <a:r>
              <a:t>  3. WSD: Lexical ambiguity</a:t>
            </a:r>
          </a:p>
          <a:p>
            <a:r>
              <a:t>  4. WSD: In first sentence</a:t>
            </a:r>
          </a:p>
          <a:p>
            <a:r>
              <a:t>  5. WSD: All-words − This kind</a:t>
            </a:r>
          </a:p>
          <a:p>
            <a:r>
              <a:t>  6. Dictionary-based or Knowledge-based Methods</a:t>
            </a:r>
          </a:p>
          <a:p>
            <a:r>
              <a:t>  7. Dictionary-based or Knowledge-based Methods: Text1 = 'I went</a:t>
            </a:r>
          </a:p>
          <a:p>
            <a:r>
              <a:t>  8. Dictionary-based or Knowledge-based Methods: Two (or more)</a:t>
            </a:r>
          </a:p>
          <a:p/>
          <a:p>
            <a:r>
              <a:t>Read these exactly (do not paraphrase):</a:t>
            </a:r>
          </a:p>
          <a:p>
            <a:r>
              <a:t>  - Agenda Section 1 WSD WSD: Lexical ambiguity WSD: In first sentence WSD: All-words − This kind Dictionary-based or Knowledge-based Methods Dictionary-based or Knowledge-based Methods: Text1 = 'I went Dictionary-based or Knowledge-based Methods: Two (or more)</a:t>
            </a:r>
          </a:p>
          <a:p/>
          <a:p>
            <a:r>
              <a:t>Pause: ask the class what they already know about “Agenda” before revealing the slide.</a:t>
            </a:r>
          </a:p>
          <a:p/>
          <a:p>
            <a:r>
              <a:t>Wording matters here — slow down, keep it precise.</a:t>
            </a:r>
          </a:p>
          <a:p/>
          <a:p>
            <a:r>
              <a:t>~68s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Corpus A corpus is a large and structured set of machine-readable texts that have been produced in a natural communicati</a:t>
            </a:r>
          </a:p>
          <a:p>
            <a:r>
              <a:t>  2. Its plural is corpora.</a:t>
            </a:r>
          </a:p>
          <a:p>
            <a:r>
              <a:t>  3. They can be derived in different ways like text that was originally electronic, transcripts of spoken language and optic</a:t>
            </a:r>
          </a:p>
          <a:p>
            <a:r>
              <a:t>  4. A corpus is an essential tool for Natural Language Processing (NLP), serving as a fundamental resource.</a:t>
            </a:r>
          </a:p>
          <a:p>
            <a:r>
              <a:t>  5. A corpus is a significant, organized collection of text or audio data that often includes a wide range of documents, tex</a:t>
            </a:r>
          </a:p>
          <a:p/>
          <a:p>
            <a:r>
              <a:t>Read these exactly (do not paraphrase):</a:t>
            </a:r>
          </a:p>
          <a:p>
            <a:r>
              <a:t>  - A corpus is an essential tool for Natural Language Processing (NLP), serving as a fundamental resource.</a:t>
            </a:r>
          </a:p>
          <a:p/>
          <a:p>
            <a:r>
              <a:t>Say what these mean, in your own words:</a:t>
            </a:r>
          </a:p>
          <a:p>
            <a:r>
              <a:t>  - Corpus: A large and structured set of machine-readable texts produced in natural communicative settings.</a:t>
            </a:r>
          </a:p>
          <a:p/>
          <a:p>
            <a:r>
              <a:t>Pause: ask the class what they already know about “A corpus serves as a fundamental resource for natural language processing”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 understand that words: We understand that words have different meanings based on the context of its usage in the</a:t>
            </a:r>
          </a:p>
          <a:p>
            <a:r>
              <a:t>  2. Lexical ambiguity: Lexical ambiguity, syntactic or semantic, is one of the very first problem that any NLP system</a:t>
            </a:r>
          </a:p>
          <a:p>
            <a:r>
              <a:t>  3. In first sentence: In first sentence, it means frequency and in second, it means fish.</a:t>
            </a:r>
          </a:p>
          <a:p>
            <a:r>
              <a:t>  4. All-words − This kind: All-words − This kind of corpora is used in the system, where it is expected to</a:t>
            </a:r>
          </a:p>
          <a:p/>
          <a:p>
            <a:r>
              <a:t>Say what these mean, in your own words:</a:t>
            </a:r>
          </a:p>
          <a:p>
            <a:r>
              <a:t>  - nlp: Natural Language Processing</a:t>
            </a:r>
          </a:p>
          <a:p>
            <a:r>
              <a:t>  - Lexical ambiguity: When a word has multiple syntactic or semantic interpretations depending on context.</a:t>
            </a:r>
          </a:p>
          <a:p/>
          <a:p>
            <a:r>
              <a:t>Pause: ask the class what they already know about “Lexical ambiguity presents an initial problem for natural language processing systems”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 understand that words have different meanings based on the context of its usage in the sentence.</a:t>
            </a:r>
          </a:p>
          <a:p>
            <a:r>
              <a:t>  2. If we talk about human languages, then they are ambiguous too because many words can be interpreted in multiple ways dep</a:t>
            </a:r>
          </a:p>
          <a:p>
            <a:r>
              <a:t>  3. Word sense disambiguation, in natural language processing (NLP), may be defined as the ability to determine which meanin</a:t>
            </a:r>
          </a:p>
          <a:p/>
          <a:p>
            <a:r>
              <a:t>Read these exactly (do not paraphrase):</a:t>
            </a:r>
          </a:p>
          <a:p>
            <a:r>
              <a:t>  - Word sense disambiguation, in natural language processing (NLP), may be defined as the ability to determine which meaning of word is activated by the use of word in a particular context.</a:t>
            </a:r>
          </a:p>
          <a:p/>
          <a:p>
            <a:r>
              <a:t>Say what these mean, in your own words:</a:t>
            </a:r>
          </a:p>
          <a:p>
            <a:r>
              <a:t>  - Word sense disambiguation: The ability to determine which word meaning is activated in a particular context.</a:t>
            </a:r>
          </a:p>
          <a:p/>
          <a:p>
            <a:r>
              <a:t>Pause: ask the class what they already know about “Word sense disambiguation determines the active meaning of a term in context” before revealing the slide.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Lexical ambiguity, syntactic or semantic, is one of the very first problem that any NLP system faces.</a:t>
            </a:r>
          </a:p>
          <a:p>
            <a:r>
              <a:t>  2. Part-of-speech (POS) taggers with high level of accuracy can solve Word’s syntactic ambiguity.</a:t>
            </a:r>
          </a:p>
          <a:p>
            <a:r>
              <a:t>  3. On the other hand, the problem of resolving semantic ambiguity is called WSD (word sense disambiguation).</a:t>
            </a:r>
          </a:p>
          <a:p>
            <a:r>
              <a:t>  4. Resolving semantic ambiguity is harder than resolving syntactic ambiguity.</a:t>
            </a:r>
          </a:p>
          <a:p>
            <a:r>
              <a:t>  5. For example, consider the two examples of the distinct sense that exist for the word “bass” −</a:t>
            </a:r>
          </a:p>
          <a:p>
            <a:r>
              <a:t>  6. I can hear bass sound.</a:t>
            </a:r>
          </a:p>
          <a:p>
            <a:r>
              <a:t>  7. He likes to eat grilled bass.</a:t>
            </a:r>
          </a:p>
          <a:p/>
          <a:p>
            <a:r>
              <a:t>Read these exactly (do not paraphrase):</a:t>
            </a:r>
          </a:p>
          <a:p>
            <a:r>
              <a:t>  - Part-of-speech (POS) taggers with high level of accuracy can solve Word’s syntactic ambiguity.</a:t>
            </a:r>
          </a:p>
          <a:p>
            <a:r>
              <a:t>  - On the other hand, the problem of resolving semantic ambiguity is called WSD (word sense disambiguation).</a:t>
            </a:r>
          </a:p>
          <a:p/>
          <a:p>
            <a:r>
              <a:t>Say what these mean, in your own words:</a:t>
            </a:r>
          </a:p>
          <a:p>
            <a:r>
              <a:t>  - wsd: Methods to Word Sense Disambiguation</a:t>
            </a:r>
          </a:p>
          <a:p>
            <a:r>
              <a:t>  - WSD: The process of resolving semantic ambiguity in natural language processing.</a:t>
            </a:r>
          </a:p>
          <a:p/>
          <a:p>
            <a:r>
              <a:t>Pause: ask the class what they already know about “Resolving semantic ambiguity is harder than solving syntactic ambiguity”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 first sentence, it means frequency and in second, it means fish.</a:t>
            </a:r>
          </a:p>
          <a:p>
            <a:r>
              <a:t>  2. Hence, if it would be disambiguated by WSD then the correct meaning to the above sentences can be assigned as follows −</a:t>
            </a:r>
          </a:p>
          <a:p>
            <a:r>
              <a:t>  3. I can hear bass/frequency sound.</a:t>
            </a:r>
          </a:p>
          <a:p>
            <a:r>
              <a:t>  4. He likes to eat grilled bass/fish.</a:t>
            </a:r>
          </a:p>
          <a:p>
            <a:r>
              <a:t>  5. Evaluation of WSD The evaluation of WSD requires the following two inputs − A Dictionary The very first input for evalua</a:t>
            </a:r>
          </a:p>
          <a:p>
            <a:r>
              <a:t>  6. Test Corpus Another input required by WSD is the high-annotated test corpus that has the target or correct-senses.</a:t>
            </a:r>
          </a:p>
          <a:p>
            <a:r>
              <a:t>  7. The test corpora can be of two types &amp;minsu;</a:t>
            </a:r>
          </a:p>
          <a:p>
            <a:r>
              <a:t>  8. Lexical sample − This kind of corpora is used in the system, where it is required to disambiguate a small sample of word</a:t>
            </a:r>
          </a:p>
          <a:p/>
          <a:p>
            <a:r>
              <a:t>Read these exactly (do not paraphrase):</a:t>
            </a:r>
          </a:p>
          <a:p>
            <a:r>
              <a:t>  - The test corpora can be of two types &amp;minsu; Lexical sample − This kind of corpora is used in the system, where it is required to disambiguate a small sample of words.</a:t>
            </a:r>
          </a:p>
          <a:p/>
          <a:p>
            <a:r>
              <a:t>Say what these mean, in your own words:</a:t>
            </a:r>
          </a:p>
          <a:p>
            <a:r>
              <a:t>  - Following: simplified pictorial representation of the same..</a:t>
            </a:r>
          </a:p>
          <a:p>
            <a:r>
              <a:t>  - Test Corpus: A high-annotated corpus containing target or correct senses used for evaluation.</a:t>
            </a:r>
          </a:p>
          <a:p/>
          <a:p>
            <a:r>
              <a:t>Pause: ask the class what they already know about “Evaluation of word sense disambiguation requires a dictionary and test corpora” before revealing the slide.</a:t>
            </a:r>
          </a:p>
          <a:p/>
          <a:p>
            <a:r>
              <a:t>~68s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All-words − This kind of corpora is used in the system, where it is expected to disambiguate all the words in a piece of</a:t>
            </a:r>
          </a:p>
          <a:p>
            <a:r>
              <a:t>  2. Approaches and Methods to Word Sense Disambiguation (WSD) Approaches and methods to WSD are classified according to the </a:t>
            </a:r>
          </a:p>
          <a:p>
            <a:r>
              <a:t>  3. Let us now see the four conventional methods to WSD −</a:t>
            </a:r>
          </a:p>
          <a:p/>
          <a:p>
            <a:r>
              <a:t>Read these exactly (do not paraphrase):</a:t>
            </a:r>
          </a:p>
          <a:p>
            <a:r>
              <a:t>  - Approaches and Methods to Word Sense Disambiguation (WSD) Approaches and methods to WSD are classified according to the source of knowledge used in word disambiguation.</a:t>
            </a:r>
          </a:p>
          <a:p/>
          <a:p>
            <a:r>
              <a:t>Say what these mean, in your own words:</a:t>
            </a:r>
          </a:p>
          <a:p>
            <a:r>
              <a:t>  - All-words corpora: Corpora used to disambiguate all words in a piece of running text.</a:t>
            </a:r>
          </a:p>
          <a:p/>
          <a:p>
            <a:r>
              <a:t>Pause: ask the class what they already know about “All-words corpora are used to disambiguate every term in running text” before revealing the slide.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 the name suggests, for disambiguation, these methods primarily rely on dictionaries, treasures and lexical knowledge </a:t>
            </a:r>
          </a:p>
          <a:p>
            <a:r>
              <a:t>  2. They do not use corpora evidences for disambiguation.</a:t>
            </a:r>
          </a:p>
          <a:p>
            <a:r>
              <a:t>  3. The Lesk method is the seminal dictionary-based method introduced by Michael Lesk in 1986.</a:t>
            </a:r>
          </a:p>
          <a:p>
            <a:r>
              <a:t>  4. The Lesk definition, on which the Lesk algorithm is based is “measure overlap between sense definitions for all words in</a:t>
            </a:r>
          </a:p>
          <a:p>
            <a:r>
              <a:t>  5. However, in 2000, Kilgarriff and Rosensweig gave the simplified Lesk definition as “measure overlap between sense defini</a:t>
            </a:r>
          </a:p>
          <a:p>
            <a:r>
              <a:t>  6. Here the current context is the set of words in surrounding sentence or paragraph.</a:t>
            </a:r>
          </a:p>
          <a:p/>
          <a:p>
            <a:r>
              <a:t>Read these exactly (do not paraphrase):</a:t>
            </a:r>
          </a:p>
          <a:p>
            <a:r>
              <a:t>  - The Lesk definition, on which the Lesk algorithm is based is “measure overlap between sense definitions for all words in context”.</a:t>
            </a:r>
          </a:p>
          <a:p>
            <a:r>
              <a:t>  - However, in 2000, Kilgarriff and Rosensweig gave the simplified Lesk definition as “measure overlap between sense definitions of word and current context”, which further means identify the correct sense for one word at a time.</a:t>
            </a:r>
          </a:p>
          <a:p/>
          <a:p>
            <a:r>
              <a:t>Say what these mean, in your own words:</a:t>
            </a:r>
          </a:p>
          <a:p>
            <a:r>
              <a:t>  - Lesk method: A seminal dictionary-based method that measures overlap between sense definitions.</a:t>
            </a:r>
          </a:p>
          <a:p/>
          <a:p>
            <a:r>
              <a:t>Pause: ask the class what they already know about “Dictionary-based methods rely on lexical knowledge bases without using corpora”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Text1 = 'I went to the bank to deposit my money' Text2 = 'The river bank was full of dead fishes' The Lesk algorithm is </a:t>
            </a:r>
          </a:p>
          <a:p>
            <a:r>
              <a:t>  2. This is the definition from Wikipedia: "It is based on the hypothesis that words used together in text are related to ea</a:t>
            </a:r>
          </a:p>
          <a:p/>
          <a:p>
            <a:r>
              <a:t>Read these exactly (do not paraphrase):</a:t>
            </a:r>
          </a:p>
          <a:p>
            <a:r>
              <a:t>  - The Lesk algorithm assumes related words share overlapping dictionary definitions Text1 = 'I went to the bank to deposit my money' Text2 = 'The river bank was full of dead fishes' The Lesk algorithm is the seminal dictionary-based method.</a:t>
            </a:r>
          </a:p>
          <a:p/>
          <a:p>
            <a:r>
              <a:t>Say what these mean, in your own words:</a:t>
            </a:r>
          </a:p>
          <a:p>
            <a:r>
              <a:t>  - Lesk algorithm: An algorithm based on the hypothesis that words used together share related definitions.</a:t>
            </a:r>
          </a:p>
          <a:p/>
          <a:p>
            <a:r>
              <a:t>Pause: ask the class what they already know about “The Lesk algorithm assumes related words share overlapping dictionary definitions” before revealing the slide.</a:t>
            </a:r>
          </a:p>
          <a:p/>
          <a:p>
            <a:r>
              <a:t>Wording matters here — slow down, keep it precise.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Two (or more)</a:t>
            </a:r>
          </a:p>
          <a:p>
            <a:r>
              <a:t>  2. words are disambiguated by finding the pair of dictionary senses with the greatest word overlap in their dictionary defi</a:t>
            </a:r>
          </a:p>
          <a:p>
            <a:r>
              <a:t>  3. It searches for the shortest path between two words: the second word is iteratively searched among the definitions of ev</a:t>
            </a:r>
          </a:p>
          <a:p>
            <a:r>
              <a:t>  4. Following is the simplified pictorial representation of the same...</a:t>
            </a:r>
          </a:p>
          <a:p>
            <a:r>
              <a:t>  5. Refer the ppt chapter18.wsd.ppt</a:t>
            </a:r>
          </a:p>
          <a:p/>
          <a:p>
            <a:r>
              <a:t>Read these exactly (do not paraphrase):</a:t>
            </a:r>
          </a:p>
          <a:p>
            <a:r>
              <a:t>  - Disambiguation finds dictionary sense pairs with the greatest word overlap Two (or more) words are disambiguated by finding the pair of dictionary senses with the greatest word overlap in their dictionary definitions.</a:t>
            </a:r>
          </a:p>
          <a:p/>
          <a:p>
            <a:r>
              <a:t>Say what these mean, in your own words:</a:t>
            </a:r>
          </a:p>
          <a:p>
            <a:r>
              <a:t>  - Semantic variant: A specific dictionary sense or meaning associated with a particular word.</a:t>
            </a:r>
          </a:p>
          <a:p/>
          <a:p>
            <a:r>
              <a:t>Pause: ask the class what they already know about “Disambiguation finds dictionary sense pairs with the greatest word overlap”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For disambiguation, machine learning methods make use of sense-annotated corpora to train.</a:t>
            </a:r>
          </a:p>
          <a:p>
            <a:r>
              <a:t>  2. These methods assume that the context can provide enough evidence on its own to disambiguate the sense.</a:t>
            </a:r>
          </a:p>
          <a:p>
            <a:r>
              <a:t>  3. In these methods, the words knowledge and reasoning are deemed unnecessary.</a:t>
            </a:r>
          </a:p>
          <a:p>
            <a:r>
              <a:t>  4. The context is represented as a set of “features” of the words.</a:t>
            </a:r>
          </a:p>
          <a:p>
            <a:r>
              <a:t>  5. It includes the information about the surrounding words also.</a:t>
            </a:r>
          </a:p>
          <a:p>
            <a:r>
              <a:t>  6. Support vector machine and memory-based learning are the most successful supervised learning approaches to WSD.</a:t>
            </a:r>
          </a:p>
          <a:p>
            <a:r>
              <a:t>  7. These methods rely on substantial amount of manually sense-tagged corpora, which is very expensive to create. ----Refer </a:t>
            </a:r>
          </a:p>
          <a:p/>
          <a:p>
            <a:r>
              <a:t>Say what these mean, in your own words:</a:t>
            </a:r>
          </a:p>
          <a:p>
            <a:r>
              <a:t>  - Supervised learning: Methods that use sense-annotated corpora and feature sets to train disambiguation models.</a:t>
            </a:r>
          </a:p>
          <a:p/>
          <a:p>
            <a:r>
              <a:t>Pause: ask the class what they already know about “Supervised methods make use of sense-annotated corpora to train models”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Due to the lack: Due to the lack of training corpus, most of the word sense disambiguation algorithms use semi-supervise</a:t>
            </a:r>
          </a:p>
          <a:p>
            <a:r>
              <a:t>  2. Bootstrapping Algorithms: Bootstrapping Algorithms: While there is great variation between implementations, bootstrappin</a:t>
            </a:r>
          </a:p>
          <a:p>
            <a:r>
              <a:t>  3. Repeat from step 3: Repeat from step 3.</a:t>
            </a:r>
          </a:p>
          <a:p>
            <a:r>
              <a:t>  4. The core feature: The core feature of a bootstrapping algorithm is that each iteration is fed the same type</a:t>
            </a:r>
          </a:p>
          <a:p>
            <a:r>
              <a:t>  5. Unsupervised Methods: Unsupervised Methods These methods assume that similar senses occur in similar context.</a:t>
            </a:r>
          </a:p>
          <a:p>
            <a:r>
              <a:t>  6. Performance of unsupervised: The performance of unsupervised method is always been lower than that of the other method u</a:t>
            </a:r>
          </a:p>
          <a:p/>
          <a:p>
            <a:r>
              <a:t>Say what these mean, in your own words:</a:t>
            </a:r>
          </a:p>
          <a:p>
            <a:r>
              <a:t>  - Bootstrapping Algorithms: Iterative approaches that start with seed data to find and score more items from corpora.</a:t>
            </a:r>
          </a:p>
          <a:p>
            <a:r>
              <a:t>  - Word Sense Disambiguation: Algorithms that determine the intended meaning of words in context.</a:t>
            </a:r>
          </a:p>
          <a:p/>
          <a:p>
            <a:r>
              <a:t>Pause: ask the class what they already know about “Semi-supervised bootstrapping algorithms overcome training corpus shortages in disambiguation”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Due to the lack of training corpus, most of the word sense disambiguation algorithms use semi-supervised learning method</a:t>
            </a:r>
          </a:p>
          <a:p>
            <a:r>
              <a:t>  2. It is because semi-supervised methods use both labelled as well as unlabeled data.</a:t>
            </a:r>
          </a:p>
          <a:p>
            <a:r>
              <a:t>  3. These methods require very small amount of annotated text and large amount of plain unannotated text.</a:t>
            </a:r>
          </a:p>
          <a:p>
            <a:r>
              <a:t>  4. The technique that is used by semi-supervised methods is bootstrapping from seed data.</a:t>
            </a:r>
          </a:p>
          <a:p/>
          <a:p>
            <a:r>
              <a:t>Say what these mean, in your own words:</a:t>
            </a:r>
          </a:p>
          <a:p>
            <a:r>
              <a:t>  - Semi-supervised learning: Methods that use a combination of a small amount of labeled data and large unannotated data.</a:t>
            </a:r>
          </a:p>
          <a:p>
            <a:r>
              <a:t>  - Bootstrapping: A technique using initial seed data to iteratively find and grow a dataset.</a:t>
            </a:r>
          </a:p>
          <a:p/>
          <a:p>
            <a:r>
              <a:t>Pause: ask the class what they already know about “Semi-supervised learning methods combine small annotated text with large unannotated corpora” before revealing the slide.</a:t>
            </a:r>
          </a:p>
          <a:p/>
          <a:p>
            <a:r>
              <a:t>~40s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Bootstrapping Algorithms: While there is great variation between implementations, bootstrapping approaches in natural la</a:t>
            </a:r>
          </a:p>
          <a:p>
            <a:r>
              <a:t>  2. Start with an empty list of things.</a:t>
            </a:r>
          </a:p>
          <a:p>
            <a:r>
              <a:t>  3. Initialize this list with carefully chosen seeds.</a:t>
            </a:r>
          </a:p>
          <a:p>
            <a:r>
              <a:t>  4. Leverage the things in the list to find more things from a training corpus.</a:t>
            </a:r>
          </a:p>
          <a:p>
            <a:r>
              <a:t>  5. Score those newly found things; add the best ones to the list.</a:t>
            </a:r>
          </a:p>
          <a:p/>
          <a:p>
            <a:r>
              <a:t>Read these exactly (do not paraphrase):</a:t>
            </a:r>
          </a:p>
          <a:p>
            <a:r>
              <a:t>  - Score those newly found things; add the best ones to the list.</a:t>
            </a:r>
          </a:p>
          <a:p/>
          <a:p>
            <a:r>
              <a:t>Say what these mean, in your own words:</a:t>
            </a:r>
          </a:p>
          <a:p>
            <a:r>
              <a:t>  - Seeds: Carefully chosen initial data items used to start the bootstrapping process.</a:t>
            </a:r>
          </a:p>
          <a:p>
            <a:r>
              <a:t>  - Training Corpus: A large body of text used to extract and find more target items.</a:t>
            </a:r>
          </a:p>
          <a:p/>
          <a:p>
            <a:r>
              <a:t>Pause: ask the class what they already know about “Bootstrapping algorithms iteratively expand initial seed lists using training corpora”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Repeat from step 3.</a:t>
            </a:r>
          </a:p>
          <a:p>
            <a:r>
              <a:t>  2. Stop after a set number of iterations or some other stop condition.</a:t>
            </a:r>
          </a:p>
          <a:p>
            <a:r>
              <a:t>  3. The intuition for bootstrapping stems from the observation that words from the semantic category tend to appear in simil</a:t>
            </a:r>
          </a:p>
          <a:p>
            <a:r>
              <a:t>  4. For example, the words “water” and “soda” are both in the semantic BEVERAGE category, and in a large text they will like</a:t>
            </a:r>
          </a:p>
          <a:p>
            <a:r>
              <a:t>  5. The core intuition is that by searching for patterns like that we can find other BEVERAGEs, and then by finding patterns</a:t>
            </a:r>
          </a:p>
          <a:p/>
          <a:p>
            <a:r>
              <a:t>Say what these mean, in your own words:</a:t>
            </a:r>
          </a:p>
          <a:p>
            <a:r>
              <a:t>  - Semantic category: A group of words that share a similar meaning or domain, such as beverages.</a:t>
            </a:r>
          </a:p>
          <a:p>
            <a:r>
              <a:t>  - Context: The surrounding words and phrases that help reveal a word's meaning or category.</a:t>
            </a:r>
          </a:p>
          <a:p/>
          <a:p>
            <a:r>
              <a:t>Pause: ask the class what they already know about “Semantic category bootstrapping relies on words appearing in similar patterns and contexts” before revealing the slide.</a:t>
            </a:r>
          </a:p>
          <a:p/>
          <a:p>
            <a:r>
              <a:t>~47s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core feature of a bootstrapping algorithm is that each iteration is fed the same type of data as its input that it p</a:t>
            </a:r>
          </a:p>
          <a:p>
            <a:r>
              <a:t>  2. The output of the first iteration is used as the input of the second iteration, and so on.</a:t>
            </a:r>
          </a:p>
          <a:p>
            <a:r>
              <a:t>  3. It should not be surprising that choosing the initial set of data (the seeds) from which all other data is “grown” is a </a:t>
            </a:r>
          </a:p>
          <a:p/>
          <a:p>
            <a:r>
              <a:t>Read these exactly (do not paraphrase):</a:t>
            </a:r>
          </a:p>
          <a:p>
            <a:r>
              <a:t>  - It should not be surprising that choosing the initial set of data (the seeds) from which all other data is “grown” is a critical factor (arguably the most critical factor) in the performance of the algorithm.</a:t>
            </a:r>
          </a:p>
          <a:p/>
          <a:p>
            <a:r>
              <a:t>Say what these mean, in your own words:</a:t>
            </a:r>
          </a:p>
          <a:p>
            <a:r>
              <a:t>  - Iteration: A single repetition of a process where output feeds into the next step as input.</a:t>
            </a:r>
          </a:p>
          <a:p>
            <a:r>
              <a:t>  - Seeds: The critical initial set of data from which all other data is grown.</a:t>
            </a:r>
          </a:p>
          <a:p/>
          <a:p>
            <a:r>
              <a:t>Pause: ask the class what they already know about “Semi-supervised Methods: The core feature” before revealing the slide.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Unsupervised Methods These methods assume that similar senses occur in similar context.</a:t>
            </a:r>
          </a:p>
          <a:p>
            <a:r>
              <a:t>  2. That is why the senses can be induced from text by clustering word occurrences by using some measure of similarity of th</a:t>
            </a:r>
          </a:p>
          <a:p>
            <a:r>
              <a:t>  3. This task is called word sense induction or discrimination.</a:t>
            </a:r>
          </a:p>
          <a:p>
            <a:r>
              <a:t>  4. Unsupervised methods have great potential to overcome the knowledge acquisition bottleneck due to non-dependency on manu</a:t>
            </a:r>
          </a:p>
          <a:p>
            <a:r>
              <a:t>  5. Unsupervised methods overcome the problem of knowledge acquisition bottleneck.</a:t>
            </a:r>
          </a:p>
          <a:p/>
          <a:p>
            <a:r>
              <a:t>Say what these mean, in your own words:</a:t>
            </a:r>
          </a:p>
          <a:p>
            <a:r>
              <a:t>  - Word sense induction: Clustering word occurrences by context similarity to discover word senses without manual effort.</a:t>
            </a:r>
          </a:p>
          <a:p>
            <a:r>
              <a:t>  - Knowledge acquisition bottleneck: The limitation caused by the reliance on manual efforts to gather training knowledge.</a:t>
            </a:r>
          </a:p>
          <a:p/>
          <a:p>
            <a:r>
              <a:t>Pause: ask the class what they already know about “Unsupervised methods induce word senses by clustering occurrences in similar contexts”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performance of unsupervised method is always been lower than that of the other method used for disambiguation.</a:t>
            </a:r>
          </a:p>
          <a:p>
            <a:r>
              <a:t>  2. Different methods in unsupervised approach are word clustering method in which words are clustered according to the sema</a:t>
            </a:r>
          </a:p>
          <a:p>
            <a:r>
              <a:t>  3. In another context clustering method the clusters are formed by finding the co-occurrence of word (not target) with the </a:t>
            </a:r>
          </a:p>
          <a:p>
            <a:r>
              <a:t>  4. In another method called graph based method in which a graph is built on some grammatical relationship, in graph weights</a:t>
            </a:r>
          </a:p>
          <a:p/>
          <a:p>
            <a:r>
              <a:t>Read these exactly (do not paraphrase):</a:t>
            </a:r>
          </a:p>
          <a:p>
            <a:r>
              <a:t>  - Different methods in unsupervised approach are word clustering method in which words are clustered according to the semantic similarity based on single feature (e.g., subject-verb, adjective-noun, etc.)</a:t>
            </a:r>
          </a:p>
          <a:p>
            <a:r>
              <a:t>  - In another context clustering method the clusters are formed by finding the co-occurrence of word (not target) with the target word and then the centroid is calculated of the vector of words occurring in the same context.</a:t>
            </a:r>
          </a:p>
          <a:p/>
          <a:p>
            <a:r>
              <a:t>Say what these mean, in your own words:</a:t>
            </a:r>
          </a:p>
          <a:p>
            <a:r>
              <a:t>  - Word clustering: Grouping words according to semantic similarity based on features like subject-verb or adjective-noun.</a:t>
            </a:r>
          </a:p>
          <a:p>
            <a:r>
              <a:t>  - Graph based method: Building a graph on grammatical relationships with edge weights assigned according to relatedness.</a:t>
            </a:r>
          </a:p>
          <a:p/>
          <a:p>
            <a:r>
              <a:t>Pause: ask the class what they already know about “Unsupervised methods achieve lower performance but utilize clustering and graph-based techniques”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An iterative algorithm is applied to get the word with highest degree node and finally minimum spanning tree is applied </a:t>
            </a:r>
          </a:p>
          <a:p>
            <a:r>
              <a:t>  2. Problems with Unsupervised Approach are the instances in training data may not be assigned the correct sense.</a:t>
            </a:r>
          </a:p>
          <a:p>
            <a:r>
              <a:t>  3. Clusters are heterogeneous.</a:t>
            </a:r>
          </a:p>
          <a:p>
            <a:r>
              <a:t>  4. Number of cluster may differ from the number of senses of target word to be disambiguated.</a:t>
            </a:r>
          </a:p>
          <a:p>
            <a:r>
              <a:t>  5. Applications of Word Sense Disambiguation (WSD) Word sense disambiguation (WSD) is applied in almost every application o</a:t>
            </a:r>
          </a:p>
          <a:p>
            <a:r>
              <a:t>  6. Let us now see the scope of WSD − Machine Translation Machine translation or MT is the most obvious application of WSD.</a:t>
            </a:r>
          </a:p>
          <a:p>
            <a:r>
              <a:t>  7. In MT, Lexical choice for the words that have distinct translations for different senses, is done by WSD.</a:t>
            </a:r>
          </a:p>
          <a:p/>
          <a:p>
            <a:r>
              <a:t>Read these exactly (do not paraphrase):</a:t>
            </a:r>
          </a:p>
          <a:p>
            <a:r>
              <a:t>  - Applications of Word Sense Disambiguation (WSD) Word sense disambiguation (WSD) is applied in almost every application of language technology.</a:t>
            </a:r>
          </a:p>
          <a:p/>
          <a:p>
            <a:r>
              <a:t>Pause: ask the class what they already know about “Semi-supervised Methods: An iterative algorithm is applied”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senses in MT are represented as words in the target language.</a:t>
            </a:r>
          </a:p>
          <a:p>
            <a:r>
              <a:t>  2. Most of the machine translation systems do not use explicit WSD module.</a:t>
            </a:r>
          </a:p>
          <a:p>
            <a:r>
              <a:t>  3. Information Retrieval (IR) Information retrieval (IR) may be defined as a software program that deals with the organizat</a:t>
            </a:r>
          </a:p>
          <a:p>
            <a:r>
              <a:t>  4. The system basically assists users in finding the information they required but it does not explicitly return the answer</a:t>
            </a:r>
          </a:p>
          <a:p>
            <a:r>
              <a:t>  5. WSD is used to resolve the ambiguities of the queries provided to IR system.</a:t>
            </a:r>
          </a:p>
          <a:p>
            <a:r>
              <a:t>  6. As like MT, current IR systems do not explicitly use WSD module and they rely on the concept that user would type enough</a:t>
            </a:r>
          </a:p>
          <a:p/>
          <a:p>
            <a:r>
              <a:t>Read these exactly (do not paraphrase):</a:t>
            </a:r>
          </a:p>
          <a:p>
            <a:r>
              <a:t>  - Information Retrieval (IR) Information retrieval (IR) may be defined as a software program that deals with the organization, storage, retrieval and evaluation of information from document repositories particularly textual information.</a:t>
            </a:r>
          </a:p>
          <a:p>
            <a:r>
              <a:t>  - The system basically assists users in finding the information they required but it does not explicitly return the answers of the questions.</a:t>
            </a:r>
          </a:p>
          <a:p/>
          <a:p>
            <a:r>
              <a:t>Say what these mean, in your own words:</a:t>
            </a:r>
          </a:p>
          <a:p>
            <a:r>
              <a:t>  - Information Retrieval: Software dealing with the organization, storage, retrieval, and evaluation of textual information.</a:t>
            </a:r>
          </a:p>
          <a:p>
            <a:r>
              <a:t>  - Target Language: The language into which text is translated in machine translation systems.</a:t>
            </a:r>
          </a:p>
          <a:p/>
          <a:p>
            <a:r>
              <a:t>Pause: ask the class what they already know about “Semi-supervised Methods: The senses in MT”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Text Mining and Information Extraction (IE) In most of the applications, WSD is necessary to do accurate analysis of tex</a:t>
            </a:r>
          </a:p>
          <a:p>
            <a:r>
              <a:t>  2. For example, WSD helps intelligent gathering system to do flagging of the correct words.</a:t>
            </a:r>
          </a:p>
          <a:p>
            <a:r>
              <a:t>  3. For example, medical intelligent system might need flagging of “illegal drugs” rather than “medical drugs” Lexicography </a:t>
            </a:r>
          </a:p>
          <a:p>
            <a:r>
              <a:t>  4. With lexicography, WSD provides rough empirical sense groupings as well as statistically significant contextual indicato</a:t>
            </a:r>
          </a:p>
          <a:p>
            <a:r>
              <a:t>  5. Difficulties in Word Sense Disambiguation (WSD) Followings are some difficulties faced by word sense disambiguation (WSD</a:t>
            </a:r>
          </a:p>
          <a:p/>
          <a:p>
            <a:r>
              <a:t>Read these exactly (do not paraphrase):</a:t>
            </a:r>
          </a:p>
          <a:p>
            <a:r>
              <a:t>  - Word sense disambiguation aids text mining, information extraction, and corpus-based lexicography Text Mining and Information Extraction (IE) In most of the applications, WSD is necessary to do accurate analysis of text.</a:t>
            </a:r>
          </a:p>
          <a:p>
            <a:r>
              <a:t>  - For example, medical intelligent system might need flagging of “illegal drugs” rather than “medical drugs” Lexicography WSD and lexicography can work together in loop because modern lexicography is corpus based.</a:t>
            </a:r>
          </a:p>
          <a:p>
            <a:r>
              <a:t>  - Difficulties in Word Sense Disambiguation (WSD) Followings are some difficulties faced by word sense disambiguation (WSD) − Differences between dictionaries The major problem of WSD is to decide the sense of the word because different senses can be very closely related.</a:t>
            </a:r>
          </a:p>
          <a:p/>
          <a:p>
            <a:r>
              <a:t>Say what these mean, in your own words:</a:t>
            </a:r>
          </a:p>
          <a:p>
            <a:r>
              <a:t>  - Information Extraction: Automated extraction of structured information from unstructured text documents.</a:t>
            </a:r>
          </a:p>
          <a:p>
            <a:r>
              <a:t>  - Lexicography: The work of compiling dictionaries, which benefits from corpus-based empirical sense groupings.</a:t>
            </a:r>
          </a:p>
          <a:p/>
          <a:p>
            <a:r>
              <a:t>Pause: ask the class what they already know about “Word sense disambiguation aids text mining, information extraction, and corpus-based lexicography” before revealing the slide.</a:t>
            </a:r>
          </a:p>
          <a:p/>
          <a:p>
            <a:r>
              <a:t>Wording matters here — slow down, keep it precise.</a:t>
            </a:r>
          </a:p>
          <a:p/>
          <a:p>
            <a:r>
              <a:t>~47s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Even different dictionaries and thesauruses can provide different divisions of words into senses.</a:t>
            </a:r>
          </a:p>
          <a:p>
            <a:r>
              <a:t>  2. Different algorithms for different applications Another problem of WSD is that completely different algorithm might be n</a:t>
            </a:r>
          </a:p>
          <a:p>
            <a:r>
              <a:t>  3. For example, in machine translation, it takes the form of target word selection; and in information retrieval, a sense i</a:t>
            </a:r>
          </a:p>
          <a:p>
            <a:r>
              <a:t>  4. Inter-judge variance Another problem of WSD is that WSD systems are generally tested by having their results on a task c</a:t>
            </a:r>
          </a:p>
          <a:p>
            <a:r>
              <a:t>  5. This is called the problem of interjudge variance.</a:t>
            </a:r>
          </a:p>
          <a:p>
            <a:r>
              <a:t>  6. Word-sense discreteness Another difficulty in WSD is that words cannot be easily divided into discrete sub meanings.</a:t>
            </a:r>
          </a:p>
          <a:p/>
          <a:p>
            <a:r>
              <a:t>Read these exactly (do not paraphrase):</a:t>
            </a:r>
          </a:p>
          <a:p>
            <a:r>
              <a:t>  - For example, in machine translation, it takes the form of target word selection; and in information retrieval, a sense inventory is not required.</a:t>
            </a:r>
          </a:p>
          <a:p/>
          <a:p>
            <a:r>
              <a:t>Say what these mean, in your own words:</a:t>
            </a:r>
          </a:p>
          <a:p>
            <a:r>
              <a:t>  - Inter-judge variance: Discrepancies that occur when system results are compared against the varied judgments of human beings.</a:t>
            </a:r>
          </a:p>
          <a:p>
            <a:r>
              <a:t>  - Word-sense discreteness: The difficulty of clearly and easily dividing words into distinct sub-meanings.</a:t>
            </a:r>
          </a:p>
          <a:p/>
          <a:p>
            <a:r>
              <a:t>Pause: ask the class what they already know about “Word sense disambiguation faces challenges from dictionary variations and inter-judge variance”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Wsd: Methods to Word Sense Disambiguation</a:t>
            </a:r>
          </a:p>
          <a:p>
            <a:r>
              <a:t>  2. Ie: Text Mining and Information Extraction</a:t>
            </a:r>
          </a:p>
          <a:p>
            <a:r>
              <a:t>  3. Nlp: Natural Language Processing</a:t>
            </a:r>
          </a:p>
          <a:p>
            <a:r>
              <a:t>  4. Following: simplified pictorial representation of the same..</a:t>
            </a:r>
          </a:p>
          <a:p>
            <a:r>
              <a:t>  5. A corpus: essential tool for Natural Language Processing (NLP), serving as a fundamental resource</a:t>
            </a:r>
          </a:p>
          <a:p>
            <a:r>
              <a:t>  6. problems with unsupervised app: instances in training data may not be assigned the correct sense</a:t>
            </a:r>
          </a:p>
          <a:p/>
          <a:p>
            <a:r>
              <a:t>Read these exactly (do not paraphrase):</a:t>
            </a:r>
          </a:p>
          <a:p>
            <a:r>
              <a:t>  - A corpus: essential tool for Natural Language Processing (NLP), serving as a fundamental resource problems with unsupervised app: instances in training data may not be assigned the correct sense</a:t>
            </a:r>
          </a:p>
          <a:p/>
          <a:p>
            <a:r>
              <a:t>Pause: ask the class what they already know about “Glossary” before revealing the slide.</a:t>
            </a:r>
          </a:p>
          <a:p/>
          <a:p>
            <a:r>
              <a:t>Wording matters here — slow down, keep it precise.</a:t>
            </a:r>
          </a:p>
          <a:p/>
          <a:p>
            <a:r>
              <a:t>~54s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Lesk method: seminal dictionary-based method introduced by Michael Lesk in 1986</a:t>
            </a:r>
          </a:p>
          <a:p>
            <a:r>
              <a:t>  2. Here the current context: set of words in surrounding sentence or paragraph</a:t>
            </a:r>
          </a:p>
          <a:p>
            <a:r>
              <a:t>  3. Corpus a corpus: large and structured set of machine-readable texts that have been produced in a natural communicative s</a:t>
            </a:r>
          </a:p>
          <a:p/>
          <a:p>
            <a:r>
              <a:t>Pause: ask the class what they already know about “Glossary: Lesk method” before revealing the slide.</a:t>
            </a:r>
          </a:p>
          <a:p/>
          <a:p>
            <a:r>
              <a:t>~33s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Wsd: Methods to Word Sense Disambiguation</a:t>
            </a:r>
          </a:p>
          <a:p>
            <a:r>
              <a:t>  2. Ie: Text Mining and Information Extraction</a:t>
            </a:r>
          </a:p>
          <a:p>
            <a:r>
              <a:t>  3. A corpus: essential tool for Natural Language Processing (NLP), serving as a fundamental resource</a:t>
            </a:r>
          </a:p>
          <a:p>
            <a:r>
              <a:t>  4. Following: simplified pictorial representation of the same..</a:t>
            </a:r>
          </a:p>
          <a:p>
            <a:r>
              <a:t>  5. Lesk method: seminal dictionary-based method introduced by Michael Lesk in 1986</a:t>
            </a:r>
          </a:p>
          <a:p/>
          <a:p>
            <a:r>
              <a:t>Read these exactly (do not paraphrase):</a:t>
            </a:r>
          </a:p>
          <a:p>
            <a:r>
              <a:t>  - Match the terms Wsd: Methods to Word Sense Disambiguation Ie: Text Mining and Information Extraction A corpus: essential tool for Natural Language Processing (NLP), serving as a fundamental resource Following: simplified pictorial representation of the same..</a:t>
            </a:r>
          </a:p>
          <a:p/>
          <a:p>
            <a:r>
              <a:t>Pause: ask the class what they already know about “Match the terms” before revealing the slide.</a:t>
            </a:r>
          </a:p>
          <a:p/>
          <a:p>
            <a:r>
              <a:t>Wording matters here — slow down, keep it precise.</a:t>
            </a:r>
          </a:p>
          <a:p/>
          <a:p>
            <a:r>
              <a:t>~47s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Section 1: Corpus A corpus is a large and structured set of machine-readable texts that have been produced in a natural </a:t>
            </a:r>
          </a:p>
          <a:p>
            <a:r>
              <a:t>  2. WSD: Lexical ambiguity: Lexical ambiguity, syntactic or semantic, is one of the very first problem that any NLP system f</a:t>
            </a:r>
          </a:p>
          <a:p>
            <a:r>
              <a:t>  3. Dictionary-based or Knowledge-based Me: As the name suggests, for disambiguation, these methods primarily rely on dictio</a:t>
            </a:r>
          </a:p>
          <a:p>
            <a:r>
              <a:t>  4. Supervised Methods: For disambiguation, machine learning methods make use of sense-annotated corpora to train.</a:t>
            </a:r>
          </a:p>
          <a:p>
            <a:r>
              <a:t>  5. Semi-supervised Methods: Bootstrapping: Bootstrapping Algorithms: While there is great variation between implementations</a:t>
            </a:r>
          </a:p>
          <a:p>
            <a:r>
              <a:t>  6. Semi-supervised Methods: Unsupervised : Unsupervised Methods These methods assume that similar senses occur in similar c</a:t>
            </a:r>
          </a:p>
          <a:p>
            <a:r>
              <a:t>  7. Semi-supervised Methods: The senses in: The senses in MT are represented as words in the target language.</a:t>
            </a:r>
          </a:p>
          <a:p/>
          <a:p>
            <a:r>
              <a:t>Read these exactly (do not paraphrase):</a:t>
            </a:r>
          </a:p>
          <a:p>
            <a:r>
              <a:t>  - Key takeaways Section 1: Corpus A corpus is a large and structured set of machine-readable texts that have been produced in a natural communicative… WSD: Lexical ambiguity: Lexical ambiguity, syntactic or semantic, is one of the very first problem that any NLP system faces.</a:t>
            </a:r>
          </a:p>
          <a:p/>
          <a:p>
            <a:r>
              <a:t>Pause: ask the class what they already know about “Key takeaways”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b6b2690ffb4ef5963d3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localhost:8000/api/art/760b4bd4a9b5625a7f27"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hyperlink" Target="http://localhost:8000/api/art/4795f00e2eb701651592" TargetMode="External"/><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localhost:8000/api/labs/naive_bayes_wsd" TargetMode="External"/><Relationship Id="rId4" Type="http://schemas.openxmlformats.org/officeDocument/2006/relationships/image" Target="../media/image11.png"/><Relationship Id="rId5" Type="http://schemas.openxmlformats.org/officeDocument/2006/relationships/hyperlink" Target="http://localhost:8000/api/art/baf59b1dd399888a7f8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hyperlink" Target="http://localhost:8000/api/art/d5c5dae4fe3d643abfb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hyperlink" Target="http://localhost:8000/api/art/2f7e6f715e152ec3f24e" TargetMode="External"/><Relationship Id="rId5" Type="http://schemas.openxmlformats.org/officeDocument/2006/relationships/hyperlink" Target="http://localhost:8000/api/labs/naive_bayes_wsd" TargetMode="External"/><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hyperlink" Target="http://localhost:8000/api/art/d47307c7721cb4dd471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hyperlink" Target="http://localhost:8000/api/art/d63f64016bc709292e4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hyperlink" Target="http://localhost:8000/api/art/b4b2fab09708134e748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hyperlink" Target="http://localhost:8000/api/art/e60de819add605e2767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hyperlink" Target="http://localhost:8000/api/art/6c9010cb4a3cdf596ec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hyperlink" Target="http://localhost:8000/api/art/d49a60576dadbaf3a745" TargetMode="External"/><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9.png"/><Relationship Id="rId10"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hyperlink" Target="http://localhost:8000/api/art/28dbbaeb73fb48e675c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hyperlink" Target="http://localhost:8000/api/art/e9f20932416703896bb5" TargetMode="External"/><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hyperlink" Target="http://localhost:8000/api/art/5d40b8ac1d439eab7eb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hyperlink" Target="http://localhost:8000/api/art/f1d08b0c8da4f5fcb67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hyperlink" Target="http://localhost:8000/api/art/6f4cff7d5fb046f9100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hyperlink" Target="http://localhost:8000/api/art/8c255834994031e8b9a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hyperlink" Target="http://localhost:8000/api/art/072ef49a729a295bbd2c"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hyperlink" Target="http://localhost:8000/api/art/e2e97bd25c59f74270ea"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hyperlink" Target="http://localhost:8000/api/art/717fafc2af4d0a2588c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hyperlink" Target="http://localhost:8000/api/art/05c3e1b3df68ed9c1e1c"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9.png"/><Relationship Id="rId4" Type="http://schemas.openxmlformats.org/officeDocument/2006/relationships/hyperlink" Target="http://localhost:8000/api/art/90857e319841c58e72f7" TargetMode="External"/><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22.png"/><Relationship Id="rId8" Type="http://schemas.openxmlformats.org/officeDocument/2006/relationships/image" Target="../media/image40.png"/><Relationship Id="rId9"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1.png"/><Relationship Id="rId4" Type="http://schemas.openxmlformats.org/officeDocument/2006/relationships/hyperlink" Target="http://localhost:8000/api/art/5414aa8205de4a439179" TargetMode="External"/><Relationship Id="rId5" Type="http://schemas.openxmlformats.org/officeDocument/2006/relationships/image" Target="../media/image9.png"/><Relationship Id="rId6" Type="http://schemas.openxmlformats.org/officeDocument/2006/relationships/image" Target="../media/image42.png"/><Relationship Id="rId7"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3.png"/><Relationship Id="rId4" Type="http://schemas.openxmlformats.org/officeDocument/2006/relationships/hyperlink" Target="http://localhost:8000/api/art/7bb9d84924cdba45b400" TargetMode="External"/><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40.png"/><Relationship Id="rId9"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5.png"/><Relationship Id="rId4" Type="http://schemas.openxmlformats.org/officeDocument/2006/relationships/hyperlink" Target="http://localhost:8000/api/art/3f50c62849a67b9c30a2" TargetMode="External"/><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46.png"/><Relationship Id="rId8" Type="http://schemas.openxmlformats.org/officeDocument/2006/relationships/image" Target="../media/image22.png"/><Relationship Id="rId9" Type="http://schemas.openxmlformats.org/officeDocument/2006/relationships/image" Target="../media/image9.png"/><Relationship Id="rId10"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4ED8"/>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FFC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557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FFE4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Poppins"/>
              </a:rPr>
              <a:t>WSD</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BBC9F3"/>
                </a:solidFill>
              </a:defRPr>
            </a:pPr>
            <a:r>
              <a:rPr>
                <a:latin typeface="Inter"/>
              </a:rPr>
              <a:t>32 slides  •  made with Learnova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Agenda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 / 32</a:t>
            </a:r>
          </a:p>
        </p:txBody>
      </p:sp>
      <p:sp>
        <p:nvSpPr>
          <p:cNvPr id="8" name="Rounded Rectangle 7"/>
          <p:cNvSpPr/>
          <p:nvPr/>
        </p:nvSpPr>
        <p:spPr>
          <a:xfrm>
            <a:off x="457200" y="1298448"/>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85318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1298448" y="1371600"/>
            <a:ext cx="4494276" cy="1420368"/>
          </a:xfrm>
          <a:prstGeom prst="rect">
            <a:avLst/>
          </a:prstGeom>
          <a:noFill/>
        </p:spPr>
        <p:txBody>
          <a:bodyPr wrap="square" anchor="ctr" lIns="0" tIns="0" rIns="0" bIns="0">
            <a:spAutoFit/>
          </a:bodyPr>
          <a:lstStyle/>
          <a:p>
            <a:pPr algn="l"/>
            <a:r>
              <a:rPr sz="2940" b="1">
                <a:solidFill>
                  <a:srgbClr val="1D4ED8"/>
                </a:solidFill>
                <a:latin typeface="Poppins"/>
              </a:rPr>
              <a:t>Section 1</a:t>
            </a:r>
          </a:p>
        </p:txBody>
      </p:sp>
      <p:sp>
        <p:nvSpPr>
          <p:cNvPr id="11" name="Rounded Rectangle 10"/>
          <p:cNvSpPr/>
          <p:nvPr/>
        </p:nvSpPr>
        <p:spPr>
          <a:xfrm>
            <a:off x="6195059" y="1298448"/>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185318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3" name="TextBox 12"/>
          <p:cNvSpPr txBox="1"/>
          <p:nvPr/>
        </p:nvSpPr>
        <p:spPr>
          <a:xfrm>
            <a:off x="7036307" y="1371600"/>
            <a:ext cx="4494275" cy="1420368"/>
          </a:xfrm>
          <a:prstGeom prst="rect">
            <a:avLst/>
          </a:prstGeom>
          <a:noFill/>
        </p:spPr>
        <p:txBody>
          <a:bodyPr wrap="square" anchor="ctr" lIns="0" tIns="0" rIns="0" bIns="0">
            <a:spAutoFit/>
          </a:bodyPr>
          <a:lstStyle/>
          <a:p>
            <a:pPr algn="l"/>
            <a:r>
              <a:rPr sz="2940" b="1">
                <a:solidFill>
                  <a:srgbClr val="1D4ED8"/>
                </a:solidFill>
                <a:latin typeface="Poppins"/>
              </a:rPr>
              <a:t>WSD</a:t>
            </a:r>
          </a:p>
        </p:txBody>
      </p:sp>
      <p:sp>
        <p:nvSpPr>
          <p:cNvPr id="14" name="Rounded Rectangle 13"/>
          <p:cNvSpPr/>
          <p:nvPr/>
        </p:nvSpPr>
        <p:spPr>
          <a:xfrm>
            <a:off x="457200" y="3066287"/>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62102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6" name="TextBox 15"/>
          <p:cNvSpPr txBox="1"/>
          <p:nvPr/>
        </p:nvSpPr>
        <p:spPr>
          <a:xfrm>
            <a:off x="1298448" y="3139440"/>
            <a:ext cx="4494276" cy="1420368"/>
          </a:xfrm>
          <a:prstGeom prst="rect">
            <a:avLst/>
          </a:prstGeom>
          <a:noFill/>
        </p:spPr>
        <p:txBody>
          <a:bodyPr wrap="square" anchor="ctr" lIns="0" tIns="0" rIns="0" bIns="0">
            <a:spAutoFit/>
          </a:bodyPr>
          <a:lstStyle/>
          <a:p>
            <a:pPr algn="l"/>
            <a:r>
              <a:rPr sz="2940" b="1">
                <a:solidFill>
                  <a:srgbClr val="1D4ED8"/>
                </a:solidFill>
                <a:latin typeface="Poppins"/>
              </a:rPr>
              <a:t>WSD: Lexical ambiguity</a:t>
            </a:r>
          </a:p>
        </p:txBody>
      </p:sp>
      <p:sp>
        <p:nvSpPr>
          <p:cNvPr id="17" name="Rounded Rectangle 16"/>
          <p:cNvSpPr/>
          <p:nvPr/>
        </p:nvSpPr>
        <p:spPr>
          <a:xfrm>
            <a:off x="6195059" y="3066287"/>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6227" y="362102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19" name="TextBox 18"/>
          <p:cNvSpPr txBox="1"/>
          <p:nvPr/>
        </p:nvSpPr>
        <p:spPr>
          <a:xfrm>
            <a:off x="7036307" y="3139440"/>
            <a:ext cx="4494275" cy="1420368"/>
          </a:xfrm>
          <a:prstGeom prst="rect">
            <a:avLst/>
          </a:prstGeom>
          <a:noFill/>
        </p:spPr>
        <p:txBody>
          <a:bodyPr wrap="square" anchor="ctr" lIns="0" tIns="0" rIns="0" bIns="0">
            <a:spAutoFit/>
          </a:bodyPr>
          <a:lstStyle/>
          <a:p>
            <a:pPr algn="l"/>
            <a:r>
              <a:rPr sz="2940" b="1">
                <a:solidFill>
                  <a:srgbClr val="1D4ED8"/>
                </a:solidFill>
                <a:latin typeface="Poppins"/>
              </a:rPr>
              <a:t>WSD: In first sentence</a:t>
            </a:r>
          </a:p>
        </p:txBody>
      </p:sp>
      <p:sp>
        <p:nvSpPr>
          <p:cNvPr id="20" name="Rounded Rectangle 19"/>
          <p:cNvSpPr/>
          <p:nvPr/>
        </p:nvSpPr>
        <p:spPr>
          <a:xfrm>
            <a:off x="457200" y="4834128"/>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38886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2" name="TextBox 21"/>
          <p:cNvSpPr txBox="1"/>
          <p:nvPr/>
        </p:nvSpPr>
        <p:spPr>
          <a:xfrm>
            <a:off x="1298448" y="4907280"/>
            <a:ext cx="4494276" cy="1420368"/>
          </a:xfrm>
          <a:prstGeom prst="rect">
            <a:avLst/>
          </a:prstGeom>
          <a:noFill/>
        </p:spPr>
        <p:txBody>
          <a:bodyPr wrap="square" anchor="ctr" lIns="0" tIns="0" rIns="0" bIns="0">
            <a:spAutoFit/>
          </a:bodyPr>
          <a:lstStyle/>
          <a:p>
            <a:pPr algn="l"/>
            <a:r>
              <a:rPr sz="2940" b="1">
                <a:solidFill>
                  <a:srgbClr val="1D4ED8"/>
                </a:solidFill>
                <a:latin typeface="Poppins"/>
              </a:rPr>
              <a:t>WSD: All-words − This kind</a:t>
            </a:r>
          </a:p>
        </p:txBody>
      </p:sp>
      <p:sp>
        <p:nvSpPr>
          <p:cNvPr id="23" name="Rounded Rectangle 22"/>
          <p:cNvSpPr/>
          <p:nvPr/>
        </p:nvSpPr>
        <p:spPr>
          <a:xfrm>
            <a:off x="6195059" y="4834128"/>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96227" y="538886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6</a:t>
            </a:r>
          </a:p>
        </p:txBody>
      </p:sp>
      <p:sp>
        <p:nvSpPr>
          <p:cNvPr id="25" name="TextBox 24"/>
          <p:cNvSpPr txBox="1"/>
          <p:nvPr/>
        </p:nvSpPr>
        <p:spPr>
          <a:xfrm>
            <a:off x="7036307" y="4907280"/>
            <a:ext cx="4494275" cy="1420368"/>
          </a:xfrm>
          <a:prstGeom prst="rect">
            <a:avLst/>
          </a:prstGeom>
          <a:noFill/>
        </p:spPr>
        <p:txBody>
          <a:bodyPr wrap="square" anchor="ctr" lIns="0" tIns="0" rIns="0" bIns="0">
            <a:spAutoFit/>
          </a:bodyPr>
          <a:lstStyle/>
          <a:p>
            <a:pPr algn="l"/>
            <a:r>
              <a:rPr sz="2940" b="1">
                <a:solidFill>
                  <a:srgbClr val="1D4ED8"/>
                </a:solidFill>
                <a:latin typeface="Poppins"/>
              </a:rPr>
              <a:t>Dictionary-based or Knowledge-based Methods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A corpus serves as a fundamental resource for natural language processing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 / 32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351157"/>
          </a:xfrm>
          <a:prstGeom prst="roundRect">
            <a:avLst>
              <a:gd name="adj" fmla="val 10421"/>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90562"/>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803948"/>
            <a:ext cx="340156" cy="340156"/>
          </a:xfrm>
          <a:prstGeom prst="rect">
            <a:avLst/>
          </a:prstGeom>
        </p:spPr>
      </p:pic>
      <p:sp>
        <p:nvSpPr>
          <p:cNvPr id="11" name="TextBox 10"/>
          <p:cNvSpPr txBox="1"/>
          <p:nvPr/>
        </p:nvSpPr>
        <p:spPr>
          <a:xfrm>
            <a:off x="1408175" y="1371600"/>
            <a:ext cx="2622804" cy="1204853"/>
          </a:xfrm>
          <a:prstGeom prst="rect">
            <a:avLst/>
          </a:prstGeom>
          <a:noFill/>
        </p:spPr>
        <p:txBody>
          <a:bodyPr wrap="square" anchor="ctr" lIns="0" tIns="0" rIns="0" bIns="0">
            <a:spAutoFit/>
          </a:bodyPr>
          <a:lstStyle/>
          <a:p>
            <a:pPr algn="l"/>
            <a:r>
              <a:rPr sz="1380" b="1">
                <a:solidFill>
                  <a:srgbClr val="1D4ED8"/>
                </a:solidFill>
                <a:latin typeface="Poppins"/>
              </a:rPr>
              <a:t>Corpus A corpus</a:t>
            </a:r>
          </a:p>
          <a:p>
            <a:pPr algn="l">
              <a:spcBef>
                <a:spcPts val="500"/>
              </a:spcBef>
            </a:pPr>
            <a:r>
              <a:rPr sz="1150" b="0">
                <a:solidFill>
                  <a:srgbClr val="0F172A"/>
                </a:solidFill>
                <a:latin typeface="Inter"/>
              </a:rPr>
              <a:t>Large and structured set of machine-readable texts that have been produced in a natural communicative setting</a:t>
            </a:r>
          </a:p>
        </p:txBody>
      </p:sp>
      <p:sp>
        <p:nvSpPr>
          <p:cNvPr id="12" name="Rounded Rectangle 11"/>
          <p:cNvSpPr/>
          <p:nvPr/>
        </p:nvSpPr>
        <p:spPr>
          <a:xfrm>
            <a:off x="4433315" y="1298448"/>
            <a:ext cx="3774947" cy="1351157"/>
          </a:xfrm>
          <a:prstGeom prst="roundRect">
            <a:avLst>
              <a:gd name="adj" fmla="val 10421"/>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690562"/>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803948"/>
            <a:ext cx="340156" cy="340156"/>
          </a:xfrm>
          <a:prstGeom prst="rect">
            <a:avLst/>
          </a:prstGeom>
        </p:spPr>
      </p:pic>
      <p:sp>
        <p:nvSpPr>
          <p:cNvPr id="15" name="TextBox 14"/>
          <p:cNvSpPr txBox="1"/>
          <p:nvPr/>
        </p:nvSpPr>
        <p:spPr>
          <a:xfrm>
            <a:off x="5384291" y="1371600"/>
            <a:ext cx="2622804" cy="1204853"/>
          </a:xfrm>
          <a:prstGeom prst="rect">
            <a:avLst/>
          </a:prstGeom>
          <a:noFill/>
        </p:spPr>
        <p:txBody>
          <a:bodyPr wrap="square" anchor="ctr" lIns="0" tIns="0" rIns="0" bIns="0">
            <a:spAutoFit/>
          </a:bodyPr>
          <a:lstStyle/>
          <a:p>
            <a:pPr algn="l"/>
            <a:r>
              <a:rPr sz="1380" b="1">
                <a:solidFill>
                  <a:srgbClr val="1D4ED8"/>
                </a:solidFill>
                <a:latin typeface="Poppins"/>
              </a:rPr>
              <a:t>Its plural</a:t>
            </a:r>
          </a:p>
          <a:p>
            <a:pPr algn="l">
              <a:spcBef>
                <a:spcPts val="500"/>
              </a:spcBef>
            </a:pPr>
            <a:r>
              <a:rPr sz="1150" b="0">
                <a:solidFill>
                  <a:srgbClr val="0F172A"/>
                </a:solidFill>
                <a:latin typeface="Inter"/>
              </a:rPr>
              <a:t>Corpora</a:t>
            </a:r>
          </a:p>
        </p:txBody>
      </p:sp>
      <p:sp>
        <p:nvSpPr>
          <p:cNvPr id="16" name="Rounded Rectangle 15"/>
          <p:cNvSpPr/>
          <p:nvPr/>
        </p:nvSpPr>
        <p:spPr>
          <a:xfrm>
            <a:off x="457200" y="2850773"/>
            <a:ext cx="3774947" cy="1351157"/>
          </a:xfrm>
          <a:prstGeom prst="roundRect">
            <a:avLst>
              <a:gd name="adj" fmla="val 10421"/>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242888"/>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356274"/>
            <a:ext cx="340156" cy="340156"/>
          </a:xfrm>
          <a:prstGeom prst="rect">
            <a:avLst/>
          </a:prstGeom>
        </p:spPr>
      </p:pic>
      <p:sp>
        <p:nvSpPr>
          <p:cNvPr id="19" name="TextBox 18"/>
          <p:cNvSpPr txBox="1"/>
          <p:nvPr/>
        </p:nvSpPr>
        <p:spPr>
          <a:xfrm>
            <a:off x="1408175" y="2923925"/>
            <a:ext cx="2622804" cy="1204853"/>
          </a:xfrm>
          <a:prstGeom prst="rect">
            <a:avLst/>
          </a:prstGeom>
          <a:noFill/>
        </p:spPr>
        <p:txBody>
          <a:bodyPr wrap="square" anchor="ctr" lIns="0" tIns="0" rIns="0" bIns="0">
            <a:spAutoFit/>
          </a:bodyPr>
          <a:lstStyle/>
          <a:p>
            <a:pPr algn="l"/>
            <a:r>
              <a:rPr sz="1380" b="1">
                <a:solidFill>
                  <a:srgbClr val="1D4ED8"/>
                </a:solidFill>
                <a:latin typeface="Poppins"/>
              </a:rPr>
              <a:t>A corpus</a:t>
            </a:r>
          </a:p>
          <a:p>
            <a:pPr algn="l">
              <a:spcBef>
                <a:spcPts val="500"/>
              </a:spcBef>
            </a:pPr>
            <a:r>
              <a:rPr sz="1150" b="0">
                <a:solidFill>
                  <a:srgbClr val="0F172A"/>
                </a:solidFill>
                <a:latin typeface="Inter"/>
              </a:rPr>
              <a:t>Essential tool for Natural Language Processing (NLP), serving as a fundamental resource</a:t>
            </a:r>
          </a:p>
        </p:txBody>
      </p:sp>
      <p:sp>
        <p:nvSpPr>
          <p:cNvPr id="20" name="Rounded Rectangle 19"/>
          <p:cNvSpPr/>
          <p:nvPr/>
        </p:nvSpPr>
        <p:spPr>
          <a:xfrm>
            <a:off x="4433315" y="2850773"/>
            <a:ext cx="3774947" cy="1351157"/>
          </a:xfrm>
          <a:prstGeom prst="roundRect">
            <a:avLst>
              <a:gd name="adj" fmla="val 10421"/>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3242888"/>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356274"/>
            <a:ext cx="340156" cy="340156"/>
          </a:xfrm>
          <a:prstGeom prst="rect">
            <a:avLst/>
          </a:prstGeom>
        </p:spPr>
      </p:pic>
      <p:sp>
        <p:nvSpPr>
          <p:cNvPr id="23" name="TextBox 22"/>
          <p:cNvSpPr txBox="1"/>
          <p:nvPr/>
        </p:nvSpPr>
        <p:spPr>
          <a:xfrm>
            <a:off x="5384291" y="2923925"/>
            <a:ext cx="2622804" cy="1204853"/>
          </a:xfrm>
          <a:prstGeom prst="rect">
            <a:avLst/>
          </a:prstGeom>
          <a:noFill/>
        </p:spPr>
        <p:txBody>
          <a:bodyPr wrap="square" anchor="ctr" lIns="0" tIns="0" rIns="0" bIns="0">
            <a:spAutoFit/>
          </a:bodyPr>
          <a:lstStyle/>
          <a:p>
            <a:pPr algn="l"/>
            <a:r>
              <a:rPr sz="1380" b="1">
                <a:solidFill>
                  <a:srgbClr val="1D4ED8"/>
                </a:solidFill>
                <a:latin typeface="Poppins"/>
              </a:rPr>
              <a:t>A corpus</a:t>
            </a:r>
          </a:p>
          <a:p>
            <a:pPr algn="l">
              <a:spcBef>
                <a:spcPts val="500"/>
              </a:spcBef>
            </a:pPr>
            <a:r>
              <a:rPr sz="1150" b="0">
                <a:solidFill>
                  <a:srgbClr val="0F172A"/>
                </a:solidFill>
                <a:latin typeface="Inter"/>
              </a:rPr>
              <a:t>Significant, organized collection of text or audio data that often includes a wide range of documents, texts, or voices in one or more specific languages</a:t>
            </a:r>
          </a:p>
        </p:txBody>
      </p:sp>
      <p:sp>
        <p:nvSpPr>
          <p:cNvPr id="24" name="Rounded Rectangle 23"/>
          <p:cNvSpPr/>
          <p:nvPr/>
        </p:nvSpPr>
        <p:spPr>
          <a:xfrm>
            <a:off x="457200" y="4403099"/>
            <a:ext cx="7751064" cy="882132"/>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403099"/>
            <a:ext cx="73152" cy="882132"/>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4476251"/>
            <a:ext cx="7356043" cy="735828"/>
          </a:xfrm>
          <a:prstGeom prst="rect">
            <a:avLst/>
          </a:prstGeom>
          <a:noFill/>
        </p:spPr>
        <p:txBody>
          <a:bodyPr wrap="square" anchor="ctr" lIns="0" tIns="0" rIns="0" bIns="0">
            <a:spAutoFit/>
          </a:bodyPr>
          <a:lstStyle/>
          <a:p>
            <a:pPr algn="l"/>
            <a:r>
              <a:rPr sz="1010" b="1">
                <a:solidFill>
                  <a:srgbClr val="1D4ED8"/>
                </a:solidFill>
                <a:latin typeface="Poppins"/>
              </a:rPr>
              <a:t>ALSO ON THIS SLIDE</a:t>
            </a:r>
          </a:p>
          <a:p>
            <a:pPr algn="l">
              <a:spcBef>
                <a:spcPts val="300"/>
              </a:spcBef>
            </a:pPr>
            <a:r>
              <a:rPr sz="1400" b="0">
                <a:solidFill>
                  <a:srgbClr val="0F172A"/>
                </a:solidFill>
                <a:latin typeface="Inter"/>
              </a:rPr>
              <a:t>They can be derived in different ways like text that was originally electronic, transcripts of spoken language and optical character recognition, etc.</a:t>
            </a:r>
          </a:p>
        </p:txBody>
      </p:sp>
      <p:sp>
        <p:nvSpPr>
          <p:cNvPr id="27" name="Rounded Rectangle 26"/>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A corpus is a large, structured set of machine-readable texts serving as an essential NLP resource.</a:t>
            </a:r>
          </a:p>
          <a:p>
            <a:pPr algn="l"/>
            <a:r>
              <a:rPr b="1" sz="1300">
                <a:solidFill>
                  <a:srgbClr val="1D4ED8"/>
                </a:solidFill>
                <a:latin typeface="Poppins"/>
              </a:rPr>
              <a:t>Key terms:  </a:t>
            </a:r>
            <a:r>
              <a:rPr sz="1300" b="0">
                <a:solidFill>
                  <a:srgbClr val="0F172A"/>
                </a:solidFill>
                <a:latin typeface="Inter"/>
              </a:rPr>
              <a:t>Corpus — A large and structured set of machine-readable texts produced in natural communicative settings.</a:t>
            </a:r>
          </a:p>
        </p:txBody>
      </p:sp>
      <p:sp>
        <p:nvSpPr>
          <p:cNvPr id="28" name="Rectangle 27"/>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5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Lexical ambiguity presents an initial problem for natural language processing systems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3 / 32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020887"/>
          </a:xfrm>
          <a:prstGeom prst="roundRect">
            <a:avLst>
              <a:gd name="adj" fmla="val 13793"/>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25427"/>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38813"/>
            <a:ext cx="340156" cy="340156"/>
          </a:xfrm>
          <a:prstGeom prst="rect">
            <a:avLst/>
          </a:prstGeom>
        </p:spPr>
      </p:pic>
      <p:sp>
        <p:nvSpPr>
          <p:cNvPr id="11" name="TextBox 10"/>
          <p:cNvSpPr txBox="1"/>
          <p:nvPr/>
        </p:nvSpPr>
        <p:spPr>
          <a:xfrm>
            <a:off x="1408175" y="1371600"/>
            <a:ext cx="2622804" cy="874583"/>
          </a:xfrm>
          <a:prstGeom prst="rect">
            <a:avLst/>
          </a:prstGeom>
          <a:noFill/>
        </p:spPr>
        <p:txBody>
          <a:bodyPr wrap="square" anchor="ctr" lIns="0" tIns="0" rIns="0" bIns="0">
            <a:spAutoFit/>
          </a:bodyPr>
          <a:lstStyle/>
          <a:p>
            <a:pPr algn="l"/>
            <a:r>
              <a:rPr sz="1440" b="1">
                <a:solidFill>
                  <a:srgbClr val="1D4ED8"/>
                </a:solidFill>
                <a:latin typeface="Poppins"/>
              </a:rPr>
              <a:t>We understand that words</a:t>
            </a:r>
          </a:p>
          <a:p>
            <a:pPr algn="l">
              <a:spcBef>
                <a:spcPts val="500"/>
              </a:spcBef>
            </a:pPr>
            <a:r>
              <a:rPr sz="1200" b="0">
                <a:solidFill>
                  <a:srgbClr val="0F172A"/>
                </a:solidFill>
                <a:latin typeface="Inter"/>
              </a:rPr>
              <a:t>have different meanings based on the context of its usage in the</a:t>
            </a:r>
          </a:p>
        </p:txBody>
      </p:sp>
      <p:sp>
        <p:nvSpPr>
          <p:cNvPr id="12" name="Rounded Rectangle 11"/>
          <p:cNvSpPr/>
          <p:nvPr/>
        </p:nvSpPr>
        <p:spPr>
          <a:xfrm>
            <a:off x="4433315" y="1298448"/>
            <a:ext cx="3774947" cy="1020887"/>
          </a:xfrm>
          <a:prstGeom prst="roundRect">
            <a:avLst>
              <a:gd name="adj" fmla="val 13793"/>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525427"/>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38813"/>
            <a:ext cx="340156" cy="340156"/>
          </a:xfrm>
          <a:prstGeom prst="rect">
            <a:avLst/>
          </a:prstGeom>
        </p:spPr>
      </p:pic>
      <p:sp>
        <p:nvSpPr>
          <p:cNvPr id="15" name="TextBox 14"/>
          <p:cNvSpPr txBox="1"/>
          <p:nvPr/>
        </p:nvSpPr>
        <p:spPr>
          <a:xfrm>
            <a:off x="5384291" y="1371600"/>
            <a:ext cx="2622804" cy="874583"/>
          </a:xfrm>
          <a:prstGeom prst="rect">
            <a:avLst/>
          </a:prstGeom>
          <a:noFill/>
        </p:spPr>
        <p:txBody>
          <a:bodyPr wrap="square" anchor="ctr" lIns="0" tIns="0" rIns="0" bIns="0">
            <a:spAutoFit/>
          </a:bodyPr>
          <a:lstStyle/>
          <a:p>
            <a:pPr algn="l"/>
            <a:r>
              <a:rPr sz="1440" b="1">
                <a:solidFill>
                  <a:srgbClr val="1D4ED8"/>
                </a:solidFill>
                <a:latin typeface="Poppins"/>
              </a:rPr>
              <a:t>Lexical ambiguity</a:t>
            </a:r>
          </a:p>
          <a:p>
            <a:pPr algn="l">
              <a:spcBef>
                <a:spcPts val="500"/>
              </a:spcBef>
            </a:pPr>
            <a:r>
              <a:rPr sz="1200" b="0">
                <a:solidFill>
                  <a:srgbClr val="0F172A"/>
                </a:solidFill>
                <a:latin typeface="Inter"/>
              </a:rPr>
              <a:t>syntactic or semantic, is one of the very first problem that any NLP system</a:t>
            </a:r>
          </a:p>
        </p:txBody>
      </p:sp>
      <p:sp>
        <p:nvSpPr>
          <p:cNvPr id="16" name="Rounded Rectangle 15"/>
          <p:cNvSpPr/>
          <p:nvPr/>
        </p:nvSpPr>
        <p:spPr>
          <a:xfrm>
            <a:off x="457200" y="2520503"/>
            <a:ext cx="7751064" cy="1020887"/>
          </a:xfrm>
          <a:prstGeom prst="roundRect">
            <a:avLst>
              <a:gd name="adj" fmla="val 13793"/>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747483"/>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860868"/>
            <a:ext cx="340156" cy="340156"/>
          </a:xfrm>
          <a:prstGeom prst="rect">
            <a:avLst/>
          </a:prstGeom>
        </p:spPr>
      </p:pic>
      <p:sp>
        <p:nvSpPr>
          <p:cNvPr id="19" name="TextBox 18"/>
          <p:cNvSpPr txBox="1"/>
          <p:nvPr/>
        </p:nvSpPr>
        <p:spPr>
          <a:xfrm>
            <a:off x="1408175" y="2593655"/>
            <a:ext cx="6598919" cy="874583"/>
          </a:xfrm>
          <a:prstGeom prst="rect">
            <a:avLst/>
          </a:prstGeom>
          <a:noFill/>
        </p:spPr>
        <p:txBody>
          <a:bodyPr wrap="square" anchor="ctr" lIns="0" tIns="0" rIns="0" bIns="0">
            <a:spAutoFit/>
          </a:bodyPr>
          <a:lstStyle/>
          <a:p>
            <a:pPr algn="l"/>
            <a:r>
              <a:rPr sz="1440" b="1">
                <a:solidFill>
                  <a:srgbClr val="1D4ED8"/>
                </a:solidFill>
                <a:latin typeface="Poppins"/>
              </a:rPr>
              <a:t>In first sentence</a:t>
            </a:r>
          </a:p>
          <a:p>
            <a:pPr algn="l">
              <a:spcBef>
                <a:spcPts val="500"/>
              </a:spcBef>
            </a:pPr>
            <a:r>
              <a:rPr sz="1200" b="0">
                <a:solidFill>
                  <a:srgbClr val="0F172A"/>
                </a:solidFill>
                <a:latin typeface="Inter"/>
              </a:rPr>
              <a:t>it means frequency and in second, it means fish</a:t>
            </a:r>
          </a:p>
        </p:txBody>
      </p:sp>
      <p:sp>
        <p:nvSpPr>
          <p:cNvPr id="20" name="Rounded Rectangle 19"/>
          <p:cNvSpPr/>
          <p:nvPr/>
        </p:nvSpPr>
        <p:spPr>
          <a:xfrm>
            <a:off x="457200" y="3742558"/>
            <a:ext cx="7751064" cy="1542673"/>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42558"/>
            <a:ext cx="73152" cy="154267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15710"/>
            <a:ext cx="7356043" cy="1396369"/>
          </a:xfrm>
          <a:prstGeom prst="rect">
            <a:avLst/>
          </a:prstGeom>
          <a:noFill/>
        </p:spPr>
        <p:txBody>
          <a:bodyPr wrap="square" anchor="ctr" lIns="0" tIns="0" rIns="0" bIns="0">
            <a:spAutoFit/>
          </a:bodyPr>
          <a:lstStyle/>
          <a:p>
            <a:pPr algn="l"/>
            <a:r>
              <a:rPr sz="790" b="1">
                <a:solidFill>
                  <a:srgbClr val="1D4ED8"/>
                </a:solidFill>
                <a:latin typeface="Poppins"/>
              </a:rPr>
              <a:t>IN PLAIN WORDS</a:t>
            </a:r>
          </a:p>
          <a:p>
            <a:pPr algn="l">
              <a:spcBef>
                <a:spcPts val="300"/>
              </a:spcBef>
            </a:pPr>
            <a:r>
              <a:rPr sz="1100" b="0">
                <a:solidFill>
                  <a:srgbClr val="0F172A"/>
                </a:solidFill>
                <a:latin typeface="Inter"/>
              </a:rPr>
              <a:t>Words often have different meanings depending on their context. Lexical ambiguity is an early challenge for NLP systems, requiring context to determine the correct interpretation of terms. For example, a word like frequency or fish changes its meaning entirely based on the surrounding sentence.</a:t>
            </a:r>
          </a:p>
          <a:p>
            <a:pPr algn="l">
              <a:spcBef>
                <a:spcPts val="300"/>
              </a:spcBef>
            </a:pPr>
            <a:r>
              <a:rPr sz="1100" b="0">
                <a:solidFill>
                  <a:srgbClr val="0F172A"/>
                </a:solidFill>
                <a:latin typeface="Inter"/>
              </a:rPr>
              <a:t>All-words − This kind: All-words − This kind of corpora is used in the system, where it is expected to</a:t>
            </a:r>
          </a:p>
        </p:txBody>
      </p:sp>
      <p:sp>
        <p:nvSpPr>
          <p:cNvPr id="23" name="Rounded Rectangle 22"/>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Lexical ambiguity, whether syntactic or semantic, is an initial problem for any NLP system.</a:t>
            </a:r>
          </a:p>
          <a:p>
            <a:pPr algn="l"/>
            <a:r>
              <a:rPr b="1" sz="1300">
                <a:solidFill>
                  <a:srgbClr val="1D4ED8"/>
                </a:solidFill>
                <a:latin typeface="Poppins"/>
              </a:rPr>
              <a:t>Key terms:  </a:t>
            </a:r>
            <a:r>
              <a:rPr sz="1300" b="0">
                <a:solidFill>
                  <a:srgbClr val="0F172A"/>
                </a:solidFill>
                <a:latin typeface="Inter"/>
              </a:rPr>
              <a:t>nlp — Natural Language Processing  ·  Lexical ambiguity — When a word has multiple syntactic or semantic interpretations depending on context.</a:t>
            </a:r>
          </a:p>
        </p:txBody>
      </p:sp>
      <p:sp>
        <p:nvSpPr>
          <p:cNvPr id="24" name="Rectangle 23"/>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Word sense disambiguation determines the active meaning of a term in context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4 / 32</a:t>
            </a:r>
          </a:p>
        </p:txBody>
      </p:sp>
      <p:sp>
        <p:nvSpPr>
          <p:cNvPr id="7" name="Rounded Rectangle 6">
            <a:hlinkClick r:id="rId3"/>
          </p:cNvPr>
          <p:cNvSpPr/>
          <p:nvPr/>
        </p:nvSpPr>
        <p:spPr>
          <a:xfrm>
            <a:off x="3883456" y="6455664"/>
            <a:ext cx="4422038"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Naive Bayes WSD Lab</a:t>
            </a:r>
          </a:p>
        </p:txBody>
      </p:sp>
      <p:pic>
        <p:nvPicPr>
          <p:cNvPr id="8" name="Picture 7" descr="image.png">
            <a:hlinkClick r:id="rId5"/>
          </p:cNvPr>
          <p:cNvPicPr>
            <a:picLocks noChangeAspect="1"/>
          </p:cNvPicPr>
          <p:nvPr/>
        </p:nvPicPr>
        <p:blipFill>
          <a:blip r:embed="rId4"/>
          <a:stretch>
            <a:fillRect/>
          </a:stretch>
        </p:blipFill>
        <p:spPr>
          <a:xfrm>
            <a:off x="8409432" y="1298448"/>
            <a:ext cx="3322320" cy="3986784"/>
          </a:xfrm>
          <a:prstGeom prst="rect">
            <a:avLst/>
          </a:prstGeom>
        </p:spPr>
      </p:pic>
      <p:sp>
        <p:nvSpPr>
          <p:cNvPr id="9" name="Rectangle 8"/>
          <p:cNvSpPr/>
          <p:nvPr/>
        </p:nvSpPr>
        <p:spPr>
          <a:xfrm>
            <a:off x="457200" y="1404832"/>
            <a:ext cx="82296" cy="51745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 y="1368256"/>
            <a:ext cx="6963576" cy="535746"/>
          </a:xfrm>
          <a:prstGeom prst="rect">
            <a:avLst/>
          </a:prstGeom>
          <a:noFill/>
        </p:spPr>
        <p:txBody>
          <a:bodyPr wrap="square" anchor="t" lIns="0" tIns="0" rIns="0" bIns="0">
            <a:spAutoFit/>
          </a:bodyPr>
          <a:lstStyle/>
          <a:p>
            <a:pPr algn="l"/>
            <a:r>
              <a:rPr sz="1670" b="1">
                <a:solidFill>
                  <a:srgbClr val="1D4ED8"/>
                </a:solidFill>
                <a:latin typeface="Poppins"/>
              </a:rPr>
              <a:t>We understand that words have different meanings based on the context of its usage in the sentence.</a:t>
            </a:r>
          </a:p>
        </p:txBody>
      </p:sp>
      <p:sp>
        <p:nvSpPr>
          <p:cNvPr id="11" name="TextBox 10"/>
          <p:cNvSpPr txBox="1"/>
          <p:nvPr/>
        </p:nvSpPr>
        <p:spPr>
          <a:xfrm>
            <a:off x="720547" y="2096027"/>
            <a:ext cx="6963576" cy="648081"/>
          </a:xfrm>
          <a:prstGeom prst="rect">
            <a:avLst/>
          </a:prstGeom>
          <a:noFill/>
        </p:spPr>
        <p:txBody>
          <a:bodyPr wrap="square" lIns="0" rIns="0" tIns="0" bIns="0">
            <a:spAutoFit/>
          </a:bodyPr>
          <a:lstStyle/>
          <a:p>
            <a:r>
              <a:rPr sz="840" b="1">
                <a:solidFill>
                  <a:srgbClr val="1D4ED8"/>
                </a:solidFill>
                <a:latin typeface="Poppins"/>
              </a:rPr>
              <a:t>BECAUSE   </a:t>
            </a:r>
            <a:r>
              <a:rPr sz="1350">
                <a:solidFill>
                  <a:srgbClr val="0F172A"/>
                </a:solidFill>
                <a:latin typeface="Inter"/>
              </a:rPr>
              <a:t>If we talk about human languages, </a:t>
            </a:r>
            <a:r>
              <a:rPr sz="1350" b="1">
                <a:solidFill>
                  <a:srgbClr val="6D28D9"/>
                </a:solidFill>
                <a:latin typeface="Poppins"/>
              </a:rPr>
              <a:t>then</a:t>
            </a:r>
            <a:r>
              <a:rPr sz="1350">
                <a:solidFill>
                  <a:srgbClr val="0F172A"/>
                </a:solidFill>
                <a:latin typeface="Inter"/>
              </a:rPr>
              <a:t> they are ambiguous too </a:t>
            </a:r>
            <a:r>
              <a:rPr sz="1350" b="1">
                <a:solidFill>
                  <a:srgbClr val="1D4ED8"/>
                </a:solidFill>
                <a:latin typeface="Poppins"/>
              </a:rPr>
              <a:t>because</a:t>
            </a:r>
            <a:r>
              <a:rPr sz="1350">
                <a:solidFill>
                  <a:srgbClr val="0F172A"/>
                </a:solidFill>
                <a:latin typeface="Inter"/>
              </a:rPr>
              <a:t> many words can be interpreted in multiple ways depending upon the context of their occurrence.</a:t>
            </a:r>
          </a:p>
        </p:txBody>
      </p:sp>
      <p:sp>
        <p:nvSpPr>
          <p:cNvPr id="12" name="TextBox 11"/>
          <p:cNvSpPr txBox="1"/>
          <p:nvPr/>
        </p:nvSpPr>
        <p:spPr>
          <a:xfrm>
            <a:off x="720547" y="2872124"/>
            <a:ext cx="6963576" cy="648081"/>
          </a:xfrm>
          <a:prstGeom prst="rect">
            <a:avLst/>
          </a:prstGeom>
          <a:noFill/>
        </p:spPr>
        <p:txBody>
          <a:bodyPr wrap="square" lIns="0" rIns="0" tIns="0" bIns="0">
            <a:spAutoFit/>
          </a:bodyPr>
          <a:lstStyle/>
          <a:p>
            <a:r>
              <a:rPr sz="1350">
                <a:solidFill>
                  <a:srgbClr val="0F172A"/>
                </a:solidFill>
                <a:latin typeface="Inter"/>
              </a:rPr>
              <a:t>Word sense disambiguation, in natural language processing (NLP), may be defined as the ability to determine which meaning of word is activated by the use of word in a particular context.</a:t>
            </a:r>
          </a:p>
        </p:txBody>
      </p:sp>
      <p:sp>
        <p:nvSpPr>
          <p:cNvPr id="13" name="Rounded Rectangle 12"/>
          <p:cNvSpPr/>
          <p:nvPr/>
        </p:nvSpPr>
        <p:spPr>
          <a:xfrm>
            <a:off x="457200" y="3919198"/>
            <a:ext cx="7751064" cy="1366033"/>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19198"/>
            <a:ext cx="73152" cy="136603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1D4ED8"/>
                </a:solidFill>
                <a:latin typeface="Poppins"/>
              </a:rPr>
              <a:t>IN PLAIN WORDS</a:t>
            </a:r>
          </a:p>
          <a:p>
            <a:pPr algn="l">
              <a:spcBef>
                <a:spcPts val="300"/>
              </a:spcBef>
            </a:pPr>
            <a:r>
              <a:rPr sz="1400" b="0">
                <a:solidFill>
                  <a:srgbClr val="0F172A"/>
                </a:solidFill>
                <a:latin typeface="Inter"/>
              </a:rPr>
              <a:t>Human languages are inherently ambiguous because words can be interpreted in multiple ways. Word sense disambiguation identifies which specific meaning of a word is active in a particular context. For example, determining whether 'bank' refers to a financial institution or a river edge.</a:t>
            </a:r>
          </a:p>
        </p:txBody>
      </p:sp>
      <p:sp>
        <p:nvSpPr>
          <p:cNvPr id="16" name="Rounded Rectangle 15"/>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Word sense disambiguation determines which meaning of a word is activated in a particular context.</a:t>
            </a:r>
          </a:p>
          <a:p>
            <a:pPr algn="l"/>
            <a:r>
              <a:rPr b="1" sz="1300">
                <a:solidFill>
                  <a:srgbClr val="1D4ED8"/>
                </a:solidFill>
                <a:latin typeface="Poppins"/>
              </a:rPr>
              <a:t>Key terms:  </a:t>
            </a:r>
            <a:r>
              <a:rPr sz="1300" b="0">
                <a:solidFill>
                  <a:srgbClr val="0F172A"/>
                </a:solidFill>
                <a:latin typeface="Inter"/>
              </a:rPr>
              <a:t>Word sense disambiguation — The ability to determine which word meaning is activated in a particular context.</a:t>
            </a:r>
          </a:p>
        </p:txBody>
      </p:sp>
      <p:sp>
        <p:nvSpPr>
          <p:cNvPr id="17" name="Rectangle 16"/>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5 / 32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Which term matches this description: “The ability to determine which word meaning is activated in a particular context.”?</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Bootstrapping</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Word sense disambiguation</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Word sense induction</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Lesk algorithm</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B</a:t>
            </a:r>
          </a:p>
          <a:p>
            <a:pPr algn="l">
              <a:spcBef>
                <a:spcPts val="200"/>
              </a:spcBef>
            </a:pPr>
            <a:r>
              <a:rPr sz="1500" b="0">
                <a:solidFill>
                  <a:srgbClr val="FFFFFF"/>
                </a:solidFill>
                <a:latin typeface="Inter"/>
              </a:rPr>
              <a:t>Word sense disambiguation: The ability to determine which word meaning is activated in a particular context.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Resolving semantic ambiguity is harder than solving syntactic ambiguity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6 / 32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86265"/>
            <a:ext cx="82296" cy="497616"/>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49689"/>
            <a:ext cx="6963576" cy="515904"/>
          </a:xfrm>
          <a:prstGeom prst="rect">
            <a:avLst/>
          </a:prstGeom>
          <a:noFill/>
        </p:spPr>
        <p:txBody>
          <a:bodyPr wrap="square" anchor="t" lIns="0" tIns="0" rIns="0" bIns="0">
            <a:spAutoFit/>
          </a:bodyPr>
          <a:lstStyle/>
          <a:p>
            <a:pPr algn="l"/>
            <a:r>
              <a:rPr sz="1610" b="1">
                <a:solidFill>
                  <a:srgbClr val="1D4ED8"/>
                </a:solidFill>
                <a:latin typeface="Poppins"/>
              </a:rPr>
              <a:t>Lexical ambiguity, syntactic or semantic, is one of the very first problem that any NLP system faces.</a:t>
            </a:r>
          </a:p>
        </p:txBody>
      </p:sp>
      <p:sp>
        <p:nvSpPr>
          <p:cNvPr id="10" name="TextBox 9"/>
          <p:cNvSpPr txBox="1"/>
          <p:nvPr/>
        </p:nvSpPr>
        <p:spPr>
          <a:xfrm>
            <a:off x="720547" y="2157618"/>
            <a:ext cx="6963576" cy="416051"/>
          </a:xfrm>
          <a:prstGeom prst="rect">
            <a:avLst/>
          </a:prstGeom>
          <a:noFill/>
        </p:spPr>
        <p:txBody>
          <a:bodyPr wrap="square" lIns="0" rIns="0" tIns="0" bIns="0">
            <a:spAutoFit/>
          </a:bodyPr>
          <a:lstStyle/>
          <a:p>
            <a:r>
              <a:rPr sz="1300">
                <a:solidFill>
                  <a:srgbClr val="0F172A"/>
                </a:solidFill>
                <a:latin typeface="Inter"/>
              </a:rPr>
              <a:t>Part-of-speech (POS) taggers with high level of accuracy can solve Word’s syntactic ambiguity.</a:t>
            </a:r>
          </a:p>
        </p:txBody>
      </p:sp>
      <p:sp>
        <p:nvSpPr>
          <p:cNvPr id="11" name="TextBox 10"/>
          <p:cNvSpPr txBox="1"/>
          <p:nvPr/>
        </p:nvSpPr>
        <p:spPr>
          <a:xfrm>
            <a:off x="720547" y="2701686"/>
            <a:ext cx="6963576" cy="416051"/>
          </a:xfrm>
          <a:prstGeom prst="rect">
            <a:avLst/>
          </a:prstGeom>
          <a:noFill/>
        </p:spPr>
        <p:txBody>
          <a:bodyPr wrap="square" lIns="0" rIns="0" tIns="0" bIns="0">
            <a:spAutoFit/>
          </a:bodyPr>
          <a:lstStyle/>
          <a:p>
            <a:r>
              <a:rPr sz="810" b="1">
                <a:solidFill>
                  <a:srgbClr val="C2410C"/>
                </a:solidFill>
                <a:latin typeface="Poppins"/>
              </a:rPr>
              <a:t>BUT   </a:t>
            </a:r>
            <a:r>
              <a:rPr sz="1300" b="1">
                <a:solidFill>
                  <a:srgbClr val="C2410C"/>
                </a:solidFill>
                <a:latin typeface="Poppins"/>
              </a:rPr>
              <a:t>On the other hand</a:t>
            </a:r>
            <a:r>
              <a:rPr sz="1300">
                <a:solidFill>
                  <a:srgbClr val="0F172A"/>
                </a:solidFill>
                <a:latin typeface="Inter"/>
              </a:rPr>
              <a:t>, the problem of resolving semantic ambiguity is called WSD (word sense disambiguation).</a:t>
            </a:r>
          </a:p>
        </p:txBody>
      </p:sp>
      <p:sp>
        <p:nvSpPr>
          <p:cNvPr id="12" name="TextBox 11"/>
          <p:cNvSpPr txBox="1"/>
          <p:nvPr/>
        </p:nvSpPr>
        <p:spPr>
          <a:xfrm>
            <a:off x="720547" y="3245754"/>
            <a:ext cx="6963576" cy="208025"/>
          </a:xfrm>
          <a:prstGeom prst="rect">
            <a:avLst/>
          </a:prstGeom>
          <a:noFill/>
        </p:spPr>
        <p:txBody>
          <a:bodyPr wrap="square" lIns="0" rIns="0" tIns="0" bIns="0">
            <a:spAutoFit/>
          </a:bodyPr>
          <a:lstStyle/>
          <a:p>
            <a:r>
              <a:rPr sz="1300">
                <a:solidFill>
                  <a:srgbClr val="0F172A"/>
                </a:solidFill>
                <a:latin typeface="Inter"/>
              </a:rPr>
              <a:t>Resolving semantic ambiguity is harder than resolving syntactic ambiguity.</a:t>
            </a:r>
          </a:p>
        </p:txBody>
      </p:sp>
      <p:sp>
        <p:nvSpPr>
          <p:cNvPr id="13" name="TextBox 12"/>
          <p:cNvSpPr txBox="1"/>
          <p:nvPr/>
        </p:nvSpPr>
        <p:spPr>
          <a:xfrm>
            <a:off x="994867" y="3581796"/>
            <a:ext cx="6689256" cy="416051"/>
          </a:xfrm>
          <a:prstGeom prst="rect">
            <a:avLst/>
          </a:prstGeom>
          <a:noFill/>
        </p:spPr>
        <p:txBody>
          <a:bodyPr wrap="square" lIns="0" rIns="0" tIns="0" bIns="0">
            <a:spAutoFit/>
          </a:bodyPr>
          <a:lstStyle/>
          <a:p>
            <a:r>
              <a:rPr sz="810" b="1">
                <a:solidFill>
                  <a:srgbClr val="0F766E"/>
                </a:solidFill>
                <a:latin typeface="Poppins"/>
              </a:rPr>
              <a:t>E.G.   </a:t>
            </a:r>
            <a:r>
              <a:rPr sz="1300" b="1">
                <a:solidFill>
                  <a:srgbClr val="0F766E"/>
                </a:solidFill>
                <a:latin typeface="Poppins"/>
              </a:rPr>
              <a:t>For example</a:t>
            </a:r>
            <a:r>
              <a:rPr sz="1300">
                <a:solidFill>
                  <a:srgbClr val="0F172A"/>
                </a:solidFill>
                <a:latin typeface="Inter"/>
              </a:rPr>
              <a:t>, consider the two examples of the distinct sense that exist for the word “bass” −.</a:t>
            </a:r>
          </a:p>
        </p:txBody>
      </p:sp>
      <p:sp>
        <p:nvSpPr>
          <p:cNvPr id="14" name="TextBox 13"/>
          <p:cNvSpPr txBox="1"/>
          <p:nvPr/>
        </p:nvSpPr>
        <p:spPr>
          <a:xfrm>
            <a:off x="720547" y="4125864"/>
            <a:ext cx="6963576" cy="208025"/>
          </a:xfrm>
          <a:prstGeom prst="rect">
            <a:avLst/>
          </a:prstGeom>
          <a:noFill/>
        </p:spPr>
        <p:txBody>
          <a:bodyPr wrap="square" lIns="0" rIns="0" tIns="0" bIns="0">
            <a:spAutoFit/>
          </a:bodyPr>
          <a:lstStyle/>
          <a:p>
            <a:r>
              <a:rPr sz="1300">
                <a:solidFill>
                  <a:srgbClr val="0F172A"/>
                </a:solidFill>
                <a:latin typeface="Inter"/>
              </a:rPr>
              <a:t>I can hear bass sound.</a:t>
            </a:r>
          </a:p>
        </p:txBody>
      </p:sp>
      <p:sp>
        <p:nvSpPr>
          <p:cNvPr id="15" name="TextBox 14"/>
          <p:cNvSpPr txBox="1"/>
          <p:nvPr/>
        </p:nvSpPr>
        <p:spPr>
          <a:xfrm>
            <a:off x="720547" y="4461906"/>
            <a:ext cx="6963576" cy="208025"/>
          </a:xfrm>
          <a:prstGeom prst="rect">
            <a:avLst/>
          </a:prstGeom>
          <a:noFill/>
        </p:spPr>
        <p:txBody>
          <a:bodyPr wrap="square" lIns="0" rIns="0" tIns="0" bIns="0">
            <a:spAutoFit/>
          </a:bodyPr>
          <a:lstStyle/>
          <a:p>
            <a:r>
              <a:rPr sz="1300">
                <a:solidFill>
                  <a:srgbClr val="0F172A"/>
                </a:solidFill>
                <a:latin typeface="Inter"/>
              </a:rPr>
              <a:t>He likes to eat grilled bass.</a:t>
            </a:r>
          </a:p>
        </p:txBody>
      </p:sp>
      <p:sp>
        <p:nvSpPr>
          <p:cNvPr id="16" name="TextBox 15"/>
          <p:cNvSpPr txBox="1"/>
          <p:nvPr/>
        </p:nvSpPr>
        <p:spPr>
          <a:xfrm>
            <a:off x="720547" y="4797948"/>
            <a:ext cx="6963576" cy="208025"/>
          </a:xfrm>
          <a:prstGeom prst="rect">
            <a:avLst/>
          </a:prstGeom>
          <a:noFill/>
        </p:spPr>
        <p:txBody>
          <a:bodyPr wrap="square" lIns="0" rIns="0" tIns="0" bIns="0">
            <a:spAutoFit/>
          </a:bodyPr>
          <a:lstStyle/>
          <a:p>
            <a:r>
              <a:rPr sz="1300">
                <a:solidFill>
                  <a:srgbClr val="0F172A"/>
                </a:solidFill>
                <a:latin typeface="Inter"/>
              </a:rPr>
              <a:t>The occurrence of the word bass clearly denotes the distinct meaning.</a:t>
            </a:r>
          </a:p>
        </p:txBody>
      </p:sp>
      <p:sp>
        <p:nvSpPr>
          <p:cNvPr id="17" name="Rounded Rectangle 16"/>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terms:  </a:t>
            </a:r>
            <a:r>
              <a:rPr sz="1600" b="1">
                <a:solidFill>
                  <a:srgbClr val="0F172A"/>
                </a:solidFill>
                <a:latin typeface="Poppins"/>
              </a:rPr>
              <a:t>wsd — Methods to Word Sense Disambiguation  ·  WSD — The process of resolving semantic ambiguity in natural language processing.</a:t>
            </a:r>
          </a:p>
        </p:txBody>
      </p:sp>
      <p:sp>
        <p:nvSpPr>
          <p:cNvPr id="18" name="Rectangle 17"/>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Evaluation of word sense disambiguation requires a dictionary and test corpora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7 / 32</a:t>
            </a:r>
          </a:p>
        </p:txBody>
      </p:sp>
      <p:sp>
        <p:nvSpPr>
          <p:cNvPr id="8" name="Rounded Rectangle 7">
            <a:hlinkClick r:id="rId5"/>
          </p:cNvPr>
          <p:cNvSpPr/>
          <p:nvPr/>
        </p:nvSpPr>
        <p:spPr>
          <a:xfrm>
            <a:off x="3883456" y="6455664"/>
            <a:ext cx="4422038"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Naive Bayes WSD Lab</a:t>
            </a:r>
          </a:p>
        </p:txBody>
      </p:sp>
      <p:sp>
        <p:nvSpPr>
          <p:cNvPr id="9" name="Rounded Rectangle 8"/>
          <p:cNvSpPr/>
          <p:nvPr/>
        </p:nvSpPr>
        <p:spPr>
          <a:xfrm>
            <a:off x="457200" y="1298448"/>
            <a:ext cx="2457968"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1" name="TextBox 10"/>
          <p:cNvSpPr txBox="1"/>
          <p:nvPr/>
        </p:nvSpPr>
        <p:spPr>
          <a:xfrm>
            <a:off x="658368" y="2103120"/>
            <a:ext cx="2055632" cy="1413742"/>
          </a:xfrm>
          <a:prstGeom prst="rect">
            <a:avLst/>
          </a:prstGeom>
          <a:noFill/>
        </p:spPr>
        <p:txBody>
          <a:bodyPr wrap="square" anchor="t" lIns="0" tIns="0" rIns="0" bIns="0">
            <a:spAutoFit/>
          </a:bodyPr>
          <a:lstStyle/>
          <a:p>
            <a:pPr algn="l"/>
            <a:r>
              <a:rPr sz="1260" b="1">
                <a:solidFill>
                  <a:srgbClr val="1D4ED8"/>
                </a:solidFill>
                <a:latin typeface="Poppins"/>
              </a:rPr>
              <a:t>In first sentence</a:t>
            </a:r>
          </a:p>
          <a:p>
            <a:pPr algn="l">
              <a:spcBef>
                <a:spcPts val="500"/>
              </a:spcBef>
            </a:pPr>
            <a:r>
              <a:rPr sz="1050" b="0">
                <a:solidFill>
                  <a:srgbClr val="0F172A"/>
                </a:solidFill>
                <a:latin typeface="Inter"/>
              </a:rPr>
              <a:t>it means frequency and in second, it means fish</a:t>
            </a:r>
          </a:p>
        </p:txBody>
      </p:sp>
      <p:sp>
        <p:nvSpPr>
          <p:cNvPr id="12" name="Right Arrow 11"/>
          <p:cNvSpPr/>
          <p:nvPr/>
        </p:nvSpPr>
        <p:spPr>
          <a:xfrm>
            <a:off x="2970032" y="2352791"/>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99216" y="1298448"/>
            <a:ext cx="2457968"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00384"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5" name="TextBox 14"/>
          <p:cNvSpPr txBox="1"/>
          <p:nvPr/>
        </p:nvSpPr>
        <p:spPr>
          <a:xfrm>
            <a:off x="3500384" y="2103120"/>
            <a:ext cx="2055632" cy="1413742"/>
          </a:xfrm>
          <a:prstGeom prst="rect">
            <a:avLst/>
          </a:prstGeom>
          <a:noFill/>
        </p:spPr>
        <p:txBody>
          <a:bodyPr wrap="square" anchor="t" lIns="0" tIns="0" rIns="0" bIns="0">
            <a:spAutoFit/>
          </a:bodyPr>
          <a:lstStyle/>
          <a:p>
            <a:pPr algn="l"/>
            <a:r>
              <a:rPr sz="1260" b="1">
                <a:solidFill>
                  <a:srgbClr val="1D4ED8"/>
                </a:solidFill>
                <a:latin typeface="Poppins"/>
              </a:rPr>
              <a:t>If it would be disambiguated</a:t>
            </a:r>
          </a:p>
          <a:p>
            <a:pPr algn="l">
              <a:spcBef>
                <a:spcPts val="500"/>
              </a:spcBef>
            </a:pPr>
            <a:r>
              <a:rPr sz="1050" b="0">
                <a:solidFill>
                  <a:srgbClr val="0F172A"/>
                </a:solidFill>
                <a:latin typeface="Inter"/>
              </a:rPr>
              <a:t>by WSD then the correct meaning to the above sentences can be assigned as follows − I can hear bass/frequency sound</a:t>
            </a:r>
          </a:p>
        </p:txBody>
      </p:sp>
      <p:sp>
        <p:nvSpPr>
          <p:cNvPr id="16" name="Right Arrow 15"/>
          <p:cNvSpPr/>
          <p:nvPr/>
        </p:nvSpPr>
        <p:spPr>
          <a:xfrm>
            <a:off x="5812048" y="2352791"/>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41232" y="1298448"/>
            <a:ext cx="2457968"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42400"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9" name="TextBox 18"/>
          <p:cNvSpPr txBox="1"/>
          <p:nvPr/>
        </p:nvSpPr>
        <p:spPr>
          <a:xfrm>
            <a:off x="6342400" y="2103120"/>
            <a:ext cx="2055632" cy="1413742"/>
          </a:xfrm>
          <a:prstGeom prst="rect">
            <a:avLst/>
          </a:prstGeom>
          <a:noFill/>
        </p:spPr>
        <p:txBody>
          <a:bodyPr wrap="square" anchor="t" lIns="0" tIns="0" rIns="0" bIns="0">
            <a:spAutoFit/>
          </a:bodyPr>
          <a:lstStyle/>
          <a:p>
            <a:pPr algn="l"/>
            <a:r>
              <a:rPr sz="1260" b="1">
                <a:solidFill>
                  <a:srgbClr val="1D4ED8"/>
                </a:solidFill>
                <a:latin typeface="Poppins"/>
              </a:rPr>
              <a:t>Evaluation of WSD The evaluation</a:t>
            </a:r>
          </a:p>
          <a:p>
            <a:pPr algn="l">
              <a:spcBef>
                <a:spcPts val="500"/>
              </a:spcBef>
            </a:pPr>
            <a:r>
              <a:rPr sz="1050" b="0">
                <a:solidFill>
                  <a:srgbClr val="0F172A"/>
                </a:solidFill>
                <a:latin typeface="Inter"/>
              </a:rPr>
              <a:t>of WSD requires the following two inputs − A Dictionary The very first input for evaluation of WSD is dictionary, which is used to specify the senses to be disambiguated</a:t>
            </a:r>
          </a:p>
        </p:txBody>
      </p:sp>
      <p:sp>
        <p:nvSpPr>
          <p:cNvPr id="20" name="Rounded Rectangle 19"/>
          <p:cNvSpPr/>
          <p:nvPr/>
        </p:nvSpPr>
        <p:spPr>
          <a:xfrm>
            <a:off x="457200" y="3919198"/>
            <a:ext cx="8142000" cy="1366033"/>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19198"/>
            <a:ext cx="73152" cy="136603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992350"/>
            <a:ext cx="7746979" cy="1219729"/>
          </a:xfrm>
          <a:prstGeom prst="rect">
            <a:avLst/>
          </a:prstGeom>
          <a:noFill/>
        </p:spPr>
        <p:txBody>
          <a:bodyPr wrap="square" anchor="ctr" lIns="0" tIns="0" rIns="0" bIns="0">
            <a:spAutoFit/>
          </a:bodyPr>
          <a:lstStyle/>
          <a:p>
            <a:pPr algn="l"/>
            <a:r>
              <a:rPr sz="1010" b="1">
                <a:solidFill>
                  <a:srgbClr val="1D4ED8"/>
                </a:solidFill>
                <a:latin typeface="Poppins"/>
              </a:rPr>
              <a:t>ALSO ON THIS SLIDE</a:t>
            </a:r>
          </a:p>
          <a:p>
            <a:pPr algn="l">
              <a:spcBef>
                <a:spcPts val="300"/>
              </a:spcBef>
            </a:pPr>
            <a:r>
              <a:rPr sz="1400" b="0">
                <a:solidFill>
                  <a:srgbClr val="0F172A"/>
                </a:solidFill>
                <a:latin typeface="Inter"/>
              </a:rPr>
              <a:t>He likes to eat grilled bass/fish. Test Corpus Another input required by WSD is the high-annotated test corpus that has the target or correct-senses. The test corpora can be of two types &amp;minsu; Lexical sample − This kind of corpora is used in the system, where it is required to disambiguate a small sample of words.</a:t>
            </a:r>
          </a:p>
        </p:txBody>
      </p:sp>
      <p:pic>
        <p:nvPicPr>
          <p:cNvPr id="23" name="Picture 22" descr="image.png"/>
          <p:cNvPicPr>
            <a:picLocks noChangeAspect="1"/>
          </p:cNvPicPr>
          <p:nvPr/>
        </p:nvPicPr>
        <p:blipFill>
          <a:blip r:embed="rId6"/>
          <a:stretch>
            <a:fillRect/>
          </a:stretch>
        </p:blipFill>
        <p:spPr>
          <a:xfrm>
            <a:off x="8800368" y="1298448"/>
            <a:ext cx="2931383" cy="3986784"/>
          </a:xfrm>
          <a:prstGeom prst="rect">
            <a:avLst/>
          </a:prstGeom>
        </p:spPr>
      </p:pic>
      <p:sp>
        <p:nvSpPr>
          <p:cNvPr id="24" name="Rounded Rectangle 2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3 steps — from “In first sentence” to “Evaluation of WSD The evaluation”.</a:t>
            </a:r>
          </a:p>
          <a:p>
            <a:pPr algn="l"/>
            <a:r>
              <a:rPr b="1" sz="1300">
                <a:solidFill>
                  <a:srgbClr val="1D4ED8"/>
                </a:solidFill>
                <a:latin typeface="Poppins"/>
              </a:rPr>
              <a:t>Key terms:  </a:t>
            </a:r>
            <a:r>
              <a:rPr sz="1300" b="0">
                <a:solidFill>
                  <a:srgbClr val="0F172A"/>
                </a:solidFill>
                <a:latin typeface="Inter"/>
              </a:rPr>
              <a:t>Following — simplified pictorial representation of the same..  ·  Test Corpus — A high-annotated corpus containing target or correct senses used for evaluation.</a:t>
            </a:r>
          </a:p>
        </p:txBody>
      </p:sp>
      <p:sp>
        <p:nvSpPr>
          <p:cNvPr id="25" name="Rectangle 2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childTnLst>
                                </p:cTn>
                              </p:par>
                              <p:par>
                                <p:cTn id="52" presetID="10" presetClass="entr" presetSubtype="0"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All-words corpora are used to disambiguate every term in running 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8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27378"/>
            <a:ext cx="82296" cy="1415491"/>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90802"/>
            <a:ext cx="7087166" cy="1433779"/>
          </a:xfrm>
          <a:prstGeom prst="rect">
            <a:avLst/>
          </a:prstGeom>
          <a:noFill/>
        </p:spPr>
        <p:txBody>
          <a:bodyPr wrap="square" anchor="t" lIns="0" tIns="0" rIns="0" bIns="0">
            <a:spAutoFit/>
          </a:bodyPr>
          <a:lstStyle/>
          <a:p>
            <a:pPr algn="l"/>
            <a:r>
              <a:rPr sz="2240" b="1">
                <a:solidFill>
                  <a:srgbClr val="1D4ED8"/>
                </a:solidFill>
                <a:latin typeface="Poppins"/>
              </a:rPr>
              <a:t>All-words − This kind of corpora is used in the system, where it is expected to disambiguate all the words in a piece of running text.</a:t>
            </a:r>
          </a:p>
        </p:txBody>
      </p:sp>
      <p:sp>
        <p:nvSpPr>
          <p:cNvPr id="10" name="TextBox 9"/>
          <p:cNvSpPr txBox="1"/>
          <p:nvPr/>
        </p:nvSpPr>
        <p:spPr>
          <a:xfrm>
            <a:off x="720547" y="3016605"/>
            <a:ext cx="7087166" cy="1280160"/>
          </a:xfrm>
          <a:prstGeom prst="rect">
            <a:avLst/>
          </a:prstGeom>
          <a:noFill/>
        </p:spPr>
        <p:txBody>
          <a:bodyPr wrap="square" lIns="0" rIns="0" tIns="0" bIns="0">
            <a:spAutoFit/>
          </a:bodyPr>
          <a:lstStyle/>
          <a:p>
            <a:r>
              <a:rPr sz="2000">
                <a:solidFill>
                  <a:srgbClr val="0F172A"/>
                </a:solidFill>
                <a:latin typeface="Inter"/>
              </a:rPr>
              <a:t>Approaches and Methods to Word Sense Disambiguation (WSD) Approaches and methods to WSD are classified according to the source of knowledge used in word disambiguation.</a:t>
            </a:r>
          </a:p>
        </p:txBody>
      </p:sp>
      <p:sp>
        <p:nvSpPr>
          <p:cNvPr id="11" name="TextBox 10"/>
          <p:cNvSpPr txBox="1"/>
          <p:nvPr/>
        </p:nvSpPr>
        <p:spPr>
          <a:xfrm>
            <a:off x="720547" y="4424781"/>
            <a:ext cx="7087166" cy="640080"/>
          </a:xfrm>
          <a:prstGeom prst="rect">
            <a:avLst/>
          </a:prstGeom>
          <a:noFill/>
        </p:spPr>
        <p:txBody>
          <a:bodyPr wrap="square" lIns="0" rIns="0" tIns="0" bIns="0">
            <a:spAutoFit/>
          </a:bodyPr>
          <a:lstStyle/>
          <a:p>
            <a:r>
              <a:rPr sz="2000">
                <a:solidFill>
                  <a:srgbClr val="0F172A"/>
                </a:solidFill>
                <a:latin typeface="Inter"/>
              </a:rPr>
              <a:t>Let us now see the four conventional methods to WSD −.</a:t>
            </a:r>
          </a:p>
        </p:txBody>
      </p:sp>
      <p:sp>
        <p:nvSpPr>
          <p:cNvPr id="12" name="Rounded Rectangle 11"/>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terms:  </a:t>
            </a:r>
            <a:r>
              <a:rPr sz="1600" b="1">
                <a:solidFill>
                  <a:srgbClr val="0F172A"/>
                </a:solidFill>
                <a:latin typeface="Poppins"/>
              </a:rPr>
              <a:t>All-words corpora — Corpora used to disambiguate all words in a piece of running text.</a:t>
            </a:r>
          </a:p>
        </p:txBody>
      </p:sp>
      <p:sp>
        <p:nvSpPr>
          <p:cNvPr id="13" name="Rectangle 12"/>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Dictionary-based methods rely on lexical knowledge bases without using corpora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9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89318"/>
            <a:ext cx="82296" cy="75556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52742"/>
            <a:ext cx="7087166" cy="773856"/>
          </a:xfrm>
          <a:prstGeom prst="rect">
            <a:avLst/>
          </a:prstGeom>
          <a:noFill/>
        </p:spPr>
        <p:txBody>
          <a:bodyPr wrap="square" anchor="t" lIns="0" tIns="0" rIns="0" bIns="0">
            <a:spAutoFit/>
          </a:bodyPr>
          <a:lstStyle/>
          <a:p>
            <a:pPr algn="l"/>
            <a:r>
              <a:rPr sz="1610" b="1">
                <a:solidFill>
                  <a:srgbClr val="1D4ED8"/>
                </a:solidFill>
                <a:latin typeface="Poppins"/>
              </a:rPr>
              <a:t>As the name suggests, for disambiguation, these methods primarily rely on dictionaries, treasures and lexical knowledge base.</a:t>
            </a:r>
          </a:p>
        </p:txBody>
      </p:sp>
      <p:sp>
        <p:nvSpPr>
          <p:cNvPr id="10" name="TextBox 9"/>
          <p:cNvSpPr txBox="1"/>
          <p:nvPr/>
        </p:nvSpPr>
        <p:spPr>
          <a:xfrm>
            <a:off x="994867" y="2518623"/>
            <a:ext cx="6812846" cy="208025"/>
          </a:xfrm>
          <a:prstGeom prst="rect">
            <a:avLst/>
          </a:prstGeom>
          <a:noFill/>
        </p:spPr>
        <p:txBody>
          <a:bodyPr wrap="square" lIns="0" rIns="0" tIns="0" bIns="0">
            <a:spAutoFit/>
          </a:bodyPr>
          <a:lstStyle/>
          <a:p>
            <a:r>
              <a:rPr sz="1300">
                <a:solidFill>
                  <a:srgbClr val="0F172A"/>
                </a:solidFill>
                <a:latin typeface="Inter"/>
              </a:rPr>
              <a:t>They do not use corpora evidences for disambiguation.</a:t>
            </a:r>
          </a:p>
        </p:txBody>
      </p:sp>
      <p:sp>
        <p:nvSpPr>
          <p:cNvPr id="11" name="TextBox 10"/>
          <p:cNvSpPr txBox="1"/>
          <p:nvPr/>
        </p:nvSpPr>
        <p:spPr>
          <a:xfrm>
            <a:off x="720547" y="2854665"/>
            <a:ext cx="7087166" cy="416051"/>
          </a:xfrm>
          <a:prstGeom prst="rect">
            <a:avLst/>
          </a:prstGeom>
          <a:noFill/>
        </p:spPr>
        <p:txBody>
          <a:bodyPr wrap="square" lIns="0" rIns="0" tIns="0" bIns="0">
            <a:spAutoFit/>
          </a:bodyPr>
          <a:lstStyle/>
          <a:p>
            <a:r>
              <a:rPr sz="1300">
                <a:solidFill>
                  <a:srgbClr val="0F172A"/>
                </a:solidFill>
                <a:latin typeface="Inter"/>
              </a:rPr>
              <a:t>The Lesk method is the seminal dictionary-based method introduced by Michael Lesk in 1986.</a:t>
            </a:r>
          </a:p>
        </p:txBody>
      </p:sp>
      <p:sp>
        <p:nvSpPr>
          <p:cNvPr id="12" name="TextBox 11"/>
          <p:cNvSpPr txBox="1"/>
          <p:nvPr/>
        </p:nvSpPr>
        <p:spPr>
          <a:xfrm>
            <a:off x="720547" y="3398733"/>
            <a:ext cx="7087166" cy="416051"/>
          </a:xfrm>
          <a:prstGeom prst="rect">
            <a:avLst/>
          </a:prstGeom>
          <a:noFill/>
        </p:spPr>
        <p:txBody>
          <a:bodyPr wrap="square" lIns="0" rIns="0" tIns="0" bIns="0">
            <a:spAutoFit/>
          </a:bodyPr>
          <a:lstStyle/>
          <a:p>
            <a:r>
              <a:rPr sz="1300">
                <a:solidFill>
                  <a:srgbClr val="0F172A"/>
                </a:solidFill>
                <a:latin typeface="Inter"/>
              </a:rPr>
              <a:t>The Lesk definition, on which the Lesk algorithm is based is “measure overlap between sense definitions for all words in context”.</a:t>
            </a:r>
          </a:p>
        </p:txBody>
      </p:sp>
      <p:sp>
        <p:nvSpPr>
          <p:cNvPr id="13" name="TextBox 12"/>
          <p:cNvSpPr txBox="1"/>
          <p:nvPr/>
        </p:nvSpPr>
        <p:spPr>
          <a:xfrm>
            <a:off x="720547" y="3942801"/>
            <a:ext cx="7087166" cy="624078"/>
          </a:xfrm>
          <a:prstGeom prst="rect">
            <a:avLst/>
          </a:prstGeom>
          <a:noFill/>
        </p:spPr>
        <p:txBody>
          <a:bodyPr wrap="square" lIns="0" rIns="0" tIns="0" bIns="0">
            <a:spAutoFit/>
          </a:bodyPr>
          <a:lstStyle/>
          <a:p>
            <a:r>
              <a:rPr sz="810" b="1">
                <a:solidFill>
                  <a:srgbClr val="C2410C"/>
                </a:solidFill>
                <a:latin typeface="Poppins"/>
              </a:rPr>
              <a:t>BUT   </a:t>
            </a:r>
            <a:r>
              <a:rPr sz="1300" b="1">
                <a:solidFill>
                  <a:srgbClr val="C2410C"/>
                </a:solidFill>
                <a:latin typeface="Poppins"/>
              </a:rPr>
              <a:t>However</a:t>
            </a:r>
            <a:r>
              <a:rPr sz="1300">
                <a:solidFill>
                  <a:srgbClr val="0F172A"/>
                </a:solidFill>
                <a:latin typeface="Inter"/>
              </a:rPr>
              <a:t>, in 2000, Kilgarriff and Rosensweig gave the simplified Lesk definition as “measure overlap between sense definitions of word and current context”, which further means identify the correct sense for one word at a time.</a:t>
            </a:r>
          </a:p>
        </p:txBody>
      </p:sp>
      <p:sp>
        <p:nvSpPr>
          <p:cNvPr id="14" name="TextBox 13"/>
          <p:cNvSpPr txBox="1"/>
          <p:nvPr/>
        </p:nvSpPr>
        <p:spPr>
          <a:xfrm>
            <a:off x="720547" y="4694895"/>
            <a:ext cx="7087166" cy="208025"/>
          </a:xfrm>
          <a:prstGeom prst="rect">
            <a:avLst/>
          </a:prstGeom>
          <a:noFill/>
        </p:spPr>
        <p:txBody>
          <a:bodyPr wrap="square" lIns="0" rIns="0" tIns="0" bIns="0">
            <a:spAutoFit/>
          </a:bodyPr>
          <a:lstStyle/>
          <a:p>
            <a:r>
              <a:rPr sz="1300">
                <a:solidFill>
                  <a:srgbClr val="0F172A"/>
                </a:solidFill>
                <a:latin typeface="Inter"/>
              </a:rPr>
              <a:t>Here the current context is the set of words in surrounding sentence or paragraph.</a:t>
            </a:r>
          </a:p>
        </p:txBody>
      </p:sp>
      <p:sp>
        <p:nvSpPr>
          <p:cNvPr id="15" name="Rounded Rectangle 14"/>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Dictionary-based methods rely on lexical knowledge bases without using corpora evidences.</a:t>
            </a:r>
          </a:p>
          <a:p>
            <a:pPr algn="l"/>
            <a:r>
              <a:rPr b="1" sz="1300">
                <a:solidFill>
                  <a:srgbClr val="1D4ED8"/>
                </a:solidFill>
                <a:latin typeface="Poppins"/>
              </a:rPr>
              <a:t>Key terms:  </a:t>
            </a:r>
            <a:r>
              <a:rPr sz="1300" b="0">
                <a:solidFill>
                  <a:srgbClr val="0F172A"/>
                </a:solidFill>
                <a:latin typeface="Inter"/>
              </a:rPr>
              <a:t>Lesk method — A seminal dictionary-based method that measures overlap between sense definitions.</a:t>
            </a:r>
          </a:p>
        </p:txBody>
      </p:sp>
      <p:sp>
        <p:nvSpPr>
          <p:cNvPr id="16" name="Rectangle 15"/>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10 / 32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Which term matches this description: “A seminal dictionary-based method that measures overlap between sense definitions.”?</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Supervised learning</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Lesk method</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Word clustering</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Bootstrapping</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B</a:t>
            </a:r>
          </a:p>
          <a:p>
            <a:pPr algn="l">
              <a:spcBef>
                <a:spcPts val="200"/>
              </a:spcBef>
            </a:pPr>
            <a:r>
              <a:rPr sz="1600" b="0">
                <a:solidFill>
                  <a:srgbClr val="FFFFFF"/>
                </a:solidFill>
                <a:latin typeface="Inter"/>
              </a:rPr>
              <a:t>Lesk method: A seminal dictionary-based method that measures overlap between sense definitions.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The Lesk algorithm assumes related words share overlapping dictionary definitions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11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29778"/>
            <a:ext cx="82296" cy="1818741"/>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93202"/>
            <a:ext cx="7087166" cy="1837029"/>
          </a:xfrm>
          <a:prstGeom prst="rect">
            <a:avLst/>
          </a:prstGeom>
          <a:noFill/>
        </p:spPr>
        <p:txBody>
          <a:bodyPr wrap="square" anchor="t" lIns="0" tIns="0" rIns="0" bIns="0">
            <a:spAutoFit/>
          </a:bodyPr>
          <a:lstStyle/>
          <a:p>
            <a:pPr algn="l"/>
            <a:r>
              <a:rPr sz="2300" b="1">
                <a:solidFill>
                  <a:srgbClr val="1D4ED8"/>
                </a:solidFill>
                <a:latin typeface="Poppins"/>
              </a:rPr>
              <a:t>Text1 = 'I went to the bank to deposit my money' Text2 = 'The river bank was full of dead fishes' The Lesk algorithm is the seminal dictionary-based method.</a:t>
            </a:r>
          </a:p>
        </p:txBody>
      </p:sp>
      <p:sp>
        <p:nvSpPr>
          <p:cNvPr id="10" name="TextBox 9"/>
          <p:cNvSpPr txBox="1"/>
          <p:nvPr/>
        </p:nvSpPr>
        <p:spPr>
          <a:xfrm>
            <a:off x="994867" y="3422256"/>
            <a:ext cx="6812846" cy="1640205"/>
          </a:xfrm>
          <a:prstGeom prst="rect">
            <a:avLst/>
          </a:prstGeom>
          <a:noFill/>
        </p:spPr>
        <p:txBody>
          <a:bodyPr wrap="square" lIns="0" rIns="0" tIns="0" bIns="0">
            <a:spAutoFit/>
          </a:bodyPr>
          <a:lstStyle/>
          <a:p>
            <a:r>
              <a:rPr sz="2050">
                <a:solidFill>
                  <a:srgbClr val="0F172A"/>
                </a:solidFill>
                <a:latin typeface="Inter"/>
              </a:rPr>
              <a:t>This is the definition from Wikipedia: "It is based on the hypothesis that words used together in text are related to each other and that the relation can be observed in the definitions of the words and their senses.</a:t>
            </a:r>
          </a:p>
        </p:txBody>
      </p:sp>
      <p:sp>
        <p:nvSpPr>
          <p:cNvPr id="11" name="Rounded Rectangle 10"/>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The Lesk algorithm assumes words used together are related through overlapping dictionary sense definitions.</a:t>
            </a:r>
          </a:p>
          <a:p>
            <a:pPr algn="l"/>
            <a:r>
              <a:rPr b="1" sz="1300">
                <a:solidFill>
                  <a:srgbClr val="1D4ED8"/>
                </a:solidFill>
                <a:latin typeface="Poppins"/>
              </a:rPr>
              <a:t>Key terms:  </a:t>
            </a:r>
            <a:r>
              <a:rPr sz="1300" b="0">
                <a:solidFill>
                  <a:srgbClr val="0F172A"/>
                </a:solidFill>
                <a:latin typeface="Inter"/>
              </a:rPr>
              <a:t>Lesk algorithm — An algorithm based on the hypothesis that words used together share related definitions.</a:t>
            </a:r>
          </a:p>
        </p:txBody>
      </p:sp>
      <p:sp>
        <p:nvSpPr>
          <p:cNvPr id="12" name="Rectangle 11"/>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Disambiguation finds dictionary sense pairs with the greatest word overlap</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12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40112"/>
            <a:ext cx="82296" cy="301912"/>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03536"/>
            <a:ext cx="7087166" cy="320200"/>
          </a:xfrm>
          <a:prstGeom prst="rect">
            <a:avLst/>
          </a:prstGeom>
          <a:noFill/>
        </p:spPr>
        <p:txBody>
          <a:bodyPr wrap="square" anchor="t" lIns="0" tIns="0" rIns="0" bIns="0">
            <a:spAutoFit/>
          </a:bodyPr>
          <a:lstStyle/>
          <a:p>
            <a:pPr algn="l"/>
            <a:r>
              <a:rPr sz="2000" b="1">
                <a:solidFill>
                  <a:srgbClr val="1D4ED8"/>
                </a:solidFill>
                <a:latin typeface="Poppins"/>
              </a:rPr>
              <a:t>Two (or more).</a:t>
            </a:r>
          </a:p>
        </p:txBody>
      </p:sp>
      <p:sp>
        <p:nvSpPr>
          <p:cNvPr id="10" name="TextBox 9"/>
          <p:cNvSpPr txBox="1"/>
          <p:nvPr/>
        </p:nvSpPr>
        <p:spPr>
          <a:xfrm>
            <a:off x="720547" y="2015760"/>
            <a:ext cx="7087166" cy="464057"/>
          </a:xfrm>
          <a:prstGeom prst="rect">
            <a:avLst/>
          </a:prstGeom>
          <a:noFill/>
        </p:spPr>
        <p:txBody>
          <a:bodyPr wrap="square" lIns="0" rIns="0" tIns="0" bIns="0">
            <a:spAutoFit/>
          </a:bodyPr>
          <a:lstStyle/>
          <a:p>
            <a:r>
              <a:rPr sz="1450">
                <a:solidFill>
                  <a:srgbClr val="0F172A"/>
                </a:solidFill>
                <a:latin typeface="Inter"/>
              </a:rPr>
              <a:t>words are disambiguated by finding the pair of dictionary senses with the greatest word overlap in their dictionary definitions.</a:t>
            </a:r>
          </a:p>
        </p:txBody>
      </p:sp>
      <p:sp>
        <p:nvSpPr>
          <p:cNvPr id="11" name="TextBox 10"/>
          <p:cNvSpPr txBox="1"/>
          <p:nvPr/>
        </p:nvSpPr>
        <p:spPr>
          <a:xfrm>
            <a:off x="994867" y="2607834"/>
            <a:ext cx="6812846" cy="1624203"/>
          </a:xfrm>
          <a:prstGeom prst="rect">
            <a:avLst/>
          </a:prstGeom>
          <a:noFill/>
        </p:spPr>
        <p:txBody>
          <a:bodyPr wrap="square" lIns="0" rIns="0" tIns="0" bIns="0">
            <a:spAutoFit/>
          </a:bodyPr>
          <a:lstStyle/>
          <a:p>
            <a:r>
              <a:rPr sz="1450">
                <a:solidFill>
                  <a:srgbClr val="0F172A"/>
                </a:solidFill>
                <a:latin typeface="Inter"/>
              </a:rPr>
              <a:t>It searches for the shortest path between two words: the </a:t>
            </a:r>
            <a:r>
              <a:rPr sz="1450" b="1">
                <a:solidFill>
                  <a:srgbClr val="6D28D9"/>
                </a:solidFill>
                <a:latin typeface="Poppins"/>
              </a:rPr>
              <a:t>second</a:t>
            </a:r>
            <a:r>
              <a:rPr sz="1450">
                <a:solidFill>
                  <a:srgbClr val="0F172A"/>
                </a:solidFill>
                <a:latin typeface="Inter"/>
              </a:rPr>
              <a:t> word is iteratively searched among the definitions of every semantic variant of the </a:t>
            </a:r>
            <a:r>
              <a:rPr sz="1450" b="1">
                <a:solidFill>
                  <a:srgbClr val="6D28D9"/>
                </a:solidFill>
                <a:latin typeface="Poppins"/>
              </a:rPr>
              <a:t>first</a:t>
            </a:r>
            <a:r>
              <a:rPr sz="1450">
                <a:solidFill>
                  <a:srgbClr val="0F172A"/>
                </a:solidFill>
                <a:latin typeface="Inter"/>
              </a:rPr>
              <a:t> word, </a:t>
            </a:r>
            <a:r>
              <a:rPr sz="1450" b="1">
                <a:solidFill>
                  <a:srgbClr val="6D28D9"/>
                </a:solidFill>
                <a:latin typeface="Poppins"/>
              </a:rPr>
              <a:t>then</a:t>
            </a:r>
            <a:r>
              <a:rPr sz="1450">
                <a:solidFill>
                  <a:srgbClr val="0F172A"/>
                </a:solidFill>
                <a:latin typeface="Inter"/>
              </a:rPr>
              <a:t> among the definitions of every semantic variant of each word in the previous definitions and so on.</a:t>
            </a:r>
            <a:r>
              <a:rPr sz="1450" b="1">
                <a:solidFill>
                  <a:srgbClr val="6D28D9"/>
                </a:solidFill>
                <a:latin typeface="Poppins"/>
              </a:rPr>
              <a:t>Finally</a:t>
            </a:r>
            <a:r>
              <a:rPr sz="1450">
                <a:solidFill>
                  <a:srgbClr val="0F172A"/>
                </a:solidFill>
                <a:latin typeface="Inter"/>
              </a:rPr>
              <a:t>, the </a:t>
            </a:r>
            <a:r>
              <a:rPr sz="1450" b="1">
                <a:solidFill>
                  <a:srgbClr val="6D28D9"/>
                </a:solidFill>
                <a:latin typeface="Poppins"/>
              </a:rPr>
              <a:t>first</a:t>
            </a:r>
            <a:r>
              <a:rPr sz="1450">
                <a:solidFill>
                  <a:srgbClr val="0F172A"/>
                </a:solidFill>
                <a:latin typeface="Inter"/>
              </a:rPr>
              <a:t> word is disambiguated by selecting the semantic variant which minimizes the distance from the </a:t>
            </a:r>
            <a:r>
              <a:rPr sz="1450" b="1">
                <a:solidFill>
                  <a:srgbClr val="6D28D9"/>
                </a:solidFill>
                <a:latin typeface="Poppins"/>
              </a:rPr>
              <a:t>first</a:t>
            </a:r>
            <a:r>
              <a:rPr sz="1450">
                <a:solidFill>
                  <a:srgbClr val="0F172A"/>
                </a:solidFill>
                <a:latin typeface="Inter"/>
              </a:rPr>
              <a:t> to the </a:t>
            </a:r>
            <a:r>
              <a:rPr sz="1450" b="1">
                <a:solidFill>
                  <a:srgbClr val="6D28D9"/>
                </a:solidFill>
                <a:latin typeface="Poppins"/>
              </a:rPr>
              <a:t>second</a:t>
            </a:r>
            <a:r>
              <a:rPr sz="1450">
                <a:solidFill>
                  <a:srgbClr val="0F172A"/>
                </a:solidFill>
                <a:latin typeface="Inter"/>
              </a:rPr>
              <a:t> word." Basically, the context is chosen from meaning of the nearest words.</a:t>
            </a:r>
          </a:p>
        </p:txBody>
      </p:sp>
      <p:sp>
        <p:nvSpPr>
          <p:cNvPr id="12" name="TextBox 11"/>
          <p:cNvSpPr txBox="1"/>
          <p:nvPr/>
        </p:nvSpPr>
        <p:spPr>
          <a:xfrm>
            <a:off x="720547" y="4360053"/>
            <a:ext cx="7087166" cy="232028"/>
          </a:xfrm>
          <a:prstGeom prst="rect">
            <a:avLst/>
          </a:prstGeom>
          <a:noFill/>
        </p:spPr>
        <p:txBody>
          <a:bodyPr wrap="square" lIns="0" rIns="0" tIns="0" bIns="0">
            <a:spAutoFit/>
          </a:bodyPr>
          <a:lstStyle/>
          <a:p>
            <a:r>
              <a:rPr sz="1450">
                <a:solidFill>
                  <a:srgbClr val="0F172A"/>
                </a:solidFill>
                <a:latin typeface="Inter"/>
              </a:rPr>
              <a:t>Following is the simplified pictorial representation of the same.</a:t>
            </a:r>
          </a:p>
        </p:txBody>
      </p:sp>
      <p:sp>
        <p:nvSpPr>
          <p:cNvPr id="13" name="TextBox 12"/>
          <p:cNvSpPr txBox="1"/>
          <p:nvPr/>
        </p:nvSpPr>
        <p:spPr>
          <a:xfrm>
            <a:off x="720547" y="4720098"/>
            <a:ext cx="7087166" cy="232028"/>
          </a:xfrm>
          <a:prstGeom prst="rect">
            <a:avLst/>
          </a:prstGeom>
          <a:noFill/>
        </p:spPr>
        <p:txBody>
          <a:bodyPr wrap="square" lIns="0" rIns="0" tIns="0" bIns="0">
            <a:spAutoFit/>
          </a:bodyPr>
          <a:lstStyle/>
          <a:p>
            <a:r>
              <a:rPr sz="1450">
                <a:solidFill>
                  <a:srgbClr val="0F172A"/>
                </a:solidFill>
                <a:latin typeface="Inter"/>
              </a:rPr>
              <a:t>Refer the ppt chapter18.wsd.ppt.</a:t>
            </a:r>
          </a:p>
        </p:txBody>
      </p:sp>
      <p:sp>
        <p:nvSpPr>
          <p:cNvPr id="14" name="Rounded Rectangle 1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terms:  </a:t>
            </a:r>
            <a:r>
              <a:rPr sz="1600" b="1">
                <a:solidFill>
                  <a:srgbClr val="0F172A"/>
                </a:solidFill>
                <a:latin typeface="Poppins"/>
              </a:rPr>
              <a:t>Semantic variant — A specific dictionary sense or meaning associated with a particular word.</a:t>
            </a:r>
          </a:p>
        </p:txBody>
      </p:sp>
      <p:sp>
        <p:nvSpPr>
          <p:cNvPr id="15" name="Rectangle 1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Supervised methods make use of sense-annotated corpora to train models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13 / 32</a:t>
            </a:r>
          </a:p>
        </p:txBody>
      </p:sp>
      <p:sp>
        <p:nvSpPr>
          <p:cNvPr id="8" name="Rounded Rectangle 7"/>
          <p:cNvSpPr/>
          <p:nvPr/>
        </p:nvSpPr>
        <p:spPr>
          <a:xfrm>
            <a:off x="457200" y="1298448"/>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1280160" y="1499616"/>
            <a:ext cx="1506474" cy="1490472"/>
          </a:xfrm>
          <a:prstGeom prst="rect">
            <a:avLst/>
          </a:prstGeom>
          <a:noFill/>
        </p:spPr>
        <p:txBody>
          <a:bodyPr wrap="square" anchor="ctr" lIns="0" tIns="0" rIns="0" bIns="0">
            <a:spAutoFit/>
          </a:bodyPr>
          <a:lstStyle/>
          <a:p>
            <a:pPr algn="l"/>
            <a:r>
              <a:rPr sz="1260" b="1">
                <a:solidFill>
                  <a:srgbClr val="1D4ED8"/>
                </a:solidFill>
                <a:latin typeface="Poppins"/>
              </a:rPr>
              <a:t>For disambiguation</a:t>
            </a:r>
          </a:p>
          <a:p>
            <a:pPr algn="l">
              <a:spcBef>
                <a:spcPts val="500"/>
              </a:spcBef>
            </a:pPr>
            <a:r>
              <a:rPr sz="1050" b="0">
                <a:solidFill>
                  <a:srgbClr val="0F172A"/>
                </a:solidFill>
                <a:latin typeface="Inter"/>
              </a:rPr>
              <a:t>machine learning methods make use of sense-annotated corpora to train</a:t>
            </a:r>
          </a:p>
        </p:txBody>
      </p:sp>
      <p:sp>
        <p:nvSpPr>
          <p:cNvPr id="11" name="Right Arrow 10"/>
          <p:cNvSpPr/>
          <p:nvPr/>
        </p:nvSpPr>
        <p:spPr>
          <a:xfrm>
            <a:off x="3042666"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71850" y="1298448"/>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4" name="TextBox 13"/>
          <p:cNvSpPr txBox="1"/>
          <p:nvPr/>
        </p:nvSpPr>
        <p:spPr>
          <a:xfrm>
            <a:off x="4194810" y="1499616"/>
            <a:ext cx="1506474" cy="1490472"/>
          </a:xfrm>
          <a:prstGeom prst="rect">
            <a:avLst/>
          </a:prstGeom>
          <a:noFill/>
        </p:spPr>
        <p:txBody>
          <a:bodyPr wrap="square" anchor="ctr" lIns="0" tIns="0" rIns="0" bIns="0">
            <a:spAutoFit/>
          </a:bodyPr>
          <a:lstStyle/>
          <a:p>
            <a:pPr algn="l"/>
            <a:r>
              <a:rPr sz="1260" b="1">
                <a:solidFill>
                  <a:srgbClr val="1D4ED8"/>
                </a:solidFill>
                <a:latin typeface="Poppins"/>
              </a:rPr>
              <a:t>These methods assume</a:t>
            </a:r>
          </a:p>
          <a:p>
            <a:pPr algn="l">
              <a:spcBef>
                <a:spcPts val="500"/>
              </a:spcBef>
            </a:pPr>
            <a:r>
              <a:rPr sz="1050" b="0">
                <a:solidFill>
                  <a:srgbClr val="0F172A"/>
                </a:solidFill>
                <a:latin typeface="Inter"/>
              </a:rPr>
              <a:t>that the context can provide enough evidence on its own to disambiguate the sense</a:t>
            </a:r>
          </a:p>
        </p:txBody>
      </p:sp>
      <p:sp>
        <p:nvSpPr>
          <p:cNvPr id="15" name="Right Arrow 14"/>
          <p:cNvSpPr/>
          <p:nvPr/>
        </p:nvSpPr>
        <p:spPr>
          <a:xfrm>
            <a:off x="5957316"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6500" y="1298448"/>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8" name="TextBox 17"/>
          <p:cNvSpPr txBox="1"/>
          <p:nvPr/>
        </p:nvSpPr>
        <p:spPr>
          <a:xfrm>
            <a:off x="7109459" y="1499616"/>
            <a:ext cx="1506474" cy="1490472"/>
          </a:xfrm>
          <a:prstGeom prst="rect">
            <a:avLst/>
          </a:prstGeom>
          <a:noFill/>
        </p:spPr>
        <p:txBody>
          <a:bodyPr wrap="square" anchor="ctr" lIns="0" tIns="0" rIns="0" bIns="0">
            <a:spAutoFit/>
          </a:bodyPr>
          <a:lstStyle/>
          <a:p>
            <a:pPr algn="l"/>
            <a:r>
              <a:rPr sz="1260" b="1">
                <a:solidFill>
                  <a:srgbClr val="1D4ED8"/>
                </a:solidFill>
                <a:latin typeface="Poppins"/>
              </a:rPr>
              <a:t>In these methods</a:t>
            </a:r>
          </a:p>
          <a:p>
            <a:pPr algn="l">
              <a:spcBef>
                <a:spcPts val="500"/>
              </a:spcBef>
            </a:pPr>
            <a:r>
              <a:rPr sz="1050" b="0">
                <a:solidFill>
                  <a:srgbClr val="0F172A"/>
                </a:solidFill>
                <a:latin typeface="Inter"/>
              </a:rPr>
              <a:t>the words knowledge and reasoning are deemed unnecessary</a:t>
            </a:r>
          </a:p>
        </p:txBody>
      </p:sp>
      <p:sp>
        <p:nvSpPr>
          <p:cNvPr id="19" name="Right Arrow 18"/>
          <p:cNvSpPr/>
          <p:nvPr/>
        </p:nvSpPr>
        <p:spPr>
          <a:xfrm>
            <a:off x="8871966"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01150" y="1298448"/>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0231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22" name="TextBox 21"/>
          <p:cNvSpPr txBox="1"/>
          <p:nvPr/>
        </p:nvSpPr>
        <p:spPr>
          <a:xfrm>
            <a:off x="10024110" y="1499616"/>
            <a:ext cx="1506474" cy="1490472"/>
          </a:xfrm>
          <a:prstGeom prst="rect">
            <a:avLst/>
          </a:prstGeom>
          <a:noFill/>
        </p:spPr>
        <p:txBody>
          <a:bodyPr wrap="square" anchor="ctr" lIns="0" tIns="0" rIns="0" bIns="0">
            <a:spAutoFit/>
          </a:bodyPr>
          <a:lstStyle/>
          <a:p>
            <a:pPr algn="l"/>
            <a:r>
              <a:rPr sz="1260" b="1">
                <a:solidFill>
                  <a:srgbClr val="1D4ED8"/>
                </a:solidFill>
                <a:latin typeface="Poppins"/>
              </a:rPr>
              <a:t>Context represented as a set</a:t>
            </a:r>
          </a:p>
          <a:p>
            <a:pPr algn="l">
              <a:spcBef>
                <a:spcPts val="500"/>
              </a:spcBef>
            </a:pPr>
            <a:r>
              <a:rPr sz="1050" b="0">
                <a:solidFill>
                  <a:srgbClr val="0F172A"/>
                </a:solidFill>
                <a:latin typeface="Inter"/>
              </a:rPr>
              <a:t>The context is represented as a set of “features” of the words</a:t>
            </a:r>
          </a:p>
        </p:txBody>
      </p:sp>
      <p:sp>
        <p:nvSpPr>
          <p:cNvPr id="23" name="Rounded Rectangle 22"/>
          <p:cNvSpPr/>
          <p:nvPr/>
        </p:nvSpPr>
        <p:spPr>
          <a:xfrm>
            <a:off x="457200" y="3392424"/>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5" name="TextBox 24"/>
          <p:cNvSpPr txBox="1"/>
          <p:nvPr/>
        </p:nvSpPr>
        <p:spPr>
          <a:xfrm>
            <a:off x="1280160" y="3593592"/>
            <a:ext cx="1506474" cy="1490472"/>
          </a:xfrm>
          <a:prstGeom prst="rect">
            <a:avLst/>
          </a:prstGeom>
          <a:noFill/>
        </p:spPr>
        <p:txBody>
          <a:bodyPr wrap="square" anchor="ctr" lIns="0" tIns="0" rIns="0" bIns="0">
            <a:spAutoFit/>
          </a:bodyPr>
          <a:lstStyle/>
          <a:p>
            <a:pPr algn="l"/>
            <a:r>
              <a:rPr sz="1260" b="1">
                <a:solidFill>
                  <a:srgbClr val="1D4ED8"/>
                </a:solidFill>
                <a:latin typeface="Poppins"/>
              </a:rPr>
              <a:t>It includes the information about</a:t>
            </a:r>
          </a:p>
          <a:p>
            <a:pPr algn="l">
              <a:spcBef>
                <a:spcPts val="500"/>
              </a:spcBef>
            </a:pPr>
            <a:r>
              <a:rPr sz="1050" b="0">
                <a:solidFill>
                  <a:srgbClr val="0F172A"/>
                </a:solidFill>
                <a:latin typeface="Inter"/>
              </a:rPr>
              <a:t>the surrounding words also</a:t>
            </a:r>
          </a:p>
        </p:txBody>
      </p:sp>
      <p:sp>
        <p:nvSpPr>
          <p:cNvPr id="26" name="Right Arrow 25"/>
          <p:cNvSpPr/>
          <p:nvPr/>
        </p:nvSpPr>
        <p:spPr>
          <a:xfrm>
            <a:off x="3042666" y="4183380"/>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371850" y="3392424"/>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57301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6</a:t>
            </a:r>
          </a:p>
        </p:txBody>
      </p:sp>
      <p:sp>
        <p:nvSpPr>
          <p:cNvPr id="29" name="TextBox 28"/>
          <p:cNvSpPr txBox="1"/>
          <p:nvPr/>
        </p:nvSpPr>
        <p:spPr>
          <a:xfrm>
            <a:off x="4194810" y="3593592"/>
            <a:ext cx="1506474" cy="1490472"/>
          </a:xfrm>
          <a:prstGeom prst="rect">
            <a:avLst/>
          </a:prstGeom>
          <a:noFill/>
        </p:spPr>
        <p:txBody>
          <a:bodyPr wrap="square" anchor="ctr" lIns="0" tIns="0" rIns="0" bIns="0">
            <a:spAutoFit/>
          </a:bodyPr>
          <a:lstStyle/>
          <a:p>
            <a:pPr algn="l"/>
            <a:r>
              <a:rPr sz="1260" b="1">
                <a:solidFill>
                  <a:srgbClr val="1D4ED8"/>
                </a:solidFill>
                <a:latin typeface="Poppins"/>
              </a:rPr>
              <a:t>Support vector machine and memory-based</a:t>
            </a:r>
          </a:p>
          <a:p>
            <a:pPr algn="l">
              <a:spcBef>
                <a:spcPts val="500"/>
              </a:spcBef>
            </a:pPr>
            <a:r>
              <a:rPr sz="1050" b="0">
                <a:solidFill>
                  <a:srgbClr val="0F172A"/>
                </a:solidFill>
                <a:latin typeface="Inter"/>
              </a:rPr>
              <a:t>learning are the most successful supervised learning approaches to WSD</a:t>
            </a:r>
          </a:p>
        </p:txBody>
      </p:sp>
      <p:sp>
        <p:nvSpPr>
          <p:cNvPr id="30" name="Right Arrow 29"/>
          <p:cNvSpPr/>
          <p:nvPr/>
        </p:nvSpPr>
        <p:spPr>
          <a:xfrm>
            <a:off x="5957316" y="4183380"/>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86500" y="3392424"/>
            <a:ext cx="253060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876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7</a:t>
            </a:r>
          </a:p>
        </p:txBody>
      </p:sp>
      <p:sp>
        <p:nvSpPr>
          <p:cNvPr id="33" name="TextBox 32"/>
          <p:cNvSpPr txBox="1"/>
          <p:nvPr/>
        </p:nvSpPr>
        <p:spPr>
          <a:xfrm>
            <a:off x="7109459" y="3593592"/>
            <a:ext cx="1506474" cy="1490472"/>
          </a:xfrm>
          <a:prstGeom prst="rect">
            <a:avLst/>
          </a:prstGeom>
          <a:noFill/>
        </p:spPr>
        <p:txBody>
          <a:bodyPr wrap="square" anchor="ctr" lIns="0" tIns="0" rIns="0" bIns="0">
            <a:spAutoFit/>
          </a:bodyPr>
          <a:lstStyle/>
          <a:p>
            <a:pPr algn="l"/>
            <a:r>
              <a:rPr sz="1260" b="1">
                <a:solidFill>
                  <a:srgbClr val="1D4ED8"/>
                </a:solidFill>
                <a:latin typeface="Poppins"/>
              </a:rPr>
              <a:t>These methods rely on substantial</a:t>
            </a:r>
          </a:p>
          <a:p>
            <a:pPr algn="l">
              <a:spcBef>
                <a:spcPts val="500"/>
              </a:spcBef>
            </a:pPr>
            <a:r>
              <a:rPr sz="1050" b="0">
                <a:solidFill>
                  <a:srgbClr val="0F172A"/>
                </a:solidFill>
                <a:latin typeface="Inter"/>
              </a:rPr>
              <a:t>amount of manually sense-tagged corpora, which is very expensive to create. ----Refer the ppt chapter18.wsd.ppt</a:t>
            </a:r>
          </a:p>
        </p:txBody>
      </p:sp>
      <p:sp>
        <p:nvSpPr>
          <p:cNvPr id="34" name="Rounded Rectangle 3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7 steps — from “For disambiguation” to “These methods rely on substantial”.</a:t>
            </a:r>
          </a:p>
          <a:p>
            <a:pPr algn="l"/>
            <a:r>
              <a:rPr b="1" sz="1300">
                <a:solidFill>
                  <a:srgbClr val="1D4ED8"/>
                </a:solidFill>
                <a:latin typeface="Poppins"/>
              </a:rPr>
              <a:t>Key terms:  </a:t>
            </a:r>
            <a:r>
              <a:rPr sz="1300" b="0">
                <a:solidFill>
                  <a:srgbClr val="0F172A"/>
                </a:solidFill>
                <a:latin typeface="Inter"/>
              </a:rPr>
              <a:t>Supervised learning — Methods that use sense-annotated corpora and feature sets to train disambiguation models.</a:t>
            </a:r>
          </a:p>
        </p:txBody>
      </p:sp>
      <p:sp>
        <p:nvSpPr>
          <p:cNvPr id="35" name="Rectangle 3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5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5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5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50"/>
                                        <p:tgtEl>
                                          <p:spTgt spid="30"/>
                                        </p:tgtEl>
                                      </p:cBhvr>
                                    </p:animEffect>
                                  </p:childTnLst>
                                </p:cTn>
                              </p:par>
                              <p:par>
                                <p:cTn id="73" presetID="10"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5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50"/>
                                        <p:tgtEl>
                                          <p:spTgt spid="33"/>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50"/>
                                        <p:tgtEl>
                                          <p:spTgt spid="34"/>
                                        </p:tgtEl>
                                      </p:cBhvr>
                                    </p:animEffect>
                                  </p:childTnLst>
                                </p:cTn>
                              </p:par>
                              <p:par>
                                <p:cTn id="87" presetID="10"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Semi-supervised bootstrapping algorithms overcome training corpus shortages in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14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7"/>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89250" cy="1048512"/>
          </a:xfrm>
          <a:prstGeom prst="rect">
            <a:avLst/>
          </a:prstGeom>
          <a:noFill/>
        </p:spPr>
        <p:txBody>
          <a:bodyPr wrap="square" anchor="ctr" lIns="0" tIns="0" rIns="0" bIns="0">
            <a:spAutoFit/>
          </a:bodyPr>
          <a:lstStyle/>
          <a:p>
            <a:pPr algn="l"/>
            <a:r>
              <a:rPr sz="1380" b="1">
                <a:solidFill>
                  <a:srgbClr val="1D4ED8"/>
                </a:solidFill>
                <a:latin typeface="Poppins"/>
              </a:rPr>
              <a:t>Due to the lack</a:t>
            </a:r>
          </a:p>
          <a:p>
            <a:pPr algn="l">
              <a:spcBef>
                <a:spcPts val="500"/>
              </a:spcBef>
            </a:pPr>
            <a:r>
              <a:rPr sz="1150" b="0">
                <a:solidFill>
                  <a:srgbClr val="0F172A"/>
                </a:solidFill>
                <a:latin typeface="Inter"/>
              </a:rPr>
              <a:t>of training corpus, most of the word sense disambiguation algorithms use semi-supervised</a:t>
            </a:r>
          </a:p>
        </p:txBody>
      </p:sp>
      <p:sp>
        <p:nvSpPr>
          <p:cNvPr id="12" name="Rounded Rectangle 11"/>
          <p:cNvSpPr/>
          <p:nvPr/>
        </p:nvSpPr>
        <p:spPr>
          <a:xfrm>
            <a:off x="4499762" y="1298447"/>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61239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725777"/>
            <a:ext cx="340156" cy="340156"/>
          </a:xfrm>
          <a:prstGeom prst="rect">
            <a:avLst/>
          </a:prstGeom>
        </p:spPr>
      </p:pic>
      <p:sp>
        <p:nvSpPr>
          <p:cNvPr id="15" name="TextBox 14"/>
          <p:cNvSpPr txBox="1"/>
          <p:nvPr/>
        </p:nvSpPr>
        <p:spPr>
          <a:xfrm>
            <a:off x="5450738" y="1371599"/>
            <a:ext cx="2689250" cy="1048512"/>
          </a:xfrm>
          <a:prstGeom prst="rect">
            <a:avLst/>
          </a:prstGeom>
          <a:noFill/>
        </p:spPr>
        <p:txBody>
          <a:bodyPr wrap="square" anchor="ctr" lIns="0" tIns="0" rIns="0" bIns="0">
            <a:spAutoFit/>
          </a:bodyPr>
          <a:lstStyle/>
          <a:p>
            <a:pPr algn="l"/>
            <a:r>
              <a:rPr sz="1380" b="1">
                <a:solidFill>
                  <a:srgbClr val="1D4ED8"/>
                </a:solidFill>
                <a:latin typeface="Poppins"/>
              </a:rPr>
              <a:t>Bootstrapping Algorithms</a:t>
            </a:r>
          </a:p>
          <a:p>
            <a:pPr algn="l">
              <a:spcBef>
                <a:spcPts val="500"/>
              </a:spcBef>
            </a:pPr>
            <a:r>
              <a:rPr sz="1150" b="0">
                <a:solidFill>
                  <a:srgbClr val="0F172A"/>
                </a:solidFill>
                <a:latin typeface="Inter"/>
              </a:rPr>
              <a:t>While there is great variation between implementations, bootstrapping approaches in natural language processing all</a:t>
            </a:r>
          </a:p>
        </p:txBody>
      </p:sp>
      <p:sp>
        <p:nvSpPr>
          <p:cNvPr id="16" name="Rounded Rectangle 15"/>
          <p:cNvSpPr/>
          <p:nvPr/>
        </p:nvSpPr>
        <p:spPr>
          <a:xfrm>
            <a:off x="457200" y="2694431"/>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89250" cy="1048512"/>
          </a:xfrm>
          <a:prstGeom prst="rect">
            <a:avLst/>
          </a:prstGeom>
          <a:noFill/>
        </p:spPr>
        <p:txBody>
          <a:bodyPr wrap="square" anchor="ctr" lIns="0" tIns="0" rIns="0" bIns="0">
            <a:spAutoFit/>
          </a:bodyPr>
          <a:lstStyle/>
          <a:p>
            <a:pPr algn="l"/>
            <a:r>
              <a:rPr sz="1380" b="1">
                <a:solidFill>
                  <a:srgbClr val="1D4ED8"/>
                </a:solidFill>
                <a:latin typeface="Poppins"/>
              </a:rPr>
              <a:t>Repeat from step 3</a:t>
            </a:r>
          </a:p>
        </p:txBody>
      </p:sp>
      <p:sp>
        <p:nvSpPr>
          <p:cNvPr id="20" name="Rounded Rectangle 19"/>
          <p:cNvSpPr/>
          <p:nvPr/>
        </p:nvSpPr>
        <p:spPr>
          <a:xfrm>
            <a:off x="4499762" y="2694431"/>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00837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121761"/>
            <a:ext cx="340156" cy="340156"/>
          </a:xfrm>
          <a:prstGeom prst="rect">
            <a:avLst/>
          </a:prstGeom>
        </p:spPr>
      </p:pic>
      <p:sp>
        <p:nvSpPr>
          <p:cNvPr id="23" name="TextBox 22"/>
          <p:cNvSpPr txBox="1"/>
          <p:nvPr/>
        </p:nvSpPr>
        <p:spPr>
          <a:xfrm>
            <a:off x="5450738" y="2767583"/>
            <a:ext cx="2689250" cy="1048512"/>
          </a:xfrm>
          <a:prstGeom prst="rect">
            <a:avLst/>
          </a:prstGeom>
          <a:noFill/>
        </p:spPr>
        <p:txBody>
          <a:bodyPr wrap="square" anchor="ctr" lIns="0" tIns="0" rIns="0" bIns="0">
            <a:spAutoFit/>
          </a:bodyPr>
          <a:lstStyle/>
          <a:p>
            <a:pPr algn="l"/>
            <a:r>
              <a:rPr sz="1380" b="1">
                <a:solidFill>
                  <a:srgbClr val="1D4ED8"/>
                </a:solidFill>
                <a:latin typeface="Poppins"/>
              </a:rPr>
              <a:t>The core feature</a:t>
            </a:r>
          </a:p>
          <a:p>
            <a:pPr algn="l">
              <a:spcBef>
                <a:spcPts val="500"/>
              </a:spcBef>
            </a:pPr>
            <a:r>
              <a:rPr sz="1150" b="0">
                <a:solidFill>
                  <a:srgbClr val="0F172A"/>
                </a:solidFill>
                <a:latin typeface="Inter"/>
              </a:rPr>
              <a:t>of a bootstrapping algorithm is that each iteration is fed the same type</a:t>
            </a:r>
          </a:p>
        </p:txBody>
      </p:sp>
      <p:sp>
        <p:nvSpPr>
          <p:cNvPr id="24" name="Rounded Rectangle 23"/>
          <p:cNvSpPr/>
          <p:nvPr/>
        </p:nvSpPr>
        <p:spPr>
          <a:xfrm>
            <a:off x="457200" y="4090415"/>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2689250" cy="1048512"/>
          </a:xfrm>
          <a:prstGeom prst="rect">
            <a:avLst/>
          </a:prstGeom>
          <a:noFill/>
        </p:spPr>
        <p:txBody>
          <a:bodyPr wrap="square" anchor="ctr" lIns="0" tIns="0" rIns="0" bIns="0">
            <a:spAutoFit/>
          </a:bodyPr>
          <a:lstStyle/>
          <a:p>
            <a:pPr algn="l"/>
            <a:r>
              <a:rPr sz="1380" b="1">
                <a:solidFill>
                  <a:srgbClr val="1D4ED8"/>
                </a:solidFill>
                <a:latin typeface="Poppins"/>
              </a:rPr>
              <a:t>Unsupervised Methods</a:t>
            </a:r>
          </a:p>
          <a:p>
            <a:pPr algn="l">
              <a:spcBef>
                <a:spcPts val="500"/>
              </a:spcBef>
            </a:pPr>
            <a:r>
              <a:rPr sz="1150" b="0">
                <a:solidFill>
                  <a:srgbClr val="0F172A"/>
                </a:solidFill>
                <a:latin typeface="Inter"/>
              </a:rPr>
              <a:t>These methods assume that similar senses occur in similar context</a:t>
            </a:r>
          </a:p>
        </p:txBody>
      </p:sp>
      <p:sp>
        <p:nvSpPr>
          <p:cNvPr id="28" name="Rounded Rectangle 27"/>
          <p:cNvSpPr/>
          <p:nvPr/>
        </p:nvSpPr>
        <p:spPr>
          <a:xfrm>
            <a:off x="4499762" y="4090415"/>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4404360"/>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4517745"/>
            <a:ext cx="340156" cy="340156"/>
          </a:xfrm>
          <a:prstGeom prst="rect">
            <a:avLst/>
          </a:prstGeom>
        </p:spPr>
      </p:pic>
      <p:sp>
        <p:nvSpPr>
          <p:cNvPr id="31" name="TextBox 30"/>
          <p:cNvSpPr txBox="1"/>
          <p:nvPr/>
        </p:nvSpPr>
        <p:spPr>
          <a:xfrm>
            <a:off x="5450738" y="4163567"/>
            <a:ext cx="2689250" cy="1048512"/>
          </a:xfrm>
          <a:prstGeom prst="rect">
            <a:avLst/>
          </a:prstGeom>
          <a:noFill/>
        </p:spPr>
        <p:txBody>
          <a:bodyPr wrap="square" anchor="ctr" lIns="0" tIns="0" rIns="0" bIns="0">
            <a:spAutoFit/>
          </a:bodyPr>
          <a:lstStyle/>
          <a:p>
            <a:pPr algn="l"/>
            <a:r>
              <a:rPr sz="1380" b="1">
                <a:solidFill>
                  <a:srgbClr val="1D4ED8"/>
                </a:solidFill>
                <a:latin typeface="Poppins"/>
              </a:rPr>
              <a:t>Performance of unsupervised</a:t>
            </a:r>
          </a:p>
          <a:p>
            <a:pPr algn="l">
              <a:spcBef>
                <a:spcPts val="500"/>
              </a:spcBef>
            </a:pPr>
            <a:r>
              <a:rPr sz="1150" b="0">
                <a:solidFill>
                  <a:srgbClr val="0F172A"/>
                </a:solidFill>
                <a:latin typeface="Inter"/>
              </a:rPr>
              <a:t>method is always been lower than that of the other method used</a:t>
            </a:r>
          </a:p>
        </p:txBody>
      </p:sp>
      <p:sp>
        <p:nvSpPr>
          <p:cNvPr id="32" name="Rounded Rectangle 31"/>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50">
                <a:solidFill>
                  <a:srgbClr val="1D4ED8"/>
                </a:solidFill>
                <a:latin typeface="Poppins"/>
              </a:rPr>
              <a:t>Key takeaway:  </a:t>
            </a:r>
            <a:r>
              <a:rPr sz="1250" b="0">
                <a:solidFill>
                  <a:srgbClr val="0F172A"/>
                </a:solidFill>
                <a:latin typeface="Inter"/>
              </a:rPr>
              <a:t>Semi-supervised bootstrapping algorithms overcome training corpus shortages for word sense disambiguation.</a:t>
            </a:r>
          </a:p>
          <a:p>
            <a:pPr algn="l"/>
            <a:r>
              <a:rPr b="1" sz="1250">
                <a:solidFill>
                  <a:srgbClr val="1D4ED8"/>
                </a:solidFill>
                <a:latin typeface="Poppins"/>
              </a:rPr>
              <a:t>Key terms:  </a:t>
            </a:r>
            <a:r>
              <a:rPr sz="1250" b="0">
                <a:solidFill>
                  <a:srgbClr val="0F172A"/>
                </a:solidFill>
                <a:latin typeface="Inter"/>
              </a:rPr>
              <a:t>Bootstrapping Algorithms — Iterative approaches that start with seed data to find and score more items from corpora.  ·  Word Sense Disambiguation — Algorithms that determine the intended meaning of words in context.</a:t>
            </a:r>
          </a:p>
        </p:txBody>
      </p:sp>
      <p:sp>
        <p:nvSpPr>
          <p:cNvPr id="33" name="Rectangle 32"/>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15 / 32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Which term matches this description: “Iterative approaches that start with seed data to find and score more items from corpora.”?</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Test Corpus</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Bootstrapping Algorithms</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wsd</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Iteration</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B</a:t>
            </a:r>
          </a:p>
          <a:p>
            <a:pPr algn="l">
              <a:spcBef>
                <a:spcPts val="200"/>
              </a:spcBef>
            </a:pPr>
            <a:r>
              <a:rPr sz="1450" b="0">
                <a:solidFill>
                  <a:srgbClr val="FFFFFF"/>
                </a:solidFill>
                <a:latin typeface="Inter"/>
              </a:rPr>
              <a:t>Bootstrapping Algorithms: Iterative approaches that start with seed data to find and score more items from corpora.</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Semi-supervised learning methods combine small annotated text with large unannotated corpora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16 / 32</a:t>
            </a:r>
          </a:p>
        </p:txBody>
      </p:sp>
      <p:sp>
        <p:nvSpPr>
          <p:cNvPr id="8" name="Rounded Rectangle 7"/>
          <p:cNvSpPr/>
          <p:nvPr/>
        </p:nvSpPr>
        <p:spPr>
          <a:xfrm>
            <a:off x="457200" y="1298448"/>
            <a:ext cx="2530602"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658368" y="2103120"/>
            <a:ext cx="2128266" cy="1413742"/>
          </a:xfrm>
          <a:prstGeom prst="rect">
            <a:avLst/>
          </a:prstGeom>
          <a:noFill/>
        </p:spPr>
        <p:txBody>
          <a:bodyPr wrap="square" anchor="t" lIns="0" tIns="0" rIns="0" bIns="0">
            <a:spAutoFit/>
          </a:bodyPr>
          <a:lstStyle/>
          <a:p>
            <a:pPr algn="l"/>
            <a:r>
              <a:rPr sz="1320" b="1">
                <a:solidFill>
                  <a:srgbClr val="1D4ED8"/>
                </a:solidFill>
                <a:latin typeface="Poppins"/>
              </a:rPr>
              <a:t>Due to the lack</a:t>
            </a:r>
          </a:p>
          <a:p>
            <a:pPr algn="l">
              <a:spcBef>
                <a:spcPts val="500"/>
              </a:spcBef>
            </a:pPr>
            <a:r>
              <a:rPr sz="1100" b="0">
                <a:solidFill>
                  <a:srgbClr val="0F172A"/>
                </a:solidFill>
                <a:latin typeface="Inter"/>
              </a:rPr>
              <a:t>of training corpus, most of the word sense disambiguation algorithms use semi-supervised learning methods</a:t>
            </a:r>
          </a:p>
        </p:txBody>
      </p:sp>
      <p:sp>
        <p:nvSpPr>
          <p:cNvPr id="11" name="Right Arrow 10"/>
          <p:cNvSpPr/>
          <p:nvPr/>
        </p:nvSpPr>
        <p:spPr>
          <a:xfrm>
            <a:off x="3042666" y="2352791"/>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71850" y="1298448"/>
            <a:ext cx="2530602"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4" name="TextBox 13"/>
          <p:cNvSpPr txBox="1"/>
          <p:nvPr/>
        </p:nvSpPr>
        <p:spPr>
          <a:xfrm>
            <a:off x="3573018" y="2103120"/>
            <a:ext cx="2128266" cy="1413742"/>
          </a:xfrm>
          <a:prstGeom prst="rect">
            <a:avLst/>
          </a:prstGeom>
          <a:noFill/>
        </p:spPr>
        <p:txBody>
          <a:bodyPr wrap="square" anchor="t" lIns="0" tIns="0" rIns="0" bIns="0">
            <a:spAutoFit/>
          </a:bodyPr>
          <a:lstStyle/>
          <a:p>
            <a:pPr algn="l"/>
            <a:r>
              <a:rPr sz="1320" b="1">
                <a:solidFill>
                  <a:srgbClr val="1D4ED8"/>
                </a:solidFill>
                <a:latin typeface="Poppins"/>
              </a:rPr>
              <a:t>It is because semi-supervised methods us</a:t>
            </a:r>
          </a:p>
          <a:p>
            <a:pPr algn="l">
              <a:spcBef>
                <a:spcPts val="500"/>
              </a:spcBef>
            </a:pPr>
            <a:r>
              <a:rPr sz="1100" b="0">
                <a:solidFill>
                  <a:srgbClr val="0F172A"/>
                </a:solidFill>
                <a:latin typeface="Inter"/>
              </a:rPr>
              <a:t>It is because semi-supervised methods use both labelled as well as unlabeled data</a:t>
            </a:r>
          </a:p>
        </p:txBody>
      </p:sp>
      <p:sp>
        <p:nvSpPr>
          <p:cNvPr id="15" name="Right Arrow 14"/>
          <p:cNvSpPr/>
          <p:nvPr/>
        </p:nvSpPr>
        <p:spPr>
          <a:xfrm>
            <a:off x="5957316" y="2352791"/>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6500" y="1298448"/>
            <a:ext cx="2530602"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8" name="TextBox 17"/>
          <p:cNvSpPr txBox="1"/>
          <p:nvPr/>
        </p:nvSpPr>
        <p:spPr>
          <a:xfrm>
            <a:off x="6487668" y="2103120"/>
            <a:ext cx="2128266" cy="1413742"/>
          </a:xfrm>
          <a:prstGeom prst="rect">
            <a:avLst/>
          </a:prstGeom>
          <a:noFill/>
        </p:spPr>
        <p:txBody>
          <a:bodyPr wrap="square" anchor="t" lIns="0" tIns="0" rIns="0" bIns="0">
            <a:spAutoFit/>
          </a:bodyPr>
          <a:lstStyle/>
          <a:p>
            <a:pPr algn="l"/>
            <a:r>
              <a:rPr sz="1320" b="1">
                <a:solidFill>
                  <a:srgbClr val="1D4ED8"/>
                </a:solidFill>
                <a:latin typeface="Poppins"/>
              </a:rPr>
              <a:t>These methods require very small</a:t>
            </a:r>
          </a:p>
          <a:p>
            <a:pPr algn="l">
              <a:spcBef>
                <a:spcPts val="500"/>
              </a:spcBef>
            </a:pPr>
            <a:r>
              <a:rPr sz="1100" b="0">
                <a:solidFill>
                  <a:srgbClr val="0F172A"/>
                </a:solidFill>
                <a:latin typeface="Inter"/>
              </a:rPr>
              <a:t>amount of annotated text and large amount of plain unannotated text</a:t>
            </a:r>
          </a:p>
        </p:txBody>
      </p:sp>
      <p:sp>
        <p:nvSpPr>
          <p:cNvPr id="19" name="Right Arrow 18"/>
          <p:cNvSpPr/>
          <p:nvPr/>
        </p:nvSpPr>
        <p:spPr>
          <a:xfrm>
            <a:off x="8871966" y="2352791"/>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01150" y="1298448"/>
            <a:ext cx="2530602" cy="2419582"/>
          </a:xfrm>
          <a:prstGeom prst="roundRect">
            <a:avLst>
              <a:gd name="adj" fmla="val 581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02318" y="149961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22" name="TextBox 21"/>
          <p:cNvSpPr txBox="1"/>
          <p:nvPr/>
        </p:nvSpPr>
        <p:spPr>
          <a:xfrm>
            <a:off x="9402318" y="2103120"/>
            <a:ext cx="2128266" cy="1413742"/>
          </a:xfrm>
          <a:prstGeom prst="rect">
            <a:avLst/>
          </a:prstGeom>
          <a:noFill/>
        </p:spPr>
        <p:txBody>
          <a:bodyPr wrap="square" anchor="t" lIns="0" tIns="0" rIns="0" bIns="0">
            <a:spAutoFit/>
          </a:bodyPr>
          <a:lstStyle/>
          <a:p>
            <a:pPr algn="l"/>
            <a:r>
              <a:rPr sz="1320" b="1">
                <a:solidFill>
                  <a:srgbClr val="1D4ED8"/>
                </a:solidFill>
                <a:latin typeface="Poppins"/>
              </a:rPr>
              <a:t>The technique that is used</a:t>
            </a:r>
          </a:p>
          <a:p>
            <a:pPr algn="l">
              <a:spcBef>
                <a:spcPts val="500"/>
              </a:spcBef>
            </a:pPr>
            <a:r>
              <a:rPr sz="1100" b="0">
                <a:solidFill>
                  <a:srgbClr val="0F172A"/>
                </a:solidFill>
                <a:latin typeface="Inter"/>
              </a:rPr>
              <a:t>by semi-supervised methods is bootstrapping from seed data</a:t>
            </a:r>
          </a:p>
        </p:txBody>
      </p:sp>
      <p:sp>
        <p:nvSpPr>
          <p:cNvPr id="23" name="Rounded Rectangle 22"/>
          <p:cNvSpPr/>
          <p:nvPr/>
        </p:nvSpPr>
        <p:spPr>
          <a:xfrm>
            <a:off x="457200" y="3919198"/>
            <a:ext cx="11274552" cy="1366033"/>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919198"/>
            <a:ext cx="73152" cy="136603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1D4ED8"/>
                </a:solidFill>
                <a:latin typeface="Poppins"/>
              </a:rPr>
              <a:t>IN PLAIN WORDS</a:t>
            </a:r>
          </a:p>
          <a:p>
            <a:pPr algn="l">
              <a:spcBef>
                <a:spcPts val="300"/>
              </a:spcBef>
            </a:pPr>
            <a:r>
              <a:rPr sz="1400" b="0">
                <a:solidFill>
                  <a:srgbClr val="0F172A"/>
                </a:solidFill>
                <a:latin typeface="Inter"/>
              </a:rPr>
              <a:t>Semi-supervised methods use both labeled and unlabeled data to tackle the lack of training corpora. They require very small amounts of annotated text alongside large amounts of plain text, applying bootstrapping techniques starting from initial seed data. For example, using a few labeled beverage examples to find thousands of unlabeled drink mentions in plain text.</a:t>
            </a:r>
          </a:p>
        </p:txBody>
      </p:sp>
      <p:sp>
        <p:nvSpPr>
          <p:cNvPr id="26" name="Rounded Rectangle 25"/>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Semi-supervised methods combine a small amount of annotated text with large unannotated corpora.</a:t>
            </a:r>
          </a:p>
          <a:p>
            <a:pPr algn="l"/>
            <a:r>
              <a:rPr b="1" sz="1300">
                <a:solidFill>
                  <a:srgbClr val="1D4ED8"/>
                </a:solidFill>
                <a:latin typeface="Poppins"/>
              </a:rPr>
              <a:t>Key terms:  </a:t>
            </a:r>
            <a:r>
              <a:rPr sz="1300" b="0">
                <a:solidFill>
                  <a:srgbClr val="0F172A"/>
                </a:solidFill>
                <a:latin typeface="Inter"/>
              </a:rPr>
              <a:t>Semi-supervised learning — Methods that use a combination of a small amount of labeled data and large unannotated data.  ·  Bootstrapping — A technique using initial seed data to iteratively find and grow a dataset.</a:t>
            </a:r>
          </a:p>
        </p:txBody>
      </p:sp>
      <p:sp>
        <p:nvSpPr>
          <p:cNvPr id="27" name="Rectangle 26"/>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5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5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45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Bootstrapping algorithms iteratively expand initial seed lists using training corpora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17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294362"/>
          </a:xfrm>
          <a:prstGeom prst="roundRect">
            <a:avLst>
              <a:gd name="adj" fmla="val 4783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16216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275551"/>
            <a:ext cx="340156" cy="340156"/>
          </a:xfrm>
          <a:prstGeom prst="rect">
            <a:avLst/>
          </a:prstGeom>
        </p:spPr>
      </p:pic>
      <p:sp>
        <p:nvSpPr>
          <p:cNvPr id="11" name="TextBox 10"/>
          <p:cNvSpPr txBox="1"/>
          <p:nvPr/>
        </p:nvSpPr>
        <p:spPr>
          <a:xfrm>
            <a:off x="1408175" y="1371600"/>
            <a:ext cx="6731812" cy="148058"/>
          </a:xfrm>
          <a:prstGeom prst="rect">
            <a:avLst/>
          </a:prstGeom>
          <a:noFill/>
        </p:spPr>
        <p:txBody>
          <a:bodyPr wrap="square" anchor="ctr" lIns="0" tIns="0" rIns="0" bIns="0">
            <a:spAutoFit/>
          </a:bodyPr>
          <a:lstStyle/>
          <a:p>
            <a:pPr algn="l"/>
            <a:r>
              <a:rPr sz="1050" b="0">
                <a:solidFill>
                  <a:srgbClr val="0F172A"/>
                </a:solidFill>
                <a:latin typeface="Inter"/>
              </a:rPr>
              <a:t>Bootstrapping Algorithms: While there is great variation between implementations, bootstrapping approaches in natural language processing all follow the same general format</a:t>
            </a:r>
          </a:p>
        </p:txBody>
      </p:sp>
      <p:sp>
        <p:nvSpPr>
          <p:cNvPr id="12" name="Rounded Rectangle 11"/>
          <p:cNvSpPr/>
          <p:nvPr/>
        </p:nvSpPr>
        <p:spPr>
          <a:xfrm>
            <a:off x="457200" y="1793978"/>
            <a:ext cx="7883956" cy="294362"/>
          </a:xfrm>
          <a:prstGeom prst="roundRect">
            <a:avLst>
              <a:gd name="adj" fmla="val 4783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657696"/>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1771081"/>
            <a:ext cx="340156" cy="340156"/>
          </a:xfrm>
          <a:prstGeom prst="rect">
            <a:avLst/>
          </a:prstGeom>
        </p:spPr>
      </p:pic>
      <p:sp>
        <p:nvSpPr>
          <p:cNvPr id="15" name="TextBox 14"/>
          <p:cNvSpPr txBox="1"/>
          <p:nvPr/>
        </p:nvSpPr>
        <p:spPr>
          <a:xfrm>
            <a:off x="1408175" y="1867130"/>
            <a:ext cx="6731812" cy="148058"/>
          </a:xfrm>
          <a:prstGeom prst="rect">
            <a:avLst/>
          </a:prstGeom>
          <a:noFill/>
        </p:spPr>
        <p:txBody>
          <a:bodyPr wrap="square" anchor="ctr" lIns="0" tIns="0" rIns="0" bIns="0">
            <a:spAutoFit/>
          </a:bodyPr>
          <a:lstStyle/>
          <a:p>
            <a:pPr algn="l"/>
            <a:r>
              <a:rPr sz="1050" b="0">
                <a:solidFill>
                  <a:srgbClr val="0F172A"/>
                </a:solidFill>
                <a:latin typeface="Inter"/>
              </a:rPr>
              <a:t>Start with an empty list of things</a:t>
            </a:r>
          </a:p>
        </p:txBody>
      </p:sp>
      <p:sp>
        <p:nvSpPr>
          <p:cNvPr id="16" name="Rounded Rectangle 15"/>
          <p:cNvSpPr/>
          <p:nvPr/>
        </p:nvSpPr>
        <p:spPr>
          <a:xfrm>
            <a:off x="457200" y="2289509"/>
            <a:ext cx="7883956" cy="294362"/>
          </a:xfrm>
          <a:prstGeom prst="roundRect">
            <a:avLst>
              <a:gd name="adj" fmla="val 4783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153227"/>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266612"/>
            <a:ext cx="340156" cy="340156"/>
          </a:xfrm>
          <a:prstGeom prst="rect">
            <a:avLst/>
          </a:prstGeom>
        </p:spPr>
      </p:pic>
      <p:sp>
        <p:nvSpPr>
          <p:cNvPr id="19" name="TextBox 18"/>
          <p:cNvSpPr txBox="1"/>
          <p:nvPr/>
        </p:nvSpPr>
        <p:spPr>
          <a:xfrm>
            <a:off x="1408175" y="2362661"/>
            <a:ext cx="6731812" cy="148058"/>
          </a:xfrm>
          <a:prstGeom prst="rect">
            <a:avLst/>
          </a:prstGeom>
          <a:noFill/>
        </p:spPr>
        <p:txBody>
          <a:bodyPr wrap="square" anchor="ctr" lIns="0" tIns="0" rIns="0" bIns="0">
            <a:spAutoFit/>
          </a:bodyPr>
          <a:lstStyle/>
          <a:p>
            <a:pPr algn="l"/>
            <a:r>
              <a:rPr sz="1050" b="0">
                <a:solidFill>
                  <a:srgbClr val="0F172A"/>
                </a:solidFill>
                <a:latin typeface="Inter"/>
              </a:rPr>
              <a:t>Initialize this list with carefully chosen seeds</a:t>
            </a:r>
          </a:p>
        </p:txBody>
      </p:sp>
      <p:sp>
        <p:nvSpPr>
          <p:cNvPr id="20" name="Rounded Rectangle 19"/>
          <p:cNvSpPr/>
          <p:nvPr/>
        </p:nvSpPr>
        <p:spPr>
          <a:xfrm>
            <a:off x="457200" y="2785040"/>
            <a:ext cx="7883956" cy="294362"/>
          </a:xfrm>
          <a:prstGeom prst="roundRect">
            <a:avLst>
              <a:gd name="adj" fmla="val 4783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648758"/>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2762143"/>
            <a:ext cx="340156" cy="340156"/>
          </a:xfrm>
          <a:prstGeom prst="rect">
            <a:avLst/>
          </a:prstGeom>
        </p:spPr>
      </p:pic>
      <p:sp>
        <p:nvSpPr>
          <p:cNvPr id="23" name="TextBox 22"/>
          <p:cNvSpPr txBox="1"/>
          <p:nvPr/>
        </p:nvSpPr>
        <p:spPr>
          <a:xfrm>
            <a:off x="1408175" y="2858192"/>
            <a:ext cx="6731812" cy="148058"/>
          </a:xfrm>
          <a:prstGeom prst="rect">
            <a:avLst/>
          </a:prstGeom>
          <a:noFill/>
        </p:spPr>
        <p:txBody>
          <a:bodyPr wrap="square" anchor="ctr" lIns="0" tIns="0" rIns="0" bIns="0">
            <a:spAutoFit/>
          </a:bodyPr>
          <a:lstStyle/>
          <a:p>
            <a:pPr algn="l"/>
            <a:r>
              <a:rPr sz="1050" b="0">
                <a:solidFill>
                  <a:srgbClr val="0F172A"/>
                </a:solidFill>
                <a:latin typeface="Inter"/>
              </a:rPr>
              <a:t>Leverage the things in the list to find more things from a training corpus</a:t>
            </a:r>
          </a:p>
        </p:txBody>
      </p:sp>
      <p:sp>
        <p:nvSpPr>
          <p:cNvPr id="24" name="Rounded Rectangle 23"/>
          <p:cNvSpPr/>
          <p:nvPr/>
        </p:nvSpPr>
        <p:spPr>
          <a:xfrm>
            <a:off x="457200" y="3280571"/>
            <a:ext cx="7883956" cy="294362"/>
          </a:xfrm>
          <a:prstGeom prst="roundRect">
            <a:avLst>
              <a:gd name="adj" fmla="val 4783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144289"/>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257674"/>
            <a:ext cx="340156" cy="340156"/>
          </a:xfrm>
          <a:prstGeom prst="rect">
            <a:avLst/>
          </a:prstGeom>
        </p:spPr>
      </p:pic>
      <p:sp>
        <p:nvSpPr>
          <p:cNvPr id="27" name="TextBox 26"/>
          <p:cNvSpPr txBox="1"/>
          <p:nvPr/>
        </p:nvSpPr>
        <p:spPr>
          <a:xfrm>
            <a:off x="1408175" y="3353723"/>
            <a:ext cx="6731812" cy="148058"/>
          </a:xfrm>
          <a:prstGeom prst="rect">
            <a:avLst/>
          </a:prstGeom>
          <a:noFill/>
        </p:spPr>
        <p:txBody>
          <a:bodyPr wrap="square" anchor="ctr" lIns="0" tIns="0" rIns="0" bIns="0">
            <a:spAutoFit/>
          </a:bodyPr>
          <a:lstStyle/>
          <a:p>
            <a:pPr algn="l"/>
            <a:r>
              <a:rPr sz="1050" b="0">
                <a:solidFill>
                  <a:srgbClr val="0F172A"/>
                </a:solidFill>
                <a:latin typeface="Inter"/>
              </a:rPr>
              <a:t>Score those newly found things; add the best ones to the list</a:t>
            </a:r>
          </a:p>
        </p:txBody>
      </p:sp>
      <p:sp>
        <p:nvSpPr>
          <p:cNvPr id="28" name="Rounded Rectangle 27"/>
          <p:cNvSpPr/>
          <p:nvPr/>
        </p:nvSpPr>
        <p:spPr>
          <a:xfrm>
            <a:off x="457200" y="3776102"/>
            <a:ext cx="7883956" cy="1509129"/>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76102"/>
            <a:ext cx="73152" cy="150912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D4ED8"/>
                </a:solidFill>
                <a:latin typeface="Poppins"/>
              </a:rPr>
              <a:t>IN PLAIN WORDS</a:t>
            </a:r>
          </a:p>
          <a:p>
            <a:pPr algn="l">
              <a:spcBef>
                <a:spcPts val="300"/>
              </a:spcBef>
            </a:pPr>
            <a:r>
              <a:rPr sz="1300" b="0">
                <a:solidFill>
                  <a:srgbClr val="0F172A"/>
                </a:solidFill>
                <a:latin typeface="Inter"/>
              </a:rPr>
              <a:t>Bootstrapping algorithms follow a general format starting with an empty list and initializing it with carefully chosen seeds. They leverage these items to find more matches from a training corpus, score the newly found items, and add the best ones back to the list. For example, starting with 'water', finding 'soda', scoring them, and adding both to a beverage category list.</a:t>
            </a:r>
          </a:p>
        </p:txBody>
      </p:sp>
      <p:sp>
        <p:nvSpPr>
          <p:cNvPr id="31" name="Rounded Rectangle 30"/>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Bootstrapping algorithms iteratively expand initial seed lists using training corpora and scoring.</a:t>
            </a:r>
          </a:p>
          <a:p>
            <a:pPr algn="l"/>
            <a:r>
              <a:rPr b="1" sz="1300">
                <a:solidFill>
                  <a:srgbClr val="1D4ED8"/>
                </a:solidFill>
                <a:latin typeface="Poppins"/>
              </a:rPr>
              <a:t>Key terms:  </a:t>
            </a:r>
            <a:r>
              <a:rPr sz="1300" b="0">
                <a:solidFill>
                  <a:srgbClr val="0F172A"/>
                </a:solidFill>
                <a:latin typeface="Inter"/>
              </a:rPr>
              <a:t>Seeds — Carefully chosen initial data items used to start the bootstrapping process.  ·  Training Corpus — A large body of text used to extract and find more target items.</a:t>
            </a:r>
          </a:p>
        </p:txBody>
      </p:sp>
      <p:sp>
        <p:nvSpPr>
          <p:cNvPr id="32" name="Rectangle 31"/>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4" presetID="10" presetClass="entr" presetSubtype="0" fill="hold"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5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50"/>
                                        <p:tgtEl>
                                          <p:spTgt spid="29"/>
                                        </p:tgtEl>
                                      </p:cBhvr>
                                    </p:animEffect>
                                  </p:childTnLst>
                                </p:cTn>
                              </p:par>
                              <p:par>
                                <p:cTn id="65" presetID="10"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5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50"/>
                                        <p:tgtEl>
                                          <p:spTgt spid="31"/>
                                        </p:tgtEl>
                                      </p:cBhvr>
                                    </p:animEffect>
                                  </p:childTnLst>
                                </p:cTn>
                              </p:par>
                              <p:par>
                                <p:cTn id="71" presetID="10" presetClass="entr" presetSubtype="0" fill="hold"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Semantic category bootstrapping relies on words appearing in similar patterns and contexts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18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19549"/>
            <a:ext cx="82296" cy="335036"/>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82973"/>
            <a:ext cx="7087166" cy="353324"/>
          </a:xfrm>
          <a:prstGeom prst="rect">
            <a:avLst/>
          </a:prstGeom>
          <a:noFill/>
        </p:spPr>
        <p:txBody>
          <a:bodyPr wrap="square" anchor="t" lIns="0" tIns="0" rIns="0" bIns="0">
            <a:spAutoFit/>
          </a:bodyPr>
          <a:lstStyle/>
          <a:p>
            <a:pPr algn="l"/>
            <a:r>
              <a:rPr sz="2210" b="1">
                <a:solidFill>
                  <a:srgbClr val="1D4ED8"/>
                </a:solidFill>
                <a:latin typeface="Poppins"/>
              </a:rPr>
              <a:t>Repeat from step 3.</a:t>
            </a:r>
          </a:p>
        </p:txBody>
      </p:sp>
      <p:sp>
        <p:nvSpPr>
          <p:cNvPr id="10" name="TextBox 9"/>
          <p:cNvSpPr txBox="1"/>
          <p:nvPr/>
        </p:nvSpPr>
        <p:spPr>
          <a:xfrm>
            <a:off x="720547" y="2028322"/>
            <a:ext cx="7087166" cy="256032"/>
          </a:xfrm>
          <a:prstGeom prst="rect">
            <a:avLst/>
          </a:prstGeom>
          <a:noFill/>
        </p:spPr>
        <p:txBody>
          <a:bodyPr wrap="square" lIns="0" rIns="0" tIns="0" bIns="0">
            <a:spAutoFit/>
          </a:bodyPr>
          <a:lstStyle/>
          <a:p>
            <a:r>
              <a:rPr sz="1600">
                <a:solidFill>
                  <a:srgbClr val="0F172A"/>
                </a:solidFill>
                <a:latin typeface="Inter"/>
              </a:rPr>
              <a:t>Stop after a set number of iterations or some other stop condition.</a:t>
            </a:r>
          </a:p>
        </p:txBody>
      </p:sp>
      <p:sp>
        <p:nvSpPr>
          <p:cNvPr id="11" name="TextBox 10"/>
          <p:cNvSpPr txBox="1"/>
          <p:nvPr/>
        </p:nvSpPr>
        <p:spPr>
          <a:xfrm>
            <a:off x="720547" y="2412370"/>
            <a:ext cx="7087166" cy="768096"/>
          </a:xfrm>
          <a:prstGeom prst="rect">
            <a:avLst/>
          </a:prstGeom>
          <a:noFill/>
        </p:spPr>
        <p:txBody>
          <a:bodyPr wrap="square" lIns="0" rIns="0" tIns="0" bIns="0">
            <a:spAutoFit/>
          </a:bodyPr>
          <a:lstStyle/>
          <a:p>
            <a:r>
              <a:rPr sz="1600">
                <a:solidFill>
                  <a:srgbClr val="0F172A"/>
                </a:solidFill>
                <a:latin typeface="Inter"/>
              </a:rPr>
              <a:t>The intuition for bootstrapping stems from the observation that words from the semantic category tend to appear in similar patterns and similar contexts.</a:t>
            </a:r>
          </a:p>
        </p:txBody>
      </p:sp>
      <p:sp>
        <p:nvSpPr>
          <p:cNvPr id="12" name="TextBox 11"/>
          <p:cNvSpPr txBox="1"/>
          <p:nvPr/>
        </p:nvSpPr>
        <p:spPr>
          <a:xfrm>
            <a:off x="994867" y="3308482"/>
            <a:ext cx="6812846" cy="768096"/>
          </a:xfrm>
          <a:prstGeom prst="rect">
            <a:avLst/>
          </a:prstGeom>
          <a:noFill/>
        </p:spPr>
        <p:txBody>
          <a:bodyPr wrap="square" lIns="0" rIns="0" tIns="0" bIns="0">
            <a:spAutoFit/>
          </a:bodyPr>
          <a:lstStyle/>
          <a:p>
            <a:r>
              <a:rPr sz="990" b="1">
                <a:solidFill>
                  <a:srgbClr val="0F766E"/>
                </a:solidFill>
                <a:latin typeface="Poppins"/>
              </a:rPr>
              <a:t>E.G.   </a:t>
            </a:r>
            <a:r>
              <a:rPr sz="1600" b="1">
                <a:solidFill>
                  <a:srgbClr val="0F766E"/>
                </a:solidFill>
                <a:latin typeface="Poppins"/>
              </a:rPr>
              <a:t>For example</a:t>
            </a:r>
            <a:r>
              <a:rPr sz="1600">
                <a:solidFill>
                  <a:srgbClr val="0F172A"/>
                </a:solidFill>
                <a:latin typeface="Inter"/>
              </a:rPr>
              <a:t>, the words “water” and “soda” are both in the semantic BEVERAGE category, and in a large text they will likely both be found in phrases containing drank or imbibed.</a:t>
            </a:r>
          </a:p>
        </p:txBody>
      </p:sp>
      <p:sp>
        <p:nvSpPr>
          <p:cNvPr id="13" name="TextBox 12"/>
          <p:cNvSpPr txBox="1"/>
          <p:nvPr/>
        </p:nvSpPr>
        <p:spPr>
          <a:xfrm>
            <a:off x="720547" y="4204594"/>
            <a:ext cx="7087166" cy="768096"/>
          </a:xfrm>
          <a:prstGeom prst="rect">
            <a:avLst/>
          </a:prstGeom>
          <a:noFill/>
        </p:spPr>
        <p:txBody>
          <a:bodyPr wrap="square" lIns="0" rIns="0" tIns="0" bIns="0">
            <a:spAutoFit/>
          </a:bodyPr>
          <a:lstStyle/>
          <a:p>
            <a:r>
              <a:rPr sz="1600">
                <a:solidFill>
                  <a:srgbClr val="0F172A"/>
                </a:solidFill>
                <a:latin typeface="Inter"/>
              </a:rPr>
              <a:t>The core intuition is that by searching for patterns </a:t>
            </a:r>
            <a:r>
              <a:rPr sz="1600" b="1">
                <a:solidFill>
                  <a:srgbClr val="0F766E"/>
                </a:solidFill>
                <a:latin typeface="Poppins"/>
              </a:rPr>
              <a:t>like</a:t>
            </a:r>
            <a:r>
              <a:rPr sz="1600">
                <a:solidFill>
                  <a:srgbClr val="0F172A"/>
                </a:solidFill>
                <a:latin typeface="Inter"/>
              </a:rPr>
              <a:t> that we can find other BEVERAGEs, and </a:t>
            </a:r>
            <a:r>
              <a:rPr sz="1600" b="1">
                <a:solidFill>
                  <a:srgbClr val="6D28D9"/>
                </a:solidFill>
                <a:latin typeface="Poppins"/>
              </a:rPr>
              <a:t>then</a:t>
            </a:r>
            <a:r>
              <a:rPr sz="1600">
                <a:solidFill>
                  <a:srgbClr val="0F172A"/>
                </a:solidFill>
                <a:latin typeface="Inter"/>
              </a:rPr>
              <a:t> by finding patterns that contain those, we can find even more.</a:t>
            </a:r>
          </a:p>
        </p:txBody>
      </p:sp>
      <p:sp>
        <p:nvSpPr>
          <p:cNvPr id="14" name="Rounded Rectangle 1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Words from the same semantic category tend to appear in similar patterns and contexts.</a:t>
            </a:r>
          </a:p>
          <a:p>
            <a:pPr algn="l"/>
            <a:r>
              <a:rPr b="1" sz="1300">
                <a:solidFill>
                  <a:srgbClr val="1D4ED8"/>
                </a:solidFill>
                <a:latin typeface="Poppins"/>
              </a:rPr>
              <a:t>Key terms:  </a:t>
            </a:r>
            <a:r>
              <a:rPr sz="1300" b="0">
                <a:solidFill>
                  <a:srgbClr val="0F172A"/>
                </a:solidFill>
                <a:latin typeface="Inter"/>
              </a:rPr>
              <a:t>Semantic category — A group of words that share a similar meaning or domain, such as beverages.  ·  Context — The surrounding words and phrases that help reveal a word's meaning or category.</a:t>
            </a:r>
          </a:p>
        </p:txBody>
      </p:sp>
      <p:sp>
        <p:nvSpPr>
          <p:cNvPr id="15" name="Rectangle 1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Semi-supervised Methods: The core feature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19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11228"/>
            <a:ext cx="82296" cy="1343802"/>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74652"/>
            <a:ext cx="7087166" cy="1362090"/>
          </a:xfrm>
          <a:prstGeom prst="rect">
            <a:avLst/>
          </a:prstGeom>
          <a:noFill/>
        </p:spPr>
        <p:txBody>
          <a:bodyPr wrap="square" anchor="t" lIns="0" tIns="0" rIns="0" bIns="0">
            <a:spAutoFit/>
          </a:bodyPr>
          <a:lstStyle/>
          <a:p>
            <a:pPr algn="l"/>
            <a:r>
              <a:rPr sz="2130" b="1">
                <a:solidFill>
                  <a:srgbClr val="1D4ED8"/>
                </a:solidFill>
                <a:latin typeface="Poppins"/>
              </a:rPr>
              <a:t>The core feature of a bootstrapping algorithm is that each iteration is fed the same type of data as its input that it produces as its output.</a:t>
            </a:r>
          </a:p>
        </p:txBody>
      </p:sp>
      <p:sp>
        <p:nvSpPr>
          <p:cNvPr id="10" name="TextBox 9"/>
          <p:cNvSpPr txBox="1"/>
          <p:nvPr/>
        </p:nvSpPr>
        <p:spPr>
          <a:xfrm>
            <a:off x="720547" y="3028767"/>
            <a:ext cx="7087166" cy="608076"/>
          </a:xfrm>
          <a:prstGeom prst="rect">
            <a:avLst/>
          </a:prstGeom>
          <a:noFill/>
        </p:spPr>
        <p:txBody>
          <a:bodyPr wrap="square" lIns="0" rIns="0" tIns="0" bIns="0">
            <a:spAutoFit/>
          </a:bodyPr>
          <a:lstStyle/>
          <a:p>
            <a:r>
              <a:rPr sz="1900">
                <a:solidFill>
                  <a:srgbClr val="0F172A"/>
                </a:solidFill>
                <a:latin typeface="Inter"/>
              </a:rPr>
              <a:t>The output of the </a:t>
            </a:r>
            <a:r>
              <a:rPr sz="1900" b="1">
                <a:solidFill>
                  <a:srgbClr val="6D28D9"/>
                </a:solidFill>
                <a:latin typeface="Poppins"/>
              </a:rPr>
              <a:t>first</a:t>
            </a:r>
            <a:r>
              <a:rPr sz="1900">
                <a:solidFill>
                  <a:srgbClr val="0F172A"/>
                </a:solidFill>
                <a:latin typeface="Inter"/>
              </a:rPr>
              <a:t> iteration is used as the input of the </a:t>
            </a:r>
            <a:r>
              <a:rPr sz="1900" b="1">
                <a:solidFill>
                  <a:srgbClr val="6D28D9"/>
                </a:solidFill>
                <a:latin typeface="Poppins"/>
              </a:rPr>
              <a:t>second</a:t>
            </a:r>
            <a:r>
              <a:rPr sz="1900">
                <a:solidFill>
                  <a:srgbClr val="0F172A"/>
                </a:solidFill>
                <a:latin typeface="Inter"/>
              </a:rPr>
              <a:t> iteration, and so on.</a:t>
            </a:r>
          </a:p>
        </p:txBody>
      </p:sp>
      <p:sp>
        <p:nvSpPr>
          <p:cNvPr id="11" name="TextBox 10"/>
          <p:cNvSpPr txBox="1"/>
          <p:nvPr/>
        </p:nvSpPr>
        <p:spPr>
          <a:xfrm>
            <a:off x="994867" y="3764859"/>
            <a:ext cx="6812846" cy="1216152"/>
          </a:xfrm>
          <a:prstGeom prst="rect">
            <a:avLst/>
          </a:prstGeom>
          <a:noFill/>
        </p:spPr>
        <p:txBody>
          <a:bodyPr wrap="square" lIns="0" rIns="0" tIns="0" bIns="0">
            <a:spAutoFit/>
          </a:bodyPr>
          <a:lstStyle/>
          <a:p>
            <a:r>
              <a:rPr sz="1900">
                <a:solidFill>
                  <a:srgbClr val="0F172A"/>
                </a:solidFill>
                <a:latin typeface="Inter"/>
              </a:rPr>
              <a:t>It should not be surprising that choosing the initial set of data (the seeds) from which all other data is “grown” is a critical factor (arguably the most critical factor) in the performance of the algorithm.</a:t>
            </a:r>
          </a:p>
        </p:txBody>
      </p:sp>
      <p:sp>
        <p:nvSpPr>
          <p:cNvPr id="12" name="Rounded Rectangle 11"/>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Choosing the initial seed data is a critical factor in bootstrapping algorithm performance.</a:t>
            </a:r>
          </a:p>
          <a:p>
            <a:pPr algn="l"/>
            <a:r>
              <a:rPr b="1" sz="1300">
                <a:solidFill>
                  <a:srgbClr val="1D4ED8"/>
                </a:solidFill>
                <a:latin typeface="Poppins"/>
              </a:rPr>
              <a:t>Key terms:  </a:t>
            </a:r>
            <a:r>
              <a:rPr sz="1300" b="0">
                <a:solidFill>
                  <a:srgbClr val="0F172A"/>
                </a:solidFill>
                <a:latin typeface="Inter"/>
              </a:rPr>
              <a:t>Iteration — A single repetition of a process where output feeds into the next step as input.  ·  Seeds — The critical initial set of data from which all other data is grown.</a:t>
            </a:r>
          </a:p>
        </p:txBody>
      </p:sp>
      <p:sp>
        <p:nvSpPr>
          <p:cNvPr id="13" name="Rectangle 12"/>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20 / 32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Which term matches this description: “A single repetition of a process where output feeds into the next step as input.”?</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Lesk method</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Inter-judge variance</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Semantic category</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Iteration</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D</a:t>
            </a:r>
          </a:p>
          <a:p>
            <a:pPr algn="l">
              <a:spcBef>
                <a:spcPts val="200"/>
              </a:spcBef>
            </a:pPr>
            <a:r>
              <a:rPr sz="1600" b="0">
                <a:solidFill>
                  <a:srgbClr val="FFFFFF"/>
                </a:solidFill>
                <a:latin typeface="Inter"/>
              </a:rPr>
              <a:t>Iteration: A single repetition of a process where output feeds into the next step as input.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Unsupervised methods induce word senses by clustering occurrences in similar contexts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21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70823"/>
            <a:ext cx="82296" cy="1008560"/>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34247"/>
            <a:ext cx="7087166" cy="1026848"/>
          </a:xfrm>
          <a:prstGeom prst="rect">
            <a:avLst/>
          </a:prstGeom>
          <a:noFill/>
        </p:spPr>
        <p:txBody>
          <a:bodyPr wrap="square" anchor="t" lIns="0" tIns="0" rIns="0" bIns="0">
            <a:spAutoFit/>
          </a:bodyPr>
          <a:lstStyle/>
          <a:p>
            <a:pPr algn="l"/>
            <a:r>
              <a:rPr sz="2140" b="1">
                <a:solidFill>
                  <a:srgbClr val="1D4ED8"/>
                </a:solidFill>
                <a:latin typeface="Poppins"/>
              </a:rPr>
              <a:t>Unsupervised Methods These methods assume that similar senses occur in similar context.</a:t>
            </a:r>
          </a:p>
        </p:txBody>
      </p:sp>
      <p:sp>
        <p:nvSpPr>
          <p:cNvPr id="10" name="TextBox 9"/>
          <p:cNvSpPr txBox="1"/>
          <p:nvPr/>
        </p:nvSpPr>
        <p:spPr>
          <a:xfrm>
            <a:off x="994867" y="2653120"/>
            <a:ext cx="6812846" cy="496062"/>
          </a:xfrm>
          <a:prstGeom prst="rect">
            <a:avLst/>
          </a:prstGeom>
          <a:noFill/>
        </p:spPr>
        <p:txBody>
          <a:bodyPr wrap="square" lIns="0" rIns="0" tIns="0" bIns="0">
            <a:spAutoFit/>
          </a:bodyPr>
          <a:lstStyle/>
          <a:p>
            <a:r>
              <a:rPr sz="1550">
                <a:solidFill>
                  <a:srgbClr val="0F172A"/>
                </a:solidFill>
                <a:latin typeface="Inter"/>
              </a:rPr>
              <a:t>That is why the senses can be induced from text by clustering word occurrences by using some measure of similarity of the context.</a:t>
            </a:r>
          </a:p>
        </p:txBody>
      </p:sp>
      <p:sp>
        <p:nvSpPr>
          <p:cNvPr id="11" name="TextBox 10"/>
          <p:cNvSpPr txBox="1"/>
          <p:nvPr/>
        </p:nvSpPr>
        <p:spPr>
          <a:xfrm>
            <a:off x="994867" y="3277198"/>
            <a:ext cx="6812846" cy="248031"/>
          </a:xfrm>
          <a:prstGeom prst="rect">
            <a:avLst/>
          </a:prstGeom>
          <a:noFill/>
        </p:spPr>
        <p:txBody>
          <a:bodyPr wrap="square" lIns="0" rIns="0" tIns="0" bIns="0">
            <a:spAutoFit/>
          </a:bodyPr>
          <a:lstStyle/>
          <a:p>
            <a:r>
              <a:rPr sz="1550">
                <a:solidFill>
                  <a:srgbClr val="0F172A"/>
                </a:solidFill>
                <a:latin typeface="Inter"/>
              </a:rPr>
              <a:t>This task is called word sense induction or discrimination.</a:t>
            </a:r>
          </a:p>
        </p:txBody>
      </p:sp>
      <p:sp>
        <p:nvSpPr>
          <p:cNvPr id="12" name="TextBox 11"/>
          <p:cNvSpPr txBox="1"/>
          <p:nvPr/>
        </p:nvSpPr>
        <p:spPr>
          <a:xfrm>
            <a:off x="720547" y="3653245"/>
            <a:ext cx="7087166" cy="744093"/>
          </a:xfrm>
          <a:prstGeom prst="rect">
            <a:avLst/>
          </a:prstGeom>
          <a:noFill/>
        </p:spPr>
        <p:txBody>
          <a:bodyPr wrap="square" lIns="0" rIns="0" tIns="0" bIns="0">
            <a:spAutoFit/>
          </a:bodyPr>
          <a:lstStyle/>
          <a:p>
            <a:r>
              <a:rPr sz="960" b="1">
                <a:solidFill>
                  <a:srgbClr val="1D4ED8"/>
                </a:solidFill>
                <a:latin typeface="Poppins"/>
              </a:rPr>
              <a:t>BECAUSE   </a:t>
            </a:r>
            <a:r>
              <a:rPr sz="1550">
                <a:solidFill>
                  <a:srgbClr val="0F172A"/>
                </a:solidFill>
                <a:latin typeface="Inter"/>
              </a:rPr>
              <a:t>Unsupervised methods have great potential to overcome the knowledge acquisition bottleneck </a:t>
            </a:r>
            <a:r>
              <a:rPr sz="1550" b="1">
                <a:solidFill>
                  <a:srgbClr val="1D4ED8"/>
                </a:solidFill>
                <a:latin typeface="Poppins"/>
              </a:rPr>
              <a:t>due to</a:t>
            </a:r>
            <a:r>
              <a:rPr sz="1550">
                <a:solidFill>
                  <a:srgbClr val="0F172A"/>
                </a:solidFill>
                <a:latin typeface="Inter"/>
              </a:rPr>
              <a:t> non-dependency on manual efforts.</a:t>
            </a:r>
          </a:p>
        </p:txBody>
      </p:sp>
      <p:sp>
        <p:nvSpPr>
          <p:cNvPr id="13" name="TextBox 12"/>
          <p:cNvSpPr txBox="1"/>
          <p:nvPr/>
        </p:nvSpPr>
        <p:spPr>
          <a:xfrm>
            <a:off x="720547" y="4525354"/>
            <a:ext cx="7087166" cy="496062"/>
          </a:xfrm>
          <a:prstGeom prst="rect">
            <a:avLst/>
          </a:prstGeom>
          <a:noFill/>
        </p:spPr>
        <p:txBody>
          <a:bodyPr wrap="square" lIns="0" rIns="0" tIns="0" bIns="0">
            <a:spAutoFit/>
          </a:bodyPr>
          <a:lstStyle/>
          <a:p>
            <a:r>
              <a:rPr sz="1550">
                <a:solidFill>
                  <a:srgbClr val="0F172A"/>
                </a:solidFill>
                <a:latin typeface="Inter"/>
              </a:rPr>
              <a:t>Unsupervised methods overcome the problem of knowledge acquisition bottleneck.</a:t>
            </a:r>
          </a:p>
        </p:txBody>
      </p:sp>
      <p:sp>
        <p:nvSpPr>
          <p:cNvPr id="14" name="Rounded Rectangle 1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150">
                <a:solidFill>
                  <a:srgbClr val="1D4ED8"/>
                </a:solidFill>
                <a:latin typeface="Poppins"/>
              </a:rPr>
              <a:t>Key takeaway:  </a:t>
            </a:r>
            <a:r>
              <a:rPr sz="1150" b="0">
                <a:solidFill>
                  <a:srgbClr val="0F172A"/>
                </a:solidFill>
                <a:latin typeface="Inter"/>
              </a:rPr>
              <a:t>Unsupervised methods induce word senses by clustering occurrences in similar contexts.</a:t>
            </a:r>
          </a:p>
          <a:p>
            <a:pPr algn="l"/>
            <a:r>
              <a:rPr b="1" sz="1150">
                <a:solidFill>
                  <a:srgbClr val="1D4ED8"/>
                </a:solidFill>
                <a:latin typeface="Poppins"/>
              </a:rPr>
              <a:t>Key terms:  </a:t>
            </a:r>
            <a:r>
              <a:rPr sz="1150" b="0">
                <a:solidFill>
                  <a:srgbClr val="0F172A"/>
                </a:solidFill>
                <a:latin typeface="Inter"/>
              </a:rPr>
              <a:t>Word sense induction — Clustering word occurrences by context similarity to discover word senses without manual effort.  ·  Knowledge acquisition bottleneck — The limitation caused by the reliance on manual efforts to gather training knowledge.</a:t>
            </a:r>
          </a:p>
        </p:txBody>
      </p:sp>
      <p:sp>
        <p:nvSpPr>
          <p:cNvPr id="15" name="Rectangle 1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Unsupervised methods achieve lower performance but utilize clustering and graph-based techniques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22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35024"/>
            <a:ext cx="82296" cy="418246"/>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7087166" cy="436534"/>
          </a:xfrm>
          <a:prstGeom prst="rect">
            <a:avLst/>
          </a:prstGeom>
          <a:noFill/>
        </p:spPr>
        <p:txBody>
          <a:bodyPr wrap="square" anchor="t" lIns="0" tIns="0" rIns="0" bIns="0">
            <a:spAutoFit/>
          </a:bodyPr>
          <a:lstStyle/>
          <a:p>
            <a:pPr algn="l"/>
            <a:r>
              <a:rPr sz="1360" b="1">
                <a:solidFill>
                  <a:srgbClr val="1D4ED8"/>
                </a:solidFill>
                <a:latin typeface="Poppins"/>
              </a:rPr>
              <a:t>The performance of unsupervised method is always been lower than that of the other method used for disambiguation.</a:t>
            </a:r>
          </a:p>
        </p:txBody>
      </p:sp>
      <p:sp>
        <p:nvSpPr>
          <p:cNvPr id="10" name="TextBox 9"/>
          <p:cNvSpPr txBox="1"/>
          <p:nvPr/>
        </p:nvSpPr>
        <p:spPr>
          <a:xfrm>
            <a:off x="720547" y="1927006"/>
            <a:ext cx="7087166" cy="528066"/>
          </a:xfrm>
          <a:prstGeom prst="rect">
            <a:avLst/>
          </a:prstGeom>
          <a:noFill/>
        </p:spPr>
        <p:txBody>
          <a:bodyPr wrap="square" lIns="0" rIns="0" tIns="0" bIns="0">
            <a:spAutoFit/>
          </a:bodyPr>
          <a:lstStyle/>
          <a:p>
            <a:r>
              <a:rPr sz="1100">
                <a:solidFill>
                  <a:srgbClr val="0F172A"/>
                </a:solidFill>
                <a:latin typeface="Inter"/>
              </a:rPr>
              <a:t>Different methods in unsupervised approach are word clustering method in which words are clustered according to the semantic similarity based on single feature (e.g., subject-verb, adjective-noun, etc.) i.e. they are similar to that of target word.</a:t>
            </a:r>
          </a:p>
        </p:txBody>
      </p:sp>
      <p:sp>
        <p:nvSpPr>
          <p:cNvPr id="11" name="TextBox 10"/>
          <p:cNvSpPr txBox="1"/>
          <p:nvPr/>
        </p:nvSpPr>
        <p:spPr>
          <a:xfrm>
            <a:off x="720547" y="2583088"/>
            <a:ext cx="7087166" cy="528066"/>
          </a:xfrm>
          <a:prstGeom prst="rect">
            <a:avLst/>
          </a:prstGeom>
          <a:noFill/>
        </p:spPr>
        <p:txBody>
          <a:bodyPr wrap="square" lIns="0" rIns="0" tIns="0" bIns="0">
            <a:spAutoFit/>
          </a:bodyPr>
          <a:lstStyle/>
          <a:p>
            <a:r>
              <a:rPr sz="1100">
                <a:solidFill>
                  <a:srgbClr val="0F172A"/>
                </a:solidFill>
                <a:latin typeface="Inter"/>
              </a:rPr>
              <a:t>In another context clustering method the clusters are formed by finding the co-occurrence of word (not target) with the target word and </a:t>
            </a:r>
            <a:r>
              <a:rPr sz="1100" b="1">
                <a:solidFill>
                  <a:srgbClr val="6D28D9"/>
                </a:solidFill>
                <a:latin typeface="Poppins"/>
              </a:rPr>
              <a:t>then</a:t>
            </a:r>
            <a:r>
              <a:rPr sz="1100">
                <a:solidFill>
                  <a:srgbClr val="0F172A"/>
                </a:solidFill>
                <a:latin typeface="Inter"/>
              </a:rPr>
              <a:t> the centroid is calculated of the vector of words occurring in the same context.</a:t>
            </a:r>
          </a:p>
        </p:txBody>
      </p:sp>
      <p:sp>
        <p:nvSpPr>
          <p:cNvPr id="12" name="TextBox 11"/>
          <p:cNvSpPr txBox="1"/>
          <p:nvPr/>
        </p:nvSpPr>
        <p:spPr>
          <a:xfrm>
            <a:off x="720547" y="3239170"/>
            <a:ext cx="7087166" cy="352044"/>
          </a:xfrm>
          <a:prstGeom prst="rect">
            <a:avLst/>
          </a:prstGeom>
          <a:noFill/>
        </p:spPr>
        <p:txBody>
          <a:bodyPr wrap="square" lIns="0" rIns="0" tIns="0" bIns="0">
            <a:spAutoFit/>
          </a:bodyPr>
          <a:lstStyle/>
          <a:p>
            <a:r>
              <a:rPr sz="1100">
                <a:solidFill>
                  <a:srgbClr val="0F172A"/>
                </a:solidFill>
                <a:latin typeface="Inter"/>
              </a:rPr>
              <a:t>In another method called graph based method in which a graph is built on some grammatical relationship, in graph weights are assign to the edge according to the relatedness.</a:t>
            </a:r>
          </a:p>
        </p:txBody>
      </p:sp>
      <p:sp>
        <p:nvSpPr>
          <p:cNvPr id="13" name="Rounded Rectangle 12"/>
          <p:cNvSpPr/>
          <p:nvPr/>
        </p:nvSpPr>
        <p:spPr>
          <a:xfrm>
            <a:off x="457200" y="3776102"/>
            <a:ext cx="7883956" cy="1509129"/>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76102"/>
            <a:ext cx="73152" cy="150912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D4ED8"/>
                </a:solidFill>
                <a:latin typeface="Poppins"/>
              </a:rPr>
              <a:t>IN PLAIN WORDS</a:t>
            </a:r>
          </a:p>
          <a:p>
            <a:pPr algn="l">
              <a:spcBef>
                <a:spcPts val="300"/>
              </a:spcBef>
            </a:pPr>
            <a:r>
              <a:rPr sz="1300" b="0">
                <a:solidFill>
                  <a:srgbClr val="0F172A"/>
                </a:solidFill>
                <a:latin typeface="Inter"/>
              </a:rPr>
              <a:t>Unsupervised methods typically score lower than other disambiguation techniques. They employ word clustering based on single features, context clustering via word co-occurrence vectors and centroids, and graph-based methods built on grammatical relationships with weighted edges. For example, clustering adjectives that frequently precede a target noun to discover its semantic category.</a:t>
            </a:r>
          </a:p>
        </p:txBody>
      </p:sp>
      <p:sp>
        <p:nvSpPr>
          <p:cNvPr id="16" name="Rounded Rectangle 15"/>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150">
                <a:solidFill>
                  <a:srgbClr val="1D4ED8"/>
                </a:solidFill>
                <a:latin typeface="Poppins"/>
              </a:rPr>
              <a:t>Key takeaway:  </a:t>
            </a:r>
            <a:r>
              <a:rPr sz="1150" b="0">
                <a:solidFill>
                  <a:srgbClr val="0F172A"/>
                </a:solidFill>
                <a:latin typeface="Inter"/>
              </a:rPr>
              <a:t>Unsupervised methods yield lower performance through word clustering, context clustering, and graph-based techniques.</a:t>
            </a:r>
          </a:p>
          <a:p>
            <a:pPr algn="l"/>
            <a:r>
              <a:rPr b="1" sz="1150">
                <a:solidFill>
                  <a:srgbClr val="1D4ED8"/>
                </a:solidFill>
                <a:latin typeface="Poppins"/>
              </a:rPr>
              <a:t>Key terms:  </a:t>
            </a:r>
            <a:r>
              <a:rPr sz="1150" b="0">
                <a:solidFill>
                  <a:srgbClr val="0F172A"/>
                </a:solidFill>
                <a:latin typeface="Inter"/>
              </a:rPr>
              <a:t>Word clustering — Grouping words according to semantic similarity based on features like subject-verb or adjective-noun.  ·  Graph based method — Building a graph on grammatical relationships with edge weights assigned according to relatedness.</a:t>
            </a:r>
          </a:p>
        </p:txBody>
      </p:sp>
      <p:sp>
        <p:nvSpPr>
          <p:cNvPr id="17" name="Rectangle 16"/>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50" b="1">
                <a:solidFill>
                  <a:srgbClr val="FFC93C"/>
                </a:solidFill>
              </a:defRPr>
            </a:pPr>
            <a:r>
              <a:rPr>
                <a:latin typeface="Poppins"/>
              </a:rPr>
              <a:t>Semi-supervised Methods: An iterative algorithm is applied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23 / 32</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94221"/>
            <a:ext cx="82296" cy="1021201"/>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57645"/>
            <a:ext cx="6907734" cy="1039489"/>
          </a:xfrm>
          <a:prstGeom prst="rect">
            <a:avLst/>
          </a:prstGeom>
          <a:noFill/>
        </p:spPr>
        <p:txBody>
          <a:bodyPr wrap="square" anchor="t" lIns="0" tIns="0" rIns="0" bIns="0">
            <a:spAutoFit/>
          </a:bodyPr>
          <a:lstStyle/>
          <a:p>
            <a:pPr algn="l"/>
            <a:r>
              <a:rPr sz="1620" b="1">
                <a:solidFill>
                  <a:srgbClr val="1D4ED8"/>
                </a:solidFill>
                <a:latin typeface="Poppins"/>
              </a:rPr>
              <a:t>An iterative algorithm is applied to get the word with highest degree node and finally minimum spanning tree is applied to disambiguate instance of target word.</a:t>
            </a:r>
          </a:p>
        </p:txBody>
      </p:sp>
      <p:sp>
        <p:nvSpPr>
          <p:cNvPr id="10" name="TextBox 9"/>
          <p:cNvSpPr txBox="1"/>
          <p:nvPr/>
        </p:nvSpPr>
        <p:spPr>
          <a:xfrm>
            <a:off x="720547" y="2689158"/>
            <a:ext cx="6907734" cy="464057"/>
          </a:xfrm>
          <a:prstGeom prst="rect">
            <a:avLst/>
          </a:prstGeom>
          <a:noFill/>
        </p:spPr>
        <p:txBody>
          <a:bodyPr wrap="square" lIns="0" rIns="0" tIns="0" bIns="0">
            <a:spAutoFit/>
          </a:bodyPr>
          <a:lstStyle/>
          <a:p>
            <a:r>
              <a:rPr sz="1450">
                <a:solidFill>
                  <a:srgbClr val="0F172A"/>
                </a:solidFill>
                <a:latin typeface="Inter"/>
              </a:rPr>
              <a:t>Problems with Unsupervised Approach are the instances in training data may not be assigned the correct sense.</a:t>
            </a:r>
          </a:p>
        </p:txBody>
      </p:sp>
      <p:sp>
        <p:nvSpPr>
          <p:cNvPr id="11" name="TextBox 10"/>
          <p:cNvSpPr txBox="1"/>
          <p:nvPr/>
        </p:nvSpPr>
        <p:spPr>
          <a:xfrm>
            <a:off x="720547" y="3281232"/>
            <a:ext cx="6907734" cy="232028"/>
          </a:xfrm>
          <a:prstGeom prst="rect">
            <a:avLst/>
          </a:prstGeom>
          <a:noFill/>
        </p:spPr>
        <p:txBody>
          <a:bodyPr wrap="square" lIns="0" rIns="0" tIns="0" bIns="0">
            <a:spAutoFit/>
          </a:bodyPr>
          <a:lstStyle/>
          <a:p>
            <a:r>
              <a:rPr sz="1450">
                <a:solidFill>
                  <a:srgbClr val="0F172A"/>
                </a:solidFill>
                <a:latin typeface="Inter"/>
              </a:rPr>
              <a:t>Clusters are heterogeneous.</a:t>
            </a:r>
          </a:p>
        </p:txBody>
      </p:sp>
      <p:sp>
        <p:nvSpPr>
          <p:cNvPr id="12" name="TextBox 11"/>
          <p:cNvSpPr txBox="1"/>
          <p:nvPr/>
        </p:nvSpPr>
        <p:spPr>
          <a:xfrm>
            <a:off x="720547" y="3641277"/>
            <a:ext cx="6907734" cy="464057"/>
          </a:xfrm>
          <a:prstGeom prst="rect">
            <a:avLst/>
          </a:prstGeom>
          <a:noFill/>
        </p:spPr>
        <p:txBody>
          <a:bodyPr wrap="square" lIns="0" rIns="0" tIns="0" bIns="0">
            <a:spAutoFit/>
          </a:bodyPr>
          <a:lstStyle/>
          <a:p>
            <a:r>
              <a:rPr sz="1450">
                <a:solidFill>
                  <a:srgbClr val="0F172A"/>
                </a:solidFill>
                <a:latin typeface="Inter"/>
              </a:rPr>
              <a:t>Number of cluster may differ from the number of senses of target word to be disambiguated.</a:t>
            </a:r>
          </a:p>
        </p:txBody>
      </p:sp>
      <p:sp>
        <p:nvSpPr>
          <p:cNvPr id="13" name="TextBox 12"/>
          <p:cNvSpPr txBox="1"/>
          <p:nvPr/>
        </p:nvSpPr>
        <p:spPr>
          <a:xfrm>
            <a:off x="720547" y="4233351"/>
            <a:ext cx="6907734" cy="696087"/>
          </a:xfrm>
          <a:prstGeom prst="rect">
            <a:avLst/>
          </a:prstGeom>
          <a:noFill/>
        </p:spPr>
        <p:txBody>
          <a:bodyPr wrap="square" lIns="0" rIns="0" tIns="0" bIns="0">
            <a:spAutoFit/>
          </a:bodyPr>
          <a:lstStyle/>
          <a:p>
            <a:r>
              <a:rPr sz="1450">
                <a:solidFill>
                  <a:srgbClr val="0F172A"/>
                </a:solidFill>
                <a:latin typeface="Inter"/>
              </a:rPr>
              <a:t>Applications of Word Sense Disambiguation (WSD) Word sense disambiguation (WSD) is applied in almost every application of language technology.</a:t>
            </a:r>
          </a:p>
        </p:txBody>
      </p:sp>
      <p:sp>
        <p:nvSpPr>
          <p:cNvPr id="14" name="TextBox 13"/>
          <p:cNvSpPr txBox="1"/>
          <p:nvPr/>
        </p:nvSpPr>
        <p:spPr>
          <a:xfrm>
            <a:off x="720547" y="5057454"/>
            <a:ext cx="6907734" cy="464057"/>
          </a:xfrm>
          <a:prstGeom prst="rect">
            <a:avLst/>
          </a:prstGeom>
          <a:noFill/>
        </p:spPr>
        <p:txBody>
          <a:bodyPr wrap="square" lIns="0" rIns="0" tIns="0" bIns="0">
            <a:spAutoFit/>
          </a:bodyPr>
          <a:lstStyle/>
          <a:p>
            <a:r>
              <a:rPr sz="1450">
                <a:solidFill>
                  <a:srgbClr val="0F172A"/>
                </a:solidFill>
                <a:latin typeface="Inter"/>
              </a:rPr>
              <a:t>Let us now see the scope of WSD − Machine Translation Machine translation or MT is the most obvious application of WSD.</a:t>
            </a:r>
          </a:p>
        </p:txBody>
      </p:sp>
      <p:sp>
        <p:nvSpPr>
          <p:cNvPr id="15" name="TextBox 14"/>
          <p:cNvSpPr txBox="1"/>
          <p:nvPr/>
        </p:nvSpPr>
        <p:spPr>
          <a:xfrm>
            <a:off x="720547" y="5649528"/>
            <a:ext cx="6907734" cy="464057"/>
          </a:xfrm>
          <a:prstGeom prst="rect">
            <a:avLst/>
          </a:prstGeom>
          <a:noFill/>
        </p:spPr>
        <p:txBody>
          <a:bodyPr wrap="square" lIns="0" rIns="0" tIns="0" bIns="0">
            <a:spAutoFit/>
          </a:bodyPr>
          <a:lstStyle/>
          <a:p>
            <a:r>
              <a:rPr sz="1450">
                <a:solidFill>
                  <a:srgbClr val="0F172A"/>
                </a:solidFill>
                <a:latin typeface="Inter"/>
              </a:rPr>
              <a:t>In MT, Lexical choice for the words that have distinct translations for different senses, is done by WSD.</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Semi-supervised Methods: The senses in MT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24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35024"/>
            <a:ext cx="82296" cy="467532"/>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7087166" cy="485820"/>
          </a:xfrm>
          <a:prstGeom prst="rect">
            <a:avLst/>
          </a:prstGeom>
          <a:noFill/>
        </p:spPr>
        <p:txBody>
          <a:bodyPr wrap="square" anchor="t" lIns="0" tIns="0" rIns="0" bIns="0">
            <a:spAutoFit/>
          </a:bodyPr>
          <a:lstStyle/>
          <a:p>
            <a:pPr algn="l"/>
            <a:r>
              <a:rPr sz="1520" b="1">
                <a:solidFill>
                  <a:srgbClr val="1D4ED8"/>
                </a:solidFill>
                <a:latin typeface="Poppins"/>
              </a:rPr>
              <a:t>The senses in MT are represented as words in the target language.</a:t>
            </a:r>
          </a:p>
        </p:txBody>
      </p:sp>
      <p:sp>
        <p:nvSpPr>
          <p:cNvPr id="10" name="TextBox 9"/>
          <p:cNvSpPr txBox="1"/>
          <p:nvPr/>
        </p:nvSpPr>
        <p:spPr>
          <a:xfrm>
            <a:off x="720547" y="1976292"/>
            <a:ext cx="7087166" cy="176022"/>
          </a:xfrm>
          <a:prstGeom prst="rect">
            <a:avLst/>
          </a:prstGeom>
          <a:noFill/>
        </p:spPr>
        <p:txBody>
          <a:bodyPr wrap="square" lIns="0" rIns="0" tIns="0" bIns="0">
            <a:spAutoFit/>
          </a:bodyPr>
          <a:lstStyle/>
          <a:p>
            <a:r>
              <a:rPr sz="1100">
                <a:solidFill>
                  <a:srgbClr val="0F172A"/>
                </a:solidFill>
                <a:latin typeface="Inter"/>
              </a:rPr>
              <a:t>Most of the machine translation systems do not use explicit WSD module.</a:t>
            </a:r>
          </a:p>
        </p:txBody>
      </p:sp>
      <p:sp>
        <p:nvSpPr>
          <p:cNvPr id="11" name="TextBox 10"/>
          <p:cNvSpPr txBox="1"/>
          <p:nvPr/>
        </p:nvSpPr>
        <p:spPr>
          <a:xfrm>
            <a:off x="720547" y="2280330"/>
            <a:ext cx="7087166" cy="528066"/>
          </a:xfrm>
          <a:prstGeom prst="rect">
            <a:avLst/>
          </a:prstGeom>
          <a:noFill/>
        </p:spPr>
        <p:txBody>
          <a:bodyPr wrap="square" lIns="0" rIns="0" tIns="0" bIns="0">
            <a:spAutoFit/>
          </a:bodyPr>
          <a:lstStyle/>
          <a:p>
            <a:r>
              <a:rPr sz="1100">
                <a:solidFill>
                  <a:srgbClr val="0F172A"/>
                </a:solidFill>
                <a:latin typeface="Inter"/>
              </a:rPr>
              <a:t>Information Retrieval (IR) Information retrieval (IR) may be defined as a software program that deals with the organization, storage, retrieval and evaluation of information from document repositories particularly textual information.</a:t>
            </a:r>
          </a:p>
        </p:txBody>
      </p:sp>
      <p:sp>
        <p:nvSpPr>
          <p:cNvPr id="12" name="TextBox 11"/>
          <p:cNvSpPr txBox="1"/>
          <p:nvPr/>
        </p:nvSpPr>
        <p:spPr>
          <a:xfrm>
            <a:off x="720547" y="2936412"/>
            <a:ext cx="7087166" cy="352044"/>
          </a:xfrm>
          <a:prstGeom prst="rect">
            <a:avLst/>
          </a:prstGeom>
          <a:noFill/>
        </p:spPr>
        <p:txBody>
          <a:bodyPr wrap="square" lIns="0" rIns="0" tIns="0" bIns="0">
            <a:spAutoFit/>
          </a:bodyPr>
          <a:lstStyle/>
          <a:p>
            <a:r>
              <a:rPr sz="1100">
                <a:solidFill>
                  <a:srgbClr val="0F172A"/>
                </a:solidFill>
                <a:latin typeface="Inter"/>
              </a:rPr>
              <a:t>The system basically assists users in finding the information they required </a:t>
            </a:r>
            <a:r>
              <a:rPr sz="1100" b="1">
                <a:solidFill>
                  <a:srgbClr val="C2410C"/>
                </a:solidFill>
                <a:latin typeface="Poppins"/>
              </a:rPr>
              <a:t>but</a:t>
            </a:r>
            <a:r>
              <a:rPr sz="1100">
                <a:solidFill>
                  <a:srgbClr val="0F172A"/>
                </a:solidFill>
                <a:latin typeface="Inter"/>
              </a:rPr>
              <a:t> it does not explicitly return the answers of the questions.</a:t>
            </a:r>
          </a:p>
        </p:txBody>
      </p:sp>
      <p:sp>
        <p:nvSpPr>
          <p:cNvPr id="13" name="TextBox 12"/>
          <p:cNvSpPr txBox="1"/>
          <p:nvPr/>
        </p:nvSpPr>
        <p:spPr>
          <a:xfrm>
            <a:off x="720547" y="3416472"/>
            <a:ext cx="7087166" cy="176022"/>
          </a:xfrm>
          <a:prstGeom prst="rect">
            <a:avLst/>
          </a:prstGeom>
          <a:noFill/>
        </p:spPr>
        <p:txBody>
          <a:bodyPr wrap="square" lIns="0" rIns="0" tIns="0" bIns="0">
            <a:spAutoFit/>
          </a:bodyPr>
          <a:lstStyle/>
          <a:p>
            <a:r>
              <a:rPr sz="1100">
                <a:solidFill>
                  <a:srgbClr val="0F172A"/>
                </a:solidFill>
                <a:latin typeface="Inter"/>
              </a:rPr>
              <a:t>WSD is used to resolve the ambiguities of the queries provided to IR system.</a:t>
            </a:r>
          </a:p>
        </p:txBody>
      </p:sp>
      <p:sp>
        <p:nvSpPr>
          <p:cNvPr id="14" name="TextBox 13"/>
          <p:cNvSpPr txBox="1"/>
          <p:nvPr/>
        </p:nvSpPr>
        <p:spPr>
          <a:xfrm>
            <a:off x="994867" y="3720510"/>
            <a:ext cx="6812846" cy="352044"/>
          </a:xfrm>
          <a:prstGeom prst="rect">
            <a:avLst/>
          </a:prstGeom>
          <a:noFill/>
        </p:spPr>
        <p:txBody>
          <a:bodyPr wrap="square" lIns="0" rIns="0" tIns="0" bIns="0">
            <a:spAutoFit/>
          </a:bodyPr>
          <a:lstStyle/>
          <a:p>
            <a:r>
              <a:rPr sz="680" b="1">
                <a:solidFill>
                  <a:srgbClr val="0F766E"/>
                </a:solidFill>
                <a:latin typeface="Poppins"/>
              </a:rPr>
              <a:t>E.G.   </a:t>
            </a:r>
            <a:r>
              <a:rPr sz="1100">
                <a:solidFill>
                  <a:srgbClr val="0F172A"/>
                </a:solidFill>
                <a:latin typeface="Inter"/>
              </a:rPr>
              <a:t>As </a:t>
            </a:r>
            <a:r>
              <a:rPr sz="1100" b="1">
                <a:solidFill>
                  <a:srgbClr val="0F766E"/>
                </a:solidFill>
                <a:latin typeface="Poppins"/>
              </a:rPr>
              <a:t>like</a:t>
            </a:r>
            <a:r>
              <a:rPr sz="1100">
                <a:solidFill>
                  <a:srgbClr val="0F172A"/>
                </a:solidFill>
                <a:latin typeface="Inter"/>
              </a:rPr>
              <a:t> MT, current IR systems do not explicitly use WSD module and they rely on the concept that user would type enough context in the query to only retrieve relevant documents.</a:t>
            </a:r>
          </a:p>
        </p:txBody>
      </p:sp>
      <p:sp>
        <p:nvSpPr>
          <p:cNvPr id="15" name="Rounded Rectangle 14"/>
          <p:cNvSpPr/>
          <p:nvPr/>
        </p:nvSpPr>
        <p:spPr>
          <a:xfrm>
            <a:off x="457200" y="3776102"/>
            <a:ext cx="7883956" cy="1509129"/>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76102"/>
            <a:ext cx="73152" cy="150912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D4ED8"/>
                </a:solidFill>
                <a:latin typeface="Poppins"/>
              </a:rPr>
              <a:t>IN PLAIN WORDS</a:t>
            </a:r>
          </a:p>
          <a:p>
            <a:pPr algn="l">
              <a:spcBef>
                <a:spcPts val="300"/>
              </a:spcBef>
            </a:pPr>
            <a:r>
              <a:rPr sz="1300" b="0">
                <a:solidFill>
                  <a:srgbClr val="0F172A"/>
                </a:solidFill>
                <a:latin typeface="Inter"/>
              </a:rPr>
              <a:t>In machine translation, senses are target language words, while information retrieval organizes and retrieves text documents. Neither system typically uses an explicit word sense disambiguation module, relying instead on target word selection or user context within queries. For example, an information retrieval system relying on the user typing enough query context to fetch relevant documents.</a:t>
            </a:r>
          </a:p>
        </p:txBody>
      </p:sp>
      <p:sp>
        <p:nvSpPr>
          <p:cNvPr id="18" name="Rounded Rectangle 17"/>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D4ED8"/>
                </a:solidFill>
                <a:latin typeface="Poppins"/>
              </a:rPr>
              <a:t>Key takeaway:  </a:t>
            </a:r>
            <a:r>
              <a:rPr sz="1300" b="0">
                <a:solidFill>
                  <a:srgbClr val="0F172A"/>
                </a:solidFill>
                <a:latin typeface="Inter"/>
              </a:rPr>
              <a:t>Machine translation and information retrieval systems currently do not explicitly use WSD modules.</a:t>
            </a:r>
          </a:p>
          <a:p>
            <a:pPr algn="l"/>
            <a:r>
              <a:rPr b="1" sz="1300">
                <a:solidFill>
                  <a:srgbClr val="1D4ED8"/>
                </a:solidFill>
                <a:latin typeface="Poppins"/>
              </a:rPr>
              <a:t>Key terms:  </a:t>
            </a:r>
            <a:r>
              <a:rPr sz="1300" b="0">
                <a:solidFill>
                  <a:srgbClr val="0F172A"/>
                </a:solidFill>
                <a:latin typeface="Inter"/>
              </a:rPr>
              <a:t>Information Retrieval — Software dealing with the organization, storage, retrieval, and evaluation of textual information.  ·  Target Language — The language into which text is translated in machine translation systems.</a:t>
            </a:r>
          </a:p>
        </p:txBody>
      </p:sp>
      <p:sp>
        <p:nvSpPr>
          <p:cNvPr id="19" name="Rectangle 18"/>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25 / 32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Which term matches this description: “Software dealing with the organization, storage, retrieval, and evaluation of textual information.”?</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Knowledge acquisition bottleneck</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Corpus</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Word-sense discreteness</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Information Retrieval</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D</a:t>
            </a:r>
          </a:p>
          <a:p>
            <a:pPr algn="l">
              <a:spcBef>
                <a:spcPts val="200"/>
              </a:spcBef>
            </a:pPr>
            <a:r>
              <a:rPr sz="1450" b="0">
                <a:solidFill>
                  <a:srgbClr val="FFFFFF"/>
                </a:solidFill>
                <a:latin typeface="Inter"/>
              </a:rPr>
              <a:t>Information Retrieval: Software dealing with the organization, storage, retrieval, and evaluation of textual information.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Word sense disambiguation aids text mining, information extraction, and corpus-based lexicography</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26 / 32</a:t>
            </a:r>
          </a:p>
        </p:txBody>
      </p:sp>
      <p:sp>
        <p:nvSpPr>
          <p:cNvPr id="8" name="Rounded Rectangle 7"/>
          <p:cNvSpPr/>
          <p:nvPr/>
        </p:nvSpPr>
        <p:spPr>
          <a:xfrm>
            <a:off x="457200" y="1298448"/>
            <a:ext cx="3502152" cy="880607"/>
          </a:xfrm>
          <a:prstGeom prst="roundRect">
            <a:avLst>
              <a:gd name="adj" fmla="val 159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10151"/>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1280160" y="1499616"/>
            <a:ext cx="2478024" cy="478271"/>
          </a:xfrm>
          <a:prstGeom prst="rect">
            <a:avLst/>
          </a:prstGeom>
          <a:noFill/>
        </p:spPr>
        <p:txBody>
          <a:bodyPr wrap="square" anchor="ctr" lIns="0" tIns="0" rIns="0" bIns="0">
            <a:spAutoFit/>
          </a:bodyPr>
          <a:lstStyle/>
          <a:p>
            <a:pPr algn="l"/>
            <a:r>
              <a:rPr sz="1260" b="1">
                <a:solidFill>
                  <a:srgbClr val="1D4ED8"/>
                </a:solidFill>
                <a:latin typeface="Poppins"/>
              </a:rPr>
              <a:t>Text Mining and Information Extraction</a:t>
            </a:r>
          </a:p>
          <a:p>
            <a:pPr algn="l">
              <a:spcBef>
                <a:spcPts val="500"/>
              </a:spcBef>
            </a:pPr>
            <a:r>
              <a:rPr sz="1050" b="0">
                <a:solidFill>
                  <a:srgbClr val="0F172A"/>
                </a:solidFill>
                <a:latin typeface="Inter"/>
              </a:rPr>
              <a:t>(IE) In most of the applications, WSD is necessary to do accurate analysis of text</a:t>
            </a:r>
          </a:p>
        </p:txBody>
      </p:sp>
      <p:sp>
        <p:nvSpPr>
          <p:cNvPr id="11" name="Right Arrow 10"/>
          <p:cNvSpPr/>
          <p:nvPr/>
        </p:nvSpPr>
        <p:spPr>
          <a:xfrm>
            <a:off x="4014215" y="1583303"/>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298448"/>
            <a:ext cx="3502152" cy="880607"/>
          </a:xfrm>
          <a:prstGeom prst="roundRect">
            <a:avLst>
              <a:gd name="adj" fmla="val 159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1510151"/>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4" name="TextBox 13"/>
          <p:cNvSpPr txBox="1"/>
          <p:nvPr/>
        </p:nvSpPr>
        <p:spPr>
          <a:xfrm>
            <a:off x="5166359" y="1499616"/>
            <a:ext cx="2478024" cy="478271"/>
          </a:xfrm>
          <a:prstGeom prst="rect">
            <a:avLst/>
          </a:prstGeom>
          <a:noFill/>
        </p:spPr>
        <p:txBody>
          <a:bodyPr wrap="square" anchor="ctr" lIns="0" tIns="0" rIns="0" bIns="0">
            <a:spAutoFit/>
          </a:bodyPr>
          <a:lstStyle/>
          <a:p>
            <a:pPr algn="l"/>
            <a:r>
              <a:rPr sz="1260" b="1">
                <a:solidFill>
                  <a:srgbClr val="1D4ED8"/>
                </a:solidFill>
                <a:latin typeface="Poppins"/>
              </a:rPr>
              <a:t>For example</a:t>
            </a:r>
          </a:p>
          <a:p>
            <a:pPr algn="l">
              <a:spcBef>
                <a:spcPts val="500"/>
              </a:spcBef>
            </a:pPr>
            <a:r>
              <a:rPr sz="1050" b="0">
                <a:solidFill>
                  <a:srgbClr val="0F172A"/>
                </a:solidFill>
                <a:latin typeface="Inter"/>
              </a:rPr>
              <a:t>WSD helps intelligent gathering system to do flagging of the correct words</a:t>
            </a:r>
          </a:p>
        </p:txBody>
      </p:sp>
      <p:sp>
        <p:nvSpPr>
          <p:cNvPr id="15" name="Right Arrow 14"/>
          <p:cNvSpPr/>
          <p:nvPr/>
        </p:nvSpPr>
        <p:spPr>
          <a:xfrm>
            <a:off x="7900416" y="1583303"/>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298448"/>
            <a:ext cx="3502152" cy="880607"/>
          </a:xfrm>
          <a:prstGeom prst="roundRect">
            <a:avLst>
              <a:gd name="adj" fmla="val 159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8" y="1510151"/>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8" name="TextBox 17"/>
          <p:cNvSpPr txBox="1"/>
          <p:nvPr/>
        </p:nvSpPr>
        <p:spPr>
          <a:xfrm>
            <a:off x="9052560" y="1499616"/>
            <a:ext cx="2478024" cy="478271"/>
          </a:xfrm>
          <a:prstGeom prst="rect">
            <a:avLst/>
          </a:prstGeom>
          <a:noFill/>
        </p:spPr>
        <p:txBody>
          <a:bodyPr wrap="square" anchor="ctr" lIns="0" tIns="0" rIns="0" bIns="0">
            <a:spAutoFit/>
          </a:bodyPr>
          <a:lstStyle/>
          <a:p>
            <a:pPr algn="l"/>
            <a:r>
              <a:rPr sz="1260" b="1">
                <a:solidFill>
                  <a:srgbClr val="1D4ED8"/>
                </a:solidFill>
                <a:latin typeface="Poppins"/>
              </a:rPr>
              <a:t>For example</a:t>
            </a:r>
          </a:p>
          <a:p>
            <a:pPr algn="l">
              <a:spcBef>
                <a:spcPts val="500"/>
              </a:spcBef>
            </a:pPr>
            <a:r>
              <a:rPr sz="1050" b="0">
                <a:solidFill>
                  <a:srgbClr val="0F172A"/>
                </a:solidFill>
                <a:latin typeface="Inter"/>
              </a:rPr>
              <a:t>medical intelligent system might need flagging of “illegal drugs” rather than “medical drugs” Lexicography WSD and lexicography can work together in loop because modern lexicography is corpus based</a:t>
            </a:r>
          </a:p>
        </p:txBody>
      </p:sp>
      <p:sp>
        <p:nvSpPr>
          <p:cNvPr id="19" name="Rounded Rectangle 18"/>
          <p:cNvSpPr/>
          <p:nvPr/>
        </p:nvSpPr>
        <p:spPr>
          <a:xfrm>
            <a:off x="457200" y="2380223"/>
            <a:ext cx="3502152" cy="880607"/>
          </a:xfrm>
          <a:prstGeom prst="roundRect">
            <a:avLst>
              <a:gd name="adj" fmla="val 159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2591927"/>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21" name="TextBox 20"/>
          <p:cNvSpPr txBox="1"/>
          <p:nvPr/>
        </p:nvSpPr>
        <p:spPr>
          <a:xfrm>
            <a:off x="1280160" y="2581391"/>
            <a:ext cx="2478024" cy="478271"/>
          </a:xfrm>
          <a:prstGeom prst="rect">
            <a:avLst/>
          </a:prstGeom>
          <a:noFill/>
        </p:spPr>
        <p:txBody>
          <a:bodyPr wrap="square" anchor="ctr" lIns="0" tIns="0" rIns="0" bIns="0">
            <a:spAutoFit/>
          </a:bodyPr>
          <a:lstStyle/>
          <a:p>
            <a:pPr algn="l"/>
            <a:r>
              <a:rPr sz="1260" b="1">
                <a:solidFill>
                  <a:srgbClr val="1D4ED8"/>
                </a:solidFill>
                <a:latin typeface="Poppins"/>
              </a:rPr>
              <a:t>With lexicography</a:t>
            </a:r>
          </a:p>
          <a:p>
            <a:pPr algn="l">
              <a:spcBef>
                <a:spcPts val="500"/>
              </a:spcBef>
            </a:pPr>
            <a:r>
              <a:rPr sz="1050" b="0">
                <a:solidFill>
                  <a:srgbClr val="0F172A"/>
                </a:solidFill>
                <a:latin typeface="Inter"/>
              </a:rPr>
              <a:t>WSD provides rough empirical sense groupings as well as statistically significant contextual indicators of sense</a:t>
            </a:r>
          </a:p>
        </p:txBody>
      </p:sp>
      <p:sp>
        <p:nvSpPr>
          <p:cNvPr id="22" name="Right Arrow 21"/>
          <p:cNvSpPr/>
          <p:nvPr/>
        </p:nvSpPr>
        <p:spPr>
          <a:xfrm>
            <a:off x="4014215" y="2665079"/>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2380223"/>
            <a:ext cx="3502152" cy="880607"/>
          </a:xfrm>
          <a:prstGeom prst="roundRect">
            <a:avLst>
              <a:gd name="adj" fmla="val 159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44568" y="2591927"/>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5" name="TextBox 24"/>
          <p:cNvSpPr txBox="1"/>
          <p:nvPr/>
        </p:nvSpPr>
        <p:spPr>
          <a:xfrm>
            <a:off x="5166359" y="2581391"/>
            <a:ext cx="2478024" cy="478271"/>
          </a:xfrm>
          <a:prstGeom prst="rect">
            <a:avLst/>
          </a:prstGeom>
          <a:noFill/>
        </p:spPr>
        <p:txBody>
          <a:bodyPr wrap="square" anchor="ctr" lIns="0" tIns="0" rIns="0" bIns="0">
            <a:spAutoFit/>
          </a:bodyPr>
          <a:lstStyle/>
          <a:p>
            <a:pPr algn="l"/>
            <a:r>
              <a:rPr sz="1260" b="1">
                <a:solidFill>
                  <a:srgbClr val="1D4ED8"/>
                </a:solidFill>
                <a:latin typeface="Poppins"/>
              </a:rPr>
              <a:t>Difficulties in Word Sense Disambiguation</a:t>
            </a:r>
          </a:p>
          <a:p>
            <a:pPr algn="l">
              <a:spcBef>
                <a:spcPts val="500"/>
              </a:spcBef>
            </a:pPr>
            <a:r>
              <a:rPr sz="1050" b="0">
                <a:solidFill>
                  <a:srgbClr val="0F172A"/>
                </a:solidFill>
                <a:latin typeface="Inter"/>
              </a:rPr>
              <a:t>(WSD) Followings are some difficulties faced by word sense disambiguation (WSD) − Differences between dictionaries The major problem of WSD is to decide the sense of the word because different senses can be very closely related</a:t>
            </a:r>
          </a:p>
        </p:txBody>
      </p:sp>
      <p:sp>
        <p:nvSpPr>
          <p:cNvPr id="26" name="TextBox 25"/>
          <p:cNvSpPr txBox="1"/>
          <p:nvPr/>
        </p:nvSpPr>
        <p:spPr>
          <a:xfrm>
            <a:off x="457200" y="3315694"/>
            <a:ext cx="11274552" cy="402336"/>
          </a:xfrm>
          <a:prstGeom prst="rect">
            <a:avLst/>
          </a:prstGeom>
          <a:noFill/>
        </p:spPr>
        <p:txBody>
          <a:bodyPr wrap="square" anchor="ctr" lIns="0" tIns="0" rIns="0" bIns="0">
            <a:spAutoFit/>
          </a:bodyPr>
          <a:lstStyle/>
          <a:p>
            <a:pPr algn="ctr"/>
            <a:r>
              <a:rPr sz="1600" b="1">
                <a:solidFill>
                  <a:srgbClr val="1D4ED8"/>
                </a:solidFill>
                <a:latin typeface="Poppins"/>
              </a:rPr>
              <a:t>↺  and the effect feeds back into the cause</a:t>
            </a:r>
          </a:p>
        </p:txBody>
      </p:sp>
      <p:sp>
        <p:nvSpPr>
          <p:cNvPr id="27" name="Rounded Rectangle 26"/>
          <p:cNvSpPr/>
          <p:nvPr/>
        </p:nvSpPr>
        <p:spPr>
          <a:xfrm>
            <a:off x="457200" y="3919198"/>
            <a:ext cx="11274552" cy="1366033"/>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919198"/>
            <a:ext cx="73152" cy="136603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1D4ED8"/>
                </a:solidFill>
                <a:latin typeface="Poppins"/>
              </a:rPr>
              <a:t>IN PLAIN WORDS</a:t>
            </a:r>
          </a:p>
          <a:p>
            <a:pPr algn="l">
              <a:spcBef>
                <a:spcPts val="300"/>
              </a:spcBef>
            </a:pPr>
            <a:r>
              <a:rPr sz="1400" b="0">
                <a:solidFill>
                  <a:srgbClr val="0F172A"/>
                </a:solidFill>
                <a:latin typeface="Inter"/>
              </a:rPr>
              <a:t>Word sense disambiguation enables accurate text analysis, helping intelligent systems flag correct concepts like illegal versus medical drugs. It also collaborates with corpus-based lexicography to provide empirical sense groupings and contextual indicators, despite challenges like closely related senses. For example, a medical intelligent system flagging 'illegal drugs' instead of 'medical drugs'.</a:t>
            </a:r>
          </a:p>
        </p:txBody>
      </p:sp>
      <p:sp>
        <p:nvSpPr>
          <p:cNvPr id="30" name="Rounded Rectangle 29"/>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00">
                <a:solidFill>
                  <a:srgbClr val="1D4ED8"/>
                </a:solidFill>
                <a:latin typeface="Poppins"/>
              </a:rPr>
              <a:t>Key takeaway:  </a:t>
            </a:r>
            <a:r>
              <a:rPr sz="1200" b="0">
                <a:solidFill>
                  <a:srgbClr val="0F172A"/>
                </a:solidFill>
                <a:latin typeface="Inter"/>
              </a:rPr>
              <a:t>WSD aids text mining, information extraction, and corpus-based lexicography by enabling accurate text analysis.</a:t>
            </a:r>
          </a:p>
          <a:p>
            <a:pPr algn="l"/>
            <a:r>
              <a:rPr b="1" sz="1200">
                <a:solidFill>
                  <a:srgbClr val="1D4ED8"/>
                </a:solidFill>
                <a:latin typeface="Poppins"/>
              </a:rPr>
              <a:t>Key terms:  </a:t>
            </a:r>
            <a:r>
              <a:rPr sz="1200" b="0">
                <a:solidFill>
                  <a:srgbClr val="0F172A"/>
                </a:solidFill>
                <a:latin typeface="Inter"/>
              </a:rPr>
              <a:t>Information Extraction — Automated extraction of structured information from unstructured text documents.  ·  Lexicography — The work of compiling dictionaries, which benefits from corpus-based empirical sense groupings.</a:t>
            </a:r>
          </a:p>
        </p:txBody>
      </p:sp>
      <p:sp>
        <p:nvSpPr>
          <p:cNvPr id="31" name="Rectangle 30"/>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5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5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450"/>
                                        <p:tgtEl>
                                          <p:spTgt spid="22"/>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45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450"/>
                                        <p:tgtEl>
                                          <p:spTgt spid="24"/>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5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450"/>
                                        <p:tgtEl>
                                          <p:spTgt spid="27"/>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5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50"/>
                                        <p:tgtEl>
                                          <p:spTgt spid="29"/>
                                        </p:tgtEl>
                                      </p:cBhvr>
                                    </p:animEffect>
                                  </p:childTnLst>
                                </p:cTn>
                              </p:par>
                              <p:par>
                                <p:cTn id="56" presetID="10" presetClass="entr" presetSubtype="0" fill="hold"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5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Word sense disambiguation faces challenges from dictionary variations and inter-judge variance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27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41620"/>
            <a:ext cx="82296" cy="84293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05044"/>
            <a:ext cx="7087166" cy="861227"/>
          </a:xfrm>
          <a:prstGeom prst="rect">
            <a:avLst/>
          </a:prstGeom>
          <a:noFill/>
        </p:spPr>
        <p:txBody>
          <a:bodyPr wrap="square" anchor="t" lIns="0" tIns="0" rIns="0" bIns="0">
            <a:spAutoFit/>
          </a:bodyPr>
          <a:lstStyle/>
          <a:p>
            <a:pPr algn="l"/>
            <a:r>
              <a:rPr sz="1789" b="1">
                <a:solidFill>
                  <a:srgbClr val="1D4ED8"/>
                </a:solidFill>
                <a:latin typeface="Poppins"/>
              </a:rPr>
              <a:t>Even different dictionaries and thesauruses can provide different divisions of words into senses.</a:t>
            </a:r>
          </a:p>
        </p:txBody>
      </p:sp>
      <p:sp>
        <p:nvSpPr>
          <p:cNvPr id="10" name="TextBox 9"/>
          <p:cNvSpPr txBox="1"/>
          <p:nvPr/>
        </p:nvSpPr>
        <p:spPr>
          <a:xfrm>
            <a:off x="720547" y="2458295"/>
            <a:ext cx="7087166" cy="416051"/>
          </a:xfrm>
          <a:prstGeom prst="rect">
            <a:avLst/>
          </a:prstGeom>
          <a:noFill/>
        </p:spPr>
        <p:txBody>
          <a:bodyPr wrap="square" lIns="0" rIns="0" tIns="0" bIns="0">
            <a:spAutoFit/>
          </a:bodyPr>
          <a:lstStyle/>
          <a:p>
            <a:r>
              <a:rPr sz="1300">
                <a:solidFill>
                  <a:srgbClr val="0F172A"/>
                </a:solidFill>
                <a:latin typeface="Inter"/>
              </a:rPr>
              <a:t>Different algorithms for different applications Another problem of WSD is that completely different algorithm might be needed for different applications.</a:t>
            </a:r>
          </a:p>
        </p:txBody>
      </p:sp>
      <p:sp>
        <p:nvSpPr>
          <p:cNvPr id="11" name="TextBox 10"/>
          <p:cNvSpPr txBox="1"/>
          <p:nvPr/>
        </p:nvSpPr>
        <p:spPr>
          <a:xfrm>
            <a:off x="994867" y="3002363"/>
            <a:ext cx="6812846" cy="416051"/>
          </a:xfrm>
          <a:prstGeom prst="rect">
            <a:avLst/>
          </a:prstGeom>
          <a:noFill/>
        </p:spPr>
        <p:txBody>
          <a:bodyPr wrap="square" lIns="0" rIns="0" tIns="0" bIns="0">
            <a:spAutoFit/>
          </a:bodyPr>
          <a:lstStyle/>
          <a:p>
            <a:r>
              <a:rPr sz="810" b="1">
                <a:solidFill>
                  <a:srgbClr val="0F766E"/>
                </a:solidFill>
                <a:latin typeface="Poppins"/>
              </a:rPr>
              <a:t>E.G.   </a:t>
            </a:r>
            <a:r>
              <a:rPr sz="1300" b="1">
                <a:solidFill>
                  <a:srgbClr val="0F766E"/>
                </a:solidFill>
                <a:latin typeface="Poppins"/>
              </a:rPr>
              <a:t>For example</a:t>
            </a:r>
            <a:r>
              <a:rPr sz="1300">
                <a:solidFill>
                  <a:srgbClr val="0F172A"/>
                </a:solidFill>
                <a:latin typeface="Inter"/>
              </a:rPr>
              <a:t>, in machine translation, it takes the form of target word selection; and in information retrieval, a sense inventory is not required.</a:t>
            </a:r>
          </a:p>
        </p:txBody>
      </p:sp>
      <p:sp>
        <p:nvSpPr>
          <p:cNvPr id="12" name="TextBox 11"/>
          <p:cNvSpPr txBox="1"/>
          <p:nvPr/>
        </p:nvSpPr>
        <p:spPr>
          <a:xfrm>
            <a:off x="720547" y="3546431"/>
            <a:ext cx="7087166" cy="624078"/>
          </a:xfrm>
          <a:prstGeom prst="rect">
            <a:avLst/>
          </a:prstGeom>
          <a:noFill/>
        </p:spPr>
        <p:txBody>
          <a:bodyPr wrap="square" lIns="0" rIns="0" tIns="0" bIns="0">
            <a:spAutoFit/>
          </a:bodyPr>
          <a:lstStyle/>
          <a:p>
            <a:r>
              <a:rPr sz="1300">
                <a:solidFill>
                  <a:srgbClr val="0F172A"/>
                </a:solidFill>
                <a:latin typeface="Inter"/>
              </a:rPr>
              <a:t>Inter-judge variance Another problem of WSD is that WSD systems are generally tested by having their results on a task compared against the task of human beings.</a:t>
            </a:r>
          </a:p>
        </p:txBody>
      </p:sp>
      <p:sp>
        <p:nvSpPr>
          <p:cNvPr id="13" name="TextBox 12"/>
          <p:cNvSpPr txBox="1"/>
          <p:nvPr/>
        </p:nvSpPr>
        <p:spPr>
          <a:xfrm>
            <a:off x="994867" y="4298525"/>
            <a:ext cx="6812846" cy="208025"/>
          </a:xfrm>
          <a:prstGeom prst="rect">
            <a:avLst/>
          </a:prstGeom>
          <a:noFill/>
        </p:spPr>
        <p:txBody>
          <a:bodyPr wrap="square" lIns="0" rIns="0" tIns="0" bIns="0">
            <a:spAutoFit/>
          </a:bodyPr>
          <a:lstStyle/>
          <a:p>
            <a:r>
              <a:rPr sz="1300">
                <a:solidFill>
                  <a:srgbClr val="0F172A"/>
                </a:solidFill>
                <a:latin typeface="Inter"/>
              </a:rPr>
              <a:t>This is called the problem of interjudge variance.</a:t>
            </a:r>
          </a:p>
        </p:txBody>
      </p:sp>
      <p:sp>
        <p:nvSpPr>
          <p:cNvPr id="14" name="TextBox 13"/>
          <p:cNvSpPr txBox="1"/>
          <p:nvPr/>
        </p:nvSpPr>
        <p:spPr>
          <a:xfrm>
            <a:off x="720547" y="4634567"/>
            <a:ext cx="7087166" cy="416051"/>
          </a:xfrm>
          <a:prstGeom prst="rect">
            <a:avLst/>
          </a:prstGeom>
          <a:noFill/>
        </p:spPr>
        <p:txBody>
          <a:bodyPr wrap="square" lIns="0" rIns="0" tIns="0" bIns="0">
            <a:spAutoFit/>
          </a:bodyPr>
          <a:lstStyle/>
          <a:p>
            <a:r>
              <a:rPr sz="1300">
                <a:solidFill>
                  <a:srgbClr val="0F172A"/>
                </a:solidFill>
                <a:latin typeface="Inter"/>
              </a:rPr>
              <a:t>Word-sense discreteness Another difficulty in WSD is that words cannot be easily divided into discrete sub meanings.</a:t>
            </a:r>
          </a:p>
        </p:txBody>
      </p:sp>
      <p:sp>
        <p:nvSpPr>
          <p:cNvPr id="15" name="Rounded Rectangle 14"/>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00">
                <a:solidFill>
                  <a:srgbClr val="1D4ED8"/>
                </a:solidFill>
                <a:latin typeface="Poppins"/>
              </a:rPr>
              <a:t>Key takeaway:  </a:t>
            </a:r>
            <a:r>
              <a:rPr sz="1200" b="0">
                <a:solidFill>
                  <a:srgbClr val="0F172A"/>
                </a:solidFill>
                <a:latin typeface="Inter"/>
              </a:rPr>
              <a:t>WSD faces challenges including dictionary variations, application-specific algorithms, and inter-judge variance.</a:t>
            </a:r>
          </a:p>
          <a:p>
            <a:pPr algn="l"/>
            <a:r>
              <a:rPr b="1" sz="1200">
                <a:solidFill>
                  <a:srgbClr val="1D4ED8"/>
                </a:solidFill>
                <a:latin typeface="Poppins"/>
              </a:rPr>
              <a:t>Key terms:  </a:t>
            </a:r>
            <a:r>
              <a:rPr sz="1200" b="0">
                <a:solidFill>
                  <a:srgbClr val="0F172A"/>
                </a:solidFill>
                <a:latin typeface="Inter"/>
              </a:rPr>
              <a:t>Inter-judge variance — Discrepancies that occur when system results are compared against the varied judgments of human beings.  ·  Word-sense discreteness — The difficulty of clearly and easily dividing words into distinct sub-meanings.</a:t>
            </a:r>
          </a:p>
        </p:txBody>
      </p:sp>
      <p:sp>
        <p:nvSpPr>
          <p:cNvPr id="16" name="Rectangle 15"/>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Glossary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28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833715"/>
          </a:xfrm>
          <a:prstGeom prst="roundRect">
            <a:avLst>
              <a:gd name="adj" fmla="val 168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3184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45227"/>
            <a:ext cx="340156" cy="340156"/>
          </a:xfrm>
          <a:prstGeom prst="rect">
            <a:avLst/>
          </a:prstGeom>
        </p:spPr>
      </p:pic>
      <p:sp>
        <p:nvSpPr>
          <p:cNvPr id="11" name="TextBox 10"/>
          <p:cNvSpPr txBox="1"/>
          <p:nvPr/>
        </p:nvSpPr>
        <p:spPr>
          <a:xfrm>
            <a:off x="1408175" y="1371600"/>
            <a:ext cx="2689250" cy="687411"/>
          </a:xfrm>
          <a:prstGeom prst="rect">
            <a:avLst/>
          </a:prstGeom>
          <a:noFill/>
        </p:spPr>
        <p:txBody>
          <a:bodyPr wrap="square" anchor="ctr" lIns="0" tIns="0" rIns="0" bIns="0">
            <a:spAutoFit/>
          </a:bodyPr>
          <a:lstStyle/>
          <a:p>
            <a:pPr algn="l"/>
            <a:r>
              <a:rPr sz="1440" b="1">
                <a:solidFill>
                  <a:srgbClr val="1D4ED8"/>
                </a:solidFill>
                <a:latin typeface="Poppins"/>
              </a:rPr>
              <a:t>Wsd</a:t>
            </a:r>
          </a:p>
          <a:p>
            <a:pPr algn="l">
              <a:spcBef>
                <a:spcPts val="500"/>
              </a:spcBef>
            </a:pPr>
            <a:r>
              <a:rPr sz="1200" b="0">
                <a:solidFill>
                  <a:srgbClr val="0F172A"/>
                </a:solidFill>
                <a:latin typeface="Inter"/>
              </a:rPr>
              <a:t>Methods to Word Sense Disambiguation</a:t>
            </a:r>
          </a:p>
        </p:txBody>
      </p:sp>
      <p:sp>
        <p:nvSpPr>
          <p:cNvPr id="12" name="Rounded Rectangle 11"/>
          <p:cNvSpPr/>
          <p:nvPr/>
        </p:nvSpPr>
        <p:spPr>
          <a:xfrm>
            <a:off x="4499762" y="1298448"/>
            <a:ext cx="3841394" cy="833715"/>
          </a:xfrm>
          <a:prstGeom prst="roundRect">
            <a:avLst>
              <a:gd name="adj" fmla="val 168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3184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45227"/>
            <a:ext cx="340156" cy="340156"/>
          </a:xfrm>
          <a:prstGeom prst="rect">
            <a:avLst/>
          </a:prstGeom>
        </p:spPr>
      </p:pic>
      <p:sp>
        <p:nvSpPr>
          <p:cNvPr id="15" name="TextBox 14"/>
          <p:cNvSpPr txBox="1"/>
          <p:nvPr/>
        </p:nvSpPr>
        <p:spPr>
          <a:xfrm>
            <a:off x="5450738" y="1371600"/>
            <a:ext cx="2689250" cy="687411"/>
          </a:xfrm>
          <a:prstGeom prst="rect">
            <a:avLst/>
          </a:prstGeom>
          <a:noFill/>
        </p:spPr>
        <p:txBody>
          <a:bodyPr wrap="square" anchor="ctr" lIns="0" tIns="0" rIns="0" bIns="0">
            <a:spAutoFit/>
          </a:bodyPr>
          <a:lstStyle/>
          <a:p>
            <a:pPr algn="l"/>
            <a:r>
              <a:rPr sz="1440" b="1">
                <a:solidFill>
                  <a:srgbClr val="1D4ED8"/>
                </a:solidFill>
                <a:latin typeface="Poppins"/>
              </a:rPr>
              <a:t>Ie</a:t>
            </a:r>
          </a:p>
          <a:p>
            <a:pPr algn="l">
              <a:spcBef>
                <a:spcPts val="500"/>
              </a:spcBef>
            </a:pPr>
            <a:r>
              <a:rPr sz="1200" b="0">
                <a:solidFill>
                  <a:srgbClr val="0F172A"/>
                </a:solidFill>
                <a:latin typeface="Inter"/>
              </a:rPr>
              <a:t>Text Mining and Information Extraction</a:t>
            </a:r>
          </a:p>
        </p:txBody>
      </p:sp>
      <p:sp>
        <p:nvSpPr>
          <p:cNvPr id="16" name="Rounded Rectangle 15"/>
          <p:cNvSpPr/>
          <p:nvPr/>
        </p:nvSpPr>
        <p:spPr>
          <a:xfrm>
            <a:off x="457200" y="2333331"/>
            <a:ext cx="3841394" cy="833715"/>
          </a:xfrm>
          <a:prstGeom prst="roundRect">
            <a:avLst>
              <a:gd name="adj" fmla="val 168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46672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580111"/>
            <a:ext cx="340156" cy="340156"/>
          </a:xfrm>
          <a:prstGeom prst="rect">
            <a:avLst/>
          </a:prstGeom>
        </p:spPr>
      </p:pic>
      <p:sp>
        <p:nvSpPr>
          <p:cNvPr id="19" name="TextBox 18"/>
          <p:cNvSpPr txBox="1"/>
          <p:nvPr/>
        </p:nvSpPr>
        <p:spPr>
          <a:xfrm>
            <a:off x="1408175" y="2406483"/>
            <a:ext cx="2689250" cy="687411"/>
          </a:xfrm>
          <a:prstGeom prst="rect">
            <a:avLst/>
          </a:prstGeom>
          <a:noFill/>
        </p:spPr>
        <p:txBody>
          <a:bodyPr wrap="square" anchor="ctr" lIns="0" tIns="0" rIns="0" bIns="0">
            <a:spAutoFit/>
          </a:bodyPr>
          <a:lstStyle/>
          <a:p>
            <a:pPr algn="l"/>
            <a:r>
              <a:rPr sz="1440" b="1">
                <a:solidFill>
                  <a:srgbClr val="1D4ED8"/>
                </a:solidFill>
                <a:latin typeface="Poppins"/>
              </a:rPr>
              <a:t>Nlp</a:t>
            </a:r>
          </a:p>
          <a:p>
            <a:pPr algn="l">
              <a:spcBef>
                <a:spcPts val="500"/>
              </a:spcBef>
            </a:pPr>
            <a:r>
              <a:rPr sz="1200" b="0">
                <a:solidFill>
                  <a:srgbClr val="0F172A"/>
                </a:solidFill>
                <a:latin typeface="Inter"/>
              </a:rPr>
              <a:t>Natural Language Processing</a:t>
            </a:r>
          </a:p>
        </p:txBody>
      </p:sp>
      <p:sp>
        <p:nvSpPr>
          <p:cNvPr id="20" name="Rounded Rectangle 19"/>
          <p:cNvSpPr/>
          <p:nvPr/>
        </p:nvSpPr>
        <p:spPr>
          <a:xfrm>
            <a:off x="4499762" y="2333331"/>
            <a:ext cx="3841394" cy="833715"/>
          </a:xfrm>
          <a:prstGeom prst="roundRect">
            <a:avLst>
              <a:gd name="adj" fmla="val 168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46672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580111"/>
            <a:ext cx="340156" cy="340156"/>
          </a:xfrm>
          <a:prstGeom prst="rect">
            <a:avLst/>
          </a:prstGeom>
        </p:spPr>
      </p:pic>
      <p:sp>
        <p:nvSpPr>
          <p:cNvPr id="23" name="TextBox 22"/>
          <p:cNvSpPr txBox="1"/>
          <p:nvPr/>
        </p:nvSpPr>
        <p:spPr>
          <a:xfrm>
            <a:off x="5450738" y="2406483"/>
            <a:ext cx="2689250" cy="687411"/>
          </a:xfrm>
          <a:prstGeom prst="rect">
            <a:avLst/>
          </a:prstGeom>
          <a:noFill/>
        </p:spPr>
        <p:txBody>
          <a:bodyPr wrap="square" anchor="ctr" lIns="0" tIns="0" rIns="0" bIns="0">
            <a:spAutoFit/>
          </a:bodyPr>
          <a:lstStyle/>
          <a:p>
            <a:pPr algn="l"/>
            <a:r>
              <a:rPr sz="1440" b="1">
                <a:solidFill>
                  <a:srgbClr val="1D4ED8"/>
                </a:solidFill>
                <a:latin typeface="Poppins"/>
              </a:rPr>
              <a:t>Following</a:t>
            </a:r>
          </a:p>
          <a:p>
            <a:pPr algn="l">
              <a:spcBef>
                <a:spcPts val="500"/>
              </a:spcBef>
            </a:pPr>
            <a:r>
              <a:rPr sz="1200" b="0">
                <a:solidFill>
                  <a:srgbClr val="0F172A"/>
                </a:solidFill>
                <a:latin typeface="Inter"/>
              </a:rPr>
              <a:t>simplified pictorial representation of the same</a:t>
            </a:r>
          </a:p>
        </p:txBody>
      </p:sp>
      <p:sp>
        <p:nvSpPr>
          <p:cNvPr id="24" name="Rounded Rectangle 23"/>
          <p:cNvSpPr/>
          <p:nvPr/>
        </p:nvSpPr>
        <p:spPr>
          <a:xfrm>
            <a:off x="457200" y="3368215"/>
            <a:ext cx="7883956" cy="833715"/>
          </a:xfrm>
          <a:prstGeom prst="roundRect">
            <a:avLst>
              <a:gd name="adj" fmla="val 168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501609"/>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614995"/>
            <a:ext cx="340156" cy="340156"/>
          </a:xfrm>
          <a:prstGeom prst="rect">
            <a:avLst/>
          </a:prstGeom>
        </p:spPr>
      </p:pic>
      <p:sp>
        <p:nvSpPr>
          <p:cNvPr id="27" name="TextBox 26"/>
          <p:cNvSpPr txBox="1"/>
          <p:nvPr/>
        </p:nvSpPr>
        <p:spPr>
          <a:xfrm>
            <a:off x="1408175" y="3441367"/>
            <a:ext cx="6731812" cy="687411"/>
          </a:xfrm>
          <a:prstGeom prst="rect">
            <a:avLst/>
          </a:prstGeom>
          <a:noFill/>
        </p:spPr>
        <p:txBody>
          <a:bodyPr wrap="square" anchor="ctr" lIns="0" tIns="0" rIns="0" bIns="0">
            <a:spAutoFit/>
          </a:bodyPr>
          <a:lstStyle/>
          <a:p>
            <a:pPr algn="l"/>
            <a:r>
              <a:rPr sz="1440" b="1">
                <a:solidFill>
                  <a:srgbClr val="1D4ED8"/>
                </a:solidFill>
                <a:latin typeface="Poppins"/>
              </a:rPr>
              <a:t>A corpus</a:t>
            </a:r>
          </a:p>
          <a:p>
            <a:pPr algn="l">
              <a:spcBef>
                <a:spcPts val="500"/>
              </a:spcBef>
            </a:pPr>
            <a:r>
              <a:rPr sz="1200" b="0">
                <a:solidFill>
                  <a:srgbClr val="0F172A"/>
                </a:solidFill>
                <a:latin typeface="Inter"/>
              </a:rPr>
              <a:t>essential tool for Natural Language Processing (NLP), serving as a fundamental resource</a:t>
            </a:r>
          </a:p>
        </p:txBody>
      </p:sp>
      <p:sp>
        <p:nvSpPr>
          <p:cNvPr id="28" name="Rounded Rectangle 27"/>
          <p:cNvSpPr/>
          <p:nvPr/>
        </p:nvSpPr>
        <p:spPr>
          <a:xfrm>
            <a:off x="457200" y="4403099"/>
            <a:ext cx="7883956" cy="882132"/>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403099"/>
            <a:ext cx="73152" cy="882132"/>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1D4ED8"/>
                </a:solidFill>
                <a:latin typeface="Poppins"/>
              </a:rPr>
              <a:t>ALSO ON THIS SLIDE</a:t>
            </a:r>
          </a:p>
          <a:p>
            <a:pPr algn="l">
              <a:spcBef>
                <a:spcPts val="300"/>
              </a:spcBef>
            </a:pPr>
            <a:r>
              <a:rPr sz="1400" b="0">
                <a:solidFill>
                  <a:srgbClr val="0F172A"/>
                </a:solidFill>
                <a:latin typeface="Inter"/>
              </a:rPr>
              <a:t>problems with unsupervised app: instances in training data may not be assigned the correct sense</a:t>
            </a:r>
          </a:p>
        </p:txBody>
      </p:sp>
      <p:sp>
        <p:nvSpPr>
          <p:cNvPr id="31" name="Rounded Rectangle 30"/>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WSD denotes word sense disambiguation and IE denotes text mining and information extraction.</a:t>
            </a:r>
          </a:p>
        </p:txBody>
      </p:sp>
      <p:sp>
        <p:nvSpPr>
          <p:cNvPr id="32" name="Rectangle 31"/>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Glossary: Lesk method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29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7"/>
            <a:ext cx="7883956"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6731812" cy="1048512"/>
          </a:xfrm>
          <a:prstGeom prst="rect">
            <a:avLst/>
          </a:prstGeom>
          <a:noFill/>
        </p:spPr>
        <p:txBody>
          <a:bodyPr wrap="square" anchor="ctr" lIns="0" tIns="0" rIns="0" bIns="0">
            <a:spAutoFit/>
          </a:bodyPr>
          <a:lstStyle/>
          <a:p>
            <a:pPr algn="l"/>
            <a:r>
              <a:rPr sz="2220" b="1">
                <a:solidFill>
                  <a:srgbClr val="1D4ED8"/>
                </a:solidFill>
                <a:latin typeface="Poppins"/>
              </a:rPr>
              <a:t>Lesk method</a:t>
            </a:r>
          </a:p>
          <a:p>
            <a:pPr algn="l">
              <a:spcBef>
                <a:spcPts val="500"/>
              </a:spcBef>
            </a:pPr>
            <a:r>
              <a:rPr sz="1850" b="0">
                <a:solidFill>
                  <a:srgbClr val="0F172A"/>
                </a:solidFill>
                <a:latin typeface="Inter"/>
              </a:rPr>
              <a:t>seminal dictionary-based method introduced by Michael Lesk in 1986</a:t>
            </a:r>
          </a:p>
        </p:txBody>
      </p:sp>
      <p:sp>
        <p:nvSpPr>
          <p:cNvPr id="12" name="Rounded Rectangle 11"/>
          <p:cNvSpPr/>
          <p:nvPr/>
        </p:nvSpPr>
        <p:spPr>
          <a:xfrm>
            <a:off x="457200" y="2694431"/>
            <a:ext cx="7883956"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00837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121761"/>
            <a:ext cx="340156" cy="340156"/>
          </a:xfrm>
          <a:prstGeom prst="rect">
            <a:avLst/>
          </a:prstGeom>
        </p:spPr>
      </p:pic>
      <p:sp>
        <p:nvSpPr>
          <p:cNvPr id="15" name="TextBox 14"/>
          <p:cNvSpPr txBox="1"/>
          <p:nvPr/>
        </p:nvSpPr>
        <p:spPr>
          <a:xfrm>
            <a:off x="1408175" y="2767583"/>
            <a:ext cx="6731812" cy="1048512"/>
          </a:xfrm>
          <a:prstGeom prst="rect">
            <a:avLst/>
          </a:prstGeom>
          <a:noFill/>
        </p:spPr>
        <p:txBody>
          <a:bodyPr wrap="square" anchor="ctr" lIns="0" tIns="0" rIns="0" bIns="0">
            <a:spAutoFit/>
          </a:bodyPr>
          <a:lstStyle/>
          <a:p>
            <a:pPr algn="l"/>
            <a:r>
              <a:rPr sz="2220" b="1">
                <a:solidFill>
                  <a:srgbClr val="1D4ED8"/>
                </a:solidFill>
                <a:latin typeface="Poppins"/>
              </a:rPr>
              <a:t>Here the current context</a:t>
            </a:r>
          </a:p>
          <a:p>
            <a:pPr algn="l">
              <a:spcBef>
                <a:spcPts val="500"/>
              </a:spcBef>
            </a:pPr>
            <a:r>
              <a:rPr sz="1850" b="0">
                <a:solidFill>
                  <a:srgbClr val="0F172A"/>
                </a:solidFill>
                <a:latin typeface="Inter"/>
              </a:rPr>
              <a:t>set of words in surrounding sentence or paragraph</a:t>
            </a:r>
          </a:p>
        </p:txBody>
      </p:sp>
      <p:sp>
        <p:nvSpPr>
          <p:cNvPr id="16" name="Rounded Rectangle 15"/>
          <p:cNvSpPr/>
          <p:nvPr/>
        </p:nvSpPr>
        <p:spPr>
          <a:xfrm>
            <a:off x="457200" y="4090415"/>
            <a:ext cx="7883956"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404360"/>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517745"/>
            <a:ext cx="340156" cy="340156"/>
          </a:xfrm>
          <a:prstGeom prst="rect">
            <a:avLst/>
          </a:prstGeom>
        </p:spPr>
      </p:pic>
      <p:sp>
        <p:nvSpPr>
          <p:cNvPr id="19" name="TextBox 18"/>
          <p:cNvSpPr txBox="1"/>
          <p:nvPr/>
        </p:nvSpPr>
        <p:spPr>
          <a:xfrm>
            <a:off x="1408175" y="4163567"/>
            <a:ext cx="6731812" cy="1048512"/>
          </a:xfrm>
          <a:prstGeom prst="rect">
            <a:avLst/>
          </a:prstGeom>
          <a:noFill/>
        </p:spPr>
        <p:txBody>
          <a:bodyPr wrap="square" anchor="ctr" lIns="0" tIns="0" rIns="0" bIns="0">
            <a:spAutoFit/>
          </a:bodyPr>
          <a:lstStyle/>
          <a:p>
            <a:pPr algn="l"/>
            <a:r>
              <a:rPr sz="2220" b="1">
                <a:solidFill>
                  <a:srgbClr val="1D4ED8"/>
                </a:solidFill>
                <a:latin typeface="Poppins"/>
              </a:rPr>
              <a:t>Corpus a corpus</a:t>
            </a:r>
          </a:p>
          <a:p>
            <a:pPr algn="l">
              <a:spcBef>
                <a:spcPts val="500"/>
              </a:spcBef>
            </a:pPr>
            <a:r>
              <a:rPr sz="1850" b="0">
                <a:solidFill>
                  <a:srgbClr val="0F172A"/>
                </a:solidFill>
                <a:latin typeface="Inter"/>
              </a:rPr>
              <a:t>large and structured set of machine-readable texts that have been produced in a natural communicative setting</a:t>
            </a:r>
          </a:p>
        </p:txBody>
      </p:sp>
      <p:sp>
        <p:nvSpPr>
          <p:cNvPr id="20" name="Rounded Rectangle 19"/>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Michael Lesk introduced the seminal dictionary-based Lesk method in 1986.</a:t>
            </a:r>
          </a:p>
        </p:txBody>
      </p:sp>
      <p:sp>
        <p:nvSpPr>
          <p:cNvPr id="21" name="Rectangle 20"/>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30 / 32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Which term matches this description: “Discrepancies that occur when system results are compared against the varied judgments of human beings.”?</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Word sense induction</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Inter-judge variance</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Semantic category</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Lexical ambiguity</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B</a:t>
            </a:r>
          </a:p>
          <a:p>
            <a:pPr algn="l">
              <a:spcBef>
                <a:spcPts val="200"/>
              </a:spcBef>
            </a:pPr>
            <a:r>
              <a:rPr sz="1450" b="0">
                <a:solidFill>
                  <a:srgbClr val="FFFFFF"/>
                </a:solidFill>
                <a:latin typeface="Inter"/>
              </a:rPr>
              <a:t>Inter-judge variance: Discrepancies that occur when system results are compared against the varied judgments of human beings.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Match the terms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31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7"/>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89250" cy="1048512"/>
          </a:xfrm>
          <a:prstGeom prst="rect">
            <a:avLst/>
          </a:prstGeom>
          <a:noFill/>
        </p:spPr>
        <p:txBody>
          <a:bodyPr wrap="square" anchor="ctr" lIns="0" tIns="0" rIns="0" bIns="0">
            <a:spAutoFit/>
          </a:bodyPr>
          <a:lstStyle/>
          <a:p>
            <a:pPr algn="l"/>
            <a:r>
              <a:rPr sz="1550" b="1">
                <a:solidFill>
                  <a:srgbClr val="1D4ED8"/>
                </a:solidFill>
                <a:latin typeface="Poppins"/>
              </a:rPr>
              <a:t>Wsd</a:t>
            </a:r>
          </a:p>
          <a:p>
            <a:pPr algn="l">
              <a:spcBef>
                <a:spcPts val="500"/>
              </a:spcBef>
            </a:pPr>
            <a:r>
              <a:rPr sz="1290" b="0">
                <a:solidFill>
                  <a:srgbClr val="0F172A"/>
                </a:solidFill>
                <a:latin typeface="Inter"/>
              </a:rPr>
              <a:t>Methods to Word Sense Disambiguation</a:t>
            </a:r>
          </a:p>
        </p:txBody>
      </p:sp>
      <p:sp>
        <p:nvSpPr>
          <p:cNvPr id="12" name="Rounded Rectangle 11"/>
          <p:cNvSpPr/>
          <p:nvPr/>
        </p:nvSpPr>
        <p:spPr>
          <a:xfrm>
            <a:off x="4499762" y="1298447"/>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612391"/>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725777"/>
            <a:ext cx="340156" cy="340156"/>
          </a:xfrm>
          <a:prstGeom prst="rect">
            <a:avLst/>
          </a:prstGeom>
        </p:spPr>
      </p:pic>
      <p:sp>
        <p:nvSpPr>
          <p:cNvPr id="15" name="TextBox 14"/>
          <p:cNvSpPr txBox="1"/>
          <p:nvPr/>
        </p:nvSpPr>
        <p:spPr>
          <a:xfrm>
            <a:off x="5450738" y="1371599"/>
            <a:ext cx="2689250" cy="1048512"/>
          </a:xfrm>
          <a:prstGeom prst="rect">
            <a:avLst/>
          </a:prstGeom>
          <a:noFill/>
        </p:spPr>
        <p:txBody>
          <a:bodyPr wrap="square" anchor="ctr" lIns="0" tIns="0" rIns="0" bIns="0">
            <a:spAutoFit/>
          </a:bodyPr>
          <a:lstStyle/>
          <a:p>
            <a:pPr algn="l"/>
            <a:r>
              <a:rPr sz="1550" b="1">
                <a:solidFill>
                  <a:srgbClr val="1D4ED8"/>
                </a:solidFill>
                <a:latin typeface="Poppins"/>
              </a:rPr>
              <a:t>Ie</a:t>
            </a:r>
          </a:p>
          <a:p>
            <a:pPr algn="l">
              <a:spcBef>
                <a:spcPts val="500"/>
              </a:spcBef>
            </a:pPr>
            <a:r>
              <a:rPr sz="1290" b="0">
                <a:solidFill>
                  <a:srgbClr val="0F172A"/>
                </a:solidFill>
                <a:latin typeface="Inter"/>
              </a:rPr>
              <a:t>Text Mining and Information Extraction</a:t>
            </a:r>
          </a:p>
        </p:txBody>
      </p:sp>
      <p:sp>
        <p:nvSpPr>
          <p:cNvPr id="16" name="Rounded Rectangle 15"/>
          <p:cNvSpPr/>
          <p:nvPr/>
        </p:nvSpPr>
        <p:spPr>
          <a:xfrm>
            <a:off x="457200" y="2694431"/>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89250" cy="1048512"/>
          </a:xfrm>
          <a:prstGeom prst="rect">
            <a:avLst/>
          </a:prstGeom>
          <a:noFill/>
        </p:spPr>
        <p:txBody>
          <a:bodyPr wrap="square" anchor="ctr" lIns="0" tIns="0" rIns="0" bIns="0">
            <a:spAutoFit/>
          </a:bodyPr>
          <a:lstStyle/>
          <a:p>
            <a:pPr algn="l"/>
            <a:r>
              <a:rPr sz="1440" b="1">
                <a:solidFill>
                  <a:srgbClr val="1D4ED8"/>
                </a:solidFill>
                <a:latin typeface="Poppins"/>
              </a:rPr>
              <a:t>A corpus</a:t>
            </a:r>
          </a:p>
          <a:p>
            <a:pPr algn="l">
              <a:spcBef>
                <a:spcPts val="500"/>
              </a:spcBef>
            </a:pPr>
            <a:r>
              <a:rPr sz="1200" b="0">
                <a:solidFill>
                  <a:srgbClr val="0F172A"/>
                </a:solidFill>
                <a:latin typeface="Inter"/>
              </a:rPr>
              <a:t>essential tool for Natural Language Processing (NLP), serving as a fundamental resource</a:t>
            </a:r>
          </a:p>
        </p:txBody>
      </p:sp>
      <p:sp>
        <p:nvSpPr>
          <p:cNvPr id="20" name="Rounded Rectangle 19"/>
          <p:cNvSpPr/>
          <p:nvPr/>
        </p:nvSpPr>
        <p:spPr>
          <a:xfrm>
            <a:off x="4499762" y="2694431"/>
            <a:ext cx="3841394"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00837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121761"/>
            <a:ext cx="340156" cy="340156"/>
          </a:xfrm>
          <a:prstGeom prst="rect">
            <a:avLst/>
          </a:prstGeom>
        </p:spPr>
      </p:pic>
      <p:sp>
        <p:nvSpPr>
          <p:cNvPr id="23" name="TextBox 22"/>
          <p:cNvSpPr txBox="1"/>
          <p:nvPr/>
        </p:nvSpPr>
        <p:spPr>
          <a:xfrm>
            <a:off x="5450738" y="2767583"/>
            <a:ext cx="2689250" cy="1048512"/>
          </a:xfrm>
          <a:prstGeom prst="rect">
            <a:avLst/>
          </a:prstGeom>
          <a:noFill/>
        </p:spPr>
        <p:txBody>
          <a:bodyPr wrap="square" anchor="ctr" lIns="0" tIns="0" rIns="0" bIns="0">
            <a:spAutoFit/>
          </a:bodyPr>
          <a:lstStyle/>
          <a:p>
            <a:pPr algn="l"/>
            <a:r>
              <a:rPr sz="1550" b="1">
                <a:solidFill>
                  <a:srgbClr val="1D4ED8"/>
                </a:solidFill>
                <a:latin typeface="Poppins"/>
              </a:rPr>
              <a:t>Following</a:t>
            </a:r>
          </a:p>
          <a:p>
            <a:pPr algn="l">
              <a:spcBef>
                <a:spcPts val="500"/>
              </a:spcBef>
            </a:pPr>
            <a:r>
              <a:rPr sz="1290" b="0">
                <a:solidFill>
                  <a:srgbClr val="0F172A"/>
                </a:solidFill>
                <a:latin typeface="Inter"/>
              </a:rPr>
              <a:t>simplified pictorial representation of the same</a:t>
            </a:r>
          </a:p>
        </p:txBody>
      </p:sp>
      <p:sp>
        <p:nvSpPr>
          <p:cNvPr id="24" name="Rounded Rectangle 23"/>
          <p:cNvSpPr/>
          <p:nvPr/>
        </p:nvSpPr>
        <p:spPr>
          <a:xfrm>
            <a:off x="457200" y="4090415"/>
            <a:ext cx="7883956" cy="1194816"/>
          </a:xfrm>
          <a:prstGeom prst="roundRect">
            <a:avLst>
              <a:gd name="adj" fmla="val 117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6731812" cy="1048512"/>
          </a:xfrm>
          <a:prstGeom prst="rect">
            <a:avLst/>
          </a:prstGeom>
          <a:noFill/>
        </p:spPr>
        <p:txBody>
          <a:bodyPr wrap="square" anchor="ctr" lIns="0" tIns="0" rIns="0" bIns="0">
            <a:spAutoFit/>
          </a:bodyPr>
          <a:lstStyle/>
          <a:p>
            <a:pPr algn="l"/>
            <a:r>
              <a:rPr sz="1550" b="1">
                <a:solidFill>
                  <a:srgbClr val="1D4ED8"/>
                </a:solidFill>
                <a:latin typeface="Poppins"/>
              </a:rPr>
              <a:t>Lesk method</a:t>
            </a:r>
          </a:p>
          <a:p>
            <a:pPr algn="l">
              <a:spcBef>
                <a:spcPts val="500"/>
              </a:spcBef>
            </a:pPr>
            <a:r>
              <a:rPr sz="1290" b="0">
                <a:solidFill>
                  <a:srgbClr val="0F172A"/>
                </a:solidFill>
                <a:latin typeface="Inter"/>
              </a:rPr>
              <a:t>seminal dictionary-based method introduced by Michael Lesk in 1986</a:t>
            </a:r>
          </a:p>
        </p:txBody>
      </p:sp>
      <p:sp>
        <p:nvSpPr>
          <p:cNvPr id="28" name="Rounded Rectangle 27"/>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WSD, IE, and the Lesk method are core terms defining natural language processing tasks.</a:t>
            </a:r>
          </a:p>
        </p:txBody>
      </p:sp>
      <p:sp>
        <p:nvSpPr>
          <p:cNvPr id="29" name="Rectangle 28"/>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5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par>
                                <p:cTn id="66" presetID="10" presetClass="entr" presetSubtype="0" fill="hold"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32 / 32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275948"/>
          </a:xfrm>
          <a:prstGeom prst="roundRect">
            <a:avLst>
              <a:gd name="adj" fmla="val 5000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152958"/>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266344"/>
            <a:ext cx="340156" cy="340156"/>
          </a:xfrm>
          <a:prstGeom prst="rect">
            <a:avLst/>
          </a:prstGeom>
        </p:spPr>
      </p:pic>
      <p:sp>
        <p:nvSpPr>
          <p:cNvPr id="11" name="TextBox 10"/>
          <p:cNvSpPr txBox="1"/>
          <p:nvPr/>
        </p:nvSpPr>
        <p:spPr>
          <a:xfrm>
            <a:off x="1408175" y="1371600"/>
            <a:ext cx="6731812" cy="129644"/>
          </a:xfrm>
          <a:prstGeom prst="rect">
            <a:avLst/>
          </a:prstGeom>
          <a:noFill/>
        </p:spPr>
        <p:txBody>
          <a:bodyPr wrap="square" anchor="ctr" lIns="0" tIns="0" rIns="0" bIns="0">
            <a:spAutoFit/>
          </a:bodyPr>
          <a:lstStyle/>
          <a:p>
            <a:pPr algn="l"/>
            <a:r>
              <a:rPr sz="1260" b="1">
                <a:solidFill>
                  <a:srgbClr val="1D4ED8"/>
                </a:solidFill>
                <a:latin typeface="Poppins"/>
              </a:rPr>
              <a:t>Section 1</a:t>
            </a:r>
          </a:p>
          <a:p>
            <a:pPr algn="l">
              <a:spcBef>
                <a:spcPts val="500"/>
              </a:spcBef>
            </a:pPr>
            <a:r>
              <a:rPr sz="1050" b="0">
                <a:solidFill>
                  <a:srgbClr val="0F172A"/>
                </a:solidFill>
                <a:latin typeface="Inter"/>
              </a:rPr>
              <a:t>Corpus A corpus is a large and structured set of machine-readable texts that have been produced in a natural communicative…</a:t>
            </a:r>
          </a:p>
        </p:txBody>
      </p:sp>
      <p:sp>
        <p:nvSpPr>
          <p:cNvPr id="12" name="Rounded Rectangle 11"/>
          <p:cNvSpPr/>
          <p:nvPr/>
        </p:nvSpPr>
        <p:spPr>
          <a:xfrm>
            <a:off x="457200" y="1775564"/>
            <a:ext cx="7883956" cy="275948"/>
          </a:xfrm>
          <a:prstGeom prst="roundRect">
            <a:avLst>
              <a:gd name="adj" fmla="val 5000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63007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1743460"/>
            <a:ext cx="340156" cy="340156"/>
          </a:xfrm>
          <a:prstGeom prst="rect">
            <a:avLst/>
          </a:prstGeom>
        </p:spPr>
      </p:pic>
      <p:sp>
        <p:nvSpPr>
          <p:cNvPr id="15" name="TextBox 14"/>
          <p:cNvSpPr txBox="1"/>
          <p:nvPr/>
        </p:nvSpPr>
        <p:spPr>
          <a:xfrm>
            <a:off x="1408175" y="1848716"/>
            <a:ext cx="6731812" cy="129644"/>
          </a:xfrm>
          <a:prstGeom prst="rect">
            <a:avLst/>
          </a:prstGeom>
          <a:noFill/>
        </p:spPr>
        <p:txBody>
          <a:bodyPr wrap="square" anchor="ctr" lIns="0" tIns="0" rIns="0" bIns="0">
            <a:spAutoFit/>
          </a:bodyPr>
          <a:lstStyle/>
          <a:p>
            <a:pPr algn="l"/>
            <a:r>
              <a:rPr sz="1260" b="1">
                <a:solidFill>
                  <a:srgbClr val="1D4ED8"/>
                </a:solidFill>
                <a:latin typeface="Poppins"/>
              </a:rPr>
              <a:t>WSD</a:t>
            </a:r>
          </a:p>
          <a:p>
            <a:pPr algn="l">
              <a:spcBef>
                <a:spcPts val="500"/>
              </a:spcBef>
            </a:pPr>
            <a:r>
              <a:rPr sz="1050" b="0">
                <a:solidFill>
                  <a:srgbClr val="0F172A"/>
                </a:solidFill>
                <a:latin typeface="Inter"/>
              </a:rPr>
              <a:t>Lexical ambiguity: Lexical ambiguity, syntactic or semantic, is one of the very first problem that any NLP system faces</a:t>
            </a:r>
          </a:p>
        </p:txBody>
      </p:sp>
      <p:sp>
        <p:nvSpPr>
          <p:cNvPr id="16" name="Rounded Rectangle 15"/>
          <p:cNvSpPr/>
          <p:nvPr/>
        </p:nvSpPr>
        <p:spPr>
          <a:xfrm>
            <a:off x="457200" y="2252681"/>
            <a:ext cx="7883956" cy="275948"/>
          </a:xfrm>
          <a:prstGeom prst="roundRect">
            <a:avLst>
              <a:gd name="adj" fmla="val 5000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107192"/>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220577"/>
            <a:ext cx="340156" cy="340156"/>
          </a:xfrm>
          <a:prstGeom prst="rect">
            <a:avLst/>
          </a:prstGeom>
        </p:spPr>
      </p:pic>
      <p:sp>
        <p:nvSpPr>
          <p:cNvPr id="19" name="TextBox 18"/>
          <p:cNvSpPr txBox="1"/>
          <p:nvPr/>
        </p:nvSpPr>
        <p:spPr>
          <a:xfrm>
            <a:off x="1408175" y="2325833"/>
            <a:ext cx="6731812" cy="129644"/>
          </a:xfrm>
          <a:prstGeom prst="rect">
            <a:avLst/>
          </a:prstGeom>
          <a:noFill/>
        </p:spPr>
        <p:txBody>
          <a:bodyPr wrap="square" anchor="ctr" lIns="0" tIns="0" rIns="0" bIns="0">
            <a:spAutoFit/>
          </a:bodyPr>
          <a:lstStyle/>
          <a:p>
            <a:pPr algn="l"/>
            <a:r>
              <a:rPr sz="1260" b="1">
                <a:solidFill>
                  <a:srgbClr val="1D4ED8"/>
                </a:solidFill>
                <a:latin typeface="Poppins"/>
              </a:rPr>
              <a:t>Supervised Methods</a:t>
            </a:r>
          </a:p>
          <a:p>
            <a:pPr algn="l">
              <a:spcBef>
                <a:spcPts val="500"/>
              </a:spcBef>
            </a:pPr>
            <a:r>
              <a:rPr sz="1050" b="0">
                <a:solidFill>
                  <a:srgbClr val="0F172A"/>
                </a:solidFill>
                <a:latin typeface="Inter"/>
              </a:rPr>
              <a:t>For disambiguation, machine learning methods make use of sense-annotated corpora to train</a:t>
            </a:r>
          </a:p>
        </p:txBody>
      </p:sp>
      <p:sp>
        <p:nvSpPr>
          <p:cNvPr id="20" name="Rounded Rectangle 19"/>
          <p:cNvSpPr/>
          <p:nvPr/>
        </p:nvSpPr>
        <p:spPr>
          <a:xfrm>
            <a:off x="457200" y="2729798"/>
            <a:ext cx="7883956" cy="275948"/>
          </a:xfrm>
          <a:prstGeom prst="roundRect">
            <a:avLst>
              <a:gd name="adj" fmla="val 5000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584308"/>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2697694"/>
            <a:ext cx="340156" cy="340156"/>
          </a:xfrm>
          <a:prstGeom prst="rect">
            <a:avLst/>
          </a:prstGeom>
        </p:spPr>
      </p:pic>
      <p:sp>
        <p:nvSpPr>
          <p:cNvPr id="23" name="TextBox 22"/>
          <p:cNvSpPr txBox="1"/>
          <p:nvPr/>
        </p:nvSpPr>
        <p:spPr>
          <a:xfrm>
            <a:off x="1408175" y="2802950"/>
            <a:ext cx="6731812" cy="129644"/>
          </a:xfrm>
          <a:prstGeom prst="rect">
            <a:avLst/>
          </a:prstGeom>
          <a:noFill/>
        </p:spPr>
        <p:txBody>
          <a:bodyPr wrap="square" anchor="ctr" lIns="0" tIns="0" rIns="0" bIns="0">
            <a:spAutoFit/>
          </a:bodyPr>
          <a:lstStyle/>
          <a:p>
            <a:pPr algn="l"/>
            <a:r>
              <a:rPr sz="1260" b="1">
                <a:solidFill>
                  <a:srgbClr val="1D4ED8"/>
                </a:solidFill>
                <a:latin typeface="Poppins"/>
              </a:rPr>
              <a:t>Semi-supervised Methods</a:t>
            </a:r>
          </a:p>
          <a:p>
            <a:pPr algn="l">
              <a:spcBef>
                <a:spcPts val="500"/>
              </a:spcBef>
            </a:pPr>
            <a:r>
              <a:rPr sz="1050" b="0">
                <a:solidFill>
                  <a:srgbClr val="0F172A"/>
                </a:solidFill>
                <a:latin typeface="Inter"/>
              </a:rPr>
              <a:t>Bootstrapping: Bootstrapping Algorithms: While there is great variation between implementations, bootstrapping approaches in natural language processing all follow the same general…</a:t>
            </a:r>
          </a:p>
        </p:txBody>
      </p:sp>
      <p:sp>
        <p:nvSpPr>
          <p:cNvPr id="24" name="Rounded Rectangle 23"/>
          <p:cNvSpPr/>
          <p:nvPr/>
        </p:nvSpPr>
        <p:spPr>
          <a:xfrm>
            <a:off x="457200" y="3206915"/>
            <a:ext cx="7883956" cy="275948"/>
          </a:xfrm>
          <a:prstGeom prst="roundRect">
            <a:avLst>
              <a:gd name="adj" fmla="val 5000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061425"/>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174811"/>
            <a:ext cx="340156" cy="340156"/>
          </a:xfrm>
          <a:prstGeom prst="rect">
            <a:avLst/>
          </a:prstGeom>
        </p:spPr>
      </p:pic>
      <p:sp>
        <p:nvSpPr>
          <p:cNvPr id="27" name="TextBox 26"/>
          <p:cNvSpPr txBox="1"/>
          <p:nvPr/>
        </p:nvSpPr>
        <p:spPr>
          <a:xfrm>
            <a:off x="1408175" y="3280067"/>
            <a:ext cx="6731812" cy="129644"/>
          </a:xfrm>
          <a:prstGeom prst="rect">
            <a:avLst/>
          </a:prstGeom>
          <a:noFill/>
        </p:spPr>
        <p:txBody>
          <a:bodyPr wrap="square" anchor="ctr" lIns="0" tIns="0" rIns="0" bIns="0">
            <a:spAutoFit/>
          </a:bodyPr>
          <a:lstStyle/>
          <a:p>
            <a:pPr algn="l"/>
            <a:r>
              <a:rPr sz="1260" b="1">
                <a:solidFill>
                  <a:srgbClr val="1D4ED8"/>
                </a:solidFill>
                <a:latin typeface="Poppins"/>
              </a:rPr>
              <a:t>Semi-supervised Methods</a:t>
            </a:r>
          </a:p>
          <a:p>
            <a:pPr algn="l">
              <a:spcBef>
                <a:spcPts val="500"/>
              </a:spcBef>
            </a:pPr>
            <a:r>
              <a:rPr sz="1050" b="0">
                <a:solidFill>
                  <a:srgbClr val="0F172A"/>
                </a:solidFill>
                <a:latin typeface="Inter"/>
              </a:rPr>
              <a:t>Unsupervised : Unsupervised Methods These methods assume that similar senses occur in similar context</a:t>
            </a:r>
          </a:p>
        </p:txBody>
      </p:sp>
      <p:sp>
        <p:nvSpPr>
          <p:cNvPr id="28" name="Rounded Rectangle 27"/>
          <p:cNvSpPr/>
          <p:nvPr/>
        </p:nvSpPr>
        <p:spPr>
          <a:xfrm>
            <a:off x="457200" y="3684032"/>
            <a:ext cx="7883956" cy="275948"/>
          </a:xfrm>
          <a:prstGeom prst="roundRect">
            <a:avLst>
              <a:gd name="adj" fmla="val 5000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8368" y="3538542"/>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771753" y="3651928"/>
            <a:ext cx="340156" cy="340156"/>
          </a:xfrm>
          <a:prstGeom prst="rect">
            <a:avLst/>
          </a:prstGeom>
        </p:spPr>
      </p:pic>
      <p:sp>
        <p:nvSpPr>
          <p:cNvPr id="31" name="TextBox 30"/>
          <p:cNvSpPr txBox="1"/>
          <p:nvPr/>
        </p:nvSpPr>
        <p:spPr>
          <a:xfrm>
            <a:off x="1408175" y="3757184"/>
            <a:ext cx="6731812" cy="129644"/>
          </a:xfrm>
          <a:prstGeom prst="rect">
            <a:avLst/>
          </a:prstGeom>
          <a:noFill/>
        </p:spPr>
        <p:txBody>
          <a:bodyPr wrap="square" anchor="ctr" lIns="0" tIns="0" rIns="0" bIns="0">
            <a:spAutoFit/>
          </a:bodyPr>
          <a:lstStyle/>
          <a:p>
            <a:pPr algn="l"/>
            <a:r>
              <a:rPr sz="1260" b="1">
                <a:solidFill>
                  <a:srgbClr val="1D4ED8"/>
                </a:solidFill>
                <a:latin typeface="Poppins"/>
              </a:rPr>
              <a:t>Semi-supervised Methods</a:t>
            </a:r>
          </a:p>
          <a:p>
            <a:pPr algn="l">
              <a:spcBef>
                <a:spcPts val="500"/>
              </a:spcBef>
            </a:pPr>
            <a:r>
              <a:rPr sz="1050" b="0">
                <a:solidFill>
                  <a:srgbClr val="0F172A"/>
                </a:solidFill>
                <a:latin typeface="Inter"/>
              </a:rPr>
              <a:t>The senses in: The senses in MT are represented as words in the target language</a:t>
            </a:r>
          </a:p>
        </p:txBody>
      </p:sp>
      <p:sp>
        <p:nvSpPr>
          <p:cNvPr id="32" name="Rounded Rectangle 31"/>
          <p:cNvSpPr/>
          <p:nvPr/>
        </p:nvSpPr>
        <p:spPr>
          <a:xfrm>
            <a:off x="457200" y="4161149"/>
            <a:ext cx="7883956" cy="1124082"/>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161149"/>
            <a:ext cx="73152" cy="1124082"/>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234301"/>
            <a:ext cx="7488935" cy="977778"/>
          </a:xfrm>
          <a:prstGeom prst="rect">
            <a:avLst/>
          </a:prstGeom>
          <a:noFill/>
        </p:spPr>
        <p:txBody>
          <a:bodyPr wrap="square" anchor="ctr" lIns="0" tIns="0" rIns="0" bIns="0">
            <a:spAutoFit/>
          </a:bodyPr>
          <a:lstStyle/>
          <a:p>
            <a:pPr algn="l"/>
            <a:r>
              <a:rPr sz="1010" b="1">
                <a:solidFill>
                  <a:srgbClr val="1D4ED8"/>
                </a:solidFill>
                <a:latin typeface="Poppins"/>
              </a:rPr>
              <a:t>ALSO ON THIS SLIDE</a:t>
            </a:r>
          </a:p>
          <a:p>
            <a:pPr algn="l">
              <a:spcBef>
                <a:spcPts val="300"/>
              </a:spcBef>
            </a:pPr>
            <a:r>
              <a:rPr sz="1400" b="0">
                <a:solidFill>
                  <a:srgbClr val="0F172A"/>
                </a:solidFill>
                <a:latin typeface="Inter"/>
              </a:rPr>
              <a:t>Dictionary-based or Knowledge-based Me: As the name suggests, for disambiguation, these methods primarily rely on dictionaries, treasures and lexical knowledge base.</a:t>
            </a:r>
          </a:p>
        </p:txBody>
      </p:sp>
      <p:sp>
        <p:nvSpPr>
          <p:cNvPr id="35" name="Rounded Rectangle 34"/>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NLP methods range from corpus analysis and lexical ambiguity resolution to supervised and semi-supervised bootstrapping.</a:t>
            </a:r>
          </a:p>
        </p:txBody>
      </p:sp>
      <p:sp>
        <p:nvSpPr>
          <p:cNvPr id="36" name="Rectangle 35"/>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D4ED8"/>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FFC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557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Poppins"/>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C93C"/>
                </a:solidFill>
              </a:defRPr>
            </a:pPr>
            <a:r>
              <a:rPr>
                <a:latin typeface="Poppins"/>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