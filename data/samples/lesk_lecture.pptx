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9"/>
                </a:solidFill>
                <a:latin typeface="Arial"/>
              </a:defRPr>
            </a:pPr>
            <a:r>
              <a:rPr sz="1300" b="0" i="0" u="none" strike="noStrike">
                <a:solidFill>
                  <a:srgbClr val="1B2A49"/>
                </a:solidFill>
                <a:latin typeface="Arial"/>
              </a:rPr>
              <a:t>Overlap score per sense</a:t>
            </a:r>
          </a:p>
        </c:rich>
      </c:tx>
      <c:layout/>
      <c:overlay val="0"/>
    </c:title>
    <c:autoTitleDeleted val="0"/>
    <c:plotArea>
      <c:layout/>
      <c:barChart>
        <c:barDir val="col"/>
        <c:grouping val="clustered"/>
        <c:varyColors val="0"/>
        <c:ser>
          <c:idx val="0"/>
          <c:order val="0"/>
          <c:tx>
            <c:strRef>
              <c:f>Sheet1!$B$1</c:f>
              <c:strCache>
                <c:ptCount val="1"/>
                <c:pt idx="0">
                  <c:v>bank 1 (financial)</c:v>
                </c:pt>
              </c:strCache>
            </c:strRef>
          </c:tx>
          <c:spPr>
            <a:solidFill>
              <a:srgbClr val="1F8A7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Text 1</c:v>
                  </c:pt>
                  <c:pt idx="1">
                    <c:v>Text 2</c:v>
                  </c:pt>
                </c:lvl>
              </c:multiLvlStrCache>
            </c:multiLvlStrRef>
          </c:cat>
          <c:val>
            <c:numRef>
              <c:f>Sheet1!$B$2:$B$3</c:f>
              <c:numCache>
                <c:formatCode>General</c:formatCode>
                <c:ptCount val="2"/>
                <c:pt idx="0">
                  <c:v>2</c:v>
                </c:pt>
                <c:pt idx="1">
                  <c:v>0</c:v>
                </c:pt>
              </c:numCache>
            </c:numRef>
          </c:val>
        </c:ser>
        <c:ser>
          <c:idx val="1"/>
          <c:order val="1"/>
          <c:tx>
            <c:strRef>
              <c:f>Sheet1!$C$1</c:f>
              <c:strCache>
                <c:ptCount val="1"/>
                <c:pt idx="0">
                  <c:v>bank 2 (slope)</c:v>
                </c:pt>
              </c:strCache>
            </c:strRef>
          </c:tx>
          <c:spPr>
            <a:solidFill>
              <a:srgbClr val="D950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Text 1</c:v>
                  </c:pt>
                  <c:pt idx="1">
                    <c:v>Text 2</c:v>
                  </c:pt>
                </c:lvl>
              </c:multiLvlStrCache>
            </c:multiLvlStrRef>
          </c:cat>
          <c:val>
            <c:numRef>
              <c:f>Sheet1!$C$2:$C$3</c:f>
              <c:numCache>
                <c:formatCode>General</c:formatCode>
                <c:ptCount val="2"/>
                <c:pt idx="0">
                  <c:v>0</c:v>
                </c:pt>
                <c:pt idx="1">
                  <c:v>1</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62E"/>
                </a:solidFill>
                <a:latin typeface="Arial"/>
              </a:defRPr>
            </a:pPr>
            <a:endParaRPr lang="en-US"/>
          </a:p>
        </c:txPr>
        <c:crossAx val="2094734552"/>
        <c:crosses val="autoZero"/>
        <c:auto val="1"/>
        <c:lblAlgn val="ctr"/>
        <c:noMultiLvlLbl val="1"/>
      </c:catAx>
      <c:valAx>
        <c:axId val="2094734552"/>
        <c:scaling>
          <c:orientation val="minMax"/>
          <c:max val="3"/>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9"/>
                </a:solidFill>
                <a:latin typeface="Arial"/>
              </a:defRPr>
            </a:pPr>
            <a:r>
              <a:rPr sz="1300" b="0" i="0" u="none" strike="noStrike">
                <a:solidFill>
                  <a:srgbClr val="1B2A49"/>
                </a:solidFill>
                <a:latin typeface="Arial"/>
              </a:rPr>
              <a:t>| Signature ∩ Context |</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1F8A7D"/>
            </a:solidFill>
            <a:effectLst/>
          </c:spPr>
          <c:invertIfNegative val="0"/>
          <c:dLbls>
            <c:numFmt formatCode="#,##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S1 industrial</c:v>
                  </c:pt>
                  <c:pt idx="1">
                    <c:v>S2 living</c:v>
                  </c:pt>
                  <c:pt idx="2">
                    <c:v>S3 actor</c:v>
                  </c:pt>
                  <c:pt idx="3">
                    <c:v>S4 secret</c:v>
                  </c:pt>
                </c:lvl>
              </c:multiLvlStrCache>
            </c:multiLvlStrRef>
          </c:cat>
          <c:val>
            <c:numRef>
              <c:f>Sheet1!$B$2:$B$5</c:f>
              <c:numCache>
                <c:formatCode>General</c:formatCode>
                <c:ptCount val="4"/>
                <c:pt idx="0">
                  <c:v>3</c:v>
                </c:pt>
                <c:pt idx="1">
                  <c:v>0</c:v>
                </c:pt>
                <c:pt idx="2">
                  <c:v>0</c:v>
                </c:pt>
                <c:pt idx="3">
                  <c:v>0</c:v>
                </c:pt>
              </c:numCache>
            </c:numRef>
          </c:val>
        </c:ser>
        <c:dLbls>
          <c:numFmt formatCode="#,##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2262E"/>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the Lesk algorithm, the classic dictionary-based way to disambiguate word senses. Students already know WSD, so we go straight to: how can a dictionary definition tell us which meaning is intended? Two worked sums at the end of the core theory: one basic (bank), one advanced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Six blocks. The two worked sums are blocks 4 and 5; everything before them exists so students can do those sums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Same spelling, two meanings; the context tells us which. Ask: what exactly in each sentence is the evidence? Students will say 'hear/sound' and 'eat/grilled'. Lesk automates exactly that, using a dictionary to know which words go with which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Lesk sit? Four families. Lesk is the seminal dictionary-based, knowledge-based method: no labelled corpus, just a lexical resource. Supervised is usually most accurate but needs tagged data such as SemCor. Semi-supervised bootstraps from seeds (Yarowsky). Unsupervised clusters contexts.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in one line. Then a short history: Lesk 1986 (the pine cone vs ice cream cone paper), Kilgarriff and Rosenzweig 2000 simplified it, Banerjee and Pedersen adapted it to WordNet in 2002-03, and Vasilescu et al. 2004 compared the variants, finding the simplified one beat the original (about 58 vs 42 percent precision on Senseval-2 all-words, as commonly quoted).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terms only. Write them on the board. Signature is the one students will not have seen: it is just the set of content words from a sense's gloss plus its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algorithm as a pipeline. Click through the five stages. This is also the order you should write an exam answer in: context, signatures, overlap, scores,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rule. Score of a sense = size of the intersection between its signature and the context. Choose the maximum. Emphasise sets: a repeated word counts once, and the target word is excluded from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Lesk, 1986. Three steps from the lecture slide. The key word is indirect: the evidence is the dictionary definitions of the OTHER words in the context, not the words themselves. That is powerful but expensive, which is why the simplified version replaced it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Lesk's own example. Pine has two senses, cone has three. Compare every pair. Only pine-1 and cone-3 share words: evergreen and tree (trees lemmatised to tree). So the phrase means a cone from an evergreen tree, not an ice cream cone.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Lesk by Kilgarriff and Rosenzweig. The change: stop using the neighbours' definitions. Compare each sense signature directly with the context words. One target word at a time, so no combinatorial explosion. This is the version used in classroom and exam sums.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pseudocode from Jurafsky and Martin. Point at two hidden behaviours. First: best-sense starts as the most frequent sense and max-overlap starts at zero, so if nothing overlaps you get the most frequent sense. Second: the test is strictly greater than, so among tied senses the first one examined wins; WordNet lists senses by frequency so ties favour the more frequent sense. Caution: frequency order depends on the dictionary; in WordNet 3.0 the first noun sense of bank is the slope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counting recipe. Walk through one sentence. Most lost marks come from inconsistent counting, so insist on: same pipeline both sides, target excluded, sets not bags, and say whether lemmatisation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example. Read the sentence: which words give it away? Deposits and mortgage. bank-1's signature contains deposit and mortgage, so the score is 2. bank-2's signature (slope, land, water, river ...) shares nothing, so 0. Choose bank-1.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original version can help. The simplified context is refuse, give, loan. The financial signature has lend, not loan, so both senses score zero and we fall back to the most frequent sense, right or wrong depending on the dictionary. Original Lesk augments the context with the definitions of its words, which include money, and money is in the financial signature. The slide abbreviates these sets with dots, so only money is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worked sum. Let students compute it at their desks before you reveal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Rules: simplified Lesk, stop words removed, target removed, lemmatisation on. The signatures come from the lecture slide, which are already lemmatised and stop-word free. Two test sentences from the course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1. Remove i, to, the, to, my and the target bank. Lemmatise went to go. Context is go, deposit, money. bank-1 shares deposit and money: score 2. bank-2 shares nothing: 0. Winner bank-1.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2. Remove the, was, of and the target. Lemmatise fishes to fish. Context is river, full, dead, fish. bank-2 shares river: 1. bank-1: 0. A single shared word is enough because the competitor has no evidence at all. The chart sums up both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teaching points. One: exact match without lemmatisation gives 1 versus 0 for Text 1, same decision thinner margin, so state your rule. Two: exclude the target. Three: NLTK's built-in lesk function agrees on these two sentences, but it is not the textbook algorithm: gloss only, no stop list. On the textbook long sentence it returns bank.n.05, because 'in' and 'future' give it two overlaps. Good demo of why stop lists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sum: four senses, real WordNet glosses, lemmatisation, then IDF weighting, then a case where simplified Lesk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WordNet 3.0 noun senses of plant with tagged counts from NLTK. Note the lecture slide shows the same four senses with SemCor counts 338, 207, 2, 0 and with the last two in the opposite order; numbering differs across WordNet versions, so use sense names. S1 is the most frequent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step 1 and 2. Context: drop the, a, to and the target plant; lemmatise built to build and cars to car. Signatures: gloss plus examples, same preprocessing, target and its form planted removed. Highlight shows which signature words will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S1 has three shared words, the others zero. So plant is the industrial sense. Point out what did not match: car versus automobile. Exact lexical overlap misses synonyms, and S1 only wins because of build, large, manufacture.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the Corpus Lesk idea. A shared word is not always equally informative: large is everywhere, manufacture is rare. IDF is log of N over df. The numbers here are ASSUMED for the exercise: N = 1000, natural log. Only use IDF in an exam when document frequencies are given. The winner does not change but the evidence is weighted: manufacture carries about half the total and is worth 2.3 times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A sentence whose right answer is the living plant. Context is just water. Every score is zero, so the algorithm returns its default, the most frequent sense S1, which is WRONG. The cause: WordNet gives S2 a one-line gloss and no example, so water is nowhere in its signature. Ask the class how to fix it: Corpus Lesk adds labelled sentences, Extended Lesk adds related glosses, or use a supervised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Lesk: signatures from dictionary plus labelled corpus. Collect every sentence where the target has a given sense, add to gloss and examples. Then weight overlaps by IDF so common words count less. Think of IDF as a smarter stop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Extended or adapted Lesk by Banerjee and Pedersen. Glosses are short, so expand them: add the glosses of related WordNet synsets to form a supergloss. And score phrases: an n-word overlap scores n squared. Example: body of water is a three-word overlap worth 9, plus land worth 1, about 10, versus 3 when counting single words. Also mention graph-based methods from the lecture: WordNet as a graph, PageRank on the context, most central sense wins. Matches are still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of the four versions. If an exam question gives glosses and a sentence and says apply Lesk, use the simplified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view. Strengths: simple, explainable, no labelled data, general. Limits: sparse overlap, exact matching, window sensitivity, dictionary dependence, close senses, ties and zeros. Correct a common misstatement in some handouts: Lesk does use context, it is central. The weakness is that the context signal is only exact word overlap, so coverage drops when overlap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Best is extrinsic: plug WSD into MT or QA and see if the task improves. In practice we use intrinsic exact-match sense accuracy on held-out tagged data. Baselines: most frequent sense, which is hard to beat, and Lesk. Ceiling: human agreement of about 75 to 80 percent on WordNet-style senses. Quote accuracy numbers cautiously.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follows the pseudocode exactly: signature from gloss plus examples, stop list, lemmas, target removed, strict greater-than, most frequent sense as default. All numbers in the worked examples were reproduced with this code using WordNet 3.0. Two failures are deliberate: the watered-the-plant sentence and the loan sentence both return the default first sense, because nothing overlaps. NLTK's built-in lesk is gloss-only with no stop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errors that cost marks. Insist on showing every sense and its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quiz. Ask each question, let them answer, then click to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memory trick. Everything else is an implementation detail or an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All overlap counts, IDF values, sense orders and counts in the deck were computed with code and NLTK 3.10.3 on WordNet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3" name="a0_fade_0_0"/>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200" b="1" spc="400" kern="0" dirty="0">
                <a:solidFill>
                  <a:srgbClr val="F4A300"/>
                </a:solidFill>
                <a:latin typeface="Calibri" pitchFamily="34" charset="0"/>
                <a:ea typeface="Calibri" pitchFamily="34" charset="-122"/>
                <a:cs typeface="Calibri" pitchFamily="34" charset="-120"/>
              </a:rPr>
              <a:t>WORD SENSE DISAMBIGUATION</a:t>
            </a:r>
            <a:endParaRPr lang="en-US" sz="1200" dirty="0"/>
          </a:p>
        </p:txBody>
      </p:sp>
      <p:sp>
        <p:nvSpPr>
          <p:cNvPr id="4" name="a0_wipe_300_1"/>
          <p:cNvSpPr txBox="1"/>
          <p:nvPr/>
        </p:nvSpPr>
        <p:spPr>
          <a:xfrm>
            <a:off x="548640" y="1005840"/>
            <a:ext cx="4754880" cy="173736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The Lesk</a:t>
            </a:r>
            <a:endParaRPr lang="en-US" sz="5200" dirty="0"/>
          </a:p>
          <a:p>
            <a:pPr indent="0" marL="0">
              <a:buNone/>
            </a:pPr>
            <a:r>
              <a:rPr lang="en-US" sz="5200" b="1" dirty="0">
                <a:solidFill>
                  <a:srgbClr val="FFFFFF"/>
                </a:solidFill>
                <a:latin typeface="Cambria" pitchFamily="34" charset="0"/>
                <a:ea typeface="Cambria" pitchFamily="34" charset="-122"/>
                <a:cs typeface="Cambria" pitchFamily="34" charset="-120"/>
              </a:rPr>
              <a:t>Algorithm</a:t>
            </a:r>
            <a:endParaRPr lang="en-US" sz="5200" dirty="0"/>
          </a:p>
        </p:txBody>
      </p:sp>
      <p:sp>
        <p:nvSpPr>
          <p:cNvPr id="5" name="a0_fade_900_2"/>
          <p:cNvSpPr txBox="1"/>
          <p:nvPr/>
        </p:nvSpPr>
        <p:spPr>
          <a:xfrm>
            <a:off x="548640" y="2880360"/>
            <a:ext cx="4480560" cy="82296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Choosing the right meaning by counting shared words between a dictionary definition and its context</a:t>
            </a:r>
            <a:endParaRPr lang="en-US" sz="1600" dirty="0"/>
          </a:p>
        </p:txBody>
      </p:sp>
      <p:sp>
        <p:nvSpPr>
          <p:cNvPr id="6" name="a0_fade_1400_3"/>
          <p:cNvSpPr txBox="1"/>
          <p:nvPr/>
        </p:nvSpPr>
        <p:spPr>
          <a:xfrm>
            <a:off x="548640" y="4206240"/>
            <a:ext cx="5486400" cy="274320"/>
          </a:xfrm>
          <a:prstGeom prst="rect">
            <a:avLst/>
          </a:prstGeom>
          <a:noFill/>
          <a:ln/>
        </p:spPr>
        <p:txBody>
          <a:bodyPr wrap="square" lIns="0" tIns="0" rIns="0" bIns="0" rtlCol="0" anchor="t"/>
          <a:lstStyle/>
          <a:p>
            <a:pPr indent="0" marL="0">
              <a:buNone/>
            </a:pPr>
            <a:r>
              <a:rPr lang="en-US" sz="1100" dirty="0">
                <a:solidFill>
                  <a:srgbClr val="8E9BB8"/>
                </a:solidFill>
                <a:latin typeface="Calibri" pitchFamily="34" charset="0"/>
                <a:ea typeface="Calibri" pitchFamily="34" charset="-122"/>
                <a:cs typeface="Calibri" pitchFamily="34" charset="-120"/>
              </a:rPr>
              <a:t>Theory  ·  Original &amp; Simplified  ·  Corpus &amp; Extended  ·  Two worked sums</a:t>
            </a:r>
            <a:endParaRPr lang="en-US" sz="1100" dirty="0"/>
          </a:p>
        </p:txBody>
      </p:sp>
      <p:sp>
        <p:nvSpPr>
          <p:cNvPr id="7" name="a0_zoom_600_4"/>
          <p:cNvSpPr/>
          <p:nvPr/>
        </p:nvSpPr>
        <p:spPr>
          <a:xfrm>
            <a:off x="6446520" y="2011680"/>
            <a:ext cx="1371600" cy="548640"/>
          </a:xfrm>
          <a:prstGeom prst="roundRect">
            <a:avLst>
              <a:gd name="adj" fmla="val 20000"/>
            </a:avLst>
          </a:prstGeom>
          <a:solidFill>
            <a:srgbClr val="F4A300"/>
          </a:solidFill>
          <a:ln/>
        </p:spPr>
        <p:txBody>
          <a:bodyPr wrap="square" lIns="0" tIns="0" rIns="0" bIns="0" rtlCol="0" anchor="ctr"/>
          <a:lstStyle/>
          <a:p>
            <a:pPr algn="ctr" indent="0" marL="0">
              <a:buNone/>
            </a:pPr>
            <a:r>
              <a:rPr lang="en-US" sz="2200" b="1" dirty="0">
                <a:solidFill>
                  <a:srgbClr val="22262E"/>
                </a:solidFill>
                <a:latin typeface="Calibri" pitchFamily="34" charset="0"/>
                <a:ea typeface="Calibri" pitchFamily="34" charset="-122"/>
                <a:cs typeface="Calibri" pitchFamily="34" charset="-120"/>
              </a:rPr>
              <a:t>bank</a:t>
            </a:r>
            <a:endParaRPr lang="en-US" sz="2200" dirty="0"/>
          </a:p>
        </p:txBody>
      </p:sp>
      <p:sp>
        <p:nvSpPr>
          <p:cNvPr id="8" name="a0_fade_1100_5"/>
          <p:cNvSpPr/>
          <p:nvPr/>
        </p:nvSpPr>
        <p:spPr>
          <a:xfrm>
            <a:off x="6400800" y="1417320"/>
            <a:ext cx="731520" cy="594360"/>
          </a:xfrm>
          <a:prstGeom prst="line">
            <a:avLst/>
          </a:prstGeom>
          <a:noFill/>
          <a:ln w="19050">
            <a:solidFill>
              <a:srgbClr val="8E9BB8"/>
            </a:solidFill>
            <a:prstDash val="solid"/>
          </a:ln>
        </p:spPr>
      </p:sp>
      <p:sp>
        <p:nvSpPr>
          <p:cNvPr id="9" name="a0_fade_1100_6"/>
          <p:cNvSpPr/>
          <p:nvPr/>
        </p:nvSpPr>
        <p:spPr>
          <a:xfrm flipV="1">
            <a:off x="6400800" y="2560320"/>
            <a:ext cx="731520" cy="594360"/>
          </a:xfrm>
          <a:prstGeom prst="line">
            <a:avLst/>
          </a:prstGeom>
          <a:noFill/>
          <a:ln w="19050">
            <a:solidFill>
              <a:srgbClr val="8E9BB8"/>
            </a:solidFill>
            <a:prstDash val="solid"/>
          </a:ln>
        </p:spPr>
      </p:sp>
      <p:sp>
        <p:nvSpPr>
          <p:cNvPr id="10" name="a0_fly_1300_7"/>
          <p:cNvSpPr/>
          <p:nvPr/>
        </p:nvSpPr>
        <p:spPr>
          <a:xfrm>
            <a:off x="5577840" y="1051560"/>
            <a:ext cx="2550810" cy="365760"/>
          </a:xfrm>
          <a:prstGeom prst="roundRect">
            <a:avLst>
              <a:gd name="adj" fmla="val 30000"/>
            </a:avLst>
          </a:prstGeom>
          <a:solidFill>
            <a:srgbClr val="1F8A7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financial institution</a:t>
            </a:r>
            <a:endParaRPr lang="en-US" sz="1200" dirty="0"/>
          </a:p>
        </p:txBody>
      </p:sp>
      <p:sp>
        <p:nvSpPr>
          <p:cNvPr id="11" name="a0_fade_1600_8"/>
          <p:cNvSpPr/>
          <p:nvPr/>
        </p:nvSpPr>
        <p:spPr>
          <a:xfrm>
            <a:off x="5486400" y="658368"/>
            <a:ext cx="869960" cy="292608"/>
          </a:xfrm>
          <a:prstGeom prst="roundRect">
            <a:avLst>
              <a:gd name="adj" fmla="val 37500"/>
            </a:avLst>
          </a:prstGeom>
          <a:solidFill>
            <a:srgbClr val="27385F"/>
          </a:solid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deposit</a:t>
            </a:r>
            <a:endParaRPr lang="en-US" sz="1100" dirty="0"/>
          </a:p>
        </p:txBody>
      </p:sp>
      <p:sp>
        <p:nvSpPr>
          <p:cNvPr id="12" name="a0_fade_1750_9"/>
          <p:cNvSpPr/>
          <p:nvPr/>
        </p:nvSpPr>
        <p:spPr>
          <a:xfrm>
            <a:off x="6263640" y="658368"/>
            <a:ext cx="705002" cy="292608"/>
          </a:xfrm>
          <a:prstGeom prst="roundRect">
            <a:avLst>
              <a:gd name="adj" fmla="val 37500"/>
            </a:avLst>
          </a:prstGeom>
          <a:solidFill>
            <a:srgbClr val="27385F"/>
          </a:solid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money</a:t>
            </a:r>
            <a:endParaRPr lang="en-US" sz="1100" dirty="0"/>
          </a:p>
        </p:txBody>
      </p:sp>
      <p:sp>
        <p:nvSpPr>
          <p:cNvPr id="13" name="a0_fly_1300_10"/>
          <p:cNvSpPr/>
          <p:nvPr/>
        </p:nvSpPr>
        <p:spPr>
          <a:xfrm>
            <a:off x="6035040" y="3154680"/>
            <a:ext cx="1583009" cy="365760"/>
          </a:xfrm>
          <a:prstGeom prst="roundRect">
            <a:avLst>
              <a:gd name="adj" fmla="val 30000"/>
            </a:avLst>
          </a:prstGeom>
          <a:solidFill>
            <a:srgbClr val="D950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sloping land</a:t>
            </a:r>
            <a:endParaRPr lang="en-US" sz="1200" dirty="0"/>
          </a:p>
        </p:txBody>
      </p:sp>
      <p:sp>
        <p:nvSpPr>
          <p:cNvPr id="14" name="a0_fade_1600_11"/>
          <p:cNvSpPr/>
          <p:nvPr/>
        </p:nvSpPr>
        <p:spPr>
          <a:xfrm>
            <a:off x="6035040" y="3611880"/>
            <a:ext cx="705002" cy="292608"/>
          </a:xfrm>
          <a:prstGeom prst="roundRect">
            <a:avLst>
              <a:gd name="adj" fmla="val 37500"/>
            </a:avLst>
          </a:prstGeom>
          <a:solidFill>
            <a:srgbClr val="27385F"/>
          </a:solid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river</a:t>
            </a:r>
            <a:endParaRPr lang="en-US" sz="1100" dirty="0"/>
          </a:p>
        </p:txBody>
      </p:sp>
      <p:sp>
        <p:nvSpPr>
          <p:cNvPr id="15" name="a0_fade_1750_12"/>
          <p:cNvSpPr/>
          <p:nvPr/>
        </p:nvSpPr>
        <p:spPr>
          <a:xfrm>
            <a:off x="6675120" y="3611880"/>
            <a:ext cx="705002" cy="292608"/>
          </a:xfrm>
          <a:prstGeom prst="roundRect">
            <a:avLst>
              <a:gd name="adj" fmla="val 37500"/>
            </a:avLst>
          </a:prstGeom>
          <a:solidFill>
            <a:srgbClr val="27385F"/>
          </a:solid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water</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22" presetClass="entr" presetSubtype="8" fill="hold" grpId="0" nodeType="withEffect">
                                  <p:stCondLst>
                                    <p:cond delay="300"/>
                                  </p:stCondLst>
                                  <p:childTnLst>
                                    <p:set>
                                      <p:cBhvr>
                                        <p:cTn id="7" dur="1" fill="hold">
                                          <p:stCondLst>
                                            <p:cond delay="0"/>
                                          </p:stCondLst>
                                        </p:cTn>
                                        <p:tgtEl>
                                          <p:spTgt spid="4"/>
                                        </p:tgtEl>
                                        <p:attrNameLst>
                                          <p:attrName>style.visibility</p:attrName>
                                        </p:attrNameLst>
                                      </p:cBhvr>
                                      <p:to>
                                        <p:strVal val="visible"/>
                                      </p:to>
                                    </p:set>
                                    <p:animEffect transition="in" filter="wipe(left)">
                                      <p:cBhvr>
                                        <p:cTn id="8" dur="500"/>
                                        <p:tgtEl>
                                          <p:spTgt spid="4"/>
                                        </p:tgtEl>
                                      </p:cBhvr>
                                    </p:animEffect>
                                  </p:childTnLst>
                                </p:cTn>
                              </p:par>
                              <p:par>
                                <p:cTn id="9" presetID="53" presetClass="entr" presetSubtype="16" fill="hold" grpId="0" nodeType="withEffect">
                                  <p:stCondLst>
                                    <p:cond delay="6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ppt_w</p:attrName>
                                        </p:attrNameLst>
                                      </p:cBhvr>
                                      <p:tavLst>
                                        <p:tav tm="0">
                                          <p:val>
                                            <p:fltVal val="0"/>
                                          </p:val>
                                        </p:tav>
                                        <p:tav tm="100000">
                                          <p:val>
                                            <p:strVal val="#ppt_w"/>
                                          </p:val>
                                        </p:tav>
                                      </p:tavLst>
                                    </p:anim>
                                    <p:anim calcmode="lin" valueType="num">
                                      <p:cBhvr additive="base">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par>
                                <p:cTn id="14" presetID="10" presetClass="entr" presetSubtype="0" fill="hold" grpId="0" nodeType="withEffect">
                                  <p:stCondLst>
                                    <p:cond delay="9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1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11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2" presetClass="entr" presetSubtype="4" fill="hold" grpId="0" nodeType="withEffect">
                                  <p:stCondLst>
                                    <p:cond delay="130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130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par>
                                <p:cTn id="31" presetID="10" presetClass="entr" presetSubtype="0" fill="hold" grpId="0" nodeType="withEffect">
                                  <p:stCondLst>
                                    <p:cond delay="140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16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16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17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10" presetClass="entr" presetSubtype="0" fill="hold" grpId="0" nodeType="withEffect">
                                  <p:stCondLst>
                                    <p:cond delay="175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5" grpId="0" animBg="1"/>
      <p:bldP spid="8" grpId="0" animBg="1"/>
      <p:bldP spid="9" grpId="0" animBg="1"/>
      <p:bldP spid="10" grpId="0" animBg="1"/>
      <p:bldP spid="13" grpId="0" animBg="1"/>
      <p:bldP spid="6" grpId="0" animBg="1"/>
      <p:bldP spid="11" grpId="0" animBg="1"/>
      <p:bldP spid="14" grpId="0" animBg="1"/>
      <p:bldP spid="12"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ROADMAP</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What we will cover today</a:t>
            </a:r>
            <a:endParaRPr lang="en-US" sz="2800" dirty="0"/>
          </a:p>
        </p:txBody>
      </p:sp>
      <p:sp>
        <p:nvSpPr>
          <p:cNvPr id="5" name="a1_fade_0_13"/>
          <p:cNvSpPr/>
          <p:nvPr/>
        </p:nvSpPr>
        <p:spPr>
          <a:xfrm>
            <a:off x="457200" y="128016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sp>
      <p:sp>
        <p:nvSpPr>
          <p:cNvPr id="6" name="a1_zoom_60_14"/>
          <p:cNvSpPr/>
          <p:nvPr/>
        </p:nvSpPr>
        <p:spPr>
          <a:xfrm>
            <a:off x="640080" y="1463040"/>
            <a:ext cx="502920" cy="502920"/>
          </a:xfrm>
          <a:prstGeom prst="ellipse">
            <a:avLst/>
          </a:prstGeom>
          <a:solidFill>
            <a:srgbClr val="1B2A49"/>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a1_fade_120_15"/>
          <p:cNvSpPr txBox="1"/>
          <p:nvPr/>
        </p:nvSpPr>
        <p:spPr>
          <a:xfrm>
            <a:off x="640080" y="2084832"/>
            <a:ext cx="2286000" cy="320040"/>
          </a:xfrm>
          <a:prstGeom prst="rect">
            <a:avLst/>
          </a:prstGeom>
          <a:noFill/>
          <a:ln/>
        </p:spPr>
        <p:txBody>
          <a:bodyPr wrap="square" lIns="0" tIns="0" rIns="0" bIns="0" rtlCol="0" anchor="t"/>
          <a:lstStyle/>
          <a:p>
            <a:pPr indent="0" marL="0">
              <a:buNone/>
            </a:pPr>
            <a:r>
              <a:rPr lang="en-US" sz="1600" b="1" dirty="0">
                <a:solidFill>
                  <a:srgbClr val="1B2A49"/>
                </a:solidFill>
                <a:latin typeface="Calibri" pitchFamily="34" charset="0"/>
                <a:ea typeface="Calibri" pitchFamily="34" charset="-122"/>
                <a:cs typeface="Calibri" pitchFamily="34" charset="-120"/>
              </a:rPr>
              <a:t>The big idea</a:t>
            </a:r>
            <a:endParaRPr lang="en-US" sz="1600" dirty="0"/>
          </a:p>
        </p:txBody>
      </p:sp>
      <p:sp>
        <p:nvSpPr>
          <p:cNvPr id="8" name="a1_fade_120_16"/>
          <p:cNvSpPr txBox="1"/>
          <p:nvPr/>
        </p:nvSpPr>
        <p:spPr>
          <a:xfrm>
            <a:off x="640080" y="2395728"/>
            <a:ext cx="2286000" cy="27432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Why overlap works</a:t>
            </a:r>
            <a:endParaRPr lang="en-US" sz="1200" dirty="0"/>
          </a:p>
        </p:txBody>
      </p:sp>
      <p:sp>
        <p:nvSpPr>
          <p:cNvPr id="9" name="a1_fade_180_17"/>
          <p:cNvSpPr/>
          <p:nvPr/>
        </p:nvSpPr>
        <p:spPr>
          <a:xfrm>
            <a:off x="3246120" y="128016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sp>
      <p:sp>
        <p:nvSpPr>
          <p:cNvPr id="10" name="a1_zoom_240_18"/>
          <p:cNvSpPr/>
          <p:nvPr/>
        </p:nvSpPr>
        <p:spPr>
          <a:xfrm>
            <a:off x="3429000" y="1463040"/>
            <a:ext cx="502920" cy="502920"/>
          </a:xfrm>
          <a:prstGeom prst="ellipse">
            <a:avLst/>
          </a:prstGeom>
          <a:solidFill>
            <a:srgbClr val="1B2A49"/>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a1_fade_300_19"/>
          <p:cNvSpPr txBox="1"/>
          <p:nvPr/>
        </p:nvSpPr>
        <p:spPr>
          <a:xfrm>
            <a:off x="3429000" y="2084832"/>
            <a:ext cx="2286000" cy="320040"/>
          </a:xfrm>
          <a:prstGeom prst="rect">
            <a:avLst/>
          </a:prstGeom>
          <a:noFill/>
          <a:ln/>
        </p:spPr>
        <p:txBody>
          <a:bodyPr wrap="square" lIns="0" tIns="0" rIns="0" bIns="0" rtlCol="0" anchor="t"/>
          <a:lstStyle/>
          <a:p>
            <a:pPr indent="0" marL="0">
              <a:buNone/>
            </a:pPr>
            <a:r>
              <a:rPr lang="en-US" sz="1600" b="1" dirty="0">
                <a:solidFill>
                  <a:srgbClr val="1B2A49"/>
                </a:solidFill>
                <a:latin typeface="Calibri" pitchFamily="34" charset="0"/>
                <a:ea typeface="Calibri" pitchFamily="34" charset="-122"/>
                <a:cs typeface="Calibri" pitchFamily="34" charset="-120"/>
              </a:rPr>
              <a:t>Original vs Simplified</a:t>
            </a:r>
            <a:endParaRPr lang="en-US" sz="1600" dirty="0"/>
          </a:p>
        </p:txBody>
      </p:sp>
      <p:sp>
        <p:nvSpPr>
          <p:cNvPr id="12" name="a1_fade_300_20"/>
          <p:cNvSpPr txBox="1"/>
          <p:nvPr/>
        </p:nvSpPr>
        <p:spPr>
          <a:xfrm>
            <a:off x="3429000" y="2395728"/>
            <a:ext cx="2286000" cy="27432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Two versions, one intuition</a:t>
            </a:r>
            <a:endParaRPr lang="en-US" sz="1200" dirty="0"/>
          </a:p>
        </p:txBody>
      </p:sp>
      <p:sp>
        <p:nvSpPr>
          <p:cNvPr id="13" name="a1_fade_360_21"/>
          <p:cNvSpPr/>
          <p:nvPr/>
        </p:nvSpPr>
        <p:spPr>
          <a:xfrm>
            <a:off x="6035040" y="128016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sp>
      <p:sp>
        <p:nvSpPr>
          <p:cNvPr id="14" name="a1_zoom_420_22"/>
          <p:cNvSpPr/>
          <p:nvPr/>
        </p:nvSpPr>
        <p:spPr>
          <a:xfrm>
            <a:off x="6217920" y="1463040"/>
            <a:ext cx="502920" cy="502920"/>
          </a:xfrm>
          <a:prstGeom prst="ellipse">
            <a:avLst/>
          </a:prstGeom>
          <a:solidFill>
            <a:srgbClr val="1B2A49"/>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a1_fade_480_23"/>
          <p:cNvSpPr txBox="1"/>
          <p:nvPr/>
        </p:nvSpPr>
        <p:spPr>
          <a:xfrm>
            <a:off x="6217920" y="2084832"/>
            <a:ext cx="2286000" cy="320040"/>
          </a:xfrm>
          <a:prstGeom prst="rect">
            <a:avLst/>
          </a:prstGeom>
          <a:noFill/>
          <a:ln/>
        </p:spPr>
        <p:txBody>
          <a:bodyPr wrap="square" lIns="0" tIns="0" rIns="0" bIns="0" rtlCol="0" anchor="t"/>
          <a:lstStyle/>
          <a:p>
            <a:pPr indent="0" marL="0">
              <a:buNone/>
            </a:pPr>
            <a:r>
              <a:rPr lang="en-US" sz="1600" b="1" dirty="0">
                <a:solidFill>
                  <a:srgbClr val="1B2A49"/>
                </a:solidFill>
                <a:latin typeface="Calibri" pitchFamily="34" charset="0"/>
                <a:ea typeface="Calibri" pitchFamily="34" charset="-122"/>
                <a:cs typeface="Calibri" pitchFamily="34" charset="-120"/>
              </a:rPr>
              <a:t>Counting rules</a:t>
            </a:r>
            <a:endParaRPr lang="en-US" sz="1600" dirty="0"/>
          </a:p>
        </p:txBody>
      </p:sp>
      <p:sp>
        <p:nvSpPr>
          <p:cNvPr id="16" name="a1_fade_480_24"/>
          <p:cNvSpPr txBox="1"/>
          <p:nvPr/>
        </p:nvSpPr>
        <p:spPr>
          <a:xfrm>
            <a:off x="6217920" y="2395728"/>
            <a:ext cx="2286000" cy="27432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Preprocess before you count</a:t>
            </a:r>
            <a:endParaRPr lang="en-US" sz="1200" dirty="0"/>
          </a:p>
        </p:txBody>
      </p:sp>
      <p:sp>
        <p:nvSpPr>
          <p:cNvPr id="17" name="a1_fade_540_25"/>
          <p:cNvSpPr/>
          <p:nvPr/>
        </p:nvSpPr>
        <p:spPr>
          <a:xfrm>
            <a:off x="457200" y="2971800"/>
            <a:ext cx="2606040" cy="1508760"/>
          </a:xfrm>
          <a:prstGeom prst="roundRect">
            <a:avLst>
              <a:gd name="adj" fmla="val 7273"/>
            </a:avLst>
          </a:prstGeom>
          <a:solidFill>
            <a:srgbClr val="FFF0C7"/>
          </a:solidFill>
          <a:ln/>
          <a:effectLst>
            <a:outerShdw sx="100000" sy="100000" kx="0" ky="0" algn="bl" rotWithShape="0" blurRad="76200" dist="25400" dir="5400000">
              <a:srgbClr val="000000">
                <a:alpha val="14000"/>
              </a:srgbClr>
            </a:outerShdw>
          </a:effectLst>
        </p:spPr>
      </p:sp>
      <p:sp>
        <p:nvSpPr>
          <p:cNvPr id="18" name="a1_zoom_600_26"/>
          <p:cNvSpPr/>
          <p:nvPr/>
        </p:nvSpPr>
        <p:spPr>
          <a:xfrm>
            <a:off x="640080" y="3154680"/>
            <a:ext cx="502920" cy="502920"/>
          </a:xfrm>
          <a:prstGeom prst="ellipse">
            <a:avLst/>
          </a:prstGeom>
          <a:solidFill>
            <a:srgbClr val="F4A300"/>
          </a:solidFill>
          <a:ln/>
        </p:spPr>
        <p:txBody>
          <a:bodyPr wrap="square" lIns="0" tIns="0" rIns="0" bIns="0" rtlCol="0" anchor="ctr"/>
          <a:lstStyle/>
          <a:p>
            <a:pPr algn="ctr" indent="0" marL="0">
              <a:buNone/>
            </a:pPr>
            <a:r>
              <a:rPr lang="en-US" sz="1800" b="1" dirty="0">
                <a:solidFill>
                  <a:srgbClr val="22262E"/>
                </a:solidFill>
                <a:latin typeface="Cambria" pitchFamily="34" charset="0"/>
                <a:ea typeface="Cambria" pitchFamily="34" charset="-122"/>
                <a:cs typeface="Cambria" pitchFamily="34" charset="-120"/>
              </a:rPr>
              <a:t>4</a:t>
            </a:r>
            <a:endParaRPr lang="en-US" sz="1800" dirty="0"/>
          </a:p>
        </p:txBody>
      </p:sp>
      <p:sp>
        <p:nvSpPr>
          <p:cNvPr id="19" name="a1_fade_660_27"/>
          <p:cNvSpPr txBox="1"/>
          <p:nvPr/>
        </p:nvSpPr>
        <p:spPr>
          <a:xfrm>
            <a:off x="640080" y="3776472"/>
            <a:ext cx="2286000" cy="320040"/>
          </a:xfrm>
          <a:prstGeom prst="rect">
            <a:avLst/>
          </a:prstGeom>
          <a:noFill/>
          <a:ln/>
        </p:spPr>
        <p:txBody>
          <a:bodyPr wrap="square" lIns="0" tIns="0" rIns="0" bIns="0" rtlCol="0" anchor="t"/>
          <a:lstStyle/>
          <a:p>
            <a:pPr indent="0" marL="0">
              <a:buNone/>
            </a:pPr>
            <a:r>
              <a:rPr lang="en-US" sz="1600" b="1" dirty="0">
                <a:solidFill>
                  <a:srgbClr val="1B2A49"/>
                </a:solidFill>
                <a:latin typeface="Calibri" pitchFamily="34" charset="0"/>
                <a:ea typeface="Calibri" pitchFamily="34" charset="-122"/>
                <a:cs typeface="Calibri" pitchFamily="34" charset="-120"/>
              </a:rPr>
              <a:t>Sum 1: basic</a:t>
            </a:r>
            <a:endParaRPr lang="en-US" sz="1600" dirty="0"/>
          </a:p>
        </p:txBody>
      </p:sp>
      <p:sp>
        <p:nvSpPr>
          <p:cNvPr id="20" name="a1_fade_660_28"/>
          <p:cNvSpPr txBox="1"/>
          <p:nvPr/>
        </p:nvSpPr>
        <p:spPr>
          <a:xfrm>
            <a:off x="640080" y="4087368"/>
            <a:ext cx="2286000" cy="27432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bank, two senses</a:t>
            </a:r>
            <a:endParaRPr lang="en-US" sz="1200" dirty="0"/>
          </a:p>
        </p:txBody>
      </p:sp>
      <p:sp>
        <p:nvSpPr>
          <p:cNvPr id="21" name="a1_fade_720_29"/>
          <p:cNvSpPr/>
          <p:nvPr/>
        </p:nvSpPr>
        <p:spPr>
          <a:xfrm>
            <a:off x="3246120" y="2971800"/>
            <a:ext cx="2606040" cy="1508760"/>
          </a:xfrm>
          <a:prstGeom prst="roundRect">
            <a:avLst>
              <a:gd name="adj" fmla="val 7273"/>
            </a:avLst>
          </a:prstGeom>
          <a:solidFill>
            <a:srgbClr val="FFF0C7"/>
          </a:solidFill>
          <a:ln/>
          <a:effectLst>
            <a:outerShdw sx="100000" sy="100000" kx="0" ky="0" algn="bl" rotWithShape="0" blurRad="76200" dist="25400" dir="5400000">
              <a:srgbClr val="000000">
                <a:alpha val="14000"/>
              </a:srgbClr>
            </a:outerShdw>
          </a:effectLst>
        </p:spPr>
      </p:sp>
      <p:sp>
        <p:nvSpPr>
          <p:cNvPr id="22" name="a1_zoom_780_30"/>
          <p:cNvSpPr/>
          <p:nvPr/>
        </p:nvSpPr>
        <p:spPr>
          <a:xfrm>
            <a:off x="3429000" y="3154680"/>
            <a:ext cx="502920" cy="502920"/>
          </a:xfrm>
          <a:prstGeom prst="ellipse">
            <a:avLst/>
          </a:prstGeom>
          <a:solidFill>
            <a:srgbClr val="F4A300"/>
          </a:solidFill>
          <a:ln/>
        </p:spPr>
        <p:txBody>
          <a:bodyPr wrap="square" lIns="0" tIns="0" rIns="0" bIns="0" rtlCol="0" anchor="ctr"/>
          <a:lstStyle/>
          <a:p>
            <a:pPr algn="ctr" indent="0" marL="0">
              <a:buNone/>
            </a:pPr>
            <a:r>
              <a:rPr lang="en-US" sz="1800" b="1" dirty="0">
                <a:solidFill>
                  <a:srgbClr val="22262E"/>
                </a:solidFill>
                <a:latin typeface="Cambria" pitchFamily="34" charset="0"/>
                <a:ea typeface="Cambria" pitchFamily="34" charset="-122"/>
                <a:cs typeface="Cambria" pitchFamily="34" charset="-120"/>
              </a:rPr>
              <a:t>5</a:t>
            </a:r>
            <a:endParaRPr lang="en-US" sz="1800" dirty="0"/>
          </a:p>
        </p:txBody>
      </p:sp>
      <p:sp>
        <p:nvSpPr>
          <p:cNvPr id="23" name="a1_fade_840_31"/>
          <p:cNvSpPr txBox="1"/>
          <p:nvPr/>
        </p:nvSpPr>
        <p:spPr>
          <a:xfrm>
            <a:off x="3429000" y="3776472"/>
            <a:ext cx="2286000" cy="320040"/>
          </a:xfrm>
          <a:prstGeom prst="rect">
            <a:avLst/>
          </a:prstGeom>
          <a:noFill/>
          <a:ln/>
        </p:spPr>
        <p:txBody>
          <a:bodyPr wrap="square" lIns="0" tIns="0" rIns="0" bIns="0" rtlCol="0" anchor="t"/>
          <a:lstStyle/>
          <a:p>
            <a:pPr indent="0" marL="0">
              <a:buNone/>
            </a:pPr>
            <a:r>
              <a:rPr lang="en-US" sz="1600" b="1" dirty="0">
                <a:solidFill>
                  <a:srgbClr val="1B2A49"/>
                </a:solidFill>
                <a:latin typeface="Calibri" pitchFamily="34" charset="0"/>
                <a:ea typeface="Calibri" pitchFamily="34" charset="-122"/>
                <a:cs typeface="Calibri" pitchFamily="34" charset="-120"/>
              </a:rPr>
              <a:t>Sum 2: advanced</a:t>
            </a:r>
            <a:endParaRPr lang="en-US" sz="1600" dirty="0"/>
          </a:p>
        </p:txBody>
      </p:sp>
      <p:sp>
        <p:nvSpPr>
          <p:cNvPr id="24" name="a1_fade_840_32"/>
          <p:cNvSpPr txBox="1"/>
          <p:nvPr/>
        </p:nvSpPr>
        <p:spPr>
          <a:xfrm>
            <a:off x="3429000" y="4087368"/>
            <a:ext cx="2286000" cy="27432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plant, IDF, a failure case</a:t>
            </a:r>
            <a:endParaRPr lang="en-US" sz="1200" dirty="0"/>
          </a:p>
        </p:txBody>
      </p:sp>
      <p:sp>
        <p:nvSpPr>
          <p:cNvPr id="25" name="a1_fade_900_33"/>
          <p:cNvSpPr/>
          <p:nvPr/>
        </p:nvSpPr>
        <p:spPr>
          <a:xfrm>
            <a:off x="6035040" y="297180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sp>
      <p:sp>
        <p:nvSpPr>
          <p:cNvPr id="26" name="a1_zoom_960_34"/>
          <p:cNvSpPr/>
          <p:nvPr/>
        </p:nvSpPr>
        <p:spPr>
          <a:xfrm>
            <a:off x="6217920" y="3154680"/>
            <a:ext cx="502920" cy="502920"/>
          </a:xfrm>
          <a:prstGeom prst="ellipse">
            <a:avLst/>
          </a:prstGeom>
          <a:solidFill>
            <a:srgbClr val="1B2A49"/>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7" name="a1_fade_1020_35"/>
          <p:cNvSpPr txBox="1"/>
          <p:nvPr/>
        </p:nvSpPr>
        <p:spPr>
          <a:xfrm>
            <a:off x="6217920" y="3776472"/>
            <a:ext cx="2286000" cy="320040"/>
          </a:xfrm>
          <a:prstGeom prst="rect">
            <a:avLst/>
          </a:prstGeom>
          <a:noFill/>
          <a:ln/>
        </p:spPr>
        <p:txBody>
          <a:bodyPr wrap="square" lIns="0" tIns="0" rIns="0" bIns="0" rtlCol="0" anchor="t"/>
          <a:lstStyle/>
          <a:p>
            <a:pPr indent="0" marL="0">
              <a:buNone/>
            </a:pPr>
            <a:r>
              <a:rPr lang="en-US" sz="1600" b="1" dirty="0">
                <a:solidFill>
                  <a:srgbClr val="1B2A49"/>
                </a:solidFill>
                <a:latin typeface="Calibri" pitchFamily="34" charset="0"/>
                <a:ea typeface="Calibri" pitchFamily="34" charset="-122"/>
                <a:cs typeface="Calibri" pitchFamily="34" charset="-120"/>
              </a:rPr>
              <a:t>Variants &amp; limits</a:t>
            </a:r>
            <a:endParaRPr lang="en-US" sz="1600" dirty="0"/>
          </a:p>
        </p:txBody>
      </p:sp>
      <p:sp>
        <p:nvSpPr>
          <p:cNvPr id="28" name="a1_fade_1020_36"/>
          <p:cNvSpPr txBox="1"/>
          <p:nvPr/>
        </p:nvSpPr>
        <p:spPr>
          <a:xfrm>
            <a:off x="6217920" y="4087368"/>
            <a:ext cx="2286000" cy="27432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Corpus, Extended, baselines</a:t>
            </a:r>
            <a:endParaRPr lang="en-US" sz="1200" dirty="0"/>
          </a:p>
        </p:txBody>
      </p:sp>
      <p:sp>
        <p:nvSpPr>
          <p:cNvPr id="29" name="Text 26"/>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87" fill="hold">
                      <p:stCondLst>
                        <p:cond delay="indefinite"/>
                      </p:stCondLst>
                      <p:childTnLst>
                        <p:par>
                          <p:cTn id="8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53" presetClass="entr" presetSubtype="16" fill="hold" grpId="0" nodeType="withEffect">
                                  <p:stCondLst>
                                    <p:cond delay="6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500" fill="hold"/>
                                        <p:tgtEl>
                                          <p:spTgt spid="6"/>
                                        </p:tgtEl>
                                        <p:attrNameLst>
                                          <p:attrName>ppt_w</p:attrName>
                                        </p:attrNameLst>
                                      </p:cBhvr>
                                      <p:tavLst>
                                        <p:tav tm="0">
                                          <p:val>
                                            <p:fltVal val="0"/>
                                          </p:val>
                                        </p:tav>
                                        <p:tav tm="100000">
                                          <p:val>
                                            <p:strVal val="#ppt_w"/>
                                          </p:val>
                                        </p:tav>
                                      </p:tavLst>
                                    </p:anim>
                                    <p:anim calcmode="lin" valueType="num">
                                      <p:cBhvr additive="base">
                                        <p:cTn id="9" dur="500" fill="hold"/>
                                        <p:tgtEl>
                                          <p:spTgt spid="6"/>
                                        </p:tgtEl>
                                        <p:attrNameLst>
                                          <p:attrName>ppt_h</p:attrName>
                                        </p:attrNameLst>
                                      </p:cBhvr>
                                      <p:tavLst>
                                        <p:tav tm="0">
                                          <p:val>
                                            <p:fltVal val="0"/>
                                          </p:val>
                                        </p:tav>
                                        <p:tav tm="100000">
                                          <p:val>
                                            <p:strVal val="#ppt_h"/>
                                          </p:val>
                                        </p:tav>
                                      </p:tavLst>
                                    </p:anim>
                                    <p:animEffect transition="in" filter="fade">
                                      <p:cBhvr>
                                        <p:cTn id="10" dur="500"/>
                                        <p:tgtEl>
                                          <p:spTgt spid="6"/>
                                        </p:tgtEl>
                                      </p:cBhvr>
                                    </p:animEffect>
                                  </p:childTnLst>
                                </p:cTn>
                              </p:par>
                              <p:par>
                                <p:cTn id="11" presetID="10" presetClass="entr" presetSubtype="0" fill="hold" grpId="0" nodeType="withEffect">
                                  <p:stCondLst>
                                    <p:cond delay="12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2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53" presetClass="entr" presetSubtype="16"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ppt_w</p:attrName>
                                        </p:attrNameLst>
                                      </p:cBhvr>
                                      <p:tavLst>
                                        <p:tav tm="0">
                                          <p:val>
                                            <p:fltVal val="0"/>
                                          </p:val>
                                        </p:tav>
                                        <p:tav tm="100000">
                                          <p:val>
                                            <p:strVal val="#ppt_w"/>
                                          </p:val>
                                        </p:tav>
                                      </p:tavLst>
                                    </p:anim>
                                    <p:anim calcmode="lin" valueType="num">
                                      <p:cBhvr additive="base">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3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36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53" presetClass="entr" presetSubtype="16" fill="hold" grpId="0" nodeType="withEffect">
                                  <p:stCondLst>
                                    <p:cond delay="42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ppt_w</p:attrName>
                                        </p:attrNameLst>
                                      </p:cBhvr>
                                      <p:tavLst>
                                        <p:tav tm="0">
                                          <p:val>
                                            <p:fltVal val="0"/>
                                          </p:val>
                                        </p:tav>
                                        <p:tav tm="100000">
                                          <p:val>
                                            <p:strVal val="#ppt_w"/>
                                          </p:val>
                                        </p:tav>
                                      </p:tavLst>
                                    </p:anim>
                                    <p:anim calcmode="lin" valueType="num">
                                      <p:cBhvr additive="base">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par>
                                <p:cTn id="39" presetID="10" presetClass="entr" presetSubtype="0" fill="hold" grpId="0" nodeType="withEffect">
                                  <p:stCondLst>
                                    <p:cond delay="48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48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54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53" presetClass="entr" presetSubtype="16" fill="hold" grpId="0" nodeType="withEffect">
                                  <p:stCondLst>
                                    <p:cond delay="60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ppt_w</p:attrName>
                                        </p:attrNameLst>
                                      </p:cBhvr>
                                      <p:tavLst>
                                        <p:tav tm="0">
                                          <p:val>
                                            <p:fltVal val="0"/>
                                          </p:val>
                                        </p:tav>
                                        <p:tav tm="100000">
                                          <p:val>
                                            <p:strVal val="#ppt_w"/>
                                          </p:val>
                                        </p:tav>
                                      </p:tavLst>
                                    </p:anim>
                                    <p:anim calcmode="lin" valueType="num">
                                      <p:cBhvr additive="base">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66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53" presetClass="entr" presetSubtype="16" fill="hold" grpId="0" nodeType="withEffect">
                                  <p:stCondLst>
                                    <p:cond delay="78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ppt_w</p:attrName>
                                        </p:attrNameLst>
                                      </p:cBhvr>
                                      <p:tavLst>
                                        <p:tav tm="0">
                                          <p:val>
                                            <p:fltVal val="0"/>
                                          </p:val>
                                        </p:tav>
                                        <p:tav tm="100000">
                                          <p:val>
                                            <p:strVal val="#ppt_w"/>
                                          </p:val>
                                        </p:tav>
                                      </p:tavLst>
                                    </p:anim>
                                    <p:anim calcmode="lin" valueType="num">
                                      <p:cBhvr additive="base">
                                        <p:cTn id="65" dur="500" fill="hold"/>
                                        <p:tgtEl>
                                          <p:spTgt spid="22"/>
                                        </p:tgtEl>
                                        <p:attrNameLst>
                                          <p:attrName>ppt_h</p:attrName>
                                        </p:attrNameLst>
                                      </p:cBhvr>
                                      <p:tavLst>
                                        <p:tav tm="0">
                                          <p:val>
                                            <p:fltVal val="0"/>
                                          </p:val>
                                        </p:tav>
                                        <p:tav tm="100000">
                                          <p:val>
                                            <p:strVal val="#ppt_h"/>
                                          </p:val>
                                        </p:tav>
                                      </p:tavLst>
                                    </p:anim>
                                    <p:animEffect transition="in" filter="fade">
                                      <p:cBhvr>
                                        <p:cTn id="66" dur="500"/>
                                        <p:tgtEl>
                                          <p:spTgt spid="22"/>
                                        </p:tgtEl>
                                      </p:cBhvr>
                                    </p:animEffect>
                                  </p:childTnLst>
                                </p:cTn>
                              </p:par>
                              <p:par>
                                <p:cTn id="67" presetID="10" presetClass="entr" presetSubtype="0" fill="hold" grpId="0" nodeType="withEffect">
                                  <p:stCondLst>
                                    <p:cond delay="84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84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90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53" presetClass="entr" presetSubtype="16" fill="hold" grpId="0" nodeType="withEffect">
                                  <p:stCondLst>
                                    <p:cond delay="960"/>
                                  </p:stCondLst>
                                  <p:childTnLst>
                                    <p:set>
                                      <p:cBhvr>
                                        <p:cTn id="77" dur="1" fill="hold">
                                          <p:stCondLst>
                                            <p:cond delay="0"/>
                                          </p:stCondLst>
                                        </p:cTn>
                                        <p:tgtEl>
                                          <p:spTgt spid="26"/>
                                        </p:tgtEl>
                                        <p:attrNameLst>
                                          <p:attrName>style.visibility</p:attrName>
                                        </p:attrNameLst>
                                      </p:cBhvr>
                                      <p:to>
                                        <p:strVal val="visible"/>
                                      </p:to>
                                    </p:set>
                                    <p:anim calcmode="lin" valueType="num">
                                      <p:cBhvr additive="base">
                                        <p:cTn id="78" dur="500" fill="hold"/>
                                        <p:tgtEl>
                                          <p:spTgt spid="26"/>
                                        </p:tgtEl>
                                        <p:attrNameLst>
                                          <p:attrName>ppt_w</p:attrName>
                                        </p:attrNameLst>
                                      </p:cBhvr>
                                      <p:tavLst>
                                        <p:tav tm="0">
                                          <p:val>
                                            <p:fltVal val="0"/>
                                          </p:val>
                                        </p:tav>
                                        <p:tav tm="100000">
                                          <p:val>
                                            <p:strVal val="#ppt_w"/>
                                          </p:val>
                                        </p:tav>
                                      </p:tavLst>
                                    </p:anim>
                                    <p:anim calcmode="lin" valueType="num">
                                      <p:cBhvr additive="base">
                                        <p:cTn id="79" dur="500" fill="hold"/>
                                        <p:tgtEl>
                                          <p:spTgt spid="26"/>
                                        </p:tgtEl>
                                        <p:attrNameLst>
                                          <p:attrName>ppt_h</p:attrName>
                                        </p:attrNameLst>
                                      </p:cBhvr>
                                      <p:tavLst>
                                        <p:tav tm="0">
                                          <p:val>
                                            <p:fltVal val="0"/>
                                          </p:val>
                                        </p:tav>
                                        <p:tav tm="100000">
                                          <p:val>
                                            <p:strVal val="#ppt_h"/>
                                          </p:val>
                                        </p:tav>
                                      </p:tavLst>
                                    </p:anim>
                                    <p:animEffect transition="in" filter="fade">
                                      <p:cBhvr>
                                        <p:cTn id="80" dur="500"/>
                                        <p:tgtEl>
                                          <p:spTgt spid="26"/>
                                        </p:tgtEl>
                                      </p:cBhvr>
                                    </p:animEffect>
                                  </p:childTnLst>
                                </p:cTn>
                              </p:par>
                              <p:par>
                                <p:cTn id="81" presetID="10" presetClass="entr" presetSubtype="0" fill="hold" grpId="0" nodeType="withEffect">
                                  <p:stCondLst>
                                    <p:cond delay="102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102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RECAP</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WSD: same word, different sense</a:t>
            </a:r>
            <a:endParaRPr lang="en-US" sz="2800" dirty="0"/>
          </a:p>
        </p:txBody>
      </p:sp>
      <p:sp>
        <p:nvSpPr>
          <p:cNvPr id="5" name="a1_wipe_0_37"/>
          <p:cNvSpPr/>
          <p:nvPr/>
        </p:nvSpPr>
        <p:spPr>
          <a:xfrm>
            <a:off x="457200" y="1280160"/>
            <a:ext cx="3566160" cy="868680"/>
          </a:xfrm>
          <a:prstGeom prst="roundRect">
            <a:avLst>
              <a:gd name="adj" fmla="val 1263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800" dirty="0">
                <a:solidFill>
                  <a:srgbClr val="22262E"/>
                </a:solidFill>
                <a:latin typeface="Calibri" pitchFamily="34" charset="0"/>
                <a:ea typeface="Calibri" pitchFamily="34" charset="-122"/>
                <a:cs typeface="Calibri" pitchFamily="34" charset="-120"/>
              </a:rPr>
              <a:t>I can hear </a:t>
            </a:r>
            <a:pPr algn="l" indent="0" marL="0">
              <a:buNone/>
            </a:pPr>
            <a:r>
              <a:rPr lang="en-US" sz="1800" b="1" dirty="0">
                <a:solidFill>
                  <a:srgbClr val="22262E"/>
                </a:solidFill>
                <a:latin typeface="Calibri" pitchFamily="34" charset="0"/>
                <a:ea typeface="Calibri" pitchFamily="34" charset="-122"/>
                <a:cs typeface="Calibri" pitchFamily="34" charset="-120"/>
              </a:rPr>
              <a:t>bass</a:t>
            </a:r>
            <a:pPr algn="l" indent="0" marL="0">
              <a:buNone/>
            </a:pPr>
            <a:r>
              <a:rPr lang="en-US" sz="1800" dirty="0">
                <a:solidFill>
                  <a:srgbClr val="22262E"/>
                </a:solidFill>
                <a:latin typeface="Calibri" pitchFamily="34" charset="0"/>
                <a:ea typeface="Calibri" pitchFamily="34" charset="-122"/>
                <a:cs typeface="Calibri" pitchFamily="34" charset="-120"/>
              </a:rPr>
              <a:t> sound.</a:t>
            </a:r>
            <a:endParaRPr lang="en-US" sz="1800" dirty="0"/>
          </a:p>
        </p:txBody>
      </p:sp>
      <p:sp>
        <p:nvSpPr>
          <p:cNvPr id="6" name="a1_fade_300_38"/>
          <p:cNvSpPr/>
          <p:nvPr/>
        </p:nvSpPr>
        <p:spPr>
          <a:xfrm>
            <a:off x="4114800" y="1508760"/>
            <a:ext cx="548640" cy="411480"/>
          </a:xfrm>
          <a:prstGeom prst="rightArrow">
            <a:avLst/>
          </a:prstGeom>
          <a:solidFill>
            <a:srgbClr val="C9D0DC"/>
          </a:solidFill>
          <a:ln/>
        </p:spPr>
      </p:sp>
      <p:sp>
        <p:nvSpPr>
          <p:cNvPr id="7" name="a1_fly_500_39"/>
          <p:cNvSpPr/>
          <p:nvPr/>
        </p:nvSpPr>
        <p:spPr>
          <a:xfrm>
            <a:off x="4754880" y="1280160"/>
            <a:ext cx="3931920" cy="868680"/>
          </a:xfrm>
          <a:prstGeom prst="roundRect">
            <a:avLst>
              <a:gd name="adj" fmla="val 12632"/>
            </a:avLst>
          </a:prstGeom>
          <a:solidFill>
            <a:srgbClr val="1F8A7D"/>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low musical frequency</a:t>
            </a:r>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clue words: hear, sound</a:t>
            </a:r>
            <a:endParaRPr lang="en-US" sz="1500" dirty="0"/>
          </a:p>
        </p:txBody>
      </p:sp>
      <p:sp>
        <p:nvSpPr>
          <p:cNvPr id="8" name="a2_wipe_0_40"/>
          <p:cNvSpPr/>
          <p:nvPr/>
        </p:nvSpPr>
        <p:spPr>
          <a:xfrm>
            <a:off x="457200" y="2468880"/>
            <a:ext cx="3566160" cy="868680"/>
          </a:xfrm>
          <a:prstGeom prst="roundRect">
            <a:avLst>
              <a:gd name="adj" fmla="val 1263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800" dirty="0">
                <a:solidFill>
                  <a:srgbClr val="22262E"/>
                </a:solidFill>
                <a:latin typeface="Calibri" pitchFamily="34" charset="0"/>
                <a:ea typeface="Calibri" pitchFamily="34" charset="-122"/>
                <a:cs typeface="Calibri" pitchFamily="34" charset="-120"/>
              </a:rPr>
              <a:t>He likes to eat grilled </a:t>
            </a:r>
            <a:pPr algn="l" indent="0" marL="0">
              <a:buNone/>
            </a:pPr>
            <a:r>
              <a:rPr lang="en-US" sz="1800" b="1" dirty="0">
                <a:solidFill>
                  <a:srgbClr val="22262E"/>
                </a:solidFill>
                <a:latin typeface="Calibri" pitchFamily="34" charset="0"/>
                <a:ea typeface="Calibri" pitchFamily="34" charset="-122"/>
                <a:cs typeface="Calibri" pitchFamily="34" charset="-120"/>
              </a:rPr>
              <a:t>bass</a:t>
            </a:r>
            <a:pPr algn="l" indent="0" marL="0">
              <a:buNone/>
            </a:pPr>
            <a:r>
              <a:rPr lang="en-US" sz="1800" dirty="0">
                <a:solidFill>
                  <a:srgbClr val="22262E"/>
                </a:solidFill>
                <a:latin typeface="Calibri" pitchFamily="34" charset="0"/>
                <a:ea typeface="Calibri" pitchFamily="34" charset="-122"/>
                <a:cs typeface="Calibri" pitchFamily="34" charset="-120"/>
              </a:rPr>
              <a:t>.</a:t>
            </a:r>
            <a:endParaRPr lang="en-US" sz="1800" dirty="0"/>
          </a:p>
        </p:txBody>
      </p:sp>
      <p:sp>
        <p:nvSpPr>
          <p:cNvPr id="9" name="a2_fade_300_41"/>
          <p:cNvSpPr/>
          <p:nvPr/>
        </p:nvSpPr>
        <p:spPr>
          <a:xfrm>
            <a:off x="4114800" y="2697480"/>
            <a:ext cx="548640" cy="411480"/>
          </a:xfrm>
          <a:prstGeom prst="rightArrow">
            <a:avLst/>
          </a:prstGeom>
          <a:solidFill>
            <a:srgbClr val="C9D0DC"/>
          </a:solidFill>
          <a:ln/>
        </p:spPr>
      </p:sp>
      <p:sp>
        <p:nvSpPr>
          <p:cNvPr id="10" name="a2_fly_500_42"/>
          <p:cNvSpPr/>
          <p:nvPr/>
        </p:nvSpPr>
        <p:spPr>
          <a:xfrm>
            <a:off x="4754880" y="2468880"/>
            <a:ext cx="3931920" cy="868680"/>
          </a:xfrm>
          <a:prstGeom prst="roundRect">
            <a:avLst>
              <a:gd name="adj" fmla="val 12632"/>
            </a:avLst>
          </a:prstGeom>
          <a:solidFill>
            <a:srgbClr val="D9503A"/>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a fish</a:t>
            </a:r>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clue words: eat, grilled</a:t>
            </a:r>
            <a:endParaRPr lang="en-US" sz="1500" dirty="0"/>
          </a:p>
        </p:txBody>
      </p:sp>
      <p:sp>
        <p:nvSpPr>
          <p:cNvPr id="11" name="a3_fade_0_43"/>
          <p:cNvSpPr/>
          <p:nvPr/>
        </p:nvSpPr>
        <p:spPr>
          <a:xfrm>
            <a:off x="457200" y="3749040"/>
            <a:ext cx="8229600" cy="685800"/>
          </a:xfrm>
          <a:prstGeom prst="roundRect">
            <a:avLst>
              <a:gd name="adj" fmla="val 16000"/>
            </a:avLst>
          </a:prstGeom>
          <a:solidFill>
            <a:srgbClr val="FFF0C7"/>
          </a:solidFill>
          <a:ln w="12700">
            <a:solidFill>
              <a:srgbClr val="F4A300"/>
            </a:solidFill>
          </a:ln>
        </p:spPr>
        <p:txBody>
          <a:bodyPr wrap="square" lIns="76810" tIns="128016" rIns="128016" bIns="76810" rtlCol="0" anchor="ctr"/>
          <a:lstStyle/>
          <a:p>
            <a:pPr algn="l" indent="0" marL="0">
              <a:buNone/>
            </a:pPr>
            <a:r>
              <a:rPr lang="en-US" sz="1600" dirty="0">
                <a:solidFill>
                  <a:srgbClr val="22262E"/>
                </a:solidFill>
                <a:latin typeface="Calibri" pitchFamily="34" charset="0"/>
                <a:ea typeface="Calibri" pitchFamily="34" charset="-122"/>
                <a:cs typeface="Calibri" pitchFamily="34" charset="-120"/>
              </a:rPr>
              <a:t>Lesk's question: can a </a:t>
            </a:r>
            <a:pPr algn="l" indent="0" marL="0">
              <a:buNone/>
            </a:pPr>
            <a:r>
              <a:rPr lang="en-US" sz="1600" b="1" dirty="0">
                <a:solidFill>
                  <a:srgbClr val="22262E"/>
                </a:solidFill>
                <a:latin typeface="Calibri" pitchFamily="34" charset="0"/>
                <a:ea typeface="Calibri" pitchFamily="34" charset="-122"/>
                <a:cs typeface="Calibri" pitchFamily="34" charset="-120"/>
              </a:rPr>
              <a:t>dictionary</a:t>
            </a:r>
            <a:pPr algn="l" indent="0" marL="0">
              <a:buNone/>
            </a:pPr>
            <a:r>
              <a:rPr lang="en-US" sz="1600" dirty="0">
                <a:solidFill>
                  <a:srgbClr val="22262E"/>
                </a:solidFill>
                <a:latin typeface="Calibri" pitchFamily="34" charset="0"/>
                <a:ea typeface="Calibri" pitchFamily="34" charset="-122"/>
                <a:cs typeface="Calibri" pitchFamily="34" charset="-120"/>
              </a:rPr>
              <a:t> tell us which clue words belong to which sense?</a:t>
            </a:r>
            <a:endParaRPr lang="en-US" sz="1600" dirty="0"/>
          </a:p>
        </p:txBody>
      </p:sp>
      <p:sp>
        <p:nvSpPr>
          <p:cNvPr id="12" name="Text 9"/>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par>
                                <p:cTn id="6" presetID="10" presetClass="entr" presetSubtype="0" fill="hold" grpId="0" nodeType="withEffect">
                                  <p:stCondLst>
                                    <p:cond delay="3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2" presetClass="entr" presetSubtype="4"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10" presetClass="entr" presetSubtype="0" fill="hold" grpId="0" nodeType="withEffect">
                                  <p:stCondLst>
                                    <p:cond delay="3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2" presetClass="entr" presetSubtype="4" fill="hold" grpId="0" nodeType="withEffect">
                                  <p:stCondLst>
                                    <p:cond delay="5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BIG PICTURE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Where Lesk fits among WSD methods</a:t>
            </a:r>
            <a:endParaRPr lang="en-US" sz="2800" dirty="0"/>
          </a:p>
        </p:txBody>
      </p:sp>
      <p:sp>
        <p:nvSpPr>
          <p:cNvPr id="5" name="a1_fade_0_44"/>
          <p:cNvSpPr/>
          <p:nvPr/>
        </p:nvSpPr>
        <p:spPr>
          <a:xfrm>
            <a:off x="457200" y="1280160"/>
            <a:ext cx="1938528" cy="3017520"/>
          </a:xfrm>
          <a:prstGeom prst="roundRect">
            <a:avLst>
              <a:gd name="adj" fmla="val 5660"/>
            </a:avLst>
          </a:prstGeom>
          <a:solidFill>
            <a:srgbClr val="FFF0C7"/>
          </a:solidFill>
          <a:ln w="12700">
            <a:solidFill>
              <a:srgbClr val="F4A30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6" name="a1_fade_100_45"/>
          <p:cNvSpPr txBox="1"/>
          <p:nvPr/>
        </p:nvSpPr>
        <p:spPr>
          <a:xfrm>
            <a:off x="594360" y="1463040"/>
            <a:ext cx="1691640" cy="548640"/>
          </a:xfrm>
          <a:prstGeom prst="rect">
            <a:avLst/>
          </a:prstGeom>
          <a:noFill/>
          <a:ln/>
        </p:spPr>
        <p:txBody>
          <a:bodyPr wrap="square" lIns="0" tIns="0" rIns="0" bIns="0" rtlCol="0" anchor="t"/>
          <a:lstStyle/>
          <a:p>
            <a:pPr indent="0" marL="0">
              <a:buNone/>
            </a:pPr>
            <a:r>
              <a:rPr lang="en-US" sz="1700" b="1" dirty="0">
                <a:solidFill>
                  <a:srgbClr val="1B2A49"/>
                </a:solidFill>
                <a:latin typeface="Cambria" pitchFamily="34" charset="0"/>
                <a:ea typeface="Cambria" pitchFamily="34" charset="-122"/>
                <a:cs typeface="Cambria" pitchFamily="34" charset="-120"/>
              </a:rPr>
              <a:t>Dictionary-based</a:t>
            </a:r>
            <a:endParaRPr lang="en-US" sz="1700" dirty="0"/>
          </a:p>
        </p:txBody>
      </p:sp>
      <p:sp>
        <p:nvSpPr>
          <p:cNvPr id="7" name="a1_fade_100_46"/>
          <p:cNvSpPr txBox="1"/>
          <p:nvPr/>
        </p:nvSpPr>
        <p:spPr>
          <a:xfrm>
            <a:off x="594360" y="2194560"/>
            <a:ext cx="1691640" cy="64008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Lesk</a:t>
            </a:r>
            <a:endParaRPr lang="en-US" sz="1300" dirty="0"/>
          </a:p>
        </p:txBody>
      </p:sp>
      <p:sp>
        <p:nvSpPr>
          <p:cNvPr id="8" name="a1_fade_100_47"/>
          <p:cNvSpPr txBox="1"/>
          <p:nvPr/>
        </p:nvSpPr>
        <p:spPr>
          <a:xfrm>
            <a:off x="594360" y="3017520"/>
            <a:ext cx="1691640" cy="10058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Needs a dictionary / WordNet. No labelled data.</a:t>
            </a:r>
            <a:endParaRPr lang="en-US" sz="1200" dirty="0"/>
          </a:p>
        </p:txBody>
      </p:sp>
      <p:sp>
        <p:nvSpPr>
          <p:cNvPr id="9" name="a1_fade_220_48"/>
          <p:cNvSpPr/>
          <p:nvPr/>
        </p:nvSpPr>
        <p:spPr>
          <a:xfrm>
            <a:off x="2542032" y="1280160"/>
            <a:ext cx="1938528" cy="30175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0" name="a1_fade_320_49"/>
          <p:cNvSpPr txBox="1"/>
          <p:nvPr/>
        </p:nvSpPr>
        <p:spPr>
          <a:xfrm>
            <a:off x="2679192" y="1463040"/>
            <a:ext cx="1691640" cy="548640"/>
          </a:xfrm>
          <a:prstGeom prst="rect">
            <a:avLst/>
          </a:prstGeom>
          <a:noFill/>
          <a:ln/>
        </p:spPr>
        <p:txBody>
          <a:bodyPr wrap="square" lIns="0" tIns="0" rIns="0" bIns="0" rtlCol="0" anchor="t"/>
          <a:lstStyle/>
          <a:p>
            <a:pPr indent="0" marL="0">
              <a:buNone/>
            </a:pPr>
            <a:r>
              <a:rPr lang="en-US" sz="1700" b="1" dirty="0">
                <a:solidFill>
                  <a:srgbClr val="1B2A49"/>
                </a:solidFill>
                <a:latin typeface="Cambria" pitchFamily="34" charset="0"/>
                <a:ea typeface="Cambria" pitchFamily="34" charset="-122"/>
                <a:cs typeface="Cambria" pitchFamily="34" charset="-120"/>
              </a:rPr>
              <a:t>Supervised</a:t>
            </a:r>
            <a:endParaRPr lang="en-US" sz="1700" dirty="0"/>
          </a:p>
        </p:txBody>
      </p:sp>
      <p:sp>
        <p:nvSpPr>
          <p:cNvPr id="11" name="a1_fade_320_50"/>
          <p:cNvSpPr txBox="1"/>
          <p:nvPr/>
        </p:nvSpPr>
        <p:spPr>
          <a:xfrm>
            <a:off x="2679192" y="2194560"/>
            <a:ext cx="1691640" cy="640080"/>
          </a:xfrm>
          <a:prstGeom prst="rect">
            <a:avLst/>
          </a:prstGeom>
          <a:noFill/>
          <a:ln/>
        </p:spPr>
        <p:txBody>
          <a:bodyPr wrap="square" lIns="0" tIns="0" rIns="0" bIns="0" rtlCol="0" anchor="t"/>
          <a:lstStyle/>
          <a:p>
            <a:pPr indent="0" marL="0">
              <a:buNone/>
            </a:pPr>
            <a:r>
              <a:rPr lang="en-US" sz="1300" b="1" dirty="0">
                <a:solidFill>
                  <a:srgbClr val="1F8A7D"/>
                </a:solidFill>
                <a:latin typeface="Calibri" pitchFamily="34" charset="0"/>
                <a:ea typeface="Calibri" pitchFamily="34" charset="-122"/>
                <a:cs typeface="Calibri" pitchFamily="34" charset="-120"/>
              </a:rPr>
              <a:t>Naive Bayes, decision lists, SVM</a:t>
            </a:r>
            <a:endParaRPr lang="en-US" sz="1300" dirty="0"/>
          </a:p>
        </p:txBody>
      </p:sp>
      <p:sp>
        <p:nvSpPr>
          <p:cNvPr id="12" name="a1_fade_320_51"/>
          <p:cNvSpPr txBox="1"/>
          <p:nvPr/>
        </p:nvSpPr>
        <p:spPr>
          <a:xfrm>
            <a:off x="2679192" y="3017520"/>
            <a:ext cx="1691640" cy="10058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Needs a sense-tagged corpus (SemCor).</a:t>
            </a:r>
            <a:endParaRPr lang="en-US" sz="1200" dirty="0"/>
          </a:p>
        </p:txBody>
      </p:sp>
      <p:sp>
        <p:nvSpPr>
          <p:cNvPr id="13" name="a1_fade_440_52"/>
          <p:cNvSpPr/>
          <p:nvPr/>
        </p:nvSpPr>
        <p:spPr>
          <a:xfrm>
            <a:off x="4626864" y="1280160"/>
            <a:ext cx="1938528" cy="30175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4" name="a1_fade_540_53"/>
          <p:cNvSpPr txBox="1"/>
          <p:nvPr/>
        </p:nvSpPr>
        <p:spPr>
          <a:xfrm>
            <a:off x="4764024" y="1463040"/>
            <a:ext cx="1691640" cy="548640"/>
          </a:xfrm>
          <a:prstGeom prst="rect">
            <a:avLst/>
          </a:prstGeom>
          <a:noFill/>
          <a:ln/>
        </p:spPr>
        <p:txBody>
          <a:bodyPr wrap="square" lIns="0" tIns="0" rIns="0" bIns="0" rtlCol="0" anchor="t"/>
          <a:lstStyle/>
          <a:p>
            <a:pPr indent="0" marL="0">
              <a:buNone/>
            </a:pPr>
            <a:r>
              <a:rPr lang="en-US" sz="1700" b="1" dirty="0">
                <a:solidFill>
                  <a:srgbClr val="1B2A49"/>
                </a:solidFill>
                <a:latin typeface="Cambria" pitchFamily="34" charset="0"/>
                <a:ea typeface="Cambria" pitchFamily="34" charset="-122"/>
                <a:cs typeface="Cambria" pitchFamily="34" charset="-120"/>
              </a:rPr>
              <a:t>Semi-supervised</a:t>
            </a:r>
            <a:endParaRPr lang="en-US" sz="1700" dirty="0"/>
          </a:p>
        </p:txBody>
      </p:sp>
      <p:sp>
        <p:nvSpPr>
          <p:cNvPr id="15" name="a1_fade_540_54"/>
          <p:cNvSpPr txBox="1"/>
          <p:nvPr/>
        </p:nvSpPr>
        <p:spPr>
          <a:xfrm>
            <a:off x="4764024" y="2194560"/>
            <a:ext cx="1691640" cy="640080"/>
          </a:xfrm>
          <a:prstGeom prst="rect">
            <a:avLst/>
          </a:prstGeom>
          <a:noFill/>
          <a:ln/>
        </p:spPr>
        <p:txBody>
          <a:bodyPr wrap="square" lIns="0" tIns="0" rIns="0" bIns="0" rtlCol="0" anchor="t"/>
          <a:lstStyle/>
          <a:p>
            <a:pPr indent="0" marL="0">
              <a:buNone/>
            </a:pPr>
            <a:r>
              <a:rPr lang="en-US" sz="1300" b="1" dirty="0">
                <a:solidFill>
                  <a:srgbClr val="1F8A7D"/>
                </a:solidFill>
                <a:latin typeface="Calibri" pitchFamily="34" charset="0"/>
                <a:ea typeface="Calibri" pitchFamily="34" charset="-122"/>
                <a:cs typeface="Calibri" pitchFamily="34" charset="-120"/>
              </a:rPr>
              <a:t>Yarowsky bootstrapping</a:t>
            </a:r>
            <a:endParaRPr lang="en-US" sz="1300" dirty="0"/>
          </a:p>
        </p:txBody>
      </p:sp>
      <p:sp>
        <p:nvSpPr>
          <p:cNvPr id="16" name="a1_fade_540_55"/>
          <p:cNvSpPr txBox="1"/>
          <p:nvPr/>
        </p:nvSpPr>
        <p:spPr>
          <a:xfrm>
            <a:off x="4764024" y="3017520"/>
            <a:ext cx="1691640" cy="10058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A few seeds plus raw text.</a:t>
            </a:r>
            <a:endParaRPr lang="en-US" sz="1200" dirty="0"/>
          </a:p>
        </p:txBody>
      </p:sp>
      <p:sp>
        <p:nvSpPr>
          <p:cNvPr id="17" name="a1_fade_660_56"/>
          <p:cNvSpPr/>
          <p:nvPr/>
        </p:nvSpPr>
        <p:spPr>
          <a:xfrm>
            <a:off x="6711696" y="1280160"/>
            <a:ext cx="1938528" cy="30175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8" name="a1_fade_760_57"/>
          <p:cNvSpPr txBox="1"/>
          <p:nvPr/>
        </p:nvSpPr>
        <p:spPr>
          <a:xfrm>
            <a:off x="6848856" y="1463040"/>
            <a:ext cx="1691640" cy="548640"/>
          </a:xfrm>
          <a:prstGeom prst="rect">
            <a:avLst/>
          </a:prstGeom>
          <a:noFill/>
          <a:ln/>
        </p:spPr>
        <p:txBody>
          <a:bodyPr wrap="square" lIns="0" tIns="0" rIns="0" bIns="0" rtlCol="0" anchor="t"/>
          <a:lstStyle/>
          <a:p>
            <a:pPr indent="0" marL="0">
              <a:buNone/>
            </a:pPr>
            <a:r>
              <a:rPr lang="en-US" sz="1700" b="1" dirty="0">
                <a:solidFill>
                  <a:srgbClr val="1B2A49"/>
                </a:solidFill>
                <a:latin typeface="Cambria" pitchFamily="34" charset="0"/>
                <a:ea typeface="Cambria" pitchFamily="34" charset="-122"/>
                <a:cs typeface="Cambria" pitchFamily="34" charset="-120"/>
              </a:rPr>
              <a:t>Unsupervised</a:t>
            </a:r>
            <a:endParaRPr lang="en-US" sz="1700" dirty="0"/>
          </a:p>
        </p:txBody>
      </p:sp>
      <p:sp>
        <p:nvSpPr>
          <p:cNvPr id="19" name="a1_fade_760_58"/>
          <p:cNvSpPr txBox="1"/>
          <p:nvPr/>
        </p:nvSpPr>
        <p:spPr>
          <a:xfrm>
            <a:off x="6848856" y="2194560"/>
            <a:ext cx="1691640" cy="640080"/>
          </a:xfrm>
          <a:prstGeom prst="rect">
            <a:avLst/>
          </a:prstGeom>
          <a:noFill/>
          <a:ln/>
        </p:spPr>
        <p:txBody>
          <a:bodyPr wrap="square" lIns="0" tIns="0" rIns="0" bIns="0" rtlCol="0" anchor="t"/>
          <a:lstStyle/>
          <a:p>
            <a:pPr indent="0" marL="0">
              <a:buNone/>
            </a:pPr>
            <a:r>
              <a:rPr lang="en-US" sz="1300" b="1" dirty="0">
                <a:solidFill>
                  <a:srgbClr val="1F8A7D"/>
                </a:solidFill>
                <a:latin typeface="Calibri" pitchFamily="34" charset="0"/>
                <a:ea typeface="Calibri" pitchFamily="34" charset="-122"/>
                <a:cs typeface="Calibri" pitchFamily="34" charset="-120"/>
              </a:rPr>
              <a:t>Context clustering, Hyperlex</a:t>
            </a:r>
            <a:endParaRPr lang="en-US" sz="1300" dirty="0"/>
          </a:p>
        </p:txBody>
      </p:sp>
      <p:sp>
        <p:nvSpPr>
          <p:cNvPr id="20" name="a1_fade_760_59"/>
          <p:cNvSpPr txBox="1"/>
          <p:nvPr/>
        </p:nvSpPr>
        <p:spPr>
          <a:xfrm>
            <a:off x="6848856" y="3017520"/>
            <a:ext cx="1691640" cy="10058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Raw text only; induces senses.</a:t>
            </a:r>
            <a:endParaRPr lang="en-US" sz="1200" dirty="0"/>
          </a:p>
        </p:txBody>
      </p:sp>
      <p:sp>
        <p:nvSpPr>
          <p:cNvPr id="21" name="a2_zoom_0_60"/>
          <p:cNvSpPr/>
          <p:nvPr/>
        </p:nvSpPr>
        <p:spPr>
          <a:xfrm>
            <a:off x="594360" y="1051560"/>
            <a:ext cx="822960" cy="274320"/>
          </a:xfrm>
          <a:prstGeom prst="roundRect">
            <a:avLst>
              <a:gd name="adj" fmla="val 50000"/>
            </a:avLst>
          </a:prstGeom>
          <a:solidFill>
            <a:srgbClr val="F4A300"/>
          </a:solidFill>
          <a:ln/>
        </p:spPr>
        <p:txBody>
          <a:bodyPr wrap="square" lIns="76810" tIns="128016" rIns="128016" bIns="76810" rtlCol="0" anchor="ctr"/>
          <a:lstStyle/>
          <a:p>
            <a:pPr algn="ctr" indent="0" marL="0">
              <a:buNone/>
            </a:pPr>
            <a:r>
              <a:rPr lang="en-US" sz="1100" b="1" dirty="0">
                <a:solidFill>
                  <a:srgbClr val="22262E"/>
                </a:solidFill>
                <a:latin typeface="Calibri" pitchFamily="34" charset="0"/>
                <a:ea typeface="Calibri" pitchFamily="34" charset="-122"/>
                <a:cs typeface="Calibri" pitchFamily="34" charset="-120"/>
              </a:rPr>
              <a:t>Today</a:t>
            </a:r>
            <a:endParaRPr lang="en-US" sz="1100" dirty="0"/>
          </a:p>
        </p:txBody>
      </p:sp>
      <p:sp>
        <p:nvSpPr>
          <p:cNvPr id="22" name="Text 19"/>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3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3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4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54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54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54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76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76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76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ppt_w</p:attrName>
                                        </p:attrNameLst>
                                      </p:cBhvr>
                                      <p:tavLst>
                                        <p:tav tm="0">
                                          <p:val>
                                            <p:fltVal val="0"/>
                                          </p:val>
                                        </p:tav>
                                        <p:tav tm="100000">
                                          <p:val>
                                            <p:strVal val="#ppt_w"/>
                                          </p:val>
                                        </p:tav>
                                      </p:tavLst>
                                    </p:anim>
                                    <p:anim calcmode="lin" valueType="num">
                                      <p:cBhvr additive="base">
                                        <p:cTn id="56" dur="500" fill="hold"/>
                                        <p:tgtEl>
                                          <p:spTgt spid="21"/>
                                        </p:tgtEl>
                                        <p:attrNameLst>
                                          <p:attrName>ppt_h</p:attrName>
                                        </p:attrNameLst>
                                      </p:cBhvr>
                                      <p:tavLst>
                                        <p:tav tm="0">
                                          <p:val>
                                            <p:fltVal val="0"/>
                                          </p:val>
                                        </p:tav>
                                        <p:tav tm="100000">
                                          <p:val>
                                            <p:strVal val="#ppt_h"/>
                                          </p:val>
                                        </p:tav>
                                      </p:tavLst>
                                    </p:anim>
                                    <p:animEffect transition="in" filter="fad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THE BIG IDEA</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Words used together have related definitions</a:t>
            </a:r>
            <a:endParaRPr lang="en-US" sz="2800" dirty="0"/>
          </a:p>
        </p:txBody>
      </p:sp>
      <p:sp>
        <p:nvSpPr>
          <p:cNvPr id="5" name="a1_wipe_0_61"/>
          <p:cNvSpPr/>
          <p:nvPr/>
        </p:nvSpPr>
        <p:spPr>
          <a:xfrm>
            <a:off x="457200" y="1188720"/>
            <a:ext cx="8229600" cy="868680"/>
          </a:xfrm>
          <a:prstGeom prst="roundRect">
            <a:avLst>
              <a:gd name="adj" fmla="val 12632"/>
            </a:avLst>
          </a:prstGeom>
          <a:solidFill>
            <a:srgbClr val="1B2A49"/>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900" dirty="0">
                <a:solidFill>
                  <a:srgbClr val="FFFFFF"/>
                </a:solidFill>
                <a:latin typeface="Calibri" pitchFamily="34" charset="0"/>
                <a:ea typeface="Calibri" pitchFamily="34" charset="-122"/>
                <a:cs typeface="Calibri" pitchFamily="34" charset="-120"/>
              </a:rPr>
              <a:t>If a sense's </a:t>
            </a:r>
            <a:pPr algn="l" indent="0" marL="0">
              <a:buNone/>
            </a:pPr>
            <a:r>
              <a:rPr lang="en-US" sz="1900" b="1" dirty="0">
                <a:solidFill>
                  <a:srgbClr val="FFFFFF"/>
                </a:solidFill>
                <a:latin typeface="Calibri" pitchFamily="34" charset="0"/>
                <a:ea typeface="Calibri" pitchFamily="34" charset="-122"/>
                <a:cs typeface="Calibri" pitchFamily="34" charset="-120"/>
              </a:rPr>
              <a:t>definition shares words</a:t>
            </a:r>
            <a:pPr algn="l" indent="0" marL="0">
              <a:buNone/>
            </a:pPr>
            <a:r>
              <a:rPr lang="en-US" sz="1900" dirty="0">
                <a:solidFill>
                  <a:srgbClr val="FFFFFF"/>
                </a:solidFill>
                <a:latin typeface="Calibri" pitchFamily="34" charset="0"/>
                <a:ea typeface="Calibri" pitchFamily="34" charset="-122"/>
                <a:cs typeface="Calibri" pitchFamily="34" charset="-120"/>
              </a:rPr>
              <a:t> with the sentence around the target, that sense is probably the one in use.</a:t>
            </a:r>
            <a:endParaRPr lang="en-US" sz="1900" dirty="0"/>
          </a:p>
        </p:txBody>
      </p:sp>
      <p:sp>
        <p:nvSpPr>
          <p:cNvPr id="6" name="a2_fade_0_62"/>
          <p:cNvSpPr/>
          <p:nvPr/>
        </p:nvSpPr>
        <p:spPr>
          <a:xfrm>
            <a:off x="457200" y="2377440"/>
            <a:ext cx="1938528" cy="21031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7" name="a2_fade_100_63"/>
          <p:cNvSpPr txBox="1"/>
          <p:nvPr/>
        </p:nvSpPr>
        <p:spPr>
          <a:xfrm>
            <a:off x="594360" y="2514600"/>
            <a:ext cx="1691640" cy="365760"/>
          </a:xfrm>
          <a:prstGeom prst="rect">
            <a:avLst/>
          </a:prstGeom>
          <a:noFill/>
          <a:ln/>
        </p:spPr>
        <p:txBody>
          <a:bodyPr wrap="square" lIns="0" tIns="0" rIns="0" bIns="0" rtlCol="0" anchor="t"/>
          <a:lstStyle/>
          <a:p>
            <a:pPr indent="0" marL="0">
              <a:buNone/>
            </a:pPr>
            <a:r>
              <a:rPr lang="en-US" sz="2200" b="1" dirty="0">
                <a:solidFill>
                  <a:srgbClr val="1F8A7D"/>
                </a:solidFill>
                <a:latin typeface="Cambria" pitchFamily="34" charset="0"/>
                <a:ea typeface="Cambria" pitchFamily="34" charset="-122"/>
                <a:cs typeface="Cambria" pitchFamily="34" charset="-120"/>
              </a:rPr>
              <a:t>1986</a:t>
            </a:r>
            <a:endParaRPr lang="en-US" sz="2200" dirty="0"/>
          </a:p>
        </p:txBody>
      </p:sp>
      <p:sp>
        <p:nvSpPr>
          <p:cNvPr id="8" name="a2_fade_100_64"/>
          <p:cNvSpPr txBox="1"/>
          <p:nvPr/>
        </p:nvSpPr>
        <p:spPr>
          <a:xfrm>
            <a:off x="594360" y="2926080"/>
            <a:ext cx="1691640" cy="457200"/>
          </a:xfrm>
          <a:prstGeom prst="rect">
            <a:avLst/>
          </a:prstGeom>
          <a:noFill/>
          <a:ln/>
        </p:spPr>
        <p:txBody>
          <a:bodyPr wrap="square" lIns="0" tIns="0" rIns="0" bIns="0" rtlCol="0" anchor="t"/>
          <a:lstStyle/>
          <a:p>
            <a:pPr indent="0" marL="0">
              <a:buNone/>
            </a:pPr>
            <a:r>
              <a:rPr lang="en-US" sz="1300" b="1" dirty="0">
                <a:solidFill>
                  <a:srgbClr val="1B2A49"/>
                </a:solidFill>
                <a:latin typeface="Calibri" pitchFamily="34" charset="0"/>
                <a:ea typeface="Calibri" pitchFamily="34" charset="-122"/>
                <a:cs typeface="Calibri" pitchFamily="34" charset="-120"/>
              </a:rPr>
              <a:t>Lesk</a:t>
            </a:r>
            <a:endParaRPr lang="en-US" sz="1300" dirty="0"/>
          </a:p>
        </p:txBody>
      </p:sp>
      <p:sp>
        <p:nvSpPr>
          <p:cNvPr id="9" name="a2_fade_100_65"/>
          <p:cNvSpPr txBox="1"/>
          <p:nvPr/>
        </p:nvSpPr>
        <p:spPr>
          <a:xfrm>
            <a:off x="594360" y="3474720"/>
            <a:ext cx="1691640" cy="91440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Original: definitions of target vs definitions of context words</a:t>
            </a:r>
            <a:endParaRPr lang="en-US" sz="1150" dirty="0"/>
          </a:p>
        </p:txBody>
      </p:sp>
      <p:sp>
        <p:nvSpPr>
          <p:cNvPr id="10" name="a2_fade_250_66"/>
          <p:cNvSpPr/>
          <p:nvPr/>
        </p:nvSpPr>
        <p:spPr>
          <a:xfrm>
            <a:off x="2542032" y="2377440"/>
            <a:ext cx="1938528" cy="21031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1" name="a2_fade_350_67"/>
          <p:cNvSpPr txBox="1"/>
          <p:nvPr/>
        </p:nvSpPr>
        <p:spPr>
          <a:xfrm>
            <a:off x="2679192" y="2514600"/>
            <a:ext cx="1691640" cy="365760"/>
          </a:xfrm>
          <a:prstGeom prst="rect">
            <a:avLst/>
          </a:prstGeom>
          <a:noFill/>
          <a:ln/>
        </p:spPr>
        <p:txBody>
          <a:bodyPr wrap="square" lIns="0" tIns="0" rIns="0" bIns="0" rtlCol="0" anchor="t"/>
          <a:lstStyle/>
          <a:p>
            <a:pPr indent="0" marL="0">
              <a:buNone/>
            </a:pPr>
            <a:r>
              <a:rPr lang="en-US" sz="2200" b="1" dirty="0">
                <a:solidFill>
                  <a:srgbClr val="1F8A7D"/>
                </a:solidFill>
                <a:latin typeface="Cambria" pitchFamily="34" charset="0"/>
                <a:ea typeface="Cambria" pitchFamily="34" charset="-122"/>
                <a:cs typeface="Cambria" pitchFamily="34" charset="-120"/>
              </a:rPr>
              <a:t>2000</a:t>
            </a:r>
            <a:endParaRPr lang="en-US" sz="2200" dirty="0"/>
          </a:p>
        </p:txBody>
      </p:sp>
      <p:sp>
        <p:nvSpPr>
          <p:cNvPr id="12" name="a2_fade_350_68"/>
          <p:cNvSpPr txBox="1"/>
          <p:nvPr/>
        </p:nvSpPr>
        <p:spPr>
          <a:xfrm>
            <a:off x="2679192" y="2926080"/>
            <a:ext cx="1691640" cy="457200"/>
          </a:xfrm>
          <a:prstGeom prst="rect">
            <a:avLst/>
          </a:prstGeom>
          <a:noFill/>
          <a:ln/>
        </p:spPr>
        <p:txBody>
          <a:bodyPr wrap="square" lIns="0" tIns="0" rIns="0" bIns="0" rtlCol="0" anchor="t"/>
          <a:lstStyle/>
          <a:p>
            <a:pPr indent="0" marL="0">
              <a:buNone/>
            </a:pPr>
            <a:r>
              <a:rPr lang="en-US" sz="1300" b="1" dirty="0">
                <a:solidFill>
                  <a:srgbClr val="1B2A49"/>
                </a:solidFill>
                <a:latin typeface="Calibri" pitchFamily="34" charset="0"/>
                <a:ea typeface="Calibri" pitchFamily="34" charset="-122"/>
                <a:cs typeface="Calibri" pitchFamily="34" charset="-120"/>
              </a:rPr>
              <a:t>Kilgarriff &amp; Rosenzweig</a:t>
            </a:r>
            <a:endParaRPr lang="en-US" sz="1300" dirty="0"/>
          </a:p>
        </p:txBody>
      </p:sp>
      <p:sp>
        <p:nvSpPr>
          <p:cNvPr id="13" name="a2_fade_350_69"/>
          <p:cNvSpPr txBox="1"/>
          <p:nvPr/>
        </p:nvSpPr>
        <p:spPr>
          <a:xfrm>
            <a:off x="2679192" y="3474720"/>
            <a:ext cx="1691640" cy="91440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Simplified: target definitions vs context words</a:t>
            </a:r>
            <a:endParaRPr lang="en-US" sz="1150" dirty="0"/>
          </a:p>
        </p:txBody>
      </p:sp>
      <p:sp>
        <p:nvSpPr>
          <p:cNvPr id="14" name="a2_fade_500_70"/>
          <p:cNvSpPr/>
          <p:nvPr/>
        </p:nvSpPr>
        <p:spPr>
          <a:xfrm>
            <a:off x="4626864" y="2377440"/>
            <a:ext cx="1938528" cy="21031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5" name="a2_fade_600_71"/>
          <p:cNvSpPr txBox="1"/>
          <p:nvPr/>
        </p:nvSpPr>
        <p:spPr>
          <a:xfrm>
            <a:off x="4764024" y="2514600"/>
            <a:ext cx="1691640" cy="365760"/>
          </a:xfrm>
          <a:prstGeom prst="rect">
            <a:avLst/>
          </a:prstGeom>
          <a:noFill/>
          <a:ln/>
        </p:spPr>
        <p:txBody>
          <a:bodyPr wrap="square" lIns="0" tIns="0" rIns="0" bIns="0" rtlCol="0" anchor="t"/>
          <a:lstStyle/>
          <a:p>
            <a:pPr indent="0" marL="0">
              <a:buNone/>
            </a:pPr>
            <a:r>
              <a:rPr lang="en-US" sz="2200" b="1" dirty="0">
                <a:solidFill>
                  <a:srgbClr val="1F8A7D"/>
                </a:solidFill>
                <a:latin typeface="Cambria" pitchFamily="34" charset="0"/>
                <a:ea typeface="Cambria" pitchFamily="34" charset="-122"/>
                <a:cs typeface="Cambria" pitchFamily="34" charset="-120"/>
              </a:rPr>
              <a:t>2002-03</a:t>
            </a:r>
            <a:endParaRPr lang="en-US" sz="2200" dirty="0"/>
          </a:p>
        </p:txBody>
      </p:sp>
      <p:sp>
        <p:nvSpPr>
          <p:cNvPr id="16" name="a2_fade_600_72"/>
          <p:cNvSpPr txBox="1"/>
          <p:nvPr/>
        </p:nvSpPr>
        <p:spPr>
          <a:xfrm>
            <a:off x="4764024" y="2926080"/>
            <a:ext cx="1691640" cy="457200"/>
          </a:xfrm>
          <a:prstGeom prst="rect">
            <a:avLst/>
          </a:prstGeom>
          <a:noFill/>
          <a:ln/>
        </p:spPr>
        <p:txBody>
          <a:bodyPr wrap="square" lIns="0" tIns="0" rIns="0" bIns="0" rtlCol="0" anchor="t"/>
          <a:lstStyle/>
          <a:p>
            <a:pPr indent="0" marL="0">
              <a:buNone/>
            </a:pPr>
            <a:r>
              <a:rPr lang="en-US" sz="1300" b="1" dirty="0">
                <a:solidFill>
                  <a:srgbClr val="1B2A49"/>
                </a:solidFill>
                <a:latin typeface="Calibri" pitchFamily="34" charset="0"/>
                <a:ea typeface="Calibri" pitchFamily="34" charset="-122"/>
                <a:cs typeface="Calibri" pitchFamily="34" charset="-120"/>
              </a:rPr>
              <a:t>Banerjee &amp; Pedersen</a:t>
            </a:r>
            <a:endParaRPr lang="en-US" sz="1300" dirty="0"/>
          </a:p>
        </p:txBody>
      </p:sp>
      <p:sp>
        <p:nvSpPr>
          <p:cNvPr id="17" name="a2_fade_600_73"/>
          <p:cNvSpPr txBox="1"/>
          <p:nvPr/>
        </p:nvSpPr>
        <p:spPr>
          <a:xfrm>
            <a:off x="4764024" y="3474720"/>
            <a:ext cx="1691640" cy="91440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Adapted / Extended: WordNet relations, n² phrase scores</a:t>
            </a:r>
            <a:endParaRPr lang="en-US" sz="1150" dirty="0"/>
          </a:p>
        </p:txBody>
      </p:sp>
      <p:sp>
        <p:nvSpPr>
          <p:cNvPr id="18" name="a2_fade_750_74"/>
          <p:cNvSpPr/>
          <p:nvPr/>
        </p:nvSpPr>
        <p:spPr>
          <a:xfrm>
            <a:off x="6711696" y="2377440"/>
            <a:ext cx="1938528" cy="2103120"/>
          </a:xfrm>
          <a:prstGeom prst="roundRect">
            <a:avLst>
              <a:gd name="adj" fmla="val 566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9" name="a2_fade_850_75"/>
          <p:cNvSpPr txBox="1"/>
          <p:nvPr/>
        </p:nvSpPr>
        <p:spPr>
          <a:xfrm>
            <a:off x="6848856" y="2514600"/>
            <a:ext cx="1691640" cy="365760"/>
          </a:xfrm>
          <a:prstGeom prst="rect">
            <a:avLst/>
          </a:prstGeom>
          <a:noFill/>
          <a:ln/>
        </p:spPr>
        <p:txBody>
          <a:bodyPr wrap="square" lIns="0" tIns="0" rIns="0" bIns="0" rtlCol="0" anchor="t"/>
          <a:lstStyle/>
          <a:p>
            <a:pPr indent="0" marL="0">
              <a:buNone/>
            </a:pPr>
            <a:r>
              <a:rPr lang="en-US" sz="2200" b="1" dirty="0">
                <a:solidFill>
                  <a:srgbClr val="1F8A7D"/>
                </a:solidFill>
                <a:latin typeface="Cambria" pitchFamily="34" charset="0"/>
                <a:ea typeface="Cambria" pitchFamily="34" charset="-122"/>
                <a:cs typeface="Cambria" pitchFamily="34" charset="-120"/>
              </a:rPr>
              <a:t>2004</a:t>
            </a:r>
            <a:endParaRPr lang="en-US" sz="2200" dirty="0"/>
          </a:p>
        </p:txBody>
      </p:sp>
      <p:sp>
        <p:nvSpPr>
          <p:cNvPr id="20" name="a2_fade_850_76"/>
          <p:cNvSpPr txBox="1"/>
          <p:nvPr/>
        </p:nvSpPr>
        <p:spPr>
          <a:xfrm>
            <a:off x="6848856" y="2926080"/>
            <a:ext cx="1691640" cy="457200"/>
          </a:xfrm>
          <a:prstGeom prst="rect">
            <a:avLst/>
          </a:prstGeom>
          <a:noFill/>
          <a:ln/>
        </p:spPr>
        <p:txBody>
          <a:bodyPr wrap="square" lIns="0" tIns="0" rIns="0" bIns="0" rtlCol="0" anchor="t"/>
          <a:lstStyle/>
          <a:p>
            <a:pPr indent="0" marL="0">
              <a:buNone/>
            </a:pPr>
            <a:r>
              <a:rPr lang="en-US" sz="1300" b="1" dirty="0">
                <a:solidFill>
                  <a:srgbClr val="1B2A49"/>
                </a:solidFill>
                <a:latin typeface="Calibri" pitchFamily="34" charset="0"/>
                <a:ea typeface="Calibri" pitchFamily="34" charset="-122"/>
                <a:cs typeface="Calibri" pitchFamily="34" charset="-120"/>
              </a:rPr>
              <a:t>Vasilescu et al.</a:t>
            </a:r>
            <a:endParaRPr lang="en-US" sz="1300" dirty="0"/>
          </a:p>
        </p:txBody>
      </p:sp>
      <p:sp>
        <p:nvSpPr>
          <p:cNvPr id="21" name="a2_fade_850_77"/>
          <p:cNvSpPr txBox="1"/>
          <p:nvPr/>
        </p:nvSpPr>
        <p:spPr>
          <a:xfrm>
            <a:off x="6848856" y="3474720"/>
            <a:ext cx="1691640" cy="91440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Variants compared; simplified beat original</a:t>
            </a:r>
            <a:endParaRPr lang="en-US" sz="1150" dirty="0"/>
          </a:p>
        </p:txBody>
      </p:sp>
      <p:sp>
        <p:nvSpPr>
          <p:cNvPr id="22" name="Text 19"/>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childTnLst>
                          </p:cTn>
                        </p:par>
                      </p:childTnLst>
                    </p:cTn>
                  </p:par>
                  <p:par>
                    <p:cTn id="56" fill="hold">
                      <p:stCondLst>
                        <p:cond delay="indefinite"/>
                      </p:stCondLst>
                      <p:childTnLst>
                        <p:par>
                          <p:cTn id="5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3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6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6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85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85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85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VOCABULARY</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Eight terms you need</a:t>
            </a:r>
            <a:endParaRPr lang="en-US" sz="2800" dirty="0"/>
          </a:p>
        </p:txBody>
      </p:sp>
      <p:sp>
        <p:nvSpPr>
          <p:cNvPr id="5" name="a1_fade_0_78"/>
          <p:cNvSpPr/>
          <p:nvPr/>
        </p:nvSpPr>
        <p:spPr>
          <a:xfrm>
            <a:off x="457200" y="1280160"/>
            <a:ext cx="1938528" cy="1417320"/>
          </a:xfrm>
          <a:prstGeom prst="roundRect">
            <a:avLst>
              <a:gd name="adj" fmla="val 774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6" name="a1_fade_80_79"/>
          <p:cNvSpPr txBox="1"/>
          <p:nvPr/>
        </p:nvSpPr>
        <p:spPr>
          <a:xfrm>
            <a:off x="594360" y="1417320"/>
            <a:ext cx="1691640" cy="320040"/>
          </a:xfrm>
          <a:prstGeom prst="rect">
            <a:avLst/>
          </a:prstGeom>
          <a:noFill/>
          <a:ln/>
        </p:spPr>
        <p:txBody>
          <a:bodyPr wrap="square" lIns="0" tIns="0" rIns="0" bIns="0" rtlCol="0" anchor="t"/>
          <a:lstStyle/>
          <a:p>
            <a:pPr indent="0" marL="0">
              <a:buNone/>
            </a:pPr>
            <a:r>
              <a:rPr lang="en-US" sz="1600" b="1" dirty="0">
                <a:solidFill>
                  <a:srgbClr val="1B2A49"/>
                </a:solidFill>
                <a:latin typeface="Cambria" pitchFamily="34" charset="0"/>
                <a:ea typeface="Cambria" pitchFamily="34" charset="-122"/>
                <a:cs typeface="Cambria" pitchFamily="34" charset="-120"/>
              </a:rPr>
              <a:t>Target word</a:t>
            </a:r>
            <a:endParaRPr lang="en-US" sz="1600" dirty="0"/>
          </a:p>
        </p:txBody>
      </p:sp>
      <p:sp>
        <p:nvSpPr>
          <p:cNvPr id="7" name="a1_fade_80_80"/>
          <p:cNvSpPr txBox="1"/>
          <p:nvPr/>
        </p:nvSpPr>
        <p:spPr>
          <a:xfrm>
            <a:off x="594360" y="18288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ambiguous word, e.g. bank</a:t>
            </a:r>
            <a:endParaRPr lang="en-US" sz="1250" dirty="0"/>
          </a:p>
        </p:txBody>
      </p:sp>
      <p:sp>
        <p:nvSpPr>
          <p:cNvPr id="8" name="a1_fade_150_81"/>
          <p:cNvSpPr/>
          <p:nvPr/>
        </p:nvSpPr>
        <p:spPr>
          <a:xfrm>
            <a:off x="2542032" y="1280160"/>
            <a:ext cx="1938528" cy="1417320"/>
          </a:xfrm>
          <a:prstGeom prst="roundRect">
            <a:avLst>
              <a:gd name="adj" fmla="val 774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9" name="a1_fade_230_82"/>
          <p:cNvSpPr txBox="1"/>
          <p:nvPr/>
        </p:nvSpPr>
        <p:spPr>
          <a:xfrm>
            <a:off x="2679192" y="1417320"/>
            <a:ext cx="1691640" cy="320040"/>
          </a:xfrm>
          <a:prstGeom prst="rect">
            <a:avLst/>
          </a:prstGeom>
          <a:noFill/>
          <a:ln/>
        </p:spPr>
        <p:txBody>
          <a:bodyPr wrap="square" lIns="0" tIns="0" rIns="0" bIns="0" rtlCol="0" anchor="t"/>
          <a:lstStyle/>
          <a:p>
            <a:pPr indent="0" marL="0">
              <a:buNone/>
            </a:pPr>
            <a:r>
              <a:rPr lang="en-US" sz="1600" b="1" dirty="0">
                <a:solidFill>
                  <a:srgbClr val="1B2A49"/>
                </a:solidFill>
                <a:latin typeface="Cambria" pitchFamily="34" charset="0"/>
                <a:ea typeface="Cambria" pitchFamily="34" charset="-122"/>
                <a:cs typeface="Cambria" pitchFamily="34" charset="-120"/>
              </a:rPr>
              <a:t>Sense</a:t>
            </a:r>
            <a:endParaRPr lang="en-US" sz="1600" dirty="0"/>
          </a:p>
        </p:txBody>
      </p:sp>
      <p:sp>
        <p:nvSpPr>
          <p:cNvPr id="10" name="a1_fade_230_83"/>
          <p:cNvSpPr txBox="1"/>
          <p:nvPr/>
        </p:nvSpPr>
        <p:spPr>
          <a:xfrm>
            <a:off x="2679192" y="18288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One meaning of the word</a:t>
            </a:r>
            <a:endParaRPr lang="en-US" sz="1250" dirty="0"/>
          </a:p>
        </p:txBody>
      </p:sp>
      <p:sp>
        <p:nvSpPr>
          <p:cNvPr id="11" name="a1_fade_300_84"/>
          <p:cNvSpPr/>
          <p:nvPr/>
        </p:nvSpPr>
        <p:spPr>
          <a:xfrm>
            <a:off x="4626864" y="1280160"/>
            <a:ext cx="1938528" cy="1417320"/>
          </a:xfrm>
          <a:prstGeom prst="roundRect">
            <a:avLst>
              <a:gd name="adj" fmla="val 774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2" name="a1_fade_380_85"/>
          <p:cNvSpPr txBox="1"/>
          <p:nvPr/>
        </p:nvSpPr>
        <p:spPr>
          <a:xfrm>
            <a:off x="4764024" y="1417320"/>
            <a:ext cx="1691640" cy="320040"/>
          </a:xfrm>
          <a:prstGeom prst="rect">
            <a:avLst/>
          </a:prstGeom>
          <a:noFill/>
          <a:ln/>
        </p:spPr>
        <p:txBody>
          <a:bodyPr wrap="square" lIns="0" tIns="0" rIns="0" bIns="0" rtlCol="0" anchor="t"/>
          <a:lstStyle/>
          <a:p>
            <a:pPr indent="0" marL="0">
              <a:buNone/>
            </a:pPr>
            <a:r>
              <a:rPr lang="en-US" sz="1600" b="1" dirty="0">
                <a:solidFill>
                  <a:srgbClr val="1B2A49"/>
                </a:solidFill>
                <a:latin typeface="Cambria" pitchFamily="34" charset="0"/>
                <a:ea typeface="Cambria" pitchFamily="34" charset="-122"/>
                <a:cs typeface="Cambria" pitchFamily="34" charset="-120"/>
              </a:rPr>
              <a:t>Gloss</a:t>
            </a:r>
            <a:endParaRPr lang="en-US" sz="1600" dirty="0"/>
          </a:p>
        </p:txBody>
      </p:sp>
      <p:sp>
        <p:nvSpPr>
          <p:cNvPr id="13" name="a1_fade_380_86"/>
          <p:cNvSpPr txBox="1"/>
          <p:nvPr/>
        </p:nvSpPr>
        <p:spPr>
          <a:xfrm>
            <a:off x="4764024" y="18288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dictionary definition of a sense</a:t>
            </a:r>
            <a:endParaRPr lang="en-US" sz="1250" dirty="0"/>
          </a:p>
        </p:txBody>
      </p:sp>
      <p:sp>
        <p:nvSpPr>
          <p:cNvPr id="14" name="a1_fade_450_87"/>
          <p:cNvSpPr/>
          <p:nvPr/>
        </p:nvSpPr>
        <p:spPr>
          <a:xfrm>
            <a:off x="6711696" y="1280160"/>
            <a:ext cx="1938528" cy="1417320"/>
          </a:xfrm>
          <a:prstGeom prst="roundRect">
            <a:avLst>
              <a:gd name="adj" fmla="val 774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5" name="a1_fade_530_88"/>
          <p:cNvSpPr txBox="1"/>
          <p:nvPr/>
        </p:nvSpPr>
        <p:spPr>
          <a:xfrm>
            <a:off x="6848856" y="1417320"/>
            <a:ext cx="1691640" cy="320040"/>
          </a:xfrm>
          <a:prstGeom prst="rect">
            <a:avLst/>
          </a:prstGeom>
          <a:noFill/>
          <a:ln/>
        </p:spPr>
        <p:txBody>
          <a:bodyPr wrap="square" lIns="0" tIns="0" rIns="0" bIns="0" rtlCol="0" anchor="t"/>
          <a:lstStyle/>
          <a:p>
            <a:pPr indent="0" marL="0">
              <a:buNone/>
            </a:pPr>
            <a:r>
              <a:rPr lang="en-US" sz="1600" b="1" dirty="0">
                <a:solidFill>
                  <a:srgbClr val="1B2A49"/>
                </a:solidFill>
                <a:latin typeface="Cambria" pitchFamily="34" charset="0"/>
                <a:ea typeface="Cambria" pitchFamily="34" charset="-122"/>
                <a:cs typeface="Cambria" pitchFamily="34" charset="-120"/>
              </a:rPr>
              <a:t>Synset</a:t>
            </a:r>
            <a:endParaRPr lang="en-US" sz="1600" dirty="0"/>
          </a:p>
        </p:txBody>
      </p:sp>
      <p:sp>
        <p:nvSpPr>
          <p:cNvPr id="16" name="a1_fade_530_89"/>
          <p:cNvSpPr txBox="1"/>
          <p:nvPr/>
        </p:nvSpPr>
        <p:spPr>
          <a:xfrm>
            <a:off x="6848856" y="18288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WordNet set of synonyms for one concept</a:t>
            </a:r>
            <a:endParaRPr lang="en-US" sz="1250" dirty="0"/>
          </a:p>
        </p:txBody>
      </p:sp>
      <p:sp>
        <p:nvSpPr>
          <p:cNvPr id="17" name="a1_fade_600_90"/>
          <p:cNvSpPr/>
          <p:nvPr/>
        </p:nvSpPr>
        <p:spPr>
          <a:xfrm>
            <a:off x="457200" y="2880360"/>
            <a:ext cx="1938528" cy="1417320"/>
          </a:xfrm>
          <a:prstGeom prst="roundRect">
            <a:avLst>
              <a:gd name="adj" fmla="val 774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8" name="a1_fade_680_91"/>
          <p:cNvSpPr txBox="1"/>
          <p:nvPr/>
        </p:nvSpPr>
        <p:spPr>
          <a:xfrm>
            <a:off x="594360" y="3017520"/>
            <a:ext cx="1691640" cy="320040"/>
          </a:xfrm>
          <a:prstGeom prst="rect">
            <a:avLst/>
          </a:prstGeom>
          <a:noFill/>
          <a:ln/>
        </p:spPr>
        <p:txBody>
          <a:bodyPr wrap="square" lIns="0" tIns="0" rIns="0" bIns="0" rtlCol="0" anchor="t"/>
          <a:lstStyle/>
          <a:p>
            <a:pPr indent="0" marL="0">
              <a:buNone/>
            </a:pPr>
            <a:r>
              <a:rPr lang="en-US" sz="1600" b="1" dirty="0">
                <a:solidFill>
                  <a:srgbClr val="1B2A49"/>
                </a:solidFill>
                <a:latin typeface="Cambria" pitchFamily="34" charset="0"/>
                <a:ea typeface="Cambria" pitchFamily="34" charset="-122"/>
                <a:cs typeface="Cambria" pitchFamily="34" charset="-120"/>
              </a:rPr>
              <a:t>Context</a:t>
            </a:r>
            <a:endParaRPr lang="en-US" sz="1600" dirty="0"/>
          </a:p>
        </p:txBody>
      </p:sp>
      <p:sp>
        <p:nvSpPr>
          <p:cNvPr id="19" name="a1_fade_680_92"/>
          <p:cNvSpPr txBox="1"/>
          <p:nvPr/>
        </p:nvSpPr>
        <p:spPr>
          <a:xfrm>
            <a:off x="594360" y="34290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Words around the target (sentence or window)</a:t>
            </a:r>
            <a:endParaRPr lang="en-US" sz="1250" dirty="0"/>
          </a:p>
        </p:txBody>
      </p:sp>
      <p:sp>
        <p:nvSpPr>
          <p:cNvPr id="20" name="a1_fade_750_93"/>
          <p:cNvSpPr/>
          <p:nvPr/>
        </p:nvSpPr>
        <p:spPr>
          <a:xfrm>
            <a:off x="2542032" y="2880360"/>
            <a:ext cx="1938528" cy="1417320"/>
          </a:xfrm>
          <a:prstGeom prst="roundRect">
            <a:avLst>
              <a:gd name="adj" fmla="val 7742"/>
            </a:avLst>
          </a:prstGeom>
          <a:solidFill>
            <a:srgbClr val="FFF0C7"/>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21" name="a1_fade_830_94"/>
          <p:cNvSpPr txBox="1"/>
          <p:nvPr/>
        </p:nvSpPr>
        <p:spPr>
          <a:xfrm>
            <a:off x="2679192" y="3017520"/>
            <a:ext cx="1691640" cy="320040"/>
          </a:xfrm>
          <a:prstGeom prst="rect">
            <a:avLst/>
          </a:prstGeom>
          <a:noFill/>
          <a:ln/>
        </p:spPr>
        <p:txBody>
          <a:bodyPr wrap="square" lIns="0" tIns="0" rIns="0" bIns="0" rtlCol="0" anchor="t"/>
          <a:lstStyle/>
          <a:p>
            <a:pPr indent="0" marL="0">
              <a:buNone/>
            </a:pPr>
            <a:r>
              <a:rPr lang="en-US" sz="1600" b="1" dirty="0">
                <a:solidFill>
                  <a:srgbClr val="8A5A00"/>
                </a:solidFill>
                <a:latin typeface="Cambria" pitchFamily="34" charset="0"/>
                <a:ea typeface="Cambria" pitchFamily="34" charset="-122"/>
                <a:cs typeface="Cambria" pitchFamily="34" charset="-120"/>
              </a:rPr>
              <a:t>Signature</a:t>
            </a:r>
            <a:endParaRPr lang="en-US" sz="1600" dirty="0"/>
          </a:p>
        </p:txBody>
      </p:sp>
      <p:sp>
        <p:nvSpPr>
          <p:cNvPr id="22" name="a1_fade_830_95"/>
          <p:cNvSpPr txBox="1"/>
          <p:nvPr/>
        </p:nvSpPr>
        <p:spPr>
          <a:xfrm>
            <a:off x="2679192" y="34290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Content words of gloss + examples of a sense</a:t>
            </a:r>
            <a:endParaRPr lang="en-US" sz="1250" dirty="0"/>
          </a:p>
        </p:txBody>
      </p:sp>
      <p:sp>
        <p:nvSpPr>
          <p:cNvPr id="23" name="a1_fade_900_96"/>
          <p:cNvSpPr/>
          <p:nvPr/>
        </p:nvSpPr>
        <p:spPr>
          <a:xfrm>
            <a:off x="4626864" y="2880360"/>
            <a:ext cx="1938528" cy="1417320"/>
          </a:xfrm>
          <a:prstGeom prst="roundRect">
            <a:avLst>
              <a:gd name="adj" fmla="val 7742"/>
            </a:avLst>
          </a:prstGeom>
          <a:solidFill>
            <a:srgbClr val="FFF0C7"/>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24" name="a1_fade_980_97"/>
          <p:cNvSpPr txBox="1"/>
          <p:nvPr/>
        </p:nvSpPr>
        <p:spPr>
          <a:xfrm>
            <a:off x="4764024" y="3017520"/>
            <a:ext cx="1691640" cy="320040"/>
          </a:xfrm>
          <a:prstGeom prst="rect">
            <a:avLst/>
          </a:prstGeom>
          <a:noFill/>
          <a:ln/>
        </p:spPr>
        <p:txBody>
          <a:bodyPr wrap="square" lIns="0" tIns="0" rIns="0" bIns="0" rtlCol="0" anchor="t"/>
          <a:lstStyle/>
          <a:p>
            <a:pPr indent="0" marL="0">
              <a:buNone/>
            </a:pPr>
            <a:r>
              <a:rPr lang="en-US" sz="1600" b="1" dirty="0">
                <a:solidFill>
                  <a:srgbClr val="8A5A00"/>
                </a:solidFill>
                <a:latin typeface="Cambria" pitchFamily="34" charset="0"/>
                <a:ea typeface="Cambria" pitchFamily="34" charset="-122"/>
                <a:cs typeface="Cambria" pitchFamily="34" charset="-120"/>
              </a:rPr>
              <a:t>Overlap</a:t>
            </a:r>
            <a:endParaRPr lang="en-US" sz="1600" dirty="0"/>
          </a:p>
        </p:txBody>
      </p:sp>
      <p:sp>
        <p:nvSpPr>
          <p:cNvPr id="25" name="a1_fade_980_98"/>
          <p:cNvSpPr txBox="1"/>
          <p:nvPr/>
        </p:nvSpPr>
        <p:spPr>
          <a:xfrm>
            <a:off x="4764024" y="34290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Words shared by two sets; its size is the score</a:t>
            </a:r>
            <a:endParaRPr lang="en-US" sz="1250" dirty="0"/>
          </a:p>
        </p:txBody>
      </p:sp>
      <p:sp>
        <p:nvSpPr>
          <p:cNvPr id="26" name="a1_fade_1050_99"/>
          <p:cNvSpPr/>
          <p:nvPr/>
        </p:nvSpPr>
        <p:spPr>
          <a:xfrm>
            <a:off x="6711696" y="2880360"/>
            <a:ext cx="1938528" cy="1417320"/>
          </a:xfrm>
          <a:prstGeom prst="roundRect">
            <a:avLst>
              <a:gd name="adj" fmla="val 774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27" name="a1_fade_1130_100"/>
          <p:cNvSpPr txBox="1"/>
          <p:nvPr/>
        </p:nvSpPr>
        <p:spPr>
          <a:xfrm>
            <a:off x="6848856" y="3017520"/>
            <a:ext cx="1691640" cy="320040"/>
          </a:xfrm>
          <a:prstGeom prst="rect">
            <a:avLst/>
          </a:prstGeom>
          <a:noFill/>
          <a:ln/>
        </p:spPr>
        <p:txBody>
          <a:bodyPr wrap="square" lIns="0" tIns="0" rIns="0" bIns="0" rtlCol="0" anchor="t"/>
          <a:lstStyle/>
          <a:p>
            <a:pPr indent="0" marL="0">
              <a:buNone/>
            </a:pPr>
            <a:r>
              <a:rPr lang="en-US" sz="1600" b="1" dirty="0">
                <a:solidFill>
                  <a:srgbClr val="1B2A49"/>
                </a:solidFill>
                <a:latin typeface="Cambria" pitchFamily="34" charset="0"/>
                <a:ea typeface="Cambria" pitchFamily="34" charset="-122"/>
                <a:cs typeface="Cambria" pitchFamily="34" charset="-120"/>
              </a:rPr>
              <a:t>Stop words</a:t>
            </a:r>
            <a:endParaRPr lang="en-US" sz="1600" dirty="0"/>
          </a:p>
        </p:txBody>
      </p:sp>
      <p:sp>
        <p:nvSpPr>
          <p:cNvPr id="28" name="a1_fade_1130_101"/>
          <p:cNvSpPr txBox="1"/>
          <p:nvPr/>
        </p:nvSpPr>
        <p:spPr>
          <a:xfrm>
            <a:off x="6848856" y="3429000"/>
            <a:ext cx="1691640" cy="77724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a, of, to … ignored as evidence</a:t>
            </a:r>
            <a:endParaRPr lang="en-US" sz="1250" dirty="0"/>
          </a:p>
        </p:txBody>
      </p:sp>
      <p:sp>
        <p:nvSpPr>
          <p:cNvPr id="29" name="Text 26"/>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8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8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3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38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38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6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68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68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83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83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98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98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105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113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113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BIG PICTURE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Lesk as a five-step pipeline</a:t>
            </a:r>
            <a:endParaRPr lang="en-US" sz="2800" dirty="0"/>
          </a:p>
        </p:txBody>
      </p:sp>
      <p:sp>
        <p:nvSpPr>
          <p:cNvPr id="5" name="a1_zoom_0_102"/>
          <p:cNvSpPr/>
          <p:nvPr/>
        </p:nvSpPr>
        <p:spPr>
          <a:xfrm>
            <a:off x="457200" y="1828800"/>
            <a:ext cx="1417320" cy="777240"/>
          </a:xfrm>
          <a:prstGeom prst="roundRect">
            <a:avLst>
              <a:gd name="adj" fmla="val 14118"/>
            </a:avLst>
          </a:prstGeom>
          <a:solidFill>
            <a:srgbClr val="1B2A49"/>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Sentence</a:t>
            </a:r>
            <a:endParaRPr lang="en-US" sz="1500" dirty="0"/>
          </a:p>
        </p:txBody>
      </p:sp>
      <p:sp>
        <p:nvSpPr>
          <p:cNvPr id="6" name="a1_fade_200_103"/>
          <p:cNvSpPr txBox="1"/>
          <p:nvPr/>
        </p:nvSpPr>
        <p:spPr>
          <a:xfrm>
            <a:off x="457200" y="2743200"/>
            <a:ext cx="1417320" cy="640080"/>
          </a:xfrm>
          <a:prstGeom prst="rect">
            <a:avLst/>
          </a:prstGeom>
          <a:noFill/>
          <a:ln/>
        </p:spPr>
        <p:txBody>
          <a:bodyPr wrap="square" lIns="0" tIns="0" rIns="0" bIns="0" rtlCol="0" anchor="t"/>
          <a:lstStyle/>
          <a:p>
            <a:pPr algn="ctr" indent="0" marL="0">
              <a:buNone/>
            </a:pPr>
            <a:r>
              <a:rPr lang="en-US" sz="1200" dirty="0">
                <a:solidFill>
                  <a:srgbClr val="5B6577"/>
                </a:solidFill>
                <a:latin typeface="Calibri" pitchFamily="34" charset="0"/>
                <a:ea typeface="Calibri" pitchFamily="34" charset="-122"/>
                <a:cs typeface="Calibri" pitchFamily="34" charset="-120"/>
              </a:rPr>
              <a:t>target + context</a:t>
            </a:r>
            <a:endParaRPr lang="en-US" sz="1200" dirty="0"/>
          </a:p>
        </p:txBody>
      </p:sp>
      <p:sp>
        <p:nvSpPr>
          <p:cNvPr id="7" name="a1_fade_300_104"/>
          <p:cNvSpPr/>
          <p:nvPr/>
        </p:nvSpPr>
        <p:spPr>
          <a:xfrm>
            <a:off x="1901952" y="2057400"/>
            <a:ext cx="228600" cy="320040"/>
          </a:xfrm>
          <a:prstGeom prst="rightArrow">
            <a:avLst/>
          </a:prstGeom>
          <a:solidFill>
            <a:srgbClr val="C9D0DC"/>
          </a:solidFill>
          <a:ln/>
        </p:spPr>
      </p:sp>
      <p:sp>
        <p:nvSpPr>
          <p:cNvPr id="8" name="a2_zoom_0_105"/>
          <p:cNvSpPr/>
          <p:nvPr/>
        </p:nvSpPr>
        <p:spPr>
          <a:xfrm>
            <a:off x="2148840" y="1828800"/>
            <a:ext cx="1417320" cy="777240"/>
          </a:xfrm>
          <a:prstGeom prst="roundRect">
            <a:avLst>
              <a:gd name="adj" fmla="val 14118"/>
            </a:avLst>
          </a:prstGeom>
          <a:solidFill>
            <a:srgbClr val="1B2A49"/>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Preprocess</a:t>
            </a:r>
            <a:endParaRPr lang="en-US" sz="1500" dirty="0"/>
          </a:p>
        </p:txBody>
      </p:sp>
      <p:sp>
        <p:nvSpPr>
          <p:cNvPr id="9" name="a2_fade_200_106"/>
          <p:cNvSpPr txBox="1"/>
          <p:nvPr/>
        </p:nvSpPr>
        <p:spPr>
          <a:xfrm>
            <a:off x="2148840" y="2743200"/>
            <a:ext cx="1417320" cy="640080"/>
          </a:xfrm>
          <a:prstGeom prst="rect">
            <a:avLst/>
          </a:prstGeom>
          <a:noFill/>
          <a:ln/>
        </p:spPr>
        <p:txBody>
          <a:bodyPr wrap="square" lIns="0" tIns="0" rIns="0" bIns="0" rtlCol="0" anchor="t"/>
          <a:lstStyle/>
          <a:p>
            <a:pPr algn="ctr" indent="0" marL="0">
              <a:buNone/>
            </a:pPr>
            <a:r>
              <a:rPr lang="en-US" sz="1200" dirty="0">
                <a:solidFill>
                  <a:srgbClr val="5B6577"/>
                </a:solidFill>
                <a:latin typeface="Calibri" pitchFamily="34" charset="0"/>
                <a:ea typeface="Calibri" pitchFamily="34" charset="-122"/>
                <a:cs typeface="Calibri" pitchFamily="34" charset="-120"/>
              </a:rPr>
              <a:t>lower-case, stop words, lemmas</a:t>
            </a:r>
            <a:endParaRPr lang="en-US" sz="1200" dirty="0"/>
          </a:p>
        </p:txBody>
      </p:sp>
      <p:sp>
        <p:nvSpPr>
          <p:cNvPr id="10" name="a2_fade_300_107"/>
          <p:cNvSpPr/>
          <p:nvPr/>
        </p:nvSpPr>
        <p:spPr>
          <a:xfrm>
            <a:off x="3593592" y="2057400"/>
            <a:ext cx="228600" cy="320040"/>
          </a:xfrm>
          <a:prstGeom prst="rightArrow">
            <a:avLst/>
          </a:prstGeom>
          <a:solidFill>
            <a:srgbClr val="C9D0DC"/>
          </a:solidFill>
          <a:ln/>
        </p:spPr>
      </p:sp>
      <p:sp>
        <p:nvSpPr>
          <p:cNvPr id="11" name="a3_zoom_0_108"/>
          <p:cNvSpPr/>
          <p:nvPr/>
        </p:nvSpPr>
        <p:spPr>
          <a:xfrm>
            <a:off x="3840480" y="1828800"/>
            <a:ext cx="1417320" cy="777240"/>
          </a:xfrm>
          <a:prstGeom prst="roundRect">
            <a:avLst>
              <a:gd name="adj" fmla="val 14118"/>
            </a:avLst>
          </a:prstGeom>
          <a:solidFill>
            <a:srgbClr val="1B2A49"/>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Signatures</a:t>
            </a:r>
            <a:endParaRPr lang="en-US" sz="1500" dirty="0"/>
          </a:p>
        </p:txBody>
      </p:sp>
      <p:sp>
        <p:nvSpPr>
          <p:cNvPr id="12" name="a3_fade_200_109"/>
          <p:cNvSpPr txBox="1"/>
          <p:nvPr/>
        </p:nvSpPr>
        <p:spPr>
          <a:xfrm>
            <a:off x="3840480" y="2743200"/>
            <a:ext cx="1417320" cy="640080"/>
          </a:xfrm>
          <a:prstGeom prst="rect">
            <a:avLst/>
          </a:prstGeom>
          <a:noFill/>
          <a:ln/>
        </p:spPr>
        <p:txBody>
          <a:bodyPr wrap="square" lIns="0" tIns="0" rIns="0" bIns="0" rtlCol="0" anchor="t"/>
          <a:lstStyle/>
          <a:p>
            <a:pPr algn="ctr" indent="0" marL="0">
              <a:buNone/>
            </a:pPr>
            <a:r>
              <a:rPr lang="en-US" sz="1200" dirty="0">
                <a:solidFill>
                  <a:srgbClr val="5B6577"/>
                </a:solidFill>
                <a:latin typeface="Calibri" pitchFamily="34" charset="0"/>
                <a:ea typeface="Calibri" pitchFamily="34" charset="-122"/>
                <a:cs typeface="Calibri" pitchFamily="34" charset="-120"/>
              </a:rPr>
              <a:t>gloss + examples per sense</a:t>
            </a:r>
            <a:endParaRPr lang="en-US" sz="1200" dirty="0"/>
          </a:p>
        </p:txBody>
      </p:sp>
      <p:sp>
        <p:nvSpPr>
          <p:cNvPr id="13" name="a3_fade_300_110"/>
          <p:cNvSpPr/>
          <p:nvPr/>
        </p:nvSpPr>
        <p:spPr>
          <a:xfrm>
            <a:off x="5285232" y="2057400"/>
            <a:ext cx="228600" cy="320040"/>
          </a:xfrm>
          <a:prstGeom prst="rightArrow">
            <a:avLst/>
          </a:prstGeom>
          <a:solidFill>
            <a:srgbClr val="C9D0DC"/>
          </a:solidFill>
          <a:ln/>
        </p:spPr>
      </p:sp>
      <p:sp>
        <p:nvSpPr>
          <p:cNvPr id="14" name="a4_zoom_0_111"/>
          <p:cNvSpPr/>
          <p:nvPr/>
        </p:nvSpPr>
        <p:spPr>
          <a:xfrm>
            <a:off x="5532120" y="1828800"/>
            <a:ext cx="1417320" cy="777240"/>
          </a:xfrm>
          <a:prstGeom prst="roundRect">
            <a:avLst>
              <a:gd name="adj" fmla="val 14118"/>
            </a:avLst>
          </a:prstGeom>
          <a:solidFill>
            <a:srgbClr val="1B2A49"/>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Overlap</a:t>
            </a:r>
            <a:endParaRPr lang="en-US" sz="1500" dirty="0"/>
          </a:p>
        </p:txBody>
      </p:sp>
      <p:sp>
        <p:nvSpPr>
          <p:cNvPr id="15" name="a4_fade_200_112"/>
          <p:cNvSpPr txBox="1"/>
          <p:nvPr/>
        </p:nvSpPr>
        <p:spPr>
          <a:xfrm>
            <a:off x="5532120" y="2743200"/>
            <a:ext cx="1417320" cy="640080"/>
          </a:xfrm>
          <a:prstGeom prst="rect">
            <a:avLst/>
          </a:prstGeom>
          <a:noFill/>
          <a:ln/>
        </p:spPr>
        <p:txBody>
          <a:bodyPr wrap="square" lIns="0" tIns="0" rIns="0" bIns="0" rtlCol="0" anchor="t"/>
          <a:lstStyle/>
          <a:p>
            <a:pPr algn="ctr" indent="0" marL="0">
              <a:buNone/>
            </a:pPr>
            <a:r>
              <a:rPr lang="en-US" sz="1200" dirty="0">
                <a:solidFill>
                  <a:srgbClr val="5B6577"/>
                </a:solidFill>
                <a:latin typeface="Calibri" pitchFamily="34" charset="0"/>
                <a:ea typeface="Calibri" pitchFamily="34" charset="-122"/>
                <a:cs typeface="Calibri" pitchFamily="34" charset="-120"/>
              </a:rPr>
              <a:t>shared words = score</a:t>
            </a:r>
            <a:endParaRPr lang="en-US" sz="1200" dirty="0"/>
          </a:p>
        </p:txBody>
      </p:sp>
      <p:sp>
        <p:nvSpPr>
          <p:cNvPr id="16" name="a4_fade_300_113"/>
          <p:cNvSpPr/>
          <p:nvPr/>
        </p:nvSpPr>
        <p:spPr>
          <a:xfrm>
            <a:off x="6976872" y="2057400"/>
            <a:ext cx="228600" cy="320040"/>
          </a:xfrm>
          <a:prstGeom prst="rightArrow">
            <a:avLst/>
          </a:prstGeom>
          <a:solidFill>
            <a:srgbClr val="C9D0DC"/>
          </a:solidFill>
          <a:ln/>
        </p:spPr>
      </p:sp>
      <p:sp>
        <p:nvSpPr>
          <p:cNvPr id="17" name="a5_zoom_0_114"/>
          <p:cNvSpPr/>
          <p:nvPr/>
        </p:nvSpPr>
        <p:spPr>
          <a:xfrm>
            <a:off x="7223760" y="1828800"/>
            <a:ext cx="1417320" cy="777240"/>
          </a:xfrm>
          <a:prstGeom prst="roundRect">
            <a:avLst>
              <a:gd name="adj" fmla="val 14118"/>
            </a:avLst>
          </a:prstGeom>
          <a:solidFill>
            <a:srgbClr val="F4A30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500" b="1" dirty="0">
                <a:solidFill>
                  <a:srgbClr val="22262E"/>
                </a:solidFill>
                <a:latin typeface="Calibri" pitchFamily="34" charset="0"/>
                <a:ea typeface="Calibri" pitchFamily="34" charset="-122"/>
                <a:cs typeface="Calibri" pitchFamily="34" charset="-120"/>
              </a:rPr>
              <a:t>Winner</a:t>
            </a:r>
            <a:endParaRPr lang="en-US" sz="1500" dirty="0"/>
          </a:p>
        </p:txBody>
      </p:sp>
      <p:sp>
        <p:nvSpPr>
          <p:cNvPr id="18" name="a5_fade_200_115"/>
          <p:cNvSpPr txBox="1"/>
          <p:nvPr/>
        </p:nvSpPr>
        <p:spPr>
          <a:xfrm>
            <a:off x="7223760" y="2743200"/>
            <a:ext cx="1417320" cy="640080"/>
          </a:xfrm>
          <a:prstGeom prst="rect">
            <a:avLst/>
          </a:prstGeom>
          <a:noFill/>
          <a:ln/>
        </p:spPr>
        <p:txBody>
          <a:bodyPr wrap="square" lIns="0" tIns="0" rIns="0" bIns="0" rtlCol="0" anchor="t"/>
          <a:lstStyle/>
          <a:p>
            <a:pPr algn="ctr" indent="0" marL="0">
              <a:buNone/>
            </a:pPr>
            <a:r>
              <a:rPr lang="en-US" sz="1200" dirty="0">
                <a:solidFill>
                  <a:srgbClr val="5B6577"/>
                </a:solidFill>
                <a:latin typeface="Calibri" pitchFamily="34" charset="0"/>
                <a:ea typeface="Calibri" pitchFamily="34" charset="-122"/>
                <a:cs typeface="Calibri" pitchFamily="34" charset="-120"/>
              </a:rPr>
              <a:t>highest score</a:t>
            </a:r>
            <a:endParaRPr lang="en-US" sz="1200" dirty="0"/>
          </a:p>
        </p:txBody>
      </p:sp>
      <p:sp>
        <p:nvSpPr>
          <p:cNvPr id="19" name="a6_fade_0_116"/>
          <p:cNvSpPr/>
          <p:nvPr/>
        </p:nvSpPr>
        <p:spPr>
          <a:xfrm>
            <a:off x="1371600" y="3657600"/>
            <a:ext cx="6400800" cy="594360"/>
          </a:xfrm>
          <a:prstGeom prst="roundRect">
            <a:avLst>
              <a:gd name="adj" fmla="val 18462"/>
            </a:avLst>
          </a:prstGeom>
          <a:solidFill>
            <a:srgbClr val="E2F3F0"/>
          </a:solidFill>
          <a:ln/>
        </p:spPr>
        <p:txBody>
          <a:bodyPr wrap="square" lIns="76810" tIns="128016" rIns="128016" bIns="76810" rtlCol="0" anchor="ctr"/>
          <a:lstStyle/>
          <a:p>
            <a:pPr algn="ctr" indent="0" marL="0">
              <a:buNone/>
            </a:pPr>
            <a:r>
              <a:rPr lang="en-US" sz="1400" dirty="0">
                <a:solidFill>
                  <a:srgbClr val="22262E"/>
                </a:solidFill>
                <a:latin typeface="Calibri" pitchFamily="34" charset="0"/>
                <a:ea typeface="Calibri" pitchFamily="34" charset="-122"/>
                <a:cs typeface="Calibri" pitchFamily="34" charset="-120"/>
              </a:rPr>
              <a:t>Always apply the </a:t>
            </a:r>
            <a:pPr algn="ctr" indent="0" marL="0">
              <a:buNone/>
            </a:pPr>
            <a:r>
              <a:rPr lang="en-US" sz="1400" b="1" dirty="0">
                <a:solidFill>
                  <a:srgbClr val="22262E"/>
                </a:solidFill>
                <a:latin typeface="Calibri" pitchFamily="34" charset="0"/>
                <a:ea typeface="Calibri" pitchFamily="34" charset="-122"/>
                <a:cs typeface="Calibri" pitchFamily="34" charset="-120"/>
              </a:rPr>
              <a:t>same</a:t>
            </a:r>
            <a:pPr algn="ctr" indent="0" marL="0">
              <a:buNone/>
            </a:pPr>
            <a:r>
              <a:rPr lang="en-US" sz="1400" dirty="0">
                <a:solidFill>
                  <a:srgbClr val="22262E"/>
                </a:solidFill>
                <a:latin typeface="Calibri" pitchFamily="34" charset="0"/>
                <a:ea typeface="Calibri" pitchFamily="34" charset="-122"/>
                <a:cs typeface="Calibri" pitchFamily="34" charset="-120"/>
              </a:rPr>
              <a:t> preprocessing to the context and to the signatures.</a:t>
            </a:r>
            <a:endParaRPr lang="en-US" sz="1400" dirty="0"/>
          </a:p>
        </p:txBody>
      </p:sp>
      <p:sp>
        <p:nvSpPr>
          <p:cNvPr id="20" name="Text 17"/>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stCondLst>
                      <p:childTnLst>
                        <p:par>
                          <p:cTn id="15"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500" fill="hold"/>
                                        <p:tgtEl>
                                          <p:spTgt spid="5"/>
                                        </p:tgtEl>
                                        <p:attrNameLst>
                                          <p:attrName>ppt_w</p:attrName>
                                        </p:attrNameLst>
                                      </p:cBhvr>
                                      <p:tavLst>
                                        <p:tav tm="0">
                                          <p:val>
                                            <p:fltVal val="0"/>
                                          </p:val>
                                        </p:tav>
                                        <p:tav tm="100000">
                                          <p:val>
                                            <p:strVal val="#ppt_w"/>
                                          </p:val>
                                        </p:tav>
                                      </p:tavLst>
                                    </p:anim>
                                    <p:anim calcmode="lin" valueType="num">
                                      <p:cBhvr additive="base">
                                        <p:cTn id="6" dur="500" fill="hold"/>
                                        <p:tgtEl>
                                          <p:spTgt spid="5"/>
                                        </p:tgtEl>
                                        <p:attrNameLst>
                                          <p:attrName>ppt_h</p:attrName>
                                        </p:attrNameLst>
                                      </p:cBhvr>
                                      <p:tavLst>
                                        <p:tav tm="0">
                                          <p:val>
                                            <p:fltVal val="0"/>
                                          </p:val>
                                        </p:tav>
                                        <p:tav tm="100000">
                                          <p:val>
                                            <p:strVal val="#ppt_h"/>
                                          </p:val>
                                        </p:tav>
                                      </p:tavLst>
                                    </p:anim>
                                    <p:animEffect transition="in" filter="fade">
                                      <p:cBhvr>
                                        <p:cTn id="7" dur="500"/>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3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ppt_w</p:attrName>
                                        </p:attrNameLst>
                                      </p:cBhvr>
                                      <p:tavLst>
                                        <p:tav tm="0">
                                          <p:val>
                                            <p:fltVal val="0"/>
                                          </p:val>
                                        </p:tav>
                                        <p:tav tm="100000">
                                          <p:val>
                                            <p:strVal val="#ppt_w"/>
                                          </p:val>
                                        </p:tav>
                                      </p:tavLst>
                                    </p:anim>
                                    <p:anim calcmode="lin" valueType="num">
                                      <p:cBhvr additive="base">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10" presetClass="entr" presetSubtype="0" fill="hold" grpId="0" nodeType="withEffect">
                                  <p:stCondLst>
                                    <p:cond delay="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3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ppt_w</p:attrName>
                                        </p:attrNameLst>
                                      </p:cBhvr>
                                      <p:tavLst>
                                        <p:tav tm="0">
                                          <p:val>
                                            <p:fltVal val="0"/>
                                          </p:val>
                                        </p:tav>
                                        <p:tav tm="100000">
                                          <p:val>
                                            <p:strVal val="#ppt_w"/>
                                          </p:val>
                                        </p:tav>
                                      </p:tavLst>
                                    </p:anim>
                                    <p:anim calcmode="lin" valueType="num">
                                      <p:cBhvr additive="base">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ppt_w</p:attrName>
                                        </p:attrNameLst>
                                      </p:cBhvr>
                                      <p:tavLst>
                                        <p:tav tm="0">
                                          <p:val>
                                            <p:fltVal val="0"/>
                                          </p:val>
                                        </p:tav>
                                        <p:tav tm="100000">
                                          <p:val>
                                            <p:strVal val="#ppt_w"/>
                                          </p:val>
                                        </p:tav>
                                      </p:tavLst>
                                    </p:anim>
                                    <p:anim calcmode="lin" valueType="num">
                                      <p:cBhvr additive="base">
                                        <p:cTn id="58" dur="500" fill="hold"/>
                                        <p:tgtEl>
                                          <p:spTgt spid="17"/>
                                        </p:tgtEl>
                                        <p:attrNameLst>
                                          <p:attrName>ppt_h</p:attrName>
                                        </p:attrNameLst>
                                      </p:cBhvr>
                                      <p:tavLst>
                                        <p:tav tm="0">
                                          <p:val>
                                            <p:fltVal val="0"/>
                                          </p:val>
                                        </p:tav>
                                        <p:tav tm="100000">
                                          <p:val>
                                            <p:strVal val="#ppt_h"/>
                                          </p:val>
                                        </p:tav>
                                      </p:tavLst>
                                    </p:anim>
                                    <p:animEffect transition="in" filter="fade">
                                      <p:cBhvr>
                                        <p:cTn id="59" dur="500"/>
                                        <p:tgtEl>
                                          <p:spTgt spid="17"/>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9"/>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F4A300"/>
                </a:solidFill>
                <a:latin typeface="Calibri" pitchFamily="34" charset="0"/>
                <a:ea typeface="Calibri" pitchFamily="34" charset="-122"/>
                <a:cs typeface="Calibri" pitchFamily="34" charset="-120"/>
              </a:rPr>
              <a:t>THE SCORING RULE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Score = how many useful words are shared</a:t>
            </a:r>
            <a:endParaRPr lang="en-US" sz="2800" dirty="0"/>
          </a:p>
        </p:txBody>
      </p:sp>
      <p:sp>
        <p:nvSpPr>
          <p:cNvPr id="5" name="a1_zoom_0_117"/>
          <p:cNvSpPr/>
          <p:nvPr/>
        </p:nvSpPr>
        <p:spPr>
          <a:xfrm>
            <a:off x="640080" y="1280160"/>
            <a:ext cx="7863840" cy="914400"/>
          </a:xfrm>
          <a:prstGeom prst="roundRect">
            <a:avLst>
              <a:gd name="adj" fmla="val 12000"/>
            </a:avLst>
          </a:prstGeom>
          <a:solidFill>
            <a:srgbClr val="FFFFFF"/>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3000" b="1" dirty="0">
                <a:solidFill>
                  <a:srgbClr val="1B2A49"/>
                </a:solidFill>
                <a:latin typeface="Cambria" pitchFamily="34" charset="0"/>
                <a:ea typeface="Cambria" pitchFamily="34" charset="-122"/>
                <a:cs typeface="Cambria" pitchFamily="34" charset="-120"/>
              </a:rPr>
              <a:t>Score(s, C) = | Signature(s) ∩ C |</a:t>
            </a:r>
            <a:endParaRPr lang="en-US" sz="3000" dirty="0"/>
          </a:p>
        </p:txBody>
      </p:sp>
      <p:sp>
        <p:nvSpPr>
          <p:cNvPr id="6" name="a2_wipe_0_118"/>
          <p:cNvSpPr/>
          <p:nvPr/>
        </p:nvSpPr>
        <p:spPr>
          <a:xfrm>
            <a:off x="640080" y="2377440"/>
            <a:ext cx="7863840" cy="731520"/>
          </a:xfrm>
          <a:prstGeom prst="roundRect">
            <a:avLst>
              <a:gd name="adj" fmla="val 15000"/>
            </a:avLst>
          </a:prstGeom>
          <a:solidFill>
            <a:srgbClr val="1F8A7D"/>
          </a:solidFill>
          <a:ln/>
        </p:spPr>
        <p:txBody>
          <a:bodyPr wrap="square" lIns="76810" tIns="128016" rIns="128016" bIns="7681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s* = argmax  Score(s, C)</a:t>
            </a:r>
            <a:endParaRPr lang="en-US" sz="2400" dirty="0"/>
          </a:p>
        </p:txBody>
      </p:sp>
      <p:sp>
        <p:nvSpPr>
          <p:cNvPr id="7" name="a3_fade_0_119"/>
          <p:cNvSpPr/>
          <p:nvPr/>
        </p:nvSpPr>
        <p:spPr>
          <a:xfrm>
            <a:off x="640080" y="3383280"/>
            <a:ext cx="2514600" cy="1005840"/>
          </a:xfrm>
          <a:prstGeom prst="roundRect">
            <a:avLst>
              <a:gd name="adj" fmla="val 10909"/>
            </a:avLst>
          </a:prstGeom>
          <a:solidFill>
            <a:srgbClr val="27385F"/>
          </a:solidFill>
          <a:ln/>
        </p:spPr>
        <p:txBody>
          <a:bodyPr wrap="square" lIns="76810" tIns="128016" rIns="128016" bIns="76810" rtlCol="0" anchor="ctr"/>
          <a:lstStyle/>
          <a:p>
            <a:pPr algn="l" indent="0" marL="0">
              <a:buNone/>
            </a:pPr>
            <a:r>
              <a:rPr lang="en-US" sz="1250" b="1" dirty="0">
                <a:solidFill>
                  <a:srgbClr val="CADCFC"/>
                </a:solidFill>
                <a:latin typeface="Calibri" pitchFamily="34" charset="0"/>
                <a:ea typeface="Calibri" pitchFamily="34" charset="-122"/>
                <a:cs typeface="Calibri" pitchFamily="34" charset="-120"/>
              </a:rPr>
              <a:t>Signature(s)</a:t>
            </a:r>
            <a:pPr algn="l" indent="0" marL="0">
              <a:buNone/>
            </a:pPr>
            <a:endParaRPr lang="en-US" sz="1250" dirty="0"/>
          </a:p>
          <a:p>
            <a:pPr algn="l" indent="0" marL="0">
              <a:buNone/>
            </a:pPr>
            <a:r>
              <a:rPr lang="en-US" sz="1250" dirty="0">
                <a:solidFill>
                  <a:srgbClr val="CADCFC"/>
                </a:solidFill>
                <a:latin typeface="Calibri" pitchFamily="34" charset="0"/>
                <a:ea typeface="Calibri" pitchFamily="34" charset="-122"/>
                <a:cs typeface="Calibri" pitchFamily="34" charset="-120"/>
              </a:rPr>
              <a:t>content words of the gloss and examples of sense s</a:t>
            </a:r>
            <a:endParaRPr lang="en-US" sz="1250" dirty="0"/>
          </a:p>
        </p:txBody>
      </p:sp>
      <p:sp>
        <p:nvSpPr>
          <p:cNvPr id="8" name="a3_fade_250_120"/>
          <p:cNvSpPr/>
          <p:nvPr/>
        </p:nvSpPr>
        <p:spPr>
          <a:xfrm>
            <a:off x="3337560" y="3383280"/>
            <a:ext cx="2514600" cy="1005840"/>
          </a:xfrm>
          <a:prstGeom prst="roundRect">
            <a:avLst>
              <a:gd name="adj" fmla="val 10909"/>
            </a:avLst>
          </a:prstGeom>
          <a:solidFill>
            <a:srgbClr val="27385F"/>
          </a:solidFill>
          <a:ln/>
        </p:spPr>
        <p:txBody>
          <a:bodyPr wrap="square" lIns="76810" tIns="128016" rIns="128016" bIns="76810" rtlCol="0" anchor="ctr"/>
          <a:lstStyle/>
          <a:p>
            <a:pPr algn="l" indent="0" marL="0">
              <a:buNone/>
            </a:pPr>
            <a:r>
              <a:rPr lang="en-US" sz="1250" b="1" dirty="0">
                <a:solidFill>
                  <a:srgbClr val="CADCFC"/>
                </a:solidFill>
                <a:latin typeface="Calibri" pitchFamily="34" charset="0"/>
                <a:ea typeface="Calibri" pitchFamily="34" charset="-122"/>
                <a:cs typeface="Calibri" pitchFamily="34" charset="-120"/>
              </a:rPr>
              <a:t>C</a:t>
            </a:r>
            <a:pPr algn="l" indent="0" marL="0">
              <a:buNone/>
            </a:pPr>
            <a:endParaRPr lang="en-US" sz="1250" dirty="0"/>
          </a:p>
          <a:p>
            <a:pPr algn="l" indent="0" marL="0">
              <a:buNone/>
            </a:pPr>
            <a:r>
              <a:rPr lang="en-US" sz="1250" dirty="0">
                <a:solidFill>
                  <a:srgbClr val="CADCFC"/>
                </a:solidFill>
                <a:latin typeface="Calibri" pitchFamily="34" charset="0"/>
                <a:ea typeface="Calibri" pitchFamily="34" charset="-122"/>
                <a:cs typeface="Calibri" pitchFamily="34" charset="-120"/>
              </a:rPr>
              <a:t>content words of the context, target excluded</a:t>
            </a:r>
            <a:endParaRPr lang="en-US" sz="1250" dirty="0"/>
          </a:p>
        </p:txBody>
      </p:sp>
      <p:sp>
        <p:nvSpPr>
          <p:cNvPr id="9" name="a3_fade_500_121"/>
          <p:cNvSpPr/>
          <p:nvPr/>
        </p:nvSpPr>
        <p:spPr>
          <a:xfrm>
            <a:off x="6035040" y="3383280"/>
            <a:ext cx="2514600" cy="1005840"/>
          </a:xfrm>
          <a:prstGeom prst="roundRect">
            <a:avLst>
              <a:gd name="adj" fmla="val 10909"/>
            </a:avLst>
          </a:prstGeom>
          <a:solidFill>
            <a:srgbClr val="27385F"/>
          </a:solidFill>
          <a:ln/>
        </p:spPr>
        <p:txBody>
          <a:bodyPr wrap="square" lIns="76810" tIns="128016" rIns="128016" bIns="76810" rtlCol="0" anchor="ctr"/>
          <a:lstStyle/>
          <a:p>
            <a:pPr algn="l" indent="0" marL="0">
              <a:buNone/>
            </a:pPr>
            <a:r>
              <a:rPr lang="en-US" sz="1250" b="1" dirty="0">
                <a:solidFill>
                  <a:srgbClr val="CADCFC"/>
                </a:solidFill>
                <a:latin typeface="Calibri" pitchFamily="34" charset="0"/>
                <a:ea typeface="Calibri" pitchFamily="34" charset="-122"/>
                <a:cs typeface="Calibri" pitchFamily="34" charset="-120"/>
              </a:rPr>
              <a:t>∩</a:t>
            </a:r>
            <a:pPr algn="l" indent="0" marL="0">
              <a:buNone/>
            </a:pPr>
            <a:endParaRPr lang="en-US" sz="1250" dirty="0"/>
          </a:p>
          <a:p>
            <a:pPr algn="l" indent="0" marL="0">
              <a:buNone/>
            </a:pPr>
            <a:r>
              <a:rPr lang="en-US" sz="1250" dirty="0">
                <a:solidFill>
                  <a:srgbClr val="CADCFC"/>
                </a:solidFill>
                <a:latin typeface="Calibri" pitchFamily="34" charset="0"/>
                <a:ea typeface="Calibri" pitchFamily="34" charset="-122"/>
                <a:cs typeface="Calibri" pitchFamily="34" charset="-120"/>
              </a:rPr>
              <a:t>intersection of sets: each shared word counts once</a:t>
            </a:r>
            <a:endParaRPr lang="en-US" sz="1250" dirty="0"/>
          </a:p>
        </p:txBody>
      </p:sp>
      <p:sp>
        <p:nvSpPr>
          <p:cNvPr id="10" name="Text 7"/>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BB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500" fill="hold"/>
                                        <p:tgtEl>
                                          <p:spTgt spid="5"/>
                                        </p:tgtEl>
                                        <p:attrNameLst>
                                          <p:attrName>ppt_w</p:attrName>
                                        </p:attrNameLst>
                                      </p:cBhvr>
                                      <p:tavLst>
                                        <p:tav tm="0">
                                          <p:val>
                                            <p:fltVal val="0"/>
                                          </p:val>
                                        </p:tav>
                                        <p:tav tm="100000">
                                          <p:val>
                                            <p:strVal val="#ppt_w"/>
                                          </p:val>
                                        </p:tav>
                                      </p:tavLst>
                                    </p:anim>
                                    <p:anim calcmode="lin" valueType="num">
                                      <p:cBhvr additive="base">
                                        <p:cTn id="6" dur="500" fill="hold"/>
                                        <p:tgtEl>
                                          <p:spTgt spid="5"/>
                                        </p:tgtEl>
                                        <p:attrNameLst>
                                          <p:attrName>ppt_h</p:attrName>
                                        </p:attrNameLst>
                                      </p:cBhvr>
                                      <p:tavLst>
                                        <p:tav tm="0">
                                          <p:val>
                                            <p:fltVal val="0"/>
                                          </p:val>
                                        </p:tav>
                                        <p:tav tm="100000">
                                          <p:val>
                                            <p:strVal val="#ppt_h"/>
                                          </p:val>
                                        </p:tav>
                                      </p:tavLst>
                                    </p:anim>
                                    <p:animEffect transition="in" filter="fade">
                                      <p:cBhvr>
                                        <p:cTn id="7"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ORIGINAL LESK (1986)</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Compare definitions with definitions</a:t>
            </a:r>
            <a:endParaRPr lang="en-US" sz="2800" dirty="0"/>
          </a:p>
        </p:txBody>
      </p:sp>
      <p:sp>
        <p:nvSpPr>
          <p:cNvPr id="5" name="a1_zoom_0_122"/>
          <p:cNvSpPr/>
          <p:nvPr/>
        </p:nvSpPr>
        <p:spPr>
          <a:xfrm>
            <a:off x="457200" y="1371600"/>
            <a:ext cx="548640" cy="548640"/>
          </a:xfrm>
          <a:prstGeom prst="ellipse">
            <a:avLst/>
          </a:prstGeom>
          <a:solidFill>
            <a:srgbClr val="1B2A49"/>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a1_wipe_100_123"/>
          <p:cNvSpPr/>
          <p:nvPr/>
        </p:nvSpPr>
        <p:spPr>
          <a:xfrm>
            <a:off x="1188720" y="1280160"/>
            <a:ext cx="4206240" cy="777240"/>
          </a:xfrm>
          <a:prstGeom prst="roundRect">
            <a:avLst>
              <a:gd name="adj" fmla="val 14118"/>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Retrieve</a:t>
            </a:r>
            <a:pPr algn="l" indent="0" marL="0">
              <a:buNone/>
            </a:pPr>
            <a:r>
              <a:rPr lang="en-US" sz="1400" dirty="0">
                <a:solidFill>
                  <a:srgbClr val="22262E"/>
                </a:solidFill>
                <a:latin typeface="Calibri" pitchFamily="34" charset="0"/>
                <a:ea typeface="Calibri" pitchFamily="34" charset="-122"/>
                <a:cs typeface="Calibri" pitchFamily="34" charset="-120"/>
              </a:rPr>
              <a:t>  all sense definitions S of the target word W from the dictionary</a:t>
            </a:r>
            <a:endParaRPr lang="en-US" sz="1400" dirty="0"/>
          </a:p>
        </p:txBody>
      </p:sp>
      <p:sp>
        <p:nvSpPr>
          <p:cNvPr id="7" name="a2_zoom_0_124"/>
          <p:cNvSpPr/>
          <p:nvPr/>
        </p:nvSpPr>
        <p:spPr>
          <a:xfrm>
            <a:off x="457200" y="2331720"/>
            <a:ext cx="548640" cy="548640"/>
          </a:xfrm>
          <a:prstGeom prst="ellipse">
            <a:avLst/>
          </a:prstGeom>
          <a:solidFill>
            <a:srgbClr val="1B2A49"/>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a2_wipe_100_125"/>
          <p:cNvSpPr/>
          <p:nvPr/>
        </p:nvSpPr>
        <p:spPr>
          <a:xfrm>
            <a:off x="1188720" y="2240280"/>
            <a:ext cx="4206240" cy="777240"/>
          </a:xfrm>
          <a:prstGeom prst="roundRect">
            <a:avLst>
              <a:gd name="adj" fmla="val 14118"/>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Compare</a:t>
            </a:r>
            <a:pPr algn="l" indent="0" marL="0">
              <a:buNone/>
            </a:pPr>
            <a:r>
              <a:rPr lang="en-US" sz="1400" dirty="0">
                <a:solidFill>
                  <a:srgbClr val="22262E"/>
                </a:solidFill>
                <a:latin typeface="Calibri" pitchFamily="34" charset="0"/>
                <a:ea typeface="Calibri" pitchFamily="34" charset="-122"/>
                <a:cs typeface="Calibri" pitchFamily="34" charset="-120"/>
              </a:rPr>
              <a:t>  each sense s in S with the dictionary definitions D of </a:t>
            </a:r>
            <a:pPr algn="l" indent="0" marL="0">
              <a:buNone/>
            </a:pPr>
            <a:r>
              <a:rPr lang="en-US" sz="1400" b="1" dirty="0">
                <a:solidFill>
                  <a:srgbClr val="22262E"/>
                </a:solidFill>
                <a:latin typeface="Calibri" pitchFamily="34" charset="0"/>
                <a:ea typeface="Calibri" pitchFamily="34" charset="-122"/>
                <a:cs typeface="Calibri" pitchFamily="34" charset="-120"/>
              </a:rPr>
              <a:t>all the other words</a:t>
            </a:r>
            <a:pPr algn="l" indent="0" marL="0">
              <a:buNone/>
            </a:pPr>
            <a:r>
              <a:rPr lang="en-US" sz="1400" dirty="0">
                <a:solidFill>
                  <a:srgbClr val="22262E"/>
                </a:solidFill>
                <a:latin typeface="Calibri" pitchFamily="34" charset="0"/>
                <a:ea typeface="Calibri" pitchFamily="34" charset="-122"/>
                <a:cs typeface="Calibri" pitchFamily="34" charset="-120"/>
              </a:rPr>
              <a:t> in the context</a:t>
            </a:r>
            <a:endParaRPr lang="en-US" sz="1400" dirty="0"/>
          </a:p>
        </p:txBody>
      </p:sp>
      <p:sp>
        <p:nvSpPr>
          <p:cNvPr id="9" name="a3_zoom_0_126"/>
          <p:cNvSpPr/>
          <p:nvPr/>
        </p:nvSpPr>
        <p:spPr>
          <a:xfrm>
            <a:off x="457200" y="3291840"/>
            <a:ext cx="548640" cy="548640"/>
          </a:xfrm>
          <a:prstGeom prst="ellipse">
            <a:avLst/>
          </a:prstGeom>
          <a:solidFill>
            <a:srgbClr val="1B2A49"/>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0" name="a3_wipe_100_127"/>
          <p:cNvSpPr/>
          <p:nvPr/>
        </p:nvSpPr>
        <p:spPr>
          <a:xfrm>
            <a:off x="1188720" y="3200400"/>
            <a:ext cx="4206240" cy="777240"/>
          </a:xfrm>
          <a:prstGeom prst="roundRect">
            <a:avLst>
              <a:gd name="adj" fmla="val 14118"/>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Select</a:t>
            </a:r>
            <a:pPr algn="l" indent="0" marL="0">
              <a:buNone/>
            </a:pPr>
            <a:r>
              <a:rPr lang="en-US" sz="1400" dirty="0">
                <a:solidFill>
                  <a:srgbClr val="22262E"/>
                </a:solidFill>
                <a:latin typeface="Calibri" pitchFamily="34" charset="0"/>
                <a:ea typeface="Calibri" pitchFamily="34" charset="-122"/>
                <a:cs typeface="Calibri" pitchFamily="34" charset="-120"/>
              </a:rPr>
              <a:t>  the sense s with the </a:t>
            </a:r>
            <a:pPr algn="l" indent="0" marL="0">
              <a:buNone/>
            </a:pPr>
            <a:r>
              <a:rPr lang="en-US" sz="1400" b="1" dirty="0">
                <a:solidFill>
                  <a:srgbClr val="22262E"/>
                </a:solidFill>
                <a:latin typeface="Calibri" pitchFamily="34" charset="0"/>
                <a:ea typeface="Calibri" pitchFamily="34" charset="-122"/>
                <a:cs typeface="Calibri" pitchFamily="34" charset="-120"/>
              </a:rPr>
              <a:t>most overlap</a:t>
            </a:r>
            <a:pPr algn="l" indent="0" marL="0">
              <a:buNone/>
            </a:pPr>
            <a:r>
              <a:rPr lang="en-US" sz="1400" dirty="0">
                <a:solidFill>
                  <a:srgbClr val="22262E"/>
                </a:solidFill>
                <a:latin typeface="Calibri" pitchFamily="34" charset="0"/>
                <a:ea typeface="Calibri" pitchFamily="34" charset="-122"/>
                <a:cs typeface="Calibri" pitchFamily="34" charset="-120"/>
              </a:rPr>
              <a:t> with D</a:t>
            </a:r>
            <a:endParaRPr lang="en-US" sz="1400" dirty="0"/>
          </a:p>
        </p:txBody>
      </p:sp>
      <p:sp>
        <p:nvSpPr>
          <p:cNvPr id="11" name="a4_fly_0_128"/>
          <p:cNvSpPr/>
          <p:nvPr/>
        </p:nvSpPr>
        <p:spPr>
          <a:xfrm>
            <a:off x="5760720" y="1280160"/>
            <a:ext cx="2926080" cy="1463040"/>
          </a:xfrm>
          <a:prstGeom prst="roundRect">
            <a:avLst>
              <a:gd name="adj" fmla="val 7500"/>
            </a:avLst>
          </a:prstGeom>
          <a:solidFill>
            <a:srgbClr val="FFF0C7"/>
          </a:solidFill>
          <a:ln w="12700">
            <a:solidFill>
              <a:srgbClr val="F4A300"/>
            </a:solidFill>
          </a:ln>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Indirect evidence</a:t>
            </a:r>
            <a:pPr algn="l" indent="0" marL="0">
              <a:buNone/>
            </a:pPr>
            <a:endParaRPr lang="en-US" sz="1400" dirty="0"/>
          </a:p>
          <a:p>
            <a:pPr algn="l" indent="0" marL="0">
              <a:buNone/>
            </a:pPr>
            <a:r>
              <a:rPr lang="en-US" sz="1400" dirty="0">
                <a:solidFill>
                  <a:srgbClr val="22262E"/>
                </a:solidFill>
                <a:latin typeface="Calibri" pitchFamily="34" charset="0"/>
                <a:ea typeface="Calibri" pitchFamily="34" charset="-122"/>
                <a:cs typeface="Calibri" pitchFamily="34" charset="-120"/>
              </a:rPr>
              <a:t>The neighbours' definitions are compared, not the neighbours themselves.</a:t>
            </a:r>
            <a:endParaRPr lang="en-US" sz="1400" dirty="0"/>
          </a:p>
        </p:txBody>
      </p:sp>
      <p:sp>
        <p:nvSpPr>
          <p:cNvPr id="12" name="a4_fly_300_129"/>
          <p:cNvSpPr/>
          <p:nvPr/>
        </p:nvSpPr>
        <p:spPr>
          <a:xfrm>
            <a:off x="5760720" y="2926080"/>
            <a:ext cx="2926080" cy="1143000"/>
          </a:xfrm>
          <a:prstGeom prst="roundRect">
            <a:avLst>
              <a:gd name="adj" fmla="val 9600"/>
            </a:avLst>
          </a:prstGeom>
          <a:solidFill>
            <a:srgbClr val="FDE6E1"/>
          </a:solidFill>
          <a:ln w="12700">
            <a:solidFill>
              <a:srgbClr val="D9503A"/>
            </a:solidFill>
          </a:ln>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Cost</a:t>
            </a:r>
            <a:pPr algn="l" indent="0" marL="0">
              <a:buNone/>
            </a:pPr>
            <a:endParaRPr lang="en-US" sz="1300" dirty="0"/>
          </a:p>
          <a:p>
            <a:pPr algn="l" indent="0" marL="0">
              <a:buNone/>
            </a:pPr>
            <a:r>
              <a:rPr lang="en-US" sz="1300" dirty="0">
                <a:solidFill>
                  <a:srgbClr val="22262E"/>
                </a:solidFill>
                <a:latin typeface="Calibri" pitchFamily="34" charset="0"/>
                <a:ea typeface="Calibri" pitchFamily="34" charset="-122"/>
                <a:cs typeface="Calibri" pitchFamily="34" charset="-120"/>
              </a:rPr>
              <a:t>Scoring every combination of senses over n ambiguous words grows exponentially.</a:t>
            </a:r>
            <a:endParaRPr lang="en-US" sz="130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500" fill="hold"/>
                                        <p:tgtEl>
                                          <p:spTgt spid="5"/>
                                        </p:tgtEl>
                                        <p:attrNameLst>
                                          <p:attrName>ppt_w</p:attrName>
                                        </p:attrNameLst>
                                      </p:cBhvr>
                                      <p:tavLst>
                                        <p:tav tm="0">
                                          <p:val>
                                            <p:fltVal val="0"/>
                                          </p:val>
                                        </p:tav>
                                        <p:tav tm="100000">
                                          <p:val>
                                            <p:strVal val="#ppt_w"/>
                                          </p:val>
                                        </p:tav>
                                      </p:tavLst>
                                    </p:anim>
                                    <p:anim calcmode="lin" valueType="num">
                                      <p:cBhvr additive="base">
                                        <p:cTn id="6" dur="500" fill="hold"/>
                                        <p:tgtEl>
                                          <p:spTgt spid="5"/>
                                        </p:tgtEl>
                                        <p:attrNameLst>
                                          <p:attrName>ppt_h</p:attrName>
                                        </p:attrNameLst>
                                      </p:cBhvr>
                                      <p:tavLst>
                                        <p:tav tm="0">
                                          <p:val>
                                            <p:fltVal val="0"/>
                                          </p:val>
                                        </p:tav>
                                        <p:tav tm="100000">
                                          <p:val>
                                            <p:strVal val="#ppt_h"/>
                                          </p:val>
                                        </p:tav>
                                      </p:tavLst>
                                    </p:anim>
                                    <p:animEffect transition="in" filter="fade">
                                      <p:cBhvr>
                                        <p:cTn id="7" dur="500"/>
                                        <p:tgtEl>
                                          <p:spTgt spid="5"/>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ppt_w</p:attrName>
                                        </p:attrNameLst>
                                      </p:cBhvr>
                                      <p:tavLst>
                                        <p:tav tm="0">
                                          <p:val>
                                            <p:fltVal val="0"/>
                                          </p:val>
                                        </p:tav>
                                        <p:tav tm="100000">
                                          <p:val>
                                            <p:strVal val="#ppt_w"/>
                                          </p:val>
                                        </p:tav>
                                      </p:tavLst>
                                    </p:anim>
                                    <p:anim calcmode="lin" valueType="num">
                                      <p:cBhvr additive="base">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22" presetClass="entr" presetSubtype="8" fill="hold" grpId="0" nodeType="withEffect">
                                  <p:stCondLst>
                                    <p:cond delay="10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ppt_w</p:attrName>
                                        </p:attrNameLst>
                                      </p:cBhvr>
                                      <p:tavLst>
                                        <p:tav tm="0">
                                          <p:val>
                                            <p:fltVal val="0"/>
                                          </p:val>
                                        </p:tav>
                                        <p:tav tm="100000">
                                          <p:val>
                                            <p:strVal val="#ppt_w"/>
                                          </p:val>
                                        </p:tav>
                                      </p:tavLst>
                                    </p:anim>
                                    <p:anim calcmode="lin" valueType="num">
                                      <p:cBhvr additive="base">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2" presetClass="entr" presetSubtype="8" fill="hold" grpId="0" nodeType="withEffect">
                                  <p:stCondLst>
                                    <p:cond delay="1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30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ORIGINAL LESK EXAMPLE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“pine cone”: which senses go together?</a:t>
            </a:r>
            <a:endParaRPr lang="en-US" sz="2800" dirty="0"/>
          </a:p>
        </p:txBody>
      </p:sp>
      <p:sp>
        <p:nvSpPr>
          <p:cNvPr id="5" name="a1_fade_0_130"/>
          <p:cNvSpPr txBox="1"/>
          <p:nvPr/>
        </p:nvSpPr>
        <p:spPr>
          <a:xfrm>
            <a:off x="457200" y="1097280"/>
            <a:ext cx="3657600" cy="274320"/>
          </a:xfrm>
          <a:prstGeom prst="rect">
            <a:avLst/>
          </a:prstGeom>
          <a:noFill/>
          <a:ln/>
        </p:spPr>
        <p:txBody>
          <a:bodyPr wrap="square" lIns="0" tIns="0" rIns="0" bIns="0" rtlCol="0" anchor="t"/>
          <a:lstStyle/>
          <a:p>
            <a:pPr indent="0" marL="0">
              <a:buNone/>
            </a:pPr>
            <a:r>
              <a:rPr lang="en-US" sz="1600" b="1" dirty="0">
                <a:solidFill>
                  <a:srgbClr val="1F8A7D"/>
                </a:solidFill>
                <a:latin typeface="Cambria" pitchFamily="34" charset="0"/>
                <a:ea typeface="Cambria" pitchFamily="34" charset="-122"/>
                <a:cs typeface="Cambria" pitchFamily="34" charset="-120"/>
              </a:rPr>
              <a:t>pine</a:t>
            </a:r>
            <a:endParaRPr lang="en-US" sz="1600" dirty="0"/>
          </a:p>
        </p:txBody>
      </p:sp>
      <p:sp>
        <p:nvSpPr>
          <p:cNvPr id="6" name="a1_wipe_100_131"/>
          <p:cNvSpPr/>
          <p:nvPr/>
        </p:nvSpPr>
        <p:spPr>
          <a:xfrm>
            <a:off x="457200" y="1417320"/>
            <a:ext cx="3931920" cy="868680"/>
          </a:xfrm>
          <a:prstGeom prst="roundRect">
            <a:avLst>
              <a:gd name="adj" fmla="val 1263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1</a:t>
            </a:r>
            <a:pPr algn="l" indent="0" marL="0">
              <a:buNone/>
            </a:pPr>
            <a:r>
              <a:rPr lang="en-US" sz="1300" dirty="0">
                <a:solidFill>
                  <a:srgbClr val="22262E"/>
                </a:solidFill>
                <a:latin typeface="Calibri" pitchFamily="34" charset="0"/>
                <a:ea typeface="Calibri" pitchFamily="34" charset="-122"/>
                <a:cs typeface="Calibri" pitchFamily="34" charset="-120"/>
              </a:rPr>
              <a:t>  kinds of </a:t>
            </a:r>
            <a:pPr algn="l" indent="0" marL="0">
              <a:buNone/>
            </a:pPr>
            <a:r>
              <a:rPr lang="en-US" sz="1300" b="1" dirty="0">
                <a:solidFill>
                  <a:srgbClr val="22262E"/>
                </a:solidFill>
                <a:highlight>
                  <a:srgbClr val="FFD970"/>
                </a:highlight>
                <a:latin typeface="Calibri" pitchFamily="34" charset="0"/>
                <a:ea typeface="Calibri" pitchFamily="34" charset="-122"/>
                <a:cs typeface="Calibri" pitchFamily="34" charset="-120"/>
              </a:rPr>
              <a:t>evergreen tree</a:t>
            </a:r>
            <a:pPr algn="l" indent="0" marL="0">
              <a:buNone/>
            </a:pPr>
            <a:r>
              <a:rPr lang="en-US" sz="1300" dirty="0">
                <a:solidFill>
                  <a:srgbClr val="22262E"/>
                </a:solidFill>
                <a:latin typeface="Calibri" pitchFamily="34" charset="0"/>
                <a:ea typeface="Calibri" pitchFamily="34" charset="-122"/>
                <a:cs typeface="Calibri" pitchFamily="34" charset="-120"/>
              </a:rPr>
              <a:t> with needle-shaped leaves</a:t>
            </a:r>
            <a:endParaRPr lang="en-US" sz="1300" dirty="0"/>
          </a:p>
        </p:txBody>
      </p:sp>
      <p:sp>
        <p:nvSpPr>
          <p:cNvPr id="7" name="a1_wipe_300_132"/>
          <p:cNvSpPr/>
          <p:nvPr/>
        </p:nvSpPr>
        <p:spPr>
          <a:xfrm>
            <a:off x="457200" y="2423160"/>
            <a:ext cx="3931920" cy="868680"/>
          </a:xfrm>
          <a:prstGeom prst="roundRect">
            <a:avLst>
              <a:gd name="adj" fmla="val 1263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2</a:t>
            </a:r>
            <a:pPr algn="l" indent="0" marL="0">
              <a:buNone/>
            </a:pPr>
            <a:r>
              <a:rPr lang="en-US" sz="1300" dirty="0">
                <a:solidFill>
                  <a:srgbClr val="22262E"/>
                </a:solidFill>
                <a:latin typeface="Calibri" pitchFamily="34" charset="0"/>
                <a:ea typeface="Calibri" pitchFamily="34" charset="-122"/>
                <a:cs typeface="Calibri" pitchFamily="34" charset="-120"/>
              </a:rPr>
              <a:t>  waste away through sorrow or illness</a:t>
            </a:r>
            <a:endParaRPr lang="en-US" sz="1300" dirty="0"/>
          </a:p>
        </p:txBody>
      </p:sp>
      <p:sp>
        <p:nvSpPr>
          <p:cNvPr id="8" name="a2_fade_0_133"/>
          <p:cNvSpPr txBox="1"/>
          <p:nvPr/>
        </p:nvSpPr>
        <p:spPr>
          <a:xfrm>
            <a:off x="4754880" y="1097280"/>
            <a:ext cx="3657600" cy="274320"/>
          </a:xfrm>
          <a:prstGeom prst="rect">
            <a:avLst/>
          </a:prstGeom>
          <a:noFill/>
          <a:ln/>
        </p:spPr>
        <p:txBody>
          <a:bodyPr wrap="square" lIns="0" tIns="0" rIns="0" bIns="0" rtlCol="0" anchor="t"/>
          <a:lstStyle/>
          <a:p>
            <a:pPr indent="0" marL="0">
              <a:buNone/>
            </a:pPr>
            <a:r>
              <a:rPr lang="en-US" sz="1600" b="1" dirty="0">
                <a:solidFill>
                  <a:srgbClr val="D9503A"/>
                </a:solidFill>
                <a:latin typeface="Cambria" pitchFamily="34" charset="0"/>
                <a:ea typeface="Cambria" pitchFamily="34" charset="-122"/>
                <a:cs typeface="Cambria" pitchFamily="34" charset="-120"/>
              </a:rPr>
              <a:t>cone</a:t>
            </a:r>
            <a:endParaRPr lang="en-US" sz="1600" dirty="0"/>
          </a:p>
        </p:txBody>
      </p:sp>
      <p:sp>
        <p:nvSpPr>
          <p:cNvPr id="9" name="a2_wipe_100_134"/>
          <p:cNvSpPr/>
          <p:nvPr/>
        </p:nvSpPr>
        <p:spPr>
          <a:xfrm>
            <a:off x="4754880" y="1417320"/>
            <a:ext cx="3931920" cy="640080"/>
          </a:xfrm>
          <a:prstGeom prst="roundRect">
            <a:avLst>
              <a:gd name="adj" fmla="val 1714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1</a:t>
            </a:r>
            <a:pPr algn="l" indent="0" marL="0">
              <a:buNone/>
            </a:pPr>
            <a:r>
              <a:rPr lang="en-US" sz="1250" dirty="0">
                <a:solidFill>
                  <a:srgbClr val="22262E"/>
                </a:solidFill>
                <a:latin typeface="Calibri" pitchFamily="34" charset="0"/>
                <a:ea typeface="Calibri" pitchFamily="34" charset="-122"/>
                <a:cs typeface="Calibri" pitchFamily="34" charset="-120"/>
              </a:rPr>
              <a:t>  solid body which narrows to a point</a:t>
            </a:r>
            <a:endParaRPr lang="en-US" sz="1250" dirty="0"/>
          </a:p>
        </p:txBody>
      </p:sp>
      <p:sp>
        <p:nvSpPr>
          <p:cNvPr id="10" name="a2_wipe_300_135"/>
          <p:cNvSpPr/>
          <p:nvPr/>
        </p:nvSpPr>
        <p:spPr>
          <a:xfrm>
            <a:off x="4754880" y="2148840"/>
            <a:ext cx="3931920" cy="640080"/>
          </a:xfrm>
          <a:prstGeom prst="roundRect">
            <a:avLst>
              <a:gd name="adj" fmla="val 1714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2</a:t>
            </a:r>
            <a:pPr algn="l" indent="0" marL="0">
              <a:buNone/>
            </a:pPr>
            <a:r>
              <a:rPr lang="en-US" sz="1250" dirty="0">
                <a:solidFill>
                  <a:srgbClr val="22262E"/>
                </a:solidFill>
                <a:latin typeface="Calibri" pitchFamily="34" charset="0"/>
                <a:ea typeface="Calibri" pitchFamily="34" charset="-122"/>
                <a:cs typeface="Calibri" pitchFamily="34" charset="-120"/>
              </a:rPr>
              <a:t>  something of this shape whether solid or hollow</a:t>
            </a:r>
            <a:endParaRPr lang="en-US" sz="1250" dirty="0"/>
          </a:p>
        </p:txBody>
      </p:sp>
      <p:sp>
        <p:nvSpPr>
          <p:cNvPr id="11" name="a2_wipe_500_136"/>
          <p:cNvSpPr/>
          <p:nvPr/>
        </p:nvSpPr>
        <p:spPr>
          <a:xfrm>
            <a:off x="4754880" y="2880360"/>
            <a:ext cx="3931920" cy="640080"/>
          </a:xfrm>
          <a:prstGeom prst="roundRect">
            <a:avLst>
              <a:gd name="adj" fmla="val 1714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3</a:t>
            </a:r>
            <a:pPr algn="l" indent="0" marL="0">
              <a:buNone/>
            </a:pPr>
            <a:r>
              <a:rPr lang="en-US" sz="1250" dirty="0">
                <a:solidFill>
                  <a:srgbClr val="22262E"/>
                </a:solidFill>
                <a:latin typeface="Calibri" pitchFamily="34" charset="0"/>
                <a:ea typeface="Calibri" pitchFamily="34" charset="-122"/>
                <a:cs typeface="Calibri" pitchFamily="34" charset="-120"/>
              </a:rPr>
              <a:t>  fruit of certain </a:t>
            </a:r>
            <a:pPr algn="l" indent="0" marL="0">
              <a:buNone/>
            </a:pPr>
            <a:r>
              <a:rPr lang="en-US" sz="1250" b="1" dirty="0">
                <a:solidFill>
                  <a:srgbClr val="22262E"/>
                </a:solidFill>
                <a:highlight>
                  <a:srgbClr val="FFD970"/>
                </a:highlight>
                <a:latin typeface="Calibri" pitchFamily="34" charset="0"/>
                <a:ea typeface="Calibri" pitchFamily="34" charset="-122"/>
                <a:cs typeface="Calibri" pitchFamily="34" charset="-120"/>
              </a:rPr>
              <a:t>evergreen trees</a:t>
            </a:r>
            <a:endParaRPr lang="en-US" sz="1250" dirty="0"/>
          </a:p>
        </p:txBody>
      </p:sp>
      <p:sp>
        <p:nvSpPr>
          <p:cNvPr id="12" name="a3_zoom_0_137"/>
          <p:cNvSpPr/>
          <p:nvPr/>
        </p:nvSpPr>
        <p:spPr>
          <a:xfrm>
            <a:off x="457200" y="3749040"/>
            <a:ext cx="8229600" cy="640080"/>
          </a:xfrm>
          <a:prstGeom prst="roundRect">
            <a:avLst>
              <a:gd name="adj" fmla="val 17143"/>
            </a:avLst>
          </a:prstGeom>
          <a:solidFill>
            <a:srgbClr val="F4A30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500" dirty="0">
                <a:solidFill>
                  <a:srgbClr val="22262E"/>
                </a:solidFill>
                <a:latin typeface="Calibri" pitchFamily="34" charset="0"/>
                <a:ea typeface="Calibri" pitchFamily="34" charset="-122"/>
                <a:cs typeface="Calibri" pitchFamily="34" charset="-120"/>
              </a:rPr>
              <a:t>pine 1 ∩ cone 3 = {evergreen, tree} = </a:t>
            </a:r>
            <a:pPr algn="ctr" indent="0" marL="0">
              <a:buNone/>
            </a:pPr>
            <a:r>
              <a:rPr lang="en-US" sz="1500" b="1" dirty="0">
                <a:solidFill>
                  <a:srgbClr val="22262E"/>
                </a:solidFill>
                <a:latin typeface="Calibri" pitchFamily="34" charset="0"/>
                <a:ea typeface="Calibri" pitchFamily="34" charset="-122"/>
                <a:cs typeface="Calibri" pitchFamily="34" charset="-120"/>
              </a:rPr>
              <a:t>2</a:t>
            </a:r>
            <a:pPr algn="ctr" indent="0" marL="0">
              <a:buNone/>
            </a:pPr>
            <a:r>
              <a:rPr lang="en-US" sz="1500" dirty="0">
                <a:solidFill>
                  <a:srgbClr val="22262E"/>
                </a:solidFill>
                <a:latin typeface="Calibri" pitchFamily="34" charset="0"/>
                <a:ea typeface="Calibri" pitchFamily="34" charset="-122"/>
                <a:cs typeface="Calibri" pitchFamily="34" charset="-120"/>
              </a:rPr>
              <a:t>   ·   every other pair = 0   →   pine = tree, cone = fruit of the tree</a:t>
            </a:r>
            <a:endParaRPr lang="en-US" sz="150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22" presetClass="entr" presetSubtype="8"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8" dur="500"/>
                                        <p:tgtEl>
                                          <p:spTgt spid="6"/>
                                        </p:tgtEl>
                                      </p:cBhvr>
                                    </p:animEffect>
                                  </p:childTnLst>
                                </p:cTn>
                              </p:par>
                              <p:par>
                                <p:cTn id="9" presetID="22" presetClass="entr" presetSubtype="8" fill="hold" grpId="0" nodeType="withEffect">
                                  <p:stCondLst>
                                    <p:cond delay="3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22" presetClass="entr" presetSubtype="8" fill="hold" grpId="0" nodeType="withEffect">
                                  <p:stCondLst>
                                    <p:cond delay="1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30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ppt_w</p:attrName>
                                        </p:attrNameLst>
                                      </p:cBhvr>
                                      <p:tavLst>
                                        <p:tav tm="0">
                                          <p:val>
                                            <p:fltVal val="0"/>
                                          </p:val>
                                        </p:tav>
                                        <p:tav tm="100000">
                                          <p:val>
                                            <p:strVal val="#ppt_w"/>
                                          </p:val>
                                        </p:tav>
                                      </p:tavLst>
                                    </p:anim>
                                    <p:anim calcmode="lin" valueType="num">
                                      <p:cBhvr additive="base">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SIMPLIFIED LESK (2000)</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Compare signatures directly with the context</a:t>
            </a:r>
            <a:endParaRPr lang="en-US" sz="2800" dirty="0"/>
          </a:p>
        </p:txBody>
      </p:sp>
      <p:sp>
        <p:nvSpPr>
          <p:cNvPr id="5" name="a1_fade_0_138"/>
          <p:cNvSpPr/>
          <p:nvPr/>
        </p:nvSpPr>
        <p:spPr>
          <a:xfrm>
            <a:off x="457200" y="1280160"/>
            <a:ext cx="2606040" cy="1234440"/>
          </a:xfrm>
          <a:prstGeom prst="roundRect">
            <a:avLst>
              <a:gd name="adj" fmla="val 8889"/>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6" name="a1_fade_80_139"/>
          <p:cNvSpPr txBox="1"/>
          <p:nvPr/>
        </p:nvSpPr>
        <p:spPr>
          <a:xfrm>
            <a:off x="594360" y="1389888"/>
            <a:ext cx="457200" cy="411480"/>
          </a:xfrm>
          <a:prstGeom prst="rect">
            <a:avLst/>
          </a:prstGeom>
          <a:noFill/>
          <a:ln/>
        </p:spPr>
        <p:txBody>
          <a:bodyPr wrap="square" lIns="0" tIns="0" rIns="0" bIns="0" rtlCol="0" anchor="t"/>
          <a:lstStyle/>
          <a:p>
            <a:pPr indent="0" marL="0">
              <a:buNone/>
            </a:pPr>
            <a:r>
              <a:rPr lang="en-US" sz="2400" b="1" dirty="0">
                <a:solidFill>
                  <a:srgbClr val="1F8A7D"/>
                </a:solidFill>
                <a:latin typeface="Cambria" pitchFamily="34" charset="0"/>
                <a:ea typeface="Cambria" pitchFamily="34" charset="-122"/>
                <a:cs typeface="Cambria" pitchFamily="34" charset="-120"/>
              </a:rPr>
              <a:t>1</a:t>
            </a:r>
            <a:endParaRPr lang="en-US" sz="2400" dirty="0"/>
          </a:p>
        </p:txBody>
      </p:sp>
      <p:sp>
        <p:nvSpPr>
          <p:cNvPr id="7" name="a1_fade_80_140"/>
          <p:cNvSpPr txBox="1"/>
          <p:nvPr/>
        </p:nvSpPr>
        <p:spPr>
          <a:xfrm>
            <a:off x="594360" y="1828800"/>
            <a:ext cx="2331720" cy="64008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Pick the target word and list its candidate senses</a:t>
            </a:r>
            <a:endParaRPr lang="en-US" sz="1250" dirty="0"/>
          </a:p>
        </p:txBody>
      </p:sp>
      <p:sp>
        <p:nvSpPr>
          <p:cNvPr id="8" name="a1_fade_200_141"/>
          <p:cNvSpPr/>
          <p:nvPr/>
        </p:nvSpPr>
        <p:spPr>
          <a:xfrm>
            <a:off x="3246120" y="1280160"/>
            <a:ext cx="2606040" cy="1234440"/>
          </a:xfrm>
          <a:prstGeom prst="roundRect">
            <a:avLst>
              <a:gd name="adj" fmla="val 8889"/>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9" name="a1_fade_280_142"/>
          <p:cNvSpPr txBox="1"/>
          <p:nvPr/>
        </p:nvSpPr>
        <p:spPr>
          <a:xfrm>
            <a:off x="3383280" y="1389888"/>
            <a:ext cx="457200" cy="411480"/>
          </a:xfrm>
          <a:prstGeom prst="rect">
            <a:avLst/>
          </a:prstGeom>
          <a:noFill/>
          <a:ln/>
        </p:spPr>
        <p:txBody>
          <a:bodyPr wrap="square" lIns="0" tIns="0" rIns="0" bIns="0" rtlCol="0" anchor="t"/>
          <a:lstStyle/>
          <a:p>
            <a:pPr indent="0" marL="0">
              <a:buNone/>
            </a:pPr>
            <a:r>
              <a:rPr lang="en-US" sz="2400" b="1" dirty="0">
                <a:solidFill>
                  <a:srgbClr val="1F8A7D"/>
                </a:solidFill>
                <a:latin typeface="Cambria" pitchFamily="34" charset="0"/>
                <a:ea typeface="Cambria" pitchFamily="34" charset="-122"/>
                <a:cs typeface="Cambria" pitchFamily="34" charset="-120"/>
              </a:rPr>
              <a:t>2</a:t>
            </a:r>
            <a:endParaRPr lang="en-US" sz="2400" dirty="0"/>
          </a:p>
        </p:txBody>
      </p:sp>
      <p:sp>
        <p:nvSpPr>
          <p:cNvPr id="10" name="a1_fade_280_143"/>
          <p:cNvSpPr txBox="1"/>
          <p:nvPr/>
        </p:nvSpPr>
        <p:spPr>
          <a:xfrm>
            <a:off x="3383280" y="1828800"/>
            <a:ext cx="2331720" cy="64008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Take the sentence (or window) containing it as context</a:t>
            </a:r>
            <a:endParaRPr lang="en-US" sz="1250" dirty="0"/>
          </a:p>
        </p:txBody>
      </p:sp>
      <p:sp>
        <p:nvSpPr>
          <p:cNvPr id="11" name="a1_fade_400_144"/>
          <p:cNvSpPr/>
          <p:nvPr/>
        </p:nvSpPr>
        <p:spPr>
          <a:xfrm>
            <a:off x="6035040" y="1280160"/>
            <a:ext cx="2606040" cy="1234440"/>
          </a:xfrm>
          <a:prstGeom prst="roundRect">
            <a:avLst>
              <a:gd name="adj" fmla="val 8889"/>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2" name="a1_fade_480_145"/>
          <p:cNvSpPr txBox="1"/>
          <p:nvPr/>
        </p:nvSpPr>
        <p:spPr>
          <a:xfrm>
            <a:off x="6172200" y="1389888"/>
            <a:ext cx="457200" cy="411480"/>
          </a:xfrm>
          <a:prstGeom prst="rect">
            <a:avLst/>
          </a:prstGeom>
          <a:noFill/>
          <a:ln/>
        </p:spPr>
        <p:txBody>
          <a:bodyPr wrap="square" lIns="0" tIns="0" rIns="0" bIns="0" rtlCol="0" anchor="t"/>
          <a:lstStyle/>
          <a:p>
            <a:pPr indent="0" marL="0">
              <a:buNone/>
            </a:pPr>
            <a:r>
              <a:rPr lang="en-US" sz="2400" b="1" dirty="0">
                <a:solidFill>
                  <a:srgbClr val="1F8A7D"/>
                </a:solidFill>
                <a:latin typeface="Cambria" pitchFamily="34" charset="0"/>
                <a:ea typeface="Cambria" pitchFamily="34" charset="-122"/>
                <a:cs typeface="Cambria" pitchFamily="34" charset="-120"/>
              </a:rPr>
              <a:t>3</a:t>
            </a:r>
            <a:endParaRPr lang="en-US" sz="2400" dirty="0"/>
          </a:p>
        </p:txBody>
      </p:sp>
      <p:sp>
        <p:nvSpPr>
          <p:cNvPr id="13" name="a1_fade_480_146"/>
          <p:cNvSpPr txBox="1"/>
          <p:nvPr/>
        </p:nvSpPr>
        <p:spPr>
          <a:xfrm>
            <a:off x="6172200" y="1828800"/>
            <a:ext cx="2331720" cy="64008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Preprocess the context; </a:t>
            </a:r>
            <a:pPr indent="0" marL="0">
              <a:buNone/>
            </a:pPr>
            <a:r>
              <a:rPr lang="en-US" sz="1250" b="1" dirty="0">
                <a:solidFill>
                  <a:srgbClr val="22262E"/>
                </a:solidFill>
                <a:latin typeface="Calibri" pitchFamily="34" charset="0"/>
                <a:ea typeface="Calibri" pitchFamily="34" charset="-122"/>
                <a:cs typeface="Calibri" pitchFamily="34" charset="-120"/>
              </a:rPr>
              <a:t>remove the target</a:t>
            </a:r>
            <a:endParaRPr lang="en-US" sz="1250" dirty="0"/>
          </a:p>
        </p:txBody>
      </p:sp>
      <p:sp>
        <p:nvSpPr>
          <p:cNvPr id="14" name="a1_fade_600_147"/>
          <p:cNvSpPr/>
          <p:nvPr/>
        </p:nvSpPr>
        <p:spPr>
          <a:xfrm>
            <a:off x="457200" y="2697480"/>
            <a:ext cx="2606040" cy="1234440"/>
          </a:xfrm>
          <a:prstGeom prst="roundRect">
            <a:avLst>
              <a:gd name="adj" fmla="val 8889"/>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5" name="a1_fade_680_148"/>
          <p:cNvSpPr txBox="1"/>
          <p:nvPr/>
        </p:nvSpPr>
        <p:spPr>
          <a:xfrm>
            <a:off x="594360" y="2807208"/>
            <a:ext cx="457200" cy="411480"/>
          </a:xfrm>
          <a:prstGeom prst="rect">
            <a:avLst/>
          </a:prstGeom>
          <a:noFill/>
          <a:ln/>
        </p:spPr>
        <p:txBody>
          <a:bodyPr wrap="square" lIns="0" tIns="0" rIns="0" bIns="0" rtlCol="0" anchor="t"/>
          <a:lstStyle/>
          <a:p>
            <a:pPr indent="0" marL="0">
              <a:buNone/>
            </a:pPr>
            <a:r>
              <a:rPr lang="en-US" sz="2400" b="1" dirty="0">
                <a:solidFill>
                  <a:srgbClr val="1F8A7D"/>
                </a:solidFill>
                <a:latin typeface="Cambria" pitchFamily="34" charset="0"/>
                <a:ea typeface="Cambria" pitchFamily="34" charset="-122"/>
                <a:cs typeface="Cambria" pitchFamily="34" charset="-120"/>
              </a:rPr>
              <a:t>4</a:t>
            </a:r>
            <a:endParaRPr lang="en-US" sz="2400" dirty="0"/>
          </a:p>
        </p:txBody>
      </p:sp>
      <p:sp>
        <p:nvSpPr>
          <p:cNvPr id="16" name="a1_fade_680_149"/>
          <p:cNvSpPr txBox="1"/>
          <p:nvPr/>
        </p:nvSpPr>
        <p:spPr>
          <a:xfrm>
            <a:off x="594360" y="3246120"/>
            <a:ext cx="2331720" cy="64008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Build each sense's signature (gloss + examples), same preprocessing</a:t>
            </a:r>
            <a:endParaRPr lang="en-US" sz="1250" dirty="0"/>
          </a:p>
        </p:txBody>
      </p:sp>
      <p:sp>
        <p:nvSpPr>
          <p:cNvPr id="17" name="a1_fade_800_150"/>
          <p:cNvSpPr/>
          <p:nvPr/>
        </p:nvSpPr>
        <p:spPr>
          <a:xfrm>
            <a:off x="3246120" y="2697480"/>
            <a:ext cx="2606040" cy="1234440"/>
          </a:xfrm>
          <a:prstGeom prst="roundRect">
            <a:avLst>
              <a:gd name="adj" fmla="val 8889"/>
            </a:avLst>
          </a:prstGeom>
          <a:solidFill>
            <a:srgbClr val="FFF0C7"/>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8" name="a1_fade_880_151"/>
          <p:cNvSpPr txBox="1"/>
          <p:nvPr/>
        </p:nvSpPr>
        <p:spPr>
          <a:xfrm>
            <a:off x="3383280" y="2807208"/>
            <a:ext cx="457200" cy="411480"/>
          </a:xfrm>
          <a:prstGeom prst="rect">
            <a:avLst/>
          </a:prstGeom>
          <a:noFill/>
          <a:ln/>
        </p:spPr>
        <p:txBody>
          <a:bodyPr wrap="square" lIns="0" tIns="0" rIns="0" bIns="0" rtlCol="0" anchor="t"/>
          <a:lstStyle/>
          <a:p>
            <a:pPr indent="0" marL="0">
              <a:buNone/>
            </a:pPr>
            <a:r>
              <a:rPr lang="en-US" sz="2400" b="1" dirty="0">
                <a:solidFill>
                  <a:srgbClr val="8A5A00"/>
                </a:solidFill>
                <a:latin typeface="Cambria" pitchFamily="34" charset="0"/>
                <a:ea typeface="Cambria" pitchFamily="34" charset="-122"/>
                <a:cs typeface="Cambria" pitchFamily="34" charset="-120"/>
              </a:rPr>
              <a:t>5</a:t>
            </a:r>
            <a:endParaRPr lang="en-US" sz="2400" dirty="0"/>
          </a:p>
        </p:txBody>
      </p:sp>
      <p:sp>
        <p:nvSpPr>
          <p:cNvPr id="19" name="a1_fade_880_152"/>
          <p:cNvSpPr txBox="1"/>
          <p:nvPr/>
        </p:nvSpPr>
        <p:spPr>
          <a:xfrm>
            <a:off x="3383280" y="3246120"/>
            <a:ext cx="2331720" cy="64008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Score each sense: | signature ∩ context |</a:t>
            </a:r>
            <a:endParaRPr lang="en-US" sz="1250" dirty="0"/>
          </a:p>
        </p:txBody>
      </p:sp>
      <p:sp>
        <p:nvSpPr>
          <p:cNvPr id="20" name="a1_fade_1000_153"/>
          <p:cNvSpPr/>
          <p:nvPr/>
        </p:nvSpPr>
        <p:spPr>
          <a:xfrm>
            <a:off x="6035040" y="2697480"/>
            <a:ext cx="2606040" cy="1234440"/>
          </a:xfrm>
          <a:prstGeom prst="roundRect">
            <a:avLst>
              <a:gd name="adj" fmla="val 8889"/>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21" name="a1_fade_1080_154"/>
          <p:cNvSpPr txBox="1"/>
          <p:nvPr/>
        </p:nvSpPr>
        <p:spPr>
          <a:xfrm>
            <a:off x="6172200" y="2807208"/>
            <a:ext cx="457200" cy="411480"/>
          </a:xfrm>
          <a:prstGeom prst="rect">
            <a:avLst/>
          </a:prstGeom>
          <a:noFill/>
          <a:ln/>
        </p:spPr>
        <p:txBody>
          <a:bodyPr wrap="square" lIns="0" tIns="0" rIns="0" bIns="0" rtlCol="0" anchor="t"/>
          <a:lstStyle/>
          <a:p>
            <a:pPr indent="0" marL="0">
              <a:buNone/>
            </a:pPr>
            <a:r>
              <a:rPr lang="en-US" sz="2400" b="1" dirty="0">
                <a:solidFill>
                  <a:srgbClr val="1F8A7D"/>
                </a:solidFill>
                <a:latin typeface="Cambria" pitchFamily="34" charset="0"/>
                <a:ea typeface="Cambria" pitchFamily="34" charset="-122"/>
                <a:cs typeface="Cambria" pitchFamily="34" charset="-120"/>
              </a:rPr>
              <a:t>6</a:t>
            </a:r>
            <a:endParaRPr lang="en-US" sz="2400" dirty="0"/>
          </a:p>
        </p:txBody>
      </p:sp>
      <p:sp>
        <p:nvSpPr>
          <p:cNvPr id="22" name="a1_fade_1080_155"/>
          <p:cNvSpPr txBox="1"/>
          <p:nvPr/>
        </p:nvSpPr>
        <p:spPr>
          <a:xfrm>
            <a:off x="6172200" y="3246120"/>
            <a:ext cx="2331720" cy="64008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Choose the maximum; state the tie and zero rules</a:t>
            </a:r>
            <a:endParaRPr lang="en-US" sz="1250" dirty="0"/>
          </a:p>
        </p:txBody>
      </p:sp>
      <p:sp>
        <p:nvSpPr>
          <p:cNvPr id="23" name="a2_fade_0_156"/>
          <p:cNvSpPr/>
          <p:nvPr/>
        </p:nvSpPr>
        <p:spPr>
          <a:xfrm>
            <a:off x="457200" y="4206240"/>
            <a:ext cx="8229600" cy="457200"/>
          </a:xfrm>
          <a:prstGeom prst="roundRect">
            <a:avLst>
              <a:gd name="adj" fmla="val 24000"/>
            </a:avLst>
          </a:prstGeom>
          <a:solidFill>
            <a:srgbClr val="E2F3F0"/>
          </a:solidFill>
          <a:ln/>
        </p:spPr>
        <p:txBody>
          <a:bodyPr wrap="square" lIns="76810" tIns="128016" rIns="128016" bIns="7681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One target at a time → no combinatorial explosion, and it beat the original in evaluations.</a:t>
            </a:r>
            <a:endParaRPr lang="en-US" sz="1300" dirty="0"/>
          </a:p>
        </p:txBody>
      </p:sp>
      <p:sp>
        <p:nvSpPr>
          <p:cNvPr id="24" name="Text 21"/>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8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8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8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8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4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48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48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6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68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68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8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88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88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10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1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108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par>
                    <p:cTn id="62" fill="hold">
                      <p:stCondLst>
                        <p:cond delay="indefinite"/>
                      </p:stCondLst>
                      <p:childTnLst>
                        <p:par>
                          <p:cTn id="6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9"/>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F4A300"/>
                </a:solidFill>
                <a:latin typeface="Calibri" pitchFamily="34" charset="0"/>
                <a:ea typeface="Calibri" pitchFamily="34" charset="-122"/>
                <a:cs typeface="Calibri" pitchFamily="34" charset="-120"/>
              </a:rPr>
              <a:t>PSEUDOCODE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Simplified Lesk, line by line</a:t>
            </a:r>
            <a:endParaRPr lang="en-US" sz="2800" dirty="0"/>
          </a:p>
        </p:txBody>
      </p:sp>
      <p:sp>
        <p:nvSpPr>
          <p:cNvPr id="5" name="Shape 2"/>
          <p:cNvSpPr/>
          <p:nvPr/>
        </p:nvSpPr>
        <p:spPr>
          <a:xfrm>
            <a:off x="457200" y="1143000"/>
            <a:ext cx="5120640" cy="3429000"/>
          </a:xfrm>
          <a:prstGeom prst="roundRect">
            <a:avLst>
              <a:gd name="adj" fmla="val 3200"/>
            </a:avLst>
          </a:prstGeom>
          <a:solidFill>
            <a:srgbClr val="0F1A33"/>
          </a:solidFill>
          <a:ln/>
        </p:spPr>
      </p:sp>
      <p:sp>
        <p:nvSpPr>
          <p:cNvPr id="6" name="a1_wipe_0_157"/>
          <p:cNvSpPr txBox="1"/>
          <p:nvPr/>
        </p:nvSpPr>
        <p:spPr>
          <a:xfrm>
            <a:off x="640080" y="1280160"/>
            <a:ext cx="4846320" cy="777240"/>
          </a:xfrm>
          <a:prstGeom prst="rect">
            <a:avLst/>
          </a:prstGeom>
          <a:noFill/>
          <a:ln/>
        </p:spPr>
        <p:txBody>
          <a:bodyPr wrap="square" lIns="0" tIns="0" rIns="0" bIns="0" rtlCol="0" anchor="t"/>
          <a:lstStyle/>
          <a:p>
            <a:pPr indent="0" marL="0">
              <a:buNone/>
            </a:pPr>
            <a:r>
              <a:rPr lang="en-US" sz="1050" dirty="0">
                <a:solidFill>
                  <a:srgbClr val="CADCFC"/>
                </a:solidFill>
                <a:latin typeface="Courier New" pitchFamily="34" charset="0"/>
                <a:ea typeface="Courier New" pitchFamily="34" charset="-122"/>
                <a:cs typeface="Courier New" pitchFamily="34" charset="-120"/>
              </a:rPr>
              <a:t>function SIMPLIFIED-LESK(word, sentence)</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best-sense  &lt;- most frequent sense</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max-overlap &lt;- 0</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context     &lt;- set of words in sentence</a:t>
            </a:r>
            <a:endParaRPr lang="en-US" sz="1050" dirty="0"/>
          </a:p>
        </p:txBody>
      </p:sp>
      <p:sp>
        <p:nvSpPr>
          <p:cNvPr id="7" name="a2_wipe_0_158"/>
          <p:cNvSpPr txBox="1"/>
          <p:nvPr/>
        </p:nvSpPr>
        <p:spPr>
          <a:xfrm>
            <a:off x="640080" y="2148840"/>
            <a:ext cx="4846320" cy="1371600"/>
          </a:xfrm>
          <a:prstGeom prst="rect">
            <a:avLst/>
          </a:prstGeom>
          <a:noFill/>
          <a:ln/>
        </p:spPr>
        <p:txBody>
          <a:bodyPr wrap="square" lIns="0" tIns="0" rIns="0" bIns="0" rtlCol="0" anchor="t"/>
          <a:lstStyle/>
          <a:p>
            <a:pPr indent="0" marL="0">
              <a:buNone/>
            </a:pPr>
            <a:r>
              <a:rPr lang="en-US" sz="1050" dirty="0">
                <a:solidFill>
                  <a:srgbClr val="CADCFC"/>
                </a:solidFill>
                <a:latin typeface="Courier New" pitchFamily="34" charset="0"/>
                <a:ea typeface="Courier New" pitchFamily="34" charset="-122"/>
                <a:cs typeface="Courier New" pitchFamily="34" charset="-120"/>
              </a:rPr>
              <a:t>  for each sense in senses of word do</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signature &lt;- words in gloss + examples</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overlap   &lt;- COMPUTE-OVERLAP(signature, context)</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if overlap &gt; max-overlap then</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max-overlap &lt;- overlap</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      best-sense  &lt;- sense</a:t>
            </a:r>
            <a:endParaRPr lang="en-US" sz="1050" dirty="0"/>
          </a:p>
        </p:txBody>
      </p:sp>
      <p:sp>
        <p:nvSpPr>
          <p:cNvPr id="8" name="a3_wipe_0_159"/>
          <p:cNvSpPr txBox="1"/>
          <p:nvPr/>
        </p:nvSpPr>
        <p:spPr>
          <a:xfrm>
            <a:off x="640080" y="3657600"/>
            <a:ext cx="4846320" cy="274320"/>
          </a:xfrm>
          <a:prstGeom prst="rect">
            <a:avLst/>
          </a:prstGeom>
          <a:noFill/>
          <a:ln/>
        </p:spPr>
        <p:txBody>
          <a:bodyPr wrap="square" lIns="0" tIns="0" rIns="0" bIns="0" rtlCol="0" anchor="t"/>
          <a:lstStyle/>
          <a:p>
            <a:pPr indent="0" marL="0">
              <a:buNone/>
            </a:pPr>
            <a:r>
              <a:rPr lang="en-US" sz="1050" dirty="0">
                <a:solidFill>
                  <a:srgbClr val="CADCFC"/>
                </a:solidFill>
                <a:latin typeface="Courier New" pitchFamily="34" charset="0"/>
                <a:ea typeface="Courier New" pitchFamily="34" charset="-122"/>
                <a:cs typeface="Courier New" pitchFamily="34" charset="-120"/>
              </a:rPr>
              <a:t>  return best-sense</a:t>
            </a:r>
            <a:endParaRPr lang="en-US" sz="1050" dirty="0"/>
          </a:p>
        </p:txBody>
      </p:sp>
      <p:sp>
        <p:nvSpPr>
          <p:cNvPr id="9" name="a2_fly_0_160"/>
          <p:cNvSpPr/>
          <p:nvPr/>
        </p:nvSpPr>
        <p:spPr>
          <a:xfrm>
            <a:off x="5852160" y="1280160"/>
            <a:ext cx="2834640" cy="1234440"/>
          </a:xfrm>
          <a:prstGeom prst="roundRect">
            <a:avLst>
              <a:gd name="adj" fmla="val 8889"/>
            </a:avLst>
          </a:prstGeom>
          <a:solidFill>
            <a:srgbClr val="1F8A7D"/>
          </a:solidFill>
          <a:ln/>
        </p:spPr>
        <p:txBody>
          <a:bodyPr wrap="square" lIns="76810" tIns="128016" rIns="128016" bIns="7681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Back-off</a:t>
            </a:r>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Nothing overlaps? You get the most frequent sense.</a:t>
            </a:r>
            <a:endParaRPr lang="en-US" sz="1300" dirty="0"/>
          </a:p>
        </p:txBody>
      </p:sp>
      <p:sp>
        <p:nvSpPr>
          <p:cNvPr id="10" name="a2_fly_300_161"/>
          <p:cNvSpPr/>
          <p:nvPr/>
        </p:nvSpPr>
        <p:spPr>
          <a:xfrm>
            <a:off x="5852160" y="2651760"/>
            <a:ext cx="2834640" cy="1051560"/>
          </a:xfrm>
          <a:prstGeom prst="roundRect">
            <a:avLst>
              <a:gd name="adj" fmla="val 10435"/>
            </a:avLst>
          </a:prstGeom>
          <a:solidFill>
            <a:srgbClr val="F4A300"/>
          </a:solidFill>
          <a:ln/>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Ties</a:t>
            </a:r>
            <a:pPr algn="l" indent="0" marL="0">
              <a:buNone/>
            </a:pPr>
            <a:endParaRPr lang="en-US" sz="1300" dirty="0"/>
          </a:p>
          <a:p>
            <a:pPr algn="l" indent="0" marL="0">
              <a:buNone/>
            </a:pPr>
            <a:r>
              <a:rPr lang="en-US" sz="1300" dirty="0">
                <a:solidFill>
                  <a:srgbClr val="22262E"/>
                </a:solidFill>
                <a:latin typeface="Calibri" pitchFamily="34" charset="0"/>
                <a:ea typeface="Calibri" pitchFamily="34" charset="-122"/>
                <a:cs typeface="Calibri" pitchFamily="34" charset="-120"/>
              </a:rPr>
              <a:t>Strict "&gt;" means the first sense examined wins.</a:t>
            </a:r>
            <a:endParaRPr lang="en-US" sz="1300" dirty="0"/>
          </a:p>
        </p:txBody>
      </p:sp>
      <p:sp>
        <p:nvSpPr>
          <p:cNvPr id="11" name="a3_fly_0_162"/>
          <p:cNvSpPr/>
          <p:nvPr/>
        </p:nvSpPr>
        <p:spPr>
          <a:xfrm>
            <a:off x="5852160" y="3840480"/>
            <a:ext cx="2834640" cy="731520"/>
          </a:xfrm>
          <a:prstGeom prst="roundRect">
            <a:avLst>
              <a:gd name="adj" fmla="val 15000"/>
            </a:avLst>
          </a:prstGeom>
          <a:solidFill>
            <a:srgbClr val="D9503A"/>
          </a:solidFill>
          <a:ln/>
        </p:spPr>
        <p:txBody>
          <a:bodyPr wrap="square" lIns="76810" tIns="128016" rIns="128016" bIns="7681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Dictionary order matters: WordNet 3.0 lists the </a:t>
            </a:r>
            <a:pPr algn="l" indent="0" marL="0">
              <a:buNone/>
            </a:pPr>
            <a:r>
              <a:rPr lang="en-US" sz="1150" b="1" dirty="0">
                <a:solidFill>
                  <a:srgbClr val="FFFFFF"/>
                </a:solidFill>
                <a:latin typeface="Calibri" pitchFamily="34" charset="0"/>
                <a:ea typeface="Calibri" pitchFamily="34" charset="-122"/>
                <a:cs typeface="Calibri" pitchFamily="34" charset="-120"/>
              </a:rPr>
              <a:t>slope</a:t>
            </a:r>
            <a:pPr algn="l" indent="0" marL="0">
              <a:buNone/>
            </a:pPr>
            <a:r>
              <a:rPr lang="en-US" sz="1150" dirty="0">
                <a:solidFill>
                  <a:srgbClr val="FFFFFF"/>
                </a:solidFill>
                <a:latin typeface="Calibri" pitchFamily="34" charset="0"/>
                <a:ea typeface="Calibri" pitchFamily="34" charset="-122"/>
                <a:cs typeface="Calibri" pitchFamily="34" charset="-120"/>
              </a:rPr>
              <a:t> sense of bank first.</a:t>
            </a:r>
            <a:endParaRPr lang="en-US" sz="1150" dirty="0"/>
          </a:p>
        </p:txBody>
      </p:sp>
      <p:sp>
        <p:nvSpPr>
          <p:cNvPr id="12" name="Text 9"/>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BB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wipe(left)">
                                      <p:cBhvr>
                                        <p:cTn id="5"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30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8"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COUNTING RULES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Preprocess before you count</a:t>
            </a:r>
            <a:endParaRPr lang="en-US" sz="2800" dirty="0"/>
          </a:p>
        </p:txBody>
      </p:sp>
      <p:sp>
        <p:nvSpPr>
          <p:cNvPr id="5" name="a0_fade_0_163"/>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500" b="1" dirty="0">
                <a:solidFill>
                  <a:srgbClr val="1B2A49"/>
                </a:solidFill>
                <a:latin typeface="Calibri" pitchFamily="34" charset="0"/>
                <a:ea typeface="Calibri" pitchFamily="34" charset="-122"/>
                <a:cs typeface="Calibri" pitchFamily="34" charset="-120"/>
              </a:rPr>
              <a:t>“I went to the bank to deposit my money.”  (target: bank)</a:t>
            </a:r>
            <a:endParaRPr lang="en-US" sz="1500" dirty="0"/>
          </a:p>
        </p:txBody>
      </p:sp>
      <p:sp>
        <p:nvSpPr>
          <p:cNvPr id="6" name="a1_wipe_0_164"/>
          <p:cNvSpPr/>
          <p:nvPr/>
        </p:nvSpPr>
        <p:spPr>
          <a:xfrm>
            <a:off x="457200" y="1536192"/>
            <a:ext cx="1920240" cy="475488"/>
          </a:xfrm>
          <a:prstGeom prst="roundRect">
            <a:avLst>
              <a:gd name="adj" fmla="val 23077"/>
            </a:avLst>
          </a:prstGeom>
          <a:solidFill>
            <a:srgbClr val="1B2A49"/>
          </a:solidFill>
          <a:ln/>
        </p:spPr>
        <p:txBody>
          <a:bodyPr wrap="square" lIns="76810" tIns="128016" rIns="128016" bIns="7681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Tokenise</a:t>
            </a:r>
            <a:endParaRPr lang="en-US" sz="1300" dirty="0"/>
          </a:p>
        </p:txBody>
      </p:sp>
      <p:sp>
        <p:nvSpPr>
          <p:cNvPr id="7" name="a1_fade_200_165"/>
          <p:cNvSpPr/>
          <p:nvPr/>
        </p:nvSpPr>
        <p:spPr>
          <a:xfrm>
            <a:off x="2560320" y="1600200"/>
            <a:ext cx="386334"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i</a:t>
            </a:r>
            <a:endParaRPr lang="en-US" sz="1250" dirty="0"/>
          </a:p>
        </p:txBody>
      </p:sp>
      <p:sp>
        <p:nvSpPr>
          <p:cNvPr id="8" name="a1_fade_260_166"/>
          <p:cNvSpPr/>
          <p:nvPr/>
        </p:nvSpPr>
        <p:spPr>
          <a:xfrm>
            <a:off x="3010662" y="1600200"/>
            <a:ext cx="667512"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went</a:t>
            </a:r>
            <a:endParaRPr lang="en-US" sz="1250" dirty="0"/>
          </a:p>
        </p:txBody>
      </p:sp>
      <p:sp>
        <p:nvSpPr>
          <p:cNvPr id="9" name="a1_fade_320_167"/>
          <p:cNvSpPr/>
          <p:nvPr/>
        </p:nvSpPr>
        <p:spPr>
          <a:xfrm>
            <a:off x="3742182" y="1600200"/>
            <a:ext cx="48006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to</a:t>
            </a:r>
            <a:endParaRPr lang="en-US" sz="1250" dirty="0"/>
          </a:p>
        </p:txBody>
      </p:sp>
      <p:sp>
        <p:nvSpPr>
          <p:cNvPr id="10" name="a1_fade_380_168"/>
          <p:cNvSpPr/>
          <p:nvPr/>
        </p:nvSpPr>
        <p:spPr>
          <a:xfrm>
            <a:off x="4286250" y="1600200"/>
            <a:ext cx="573786"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the</a:t>
            </a:r>
            <a:endParaRPr lang="en-US" sz="1250" dirty="0"/>
          </a:p>
        </p:txBody>
      </p:sp>
      <p:sp>
        <p:nvSpPr>
          <p:cNvPr id="11" name="a1_fade_440_169"/>
          <p:cNvSpPr/>
          <p:nvPr/>
        </p:nvSpPr>
        <p:spPr>
          <a:xfrm>
            <a:off x="4924044" y="1600200"/>
            <a:ext cx="667512"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bank</a:t>
            </a:r>
            <a:endParaRPr lang="en-US" sz="1250" dirty="0"/>
          </a:p>
        </p:txBody>
      </p:sp>
      <p:sp>
        <p:nvSpPr>
          <p:cNvPr id="12" name="a1_fade_500_170"/>
          <p:cNvSpPr/>
          <p:nvPr/>
        </p:nvSpPr>
        <p:spPr>
          <a:xfrm>
            <a:off x="5655564" y="1600200"/>
            <a:ext cx="48006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to</a:t>
            </a:r>
            <a:endParaRPr lang="en-US" sz="1250" dirty="0"/>
          </a:p>
        </p:txBody>
      </p:sp>
      <p:sp>
        <p:nvSpPr>
          <p:cNvPr id="13" name="a1_fade_560_171"/>
          <p:cNvSpPr/>
          <p:nvPr/>
        </p:nvSpPr>
        <p:spPr>
          <a:xfrm>
            <a:off x="6199632" y="1600200"/>
            <a:ext cx="94869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deposit</a:t>
            </a:r>
            <a:endParaRPr lang="en-US" sz="1250" dirty="0"/>
          </a:p>
        </p:txBody>
      </p:sp>
      <p:sp>
        <p:nvSpPr>
          <p:cNvPr id="14" name="a1_fade_620_172"/>
          <p:cNvSpPr/>
          <p:nvPr/>
        </p:nvSpPr>
        <p:spPr>
          <a:xfrm>
            <a:off x="7212330" y="1600200"/>
            <a:ext cx="48006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my</a:t>
            </a:r>
            <a:endParaRPr lang="en-US" sz="1250" dirty="0"/>
          </a:p>
        </p:txBody>
      </p:sp>
      <p:sp>
        <p:nvSpPr>
          <p:cNvPr id="15" name="a1_fade_680_173"/>
          <p:cNvSpPr/>
          <p:nvPr/>
        </p:nvSpPr>
        <p:spPr>
          <a:xfrm>
            <a:off x="7756398" y="1600200"/>
            <a:ext cx="761238"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money</a:t>
            </a:r>
            <a:endParaRPr lang="en-US" sz="1250" dirty="0"/>
          </a:p>
        </p:txBody>
      </p:sp>
      <p:sp>
        <p:nvSpPr>
          <p:cNvPr id="16" name="a2_wipe_0_174"/>
          <p:cNvSpPr/>
          <p:nvPr/>
        </p:nvSpPr>
        <p:spPr>
          <a:xfrm>
            <a:off x="457200" y="2121408"/>
            <a:ext cx="1920240" cy="475488"/>
          </a:xfrm>
          <a:prstGeom prst="roundRect">
            <a:avLst>
              <a:gd name="adj" fmla="val 23077"/>
            </a:avLst>
          </a:prstGeom>
          <a:solidFill>
            <a:srgbClr val="1B2A49"/>
          </a:solidFill>
          <a:ln/>
        </p:spPr>
        <p:txBody>
          <a:bodyPr wrap="square" lIns="76810" tIns="128016" rIns="128016" bIns="7681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Drop stop words</a:t>
            </a:r>
            <a:endParaRPr lang="en-US" sz="1300" dirty="0"/>
          </a:p>
        </p:txBody>
      </p:sp>
      <p:sp>
        <p:nvSpPr>
          <p:cNvPr id="17" name="a2_fade_200_175"/>
          <p:cNvSpPr/>
          <p:nvPr/>
        </p:nvSpPr>
        <p:spPr>
          <a:xfrm>
            <a:off x="2560320" y="2185416"/>
            <a:ext cx="667512"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went</a:t>
            </a:r>
            <a:endParaRPr lang="en-US" sz="1250" dirty="0"/>
          </a:p>
        </p:txBody>
      </p:sp>
      <p:sp>
        <p:nvSpPr>
          <p:cNvPr id="18" name="a2_fade_260_176"/>
          <p:cNvSpPr/>
          <p:nvPr/>
        </p:nvSpPr>
        <p:spPr>
          <a:xfrm>
            <a:off x="3291840" y="2185416"/>
            <a:ext cx="667512"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bank</a:t>
            </a:r>
            <a:endParaRPr lang="en-US" sz="1250" dirty="0"/>
          </a:p>
        </p:txBody>
      </p:sp>
      <p:sp>
        <p:nvSpPr>
          <p:cNvPr id="19" name="a2_fade_320_177"/>
          <p:cNvSpPr/>
          <p:nvPr/>
        </p:nvSpPr>
        <p:spPr>
          <a:xfrm>
            <a:off x="4023360" y="2185416"/>
            <a:ext cx="94869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deposit</a:t>
            </a:r>
            <a:endParaRPr lang="en-US" sz="1250" dirty="0"/>
          </a:p>
        </p:txBody>
      </p:sp>
      <p:sp>
        <p:nvSpPr>
          <p:cNvPr id="20" name="a2_fade_380_178"/>
          <p:cNvSpPr/>
          <p:nvPr/>
        </p:nvSpPr>
        <p:spPr>
          <a:xfrm>
            <a:off x="5036058" y="2185416"/>
            <a:ext cx="761238"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money</a:t>
            </a:r>
            <a:endParaRPr lang="en-US" sz="1250" dirty="0"/>
          </a:p>
        </p:txBody>
      </p:sp>
      <p:sp>
        <p:nvSpPr>
          <p:cNvPr id="21" name="a3_wipe_0_179"/>
          <p:cNvSpPr/>
          <p:nvPr/>
        </p:nvSpPr>
        <p:spPr>
          <a:xfrm>
            <a:off x="457200" y="2706624"/>
            <a:ext cx="1920240" cy="475488"/>
          </a:xfrm>
          <a:prstGeom prst="roundRect">
            <a:avLst>
              <a:gd name="adj" fmla="val 23077"/>
            </a:avLst>
          </a:prstGeom>
          <a:solidFill>
            <a:srgbClr val="1B2A49"/>
          </a:solidFill>
          <a:ln/>
        </p:spPr>
        <p:txBody>
          <a:bodyPr wrap="square" lIns="76810" tIns="128016" rIns="128016" bIns="7681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Drop the target</a:t>
            </a:r>
            <a:endParaRPr lang="en-US" sz="1300" dirty="0"/>
          </a:p>
        </p:txBody>
      </p:sp>
      <p:sp>
        <p:nvSpPr>
          <p:cNvPr id="22" name="a3_fade_200_180"/>
          <p:cNvSpPr/>
          <p:nvPr/>
        </p:nvSpPr>
        <p:spPr>
          <a:xfrm>
            <a:off x="2560320" y="2770632"/>
            <a:ext cx="667512"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went</a:t>
            </a:r>
            <a:endParaRPr lang="en-US" sz="1250" dirty="0"/>
          </a:p>
        </p:txBody>
      </p:sp>
      <p:sp>
        <p:nvSpPr>
          <p:cNvPr id="23" name="a3_fade_260_181"/>
          <p:cNvSpPr/>
          <p:nvPr/>
        </p:nvSpPr>
        <p:spPr>
          <a:xfrm>
            <a:off x="3291840" y="2770632"/>
            <a:ext cx="94869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deposit</a:t>
            </a:r>
            <a:endParaRPr lang="en-US" sz="1250" dirty="0"/>
          </a:p>
        </p:txBody>
      </p:sp>
      <p:sp>
        <p:nvSpPr>
          <p:cNvPr id="24" name="a3_fade_320_182"/>
          <p:cNvSpPr/>
          <p:nvPr/>
        </p:nvSpPr>
        <p:spPr>
          <a:xfrm>
            <a:off x="4304538" y="2770632"/>
            <a:ext cx="761238"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money</a:t>
            </a:r>
            <a:endParaRPr lang="en-US" sz="1250" dirty="0"/>
          </a:p>
        </p:txBody>
      </p:sp>
      <p:sp>
        <p:nvSpPr>
          <p:cNvPr id="25" name="a4_wipe_0_183"/>
          <p:cNvSpPr/>
          <p:nvPr/>
        </p:nvSpPr>
        <p:spPr>
          <a:xfrm>
            <a:off x="457200" y="3291840"/>
            <a:ext cx="1920240" cy="475488"/>
          </a:xfrm>
          <a:prstGeom prst="roundRect">
            <a:avLst>
              <a:gd name="adj" fmla="val 23077"/>
            </a:avLst>
          </a:prstGeom>
          <a:solidFill>
            <a:srgbClr val="1B2A49"/>
          </a:solidFill>
          <a:ln/>
        </p:spPr>
        <p:txBody>
          <a:bodyPr wrap="square" lIns="76810" tIns="128016" rIns="128016" bIns="7681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Lemmatise</a:t>
            </a:r>
            <a:endParaRPr lang="en-US" sz="1300" dirty="0"/>
          </a:p>
        </p:txBody>
      </p:sp>
      <p:sp>
        <p:nvSpPr>
          <p:cNvPr id="26" name="a4_fade_200_184"/>
          <p:cNvSpPr/>
          <p:nvPr/>
        </p:nvSpPr>
        <p:spPr>
          <a:xfrm>
            <a:off x="2560320" y="3355848"/>
            <a:ext cx="516636" cy="316103"/>
          </a:xfrm>
          <a:prstGeom prst="roundRect">
            <a:avLst>
              <a:gd name="adj" fmla="val 34713"/>
            </a:avLst>
          </a:prstGeom>
          <a:solidFill>
            <a:srgbClr val="E2F3F0"/>
          </a:solidFill>
          <a:ln/>
        </p:spPr>
        <p:txBody>
          <a:bodyPr wrap="square" lIns="0" tIns="0" rIns="0" bIns="0" rtlCol="0" anchor="ctr"/>
          <a:lstStyle/>
          <a:p>
            <a:pPr algn="ctr" indent="0" marL="0">
              <a:buNone/>
            </a:pPr>
            <a:r>
              <a:rPr lang="en-US" sz="1250" b="1" dirty="0">
                <a:solidFill>
                  <a:srgbClr val="22262E"/>
                </a:solidFill>
                <a:latin typeface="Calibri" pitchFamily="34" charset="0"/>
                <a:ea typeface="Calibri" pitchFamily="34" charset="-122"/>
                <a:cs typeface="Calibri" pitchFamily="34" charset="-120"/>
              </a:rPr>
              <a:t>go</a:t>
            </a:r>
            <a:endParaRPr lang="en-US" sz="1250" dirty="0"/>
          </a:p>
        </p:txBody>
      </p:sp>
      <p:sp>
        <p:nvSpPr>
          <p:cNvPr id="27" name="a4_fade_260_185"/>
          <p:cNvSpPr/>
          <p:nvPr/>
        </p:nvSpPr>
        <p:spPr>
          <a:xfrm>
            <a:off x="3140964" y="3355848"/>
            <a:ext cx="948690"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deposit</a:t>
            </a:r>
            <a:endParaRPr lang="en-US" sz="1250" dirty="0"/>
          </a:p>
        </p:txBody>
      </p:sp>
      <p:sp>
        <p:nvSpPr>
          <p:cNvPr id="28" name="a4_fade_320_186"/>
          <p:cNvSpPr/>
          <p:nvPr/>
        </p:nvSpPr>
        <p:spPr>
          <a:xfrm>
            <a:off x="4153662" y="3355848"/>
            <a:ext cx="761238" cy="316103"/>
          </a:xfrm>
          <a:prstGeom prst="roundRect">
            <a:avLst>
              <a:gd name="adj" fmla="val 34713"/>
            </a:avLst>
          </a:prstGeom>
          <a:solidFill>
            <a:srgbClr val="E6EAF2"/>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money</a:t>
            </a:r>
            <a:endParaRPr lang="en-US" sz="1250" dirty="0"/>
          </a:p>
        </p:txBody>
      </p:sp>
      <p:sp>
        <p:nvSpPr>
          <p:cNvPr id="29" name="a5_wipe_0_187"/>
          <p:cNvSpPr/>
          <p:nvPr/>
        </p:nvSpPr>
        <p:spPr>
          <a:xfrm>
            <a:off x="457200" y="3877056"/>
            <a:ext cx="1920240" cy="475488"/>
          </a:xfrm>
          <a:prstGeom prst="roundRect">
            <a:avLst>
              <a:gd name="adj" fmla="val 23077"/>
            </a:avLst>
          </a:prstGeom>
          <a:solidFill>
            <a:srgbClr val="F4A300"/>
          </a:solidFill>
          <a:ln/>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Context set C</a:t>
            </a:r>
            <a:endParaRPr lang="en-US" sz="1300" dirty="0"/>
          </a:p>
        </p:txBody>
      </p:sp>
      <p:sp>
        <p:nvSpPr>
          <p:cNvPr id="30" name="a5_fade_200_188"/>
          <p:cNvSpPr/>
          <p:nvPr/>
        </p:nvSpPr>
        <p:spPr>
          <a:xfrm>
            <a:off x="2560320" y="3941064"/>
            <a:ext cx="2354580" cy="316103"/>
          </a:xfrm>
          <a:prstGeom prst="roundRect">
            <a:avLst>
              <a:gd name="adj" fmla="val 34713"/>
            </a:avLst>
          </a:prstGeom>
          <a:solidFill>
            <a:srgbClr val="FFF0C7"/>
          </a:solidFill>
          <a:ln/>
        </p:spPr>
        <p:txBody>
          <a:bodyPr wrap="square" lIns="0" tIns="0" rIns="0" bIns="0" rtlCol="0" anchor="ctr"/>
          <a:lstStyle/>
          <a:p>
            <a:pPr algn="ctr" indent="0" marL="0">
              <a:buNone/>
            </a:pPr>
            <a:r>
              <a:rPr lang="en-US" sz="1250" dirty="0">
                <a:solidFill>
                  <a:srgbClr val="22262E"/>
                </a:solidFill>
                <a:latin typeface="Calibri" pitchFamily="34" charset="0"/>
                <a:ea typeface="Calibri" pitchFamily="34" charset="-122"/>
                <a:cs typeface="Calibri" pitchFamily="34" charset="-120"/>
              </a:rPr>
              <a:t>{ go, deposit, money }</a:t>
            </a:r>
            <a:endParaRPr lang="en-US" sz="1250" dirty="0"/>
          </a:p>
        </p:txBody>
      </p:sp>
      <p:sp>
        <p:nvSpPr>
          <p:cNvPr id="31" name="a6_fade_0_189"/>
          <p:cNvSpPr/>
          <p:nvPr/>
        </p:nvSpPr>
        <p:spPr>
          <a:xfrm>
            <a:off x="457200" y="4526280"/>
            <a:ext cx="8229600" cy="274320"/>
          </a:xfrm>
          <a:prstGeom prst="roundRect">
            <a:avLst>
              <a:gd name="adj" fmla="val 40000"/>
            </a:avLst>
          </a:prstGeom>
          <a:solidFill>
            <a:srgbClr val="E2F3F0"/>
          </a:solidFill>
          <a:ln/>
        </p:spPr>
        <p:txBody>
          <a:bodyPr wrap="square" lIns="27432" tIns="45720" rIns="45720" bIns="27432" rtlCol="0" anchor="ctr"/>
          <a:lstStyle/>
          <a:p>
            <a:pPr algn="ctr" indent="0" marL="0">
              <a:buNone/>
            </a:pPr>
            <a:r>
              <a:rPr lang="en-US" sz="1150" dirty="0">
                <a:solidFill>
                  <a:srgbClr val="22262E"/>
                </a:solidFill>
                <a:latin typeface="Calibri" pitchFamily="34" charset="0"/>
                <a:ea typeface="Calibri" pitchFamily="34" charset="-122"/>
                <a:cs typeface="Calibri" pitchFamily="34" charset="-120"/>
              </a:rPr>
              <a:t>Same pipeline on </a:t>
            </a:r>
            <a:pPr algn="ctr" indent="0" marL="0">
              <a:buNone/>
            </a:pPr>
            <a:r>
              <a:rPr lang="en-US" sz="1150" b="1" dirty="0">
                <a:solidFill>
                  <a:srgbClr val="22262E"/>
                </a:solidFill>
                <a:latin typeface="Calibri" pitchFamily="34" charset="0"/>
                <a:ea typeface="Calibri" pitchFamily="34" charset="-122"/>
                <a:cs typeface="Calibri" pitchFamily="34" charset="-120"/>
              </a:rPr>
              <a:t>both</a:t>
            </a:r>
            <a:pPr algn="ctr" indent="0" marL="0">
              <a:buNone/>
            </a:pPr>
            <a:r>
              <a:rPr lang="en-US" sz="1150" dirty="0">
                <a:solidFill>
                  <a:srgbClr val="22262E"/>
                </a:solidFill>
                <a:latin typeface="Calibri" pitchFamily="34" charset="0"/>
                <a:ea typeface="Calibri" pitchFamily="34" charset="-122"/>
                <a:cs typeface="Calibri" pitchFamily="34" charset="-120"/>
              </a:rPr>
              <a:t> sides  ·  target excluded  ·  repeated words count once  ·  say if lemmatisation is on</a:t>
            </a:r>
            <a:endParaRPr lang="en-US" sz="1150"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3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3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5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62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6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par>
                                <p:cTn id="43" presetID="10" presetClass="entr" presetSubtype="0" fill="hold" grpId="0" nodeType="withEffect">
                                  <p:stCondLst>
                                    <p:cond delay="20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26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32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38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left)">
                                      <p:cBhvr>
                                        <p:cTn id="59" dur="500"/>
                                        <p:tgtEl>
                                          <p:spTgt spid="21"/>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26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32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left)">
                                      <p:cBhvr>
                                        <p:cTn id="73" dur="500"/>
                                        <p:tgtEl>
                                          <p:spTgt spid="25"/>
                                        </p:tgtEl>
                                      </p:cBhvr>
                                    </p:animEffect>
                                  </p:childTnLst>
                                </p:cTn>
                              </p:par>
                              <p:par>
                                <p:cTn id="74" presetID="10" presetClass="entr" presetSubtype="0" fill="hold" grpId="0" nodeType="withEffect">
                                  <p:stCondLst>
                                    <p:cond delay="2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26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32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childTnLst>
                    </p:cTn>
                  </p:par>
                  <p:par>
                    <p:cTn id="91" fill="hold">
                      <p:stCondLst>
                        <p:cond delay="indefinite"/>
                      </p:stCondLst>
                      <p:childTnLst>
                        <p:par>
                          <p:cTn id="92"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500"/>
                                        <p:tgtEl>
                                          <p:spTgt spid="29"/>
                                        </p:tgtEl>
                                      </p:cBhvr>
                                    </p:animEffect>
                                  </p:childTnLst>
                                </p:cTn>
                              </p:par>
                              <p:par>
                                <p:cTn id="88" presetID="10" presetClass="entr" presetSubtype="0" fill="hold" grpId="0" nodeType="withEffect">
                                  <p:stCondLst>
                                    <p:cond delay="20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childTnLst>
                          </p:cTn>
                        </p:par>
                      </p:childTnLst>
                    </p:cTn>
                  </p:par>
                  <p:par>
                    <p:cTn id="96" fill="hold">
                      <p:stCondLst>
                        <p:cond delay="indefinite"/>
                      </p:stCondLst>
                      <p:childTnLst>
                        <p:par>
                          <p:cTn id="97"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TEXTBOOK EXAMPLE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“bank” in a long sentence</a:t>
            </a:r>
            <a:endParaRPr lang="en-US" sz="2800" dirty="0"/>
          </a:p>
        </p:txBody>
      </p:sp>
      <p:sp>
        <p:nvSpPr>
          <p:cNvPr id="5" name="a0_fade_0_190"/>
          <p:cNvSpPr/>
          <p:nvPr/>
        </p:nvSpPr>
        <p:spPr>
          <a:xfrm>
            <a:off x="457200" y="1143000"/>
            <a:ext cx="8229600" cy="777240"/>
          </a:xfrm>
          <a:prstGeom prst="roundRect">
            <a:avLst>
              <a:gd name="adj" fmla="val 14118"/>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500" dirty="0">
                <a:solidFill>
                  <a:srgbClr val="22262E"/>
                </a:solidFill>
                <a:latin typeface="Calibri" pitchFamily="34" charset="0"/>
                <a:ea typeface="Calibri" pitchFamily="34" charset="-122"/>
                <a:cs typeface="Calibri" pitchFamily="34" charset="-120"/>
              </a:rPr>
              <a:t>The bank can guarantee </a:t>
            </a:r>
            <a:pPr algn="l" indent="0" marL="0">
              <a:buNone/>
            </a:pPr>
            <a:r>
              <a:rPr lang="en-US" sz="1500" b="1" dirty="0">
                <a:solidFill>
                  <a:srgbClr val="22262E"/>
                </a:solidFill>
                <a:highlight>
                  <a:srgbClr val="FFD970"/>
                </a:highlight>
                <a:latin typeface="Calibri" pitchFamily="34" charset="0"/>
                <a:ea typeface="Calibri" pitchFamily="34" charset="-122"/>
                <a:cs typeface="Calibri" pitchFamily="34" charset="-120"/>
              </a:rPr>
              <a:t>deposits</a:t>
            </a:r>
            <a:pPr algn="l" indent="0" marL="0">
              <a:buNone/>
            </a:pPr>
            <a:r>
              <a:rPr lang="en-US" sz="1500" dirty="0">
                <a:solidFill>
                  <a:srgbClr val="22262E"/>
                </a:solidFill>
                <a:latin typeface="Calibri" pitchFamily="34" charset="0"/>
                <a:ea typeface="Calibri" pitchFamily="34" charset="-122"/>
                <a:cs typeface="Calibri" pitchFamily="34" charset="-120"/>
              </a:rPr>
              <a:t> will eventually cover future tuition costs because it invests in adjustable-rate </a:t>
            </a:r>
            <a:pPr algn="l" indent="0" marL="0">
              <a:buNone/>
            </a:pPr>
            <a:r>
              <a:rPr lang="en-US" sz="1500" b="1" dirty="0">
                <a:solidFill>
                  <a:srgbClr val="22262E"/>
                </a:solidFill>
                <a:highlight>
                  <a:srgbClr val="FFD970"/>
                </a:highlight>
                <a:latin typeface="Calibri" pitchFamily="34" charset="0"/>
                <a:ea typeface="Calibri" pitchFamily="34" charset="-122"/>
                <a:cs typeface="Calibri" pitchFamily="34" charset="-120"/>
              </a:rPr>
              <a:t>mortgage</a:t>
            </a:r>
            <a:pPr algn="l" indent="0" marL="0">
              <a:buNone/>
            </a:pPr>
            <a:r>
              <a:rPr lang="en-US" sz="1500" dirty="0">
                <a:solidFill>
                  <a:srgbClr val="22262E"/>
                </a:solidFill>
                <a:latin typeface="Calibri" pitchFamily="34" charset="0"/>
                <a:ea typeface="Calibri" pitchFamily="34" charset="-122"/>
                <a:cs typeface="Calibri" pitchFamily="34" charset="-120"/>
              </a:rPr>
              <a:t> securities.</a:t>
            </a:r>
            <a:endParaRPr lang="en-US" sz="1500" dirty="0"/>
          </a:p>
        </p:txBody>
      </p:sp>
      <p:sp>
        <p:nvSpPr>
          <p:cNvPr id="6" name="a1_wipe_0_191"/>
          <p:cNvSpPr/>
          <p:nvPr/>
        </p:nvSpPr>
        <p:spPr>
          <a:xfrm>
            <a:off x="457200" y="2103120"/>
            <a:ext cx="4023360" cy="1554480"/>
          </a:xfrm>
          <a:prstGeom prst="roundRect">
            <a:avLst>
              <a:gd name="adj" fmla="val 7059"/>
            </a:avLst>
          </a:prstGeom>
          <a:solidFill>
            <a:srgbClr val="E2F3F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bank 1  (financial)</a:t>
            </a:r>
            <a:pPr algn="l" indent="0" marL="0">
              <a:buNone/>
            </a:pP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{financial, institution, accept, </a:t>
            </a:r>
            <a:endParaRPr lang="en-US" sz="1250" dirty="0"/>
          </a:p>
          <a:p>
            <a:pPr algn="l" indent="0" marL="0">
              <a:buNone/>
            </a:pPr>
            <a:r>
              <a:rPr lang="en-US" sz="1250" b="1" dirty="0">
                <a:solidFill>
                  <a:srgbClr val="22262E"/>
                </a:solidFill>
                <a:highlight>
                  <a:srgbClr val="FFD970"/>
                </a:highlight>
                <a:latin typeface="Calibri" pitchFamily="34" charset="0"/>
                <a:ea typeface="Calibri" pitchFamily="34" charset="-122"/>
                <a:cs typeface="Calibri" pitchFamily="34" charset="-120"/>
              </a:rPr>
              <a:t>deposit</a:t>
            </a:r>
            <a:pPr algn="l" indent="0" marL="0">
              <a:buNone/>
            </a:pPr>
            <a:r>
              <a:rPr lang="en-US" sz="1250" dirty="0">
                <a:solidFill>
                  <a:srgbClr val="22262E"/>
                </a:solidFill>
                <a:latin typeface="Calibri" pitchFamily="34" charset="0"/>
                <a:ea typeface="Calibri" pitchFamily="34" charset="-122"/>
                <a:cs typeface="Calibri" pitchFamily="34" charset="-120"/>
              </a:rPr>
              <a:t>, channel, money, lend, activity, cash, check, hold, </a:t>
            </a:r>
            <a:pPr algn="l" indent="0" marL="0">
              <a:buNone/>
            </a:pPr>
            <a:r>
              <a:rPr lang="en-US" sz="1250" b="1" dirty="0">
                <a:solidFill>
                  <a:srgbClr val="22262E"/>
                </a:solidFill>
                <a:highlight>
                  <a:srgbClr val="FFD970"/>
                </a:highlight>
                <a:latin typeface="Calibri" pitchFamily="34" charset="0"/>
                <a:ea typeface="Calibri" pitchFamily="34" charset="-122"/>
                <a:cs typeface="Calibri" pitchFamily="34" charset="-120"/>
              </a:rPr>
              <a:t>mortgage</a:t>
            </a:r>
            <a:pPr algn="l" indent="0" marL="0">
              <a:buNone/>
            </a:pPr>
            <a:r>
              <a:rPr lang="en-US" sz="1250" dirty="0">
                <a:solidFill>
                  <a:srgbClr val="22262E"/>
                </a:solidFill>
                <a:latin typeface="Calibri" pitchFamily="34" charset="0"/>
                <a:ea typeface="Calibri" pitchFamily="34" charset="-122"/>
                <a:cs typeface="Calibri" pitchFamily="34" charset="-120"/>
              </a:rPr>
              <a:t>, home}</a:t>
            </a:r>
            <a:endParaRPr lang="en-US" sz="1250" dirty="0"/>
          </a:p>
        </p:txBody>
      </p:sp>
      <p:sp>
        <p:nvSpPr>
          <p:cNvPr id="7" name="a1_wipe_250_192"/>
          <p:cNvSpPr/>
          <p:nvPr/>
        </p:nvSpPr>
        <p:spPr>
          <a:xfrm>
            <a:off x="4663440" y="2103120"/>
            <a:ext cx="4023360" cy="1554480"/>
          </a:xfrm>
          <a:prstGeom prst="roundRect">
            <a:avLst>
              <a:gd name="adj" fmla="val 7059"/>
            </a:avLst>
          </a:prstGeom>
          <a:solidFill>
            <a:srgbClr val="FDE6E1"/>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bank 2  (slope)</a:t>
            </a:r>
            <a:pPr algn="l" indent="0" marL="0">
              <a:buNone/>
            </a:pP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{slope, land, body, water, pull, canoe, sit, river, watch, current}</a:t>
            </a:r>
            <a:endParaRPr lang="en-US" sz="1250" dirty="0"/>
          </a:p>
        </p:txBody>
      </p:sp>
      <p:sp>
        <p:nvSpPr>
          <p:cNvPr id="8" name="a2_zoom_0_193"/>
          <p:cNvSpPr/>
          <p:nvPr/>
        </p:nvSpPr>
        <p:spPr>
          <a:xfrm>
            <a:off x="457200" y="3840480"/>
            <a:ext cx="685800" cy="685800"/>
          </a:xfrm>
          <a:prstGeom prst="ellipse">
            <a:avLst/>
          </a:prstGeom>
          <a:solidFill>
            <a:srgbClr val="F4A300"/>
          </a:solidFill>
          <a:ln/>
        </p:spPr>
        <p:txBody>
          <a:bodyPr wrap="square" lIns="0" tIns="0" rIns="0" bIns="0" rtlCol="0" anchor="ctr"/>
          <a:lstStyle/>
          <a:p>
            <a:pPr algn="ctr" indent="0" marL="0">
              <a:buNone/>
            </a:pPr>
            <a:r>
              <a:rPr lang="en-US" sz="2800" b="1" dirty="0">
                <a:solidFill>
                  <a:srgbClr val="22262E"/>
                </a:solidFill>
                <a:latin typeface="Cambria" pitchFamily="34" charset="0"/>
                <a:ea typeface="Cambria" pitchFamily="34" charset="-122"/>
                <a:cs typeface="Cambria" pitchFamily="34" charset="-120"/>
              </a:rPr>
              <a:t>2</a:t>
            </a:r>
            <a:endParaRPr lang="en-US" sz="2800" dirty="0"/>
          </a:p>
        </p:txBody>
      </p:sp>
      <p:sp>
        <p:nvSpPr>
          <p:cNvPr id="9" name="a2_fade_200_194"/>
          <p:cNvSpPr txBox="1"/>
          <p:nvPr/>
        </p:nvSpPr>
        <p:spPr>
          <a:xfrm>
            <a:off x="1280160" y="3931920"/>
            <a:ext cx="3291840" cy="457200"/>
          </a:xfrm>
          <a:prstGeom prst="rect">
            <a:avLst/>
          </a:prstGeom>
          <a:noFill/>
          <a:ln/>
        </p:spPr>
        <p:txBody>
          <a:bodyPr wrap="square" lIns="0" tIns="0" rIns="0" bIns="0" rtlCol="0" anchor="t"/>
          <a:lstStyle/>
          <a:p>
            <a:pPr indent="0" marL="0">
              <a:buNone/>
            </a:pPr>
            <a:r>
              <a:rPr lang="en-US" sz="1500" dirty="0">
                <a:solidFill>
                  <a:srgbClr val="22262E"/>
                </a:solidFill>
                <a:latin typeface="Calibri" pitchFamily="34" charset="0"/>
                <a:ea typeface="Calibri" pitchFamily="34" charset="-122"/>
                <a:cs typeface="Calibri" pitchFamily="34" charset="-120"/>
              </a:rPr>
              <a:t>{deposit, mortgage}  →  choose </a:t>
            </a:r>
            <a:pPr indent="0" marL="0">
              <a:buNone/>
            </a:pPr>
            <a:r>
              <a:rPr lang="en-US" sz="1500" b="1" dirty="0">
                <a:solidFill>
                  <a:srgbClr val="22262E"/>
                </a:solidFill>
                <a:latin typeface="Calibri" pitchFamily="34" charset="0"/>
                <a:ea typeface="Calibri" pitchFamily="34" charset="-122"/>
                <a:cs typeface="Calibri" pitchFamily="34" charset="-120"/>
              </a:rPr>
              <a:t>bank 1</a:t>
            </a:r>
            <a:endParaRPr lang="en-US" sz="1500" dirty="0"/>
          </a:p>
        </p:txBody>
      </p:sp>
      <p:sp>
        <p:nvSpPr>
          <p:cNvPr id="10" name="a2_zoom_300_195"/>
          <p:cNvSpPr/>
          <p:nvPr/>
        </p:nvSpPr>
        <p:spPr>
          <a:xfrm>
            <a:off x="4663440" y="3840480"/>
            <a:ext cx="685800" cy="685800"/>
          </a:xfrm>
          <a:prstGeom prst="ellipse">
            <a:avLst/>
          </a:prstGeom>
          <a:solidFill>
            <a:srgbClr val="C9D0DC"/>
          </a:solidFill>
          <a:ln/>
        </p:spPr>
        <p:txBody>
          <a:bodyPr wrap="square" lIns="0" tIns="0" rIns="0" bIns="0" rtlCol="0" anchor="ctr"/>
          <a:lstStyle/>
          <a:p>
            <a:pPr algn="ctr" indent="0" marL="0">
              <a:buNone/>
            </a:pPr>
            <a:r>
              <a:rPr lang="en-US" sz="2800" b="1" dirty="0">
                <a:solidFill>
                  <a:srgbClr val="22262E"/>
                </a:solidFill>
                <a:latin typeface="Cambria" pitchFamily="34" charset="0"/>
                <a:ea typeface="Cambria" pitchFamily="34" charset="-122"/>
                <a:cs typeface="Cambria" pitchFamily="34" charset="-120"/>
              </a:rPr>
              <a:t>0</a:t>
            </a:r>
            <a:endParaRPr lang="en-US" sz="2800" dirty="0"/>
          </a:p>
        </p:txBody>
      </p:sp>
      <p:sp>
        <p:nvSpPr>
          <p:cNvPr id="11" name="a2_fade_500_196"/>
          <p:cNvSpPr txBox="1"/>
          <p:nvPr/>
        </p:nvSpPr>
        <p:spPr>
          <a:xfrm>
            <a:off x="5486400" y="3977640"/>
            <a:ext cx="3108960" cy="365760"/>
          </a:xfrm>
          <a:prstGeom prst="rect">
            <a:avLst/>
          </a:prstGeom>
          <a:noFill/>
          <a:ln/>
        </p:spPr>
        <p:txBody>
          <a:bodyPr wrap="square" lIns="0" tIns="0" rIns="0" bIns="0" rtlCol="0" anchor="t"/>
          <a:lstStyle/>
          <a:p>
            <a:pPr indent="0" marL="0">
              <a:buNone/>
            </a:pPr>
            <a:r>
              <a:rPr lang="en-US" sz="1500" dirty="0">
                <a:solidFill>
                  <a:srgbClr val="22262E"/>
                </a:solidFill>
                <a:latin typeface="Calibri" pitchFamily="34" charset="0"/>
                <a:ea typeface="Calibri" pitchFamily="34" charset="-122"/>
                <a:cs typeface="Calibri" pitchFamily="34" charset="-120"/>
              </a:rPr>
              <a:t>no shared words</a:t>
            </a:r>
            <a:endParaRPr lang="en-US" sz="1500" dirty="0"/>
          </a:p>
        </p:txBody>
      </p:sp>
      <p:sp>
        <p:nvSpPr>
          <p:cNvPr id="12" name="Text 9"/>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53" presetClass="entr" presetSubtype="16" fill="hold" grpId="0" nodeType="withEffect">
                                  <p:stCondLst>
                                    <p:cond delay="3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ppt_w</p:attrName>
                                        </p:attrNameLst>
                                      </p:cBhvr>
                                      <p:tavLst>
                                        <p:tav tm="0">
                                          <p:val>
                                            <p:fltVal val="0"/>
                                          </p:val>
                                        </p:tav>
                                        <p:tav tm="100000">
                                          <p:val>
                                            <p:strVal val="#ppt_w"/>
                                          </p:val>
                                        </p:tav>
                                      </p:tavLst>
                                    </p:anim>
                                    <p:anim calcmode="lin" valueType="num">
                                      <p:cBhvr additive="base">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SIMPLIFIED VS ORIGINAL</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“The bank refused to give me a loan.”</a:t>
            </a:r>
            <a:endParaRPr lang="en-US" sz="2800" dirty="0"/>
          </a:p>
        </p:txBody>
      </p:sp>
      <p:sp>
        <p:nvSpPr>
          <p:cNvPr id="5" name="a1_wipe_0_197"/>
          <p:cNvSpPr/>
          <p:nvPr/>
        </p:nvSpPr>
        <p:spPr>
          <a:xfrm>
            <a:off x="457200" y="1280160"/>
            <a:ext cx="4023360" cy="2926080"/>
          </a:xfrm>
          <a:prstGeom prst="roundRect">
            <a:avLst>
              <a:gd name="adj" fmla="val 3750"/>
            </a:avLst>
          </a:prstGeom>
          <a:solidFill>
            <a:srgbClr val="FDE6E1"/>
          </a:solidFill>
          <a:ln w="12700">
            <a:solidFill>
              <a:srgbClr val="D9503A"/>
            </a:solidFill>
          </a:ln>
          <a:effectLst>
            <a:outerShdw sx="100000" sy="100000" kx="0" ky="0" algn="bl" rotWithShape="0" blurRad="76200" dist="25400" dir="5400000">
              <a:srgbClr val="000000">
                <a:alpha val="14000"/>
              </a:srgbClr>
            </a:outerShdw>
          </a:effectLst>
        </p:spPr>
        <p:txBody>
          <a:bodyPr wrap="square" lIns="76810" tIns="128016" rIns="128016" bIns="76810" rtlCol="0" anchor="t"/>
          <a:lstStyle/>
          <a:p>
            <a:pPr algn="l" indent="0" marL="0">
              <a:buNone/>
            </a:pPr>
            <a:r>
              <a:rPr lang="en-US" sz="1500" dirty="0">
                <a:solidFill>
                  <a:srgbClr val="22262E"/>
                </a:solidFill>
                <a:latin typeface="Calibri" pitchFamily="34" charset="0"/>
                <a:ea typeface="Calibri" pitchFamily="34" charset="-122"/>
                <a:cs typeface="Calibri" pitchFamily="34" charset="-120"/>
              </a:rPr>
              <a:t>Simplified</a:t>
            </a: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context = {refuse, give, loan}</a:t>
            </a:r>
            <a:endParaRPr lang="en-US" sz="1500" dirty="0"/>
          </a:p>
          <a:p>
            <a:pPr algn="l" indent="0" marL="0">
              <a:buNone/>
            </a:pP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bank 1: 0  (signature has lend, not loan)</a:t>
            </a: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bank 2: 0</a:t>
            </a: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 no evidence: back off to the most frequent sense</a:t>
            </a:r>
            <a:endParaRPr lang="en-US" sz="1500" dirty="0"/>
          </a:p>
        </p:txBody>
      </p:sp>
      <p:sp>
        <p:nvSpPr>
          <p:cNvPr id="6" name="a2_wipe_0_198"/>
          <p:cNvSpPr/>
          <p:nvPr/>
        </p:nvSpPr>
        <p:spPr>
          <a:xfrm>
            <a:off x="4663440" y="1280160"/>
            <a:ext cx="4023360" cy="2926080"/>
          </a:xfrm>
          <a:prstGeom prst="roundRect">
            <a:avLst>
              <a:gd name="adj" fmla="val 3750"/>
            </a:avLst>
          </a:prstGeom>
          <a:solidFill>
            <a:srgbClr val="E2F3F0"/>
          </a:solidFill>
          <a:ln w="12700">
            <a:solidFill>
              <a:srgbClr val="1F8A7D"/>
            </a:solidFill>
          </a:ln>
          <a:effectLst>
            <a:outerShdw sx="100000" sy="100000" kx="0" ky="0" algn="bl" rotWithShape="0" blurRad="76200" dist="25400" dir="5400000">
              <a:srgbClr val="000000">
                <a:alpha val="14000"/>
              </a:srgbClr>
            </a:outerShdw>
          </a:effectLst>
        </p:spPr>
        <p:txBody>
          <a:bodyPr wrap="square" lIns="76810" tIns="128016" rIns="128016" bIns="76810" rtlCol="0" anchor="t"/>
          <a:lstStyle/>
          <a:p>
            <a:pPr algn="l" indent="0" marL="0">
              <a:buNone/>
            </a:pPr>
            <a:r>
              <a:rPr lang="en-US" sz="1500" b="1" dirty="0">
                <a:solidFill>
                  <a:srgbClr val="22262E"/>
                </a:solidFill>
                <a:latin typeface="Calibri" pitchFamily="34" charset="0"/>
                <a:ea typeface="Calibri" pitchFamily="34" charset="-122"/>
                <a:cs typeface="Calibri" pitchFamily="34" charset="-120"/>
              </a:rPr>
              <a:t>Original</a:t>
            </a:r>
            <a:pPr algn="l" indent="0" marL="0">
              <a:buNone/>
            </a:pP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augmented context = {refuse, reject, request, …, give, gift, donate, …, loan, </a:t>
            </a:r>
            <a:endParaRPr lang="en-US" sz="1500" dirty="0"/>
          </a:p>
          <a:p>
            <a:pPr algn="l" indent="0" marL="0">
              <a:buNone/>
            </a:pPr>
            <a:r>
              <a:rPr lang="en-US" sz="1500" b="1" dirty="0">
                <a:solidFill>
                  <a:srgbClr val="22262E"/>
                </a:solidFill>
                <a:highlight>
                  <a:srgbClr val="FFD970"/>
                </a:highlight>
                <a:latin typeface="Calibri" pitchFamily="34" charset="0"/>
                <a:ea typeface="Calibri" pitchFamily="34" charset="-122"/>
                <a:cs typeface="Calibri" pitchFamily="34" charset="-120"/>
              </a:rPr>
              <a:t>money</a:t>
            </a:r>
            <a:pPr algn="l" indent="0" marL="0">
              <a:buNone/>
            </a:pPr>
            <a:r>
              <a:rPr lang="en-US" sz="1500" dirty="0">
                <a:solidFill>
                  <a:srgbClr val="22262E"/>
                </a:solidFill>
                <a:latin typeface="Calibri" pitchFamily="34" charset="0"/>
                <a:ea typeface="Calibri" pitchFamily="34" charset="-122"/>
                <a:cs typeface="Calibri" pitchFamily="34" charset="-120"/>
              </a:rPr>
              <a:t>, borrow, …}</a:t>
            </a:r>
            <a:endParaRPr lang="en-US" sz="1500" dirty="0"/>
          </a:p>
          <a:p>
            <a:pPr algn="l" indent="0" marL="0">
              <a:buNone/>
            </a:pP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bank 1: 1  (shared: </a:t>
            </a:r>
            <a:endParaRPr lang="en-US" sz="1500" dirty="0"/>
          </a:p>
          <a:p>
            <a:pPr algn="l" indent="0" marL="0">
              <a:buNone/>
            </a:pPr>
            <a:r>
              <a:rPr lang="en-US" sz="1500" b="1" dirty="0">
                <a:solidFill>
                  <a:srgbClr val="22262E"/>
                </a:solidFill>
                <a:highlight>
                  <a:srgbClr val="FFD970"/>
                </a:highlight>
                <a:latin typeface="Calibri" pitchFamily="34" charset="0"/>
                <a:ea typeface="Calibri" pitchFamily="34" charset="-122"/>
                <a:cs typeface="Calibri" pitchFamily="34" charset="-120"/>
              </a:rPr>
              <a:t>money</a:t>
            </a:r>
            <a:pPr algn="l" indent="0" marL="0">
              <a:buNone/>
            </a:pPr>
            <a:r>
              <a:rPr lang="en-US" sz="1500" dirty="0">
                <a:solidFill>
                  <a:srgbClr val="22262E"/>
                </a:solidFill>
                <a:latin typeface="Calibri" pitchFamily="34" charset="0"/>
                <a:ea typeface="Calibri" pitchFamily="34" charset="-122"/>
                <a:cs typeface="Calibri" pitchFamily="34" charset="-120"/>
              </a:rPr>
              <a:t>)</a:t>
            </a: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bank 2: 0</a:t>
            </a: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 the bridge loan → money is found</a:t>
            </a:r>
            <a:endParaRPr lang="en-US" sz="1500" dirty="0"/>
          </a:p>
        </p:txBody>
      </p:sp>
      <p:sp>
        <p:nvSpPr>
          <p:cNvPr id="7" name="a3_fade_0_199"/>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i="1" dirty="0">
                <a:solidFill>
                  <a:srgbClr val="5B6577"/>
                </a:solidFill>
                <a:latin typeface="Calibri" pitchFamily="34" charset="0"/>
                <a:ea typeface="Calibri" pitchFamily="34" charset="-122"/>
                <a:cs typeface="Calibri" pitchFamily="34" charset="-120"/>
              </a:rPr>
              <a:t>The slide abbreviates the augmented set with “…”; only the shared word it shows is counted.</a:t>
            </a:r>
            <a:endParaRPr lang="en-US" sz="1100" dirty="0"/>
          </a:p>
        </p:txBody>
      </p:sp>
      <p:sp>
        <p:nvSpPr>
          <p:cNvPr id="8" name="Text 5"/>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8A7D"/>
        </a:solidFill>
      </p:bgPr>
    </p:bg>
    <p:spTree>
      <p:nvGrpSpPr>
        <p:cNvPr id="1" name=""/>
        <p:cNvGrpSpPr/>
        <p:nvPr/>
      </p:nvGrpSpPr>
      <p:grpSpPr>
        <a:xfrm>
          <a:off x="0" y="0"/>
          <a:ext cx="0" cy="0"/>
          <a:chOff x="0" y="0"/>
          <a:chExt cx="0" cy="0"/>
        </a:xfrm>
      </p:grpSpPr>
      <p:sp>
        <p:nvSpPr>
          <p:cNvPr id="3" name="a0_zoom_0_200"/>
          <p:cNvSpPr txBox="1"/>
          <p:nvPr/>
        </p:nvSpPr>
        <p:spPr>
          <a:xfrm>
            <a:off x="640080" y="822960"/>
            <a:ext cx="1828800" cy="2194560"/>
          </a:xfrm>
          <a:prstGeom prst="rect">
            <a:avLst/>
          </a:prstGeom>
          <a:noFill/>
          <a:ln/>
        </p:spPr>
        <p:txBody>
          <a:bodyPr wrap="square" lIns="0" tIns="0" rIns="0" bIns="0" rtlCol="0" anchor="t"/>
          <a:lstStyle/>
          <a:p>
            <a:pPr indent="0" marL="0">
              <a:buNone/>
            </a:pPr>
            <a:r>
              <a:rPr lang="en-US" sz="15000" b="1" dirty="0">
                <a:solidFill>
                  <a:srgbClr val="FFFFFF"/>
                </a:solidFill>
                <a:latin typeface="Cambria" pitchFamily="34" charset="0"/>
                <a:ea typeface="Cambria" pitchFamily="34" charset="-122"/>
                <a:cs typeface="Cambria" pitchFamily="34" charset="-120"/>
              </a:rPr>
              <a:t>1</a:t>
            </a:r>
            <a:endParaRPr lang="en-US" sz="15000" dirty="0"/>
          </a:p>
        </p:txBody>
      </p:sp>
      <p:sp>
        <p:nvSpPr>
          <p:cNvPr id="4" name="a0_wipe_300_201"/>
          <p:cNvSpPr txBox="1"/>
          <p:nvPr/>
        </p:nvSpPr>
        <p:spPr>
          <a:xfrm>
            <a:off x="2743200" y="1554480"/>
            <a:ext cx="576072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Worked Example 1</a:t>
            </a:r>
            <a:endParaRPr lang="en-US" sz="3800" dirty="0"/>
          </a:p>
        </p:txBody>
      </p:sp>
      <p:sp>
        <p:nvSpPr>
          <p:cNvPr id="5" name="a0_fade_800_202"/>
          <p:cNvSpPr txBox="1"/>
          <p:nvPr/>
        </p:nvSpPr>
        <p:spPr>
          <a:xfrm>
            <a:off x="2743200" y="2377440"/>
            <a:ext cx="5760720" cy="457200"/>
          </a:xfrm>
          <a:prstGeom prst="rect">
            <a:avLst/>
          </a:prstGeom>
          <a:noFill/>
          <a:ln/>
        </p:spPr>
        <p:txBody>
          <a:bodyPr wrap="square" lIns="0" tIns="0" rIns="0" bIns="0" rtlCol="0" anchor="t"/>
          <a:lstStyle/>
          <a:p>
            <a:pPr indent="0" marL="0">
              <a:buNone/>
            </a:pPr>
            <a:r>
              <a:rPr lang="en-US" sz="1800" dirty="0">
                <a:solidFill>
                  <a:srgbClr val="D7F0EC"/>
                </a:solidFill>
                <a:latin typeface="Calibri" pitchFamily="34" charset="0"/>
                <a:ea typeface="Calibri" pitchFamily="34" charset="-122"/>
                <a:cs typeface="Calibri" pitchFamily="34" charset="-120"/>
              </a:rPr>
              <a:t>Basic: “bank”, two senses, simplified Lesk</a:t>
            </a:r>
            <a:endParaRPr lang="en-US" sz="1800" dirty="0"/>
          </a:p>
        </p:txBody>
      </p:sp>
      <p:sp>
        <p:nvSpPr>
          <p:cNvPr id="6" name="a0_fly_1100_203"/>
          <p:cNvSpPr/>
          <p:nvPr/>
        </p:nvSpPr>
        <p:spPr>
          <a:xfrm>
            <a:off x="2743200" y="3200400"/>
            <a:ext cx="1170798" cy="340868"/>
          </a:xfrm>
          <a:prstGeom prst="roundRect">
            <a:avLst>
              <a:gd name="adj" fmla="val 32191"/>
            </a:avLst>
          </a:prstGeom>
          <a:solidFill>
            <a:srgbClr val="F4A300"/>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deposit</a:t>
            </a:r>
            <a:endParaRPr lang="en-US" sz="1400" dirty="0"/>
          </a:p>
        </p:txBody>
      </p:sp>
      <p:sp>
        <p:nvSpPr>
          <p:cNvPr id="7" name="a0_fly_1250_204"/>
          <p:cNvSpPr/>
          <p:nvPr/>
        </p:nvSpPr>
        <p:spPr>
          <a:xfrm>
            <a:off x="4069080" y="3200400"/>
            <a:ext cx="919886" cy="340868"/>
          </a:xfrm>
          <a:prstGeom prst="roundRect">
            <a:avLst>
              <a:gd name="adj" fmla="val 32191"/>
            </a:avLst>
          </a:prstGeom>
          <a:solidFill>
            <a:srgbClr val="F4A300"/>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money</a:t>
            </a:r>
            <a:endParaRPr lang="en-US" sz="1400" dirty="0"/>
          </a:p>
        </p:txBody>
      </p:sp>
      <p:sp>
        <p:nvSpPr>
          <p:cNvPr id="8" name="a0_fly_1400_205"/>
          <p:cNvSpPr/>
          <p:nvPr/>
        </p:nvSpPr>
        <p:spPr>
          <a:xfrm>
            <a:off x="5212080" y="3200400"/>
            <a:ext cx="919886" cy="340868"/>
          </a:xfrm>
          <a:prstGeom prst="roundRect">
            <a:avLst>
              <a:gd name="adj" fmla="val 32191"/>
            </a:avLst>
          </a:prstGeom>
          <a:solidFill>
            <a:srgbClr val="FFFFFF"/>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river</a:t>
            </a:r>
            <a:endParaRPr lang="en-US" sz="1400" dirty="0"/>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27"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ppt_w</p:attrName>
                                        </p:attrNameLst>
                                      </p:cBhvr>
                                      <p:tavLst>
                                        <p:tav tm="0">
                                          <p:val>
                                            <p:fltVal val="0"/>
                                          </p:val>
                                        </p:tav>
                                        <p:tav tm="100000">
                                          <p:val>
                                            <p:strVal val="#ppt_w"/>
                                          </p:val>
                                        </p:tav>
                                      </p:tavLst>
                                    </p:anim>
                                    <p:anim calcmode="lin" valueType="num">
                                      <p:cBhvr additive="base">
                                        <p:cTn id="6" dur="500" fill="hold"/>
                                        <p:tgtEl>
                                          <p:spTgt spid="3"/>
                                        </p:tgtEl>
                                        <p:attrNameLst>
                                          <p:attrName>ppt_h</p:attrName>
                                        </p:attrNameLst>
                                      </p:cBhvr>
                                      <p:tavLst>
                                        <p:tav tm="0">
                                          <p:val>
                                            <p:fltVal val="0"/>
                                          </p:val>
                                        </p:tav>
                                        <p:tav tm="100000">
                                          <p:val>
                                            <p:strVal val="#ppt_h"/>
                                          </p:val>
                                        </p:tav>
                                      </p:tavLst>
                                    </p:anim>
                                    <p:animEffect transition="in" filter="fade">
                                      <p:cBhvr>
                                        <p:cTn id="7" dur="500"/>
                                        <p:tgtEl>
                                          <p:spTgt spid="3"/>
                                        </p:tgtEl>
                                      </p:cBhvr>
                                    </p:animEffect>
                                  </p:childTnLst>
                                </p:cTn>
                              </p:par>
                              <p:par>
                                <p:cTn id="8" presetID="22" presetClass="entr" presetSubtype="8" fill="hold" grpId="0"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10" presetClass="entr" presetSubtype="0" fill="hold" grpId="0" nodeType="withEffect">
                                  <p:stCondLst>
                                    <p:cond delay="8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25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4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1 · SETUP</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Senses and sentences</a:t>
            </a:r>
            <a:endParaRPr lang="en-US" sz="2800" dirty="0"/>
          </a:p>
        </p:txBody>
      </p:sp>
      <p:sp>
        <p:nvSpPr>
          <p:cNvPr id="5" name="a1_wipe_0_206"/>
          <p:cNvSpPr/>
          <p:nvPr/>
        </p:nvSpPr>
        <p:spPr>
          <a:xfrm>
            <a:off x="457200" y="1188720"/>
            <a:ext cx="4023360" cy="1600200"/>
          </a:xfrm>
          <a:prstGeom prst="roundRect">
            <a:avLst>
              <a:gd name="adj" fmla="val 6857"/>
            </a:avLst>
          </a:prstGeom>
          <a:solidFill>
            <a:srgbClr val="E2F3F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bank 1 (financial)</a:t>
            </a:r>
            <a:pPr algn="l" indent="0" marL="0">
              <a:buNone/>
            </a:pP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{financial, institution, accept, deposit, channel, money, lend, activity, cash, check, hold, mortgage, home}</a:t>
            </a:r>
            <a:endParaRPr lang="en-US" sz="1250" dirty="0"/>
          </a:p>
        </p:txBody>
      </p:sp>
      <p:sp>
        <p:nvSpPr>
          <p:cNvPr id="6" name="a1_wipe_250_207"/>
          <p:cNvSpPr/>
          <p:nvPr/>
        </p:nvSpPr>
        <p:spPr>
          <a:xfrm>
            <a:off x="4663440" y="1188720"/>
            <a:ext cx="4023360" cy="1600200"/>
          </a:xfrm>
          <a:prstGeom prst="roundRect">
            <a:avLst>
              <a:gd name="adj" fmla="val 6857"/>
            </a:avLst>
          </a:prstGeom>
          <a:solidFill>
            <a:srgbClr val="FDE6E1"/>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bank 2 (slope)</a:t>
            </a:r>
            <a:pPr algn="l" indent="0" marL="0">
              <a:buNone/>
            </a:pP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{slope, land, body, water, pull, canoe, sit, river, watch, current}</a:t>
            </a:r>
            <a:endParaRPr lang="en-US" sz="1250" dirty="0"/>
          </a:p>
        </p:txBody>
      </p:sp>
      <p:sp>
        <p:nvSpPr>
          <p:cNvPr id="7" name="a2_fade_0_208"/>
          <p:cNvSpPr/>
          <p:nvPr/>
        </p:nvSpPr>
        <p:spPr>
          <a:xfrm>
            <a:off x="457200" y="3017520"/>
            <a:ext cx="4023360" cy="914400"/>
          </a:xfrm>
          <a:prstGeom prst="roundRect">
            <a:avLst>
              <a:gd name="adj" fmla="val 12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Text 1</a:t>
            </a:r>
            <a:pPr algn="l" indent="0" marL="0">
              <a:buNone/>
            </a:pPr>
            <a:endParaRPr lang="en-US" sz="1400" dirty="0"/>
          </a:p>
          <a:p>
            <a:pPr algn="l" indent="0" marL="0">
              <a:buNone/>
            </a:pPr>
            <a:r>
              <a:rPr lang="en-US" sz="1400" dirty="0">
                <a:solidFill>
                  <a:srgbClr val="22262E"/>
                </a:solidFill>
                <a:latin typeface="Calibri" pitchFamily="34" charset="0"/>
                <a:ea typeface="Calibri" pitchFamily="34" charset="-122"/>
                <a:cs typeface="Calibri" pitchFamily="34" charset="-120"/>
              </a:rPr>
              <a:t>“I went to the bank to deposit my money.”</a:t>
            </a:r>
            <a:endParaRPr lang="en-US" sz="1400" dirty="0"/>
          </a:p>
        </p:txBody>
      </p:sp>
      <p:sp>
        <p:nvSpPr>
          <p:cNvPr id="8" name="a2_fade_250_209"/>
          <p:cNvSpPr/>
          <p:nvPr/>
        </p:nvSpPr>
        <p:spPr>
          <a:xfrm>
            <a:off x="4663440" y="3017520"/>
            <a:ext cx="4023360" cy="914400"/>
          </a:xfrm>
          <a:prstGeom prst="roundRect">
            <a:avLst>
              <a:gd name="adj" fmla="val 12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Text 2</a:t>
            </a:r>
            <a:pPr algn="l" indent="0" marL="0">
              <a:buNone/>
            </a:pPr>
            <a:endParaRPr lang="en-US" sz="1400" dirty="0"/>
          </a:p>
          <a:p>
            <a:pPr algn="l" indent="0" marL="0">
              <a:buNone/>
            </a:pPr>
            <a:r>
              <a:rPr lang="en-US" sz="1400" dirty="0">
                <a:solidFill>
                  <a:srgbClr val="22262E"/>
                </a:solidFill>
                <a:latin typeface="Calibri" pitchFamily="34" charset="0"/>
                <a:ea typeface="Calibri" pitchFamily="34" charset="-122"/>
                <a:cs typeface="Calibri" pitchFamily="34" charset="-120"/>
              </a:rPr>
              <a:t>“The river bank was full of dead fishes.”</a:t>
            </a:r>
            <a:endParaRPr lang="en-US" sz="1400" dirty="0"/>
          </a:p>
        </p:txBody>
      </p:sp>
      <p:sp>
        <p:nvSpPr>
          <p:cNvPr id="9" name="a3_fade_0_210"/>
          <p:cNvSpPr/>
          <p:nvPr/>
        </p:nvSpPr>
        <p:spPr>
          <a:xfrm>
            <a:off x="457200" y="4114800"/>
            <a:ext cx="8229600" cy="411480"/>
          </a:xfrm>
          <a:prstGeom prst="roundRect">
            <a:avLst>
              <a:gd name="adj" fmla="val 26667"/>
            </a:avLst>
          </a:prstGeom>
          <a:solidFill>
            <a:srgbClr val="FFF0C7"/>
          </a:solidFill>
          <a:ln/>
        </p:spPr>
        <p:txBody>
          <a:bodyPr wrap="square" lIns="76810" tIns="128016" rIns="128016" bIns="7681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Rules: simplified Lesk  ·  stop words out  ·  target out  ·  lemmatise</a:t>
            </a:r>
            <a:endParaRPr lang="en-US" sz="1300" dirty="0"/>
          </a:p>
        </p:txBody>
      </p:sp>
      <p:sp>
        <p:nvSpPr>
          <p:cNvPr id="10" name="Text 7"/>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par>
                                <p:cTn id="6" presetID="22" presetClass="entr" presetSubtype="8"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8"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1 · TEXT 1</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200" b="1" dirty="0">
                <a:solidFill>
                  <a:srgbClr val="1B2A49"/>
                </a:solidFill>
                <a:latin typeface="Cambria" pitchFamily="34" charset="0"/>
                <a:ea typeface="Cambria" pitchFamily="34" charset="-122"/>
                <a:cs typeface="Cambria" pitchFamily="34" charset="-120"/>
              </a:rPr>
              <a:t>“I went to the bank to deposit my money.”</a:t>
            </a:r>
            <a:endParaRPr lang="en-US" sz="2200" dirty="0"/>
          </a:p>
        </p:txBody>
      </p:sp>
      <p:sp>
        <p:nvSpPr>
          <p:cNvPr id="5" name="a1_fade_0_211"/>
          <p:cNvSpPr txBox="1"/>
          <p:nvPr/>
        </p:nvSpPr>
        <p:spPr>
          <a:xfrm>
            <a:off x="457200" y="1234440"/>
            <a:ext cx="1188720" cy="365760"/>
          </a:xfrm>
          <a:prstGeom prst="rect">
            <a:avLst/>
          </a:prstGeom>
          <a:noFill/>
          <a:ln/>
        </p:spPr>
        <p:txBody>
          <a:bodyPr wrap="square" lIns="0" tIns="0" rIns="0" bIns="0" rtlCol="0" anchor="ctr"/>
          <a:lstStyle/>
          <a:p>
            <a:pPr indent="0" marL="0">
              <a:buNone/>
            </a:pPr>
            <a:r>
              <a:rPr lang="en-US" sz="1600" b="1" dirty="0">
                <a:solidFill>
                  <a:srgbClr val="1B2A49"/>
                </a:solidFill>
                <a:latin typeface="Cambria" pitchFamily="34" charset="0"/>
                <a:ea typeface="Cambria" pitchFamily="34" charset="-122"/>
                <a:cs typeface="Cambria" pitchFamily="34" charset="-120"/>
              </a:rPr>
              <a:t>Context C</a:t>
            </a:r>
            <a:endParaRPr lang="en-US" sz="1600" dirty="0"/>
          </a:p>
        </p:txBody>
      </p:sp>
      <p:sp>
        <p:nvSpPr>
          <p:cNvPr id="6" name="a1_zoom_100_212"/>
          <p:cNvSpPr/>
          <p:nvPr/>
        </p:nvSpPr>
        <p:spPr>
          <a:xfrm>
            <a:off x="1737360" y="1261872"/>
            <a:ext cx="517550" cy="357378"/>
          </a:xfrm>
          <a:prstGeom prst="roundRect">
            <a:avLst>
              <a:gd name="adj" fmla="val 30704"/>
            </a:avLst>
          </a:prstGeom>
          <a:solidFill>
            <a:srgbClr val="E6EAF2"/>
          </a:solidFill>
          <a:ln/>
        </p:spPr>
        <p:txBody>
          <a:bodyPr wrap="square" lIns="0" tIns="0" rIns="0" bIns="0" rtlCol="0" anchor="ctr"/>
          <a:lstStyle/>
          <a:p>
            <a:pPr algn="ctr" indent="0" marL="0">
              <a:buNone/>
            </a:pPr>
            <a:r>
              <a:rPr lang="en-US" sz="1500" dirty="0">
                <a:solidFill>
                  <a:srgbClr val="22262E"/>
                </a:solidFill>
                <a:latin typeface="Calibri" pitchFamily="34" charset="0"/>
                <a:ea typeface="Calibri" pitchFamily="34" charset="-122"/>
                <a:cs typeface="Calibri" pitchFamily="34" charset="-120"/>
              </a:rPr>
              <a:t>go</a:t>
            </a:r>
            <a:endParaRPr lang="en-US" sz="1500" dirty="0"/>
          </a:p>
        </p:txBody>
      </p:sp>
      <p:sp>
        <p:nvSpPr>
          <p:cNvPr id="7" name="a1_zoom_250_213"/>
          <p:cNvSpPr/>
          <p:nvPr/>
        </p:nvSpPr>
        <p:spPr>
          <a:xfrm>
            <a:off x="2318918" y="1261872"/>
            <a:ext cx="1233526" cy="357378"/>
          </a:xfrm>
          <a:prstGeom prst="roundRect">
            <a:avLst>
              <a:gd name="adj" fmla="val 30704"/>
            </a:avLst>
          </a:prstGeom>
          <a:solidFill>
            <a:srgbClr val="F4A300"/>
          </a:solidFill>
          <a:ln/>
        </p:spPr>
        <p:txBody>
          <a:bodyPr wrap="square" lIns="0" tIns="0" rIns="0" bIns="0" rtlCol="0" anchor="ctr"/>
          <a:lstStyle/>
          <a:p>
            <a:pPr algn="ctr" indent="0" marL="0">
              <a:buNone/>
            </a:pPr>
            <a:r>
              <a:rPr lang="en-US" sz="1500" b="1" dirty="0">
                <a:solidFill>
                  <a:srgbClr val="22262E"/>
                </a:solidFill>
                <a:latin typeface="Calibri" pitchFamily="34" charset="0"/>
                <a:ea typeface="Calibri" pitchFamily="34" charset="-122"/>
                <a:cs typeface="Calibri" pitchFamily="34" charset="-120"/>
              </a:rPr>
              <a:t>deposit</a:t>
            </a:r>
            <a:endParaRPr lang="en-US" sz="1500" dirty="0"/>
          </a:p>
        </p:txBody>
      </p:sp>
      <p:sp>
        <p:nvSpPr>
          <p:cNvPr id="8" name="a1_zoom_400_214"/>
          <p:cNvSpPr/>
          <p:nvPr/>
        </p:nvSpPr>
        <p:spPr>
          <a:xfrm>
            <a:off x="3616452" y="1261872"/>
            <a:ext cx="964692" cy="357378"/>
          </a:xfrm>
          <a:prstGeom prst="roundRect">
            <a:avLst>
              <a:gd name="adj" fmla="val 30704"/>
            </a:avLst>
          </a:prstGeom>
          <a:solidFill>
            <a:srgbClr val="F4A300"/>
          </a:solidFill>
          <a:ln/>
        </p:spPr>
        <p:txBody>
          <a:bodyPr wrap="square" lIns="0" tIns="0" rIns="0" bIns="0" rtlCol="0" anchor="ctr"/>
          <a:lstStyle/>
          <a:p>
            <a:pPr algn="ctr" indent="0" marL="0">
              <a:buNone/>
            </a:pPr>
            <a:r>
              <a:rPr lang="en-US" sz="1500" b="1" dirty="0">
                <a:solidFill>
                  <a:srgbClr val="22262E"/>
                </a:solidFill>
                <a:latin typeface="Calibri" pitchFamily="34" charset="0"/>
                <a:ea typeface="Calibri" pitchFamily="34" charset="-122"/>
                <a:cs typeface="Calibri" pitchFamily="34" charset="-120"/>
              </a:rPr>
              <a:t>money</a:t>
            </a:r>
            <a:endParaRPr lang="en-US" sz="1500" dirty="0"/>
          </a:p>
        </p:txBody>
      </p:sp>
      <p:sp>
        <p:nvSpPr>
          <p:cNvPr id="9" name="a1_fade_500_215"/>
          <p:cNvSpPr txBox="1"/>
          <p:nvPr/>
        </p:nvSpPr>
        <p:spPr>
          <a:xfrm>
            <a:off x="5029200" y="1298448"/>
            <a:ext cx="3657600" cy="274320"/>
          </a:xfrm>
          <a:prstGeom prst="rect">
            <a:avLst/>
          </a:prstGeom>
          <a:noFill/>
          <a:ln/>
        </p:spPr>
        <p:txBody>
          <a:bodyPr wrap="square" lIns="0" tIns="0" rIns="0" bIns="0" rtlCol="0" anchor="t"/>
          <a:lstStyle/>
          <a:p>
            <a:pPr indent="0" marL="0">
              <a:buNone/>
            </a:pPr>
            <a:r>
              <a:rPr lang="en-US" sz="1150" i="1" dirty="0">
                <a:solidFill>
                  <a:srgbClr val="5B6577"/>
                </a:solidFill>
                <a:latin typeface="Calibri" pitchFamily="34" charset="0"/>
                <a:ea typeface="Calibri" pitchFamily="34" charset="-122"/>
                <a:cs typeface="Calibri" pitchFamily="34" charset="-120"/>
              </a:rPr>
              <a:t>removed: i, to, the, to, my, bank</a:t>
            </a:r>
            <a:endParaRPr lang="en-US" sz="1150" dirty="0"/>
          </a:p>
        </p:txBody>
      </p:sp>
      <p:sp>
        <p:nvSpPr>
          <p:cNvPr id="10" name="a2_wipe_0_216"/>
          <p:cNvSpPr/>
          <p:nvPr/>
        </p:nvSpPr>
        <p:spPr>
          <a:xfrm>
            <a:off x="457200" y="1965960"/>
            <a:ext cx="4023360" cy="1005840"/>
          </a:xfrm>
          <a:prstGeom prst="roundRect">
            <a:avLst>
              <a:gd name="adj" fmla="val 10909"/>
            </a:avLst>
          </a:prstGeom>
          <a:solidFill>
            <a:srgbClr val="E2F3F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500" b="1" dirty="0">
                <a:solidFill>
                  <a:srgbClr val="22262E"/>
                </a:solidFill>
                <a:latin typeface="Calibri" pitchFamily="34" charset="0"/>
                <a:ea typeface="Calibri" pitchFamily="34" charset="-122"/>
                <a:cs typeface="Calibri" pitchFamily="34" charset="-120"/>
              </a:rPr>
              <a:t>bank 1</a:t>
            </a:r>
            <a:pPr algn="l" indent="0" marL="0">
              <a:buNone/>
            </a:pP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signature ∩ C = {</a:t>
            </a:r>
            <a:endParaRPr lang="en-US" sz="1500" dirty="0"/>
          </a:p>
          <a:p>
            <a:pPr algn="l" indent="0" marL="0">
              <a:buNone/>
            </a:pPr>
            <a:r>
              <a:rPr lang="en-US" sz="1500" b="1" dirty="0">
                <a:solidFill>
                  <a:srgbClr val="22262E"/>
                </a:solidFill>
                <a:highlight>
                  <a:srgbClr val="FFD970"/>
                </a:highlight>
                <a:latin typeface="Calibri" pitchFamily="34" charset="0"/>
                <a:ea typeface="Calibri" pitchFamily="34" charset="-122"/>
                <a:cs typeface="Calibri" pitchFamily="34" charset="-120"/>
              </a:rPr>
              <a:t>deposit</a:t>
            </a:r>
            <a:pPr algn="l" indent="0" marL="0">
              <a:buNone/>
            </a:pPr>
            <a:r>
              <a:rPr lang="en-US" sz="1500" dirty="0">
                <a:solidFill>
                  <a:srgbClr val="22262E"/>
                </a:solidFill>
                <a:latin typeface="Calibri" pitchFamily="34" charset="0"/>
                <a:ea typeface="Calibri" pitchFamily="34" charset="-122"/>
                <a:cs typeface="Calibri" pitchFamily="34" charset="-120"/>
              </a:rPr>
              <a:t>, </a:t>
            </a:r>
            <a:pPr algn="l" indent="0" marL="0">
              <a:buNone/>
            </a:pPr>
            <a:r>
              <a:rPr lang="en-US" sz="1500" b="1" dirty="0">
                <a:solidFill>
                  <a:srgbClr val="22262E"/>
                </a:solidFill>
                <a:highlight>
                  <a:srgbClr val="FFD970"/>
                </a:highlight>
                <a:latin typeface="Calibri" pitchFamily="34" charset="0"/>
                <a:ea typeface="Calibri" pitchFamily="34" charset="-122"/>
                <a:cs typeface="Calibri" pitchFamily="34" charset="-120"/>
              </a:rPr>
              <a:t>money</a:t>
            </a:r>
            <a:pPr algn="l" indent="0" marL="0">
              <a:buNone/>
            </a:pPr>
            <a:r>
              <a:rPr lang="en-US" sz="1500" dirty="0">
                <a:solidFill>
                  <a:srgbClr val="22262E"/>
                </a:solidFill>
                <a:latin typeface="Calibri" pitchFamily="34" charset="0"/>
                <a:ea typeface="Calibri" pitchFamily="34" charset="-122"/>
                <a:cs typeface="Calibri" pitchFamily="34" charset="-120"/>
              </a:rPr>
              <a:t>}</a:t>
            </a:r>
            <a:endParaRPr lang="en-US" sz="1500" dirty="0"/>
          </a:p>
        </p:txBody>
      </p:sp>
      <p:sp>
        <p:nvSpPr>
          <p:cNvPr id="11" name="a2_zoom_300_217"/>
          <p:cNvSpPr/>
          <p:nvPr/>
        </p:nvSpPr>
        <p:spPr>
          <a:xfrm>
            <a:off x="3840480" y="2103120"/>
            <a:ext cx="502920" cy="502920"/>
          </a:xfrm>
          <a:prstGeom prst="ellipse">
            <a:avLst/>
          </a:prstGeom>
          <a:solidFill>
            <a:srgbClr val="F4A300"/>
          </a:solidFill>
          <a:ln/>
        </p:spPr>
        <p:txBody>
          <a:bodyPr wrap="square" lIns="0" tIns="0" rIns="0" bIns="0" rtlCol="0" anchor="ctr"/>
          <a:lstStyle/>
          <a:p>
            <a:pPr algn="ctr" indent="0" marL="0">
              <a:buNone/>
            </a:pPr>
            <a:r>
              <a:rPr lang="en-US" sz="2000" b="1" dirty="0">
                <a:solidFill>
                  <a:srgbClr val="22262E"/>
                </a:solidFill>
                <a:latin typeface="Cambria" pitchFamily="34" charset="0"/>
                <a:ea typeface="Cambria" pitchFamily="34" charset="-122"/>
                <a:cs typeface="Cambria" pitchFamily="34" charset="-120"/>
              </a:rPr>
              <a:t>2</a:t>
            </a:r>
            <a:endParaRPr lang="en-US" sz="2000" dirty="0"/>
          </a:p>
        </p:txBody>
      </p:sp>
      <p:sp>
        <p:nvSpPr>
          <p:cNvPr id="12" name="a3_wipe_0_218"/>
          <p:cNvSpPr/>
          <p:nvPr/>
        </p:nvSpPr>
        <p:spPr>
          <a:xfrm>
            <a:off x="4663440" y="1965960"/>
            <a:ext cx="4023360" cy="1005840"/>
          </a:xfrm>
          <a:prstGeom prst="roundRect">
            <a:avLst>
              <a:gd name="adj" fmla="val 10909"/>
            </a:avLst>
          </a:prstGeom>
          <a:solidFill>
            <a:srgbClr val="FDE6E1"/>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500" b="1" dirty="0">
                <a:solidFill>
                  <a:srgbClr val="22262E"/>
                </a:solidFill>
                <a:latin typeface="Calibri" pitchFamily="34" charset="0"/>
                <a:ea typeface="Calibri" pitchFamily="34" charset="-122"/>
                <a:cs typeface="Calibri" pitchFamily="34" charset="-120"/>
              </a:rPr>
              <a:t>bank 2</a:t>
            </a:r>
            <a:pPr algn="l" indent="0" marL="0">
              <a:buNone/>
            </a:pP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signature ∩ C = ∅</a:t>
            </a:r>
            <a:endParaRPr lang="en-US" sz="1500" dirty="0"/>
          </a:p>
        </p:txBody>
      </p:sp>
      <p:sp>
        <p:nvSpPr>
          <p:cNvPr id="13" name="a3_zoom_300_219"/>
          <p:cNvSpPr/>
          <p:nvPr/>
        </p:nvSpPr>
        <p:spPr>
          <a:xfrm>
            <a:off x="8046720" y="2103120"/>
            <a:ext cx="502920" cy="502920"/>
          </a:xfrm>
          <a:prstGeom prst="ellipse">
            <a:avLst/>
          </a:prstGeom>
          <a:solidFill>
            <a:srgbClr val="C9D0DC"/>
          </a:solidFill>
          <a:ln/>
        </p:spPr>
        <p:txBody>
          <a:bodyPr wrap="square" lIns="0" tIns="0" rIns="0" bIns="0" rtlCol="0" anchor="ctr"/>
          <a:lstStyle/>
          <a:p>
            <a:pPr algn="ctr" indent="0" marL="0">
              <a:buNone/>
            </a:pPr>
            <a:r>
              <a:rPr lang="en-US" sz="2000" b="1" dirty="0">
                <a:solidFill>
                  <a:srgbClr val="22262E"/>
                </a:solidFill>
                <a:latin typeface="Cambria" pitchFamily="34" charset="0"/>
                <a:ea typeface="Cambria" pitchFamily="34" charset="-122"/>
                <a:cs typeface="Cambria" pitchFamily="34" charset="-120"/>
              </a:rPr>
              <a:t>0</a:t>
            </a:r>
            <a:endParaRPr lang="en-US" sz="2000" dirty="0"/>
          </a:p>
        </p:txBody>
      </p:sp>
      <p:sp>
        <p:nvSpPr>
          <p:cNvPr id="14" name="a4_zoom_0_220"/>
          <p:cNvSpPr/>
          <p:nvPr/>
        </p:nvSpPr>
        <p:spPr>
          <a:xfrm>
            <a:off x="457200" y="3291840"/>
            <a:ext cx="8229600" cy="777240"/>
          </a:xfrm>
          <a:prstGeom prst="roundRect">
            <a:avLst>
              <a:gd name="adj" fmla="val 14118"/>
            </a:avLst>
          </a:prstGeom>
          <a:solidFill>
            <a:srgbClr val="1B2A49"/>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2 &gt; 0   →   bank = </a:t>
            </a:r>
            <a:pPr algn="ctr" indent="0" marL="0">
              <a:buNone/>
            </a:pPr>
            <a:r>
              <a:rPr lang="en-US" sz="2000" b="1" dirty="0">
                <a:solidFill>
                  <a:srgbClr val="FFFFFF"/>
                </a:solidFill>
                <a:latin typeface="Calibri" pitchFamily="34" charset="0"/>
                <a:ea typeface="Calibri" pitchFamily="34" charset="-122"/>
                <a:cs typeface="Calibri" pitchFamily="34" charset="-120"/>
              </a:rPr>
              <a:t>bank 1, the financial institution</a:t>
            </a:r>
            <a:endParaRPr lang="en-US" sz="2000" dirty="0"/>
          </a:p>
        </p:txBody>
      </p:sp>
      <p:sp>
        <p:nvSpPr>
          <p:cNvPr id="15" name="Text 12"/>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53" presetClass="entr" presetSubtype="16"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500" fill="hold"/>
                                        <p:tgtEl>
                                          <p:spTgt spid="6"/>
                                        </p:tgtEl>
                                        <p:attrNameLst>
                                          <p:attrName>ppt_w</p:attrName>
                                        </p:attrNameLst>
                                      </p:cBhvr>
                                      <p:tavLst>
                                        <p:tav tm="0">
                                          <p:val>
                                            <p:fltVal val="0"/>
                                          </p:val>
                                        </p:tav>
                                        <p:tav tm="100000">
                                          <p:val>
                                            <p:strVal val="#ppt_w"/>
                                          </p:val>
                                        </p:tav>
                                      </p:tavLst>
                                    </p:anim>
                                    <p:anim calcmode="lin" valueType="num">
                                      <p:cBhvr additive="base">
                                        <p:cTn id="9" dur="500" fill="hold"/>
                                        <p:tgtEl>
                                          <p:spTgt spid="6"/>
                                        </p:tgtEl>
                                        <p:attrNameLst>
                                          <p:attrName>ppt_h</p:attrName>
                                        </p:attrNameLst>
                                      </p:cBhvr>
                                      <p:tavLst>
                                        <p:tav tm="0">
                                          <p:val>
                                            <p:fltVal val="0"/>
                                          </p:val>
                                        </p:tav>
                                        <p:tav tm="100000">
                                          <p:val>
                                            <p:strVal val="#ppt_h"/>
                                          </p:val>
                                        </p:tav>
                                      </p:tavLst>
                                    </p:anim>
                                    <p:animEffect transition="in" filter="fade">
                                      <p:cBhvr>
                                        <p:cTn id="10" dur="500"/>
                                        <p:tgtEl>
                                          <p:spTgt spid="6"/>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53" presetClass="entr" presetSubtype="16" fill="hold" grpId="0" nodeType="withEffect">
                                  <p:stCondLst>
                                    <p:cond delay="4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53" presetClass="entr" presetSubtype="16" fill="hold" grpId="0" nodeType="withEffect">
                                  <p:stCondLst>
                                    <p:cond delay="3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ppt_w</p:attrName>
                                        </p:attrNameLst>
                                      </p:cBhvr>
                                      <p:tavLst>
                                        <p:tav tm="0">
                                          <p:val>
                                            <p:fltVal val="0"/>
                                          </p:val>
                                        </p:tav>
                                        <p:tav tm="100000">
                                          <p:val>
                                            <p:strVal val="#ppt_w"/>
                                          </p:val>
                                        </p:tav>
                                      </p:tavLst>
                                    </p:anim>
                                    <p:anim calcmode="lin" valueType="num">
                                      <p:cBhvr additive="base">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par>
                                <p:cTn id="39" presetID="53" presetClass="entr" presetSubtype="16" fill="hold" grpId="0" nodeType="withEffect">
                                  <p:stCondLst>
                                    <p:cond delay="30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ppt_w</p:attrName>
                                        </p:attrNameLst>
                                      </p:cBhvr>
                                      <p:tavLst>
                                        <p:tav tm="0">
                                          <p:val>
                                            <p:fltVal val="0"/>
                                          </p:val>
                                        </p:tav>
                                        <p:tav tm="100000">
                                          <p:val>
                                            <p:strVal val="#ppt_w"/>
                                          </p:val>
                                        </p:tav>
                                      </p:tavLst>
                                    </p:anim>
                                    <p:anim calcmode="lin" valueType="num">
                                      <p:cBhvr additive="base">
                                        <p:cTn id="42" dur="500" fill="hold"/>
                                        <p:tgtEl>
                                          <p:spTgt spid="13"/>
                                        </p:tgtEl>
                                        <p:attrNameLst>
                                          <p:attrName>ppt_h</p:attrName>
                                        </p:attrNameLst>
                                      </p:cBhvr>
                                      <p:tavLst>
                                        <p:tav tm="0">
                                          <p:val>
                                            <p:fltVal val="0"/>
                                          </p:val>
                                        </p:tav>
                                        <p:tav tm="100000">
                                          <p:val>
                                            <p:strVal val="#ppt_h"/>
                                          </p:val>
                                        </p:tav>
                                      </p:tavLst>
                                    </p:anim>
                                    <p:animEffect transition="in" filter="fade">
                                      <p:cBhvr>
                                        <p:cTn id="43"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ppt_w</p:attrName>
                                        </p:attrNameLst>
                                      </p:cBhvr>
                                      <p:tavLst>
                                        <p:tav tm="0">
                                          <p:val>
                                            <p:fltVal val="0"/>
                                          </p:val>
                                        </p:tav>
                                        <p:tav tm="100000">
                                          <p:val>
                                            <p:strVal val="#ppt_w"/>
                                          </p:val>
                                        </p:tav>
                                      </p:tavLst>
                                    </p:anim>
                                    <p:anim calcmode="lin" valueType="num">
                                      <p:cBhvr additive="base">
                                        <p:cTn id="49" dur="500" fill="hold"/>
                                        <p:tgtEl>
                                          <p:spTgt spid="14"/>
                                        </p:tgtEl>
                                        <p:attrNameLst>
                                          <p:attrName>ppt_h</p:attrName>
                                        </p:attrNameLst>
                                      </p:cBhvr>
                                      <p:tavLst>
                                        <p:tav tm="0">
                                          <p:val>
                                            <p:fltVal val="0"/>
                                          </p:val>
                                        </p:tav>
                                        <p:tav tm="100000">
                                          <p:val>
                                            <p:strVal val="#ppt_h"/>
                                          </p:val>
                                        </p:tav>
                                      </p:tavLst>
                                    </p:anim>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1 · TEXT 2</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200" b="1" dirty="0">
                <a:solidFill>
                  <a:srgbClr val="1B2A49"/>
                </a:solidFill>
                <a:latin typeface="Cambria" pitchFamily="34" charset="0"/>
                <a:ea typeface="Cambria" pitchFamily="34" charset="-122"/>
                <a:cs typeface="Cambria" pitchFamily="34" charset="-120"/>
              </a:rPr>
              <a:t>“The river bank was full of dead fishes.”</a:t>
            </a:r>
            <a:endParaRPr lang="en-US" sz="2200" dirty="0"/>
          </a:p>
        </p:txBody>
      </p:sp>
      <p:sp>
        <p:nvSpPr>
          <p:cNvPr id="5" name="a1_fade_0_221"/>
          <p:cNvSpPr txBox="1"/>
          <p:nvPr/>
        </p:nvSpPr>
        <p:spPr>
          <a:xfrm>
            <a:off x="457200" y="1234440"/>
            <a:ext cx="1188720" cy="365760"/>
          </a:xfrm>
          <a:prstGeom prst="rect">
            <a:avLst/>
          </a:prstGeom>
          <a:noFill/>
          <a:ln/>
        </p:spPr>
        <p:txBody>
          <a:bodyPr wrap="square" lIns="0" tIns="0" rIns="0" bIns="0" rtlCol="0" anchor="ctr"/>
          <a:lstStyle/>
          <a:p>
            <a:pPr indent="0" marL="0">
              <a:buNone/>
            </a:pPr>
            <a:r>
              <a:rPr lang="en-US" sz="1600" b="1" dirty="0">
                <a:solidFill>
                  <a:srgbClr val="1B2A49"/>
                </a:solidFill>
                <a:latin typeface="Cambria" pitchFamily="34" charset="0"/>
                <a:ea typeface="Cambria" pitchFamily="34" charset="-122"/>
                <a:cs typeface="Cambria" pitchFamily="34" charset="-120"/>
              </a:rPr>
              <a:t>Context C</a:t>
            </a:r>
            <a:endParaRPr lang="en-US" sz="1600" dirty="0"/>
          </a:p>
        </p:txBody>
      </p:sp>
      <p:sp>
        <p:nvSpPr>
          <p:cNvPr id="6" name="a1_zoom_100_222"/>
          <p:cNvSpPr/>
          <p:nvPr/>
        </p:nvSpPr>
        <p:spPr>
          <a:xfrm>
            <a:off x="1737360" y="1261872"/>
            <a:ext cx="919886" cy="340868"/>
          </a:xfrm>
          <a:prstGeom prst="roundRect">
            <a:avLst>
              <a:gd name="adj" fmla="val 32191"/>
            </a:avLst>
          </a:prstGeom>
          <a:solidFill>
            <a:srgbClr val="F4A300"/>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river</a:t>
            </a:r>
            <a:endParaRPr lang="en-US" sz="1400" dirty="0"/>
          </a:p>
        </p:txBody>
      </p:sp>
      <p:sp>
        <p:nvSpPr>
          <p:cNvPr id="7" name="a1_zoom_250_223"/>
          <p:cNvSpPr/>
          <p:nvPr/>
        </p:nvSpPr>
        <p:spPr>
          <a:xfrm>
            <a:off x="2721254" y="1261872"/>
            <a:ext cx="712500" cy="340868"/>
          </a:xfrm>
          <a:prstGeom prst="roundRect">
            <a:avLst>
              <a:gd name="adj" fmla="val 32191"/>
            </a:avLst>
          </a:prstGeom>
          <a:solidFill>
            <a:srgbClr val="E6EAF2"/>
          </a:solidFill>
          <a:ln/>
        </p:spPr>
        <p:txBody>
          <a:bodyPr wrap="square" lIns="0" tIns="0" rIns="0" bIns="0" rtlCol="0" anchor="ctr"/>
          <a:lstStyle/>
          <a:p>
            <a:pPr algn="ctr" indent="0" marL="0">
              <a:buNone/>
            </a:pPr>
            <a:r>
              <a:rPr lang="en-US" sz="1400" dirty="0">
                <a:solidFill>
                  <a:srgbClr val="22262E"/>
                </a:solidFill>
                <a:latin typeface="Calibri" pitchFamily="34" charset="0"/>
                <a:ea typeface="Calibri" pitchFamily="34" charset="-122"/>
                <a:cs typeface="Calibri" pitchFamily="34" charset="-120"/>
              </a:rPr>
              <a:t>full</a:t>
            </a:r>
            <a:endParaRPr lang="en-US" sz="1400" dirty="0"/>
          </a:p>
        </p:txBody>
      </p:sp>
      <p:sp>
        <p:nvSpPr>
          <p:cNvPr id="8" name="a1_zoom_400_224"/>
          <p:cNvSpPr/>
          <p:nvPr/>
        </p:nvSpPr>
        <p:spPr>
          <a:xfrm>
            <a:off x="3497763" y="1261872"/>
            <a:ext cx="712500" cy="340868"/>
          </a:xfrm>
          <a:prstGeom prst="roundRect">
            <a:avLst>
              <a:gd name="adj" fmla="val 32191"/>
            </a:avLst>
          </a:prstGeom>
          <a:solidFill>
            <a:srgbClr val="E6EAF2"/>
          </a:solidFill>
          <a:ln/>
        </p:spPr>
        <p:txBody>
          <a:bodyPr wrap="square" lIns="0" tIns="0" rIns="0" bIns="0" rtlCol="0" anchor="ctr"/>
          <a:lstStyle/>
          <a:p>
            <a:pPr algn="ctr" indent="0" marL="0">
              <a:buNone/>
            </a:pPr>
            <a:r>
              <a:rPr lang="en-US" sz="1400" dirty="0">
                <a:solidFill>
                  <a:srgbClr val="22262E"/>
                </a:solidFill>
                <a:latin typeface="Calibri" pitchFamily="34" charset="0"/>
                <a:ea typeface="Calibri" pitchFamily="34" charset="-122"/>
                <a:cs typeface="Calibri" pitchFamily="34" charset="-120"/>
              </a:rPr>
              <a:t>dead</a:t>
            </a:r>
            <a:endParaRPr lang="en-US" sz="1400" dirty="0"/>
          </a:p>
        </p:txBody>
      </p:sp>
      <p:sp>
        <p:nvSpPr>
          <p:cNvPr id="9" name="a1_zoom_550_225"/>
          <p:cNvSpPr/>
          <p:nvPr/>
        </p:nvSpPr>
        <p:spPr>
          <a:xfrm>
            <a:off x="4274271" y="1261872"/>
            <a:ext cx="712500" cy="340868"/>
          </a:xfrm>
          <a:prstGeom prst="roundRect">
            <a:avLst>
              <a:gd name="adj" fmla="val 32191"/>
            </a:avLst>
          </a:prstGeom>
          <a:solidFill>
            <a:srgbClr val="E6EAF2"/>
          </a:solidFill>
          <a:ln/>
        </p:spPr>
        <p:txBody>
          <a:bodyPr wrap="square" lIns="0" tIns="0" rIns="0" bIns="0" rtlCol="0" anchor="ctr"/>
          <a:lstStyle/>
          <a:p>
            <a:pPr algn="ctr" indent="0" marL="0">
              <a:buNone/>
            </a:pPr>
            <a:r>
              <a:rPr lang="en-US" sz="1400" dirty="0">
                <a:solidFill>
                  <a:srgbClr val="22262E"/>
                </a:solidFill>
                <a:latin typeface="Calibri" pitchFamily="34" charset="0"/>
                <a:ea typeface="Calibri" pitchFamily="34" charset="-122"/>
                <a:cs typeface="Calibri" pitchFamily="34" charset="-120"/>
              </a:rPr>
              <a:t>fish</a:t>
            </a:r>
            <a:endParaRPr lang="en-US" sz="1400" dirty="0"/>
          </a:p>
        </p:txBody>
      </p:sp>
      <p:sp>
        <p:nvSpPr>
          <p:cNvPr id="10" name="a2_wipe_0_226"/>
          <p:cNvSpPr/>
          <p:nvPr/>
        </p:nvSpPr>
        <p:spPr>
          <a:xfrm>
            <a:off x="457200" y="1920240"/>
            <a:ext cx="4206240" cy="685800"/>
          </a:xfrm>
          <a:prstGeom prst="roundRect">
            <a:avLst>
              <a:gd name="adj" fmla="val 16000"/>
            </a:avLst>
          </a:prstGeom>
          <a:solidFill>
            <a:srgbClr val="E2F3F0"/>
          </a:solidFill>
          <a:ln/>
        </p:spPr>
        <p:txBody>
          <a:bodyPr wrap="square" lIns="76810" tIns="128016" rIns="128016" bIns="76810" rtlCol="0" anchor="ctr"/>
          <a:lstStyle/>
          <a:p>
            <a:pPr algn="l" indent="0" marL="0">
              <a:buNone/>
            </a:pPr>
            <a:r>
              <a:rPr lang="en-US" sz="1400" dirty="0">
                <a:solidFill>
                  <a:srgbClr val="22262E"/>
                </a:solidFill>
                <a:latin typeface="Calibri" pitchFamily="34" charset="0"/>
                <a:ea typeface="Calibri" pitchFamily="34" charset="-122"/>
                <a:cs typeface="Calibri" pitchFamily="34" charset="-120"/>
              </a:rPr>
              <a:t>bank 1: signature ∩ C = ∅   →   </a:t>
            </a:r>
            <a:pPr algn="l" indent="0" marL="0">
              <a:buNone/>
            </a:pP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11" name="a2_wipe_250_227"/>
          <p:cNvSpPr/>
          <p:nvPr/>
        </p:nvSpPr>
        <p:spPr>
          <a:xfrm>
            <a:off x="457200" y="2743200"/>
            <a:ext cx="4206240" cy="685800"/>
          </a:xfrm>
          <a:prstGeom prst="roundRect">
            <a:avLst>
              <a:gd name="adj" fmla="val 16000"/>
            </a:avLst>
          </a:prstGeom>
          <a:solidFill>
            <a:srgbClr val="FDE6E1"/>
          </a:solidFill>
          <a:ln/>
        </p:spPr>
        <p:txBody>
          <a:bodyPr wrap="square" lIns="76810" tIns="128016" rIns="128016" bIns="76810" rtlCol="0" anchor="ctr"/>
          <a:lstStyle/>
          <a:p>
            <a:pPr algn="l" indent="0" marL="0">
              <a:buNone/>
            </a:pPr>
            <a:r>
              <a:rPr lang="en-US" sz="1400" dirty="0">
                <a:solidFill>
                  <a:srgbClr val="22262E"/>
                </a:solidFill>
                <a:latin typeface="Calibri" pitchFamily="34" charset="0"/>
                <a:ea typeface="Calibri" pitchFamily="34" charset="-122"/>
                <a:cs typeface="Calibri" pitchFamily="34" charset="-120"/>
              </a:rPr>
              <a:t>bank 2: signature ∩ C = {</a:t>
            </a:r>
            <a:pPr algn="l" indent="0" marL="0">
              <a:buNone/>
            </a:pPr>
            <a:r>
              <a:rPr lang="en-US" sz="1400" b="1" dirty="0">
                <a:solidFill>
                  <a:srgbClr val="22262E"/>
                </a:solidFill>
                <a:highlight>
                  <a:srgbClr val="FFD970"/>
                </a:highlight>
                <a:latin typeface="Calibri" pitchFamily="34" charset="0"/>
                <a:ea typeface="Calibri" pitchFamily="34" charset="-122"/>
                <a:cs typeface="Calibri" pitchFamily="34" charset="-120"/>
              </a:rPr>
              <a:t>river</a:t>
            </a:r>
            <a:pPr algn="l" indent="0" marL="0">
              <a:buNone/>
            </a:pPr>
            <a:r>
              <a:rPr lang="en-US" sz="1400" dirty="0">
                <a:solidFill>
                  <a:srgbClr val="22262E"/>
                </a:solidFill>
                <a:latin typeface="Calibri" pitchFamily="34" charset="0"/>
                <a:ea typeface="Calibri" pitchFamily="34" charset="-122"/>
                <a:cs typeface="Calibri" pitchFamily="34" charset="-120"/>
              </a:rPr>
              <a:t>}   →   </a:t>
            </a:r>
            <a:pPr algn="l" indent="0" marL="0">
              <a:buNone/>
            </a:pPr>
            <a:r>
              <a:rPr lang="en-US" sz="1400" b="1" dirty="0">
                <a:solidFill>
                  <a:srgbClr val="22262E"/>
                </a:solidFill>
                <a:latin typeface="Calibri" pitchFamily="34" charset="0"/>
                <a:ea typeface="Calibri" pitchFamily="34" charset="-122"/>
                <a:cs typeface="Calibri" pitchFamily="34" charset="-120"/>
              </a:rPr>
              <a:t>1</a:t>
            </a:r>
            <a:endParaRPr lang="en-US" sz="1400" dirty="0"/>
          </a:p>
        </p:txBody>
      </p:sp>
      <p:sp>
        <p:nvSpPr>
          <p:cNvPr id="12" name="a3_zoom_0_228"/>
          <p:cNvSpPr/>
          <p:nvPr/>
        </p:nvSpPr>
        <p:spPr>
          <a:xfrm>
            <a:off x="457200" y="3611880"/>
            <a:ext cx="4206240" cy="777240"/>
          </a:xfrm>
          <a:prstGeom prst="roundRect">
            <a:avLst>
              <a:gd name="adj" fmla="val 14118"/>
            </a:avLst>
          </a:prstGeom>
          <a:solidFill>
            <a:srgbClr val="1B2A49"/>
          </a:solidFill>
          <a:ln/>
        </p:spPr>
        <p:txBody>
          <a:bodyPr wrap="square" lIns="76810" tIns="128016" rIns="128016" bIns="7681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1 &gt; 0  →  </a:t>
            </a:r>
            <a:pPr algn="ctr" indent="0" marL="0">
              <a:buNone/>
            </a:pPr>
            <a:r>
              <a:rPr lang="en-US" sz="1600" b="1" dirty="0">
                <a:solidFill>
                  <a:srgbClr val="FFFFFF"/>
                </a:solidFill>
                <a:latin typeface="Calibri" pitchFamily="34" charset="0"/>
                <a:ea typeface="Calibri" pitchFamily="34" charset="-122"/>
                <a:cs typeface="Calibri" pitchFamily="34" charset="-120"/>
              </a:rPr>
              <a:t>bank 2</a:t>
            </a:r>
            <a:pPr algn="ctr" indent="0" marL="0">
              <a:buNone/>
            </a:pPr>
            <a:r>
              <a:rPr lang="en-US" sz="1600" dirty="0">
                <a:solidFill>
                  <a:srgbClr val="FFFFFF"/>
                </a:solidFill>
                <a:latin typeface="Calibri" pitchFamily="34" charset="0"/>
                <a:ea typeface="Calibri" pitchFamily="34" charset="-122"/>
                <a:cs typeface="Calibri" pitchFamily="34" charset="-120"/>
              </a:rPr>
              <a:t> (slope beside water)</a:t>
            </a:r>
            <a:endParaRPr lang="en-US" sz="1600" dirty="0"/>
          </a:p>
        </p:txBody>
      </p:sp>
      <p:graphicFrame>
        <p:nvGraphicFramePr>
          <p:cNvPr id="13" name="Chart 0" descr=""/>
          <p:cNvGraphicFramePr/>
          <p:nvPr/>
        </p:nvGraphicFramePr>
        <p:xfrm>
          <a:off x="4937760" y="1188720"/>
          <a:ext cx="3840480" cy="329184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6" fill="hold">
                      <p:stCondLst>
                        <p:cond delay="indefinite"/>
                      </p:stCondLst>
                      <p:childTnLst>
                        <p:par>
                          <p:cTn id="2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53" presetClass="entr" presetSubtype="16"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500" fill="hold"/>
                                        <p:tgtEl>
                                          <p:spTgt spid="6"/>
                                        </p:tgtEl>
                                        <p:attrNameLst>
                                          <p:attrName>ppt_w</p:attrName>
                                        </p:attrNameLst>
                                      </p:cBhvr>
                                      <p:tavLst>
                                        <p:tav tm="0">
                                          <p:val>
                                            <p:fltVal val="0"/>
                                          </p:val>
                                        </p:tav>
                                        <p:tav tm="100000">
                                          <p:val>
                                            <p:strVal val="#ppt_w"/>
                                          </p:val>
                                        </p:tav>
                                      </p:tavLst>
                                    </p:anim>
                                    <p:anim calcmode="lin" valueType="num">
                                      <p:cBhvr additive="base">
                                        <p:cTn id="9" dur="500" fill="hold"/>
                                        <p:tgtEl>
                                          <p:spTgt spid="6"/>
                                        </p:tgtEl>
                                        <p:attrNameLst>
                                          <p:attrName>ppt_h</p:attrName>
                                        </p:attrNameLst>
                                      </p:cBhvr>
                                      <p:tavLst>
                                        <p:tav tm="0">
                                          <p:val>
                                            <p:fltVal val="0"/>
                                          </p:val>
                                        </p:tav>
                                        <p:tav tm="100000">
                                          <p:val>
                                            <p:strVal val="#ppt_h"/>
                                          </p:val>
                                        </p:tav>
                                      </p:tavLst>
                                    </p:anim>
                                    <p:animEffect transition="in" filter="fade">
                                      <p:cBhvr>
                                        <p:cTn id="10" dur="500"/>
                                        <p:tgtEl>
                                          <p:spTgt spid="6"/>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53" presetClass="entr" presetSubtype="16" fill="hold" grpId="0" nodeType="withEffect">
                                  <p:stCondLst>
                                    <p:cond delay="4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5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ppt_w</p:attrName>
                                        </p:attrNameLst>
                                      </p:cBhvr>
                                      <p:tavLst>
                                        <p:tav tm="0">
                                          <p:val>
                                            <p:fltVal val="0"/>
                                          </p:val>
                                        </p:tav>
                                        <p:tav tm="100000">
                                          <p:val>
                                            <p:strVal val="#ppt_w"/>
                                          </p:val>
                                        </p:tav>
                                      </p:tavLst>
                                    </p:anim>
                                    <p:anim calcmode="lin" valueType="num">
                                      <p:cBhvr additive="base">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25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ppt_w</p:attrName>
                                        </p:attrNameLst>
                                      </p:cBhvr>
                                      <p:tavLst>
                                        <p:tav tm="0">
                                          <p:val>
                                            <p:fltVal val="0"/>
                                          </p:val>
                                        </p:tav>
                                        <p:tav tm="100000">
                                          <p:val>
                                            <p:strVal val="#ppt_w"/>
                                          </p:val>
                                        </p:tav>
                                      </p:tavLst>
                                    </p:anim>
                                    <p:anim calcmode="lin" valueType="num">
                                      <p:cBhvr additive="base">
                                        <p:cTn id="39" dur="500" fill="hold"/>
                                        <p:tgtEl>
                                          <p:spTgt spid="12"/>
                                        </p:tgtEl>
                                        <p:attrNameLst>
                                          <p:attrName>ppt_h</p:attrName>
                                        </p:attrNameLst>
                                      </p:cBhvr>
                                      <p:tavLst>
                                        <p:tav tm="0">
                                          <p:val>
                                            <p:fltVal val="0"/>
                                          </p:val>
                                        </p:tav>
                                        <p:tav tm="100000">
                                          <p:val>
                                            <p:strVal val="#ppt_h"/>
                                          </p:val>
                                        </p:tav>
                                      </p:tavLst>
                                    </p:anim>
                                    <p:animEffect transition="in" filter="fade">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1 · TAKEAWAYS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What Example 1 teaches</a:t>
            </a:r>
            <a:endParaRPr lang="en-US" sz="2800" dirty="0"/>
          </a:p>
        </p:txBody>
      </p:sp>
      <p:sp>
        <p:nvSpPr>
          <p:cNvPr id="5" name="a1_fade_0_229"/>
          <p:cNvSpPr/>
          <p:nvPr/>
        </p:nvSpPr>
        <p:spPr>
          <a:xfrm>
            <a:off x="457200" y="1280160"/>
            <a:ext cx="2606040" cy="3017520"/>
          </a:xfrm>
          <a:prstGeom prst="roundRect">
            <a:avLst>
              <a:gd name="adj" fmla="val 4211"/>
            </a:avLst>
          </a:prstGeom>
          <a:solidFill>
            <a:srgbClr val="FFF0C7"/>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6" name="a1_fade_100_230"/>
          <p:cNvSpPr txBox="1"/>
          <p:nvPr/>
        </p:nvSpPr>
        <p:spPr>
          <a:xfrm>
            <a:off x="640080" y="1463040"/>
            <a:ext cx="2240280" cy="548640"/>
          </a:xfrm>
          <a:prstGeom prst="rect">
            <a:avLst/>
          </a:prstGeom>
          <a:noFill/>
          <a:ln/>
        </p:spPr>
        <p:txBody>
          <a:bodyPr wrap="square" lIns="0" tIns="0" rIns="0" bIns="0" rtlCol="0" anchor="t"/>
          <a:lstStyle/>
          <a:p>
            <a:pPr indent="0" marL="0">
              <a:buNone/>
            </a:pPr>
            <a:r>
              <a:rPr lang="en-US" sz="1800" b="1" dirty="0">
                <a:solidFill>
                  <a:srgbClr val="1B2A49"/>
                </a:solidFill>
                <a:latin typeface="Cambria" pitchFamily="34" charset="0"/>
                <a:ea typeface="Cambria" pitchFamily="34" charset="-122"/>
                <a:cs typeface="Cambria" pitchFamily="34" charset="-120"/>
              </a:rPr>
              <a:t>Say your rule</a:t>
            </a:r>
            <a:endParaRPr lang="en-US" sz="1800" dirty="0"/>
          </a:p>
        </p:txBody>
      </p:sp>
      <p:sp>
        <p:nvSpPr>
          <p:cNvPr id="7" name="a1_fade_100_231"/>
          <p:cNvSpPr txBox="1"/>
          <p:nvPr/>
        </p:nvSpPr>
        <p:spPr>
          <a:xfrm>
            <a:off x="640080" y="2148840"/>
            <a:ext cx="2240280" cy="2011680"/>
          </a:xfrm>
          <a:prstGeom prst="rect">
            <a:avLst/>
          </a:prstGeom>
          <a:noFill/>
          <a:ln/>
        </p:spPr>
        <p:txBody>
          <a:bodyPr wrap="square" lIns="0" tIns="0" rIns="0" bIns="0" rtlCol="0" anchor="t"/>
          <a:lstStyle/>
          <a:p>
            <a:pPr indent="0" marL="0">
              <a:buNone/>
            </a:pPr>
            <a:r>
              <a:rPr lang="en-US" sz="1300" dirty="0">
                <a:solidFill>
                  <a:srgbClr val="22262E"/>
                </a:solidFill>
                <a:latin typeface="Calibri" pitchFamily="34" charset="0"/>
                <a:ea typeface="Calibri" pitchFamily="34" charset="-122"/>
                <a:cs typeface="Calibri" pitchFamily="34" charset="-120"/>
              </a:rPr>
              <a:t>Exact match (no lemmas): context {went, deposit, money} vs gloss word deposits → only money matches: 1 vs 0. Same winner, thinner margin.</a:t>
            </a:r>
            <a:endParaRPr lang="en-US" sz="1300" dirty="0"/>
          </a:p>
        </p:txBody>
      </p:sp>
      <p:sp>
        <p:nvSpPr>
          <p:cNvPr id="8" name="a1_fade_250_232"/>
          <p:cNvSpPr/>
          <p:nvPr/>
        </p:nvSpPr>
        <p:spPr>
          <a:xfrm>
            <a:off x="3246120" y="1280160"/>
            <a:ext cx="2606040" cy="3017520"/>
          </a:xfrm>
          <a:prstGeom prst="roundRect">
            <a:avLst>
              <a:gd name="adj" fmla="val 4211"/>
            </a:avLst>
          </a:prstGeom>
          <a:solidFill>
            <a:srgbClr val="E2F3F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9" name="a1_fade_350_233"/>
          <p:cNvSpPr txBox="1"/>
          <p:nvPr/>
        </p:nvSpPr>
        <p:spPr>
          <a:xfrm>
            <a:off x="3429000" y="1463040"/>
            <a:ext cx="2240280" cy="548640"/>
          </a:xfrm>
          <a:prstGeom prst="rect">
            <a:avLst/>
          </a:prstGeom>
          <a:noFill/>
          <a:ln/>
        </p:spPr>
        <p:txBody>
          <a:bodyPr wrap="square" lIns="0" tIns="0" rIns="0" bIns="0" rtlCol="0" anchor="t"/>
          <a:lstStyle/>
          <a:p>
            <a:pPr indent="0" marL="0">
              <a:buNone/>
            </a:pPr>
            <a:r>
              <a:rPr lang="en-US" sz="1800" b="1" dirty="0">
                <a:solidFill>
                  <a:srgbClr val="1B2A49"/>
                </a:solidFill>
                <a:latin typeface="Cambria" pitchFamily="34" charset="0"/>
                <a:ea typeface="Cambria" pitchFamily="34" charset="-122"/>
                <a:cs typeface="Cambria" pitchFamily="34" charset="-120"/>
              </a:rPr>
              <a:t>Exclude the target</a:t>
            </a:r>
            <a:endParaRPr lang="en-US" sz="1800" dirty="0"/>
          </a:p>
        </p:txBody>
      </p:sp>
      <p:sp>
        <p:nvSpPr>
          <p:cNvPr id="10" name="a1_fade_350_234"/>
          <p:cNvSpPr txBox="1"/>
          <p:nvPr/>
        </p:nvSpPr>
        <p:spPr>
          <a:xfrm>
            <a:off x="3429000" y="2148840"/>
            <a:ext cx="2240280" cy="2011680"/>
          </a:xfrm>
          <a:prstGeom prst="rect">
            <a:avLst/>
          </a:prstGeom>
          <a:noFill/>
          <a:ln/>
        </p:spPr>
        <p:txBody>
          <a:bodyPr wrap="square" lIns="0" tIns="0" rIns="0" bIns="0" rtlCol="0" anchor="t"/>
          <a:lstStyle/>
          <a:p>
            <a:pPr indent="0" marL="0">
              <a:buNone/>
            </a:pPr>
            <a:r>
              <a:rPr lang="en-US" sz="1300" dirty="0">
                <a:solidFill>
                  <a:srgbClr val="22262E"/>
                </a:solidFill>
                <a:latin typeface="Calibri" pitchFamily="34" charset="0"/>
                <a:ea typeface="Calibri" pitchFamily="34" charset="-122"/>
                <a:cs typeface="Calibri" pitchFamily="34" charset="-120"/>
              </a:rPr>
              <a:t>Counting bank itself adds the same noise to every sense.</a:t>
            </a:r>
            <a:endParaRPr lang="en-US" sz="1300" dirty="0"/>
          </a:p>
        </p:txBody>
      </p:sp>
      <p:sp>
        <p:nvSpPr>
          <p:cNvPr id="11" name="a1_fade_500_235"/>
          <p:cNvSpPr/>
          <p:nvPr/>
        </p:nvSpPr>
        <p:spPr>
          <a:xfrm>
            <a:off x="6035040" y="1280160"/>
            <a:ext cx="2606040" cy="3017520"/>
          </a:xfrm>
          <a:prstGeom prst="roundRect">
            <a:avLst>
              <a:gd name="adj" fmla="val 4211"/>
            </a:avLst>
          </a:prstGeom>
          <a:solidFill>
            <a:srgbClr val="FDE6E1"/>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2" name="a1_fade_600_236"/>
          <p:cNvSpPr txBox="1"/>
          <p:nvPr/>
        </p:nvSpPr>
        <p:spPr>
          <a:xfrm>
            <a:off x="6217920" y="1463040"/>
            <a:ext cx="2240280" cy="548640"/>
          </a:xfrm>
          <a:prstGeom prst="rect">
            <a:avLst/>
          </a:prstGeom>
          <a:noFill/>
          <a:ln/>
        </p:spPr>
        <p:txBody>
          <a:bodyPr wrap="square" lIns="0" tIns="0" rIns="0" bIns="0" rtlCol="0" anchor="t"/>
          <a:lstStyle/>
          <a:p>
            <a:pPr indent="0" marL="0">
              <a:buNone/>
            </a:pPr>
            <a:r>
              <a:rPr lang="en-US" sz="1800" b="1" dirty="0">
                <a:solidFill>
                  <a:srgbClr val="1B2A49"/>
                </a:solidFill>
                <a:latin typeface="Cambria" pitchFamily="34" charset="0"/>
                <a:ea typeface="Cambria" pitchFamily="34" charset="-122"/>
                <a:cs typeface="Cambria" pitchFamily="34" charset="-120"/>
              </a:rPr>
              <a:t>Tools differ</a:t>
            </a:r>
            <a:endParaRPr lang="en-US" sz="1800" dirty="0"/>
          </a:p>
        </p:txBody>
      </p:sp>
      <p:sp>
        <p:nvSpPr>
          <p:cNvPr id="13" name="a1_fade_600_237"/>
          <p:cNvSpPr txBox="1"/>
          <p:nvPr/>
        </p:nvSpPr>
        <p:spPr>
          <a:xfrm>
            <a:off x="6217920" y="2148840"/>
            <a:ext cx="2240280" cy="2011680"/>
          </a:xfrm>
          <a:prstGeom prst="rect">
            <a:avLst/>
          </a:prstGeom>
          <a:noFill/>
          <a:ln/>
        </p:spPr>
        <p:txBody>
          <a:bodyPr wrap="square" lIns="0" tIns="0" rIns="0" bIns="0" rtlCol="0" anchor="t"/>
          <a:lstStyle/>
          <a:p>
            <a:pPr indent="0" marL="0">
              <a:buNone/>
            </a:pPr>
            <a:r>
              <a:rPr lang="en-US" sz="1300" dirty="0">
                <a:solidFill>
                  <a:srgbClr val="22262E"/>
                </a:solidFill>
                <a:latin typeface="Calibri" pitchFamily="34" charset="0"/>
                <a:ea typeface="Calibri" pitchFamily="34" charset="-122"/>
                <a:cs typeface="Calibri" pitchFamily="34" charset="-120"/>
              </a:rPr>
              <a:t>NLTK lesk() matches gloss text only, with no stop list. On the textbook sentence it picks bank.n.05 via in and future.</a:t>
            </a:r>
            <a:endParaRPr lang="en-US" sz="1300" dirty="0"/>
          </a:p>
        </p:txBody>
      </p:sp>
      <p:sp>
        <p:nvSpPr>
          <p:cNvPr id="14" name="Text 11"/>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35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6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9"/>
        </a:solidFill>
      </p:bgPr>
    </p:bg>
    <p:spTree>
      <p:nvGrpSpPr>
        <p:cNvPr id="1" name=""/>
        <p:cNvGrpSpPr/>
        <p:nvPr/>
      </p:nvGrpSpPr>
      <p:grpSpPr>
        <a:xfrm>
          <a:off x="0" y="0"/>
          <a:ext cx="0" cy="0"/>
          <a:chOff x="0" y="0"/>
          <a:chExt cx="0" cy="0"/>
        </a:xfrm>
      </p:grpSpPr>
      <p:sp>
        <p:nvSpPr>
          <p:cNvPr id="3" name="a0_zoom_0_238"/>
          <p:cNvSpPr txBox="1"/>
          <p:nvPr/>
        </p:nvSpPr>
        <p:spPr>
          <a:xfrm>
            <a:off x="640080" y="822960"/>
            <a:ext cx="1828800" cy="2194560"/>
          </a:xfrm>
          <a:prstGeom prst="rect">
            <a:avLst/>
          </a:prstGeom>
          <a:noFill/>
          <a:ln/>
        </p:spPr>
        <p:txBody>
          <a:bodyPr wrap="square" lIns="0" tIns="0" rIns="0" bIns="0" rtlCol="0" anchor="t"/>
          <a:lstStyle/>
          <a:p>
            <a:pPr indent="0" marL="0">
              <a:buNone/>
            </a:pPr>
            <a:r>
              <a:rPr lang="en-US" sz="15000" b="1" dirty="0">
                <a:solidFill>
                  <a:srgbClr val="F4A300"/>
                </a:solidFill>
                <a:latin typeface="Cambria" pitchFamily="34" charset="0"/>
                <a:ea typeface="Cambria" pitchFamily="34" charset="-122"/>
                <a:cs typeface="Cambria" pitchFamily="34" charset="-120"/>
              </a:rPr>
              <a:t>2</a:t>
            </a:r>
            <a:endParaRPr lang="en-US" sz="15000" dirty="0"/>
          </a:p>
        </p:txBody>
      </p:sp>
      <p:sp>
        <p:nvSpPr>
          <p:cNvPr id="4" name="a0_wipe_300_239"/>
          <p:cNvSpPr txBox="1"/>
          <p:nvPr/>
        </p:nvSpPr>
        <p:spPr>
          <a:xfrm>
            <a:off x="2743200" y="1554480"/>
            <a:ext cx="576072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Worked Example 2</a:t>
            </a:r>
            <a:endParaRPr lang="en-US" sz="3800" dirty="0"/>
          </a:p>
        </p:txBody>
      </p:sp>
      <p:sp>
        <p:nvSpPr>
          <p:cNvPr id="5" name="a0_fade_800_240"/>
          <p:cNvSpPr txBox="1"/>
          <p:nvPr/>
        </p:nvSpPr>
        <p:spPr>
          <a:xfrm>
            <a:off x="2743200" y="2377440"/>
            <a:ext cx="5760720" cy="6400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Advanced: “plant”, four senses, IDF weighting, and a failure case</a:t>
            </a:r>
            <a:endParaRPr lang="en-US" sz="1800" dirty="0"/>
          </a:p>
        </p:txBody>
      </p:sp>
      <p:sp>
        <p:nvSpPr>
          <p:cNvPr id="6" name="a0_fly_1100_241"/>
          <p:cNvSpPr/>
          <p:nvPr/>
        </p:nvSpPr>
        <p:spPr>
          <a:xfrm>
            <a:off x="2743200" y="3383280"/>
            <a:ext cx="919886" cy="340868"/>
          </a:xfrm>
          <a:prstGeom prst="roundRect">
            <a:avLst>
              <a:gd name="adj" fmla="val 32191"/>
            </a:avLst>
          </a:prstGeom>
          <a:solidFill>
            <a:srgbClr val="F4A300"/>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build</a:t>
            </a:r>
            <a:endParaRPr lang="en-US" sz="1400" dirty="0"/>
          </a:p>
        </p:txBody>
      </p:sp>
      <p:sp>
        <p:nvSpPr>
          <p:cNvPr id="7" name="a0_fly_1250_242"/>
          <p:cNvSpPr/>
          <p:nvPr/>
        </p:nvSpPr>
        <p:spPr>
          <a:xfrm>
            <a:off x="3886200" y="3383280"/>
            <a:ext cx="919886" cy="340868"/>
          </a:xfrm>
          <a:prstGeom prst="roundRect">
            <a:avLst>
              <a:gd name="adj" fmla="val 32191"/>
            </a:avLst>
          </a:prstGeom>
          <a:solidFill>
            <a:srgbClr val="F4A300"/>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large</a:t>
            </a:r>
            <a:endParaRPr lang="en-US" sz="1400" dirty="0"/>
          </a:p>
        </p:txBody>
      </p:sp>
      <p:sp>
        <p:nvSpPr>
          <p:cNvPr id="8" name="a0_fly_1400_243"/>
          <p:cNvSpPr/>
          <p:nvPr/>
        </p:nvSpPr>
        <p:spPr>
          <a:xfrm>
            <a:off x="5029200" y="3383280"/>
            <a:ext cx="1672620" cy="340868"/>
          </a:xfrm>
          <a:prstGeom prst="roundRect">
            <a:avLst>
              <a:gd name="adj" fmla="val 32191"/>
            </a:avLst>
          </a:prstGeom>
          <a:solidFill>
            <a:srgbClr val="F4A300"/>
          </a:solidFill>
          <a:ln/>
        </p:spPr>
        <p:txBody>
          <a:bodyPr wrap="square" lIns="0" tIns="0" rIns="0" bIns="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manufacture</a:t>
            </a:r>
            <a:endParaRPr lang="en-US" sz="1400" dirty="0"/>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27"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ppt_w</p:attrName>
                                        </p:attrNameLst>
                                      </p:cBhvr>
                                      <p:tavLst>
                                        <p:tav tm="0">
                                          <p:val>
                                            <p:fltVal val="0"/>
                                          </p:val>
                                        </p:tav>
                                        <p:tav tm="100000">
                                          <p:val>
                                            <p:strVal val="#ppt_w"/>
                                          </p:val>
                                        </p:tav>
                                      </p:tavLst>
                                    </p:anim>
                                    <p:anim calcmode="lin" valueType="num">
                                      <p:cBhvr additive="base">
                                        <p:cTn id="6" dur="500" fill="hold"/>
                                        <p:tgtEl>
                                          <p:spTgt spid="3"/>
                                        </p:tgtEl>
                                        <p:attrNameLst>
                                          <p:attrName>ppt_h</p:attrName>
                                        </p:attrNameLst>
                                      </p:cBhvr>
                                      <p:tavLst>
                                        <p:tav tm="0">
                                          <p:val>
                                            <p:fltVal val="0"/>
                                          </p:val>
                                        </p:tav>
                                        <p:tav tm="100000">
                                          <p:val>
                                            <p:strVal val="#ppt_h"/>
                                          </p:val>
                                        </p:tav>
                                      </p:tavLst>
                                    </p:anim>
                                    <p:animEffect transition="in" filter="fade">
                                      <p:cBhvr>
                                        <p:cTn id="7" dur="500"/>
                                        <p:tgtEl>
                                          <p:spTgt spid="3"/>
                                        </p:tgtEl>
                                      </p:cBhvr>
                                    </p:animEffect>
                                  </p:childTnLst>
                                </p:cTn>
                              </p:par>
                              <p:par>
                                <p:cTn id="8" presetID="22" presetClass="entr" presetSubtype="8" fill="hold" grpId="0"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10" presetClass="entr" presetSubtype="0" fill="hold" grpId="0" nodeType="withEffect">
                                  <p:stCondLst>
                                    <p:cond delay="8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25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4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2 · SETUP</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Four senses of “plant” (WordNet 3.0)</a:t>
            </a:r>
            <a:endParaRPr lang="en-US" sz="2800" dirty="0"/>
          </a:p>
        </p:txBody>
      </p:sp>
      <p:sp>
        <p:nvSpPr>
          <p:cNvPr id="5" name="a1_fade_0_244"/>
          <p:cNvSpPr txBox="1"/>
          <p:nvPr/>
        </p:nvSpPr>
        <p:spPr>
          <a:xfrm>
            <a:off x="7818120" y="1051560"/>
            <a:ext cx="914400" cy="228600"/>
          </a:xfrm>
          <a:prstGeom prst="rect">
            <a:avLst/>
          </a:prstGeom>
          <a:noFill/>
          <a:ln/>
        </p:spPr>
        <p:txBody>
          <a:bodyPr wrap="square" lIns="0" tIns="0" rIns="0" bIns="0" rtlCol="0" anchor="t"/>
          <a:lstStyle/>
          <a:p>
            <a:pPr algn="ctr" indent="0" marL="0">
              <a:buNone/>
            </a:pPr>
            <a:r>
              <a:rPr lang="en-US" sz="950" dirty="0">
                <a:solidFill>
                  <a:srgbClr val="5B6577"/>
                </a:solidFill>
                <a:latin typeface="Calibri" pitchFamily="34" charset="0"/>
                <a:ea typeface="Calibri" pitchFamily="34" charset="-122"/>
                <a:cs typeface="Calibri" pitchFamily="34" charset="-120"/>
              </a:rPr>
              <a:t>tagged count</a:t>
            </a:r>
            <a:endParaRPr lang="en-US" sz="950" dirty="0"/>
          </a:p>
        </p:txBody>
      </p:sp>
      <p:sp>
        <p:nvSpPr>
          <p:cNvPr id="6" name="a1_wipe_0_245"/>
          <p:cNvSpPr/>
          <p:nvPr/>
        </p:nvSpPr>
        <p:spPr>
          <a:xfrm>
            <a:off x="457200" y="1280160"/>
            <a:ext cx="8229600" cy="621792"/>
          </a:xfrm>
          <a:prstGeom prst="roundRect">
            <a:avLst>
              <a:gd name="adj" fmla="val 17647"/>
            </a:avLst>
          </a:prstGeom>
          <a:solidFill>
            <a:srgbClr val="FFF0C7"/>
          </a:solidFill>
          <a:ln/>
        </p:spPr>
        <p:txBody>
          <a:bodyPr wrap="square" lIns="76810" tIns="128016" rIns="128016" bIns="76810" rtlCol="0" anchor="ctr"/>
          <a:lstStyle/>
          <a:p>
            <a:pPr algn="l" indent="0" marL="0">
              <a:buNone/>
            </a:pPr>
            <a:endParaRPr lang="en-US" sz="1300" dirty="0"/>
          </a:p>
        </p:txBody>
      </p:sp>
      <p:sp>
        <p:nvSpPr>
          <p:cNvPr id="7" name="a1_fade_100_246"/>
          <p:cNvSpPr txBox="1"/>
          <p:nvPr/>
        </p:nvSpPr>
        <p:spPr>
          <a:xfrm>
            <a:off x="594360" y="1335024"/>
            <a:ext cx="1828800" cy="512064"/>
          </a:xfrm>
          <a:prstGeom prst="rect">
            <a:avLst/>
          </a:prstGeom>
          <a:noFill/>
          <a:ln/>
        </p:spPr>
        <p:txBody>
          <a:bodyPr wrap="square" lIns="0" tIns="0" rIns="0" bIns="0" rtlCol="0" anchor="ctr"/>
          <a:lstStyle/>
          <a:p>
            <a:pPr indent="0" marL="0">
              <a:buNone/>
            </a:pPr>
            <a:r>
              <a:rPr lang="en-US" sz="1250" b="1" dirty="0">
                <a:solidFill>
                  <a:srgbClr val="1B2A49"/>
                </a:solidFill>
                <a:latin typeface="Calibri" pitchFamily="34" charset="0"/>
                <a:ea typeface="Calibri" pitchFamily="34" charset="-122"/>
                <a:cs typeface="Calibri" pitchFamily="34" charset="-120"/>
              </a:rPr>
              <a:t>S1  industrial plant</a:t>
            </a:r>
            <a:endParaRPr lang="en-US" sz="1250" dirty="0"/>
          </a:p>
        </p:txBody>
      </p:sp>
      <p:sp>
        <p:nvSpPr>
          <p:cNvPr id="8" name="a1_fade_100_247"/>
          <p:cNvSpPr txBox="1"/>
          <p:nvPr/>
        </p:nvSpPr>
        <p:spPr>
          <a:xfrm>
            <a:off x="2468880" y="1335024"/>
            <a:ext cx="2743200" cy="512064"/>
          </a:xfrm>
          <a:prstGeom prst="rect">
            <a:avLst/>
          </a:prstGeom>
          <a:noFill/>
          <a:ln/>
        </p:spPr>
        <p:txBody>
          <a:bodyPr wrap="square" lIns="0" tIns="0" rIns="0" bIns="0" rtlCol="0" anchor="ctr"/>
          <a:lstStyle/>
          <a:p>
            <a:pPr indent="0" marL="0">
              <a:buNone/>
            </a:pPr>
            <a:r>
              <a:rPr lang="en-US" sz="1050" dirty="0">
                <a:solidFill>
                  <a:srgbClr val="22262E"/>
                </a:solidFill>
                <a:latin typeface="Calibri" pitchFamily="34" charset="0"/>
                <a:ea typeface="Calibri" pitchFamily="34" charset="-122"/>
                <a:cs typeface="Calibri" pitchFamily="34" charset="-120"/>
              </a:rPr>
              <a:t>buildings for carrying on industrial labor</a:t>
            </a:r>
            <a:endParaRPr lang="en-US" sz="1050" dirty="0"/>
          </a:p>
        </p:txBody>
      </p:sp>
      <p:sp>
        <p:nvSpPr>
          <p:cNvPr id="9" name="a1_fade_100_248"/>
          <p:cNvSpPr txBox="1"/>
          <p:nvPr/>
        </p:nvSpPr>
        <p:spPr>
          <a:xfrm>
            <a:off x="5303520" y="1335024"/>
            <a:ext cx="2377440" cy="512064"/>
          </a:xfrm>
          <a:prstGeom prst="rect">
            <a:avLst/>
          </a:prstGeom>
          <a:noFill/>
          <a:ln/>
        </p:spPr>
        <p:txBody>
          <a:bodyPr wrap="square" lIns="0" tIns="0" rIns="0" bIns="0" rtlCol="0" anchor="ctr"/>
          <a:lstStyle/>
          <a:p>
            <a:pPr indent="0" marL="0">
              <a:buNone/>
            </a:pPr>
            <a:r>
              <a:rPr lang="en-US" sz="1050" i="1" dirty="0">
                <a:solidFill>
                  <a:srgbClr val="5B6577"/>
                </a:solidFill>
                <a:latin typeface="Calibri" pitchFamily="34" charset="0"/>
                <a:ea typeface="Calibri" pitchFamily="34" charset="-122"/>
                <a:cs typeface="Calibri" pitchFamily="34" charset="-120"/>
              </a:rPr>
              <a:t>“they built a large plant to manufacture automobiles”</a:t>
            </a:r>
            <a:endParaRPr lang="en-US" sz="1050" dirty="0"/>
          </a:p>
        </p:txBody>
      </p:sp>
      <p:sp>
        <p:nvSpPr>
          <p:cNvPr id="10" name="a1_fade_100_249"/>
          <p:cNvSpPr txBox="1"/>
          <p:nvPr/>
        </p:nvSpPr>
        <p:spPr>
          <a:xfrm>
            <a:off x="7818120" y="1335024"/>
            <a:ext cx="914400" cy="512064"/>
          </a:xfrm>
          <a:prstGeom prst="rect">
            <a:avLst/>
          </a:prstGeom>
          <a:noFill/>
          <a:ln/>
        </p:spPr>
        <p:txBody>
          <a:bodyPr wrap="square" lIns="0" tIns="0" rIns="0" bIns="0" rtlCol="0" anchor="ctr"/>
          <a:lstStyle/>
          <a:p>
            <a:pPr algn="ctr" indent="0" marL="0">
              <a:buNone/>
            </a:pPr>
            <a:r>
              <a:rPr lang="en-US" sz="1600" b="1" dirty="0">
                <a:solidFill>
                  <a:srgbClr val="1F8A7D"/>
                </a:solidFill>
                <a:latin typeface="Calibri" pitchFamily="34" charset="0"/>
                <a:ea typeface="Calibri" pitchFamily="34" charset="-122"/>
                <a:cs typeface="Calibri" pitchFamily="34" charset="-120"/>
              </a:rPr>
              <a:t>63</a:t>
            </a:r>
            <a:endParaRPr lang="en-US" sz="1600" dirty="0"/>
          </a:p>
        </p:txBody>
      </p:sp>
      <p:sp>
        <p:nvSpPr>
          <p:cNvPr id="11" name="a1_wipe_200_250"/>
          <p:cNvSpPr/>
          <p:nvPr/>
        </p:nvSpPr>
        <p:spPr>
          <a:xfrm>
            <a:off x="457200" y="1993392"/>
            <a:ext cx="8229600" cy="621792"/>
          </a:xfrm>
          <a:prstGeom prst="roundRect">
            <a:avLst>
              <a:gd name="adj" fmla="val 17647"/>
            </a:avLst>
          </a:prstGeom>
          <a:solidFill>
            <a:srgbClr val="F2F4F8"/>
          </a:solidFill>
          <a:ln/>
        </p:spPr>
        <p:txBody>
          <a:bodyPr wrap="square" lIns="76810" tIns="128016" rIns="128016" bIns="76810" rtlCol="0" anchor="ctr"/>
          <a:lstStyle/>
          <a:p>
            <a:pPr algn="l" indent="0" marL="0">
              <a:buNone/>
            </a:pPr>
            <a:endParaRPr lang="en-US" sz="1300" dirty="0"/>
          </a:p>
        </p:txBody>
      </p:sp>
      <p:sp>
        <p:nvSpPr>
          <p:cNvPr id="12" name="a1_fade_300_251"/>
          <p:cNvSpPr txBox="1"/>
          <p:nvPr/>
        </p:nvSpPr>
        <p:spPr>
          <a:xfrm>
            <a:off x="594360" y="2048256"/>
            <a:ext cx="1828800" cy="512064"/>
          </a:xfrm>
          <a:prstGeom prst="rect">
            <a:avLst/>
          </a:prstGeom>
          <a:noFill/>
          <a:ln/>
        </p:spPr>
        <p:txBody>
          <a:bodyPr wrap="square" lIns="0" tIns="0" rIns="0" bIns="0" rtlCol="0" anchor="ctr"/>
          <a:lstStyle/>
          <a:p>
            <a:pPr indent="0" marL="0">
              <a:buNone/>
            </a:pPr>
            <a:r>
              <a:rPr lang="en-US" sz="1250" b="1" dirty="0">
                <a:solidFill>
                  <a:srgbClr val="1B2A49"/>
                </a:solidFill>
                <a:latin typeface="Calibri" pitchFamily="34" charset="0"/>
                <a:ea typeface="Calibri" pitchFamily="34" charset="-122"/>
                <a:cs typeface="Calibri" pitchFamily="34" charset="-120"/>
              </a:rPr>
              <a:t>S2  living plant</a:t>
            </a:r>
            <a:endParaRPr lang="en-US" sz="1250" dirty="0"/>
          </a:p>
        </p:txBody>
      </p:sp>
      <p:sp>
        <p:nvSpPr>
          <p:cNvPr id="13" name="a1_fade_300_252"/>
          <p:cNvSpPr txBox="1"/>
          <p:nvPr/>
        </p:nvSpPr>
        <p:spPr>
          <a:xfrm>
            <a:off x="2468880" y="2048256"/>
            <a:ext cx="2743200" cy="512064"/>
          </a:xfrm>
          <a:prstGeom prst="rect">
            <a:avLst/>
          </a:prstGeom>
          <a:noFill/>
          <a:ln/>
        </p:spPr>
        <p:txBody>
          <a:bodyPr wrap="square" lIns="0" tIns="0" rIns="0" bIns="0" rtlCol="0" anchor="ctr"/>
          <a:lstStyle/>
          <a:p>
            <a:pPr indent="0" marL="0">
              <a:buNone/>
            </a:pPr>
            <a:r>
              <a:rPr lang="en-US" sz="1050" dirty="0">
                <a:solidFill>
                  <a:srgbClr val="22262E"/>
                </a:solidFill>
                <a:latin typeface="Calibri" pitchFamily="34" charset="0"/>
                <a:ea typeface="Calibri" pitchFamily="34" charset="-122"/>
                <a:cs typeface="Calibri" pitchFamily="34" charset="-120"/>
              </a:rPr>
              <a:t>(botany) a living organism lacking the power of locomotion</a:t>
            </a:r>
            <a:endParaRPr lang="en-US" sz="1050" dirty="0"/>
          </a:p>
        </p:txBody>
      </p:sp>
      <p:sp>
        <p:nvSpPr>
          <p:cNvPr id="14" name="a1_fade_300_253"/>
          <p:cNvSpPr txBox="1"/>
          <p:nvPr/>
        </p:nvSpPr>
        <p:spPr>
          <a:xfrm>
            <a:off x="5303520" y="2048256"/>
            <a:ext cx="2377440" cy="512064"/>
          </a:xfrm>
          <a:prstGeom prst="rect">
            <a:avLst/>
          </a:prstGeom>
          <a:noFill/>
          <a:ln/>
        </p:spPr>
        <p:txBody>
          <a:bodyPr wrap="square" lIns="0" tIns="0" rIns="0" bIns="0" rtlCol="0" anchor="ctr"/>
          <a:lstStyle/>
          <a:p>
            <a:pPr indent="0" marL="0">
              <a:buNone/>
            </a:pPr>
            <a:r>
              <a:rPr lang="en-US" sz="1050" i="1" dirty="0">
                <a:solidFill>
                  <a:srgbClr val="5B6577"/>
                </a:solidFill>
                <a:latin typeface="Calibri" pitchFamily="34" charset="0"/>
                <a:ea typeface="Calibri" pitchFamily="34" charset="-122"/>
                <a:cs typeface="Calibri" pitchFamily="34" charset="-120"/>
              </a:rPr>
              <a:t>none in WordNet</a:t>
            </a:r>
            <a:endParaRPr lang="en-US" sz="1050" dirty="0"/>
          </a:p>
        </p:txBody>
      </p:sp>
      <p:sp>
        <p:nvSpPr>
          <p:cNvPr id="15" name="a1_fade_300_254"/>
          <p:cNvSpPr txBox="1"/>
          <p:nvPr/>
        </p:nvSpPr>
        <p:spPr>
          <a:xfrm>
            <a:off x="7818120" y="2048256"/>
            <a:ext cx="914400" cy="512064"/>
          </a:xfrm>
          <a:prstGeom prst="rect">
            <a:avLst/>
          </a:prstGeom>
          <a:noFill/>
          <a:ln/>
        </p:spPr>
        <p:txBody>
          <a:bodyPr wrap="square" lIns="0" tIns="0" rIns="0" bIns="0" rtlCol="0" anchor="ctr"/>
          <a:lstStyle/>
          <a:p>
            <a:pPr algn="ctr" indent="0" marL="0">
              <a:buNone/>
            </a:pPr>
            <a:r>
              <a:rPr lang="en-US" sz="1600" b="1" dirty="0">
                <a:solidFill>
                  <a:srgbClr val="1F8A7D"/>
                </a:solidFill>
                <a:latin typeface="Calibri" pitchFamily="34" charset="0"/>
                <a:ea typeface="Calibri" pitchFamily="34" charset="-122"/>
                <a:cs typeface="Calibri" pitchFamily="34" charset="-120"/>
              </a:rPr>
              <a:t>37</a:t>
            </a:r>
            <a:endParaRPr lang="en-US" sz="1600" dirty="0"/>
          </a:p>
        </p:txBody>
      </p:sp>
      <p:sp>
        <p:nvSpPr>
          <p:cNvPr id="16" name="a1_wipe_400_255"/>
          <p:cNvSpPr/>
          <p:nvPr/>
        </p:nvSpPr>
        <p:spPr>
          <a:xfrm>
            <a:off x="457200" y="2706624"/>
            <a:ext cx="8229600" cy="621792"/>
          </a:xfrm>
          <a:prstGeom prst="roundRect">
            <a:avLst>
              <a:gd name="adj" fmla="val 17647"/>
            </a:avLst>
          </a:prstGeom>
          <a:solidFill>
            <a:srgbClr val="F2F4F8"/>
          </a:solidFill>
          <a:ln/>
        </p:spPr>
        <p:txBody>
          <a:bodyPr wrap="square" lIns="76810" tIns="128016" rIns="128016" bIns="76810" rtlCol="0" anchor="ctr"/>
          <a:lstStyle/>
          <a:p>
            <a:pPr algn="l" indent="0" marL="0">
              <a:buNone/>
            </a:pPr>
            <a:endParaRPr lang="en-US" sz="1300" dirty="0"/>
          </a:p>
        </p:txBody>
      </p:sp>
      <p:sp>
        <p:nvSpPr>
          <p:cNvPr id="17" name="a1_fade_500_256"/>
          <p:cNvSpPr txBox="1"/>
          <p:nvPr/>
        </p:nvSpPr>
        <p:spPr>
          <a:xfrm>
            <a:off x="594360" y="2761488"/>
            <a:ext cx="1828800" cy="512064"/>
          </a:xfrm>
          <a:prstGeom prst="rect">
            <a:avLst/>
          </a:prstGeom>
          <a:noFill/>
          <a:ln/>
        </p:spPr>
        <p:txBody>
          <a:bodyPr wrap="square" lIns="0" tIns="0" rIns="0" bIns="0" rtlCol="0" anchor="ctr"/>
          <a:lstStyle/>
          <a:p>
            <a:pPr indent="0" marL="0">
              <a:buNone/>
            </a:pPr>
            <a:r>
              <a:rPr lang="en-US" sz="1250" b="1" dirty="0">
                <a:solidFill>
                  <a:srgbClr val="1B2A49"/>
                </a:solidFill>
                <a:latin typeface="Calibri" pitchFamily="34" charset="0"/>
                <a:ea typeface="Calibri" pitchFamily="34" charset="-122"/>
                <a:cs typeface="Calibri" pitchFamily="34" charset="-120"/>
              </a:rPr>
              <a:t>S3  actor in audience</a:t>
            </a:r>
            <a:endParaRPr lang="en-US" sz="1250" dirty="0"/>
          </a:p>
        </p:txBody>
      </p:sp>
      <p:sp>
        <p:nvSpPr>
          <p:cNvPr id="18" name="a1_fade_500_257"/>
          <p:cNvSpPr txBox="1"/>
          <p:nvPr/>
        </p:nvSpPr>
        <p:spPr>
          <a:xfrm>
            <a:off x="2468880" y="2761488"/>
            <a:ext cx="2743200" cy="512064"/>
          </a:xfrm>
          <a:prstGeom prst="rect">
            <a:avLst/>
          </a:prstGeom>
          <a:noFill/>
          <a:ln/>
        </p:spPr>
        <p:txBody>
          <a:bodyPr wrap="square" lIns="0" tIns="0" rIns="0" bIns="0" rtlCol="0" anchor="ctr"/>
          <a:lstStyle/>
          <a:p>
            <a:pPr indent="0" marL="0">
              <a:buNone/>
            </a:pPr>
            <a:r>
              <a:rPr lang="en-US" sz="1050" dirty="0">
                <a:solidFill>
                  <a:srgbClr val="22262E"/>
                </a:solidFill>
                <a:latin typeface="Calibri" pitchFamily="34" charset="0"/>
                <a:ea typeface="Calibri" pitchFamily="34" charset="-122"/>
                <a:cs typeface="Calibri" pitchFamily="34" charset="-120"/>
              </a:rPr>
              <a:t>an actor situated in the audience whose acting is rehearsed but seems spontaneous</a:t>
            </a:r>
            <a:endParaRPr lang="en-US" sz="1050" dirty="0"/>
          </a:p>
        </p:txBody>
      </p:sp>
      <p:sp>
        <p:nvSpPr>
          <p:cNvPr id="19" name="a1_fade_500_258"/>
          <p:cNvSpPr txBox="1"/>
          <p:nvPr/>
        </p:nvSpPr>
        <p:spPr>
          <a:xfrm>
            <a:off x="5303520" y="2761488"/>
            <a:ext cx="2377440" cy="512064"/>
          </a:xfrm>
          <a:prstGeom prst="rect">
            <a:avLst/>
          </a:prstGeom>
          <a:noFill/>
          <a:ln/>
        </p:spPr>
        <p:txBody>
          <a:bodyPr wrap="square" lIns="0" tIns="0" rIns="0" bIns="0" rtlCol="0" anchor="ctr"/>
          <a:lstStyle/>
          <a:p>
            <a:pPr indent="0" marL="0">
              <a:buNone/>
            </a:pPr>
            <a:r>
              <a:rPr lang="en-US" sz="1050" i="1" dirty="0">
                <a:solidFill>
                  <a:srgbClr val="5B6577"/>
                </a:solidFill>
                <a:latin typeface="Calibri" pitchFamily="34" charset="0"/>
                <a:ea typeface="Calibri" pitchFamily="34" charset="-122"/>
                <a:cs typeface="Calibri" pitchFamily="34" charset="-120"/>
              </a:rPr>
              <a:t>none in WordNet</a:t>
            </a:r>
            <a:endParaRPr lang="en-US" sz="1050" dirty="0"/>
          </a:p>
        </p:txBody>
      </p:sp>
      <p:sp>
        <p:nvSpPr>
          <p:cNvPr id="20" name="a1_fade_500_259"/>
          <p:cNvSpPr txBox="1"/>
          <p:nvPr/>
        </p:nvSpPr>
        <p:spPr>
          <a:xfrm>
            <a:off x="7818120" y="2761488"/>
            <a:ext cx="914400" cy="512064"/>
          </a:xfrm>
          <a:prstGeom prst="rect">
            <a:avLst/>
          </a:prstGeom>
          <a:noFill/>
          <a:ln/>
        </p:spPr>
        <p:txBody>
          <a:bodyPr wrap="square" lIns="0" tIns="0" rIns="0" bIns="0" rtlCol="0" anchor="ctr"/>
          <a:lstStyle/>
          <a:p>
            <a:pPr algn="ctr" indent="0" marL="0">
              <a:buNone/>
            </a:pPr>
            <a:r>
              <a:rPr lang="en-US" sz="1600" b="1" dirty="0">
                <a:solidFill>
                  <a:srgbClr val="1F8A7D"/>
                </a:solidFill>
                <a:latin typeface="Calibri" pitchFamily="34" charset="0"/>
                <a:ea typeface="Calibri" pitchFamily="34" charset="-122"/>
                <a:cs typeface="Calibri" pitchFamily="34" charset="-120"/>
              </a:rPr>
              <a:t>0</a:t>
            </a:r>
            <a:endParaRPr lang="en-US" sz="1600" dirty="0"/>
          </a:p>
        </p:txBody>
      </p:sp>
      <p:sp>
        <p:nvSpPr>
          <p:cNvPr id="21" name="a1_wipe_600_260"/>
          <p:cNvSpPr/>
          <p:nvPr/>
        </p:nvSpPr>
        <p:spPr>
          <a:xfrm>
            <a:off x="457200" y="3419856"/>
            <a:ext cx="8229600" cy="621792"/>
          </a:xfrm>
          <a:prstGeom prst="roundRect">
            <a:avLst>
              <a:gd name="adj" fmla="val 17647"/>
            </a:avLst>
          </a:prstGeom>
          <a:solidFill>
            <a:srgbClr val="F2F4F8"/>
          </a:solidFill>
          <a:ln/>
        </p:spPr>
        <p:txBody>
          <a:bodyPr wrap="square" lIns="76810" tIns="128016" rIns="128016" bIns="76810" rtlCol="0" anchor="ctr"/>
          <a:lstStyle/>
          <a:p>
            <a:pPr algn="l" indent="0" marL="0">
              <a:buNone/>
            </a:pPr>
            <a:endParaRPr lang="en-US" sz="1300" dirty="0"/>
          </a:p>
        </p:txBody>
      </p:sp>
      <p:sp>
        <p:nvSpPr>
          <p:cNvPr id="22" name="a1_fade_700_261"/>
          <p:cNvSpPr txBox="1"/>
          <p:nvPr/>
        </p:nvSpPr>
        <p:spPr>
          <a:xfrm>
            <a:off x="594360" y="3474720"/>
            <a:ext cx="1828800" cy="512064"/>
          </a:xfrm>
          <a:prstGeom prst="rect">
            <a:avLst/>
          </a:prstGeom>
          <a:noFill/>
          <a:ln/>
        </p:spPr>
        <p:txBody>
          <a:bodyPr wrap="square" lIns="0" tIns="0" rIns="0" bIns="0" rtlCol="0" anchor="ctr"/>
          <a:lstStyle/>
          <a:p>
            <a:pPr indent="0" marL="0">
              <a:buNone/>
            </a:pPr>
            <a:r>
              <a:rPr lang="en-US" sz="1250" b="1" dirty="0">
                <a:solidFill>
                  <a:srgbClr val="1B2A49"/>
                </a:solidFill>
                <a:latin typeface="Calibri" pitchFamily="34" charset="0"/>
                <a:ea typeface="Calibri" pitchFamily="34" charset="-122"/>
                <a:cs typeface="Calibri" pitchFamily="34" charset="-120"/>
              </a:rPr>
              <a:t>S4  secret plant</a:t>
            </a:r>
            <a:endParaRPr lang="en-US" sz="1250" dirty="0"/>
          </a:p>
        </p:txBody>
      </p:sp>
      <p:sp>
        <p:nvSpPr>
          <p:cNvPr id="23" name="a1_fade_700_262"/>
          <p:cNvSpPr txBox="1"/>
          <p:nvPr/>
        </p:nvSpPr>
        <p:spPr>
          <a:xfrm>
            <a:off x="2468880" y="3474720"/>
            <a:ext cx="2743200" cy="512064"/>
          </a:xfrm>
          <a:prstGeom prst="rect">
            <a:avLst/>
          </a:prstGeom>
          <a:noFill/>
          <a:ln/>
        </p:spPr>
        <p:txBody>
          <a:bodyPr wrap="square" lIns="0" tIns="0" rIns="0" bIns="0" rtlCol="0" anchor="ctr"/>
          <a:lstStyle/>
          <a:p>
            <a:pPr indent="0" marL="0">
              <a:buNone/>
            </a:pPr>
            <a:r>
              <a:rPr lang="en-US" sz="1050" dirty="0">
                <a:solidFill>
                  <a:srgbClr val="22262E"/>
                </a:solidFill>
                <a:latin typeface="Calibri" pitchFamily="34" charset="0"/>
                <a:ea typeface="Calibri" pitchFamily="34" charset="-122"/>
                <a:cs typeface="Calibri" pitchFamily="34" charset="-120"/>
              </a:rPr>
              <a:t>something planted secretly for discovery by another</a:t>
            </a:r>
            <a:endParaRPr lang="en-US" sz="1050" dirty="0"/>
          </a:p>
        </p:txBody>
      </p:sp>
      <p:sp>
        <p:nvSpPr>
          <p:cNvPr id="24" name="a1_fade_700_263"/>
          <p:cNvSpPr txBox="1"/>
          <p:nvPr/>
        </p:nvSpPr>
        <p:spPr>
          <a:xfrm>
            <a:off x="5303520" y="3474720"/>
            <a:ext cx="2377440" cy="512064"/>
          </a:xfrm>
          <a:prstGeom prst="rect">
            <a:avLst/>
          </a:prstGeom>
          <a:noFill/>
          <a:ln/>
        </p:spPr>
        <p:txBody>
          <a:bodyPr wrap="square" lIns="0" tIns="0" rIns="0" bIns="0" rtlCol="0" anchor="ctr"/>
          <a:lstStyle/>
          <a:p>
            <a:pPr indent="0" marL="0">
              <a:buNone/>
            </a:pPr>
            <a:r>
              <a:rPr lang="en-US" sz="1050" i="1" dirty="0">
                <a:solidFill>
                  <a:srgbClr val="5B6577"/>
                </a:solidFill>
                <a:latin typeface="Calibri" pitchFamily="34" charset="0"/>
                <a:ea typeface="Calibri" pitchFamily="34" charset="-122"/>
                <a:cs typeface="Calibri" pitchFamily="34" charset="-120"/>
              </a:rPr>
              <a:t>“the police used a plant to trick the thieves”</a:t>
            </a:r>
            <a:endParaRPr lang="en-US" sz="1050" dirty="0"/>
          </a:p>
        </p:txBody>
      </p:sp>
      <p:sp>
        <p:nvSpPr>
          <p:cNvPr id="25" name="a1_fade_700_264"/>
          <p:cNvSpPr txBox="1"/>
          <p:nvPr/>
        </p:nvSpPr>
        <p:spPr>
          <a:xfrm>
            <a:off x="7818120" y="3474720"/>
            <a:ext cx="914400" cy="512064"/>
          </a:xfrm>
          <a:prstGeom prst="rect">
            <a:avLst/>
          </a:prstGeom>
          <a:noFill/>
          <a:ln/>
        </p:spPr>
        <p:txBody>
          <a:bodyPr wrap="square" lIns="0" tIns="0" rIns="0" bIns="0" rtlCol="0" anchor="ctr"/>
          <a:lstStyle/>
          <a:p>
            <a:pPr algn="ctr" indent="0" marL="0">
              <a:buNone/>
            </a:pPr>
            <a:r>
              <a:rPr lang="en-US" sz="1600" b="1" dirty="0">
                <a:solidFill>
                  <a:srgbClr val="1F8A7D"/>
                </a:solidFill>
                <a:latin typeface="Calibri" pitchFamily="34" charset="0"/>
                <a:ea typeface="Calibri" pitchFamily="34" charset="-122"/>
                <a:cs typeface="Calibri" pitchFamily="34" charset="-120"/>
              </a:rPr>
              <a:t>0</a:t>
            </a:r>
            <a:endParaRPr lang="en-US" sz="1600" dirty="0"/>
          </a:p>
        </p:txBody>
      </p:sp>
      <p:sp>
        <p:nvSpPr>
          <p:cNvPr id="26" name="a2_zoom_0_265"/>
          <p:cNvSpPr/>
          <p:nvPr/>
        </p:nvSpPr>
        <p:spPr>
          <a:xfrm>
            <a:off x="457200" y="4206240"/>
            <a:ext cx="8229600" cy="457200"/>
          </a:xfrm>
          <a:prstGeom prst="roundRect">
            <a:avLst>
              <a:gd name="adj" fmla="val 24000"/>
            </a:avLst>
          </a:prstGeom>
          <a:solidFill>
            <a:srgbClr val="1B2A49"/>
          </a:solidFill>
          <a:ln/>
        </p:spPr>
        <p:txBody>
          <a:bodyPr wrap="square" lIns="76810" tIns="128016" rIns="128016" bIns="7681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Sentence:  “The company built a large plant to manufacture electric cars.”</a:t>
            </a:r>
            <a:endParaRPr lang="en-US" sz="1500" dirty="0"/>
          </a:p>
        </p:txBody>
      </p:sp>
      <p:sp>
        <p:nvSpPr>
          <p:cNvPr id="27" name="Text 24"/>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22" presetClass="entr" presetSubtype="8"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8" dur="500"/>
                                        <p:tgtEl>
                                          <p:spTgt spid="6"/>
                                        </p:tgtEl>
                                      </p:cBhvr>
                                    </p:animEffect>
                                  </p:childTnLst>
                                </p:cTn>
                              </p:par>
                              <p:par>
                                <p:cTn id="9" presetID="10" presetClass="entr" presetSubtype="0" fill="hold" grpId="0" nodeType="withEffect">
                                  <p:stCondLst>
                                    <p:cond delay="1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22" presetClass="entr" presetSubtype="8" fill="hold" grpId="0" nodeType="withEffect">
                                  <p:stCondLst>
                                    <p:cond delay="2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10" presetClass="entr" presetSubtype="0" fill="hold" grpId="0" nodeType="withEffect">
                                  <p:stCondLst>
                                    <p:cond delay="3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22" presetClass="entr" presetSubtype="8" fill="hold" grpId="0" nodeType="withEffect">
                                  <p:stCondLst>
                                    <p:cond delay="40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par>
                                <p:cTn id="39" presetID="10" presetClass="entr" presetSubtype="0" fill="hold" grpId="0" nodeType="withEffect">
                                  <p:stCondLst>
                                    <p:cond delay="5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50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5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22" presetClass="entr" presetSubtype="8" fill="hold" grpId="0" nodeType="withEffect">
                                  <p:stCondLst>
                                    <p:cond delay="60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500"/>
                                        <p:tgtEl>
                                          <p:spTgt spid="21"/>
                                        </p:tgtEl>
                                      </p:cBhvr>
                                    </p:animEffect>
                                  </p:childTnLst>
                                </p:cTn>
                              </p:par>
                              <p:par>
                                <p:cTn id="54" presetID="10" presetClass="entr" presetSubtype="0" fill="hold" grpId="0" nodeType="withEffect">
                                  <p:stCondLst>
                                    <p:cond delay="70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70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7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70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additive="base">
                                        <p:cTn id="70" dur="500" fill="hold"/>
                                        <p:tgtEl>
                                          <p:spTgt spid="26"/>
                                        </p:tgtEl>
                                        <p:attrNameLst>
                                          <p:attrName>ppt_w</p:attrName>
                                        </p:attrNameLst>
                                      </p:cBhvr>
                                      <p:tavLst>
                                        <p:tav tm="0">
                                          <p:val>
                                            <p:fltVal val="0"/>
                                          </p:val>
                                        </p:tav>
                                        <p:tav tm="100000">
                                          <p:val>
                                            <p:strVal val="#ppt_w"/>
                                          </p:val>
                                        </p:tav>
                                      </p:tavLst>
                                    </p:anim>
                                    <p:anim calcmode="lin" valueType="num">
                                      <p:cBhvr additive="base">
                                        <p:cTn id="71" dur="500" fill="hold"/>
                                        <p:tgtEl>
                                          <p:spTgt spid="26"/>
                                        </p:tgtEl>
                                        <p:attrNameLst>
                                          <p:attrName>ppt_h</p:attrName>
                                        </p:attrNameLst>
                                      </p:cBhvr>
                                      <p:tavLst>
                                        <p:tav tm="0">
                                          <p:val>
                                            <p:fltVal val="0"/>
                                          </p:val>
                                        </p:tav>
                                        <p:tav tm="100000">
                                          <p:val>
                                            <p:strVal val="#ppt_h"/>
                                          </p:val>
                                        </p:tav>
                                      </p:tavLst>
                                    </p:anim>
                                    <p:animEffect transition="in" filter="fade">
                                      <p:cBhvr>
                                        <p:cTn id="7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2 · PART A</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Build the context and the signatures</a:t>
            </a:r>
            <a:endParaRPr lang="en-US" sz="2800" dirty="0"/>
          </a:p>
        </p:txBody>
      </p:sp>
      <p:sp>
        <p:nvSpPr>
          <p:cNvPr id="5" name="a1_fade_0_266"/>
          <p:cNvSpPr txBox="1"/>
          <p:nvPr/>
        </p:nvSpPr>
        <p:spPr>
          <a:xfrm>
            <a:off x="457200" y="1188720"/>
            <a:ext cx="1188720" cy="365760"/>
          </a:xfrm>
          <a:prstGeom prst="rect">
            <a:avLst/>
          </a:prstGeom>
          <a:noFill/>
          <a:ln/>
        </p:spPr>
        <p:txBody>
          <a:bodyPr wrap="square" lIns="0" tIns="0" rIns="0" bIns="0" rtlCol="0" anchor="ctr"/>
          <a:lstStyle/>
          <a:p>
            <a:pPr indent="0" marL="0">
              <a:buNone/>
            </a:pPr>
            <a:r>
              <a:rPr lang="en-US" sz="1600" b="1" dirty="0">
                <a:solidFill>
                  <a:srgbClr val="1B2A49"/>
                </a:solidFill>
                <a:latin typeface="Cambria" pitchFamily="34" charset="0"/>
                <a:ea typeface="Cambria" pitchFamily="34" charset="-122"/>
                <a:cs typeface="Cambria" pitchFamily="34" charset="-120"/>
              </a:rPr>
              <a:t>Context C</a:t>
            </a:r>
            <a:endParaRPr lang="en-US" sz="1600" dirty="0"/>
          </a:p>
        </p:txBody>
      </p:sp>
      <p:sp>
        <p:nvSpPr>
          <p:cNvPr id="6" name="a1_zoom_100_267"/>
          <p:cNvSpPr/>
          <p:nvPr/>
        </p:nvSpPr>
        <p:spPr>
          <a:xfrm>
            <a:off x="1691640" y="1216152"/>
            <a:ext cx="974933" cy="324358"/>
          </a:xfrm>
          <a:prstGeom prst="roundRect">
            <a:avLst>
              <a:gd name="adj" fmla="val 33829"/>
            </a:avLst>
          </a:prstGeom>
          <a:solidFill>
            <a:srgbClr val="E6EAF2"/>
          </a:solidFill>
          <a:ln/>
        </p:spPr>
        <p:txBody>
          <a:bodyPr wrap="square" lIns="0" tIns="0" rIns="0" bIns="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company</a:t>
            </a:r>
            <a:endParaRPr lang="en-US" sz="1300" dirty="0"/>
          </a:p>
        </p:txBody>
      </p:sp>
      <p:sp>
        <p:nvSpPr>
          <p:cNvPr id="7" name="a1_zoom_220_268"/>
          <p:cNvSpPr/>
          <p:nvPr/>
        </p:nvSpPr>
        <p:spPr>
          <a:xfrm>
            <a:off x="2730581" y="1216152"/>
            <a:ext cx="875081" cy="324358"/>
          </a:xfrm>
          <a:prstGeom prst="roundRect">
            <a:avLst>
              <a:gd name="adj" fmla="val 33829"/>
            </a:avLst>
          </a:prstGeom>
          <a:solidFill>
            <a:srgbClr val="F4A300"/>
          </a:solidFill>
          <a:ln/>
        </p:spPr>
        <p:txBody>
          <a:bodyPr wrap="square" lIns="0" tIns="0" rIns="0" bIns="0" rtlCol="0" anchor="ctr"/>
          <a:lstStyle/>
          <a:p>
            <a:pPr algn="ctr" indent="0" marL="0">
              <a:buNone/>
            </a:pPr>
            <a:r>
              <a:rPr lang="en-US" sz="1300" b="1" dirty="0">
                <a:solidFill>
                  <a:srgbClr val="22262E"/>
                </a:solidFill>
                <a:latin typeface="Calibri" pitchFamily="34" charset="0"/>
                <a:ea typeface="Calibri" pitchFamily="34" charset="-122"/>
                <a:cs typeface="Calibri" pitchFamily="34" charset="-120"/>
              </a:rPr>
              <a:t>build</a:t>
            </a:r>
            <a:endParaRPr lang="en-US" sz="1300" dirty="0"/>
          </a:p>
        </p:txBody>
      </p:sp>
      <p:sp>
        <p:nvSpPr>
          <p:cNvPr id="8" name="a1_zoom_340_269"/>
          <p:cNvSpPr/>
          <p:nvPr/>
        </p:nvSpPr>
        <p:spPr>
          <a:xfrm>
            <a:off x="3669670" y="1216152"/>
            <a:ext cx="875081" cy="324358"/>
          </a:xfrm>
          <a:prstGeom prst="roundRect">
            <a:avLst>
              <a:gd name="adj" fmla="val 33829"/>
            </a:avLst>
          </a:prstGeom>
          <a:solidFill>
            <a:srgbClr val="F4A300"/>
          </a:solidFill>
          <a:ln/>
        </p:spPr>
        <p:txBody>
          <a:bodyPr wrap="square" lIns="0" tIns="0" rIns="0" bIns="0" rtlCol="0" anchor="ctr"/>
          <a:lstStyle/>
          <a:p>
            <a:pPr algn="ctr" indent="0" marL="0">
              <a:buNone/>
            </a:pPr>
            <a:r>
              <a:rPr lang="en-US" sz="1300" b="1" dirty="0">
                <a:solidFill>
                  <a:srgbClr val="22262E"/>
                </a:solidFill>
                <a:latin typeface="Calibri" pitchFamily="34" charset="0"/>
                <a:ea typeface="Calibri" pitchFamily="34" charset="-122"/>
                <a:cs typeface="Calibri" pitchFamily="34" charset="-120"/>
              </a:rPr>
              <a:t>large</a:t>
            </a:r>
            <a:endParaRPr lang="en-US" sz="1300" dirty="0"/>
          </a:p>
        </p:txBody>
      </p:sp>
      <p:sp>
        <p:nvSpPr>
          <p:cNvPr id="9" name="a1_zoom_460_270"/>
          <p:cNvSpPr/>
          <p:nvPr/>
        </p:nvSpPr>
        <p:spPr>
          <a:xfrm>
            <a:off x="4608759" y="1216152"/>
            <a:ext cx="1574048" cy="324358"/>
          </a:xfrm>
          <a:prstGeom prst="roundRect">
            <a:avLst>
              <a:gd name="adj" fmla="val 33829"/>
            </a:avLst>
          </a:prstGeom>
          <a:solidFill>
            <a:srgbClr val="F4A300"/>
          </a:solidFill>
          <a:ln/>
        </p:spPr>
        <p:txBody>
          <a:bodyPr wrap="square" lIns="0" tIns="0" rIns="0" bIns="0" rtlCol="0" anchor="ctr"/>
          <a:lstStyle/>
          <a:p>
            <a:pPr algn="ctr" indent="0" marL="0">
              <a:buNone/>
            </a:pPr>
            <a:r>
              <a:rPr lang="en-US" sz="1300" b="1" dirty="0">
                <a:solidFill>
                  <a:srgbClr val="22262E"/>
                </a:solidFill>
                <a:latin typeface="Calibri" pitchFamily="34" charset="0"/>
                <a:ea typeface="Calibri" pitchFamily="34" charset="-122"/>
                <a:cs typeface="Calibri" pitchFamily="34" charset="-120"/>
              </a:rPr>
              <a:t>manufacture</a:t>
            </a:r>
            <a:endParaRPr lang="en-US" sz="1300" dirty="0"/>
          </a:p>
        </p:txBody>
      </p:sp>
      <p:sp>
        <p:nvSpPr>
          <p:cNvPr id="10" name="a1_zoom_580_271"/>
          <p:cNvSpPr/>
          <p:nvPr/>
        </p:nvSpPr>
        <p:spPr>
          <a:xfrm>
            <a:off x="6246815" y="1216152"/>
            <a:ext cx="1072408" cy="324358"/>
          </a:xfrm>
          <a:prstGeom prst="roundRect">
            <a:avLst>
              <a:gd name="adj" fmla="val 33829"/>
            </a:avLst>
          </a:prstGeom>
          <a:solidFill>
            <a:srgbClr val="E6EAF2"/>
          </a:solidFill>
          <a:ln/>
        </p:spPr>
        <p:txBody>
          <a:bodyPr wrap="square" lIns="0" tIns="0" rIns="0" bIns="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electric</a:t>
            </a:r>
            <a:endParaRPr lang="en-US" sz="1300" dirty="0"/>
          </a:p>
        </p:txBody>
      </p:sp>
      <p:sp>
        <p:nvSpPr>
          <p:cNvPr id="11" name="a1_zoom_700_272"/>
          <p:cNvSpPr/>
          <p:nvPr/>
        </p:nvSpPr>
        <p:spPr>
          <a:xfrm>
            <a:off x="7383231" y="1216152"/>
            <a:ext cx="585033" cy="324358"/>
          </a:xfrm>
          <a:prstGeom prst="roundRect">
            <a:avLst>
              <a:gd name="adj" fmla="val 33829"/>
            </a:avLst>
          </a:prstGeom>
          <a:solidFill>
            <a:srgbClr val="E6EAF2"/>
          </a:solidFill>
          <a:ln/>
        </p:spPr>
        <p:txBody>
          <a:bodyPr wrap="square" lIns="0" tIns="0" rIns="0" bIns="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car</a:t>
            </a:r>
            <a:endParaRPr lang="en-US" sz="1300" dirty="0"/>
          </a:p>
        </p:txBody>
      </p:sp>
      <p:sp>
        <p:nvSpPr>
          <p:cNvPr id="12" name="a1_fade_900_273"/>
          <p:cNvSpPr txBox="1"/>
          <p:nvPr/>
        </p:nvSpPr>
        <p:spPr>
          <a:xfrm>
            <a:off x="457200" y="1645920"/>
            <a:ext cx="8229600" cy="274320"/>
          </a:xfrm>
          <a:prstGeom prst="rect">
            <a:avLst/>
          </a:prstGeom>
          <a:noFill/>
          <a:ln/>
        </p:spPr>
        <p:txBody>
          <a:bodyPr wrap="square" lIns="0" tIns="0" rIns="0" bIns="0" rtlCol="0" anchor="t"/>
          <a:lstStyle/>
          <a:p>
            <a:pPr indent="0" marL="0">
              <a:buNone/>
            </a:pPr>
            <a:r>
              <a:rPr lang="en-US" sz="1100" i="1" dirty="0">
                <a:solidFill>
                  <a:srgbClr val="5B6577"/>
                </a:solidFill>
                <a:latin typeface="Calibri" pitchFamily="34" charset="0"/>
                <a:ea typeface="Calibri" pitchFamily="34" charset="-122"/>
                <a:cs typeface="Calibri" pitchFamily="34" charset="-120"/>
              </a:rPr>
              <a:t>removed: the, a, to, plant   ·   lemmas: built → build, cars → car</a:t>
            </a:r>
            <a:endParaRPr lang="en-US" sz="1100" dirty="0"/>
          </a:p>
        </p:txBody>
      </p:sp>
      <p:sp>
        <p:nvSpPr>
          <p:cNvPr id="13" name="a2_wipe_0_274"/>
          <p:cNvSpPr/>
          <p:nvPr/>
        </p:nvSpPr>
        <p:spPr>
          <a:xfrm>
            <a:off x="457200" y="2057400"/>
            <a:ext cx="8229600" cy="530352"/>
          </a:xfrm>
          <a:prstGeom prst="roundRect">
            <a:avLst>
              <a:gd name="adj" fmla="val 20690"/>
            </a:avLst>
          </a:prstGeom>
          <a:solidFill>
            <a:srgbClr val="FFF0C7"/>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S1</a:t>
            </a:r>
            <a:pPr algn="l" indent="0" marL="0">
              <a:buNone/>
            </a:pPr>
            <a:r>
              <a:rPr lang="en-US" sz="1300" dirty="0">
                <a:solidFill>
                  <a:srgbClr val="22262E"/>
                </a:solidFill>
                <a:latin typeface="Calibri" pitchFamily="34" charset="0"/>
                <a:ea typeface="Calibri" pitchFamily="34" charset="-122"/>
                <a:cs typeface="Calibri" pitchFamily="34" charset="-120"/>
              </a:rPr>
              <a:t>    {building, carry, industrial, labor, </a:t>
            </a:r>
            <a:pPr algn="l" indent="0" marL="0">
              <a:buNone/>
            </a:pPr>
            <a:r>
              <a:rPr lang="en-US" sz="1300" b="1" dirty="0">
                <a:solidFill>
                  <a:srgbClr val="22262E"/>
                </a:solidFill>
                <a:highlight>
                  <a:srgbClr val="FFD970"/>
                </a:highlight>
                <a:latin typeface="Calibri" pitchFamily="34" charset="0"/>
                <a:ea typeface="Calibri" pitchFamily="34" charset="-122"/>
                <a:cs typeface="Calibri" pitchFamily="34" charset="-120"/>
              </a:rPr>
              <a:t>build</a:t>
            </a:r>
            <a:pPr algn="l" indent="0" marL="0">
              <a:buNone/>
            </a:pPr>
            <a:r>
              <a:rPr lang="en-US" sz="1300" dirty="0">
                <a:solidFill>
                  <a:srgbClr val="22262E"/>
                </a:solidFill>
                <a:latin typeface="Calibri" pitchFamily="34" charset="0"/>
                <a:ea typeface="Calibri" pitchFamily="34" charset="-122"/>
                <a:cs typeface="Calibri" pitchFamily="34" charset="-120"/>
              </a:rPr>
              <a:t>, </a:t>
            </a:r>
            <a:pPr algn="l" indent="0" marL="0">
              <a:buNone/>
            </a:pPr>
            <a:r>
              <a:rPr lang="en-US" sz="1300" b="1" dirty="0">
                <a:solidFill>
                  <a:srgbClr val="22262E"/>
                </a:solidFill>
                <a:highlight>
                  <a:srgbClr val="FFD970"/>
                </a:highlight>
                <a:latin typeface="Calibri" pitchFamily="34" charset="0"/>
                <a:ea typeface="Calibri" pitchFamily="34" charset="-122"/>
                <a:cs typeface="Calibri" pitchFamily="34" charset="-120"/>
              </a:rPr>
              <a:t>large</a:t>
            </a:r>
            <a:pPr algn="l" indent="0" marL="0">
              <a:buNone/>
            </a:pPr>
            <a:r>
              <a:rPr lang="en-US" sz="1300" dirty="0">
                <a:solidFill>
                  <a:srgbClr val="22262E"/>
                </a:solidFill>
                <a:latin typeface="Calibri" pitchFamily="34" charset="0"/>
                <a:ea typeface="Calibri" pitchFamily="34" charset="-122"/>
                <a:cs typeface="Calibri" pitchFamily="34" charset="-120"/>
              </a:rPr>
              <a:t>, </a:t>
            </a:r>
            <a:pPr algn="l" indent="0" marL="0">
              <a:buNone/>
            </a:pPr>
            <a:r>
              <a:rPr lang="en-US" sz="1300" b="1" dirty="0">
                <a:solidFill>
                  <a:srgbClr val="22262E"/>
                </a:solidFill>
                <a:highlight>
                  <a:srgbClr val="FFD970"/>
                </a:highlight>
                <a:latin typeface="Calibri" pitchFamily="34" charset="0"/>
                <a:ea typeface="Calibri" pitchFamily="34" charset="-122"/>
                <a:cs typeface="Calibri" pitchFamily="34" charset="-120"/>
              </a:rPr>
              <a:t>manufacture</a:t>
            </a:r>
            <a:pPr algn="l" indent="0" marL="0">
              <a:buNone/>
            </a:pPr>
            <a:r>
              <a:rPr lang="en-US" sz="1300" dirty="0">
                <a:solidFill>
                  <a:srgbClr val="22262E"/>
                </a:solidFill>
                <a:latin typeface="Calibri" pitchFamily="34" charset="0"/>
                <a:ea typeface="Calibri" pitchFamily="34" charset="-122"/>
                <a:cs typeface="Calibri" pitchFamily="34" charset="-120"/>
              </a:rPr>
              <a:t>, automobile}</a:t>
            </a:r>
            <a:endParaRPr lang="en-US" sz="1300" dirty="0"/>
          </a:p>
        </p:txBody>
      </p:sp>
      <p:sp>
        <p:nvSpPr>
          <p:cNvPr id="14" name="a2_wipe_250_275"/>
          <p:cNvSpPr/>
          <p:nvPr/>
        </p:nvSpPr>
        <p:spPr>
          <a:xfrm>
            <a:off x="457200" y="2697480"/>
            <a:ext cx="8229600" cy="530352"/>
          </a:xfrm>
          <a:prstGeom prst="roundRect">
            <a:avLst>
              <a:gd name="adj" fmla="val 2069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S2</a:t>
            </a:r>
            <a:pPr algn="l" indent="0" marL="0">
              <a:buNone/>
            </a:pPr>
            <a:r>
              <a:rPr lang="en-US" sz="1300" dirty="0">
                <a:solidFill>
                  <a:srgbClr val="22262E"/>
                </a:solidFill>
                <a:latin typeface="Calibri" pitchFamily="34" charset="0"/>
                <a:ea typeface="Calibri" pitchFamily="34" charset="-122"/>
                <a:cs typeface="Calibri" pitchFamily="34" charset="-120"/>
              </a:rPr>
              <a:t>    {botany, living, organism, lack, power, locomotion}</a:t>
            </a:r>
            <a:endParaRPr lang="en-US" sz="1300" dirty="0"/>
          </a:p>
        </p:txBody>
      </p:sp>
      <p:sp>
        <p:nvSpPr>
          <p:cNvPr id="15" name="a2_wipe_500_276"/>
          <p:cNvSpPr/>
          <p:nvPr/>
        </p:nvSpPr>
        <p:spPr>
          <a:xfrm>
            <a:off x="457200" y="3337560"/>
            <a:ext cx="8229600" cy="530352"/>
          </a:xfrm>
          <a:prstGeom prst="roundRect">
            <a:avLst>
              <a:gd name="adj" fmla="val 2069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S3</a:t>
            </a:r>
            <a:pPr algn="l" indent="0" marL="0">
              <a:buNone/>
            </a:pPr>
            <a:r>
              <a:rPr lang="en-US" sz="1300" dirty="0">
                <a:solidFill>
                  <a:srgbClr val="22262E"/>
                </a:solidFill>
                <a:latin typeface="Calibri" pitchFamily="34" charset="0"/>
                <a:ea typeface="Calibri" pitchFamily="34" charset="-122"/>
                <a:cs typeface="Calibri" pitchFamily="34" charset="-120"/>
              </a:rPr>
              <a:t>    {actor, situate, audience, act, rehearse, seem, spontaneous}</a:t>
            </a:r>
            <a:endParaRPr lang="en-US" sz="1300" dirty="0"/>
          </a:p>
        </p:txBody>
      </p:sp>
      <p:sp>
        <p:nvSpPr>
          <p:cNvPr id="16" name="a2_wipe_750_277"/>
          <p:cNvSpPr/>
          <p:nvPr/>
        </p:nvSpPr>
        <p:spPr>
          <a:xfrm>
            <a:off x="457200" y="3977640"/>
            <a:ext cx="8229600" cy="530352"/>
          </a:xfrm>
          <a:prstGeom prst="roundRect">
            <a:avLst>
              <a:gd name="adj" fmla="val 2069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S4</a:t>
            </a:r>
            <a:pPr algn="l" indent="0" marL="0">
              <a:buNone/>
            </a:pPr>
            <a:r>
              <a:rPr lang="en-US" sz="1300" dirty="0">
                <a:solidFill>
                  <a:srgbClr val="22262E"/>
                </a:solidFill>
                <a:latin typeface="Calibri" pitchFamily="34" charset="0"/>
                <a:ea typeface="Calibri" pitchFamily="34" charset="-122"/>
                <a:cs typeface="Calibri" pitchFamily="34" charset="-120"/>
              </a:rPr>
              <a:t>    {secretly, discovery, police, use, trick, thief, claim, evidence}</a:t>
            </a:r>
            <a:endParaRPr lang="en-US" sz="1300" dirty="0"/>
          </a:p>
        </p:txBody>
      </p:sp>
      <p:sp>
        <p:nvSpPr>
          <p:cNvPr id="17" name="Text 14"/>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53" presetClass="entr" presetSubtype="16"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500" fill="hold"/>
                                        <p:tgtEl>
                                          <p:spTgt spid="6"/>
                                        </p:tgtEl>
                                        <p:attrNameLst>
                                          <p:attrName>ppt_w</p:attrName>
                                        </p:attrNameLst>
                                      </p:cBhvr>
                                      <p:tavLst>
                                        <p:tav tm="0">
                                          <p:val>
                                            <p:fltVal val="0"/>
                                          </p:val>
                                        </p:tav>
                                        <p:tav tm="100000">
                                          <p:val>
                                            <p:strVal val="#ppt_w"/>
                                          </p:val>
                                        </p:tav>
                                      </p:tavLst>
                                    </p:anim>
                                    <p:anim calcmode="lin" valueType="num">
                                      <p:cBhvr additive="base">
                                        <p:cTn id="9" dur="500" fill="hold"/>
                                        <p:tgtEl>
                                          <p:spTgt spid="6"/>
                                        </p:tgtEl>
                                        <p:attrNameLst>
                                          <p:attrName>ppt_h</p:attrName>
                                        </p:attrNameLst>
                                      </p:cBhvr>
                                      <p:tavLst>
                                        <p:tav tm="0">
                                          <p:val>
                                            <p:fltVal val="0"/>
                                          </p:val>
                                        </p:tav>
                                        <p:tav tm="100000">
                                          <p:val>
                                            <p:strVal val="#ppt_h"/>
                                          </p:val>
                                        </p:tav>
                                      </p:tavLst>
                                    </p:anim>
                                    <p:animEffect transition="in" filter="fade">
                                      <p:cBhvr>
                                        <p:cTn id="10" dur="500"/>
                                        <p:tgtEl>
                                          <p:spTgt spid="6"/>
                                        </p:tgtEl>
                                      </p:cBhvr>
                                    </p:animEffect>
                                  </p:childTnLst>
                                </p:cTn>
                              </p:par>
                              <p:par>
                                <p:cTn id="11" presetID="53" presetClass="entr" presetSubtype="16" fill="hold" grpId="0" nodeType="withEffect">
                                  <p:stCondLst>
                                    <p:cond delay="22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53" presetClass="entr" presetSubtype="16" fill="hold" grpId="0" nodeType="withEffect">
                                  <p:stCondLst>
                                    <p:cond delay="34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46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ppt_w</p:attrName>
                                        </p:attrNameLst>
                                      </p:cBhvr>
                                      <p:tavLst>
                                        <p:tav tm="0">
                                          <p:val>
                                            <p:fltVal val="0"/>
                                          </p:val>
                                        </p:tav>
                                        <p:tav tm="100000">
                                          <p:val>
                                            <p:strVal val="#ppt_w"/>
                                          </p:val>
                                        </p:tav>
                                      </p:tavLst>
                                    </p:anim>
                                    <p:anim calcmode="lin" valueType="num">
                                      <p:cBhvr additive="base">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53" presetClass="entr" presetSubtype="16" fill="hold" grpId="0" nodeType="withEffect">
                                  <p:stCondLst>
                                    <p:cond delay="58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ppt_w</p:attrName>
                                        </p:attrNameLst>
                                      </p:cBhvr>
                                      <p:tavLst>
                                        <p:tav tm="0">
                                          <p:val>
                                            <p:fltVal val="0"/>
                                          </p:val>
                                        </p:tav>
                                        <p:tav tm="100000">
                                          <p:val>
                                            <p:strVal val="#ppt_w"/>
                                          </p:val>
                                        </p:tav>
                                      </p:tavLst>
                                    </p:anim>
                                    <p:anim calcmode="lin" valueType="num">
                                      <p:cBhvr additive="base">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70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ppt_w</p:attrName>
                                        </p:attrNameLst>
                                      </p:cBhvr>
                                      <p:tavLst>
                                        <p:tav tm="0">
                                          <p:val>
                                            <p:fltVal val="0"/>
                                          </p:val>
                                        </p:tav>
                                        <p:tav tm="100000">
                                          <p:val>
                                            <p:strVal val="#ppt_w"/>
                                          </p:val>
                                        </p:tav>
                                      </p:tavLst>
                                    </p:anim>
                                    <p:anim calcmode="lin" valueType="num">
                                      <p:cBhvr additive="base">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par>
                                <p:cTn id="44" presetID="22" presetClass="entr" presetSubtype="8" fill="hold" grpId="0" nodeType="withEffect">
                                  <p:stCondLst>
                                    <p:cond delay="25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par>
                                <p:cTn id="47" presetID="22" presetClass="entr" presetSubtype="8" fill="hold" grpId="0" nodeType="withEffect">
                                  <p:stCondLst>
                                    <p:cond delay="50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par>
                                <p:cTn id="50" presetID="22" presetClass="entr" presetSubtype="8" fill="hold" grpId="0" nodeType="withEffect">
                                  <p:stCondLst>
                                    <p:cond delay="75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2 · PART A</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Overlap scores</a:t>
            </a:r>
            <a:endParaRPr lang="en-US" sz="2800" dirty="0"/>
          </a:p>
        </p:txBody>
      </p:sp>
      <p:graphicFrame>
        <p:nvGraphicFramePr>
          <p:cNvPr id="5" name="Chart 0" descr=""/>
          <p:cNvGraphicFramePr/>
          <p:nvPr/>
        </p:nvGraphicFramePr>
        <p:xfrm>
          <a:off x="457200" y="114300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6" name="a1_zoom_0_278"/>
          <p:cNvSpPr/>
          <p:nvPr/>
        </p:nvSpPr>
        <p:spPr>
          <a:xfrm>
            <a:off x="5303520" y="1234440"/>
            <a:ext cx="3383280" cy="1188720"/>
          </a:xfrm>
          <a:prstGeom prst="roundRect">
            <a:avLst>
              <a:gd name="adj" fmla="val 9231"/>
            </a:avLst>
          </a:prstGeom>
          <a:solidFill>
            <a:srgbClr val="F4A30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500" b="1" dirty="0">
                <a:solidFill>
                  <a:srgbClr val="22262E"/>
                </a:solidFill>
                <a:latin typeface="Calibri" pitchFamily="34" charset="0"/>
                <a:ea typeface="Calibri" pitchFamily="34" charset="-122"/>
                <a:cs typeface="Calibri" pitchFamily="34" charset="-120"/>
              </a:rPr>
              <a:t>Winner: S1, industrial plant</a:t>
            </a:r>
            <a:pPr algn="l" indent="0" marL="0">
              <a:buNone/>
            </a:pPr>
            <a:endParaRPr lang="en-US" sz="1500" dirty="0"/>
          </a:p>
          <a:p>
            <a:pPr algn="l" indent="0" marL="0">
              <a:buNone/>
            </a:pPr>
            <a:r>
              <a:rPr lang="en-US" sz="1500" dirty="0">
                <a:solidFill>
                  <a:srgbClr val="22262E"/>
                </a:solidFill>
                <a:latin typeface="Calibri" pitchFamily="34" charset="0"/>
                <a:ea typeface="Calibri" pitchFamily="34" charset="-122"/>
                <a:cs typeface="Calibri" pitchFamily="34" charset="-120"/>
              </a:rPr>
              <a:t>{build, large, manufacture} = 3; all others 0</a:t>
            </a:r>
            <a:endParaRPr lang="en-US" sz="1500" dirty="0"/>
          </a:p>
        </p:txBody>
      </p:sp>
      <p:sp>
        <p:nvSpPr>
          <p:cNvPr id="7" name="a2_fly_0_279"/>
          <p:cNvSpPr/>
          <p:nvPr/>
        </p:nvSpPr>
        <p:spPr>
          <a:xfrm>
            <a:off x="5303520" y="2606040"/>
            <a:ext cx="3383280" cy="1234440"/>
          </a:xfrm>
          <a:prstGeom prst="roundRect">
            <a:avLst>
              <a:gd name="adj" fmla="val 8889"/>
            </a:avLst>
          </a:prstGeom>
          <a:solidFill>
            <a:srgbClr val="FDE6E1"/>
          </a:solidFill>
          <a:ln w="12700">
            <a:solidFill>
              <a:srgbClr val="D9503A"/>
            </a:solidFill>
          </a:ln>
        </p:spPr>
        <p:txBody>
          <a:bodyPr wrap="square" lIns="76810" tIns="128016" rIns="128016" bIns="76810" rtlCol="0" anchor="ctr"/>
          <a:lstStyle/>
          <a:p>
            <a:pPr algn="l" indent="0" marL="0">
              <a:buNone/>
            </a:pPr>
            <a:r>
              <a:rPr lang="en-US" sz="1300" dirty="0">
                <a:solidFill>
                  <a:srgbClr val="22262E"/>
                </a:solidFill>
                <a:latin typeface="Calibri" pitchFamily="34" charset="0"/>
                <a:ea typeface="Calibri" pitchFamily="34" charset="-122"/>
                <a:cs typeface="Calibri" pitchFamily="34" charset="-120"/>
              </a:rPr>
              <a:t>What did not match?</a:t>
            </a:r>
            <a:endParaRPr lang="en-US" sz="1300" dirty="0"/>
          </a:p>
          <a:p>
            <a:pPr algn="l" indent="0" marL="0">
              <a:buNone/>
            </a:pPr>
            <a:r>
              <a:rPr lang="en-US" sz="1300" dirty="0">
                <a:solidFill>
                  <a:srgbClr val="22262E"/>
                </a:solidFill>
                <a:latin typeface="Calibri" pitchFamily="34" charset="0"/>
                <a:ea typeface="Calibri" pitchFamily="34" charset="-122"/>
                <a:cs typeface="Calibri" pitchFamily="34" charset="-120"/>
              </a:rPr>
              <a:t>car ≠ automobile. Lesk needs exact (normalised) words, so synonyms are missed.</a:t>
            </a:r>
            <a:endParaRPr lang="en-US" sz="1300" dirty="0"/>
          </a:p>
        </p:txBody>
      </p:sp>
      <p:sp>
        <p:nvSpPr>
          <p:cNvPr id="8" name="a3_fade_0_280"/>
          <p:cNvSpPr/>
          <p:nvPr/>
        </p:nvSpPr>
        <p:spPr>
          <a:xfrm>
            <a:off x="5303520" y="4023360"/>
            <a:ext cx="3383280" cy="457200"/>
          </a:xfrm>
          <a:prstGeom prst="roundRect">
            <a:avLst>
              <a:gd name="adj" fmla="val 24000"/>
            </a:avLst>
          </a:prstGeom>
          <a:solidFill>
            <a:srgbClr val="E2F3F0"/>
          </a:solidFill>
          <a:ln/>
        </p:spPr>
        <p:txBody>
          <a:bodyPr wrap="square" lIns="76810" tIns="128016" rIns="128016" bIns="7681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Unique maximum → no tie to break</a:t>
            </a:r>
            <a:endParaRPr lang="en-US" sz="1300" dirty="0"/>
          </a:p>
        </p:txBody>
      </p:sp>
      <p:sp>
        <p:nvSpPr>
          <p:cNvPr id="9" name="Text 5"/>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 calcmode="lin" valueType="num">
                                      <p:cBhvr additive="base">
                                        <p:cTn id="5" dur="500" fill="hold"/>
                                        <p:tgtEl>
                                          <p:spTgt spid="6"/>
                                        </p:tgtEl>
                                        <p:attrNameLst>
                                          <p:attrName>ppt_w</p:attrName>
                                        </p:attrNameLst>
                                      </p:cBhvr>
                                      <p:tavLst>
                                        <p:tav tm="0">
                                          <p:val>
                                            <p:fltVal val="0"/>
                                          </p:val>
                                        </p:tav>
                                        <p:tav tm="100000">
                                          <p:val>
                                            <p:strVal val="#ppt_w"/>
                                          </p:val>
                                        </p:tav>
                                      </p:tavLst>
                                    </p:anim>
                                    <p:anim calcmode="lin" valueType="num">
                                      <p:cBhvr additive="base">
                                        <p:cTn id="6" dur="500" fill="hold"/>
                                        <p:tgtEl>
                                          <p:spTgt spid="6"/>
                                        </p:tgtEl>
                                        <p:attrNameLst>
                                          <p:attrName>ppt_h</p:attrName>
                                        </p:attrNameLst>
                                      </p:cBhvr>
                                      <p:tavLst>
                                        <p:tav tm="0">
                                          <p:val>
                                            <p:fltVal val="0"/>
                                          </p:val>
                                        </p:tav>
                                        <p:tav tm="100000">
                                          <p:val>
                                            <p:strVal val="#ppt_h"/>
                                          </p:val>
                                        </p:tav>
                                      </p:tavLst>
                                    </p:anim>
                                    <p:animEffect transition="in" filter="fade">
                                      <p:cBhvr>
                                        <p:cTn id="7"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9"/>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F4A300"/>
                </a:solidFill>
                <a:latin typeface="Calibri" pitchFamily="34" charset="0"/>
                <a:ea typeface="Calibri" pitchFamily="34" charset="-122"/>
                <a:cs typeface="Calibri" pitchFamily="34" charset="-120"/>
              </a:rPr>
              <a:t>EXAMPLE 2 · PART B</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Weight overlaps by IDF</a:t>
            </a:r>
            <a:endParaRPr lang="en-US" sz="2800" dirty="0"/>
          </a:p>
        </p:txBody>
      </p:sp>
      <p:sp>
        <p:nvSpPr>
          <p:cNvPr id="5" name="a1_zoom_0_281"/>
          <p:cNvSpPr/>
          <p:nvPr/>
        </p:nvSpPr>
        <p:spPr>
          <a:xfrm>
            <a:off x="457200" y="1143000"/>
            <a:ext cx="8229600" cy="640080"/>
          </a:xfrm>
          <a:prstGeom prst="roundRect">
            <a:avLst>
              <a:gd name="adj" fmla="val 17143"/>
            </a:avLst>
          </a:prstGeom>
          <a:solidFill>
            <a:srgbClr val="FFFFFF"/>
          </a:solidFill>
          <a:ln/>
        </p:spPr>
        <p:txBody>
          <a:bodyPr wrap="square" lIns="76810" tIns="128016" rIns="128016" bIns="76810" rtlCol="0" anchor="ctr"/>
          <a:lstStyle/>
          <a:p>
            <a:pPr algn="ctr" indent="0" marL="0">
              <a:buNone/>
            </a:pPr>
            <a:r>
              <a:rPr lang="en-US" sz="2000" b="1" dirty="0">
                <a:solidFill>
                  <a:srgbClr val="1B2A49"/>
                </a:solidFill>
                <a:latin typeface="Cambria" pitchFamily="34" charset="0"/>
                <a:ea typeface="Cambria" pitchFamily="34" charset="-122"/>
                <a:cs typeface="Cambria" pitchFamily="34" charset="-120"/>
              </a:rPr>
              <a:t>idf(w) = log( N / df(w) )      Score = Σ idf(w) over shared words</a:t>
            </a:r>
            <a:endParaRPr lang="en-US" sz="2000" dirty="0"/>
          </a:p>
        </p:txBody>
      </p:sp>
      <p:sp>
        <p:nvSpPr>
          <p:cNvPr id="6" name="a2_fade_0_282"/>
          <p:cNvSpPr txBox="1"/>
          <p:nvPr/>
        </p:nvSpPr>
        <p:spPr>
          <a:xfrm>
            <a:off x="731520" y="1938528"/>
            <a:ext cx="2286000" cy="274320"/>
          </a:xfrm>
          <a:prstGeom prst="rect">
            <a:avLst/>
          </a:prstGeom>
          <a:noFill/>
          <a:ln/>
        </p:spPr>
        <p:txBody>
          <a:bodyPr wrap="square" lIns="0" tIns="0" rIns="0" bIns="0" rtlCol="0" anchor="t"/>
          <a:lstStyle/>
          <a:p>
            <a:pPr indent="0" marL="0">
              <a:buNone/>
            </a:pPr>
            <a:r>
              <a:rPr lang="en-US" sz="1100" b="1" dirty="0">
                <a:solidFill>
                  <a:srgbClr val="8E9BB8"/>
                </a:solidFill>
                <a:latin typeface="Calibri" pitchFamily="34" charset="0"/>
                <a:ea typeface="Calibri" pitchFamily="34" charset="-122"/>
                <a:cs typeface="Calibri" pitchFamily="34" charset="-120"/>
              </a:rPr>
              <a:t>word</a:t>
            </a:r>
            <a:endParaRPr lang="en-US" sz="1100" dirty="0"/>
          </a:p>
        </p:txBody>
      </p:sp>
      <p:sp>
        <p:nvSpPr>
          <p:cNvPr id="7" name="a2_fade_0_283"/>
          <p:cNvSpPr txBox="1"/>
          <p:nvPr/>
        </p:nvSpPr>
        <p:spPr>
          <a:xfrm>
            <a:off x="3017520" y="1938528"/>
            <a:ext cx="1828800" cy="274320"/>
          </a:xfrm>
          <a:prstGeom prst="rect">
            <a:avLst/>
          </a:prstGeom>
          <a:noFill/>
          <a:ln/>
        </p:spPr>
        <p:txBody>
          <a:bodyPr wrap="square" lIns="0" tIns="0" rIns="0" bIns="0" rtlCol="0" anchor="t"/>
          <a:lstStyle/>
          <a:p>
            <a:pPr indent="0" marL="0">
              <a:buNone/>
            </a:pPr>
            <a:r>
              <a:rPr lang="en-US" sz="1100" b="1" dirty="0">
                <a:solidFill>
                  <a:srgbClr val="8E9BB8"/>
                </a:solidFill>
                <a:latin typeface="Calibri" pitchFamily="34" charset="0"/>
                <a:ea typeface="Calibri" pitchFamily="34" charset="-122"/>
                <a:cs typeface="Calibri" pitchFamily="34" charset="-120"/>
              </a:rPr>
              <a:t>df (N = 1000)</a:t>
            </a:r>
            <a:endParaRPr lang="en-US" sz="1100" dirty="0"/>
          </a:p>
        </p:txBody>
      </p:sp>
      <p:sp>
        <p:nvSpPr>
          <p:cNvPr id="8" name="a2_fade_0_284"/>
          <p:cNvSpPr txBox="1"/>
          <p:nvPr/>
        </p:nvSpPr>
        <p:spPr>
          <a:xfrm>
            <a:off x="5029200" y="1938528"/>
            <a:ext cx="2743200" cy="274320"/>
          </a:xfrm>
          <a:prstGeom prst="rect">
            <a:avLst/>
          </a:prstGeom>
          <a:noFill/>
          <a:ln/>
        </p:spPr>
        <p:txBody>
          <a:bodyPr wrap="square" lIns="0" tIns="0" rIns="0" bIns="0" rtlCol="0" anchor="t"/>
          <a:lstStyle/>
          <a:p>
            <a:pPr indent="0" marL="0">
              <a:buNone/>
            </a:pPr>
            <a:r>
              <a:rPr lang="en-US" sz="1100" b="1" dirty="0">
                <a:solidFill>
                  <a:srgbClr val="8E9BB8"/>
                </a:solidFill>
                <a:latin typeface="Calibri" pitchFamily="34" charset="0"/>
                <a:ea typeface="Calibri" pitchFamily="34" charset="-122"/>
                <a:cs typeface="Calibri" pitchFamily="34" charset="-120"/>
              </a:rPr>
              <a:t>idf</a:t>
            </a:r>
            <a:endParaRPr lang="en-US" sz="1100" dirty="0"/>
          </a:p>
        </p:txBody>
      </p:sp>
      <p:sp>
        <p:nvSpPr>
          <p:cNvPr id="9" name="a2_wipe_0_285"/>
          <p:cNvSpPr/>
          <p:nvPr/>
        </p:nvSpPr>
        <p:spPr>
          <a:xfrm>
            <a:off x="457200" y="2240280"/>
            <a:ext cx="5669280" cy="438912"/>
          </a:xfrm>
          <a:prstGeom prst="roundRect">
            <a:avLst>
              <a:gd name="adj" fmla="val 25000"/>
            </a:avLst>
          </a:prstGeom>
          <a:solidFill>
            <a:srgbClr val="27385F"/>
          </a:solidFill>
          <a:ln/>
        </p:spPr>
        <p:txBody>
          <a:bodyPr wrap="square" lIns="76810" tIns="128016" rIns="128016" bIns="76810" rtlCol="0" anchor="ctr"/>
          <a:lstStyle/>
          <a:p>
            <a:pPr algn="l" indent="0" marL="0">
              <a:buNone/>
            </a:pPr>
            <a:endParaRPr lang="en-US" sz="1300" dirty="0"/>
          </a:p>
        </p:txBody>
      </p:sp>
      <p:sp>
        <p:nvSpPr>
          <p:cNvPr id="10" name="a2_fade_100_286"/>
          <p:cNvSpPr txBox="1"/>
          <p:nvPr/>
        </p:nvSpPr>
        <p:spPr>
          <a:xfrm>
            <a:off x="731520" y="2276856"/>
            <a:ext cx="2194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11" name="a2_fade_100_287"/>
          <p:cNvSpPr txBox="1"/>
          <p:nvPr/>
        </p:nvSpPr>
        <p:spPr>
          <a:xfrm>
            <a:off x="3017520" y="2276856"/>
            <a:ext cx="164592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120</a:t>
            </a:r>
            <a:endParaRPr lang="en-US" sz="1500" dirty="0"/>
          </a:p>
        </p:txBody>
      </p:sp>
      <p:sp>
        <p:nvSpPr>
          <p:cNvPr id="12" name="a2_fade_100_288"/>
          <p:cNvSpPr txBox="1"/>
          <p:nvPr/>
        </p:nvSpPr>
        <p:spPr>
          <a:xfrm>
            <a:off x="5029200" y="2276856"/>
            <a:ext cx="146304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ln(8.33) = 2.120</a:t>
            </a:r>
            <a:endParaRPr lang="en-US" sz="1300" dirty="0"/>
          </a:p>
        </p:txBody>
      </p:sp>
      <p:sp>
        <p:nvSpPr>
          <p:cNvPr id="13" name="a2_wipe_250_289"/>
          <p:cNvSpPr/>
          <p:nvPr/>
        </p:nvSpPr>
        <p:spPr>
          <a:xfrm>
            <a:off x="457200" y="2770632"/>
            <a:ext cx="5669280" cy="438912"/>
          </a:xfrm>
          <a:prstGeom prst="roundRect">
            <a:avLst>
              <a:gd name="adj" fmla="val 25000"/>
            </a:avLst>
          </a:prstGeom>
          <a:solidFill>
            <a:srgbClr val="27385F"/>
          </a:solidFill>
          <a:ln/>
        </p:spPr>
        <p:txBody>
          <a:bodyPr wrap="square" lIns="76810" tIns="128016" rIns="128016" bIns="76810" rtlCol="0" anchor="ctr"/>
          <a:lstStyle/>
          <a:p>
            <a:pPr algn="l" indent="0" marL="0">
              <a:buNone/>
            </a:pPr>
            <a:endParaRPr lang="en-US" sz="1300" dirty="0"/>
          </a:p>
        </p:txBody>
      </p:sp>
      <p:sp>
        <p:nvSpPr>
          <p:cNvPr id="14" name="a2_fade_350_290"/>
          <p:cNvSpPr txBox="1"/>
          <p:nvPr/>
        </p:nvSpPr>
        <p:spPr>
          <a:xfrm>
            <a:off x="731520" y="2807208"/>
            <a:ext cx="2194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large</a:t>
            </a:r>
            <a:endParaRPr lang="en-US" sz="1500" dirty="0"/>
          </a:p>
        </p:txBody>
      </p:sp>
      <p:sp>
        <p:nvSpPr>
          <p:cNvPr id="15" name="a2_fade_350_291"/>
          <p:cNvSpPr txBox="1"/>
          <p:nvPr/>
        </p:nvSpPr>
        <p:spPr>
          <a:xfrm>
            <a:off x="3017520" y="2807208"/>
            <a:ext cx="164592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200</a:t>
            </a:r>
            <a:endParaRPr lang="en-US" sz="1500" dirty="0"/>
          </a:p>
        </p:txBody>
      </p:sp>
      <p:sp>
        <p:nvSpPr>
          <p:cNvPr id="16" name="a2_fade_350_292"/>
          <p:cNvSpPr txBox="1"/>
          <p:nvPr/>
        </p:nvSpPr>
        <p:spPr>
          <a:xfrm>
            <a:off x="5029200" y="2807208"/>
            <a:ext cx="146304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ln(5) = 1.609</a:t>
            </a:r>
            <a:endParaRPr lang="en-US" sz="1300" dirty="0"/>
          </a:p>
        </p:txBody>
      </p:sp>
      <p:sp>
        <p:nvSpPr>
          <p:cNvPr id="17" name="a2_wipe_500_293"/>
          <p:cNvSpPr/>
          <p:nvPr/>
        </p:nvSpPr>
        <p:spPr>
          <a:xfrm>
            <a:off x="457200" y="3300984"/>
            <a:ext cx="5669280" cy="438912"/>
          </a:xfrm>
          <a:prstGeom prst="roundRect">
            <a:avLst>
              <a:gd name="adj" fmla="val 25000"/>
            </a:avLst>
          </a:prstGeom>
          <a:solidFill>
            <a:srgbClr val="27385F"/>
          </a:solidFill>
          <a:ln/>
        </p:spPr>
        <p:txBody>
          <a:bodyPr wrap="square" lIns="76810" tIns="128016" rIns="128016" bIns="76810" rtlCol="0" anchor="ctr"/>
          <a:lstStyle/>
          <a:p>
            <a:pPr algn="l" indent="0" marL="0">
              <a:buNone/>
            </a:pPr>
            <a:endParaRPr lang="en-US" sz="1300" dirty="0"/>
          </a:p>
        </p:txBody>
      </p:sp>
      <p:sp>
        <p:nvSpPr>
          <p:cNvPr id="18" name="a2_fade_600_294"/>
          <p:cNvSpPr txBox="1"/>
          <p:nvPr/>
        </p:nvSpPr>
        <p:spPr>
          <a:xfrm>
            <a:off x="731520" y="3337560"/>
            <a:ext cx="2194560" cy="365760"/>
          </a:xfrm>
          <a:prstGeom prst="rect">
            <a:avLst/>
          </a:prstGeom>
          <a:noFill/>
          <a:ln/>
        </p:spPr>
        <p:txBody>
          <a:bodyPr wrap="square" lIns="0" tIns="0" rIns="0" bIns="0" rtlCol="0" anchor="ctr"/>
          <a:lstStyle/>
          <a:p>
            <a:pPr indent="0" marL="0">
              <a:buNone/>
            </a:pPr>
            <a:r>
              <a:rPr lang="en-US" sz="1500" b="1" dirty="0">
                <a:solidFill>
                  <a:srgbClr val="F4A300"/>
                </a:solidFill>
                <a:latin typeface="Calibri" pitchFamily="34" charset="0"/>
                <a:ea typeface="Calibri" pitchFamily="34" charset="-122"/>
                <a:cs typeface="Calibri" pitchFamily="34" charset="-120"/>
              </a:rPr>
              <a:t>manufacture</a:t>
            </a:r>
            <a:endParaRPr lang="en-US" sz="1500" dirty="0"/>
          </a:p>
        </p:txBody>
      </p:sp>
      <p:sp>
        <p:nvSpPr>
          <p:cNvPr id="19" name="a2_fade_600_295"/>
          <p:cNvSpPr txBox="1"/>
          <p:nvPr/>
        </p:nvSpPr>
        <p:spPr>
          <a:xfrm>
            <a:off x="3017520" y="3337560"/>
            <a:ext cx="164592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25</a:t>
            </a:r>
            <a:endParaRPr lang="en-US" sz="1500" dirty="0"/>
          </a:p>
        </p:txBody>
      </p:sp>
      <p:sp>
        <p:nvSpPr>
          <p:cNvPr id="20" name="a2_fade_600_296"/>
          <p:cNvSpPr txBox="1"/>
          <p:nvPr/>
        </p:nvSpPr>
        <p:spPr>
          <a:xfrm>
            <a:off x="5029200" y="3337560"/>
            <a:ext cx="146304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ln(40) = 3.689</a:t>
            </a:r>
            <a:endParaRPr lang="en-US" sz="1300" dirty="0"/>
          </a:p>
        </p:txBody>
      </p:sp>
      <p:sp>
        <p:nvSpPr>
          <p:cNvPr id="21" name="a3_zoom_0_297"/>
          <p:cNvSpPr/>
          <p:nvPr/>
        </p:nvSpPr>
        <p:spPr>
          <a:xfrm>
            <a:off x="457200" y="3931920"/>
            <a:ext cx="5669280" cy="548640"/>
          </a:xfrm>
          <a:prstGeom prst="roundRect">
            <a:avLst>
              <a:gd name="adj" fmla="val 20000"/>
            </a:avLst>
          </a:prstGeom>
          <a:solidFill>
            <a:srgbClr val="F4A300"/>
          </a:solidFill>
          <a:ln/>
        </p:spPr>
        <p:txBody>
          <a:bodyPr wrap="square" lIns="76810" tIns="128016" rIns="128016" bIns="76810" rtlCol="0" anchor="ctr"/>
          <a:lstStyle/>
          <a:p>
            <a:pPr algn="ctr" indent="0" marL="0">
              <a:buNone/>
            </a:pPr>
            <a:r>
              <a:rPr lang="en-US" sz="1500" dirty="0">
                <a:solidFill>
                  <a:srgbClr val="22262E"/>
                </a:solidFill>
                <a:latin typeface="Calibri" pitchFamily="34" charset="0"/>
                <a:ea typeface="Calibri" pitchFamily="34" charset="-122"/>
                <a:cs typeface="Calibri" pitchFamily="34" charset="-120"/>
              </a:rPr>
              <a:t>Score(S1) ≈ 2.120 + 1.609 + 3.689 = </a:t>
            </a:r>
            <a:pPr algn="ctr" indent="0" marL="0">
              <a:buNone/>
            </a:pPr>
            <a:r>
              <a:rPr lang="en-US" sz="1500" b="1" dirty="0">
                <a:solidFill>
                  <a:srgbClr val="22262E"/>
                </a:solidFill>
                <a:latin typeface="Calibri" pitchFamily="34" charset="0"/>
                <a:ea typeface="Calibri" pitchFamily="34" charset="-122"/>
                <a:cs typeface="Calibri" pitchFamily="34" charset="-120"/>
              </a:rPr>
              <a:t>7.42</a:t>
            </a:r>
            <a:pPr algn="ctr" indent="0" marL="0">
              <a:buNone/>
            </a:pPr>
            <a:r>
              <a:rPr lang="en-US" sz="1500" dirty="0">
                <a:solidFill>
                  <a:srgbClr val="22262E"/>
                </a:solidFill>
                <a:latin typeface="Calibri" pitchFamily="34" charset="0"/>
                <a:ea typeface="Calibri" pitchFamily="34" charset="-122"/>
                <a:cs typeface="Calibri" pitchFamily="34" charset="-120"/>
              </a:rPr>
              <a:t>   (S2 = S3 = S4 = 0)</a:t>
            </a:r>
            <a:endParaRPr lang="en-US" sz="1500" dirty="0"/>
          </a:p>
        </p:txBody>
      </p:sp>
      <p:sp>
        <p:nvSpPr>
          <p:cNvPr id="22" name="a4_fly_0_298"/>
          <p:cNvSpPr/>
          <p:nvPr/>
        </p:nvSpPr>
        <p:spPr>
          <a:xfrm>
            <a:off x="6400800" y="2240280"/>
            <a:ext cx="2286000" cy="2240280"/>
          </a:xfrm>
          <a:prstGeom prst="roundRect">
            <a:avLst>
              <a:gd name="adj" fmla="val 4898"/>
            </a:avLst>
          </a:prstGeom>
          <a:solidFill>
            <a:srgbClr val="1F8A7D"/>
          </a:solidFill>
          <a:ln/>
        </p:spPr>
        <p:txBody>
          <a:bodyPr wrap="square" lIns="76810" tIns="128016" rIns="128016" bIns="7681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manufacture is worth 2.3× large</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DF values are assumed for this exercise</a:t>
            </a:r>
            <a:endParaRPr lang="en-US" sz="1300" dirty="0"/>
          </a:p>
        </p:txBody>
      </p:sp>
      <p:sp>
        <p:nvSpPr>
          <p:cNvPr id="23" name="Text 2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BB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500" fill="hold"/>
                                        <p:tgtEl>
                                          <p:spTgt spid="5"/>
                                        </p:tgtEl>
                                        <p:attrNameLst>
                                          <p:attrName>ppt_w</p:attrName>
                                        </p:attrNameLst>
                                      </p:cBhvr>
                                      <p:tavLst>
                                        <p:tav tm="0">
                                          <p:val>
                                            <p:fltVal val="0"/>
                                          </p:val>
                                        </p:tav>
                                        <p:tav tm="100000">
                                          <p:val>
                                            <p:strVal val="#ppt_w"/>
                                          </p:val>
                                        </p:tav>
                                      </p:tavLst>
                                    </p:anim>
                                    <p:anim calcmode="lin" valueType="num">
                                      <p:cBhvr additive="base">
                                        <p:cTn id="6" dur="500" fill="hold"/>
                                        <p:tgtEl>
                                          <p:spTgt spid="5"/>
                                        </p:tgtEl>
                                        <p:attrNameLst>
                                          <p:attrName>ppt_h</p:attrName>
                                        </p:attrNameLst>
                                      </p:cBhvr>
                                      <p:tavLst>
                                        <p:tav tm="0">
                                          <p:val>
                                            <p:fltVal val="0"/>
                                          </p:val>
                                        </p:tav>
                                        <p:tav tm="100000">
                                          <p:val>
                                            <p:strVal val="#ppt_h"/>
                                          </p:val>
                                        </p:tav>
                                      </p:tavLst>
                                    </p:anim>
                                    <p:animEffect transition="in" filter="fade">
                                      <p:cBhvr>
                                        <p:cTn id="7"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par>
                                <p:cTn id="22" presetID="10" presetClass="entr" presetSubtype="0" fill="hold" grpId="0" nodeType="withEffect">
                                  <p:stCondLst>
                                    <p:cond delay="1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1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1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22" presetClass="entr" presetSubtype="8" fill="hold" grpId="0" nodeType="withEffect">
                                  <p:stCondLst>
                                    <p:cond delay="25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par>
                                <p:cTn id="34" presetID="10" presetClass="entr" presetSubtype="0" fill="hold" grpId="0" nodeType="withEffect">
                                  <p:stCondLst>
                                    <p:cond delay="35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35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35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22" presetClass="entr" presetSubtype="8" fill="hold" grpId="0" nodeType="withEffect">
                                  <p:stCondLst>
                                    <p:cond delay="50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par>
                                <p:cTn id="46" presetID="10" presetClass="entr" presetSubtype="0" fill="hold" grpId="0" nodeType="withEffect">
                                  <p:stCondLst>
                                    <p:cond delay="60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60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60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ppt_w</p:attrName>
                                        </p:attrNameLst>
                                      </p:cBhvr>
                                      <p:tavLst>
                                        <p:tav tm="0">
                                          <p:val>
                                            <p:fltVal val="0"/>
                                          </p:val>
                                        </p:tav>
                                        <p:tav tm="100000">
                                          <p:val>
                                            <p:strVal val="#ppt_w"/>
                                          </p:val>
                                        </p:tav>
                                      </p:tavLst>
                                    </p:anim>
                                    <p:anim calcmode="lin" valueType="num">
                                      <p:cBhvr additive="base">
                                        <p:cTn id="60" dur="500" fill="hold"/>
                                        <p:tgtEl>
                                          <p:spTgt spid="21"/>
                                        </p:tgtEl>
                                        <p:attrNameLst>
                                          <p:attrName>ppt_h</p:attrName>
                                        </p:attrNameLst>
                                      </p:cBhvr>
                                      <p:tavLst>
                                        <p:tav tm="0">
                                          <p:val>
                                            <p:fltVal val="0"/>
                                          </p:val>
                                        </p:tav>
                                        <p:tav tm="100000">
                                          <p:val>
                                            <p:strVal val="#ppt_h"/>
                                          </p:val>
                                        </p:tav>
                                      </p:tavLst>
                                    </p:anim>
                                    <p:animEffect transition="in" filter="fade">
                                      <p:cBhvr>
                                        <p:cTn id="61"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EXAMPLE 2 · PART C</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When simplified Lesk fails</a:t>
            </a:r>
            <a:endParaRPr lang="en-US" sz="2800" dirty="0"/>
          </a:p>
        </p:txBody>
      </p:sp>
      <p:sp>
        <p:nvSpPr>
          <p:cNvPr id="5" name="a1_fade_0_299"/>
          <p:cNvSpPr/>
          <p:nvPr/>
        </p:nvSpPr>
        <p:spPr>
          <a:xfrm>
            <a:off x="457200" y="1188720"/>
            <a:ext cx="8229600" cy="548640"/>
          </a:xfrm>
          <a:prstGeom prst="roundRect">
            <a:avLst>
              <a:gd name="adj" fmla="val 20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800" dirty="0">
                <a:solidFill>
                  <a:srgbClr val="22262E"/>
                </a:solidFill>
                <a:latin typeface="Calibri" pitchFamily="34" charset="0"/>
                <a:ea typeface="Calibri" pitchFamily="34" charset="-122"/>
                <a:cs typeface="Calibri" pitchFamily="34" charset="-120"/>
              </a:rPr>
              <a:t>“He watered the plant.”      C = { water }</a:t>
            </a:r>
            <a:endParaRPr lang="en-US" sz="1800" dirty="0"/>
          </a:p>
        </p:txBody>
      </p:sp>
      <p:sp>
        <p:nvSpPr>
          <p:cNvPr id="6" name="a1_zoom_300_300"/>
          <p:cNvSpPr/>
          <p:nvPr/>
        </p:nvSpPr>
        <p:spPr>
          <a:xfrm>
            <a:off x="457200" y="1920240"/>
            <a:ext cx="1938528" cy="502920"/>
          </a:xfrm>
          <a:prstGeom prst="roundRect">
            <a:avLst>
              <a:gd name="adj" fmla="val 21818"/>
            </a:avLst>
          </a:prstGeom>
          <a:solidFill>
            <a:srgbClr val="C9D0DC"/>
          </a:solidFill>
          <a:ln/>
        </p:spPr>
        <p:txBody>
          <a:bodyPr wrap="square" lIns="76810" tIns="128016" rIns="128016" bIns="7681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S1</a:t>
            </a:r>
            <a:pPr algn="ctr" indent="0" marL="0">
              <a:buNone/>
            </a:pPr>
            <a:r>
              <a:rPr lang="en-US" sz="1400" dirty="0">
                <a:solidFill>
                  <a:srgbClr val="22262E"/>
                </a:solidFill>
                <a:latin typeface="Calibri" pitchFamily="34" charset="0"/>
                <a:ea typeface="Calibri" pitchFamily="34" charset="-122"/>
                <a:cs typeface="Calibri" pitchFamily="34" charset="-120"/>
              </a:rPr>
              <a:t>   overlap = </a:t>
            </a:r>
            <a:pPr algn="ctr" indent="0" marL="0">
              <a:buNone/>
            </a:pP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7" name="a1_zoom_500_301"/>
          <p:cNvSpPr/>
          <p:nvPr/>
        </p:nvSpPr>
        <p:spPr>
          <a:xfrm>
            <a:off x="2542032" y="1920240"/>
            <a:ext cx="1938528" cy="502920"/>
          </a:xfrm>
          <a:prstGeom prst="roundRect">
            <a:avLst>
              <a:gd name="adj" fmla="val 21818"/>
            </a:avLst>
          </a:prstGeom>
          <a:solidFill>
            <a:srgbClr val="C9D0DC"/>
          </a:solidFill>
          <a:ln/>
        </p:spPr>
        <p:txBody>
          <a:bodyPr wrap="square" lIns="76810" tIns="128016" rIns="128016" bIns="7681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S2</a:t>
            </a:r>
            <a:pPr algn="ctr" indent="0" marL="0">
              <a:buNone/>
            </a:pPr>
            <a:r>
              <a:rPr lang="en-US" sz="1400" dirty="0">
                <a:solidFill>
                  <a:srgbClr val="22262E"/>
                </a:solidFill>
                <a:latin typeface="Calibri" pitchFamily="34" charset="0"/>
                <a:ea typeface="Calibri" pitchFamily="34" charset="-122"/>
                <a:cs typeface="Calibri" pitchFamily="34" charset="-120"/>
              </a:rPr>
              <a:t>   overlap = </a:t>
            </a:r>
            <a:pPr algn="ctr" indent="0" marL="0">
              <a:buNone/>
            </a:pP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8" name="a1_zoom_700_302"/>
          <p:cNvSpPr/>
          <p:nvPr/>
        </p:nvSpPr>
        <p:spPr>
          <a:xfrm>
            <a:off x="4626864" y="1920240"/>
            <a:ext cx="1938528" cy="502920"/>
          </a:xfrm>
          <a:prstGeom prst="roundRect">
            <a:avLst>
              <a:gd name="adj" fmla="val 21818"/>
            </a:avLst>
          </a:prstGeom>
          <a:solidFill>
            <a:srgbClr val="C9D0DC"/>
          </a:solidFill>
          <a:ln/>
        </p:spPr>
        <p:txBody>
          <a:bodyPr wrap="square" lIns="76810" tIns="128016" rIns="128016" bIns="7681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S3</a:t>
            </a:r>
            <a:pPr algn="ctr" indent="0" marL="0">
              <a:buNone/>
            </a:pPr>
            <a:r>
              <a:rPr lang="en-US" sz="1400" dirty="0">
                <a:solidFill>
                  <a:srgbClr val="22262E"/>
                </a:solidFill>
                <a:latin typeface="Calibri" pitchFamily="34" charset="0"/>
                <a:ea typeface="Calibri" pitchFamily="34" charset="-122"/>
                <a:cs typeface="Calibri" pitchFamily="34" charset="-120"/>
              </a:rPr>
              <a:t>   overlap = </a:t>
            </a:r>
            <a:pPr algn="ctr" indent="0" marL="0">
              <a:buNone/>
            </a:pP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9" name="a1_zoom_900_303"/>
          <p:cNvSpPr/>
          <p:nvPr/>
        </p:nvSpPr>
        <p:spPr>
          <a:xfrm>
            <a:off x="6711696" y="1920240"/>
            <a:ext cx="1938528" cy="502920"/>
          </a:xfrm>
          <a:prstGeom prst="roundRect">
            <a:avLst>
              <a:gd name="adj" fmla="val 21818"/>
            </a:avLst>
          </a:prstGeom>
          <a:solidFill>
            <a:srgbClr val="C9D0DC"/>
          </a:solidFill>
          <a:ln/>
        </p:spPr>
        <p:txBody>
          <a:bodyPr wrap="square" lIns="76810" tIns="128016" rIns="128016" bIns="7681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S4</a:t>
            </a:r>
            <a:pPr algn="ctr" indent="0" marL="0">
              <a:buNone/>
            </a:pPr>
            <a:r>
              <a:rPr lang="en-US" sz="1400" dirty="0">
                <a:solidFill>
                  <a:srgbClr val="22262E"/>
                </a:solidFill>
                <a:latin typeface="Calibri" pitchFamily="34" charset="0"/>
                <a:ea typeface="Calibri" pitchFamily="34" charset="-122"/>
                <a:cs typeface="Calibri" pitchFamily="34" charset="-120"/>
              </a:rPr>
              <a:t>   overlap = </a:t>
            </a:r>
            <a:pPr algn="ctr" indent="0" marL="0">
              <a:buNone/>
            </a:pP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10" name="a2_zoom_0_304"/>
          <p:cNvSpPr/>
          <p:nvPr/>
        </p:nvSpPr>
        <p:spPr>
          <a:xfrm>
            <a:off x="457200" y="2606040"/>
            <a:ext cx="8229600" cy="685800"/>
          </a:xfrm>
          <a:prstGeom prst="roundRect">
            <a:avLst>
              <a:gd name="adj" fmla="val 16000"/>
            </a:avLst>
          </a:prstGeom>
          <a:solidFill>
            <a:srgbClr val="D9503A"/>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All scores 0  →  back-off to the most frequent sense </a:t>
            </a:r>
            <a:pPr algn="ctr" indent="0" marL="0">
              <a:buNone/>
            </a:pPr>
            <a:r>
              <a:rPr lang="en-US" sz="1800" b="1" dirty="0">
                <a:solidFill>
                  <a:srgbClr val="FFFFFF"/>
                </a:solidFill>
                <a:latin typeface="Calibri" pitchFamily="34" charset="0"/>
                <a:ea typeface="Calibri" pitchFamily="34" charset="-122"/>
                <a:cs typeface="Calibri" pitchFamily="34" charset="-120"/>
              </a:rPr>
              <a:t>S1 (industrial)</a:t>
            </a:r>
            <a:pPr algn="ctr" indent="0" marL="0">
              <a:buNone/>
            </a:pPr>
            <a:r>
              <a:rPr lang="en-US" sz="1800" dirty="0">
                <a:solidFill>
                  <a:srgbClr val="FFFFFF"/>
                </a:solidFill>
                <a:latin typeface="Calibri" pitchFamily="34" charset="0"/>
                <a:ea typeface="Calibri" pitchFamily="34" charset="-122"/>
                <a:cs typeface="Calibri" pitchFamily="34" charset="-120"/>
              </a:rPr>
              <a:t>   ✗ WRONG</a:t>
            </a:r>
            <a:endParaRPr lang="en-US" sz="1800" dirty="0"/>
          </a:p>
        </p:txBody>
      </p:sp>
      <p:sp>
        <p:nvSpPr>
          <p:cNvPr id="11" name="a2_fade_400_305"/>
          <p:cNvSpPr txBox="1"/>
          <p:nvPr/>
        </p:nvSpPr>
        <p:spPr>
          <a:xfrm>
            <a:off x="457200" y="3401568"/>
            <a:ext cx="8229600" cy="320040"/>
          </a:xfrm>
          <a:prstGeom prst="rect">
            <a:avLst/>
          </a:prstGeom>
          <a:noFill/>
          <a:ln/>
        </p:spPr>
        <p:txBody>
          <a:bodyPr wrap="square" lIns="0" tIns="0" rIns="0" bIns="0" rtlCol="0" anchor="t"/>
          <a:lstStyle/>
          <a:p>
            <a:pPr indent="0" marL="0">
              <a:buNone/>
            </a:pPr>
            <a:r>
              <a:rPr lang="en-US" sz="1300" i="1" dirty="0">
                <a:solidFill>
                  <a:srgbClr val="5B6577"/>
                </a:solidFill>
                <a:latin typeface="Calibri" pitchFamily="34" charset="0"/>
                <a:ea typeface="Calibri" pitchFamily="34" charset="-122"/>
                <a:cs typeface="Calibri" pitchFamily="34" charset="-120"/>
              </a:rPr>
              <a:t>Why: S2 has a one-line gloss and no example, so water is not in its signature.</a:t>
            </a:r>
            <a:endParaRPr lang="en-US" sz="1300" dirty="0"/>
          </a:p>
        </p:txBody>
      </p:sp>
      <p:sp>
        <p:nvSpPr>
          <p:cNvPr id="12" name="a3_fly_0_306"/>
          <p:cNvSpPr/>
          <p:nvPr/>
        </p:nvSpPr>
        <p:spPr>
          <a:xfrm>
            <a:off x="457200" y="3794760"/>
            <a:ext cx="2606040" cy="822960"/>
          </a:xfrm>
          <a:prstGeom prst="roundRect">
            <a:avLst>
              <a:gd name="adj" fmla="val 13333"/>
            </a:avLst>
          </a:prstGeom>
          <a:solidFill>
            <a:srgbClr val="E2F3F0"/>
          </a:solidFill>
          <a:ln/>
        </p:spPr>
        <p:txBody>
          <a:bodyPr wrap="square" lIns="76810" tIns="128016" rIns="128016" bIns="76810" rtlCol="0" anchor="ctr"/>
          <a:lstStyle/>
          <a:p>
            <a:pPr algn="l" indent="0" marL="0">
              <a:buNone/>
            </a:pPr>
            <a:r>
              <a:rPr lang="en-US" sz="1200" b="1" dirty="0">
                <a:solidFill>
                  <a:srgbClr val="22262E"/>
                </a:solidFill>
                <a:latin typeface="Calibri" pitchFamily="34" charset="0"/>
                <a:ea typeface="Calibri" pitchFamily="34" charset="-122"/>
                <a:cs typeface="Calibri" pitchFamily="34" charset="-120"/>
              </a:rPr>
              <a:t>Corpus Lesk</a:t>
            </a:r>
            <a:pPr algn="l" indent="0" marL="0">
              <a:buNone/>
            </a:pPr>
            <a:endParaRPr lang="en-US" sz="1200" dirty="0"/>
          </a:p>
          <a:p>
            <a:pPr algn="l" indent="0" marL="0">
              <a:buNone/>
            </a:pPr>
            <a:r>
              <a:rPr lang="en-US" sz="1200" dirty="0">
                <a:solidFill>
                  <a:srgbClr val="22262E"/>
                </a:solidFill>
                <a:latin typeface="Calibri" pitchFamily="34" charset="0"/>
                <a:ea typeface="Calibri" pitchFamily="34" charset="-122"/>
                <a:cs typeface="Calibri" pitchFamily="34" charset="-120"/>
              </a:rPr>
              <a:t>add labelled sentences about living plants</a:t>
            </a:r>
            <a:endParaRPr lang="en-US" sz="1200" dirty="0"/>
          </a:p>
        </p:txBody>
      </p:sp>
      <p:sp>
        <p:nvSpPr>
          <p:cNvPr id="13" name="a3_fly_250_307"/>
          <p:cNvSpPr/>
          <p:nvPr/>
        </p:nvSpPr>
        <p:spPr>
          <a:xfrm>
            <a:off x="3246120" y="3794760"/>
            <a:ext cx="2606040" cy="822960"/>
          </a:xfrm>
          <a:prstGeom prst="roundRect">
            <a:avLst>
              <a:gd name="adj" fmla="val 13333"/>
            </a:avLst>
          </a:prstGeom>
          <a:solidFill>
            <a:srgbClr val="E2F3F0"/>
          </a:solidFill>
          <a:ln/>
        </p:spPr>
        <p:txBody>
          <a:bodyPr wrap="square" lIns="76810" tIns="128016" rIns="128016" bIns="76810" rtlCol="0" anchor="ctr"/>
          <a:lstStyle/>
          <a:p>
            <a:pPr algn="l" indent="0" marL="0">
              <a:buNone/>
            </a:pPr>
            <a:r>
              <a:rPr lang="en-US" sz="1200" b="1" dirty="0">
                <a:solidFill>
                  <a:srgbClr val="22262E"/>
                </a:solidFill>
                <a:latin typeface="Calibri" pitchFamily="34" charset="0"/>
                <a:ea typeface="Calibri" pitchFamily="34" charset="-122"/>
                <a:cs typeface="Calibri" pitchFamily="34" charset="-120"/>
              </a:rPr>
              <a:t>Extended Lesk</a:t>
            </a:r>
            <a:pPr algn="l" indent="0" marL="0">
              <a:buNone/>
            </a:pPr>
            <a:endParaRPr lang="en-US" sz="1200" dirty="0"/>
          </a:p>
          <a:p>
            <a:pPr algn="l" indent="0" marL="0">
              <a:buNone/>
            </a:pPr>
            <a:r>
              <a:rPr lang="en-US" sz="1200" dirty="0">
                <a:solidFill>
                  <a:srgbClr val="22262E"/>
                </a:solidFill>
                <a:latin typeface="Calibri" pitchFamily="34" charset="0"/>
                <a:ea typeface="Calibri" pitchFamily="34" charset="-122"/>
                <a:cs typeface="Calibri" pitchFamily="34" charset="-120"/>
              </a:rPr>
              <a:t>add glosses of related synsets</a:t>
            </a:r>
            <a:endParaRPr lang="en-US" sz="1200" dirty="0"/>
          </a:p>
        </p:txBody>
      </p:sp>
      <p:sp>
        <p:nvSpPr>
          <p:cNvPr id="14" name="a3_fly_500_308"/>
          <p:cNvSpPr/>
          <p:nvPr/>
        </p:nvSpPr>
        <p:spPr>
          <a:xfrm>
            <a:off x="6035040" y="3794760"/>
            <a:ext cx="2606040" cy="822960"/>
          </a:xfrm>
          <a:prstGeom prst="roundRect">
            <a:avLst>
              <a:gd name="adj" fmla="val 13333"/>
            </a:avLst>
          </a:prstGeom>
          <a:solidFill>
            <a:srgbClr val="E2F3F0"/>
          </a:solidFill>
          <a:ln/>
        </p:spPr>
        <p:txBody>
          <a:bodyPr wrap="square" lIns="76810" tIns="128016" rIns="128016" bIns="76810" rtlCol="0" anchor="ctr"/>
          <a:lstStyle/>
          <a:p>
            <a:pPr algn="l" indent="0" marL="0">
              <a:buNone/>
            </a:pPr>
            <a:r>
              <a:rPr lang="en-US" sz="1200" b="1" dirty="0">
                <a:solidFill>
                  <a:srgbClr val="22262E"/>
                </a:solidFill>
                <a:latin typeface="Calibri" pitchFamily="34" charset="0"/>
                <a:ea typeface="Calibri" pitchFamily="34" charset="-122"/>
                <a:cs typeface="Calibri" pitchFamily="34" charset="-120"/>
              </a:rPr>
              <a:t>Other</a:t>
            </a:r>
            <a:pPr algn="l" indent="0" marL="0">
              <a:buNone/>
            </a:pPr>
            <a:endParaRPr lang="en-US" sz="1200" dirty="0"/>
          </a:p>
          <a:p>
            <a:pPr algn="l" indent="0" marL="0">
              <a:buNone/>
            </a:pPr>
            <a:r>
              <a:rPr lang="en-US" sz="1200" dirty="0">
                <a:solidFill>
                  <a:srgbClr val="22262E"/>
                </a:solidFill>
                <a:latin typeface="Calibri" pitchFamily="34" charset="0"/>
                <a:ea typeface="Calibri" pitchFamily="34" charset="-122"/>
                <a:cs typeface="Calibri" pitchFamily="34" charset="-120"/>
              </a:rPr>
              <a:t>bigger context, better dictionary, supervised model</a:t>
            </a:r>
            <a:endParaRPr lang="en-US" sz="1200" dirty="0"/>
          </a:p>
        </p:txBody>
      </p:sp>
      <p:sp>
        <p:nvSpPr>
          <p:cNvPr id="15" name="Text 12"/>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6" fill="hold">
                      <p:stCondLst>
                        <p:cond delay="indefinite"/>
                      </p:stCondLst>
                      <p:childTnLst>
                        <p:par>
                          <p:cTn id="2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53" presetClass="entr" presetSubtype="16" fill="hold" grpId="0" nodeType="withEffect">
                                  <p:stCondLst>
                                    <p:cond delay="30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500" fill="hold"/>
                                        <p:tgtEl>
                                          <p:spTgt spid="6"/>
                                        </p:tgtEl>
                                        <p:attrNameLst>
                                          <p:attrName>ppt_w</p:attrName>
                                        </p:attrNameLst>
                                      </p:cBhvr>
                                      <p:tavLst>
                                        <p:tav tm="0">
                                          <p:val>
                                            <p:fltVal val="0"/>
                                          </p:val>
                                        </p:tav>
                                        <p:tav tm="100000">
                                          <p:val>
                                            <p:strVal val="#ppt_w"/>
                                          </p:val>
                                        </p:tav>
                                      </p:tavLst>
                                    </p:anim>
                                    <p:anim calcmode="lin" valueType="num">
                                      <p:cBhvr additive="base">
                                        <p:cTn id="9" dur="500" fill="hold"/>
                                        <p:tgtEl>
                                          <p:spTgt spid="6"/>
                                        </p:tgtEl>
                                        <p:attrNameLst>
                                          <p:attrName>ppt_h</p:attrName>
                                        </p:attrNameLst>
                                      </p:cBhvr>
                                      <p:tavLst>
                                        <p:tav tm="0">
                                          <p:val>
                                            <p:fltVal val="0"/>
                                          </p:val>
                                        </p:tav>
                                        <p:tav tm="100000">
                                          <p:val>
                                            <p:strVal val="#ppt_h"/>
                                          </p:val>
                                        </p:tav>
                                      </p:tavLst>
                                    </p:anim>
                                    <p:animEffect transition="in" filter="fade">
                                      <p:cBhvr>
                                        <p:cTn id="10" dur="500"/>
                                        <p:tgtEl>
                                          <p:spTgt spid="6"/>
                                        </p:tgtEl>
                                      </p:cBhvr>
                                    </p:animEffect>
                                  </p:childTnLst>
                                </p:cTn>
                              </p:par>
                              <p:par>
                                <p:cTn id="11" presetID="53" presetClass="entr" presetSubtype="16"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53" presetClass="entr" presetSubtype="16" fill="hold" grpId="0" nodeType="withEffect">
                                  <p:stCondLst>
                                    <p:cond delay="7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9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ppt_w</p:attrName>
                                        </p:attrNameLst>
                                      </p:cBhvr>
                                      <p:tavLst>
                                        <p:tav tm="0">
                                          <p:val>
                                            <p:fltVal val="0"/>
                                          </p:val>
                                        </p:tav>
                                        <p:tav tm="100000">
                                          <p:val>
                                            <p:strVal val="#ppt_w"/>
                                          </p:val>
                                        </p:tav>
                                      </p:tavLst>
                                    </p:anim>
                                    <p:anim calcmode="lin" valueType="num">
                                      <p:cBhvr additive="base">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ppt_w</p:attrName>
                                        </p:attrNameLst>
                                      </p:cBhvr>
                                      <p:tavLst>
                                        <p:tav tm="0">
                                          <p:val>
                                            <p:fltVal val="0"/>
                                          </p:val>
                                        </p:tav>
                                        <p:tav tm="100000">
                                          <p:val>
                                            <p:strVal val="#ppt_w"/>
                                          </p:val>
                                        </p:tav>
                                      </p:tavLst>
                                    </p:anim>
                                    <p:anim calcmode="lin" valueType="num">
                                      <p:cBhvr additive="base">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par>
                                <p:cTn id="33" presetID="10" presetClass="entr" presetSubtype="0" fill="hold" grpId="0" nodeType="withEffect">
                                  <p:stCondLst>
                                    <p:cond delay="4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ppt_x"/>
                                          </p:val>
                                        </p:tav>
                                        <p:tav tm="100000">
                                          <p:val>
                                            <p:strVal val="#ppt_x"/>
                                          </p:val>
                                        </p:tav>
                                      </p:tavLst>
                                    </p:anim>
                                    <p:anim calcmode="lin" valueType="num">
                                      <p:cBhvr additive="base">
                                        <p:cTn id="41" dur="500" fill="hold"/>
                                        <p:tgtEl>
                                          <p:spTgt spid="12"/>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25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50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ppt_x"/>
                                          </p:val>
                                        </p:tav>
                                        <p:tav tm="100000">
                                          <p:val>
                                            <p:strVal val="#ppt_x"/>
                                          </p:val>
                                        </p:tav>
                                      </p:tavLst>
                                    </p:anim>
                                    <p:anim calcmode="lin" valueType="num">
                                      <p:cBhvr additive="base">
                                        <p:cTn id="4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VARIANT 1</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Corpus Lesk and IDF weighting</a:t>
            </a:r>
            <a:endParaRPr lang="en-US" sz="2800" dirty="0"/>
          </a:p>
        </p:txBody>
      </p:sp>
      <p:sp>
        <p:nvSpPr>
          <p:cNvPr id="5" name="a1_wipe_0_309"/>
          <p:cNvSpPr/>
          <p:nvPr/>
        </p:nvSpPr>
        <p:spPr>
          <a:xfrm>
            <a:off x="457200" y="1188720"/>
            <a:ext cx="4572000" cy="603504"/>
          </a:xfrm>
          <a:prstGeom prst="roundRect">
            <a:avLst>
              <a:gd name="adj" fmla="val 1818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1</a:t>
            </a:r>
            <a:pPr algn="l" indent="0" marL="0">
              <a:buNone/>
            </a:pPr>
            <a:r>
              <a:rPr lang="en-US" sz="1250" dirty="0">
                <a:solidFill>
                  <a:srgbClr val="22262E"/>
                </a:solidFill>
                <a:latin typeface="Calibri" pitchFamily="34" charset="0"/>
                <a:ea typeface="Calibri" pitchFamily="34" charset="-122"/>
                <a:cs typeface="Calibri" pitchFamily="34" charset="-120"/>
              </a:rPr>
              <a:t>   Start with sense-labelled data (e.g. SemCor)</a:t>
            </a:r>
            <a:endParaRPr lang="en-US" sz="1250" dirty="0"/>
          </a:p>
        </p:txBody>
      </p:sp>
      <p:sp>
        <p:nvSpPr>
          <p:cNvPr id="6" name="a1_wipe_250_310"/>
          <p:cNvSpPr/>
          <p:nvPr/>
        </p:nvSpPr>
        <p:spPr>
          <a:xfrm>
            <a:off x="457200" y="1901952"/>
            <a:ext cx="4572000" cy="603504"/>
          </a:xfrm>
          <a:prstGeom prst="roundRect">
            <a:avLst>
              <a:gd name="adj" fmla="val 1818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2</a:t>
            </a:r>
            <a:pPr algn="l" indent="0" marL="0">
              <a:buNone/>
            </a:pPr>
            <a:r>
              <a:rPr lang="en-US" sz="1250" dirty="0">
                <a:solidFill>
                  <a:srgbClr val="22262E"/>
                </a:solidFill>
                <a:latin typeface="Calibri" pitchFamily="34" charset="0"/>
                <a:ea typeface="Calibri" pitchFamily="34" charset="-122"/>
                <a:cs typeface="Calibri" pitchFamily="34" charset="-120"/>
              </a:rPr>
              <a:t>   Collect all sentences where the target has sense s</a:t>
            </a:r>
            <a:endParaRPr lang="en-US" sz="1250" dirty="0"/>
          </a:p>
        </p:txBody>
      </p:sp>
      <p:sp>
        <p:nvSpPr>
          <p:cNvPr id="7" name="a1_wipe_500_311"/>
          <p:cNvSpPr/>
          <p:nvPr/>
        </p:nvSpPr>
        <p:spPr>
          <a:xfrm>
            <a:off x="457200" y="2615184"/>
            <a:ext cx="4572000" cy="603504"/>
          </a:xfrm>
          <a:prstGeom prst="roundRect">
            <a:avLst>
              <a:gd name="adj" fmla="val 1818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3</a:t>
            </a:r>
            <a:pPr algn="l" indent="0" marL="0">
              <a:buNone/>
            </a:pPr>
            <a:r>
              <a:rPr lang="en-US" sz="1250" dirty="0">
                <a:solidFill>
                  <a:srgbClr val="22262E"/>
                </a:solidFill>
                <a:latin typeface="Calibri" pitchFamily="34" charset="0"/>
                <a:ea typeface="Calibri" pitchFamily="34" charset="-122"/>
                <a:cs typeface="Calibri" pitchFamily="34" charset="-120"/>
              </a:rPr>
              <a:t>   Add them to the gloss + examples: the enlarged </a:t>
            </a:r>
            <a:pPr algn="l" indent="0" marL="0">
              <a:buNone/>
            </a:pPr>
            <a:r>
              <a:rPr lang="en-US" sz="1250" b="1" dirty="0">
                <a:solidFill>
                  <a:srgbClr val="22262E"/>
                </a:solidFill>
                <a:latin typeface="Calibri" pitchFamily="34" charset="0"/>
                <a:ea typeface="Calibri" pitchFamily="34" charset="-122"/>
                <a:cs typeface="Calibri" pitchFamily="34" charset="-120"/>
              </a:rPr>
              <a:t>signature</a:t>
            </a:r>
            <a:endParaRPr lang="en-US" sz="1250" dirty="0"/>
          </a:p>
        </p:txBody>
      </p:sp>
      <p:sp>
        <p:nvSpPr>
          <p:cNvPr id="8" name="a1_wipe_750_312"/>
          <p:cNvSpPr/>
          <p:nvPr/>
        </p:nvSpPr>
        <p:spPr>
          <a:xfrm>
            <a:off x="457200" y="3328416"/>
            <a:ext cx="4572000" cy="603504"/>
          </a:xfrm>
          <a:prstGeom prst="roundRect">
            <a:avLst>
              <a:gd name="adj" fmla="val 18182"/>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4</a:t>
            </a:r>
            <a:pPr algn="l" indent="0" marL="0">
              <a:buNone/>
            </a:pPr>
            <a:r>
              <a:rPr lang="en-US" sz="1250" dirty="0">
                <a:solidFill>
                  <a:srgbClr val="22262E"/>
                </a:solidFill>
                <a:latin typeface="Calibri" pitchFamily="34" charset="0"/>
                <a:ea typeface="Calibri" pitchFamily="34" charset="-122"/>
                <a:cs typeface="Calibri" pitchFamily="34" charset="-120"/>
              </a:rPr>
              <a:t>   Choose the sense with the most overlap (weighted by IDF)</a:t>
            </a:r>
            <a:endParaRPr lang="en-US" sz="1250" dirty="0"/>
          </a:p>
        </p:txBody>
      </p:sp>
      <p:sp>
        <p:nvSpPr>
          <p:cNvPr id="9" name="a2_fade_0_313"/>
          <p:cNvSpPr/>
          <p:nvPr/>
        </p:nvSpPr>
        <p:spPr>
          <a:xfrm>
            <a:off x="457200" y="4114800"/>
            <a:ext cx="4572000" cy="548640"/>
          </a:xfrm>
          <a:prstGeom prst="roundRect">
            <a:avLst>
              <a:gd name="adj" fmla="val 20000"/>
            </a:avLst>
          </a:prstGeom>
          <a:solidFill>
            <a:srgbClr val="E2F3F0"/>
          </a:solidFill>
          <a:ln/>
        </p:spPr>
        <p:txBody>
          <a:bodyPr wrap="square" lIns="76810" tIns="128016" rIns="128016" bIns="76810" rtlCol="0" anchor="ctr"/>
          <a:lstStyle/>
          <a:p>
            <a:pPr algn="l" indent="0" marL="0">
              <a:buNone/>
            </a:pPr>
            <a:r>
              <a:rPr lang="en-US" sz="1050" dirty="0">
                <a:solidFill>
                  <a:srgbClr val="22262E"/>
                </a:solidFill>
                <a:latin typeface="Calibri" pitchFamily="34" charset="0"/>
                <a:ea typeface="Calibri" pitchFamily="34" charset="-122"/>
                <a:cs typeface="Calibri" pitchFamily="34" charset="-120"/>
              </a:rPr>
              <a:t>“… meetings usually are sponsored by local banks, Chambers of Commerce, trade associations …”</a:t>
            </a:r>
            <a:endParaRPr lang="en-US" sz="1050" dirty="0"/>
          </a:p>
          <a:p>
            <a:pPr algn="l" indent="0" marL="0">
              <a:buNone/>
            </a:pPr>
            <a:r>
              <a:rPr lang="en-US" sz="1050" dirty="0">
                <a:solidFill>
                  <a:srgbClr val="22262E"/>
                </a:solidFill>
                <a:latin typeface="Calibri" pitchFamily="34" charset="0"/>
                <a:ea typeface="Calibri" pitchFamily="34" charset="-122"/>
                <a:cs typeface="Calibri" pitchFamily="34" charset="-120"/>
              </a:rPr>
              <a:t>→ adds sponsored, commerce, trade to Signature(bank 1)</a:t>
            </a:r>
            <a:endParaRPr lang="en-US" sz="1050" dirty="0"/>
          </a:p>
        </p:txBody>
      </p:sp>
      <p:sp>
        <p:nvSpPr>
          <p:cNvPr id="10" name="a2_zoom_0_314"/>
          <p:cNvSpPr/>
          <p:nvPr/>
        </p:nvSpPr>
        <p:spPr>
          <a:xfrm>
            <a:off x="5303520" y="1188720"/>
            <a:ext cx="3383280" cy="731520"/>
          </a:xfrm>
          <a:prstGeom prst="roundRect">
            <a:avLst>
              <a:gd name="adj" fmla="val 15000"/>
            </a:avLst>
          </a:prstGeom>
          <a:solidFill>
            <a:srgbClr val="1B2A49"/>
          </a:solidFill>
          <a:ln/>
        </p:spPr>
        <p:txBody>
          <a:bodyPr wrap="square" lIns="76810" tIns="128016" rIns="128016" bIns="7681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idf_i = log( N / df_i )</a:t>
            </a:r>
            <a:endParaRPr lang="en-US" sz="2000" dirty="0"/>
          </a:p>
        </p:txBody>
      </p:sp>
      <p:sp>
        <p:nvSpPr>
          <p:cNvPr id="11" name="a2_zoom_250_315"/>
          <p:cNvSpPr/>
          <p:nvPr/>
        </p:nvSpPr>
        <p:spPr>
          <a:xfrm>
            <a:off x="5303520" y="2057400"/>
            <a:ext cx="3383280" cy="731520"/>
          </a:xfrm>
          <a:prstGeom prst="roundRect">
            <a:avLst>
              <a:gd name="adj" fmla="val 15000"/>
            </a:avLst>
          </a:prstGeom>
          <a:solidFill>
            <a:srgbClr val="1F8A7D"/>
          </a:solidFill>
          <a:ln/>
        </p:spPr>
        <p:txBody>
          <a:bodyPr wrap="square" lIns="76810" tIns="128016" rIns="128016" bIns="76810" rtlCol="0" anchor="ctr"/>
          <a:lstStyle/>
          <a:p>
            <a:pPr algn="ctr" indent="0" marL="0">
              <a:buNone/>
            </a:pPr>
            <a:r>
              <a:rPr lang="en-US" sz="1350" dirty="0">
                <a:solidFill>
                  <a:srgbClr val="FFFFFF"/>
                </a:solidFill>
                <a:latin typeface="Calibri" pitchFamily="34" charset="0"/>
                <a:ea typeface="Calibri" pitchFamily="34" charset="-122"/>
                <a:cs typeface="Calibri" pitchFamily="34" charset="-120"/>
              </a:rPr>
              <a:t>score(sense, context) = Σ idf_w  over w ∈ overlap</a:t>
            </a:r>
            <a:endParaRPr lang="en-US" sz="1350" dirty="0"/>
          </a:p>
        </p:txBody>
      </p:sp>
      <p:sp>
        <p:nvSpPr>
          <p:cNvPr id="12" name="a3_fade_0_316"/>
          <p:cNvSpPr/>
          <p:nvPr/>
        </p:nvSpPr>
        <p:spPr>
          <a:xfrm>
            <a:off x="5303520" y="2926080"/>
            <a:ext cx="3383280" cy="1554480"/>
          </a:xfrm>
          <a:prstGeom prst="roundRect">
            <a:avLst>
              <a:gd name="adj" fmla="val 7059"/>
            </a:avLst>
          </a:prstGeom>
          <a:solidFill>
            <a:srgbClr val="F2F4F8"/>
          </a:solidFill>
          <a:ln/>
        </p:spPr>
        <p:txBody>
          <a:bodyPr wrap="square" lIns="76810" tIns="128016" rIns="128016" bIns="76810" rtlCol="0" anchor="ctr"/>
          <a:lstStyle/>
          <a:p>
            <a:pPr algn="l" indent="0" marL="0">
              <a:buNone/>
            </a:pPr>
            <a:r>
              <a:rPr lang="en-US" sz="1200" dirty="0">
                <a:solidFill>
                  <a:srgbClr val="22262E"/>
                </a:solidFill>
                <a:latin typeface="Calibri" pitchFamily="34" charset="0"/>
                <a:ea typeface="Calibri" pitchFamily="34" charset="-122"/>
                <a:cs typeface="Calibri" pitchFamily="34" charset="-120"/>
              </a:rPr>
              <a:t>N = total documents (glosses, examples, labelled sentences)</a:t>
            </a:r>
            <a:endParaRPr lang="en-US" sz="1200" dirty="0"/>
          </a:p>
          <a:p>
            <a:pPr algn="l" indent="0" marL="0">
              <a:buNone/>
            </a:pPr>
            <a:r>
              <a:rPr lang="en-US" sz="1200" dirty="0">
                <a:solidFill>
                  <a:srgbClr val="22262E"/>
                </a:solidFill>
                <a:latin typeface="Calibri" pitchFamily="34" charset="0"/>
                <a:ea typeface="Calibri" pitchFamily="34" charset="-122"/>
                <a:cs typeface="Calibri" pitchFamily="34" charset="-120"/>
              </a:rPr>
              <a:t>df_i = documents containing word i</a:t>
            </a:r>
            <a:endParaRPr lang="en-US" sz="1200" dirty="0"/>
          </a:p>
          <a:p>
            <a:pPr algn="l" indent="0" marL="0">
              <a:buNone/>
            </a:pPr>
            <a:r>
              <a:rPr lang="en-US" sz="1200" dirty="0">
                <a:solidFill>
                  <a:srgbClr val="22262E"/>
                </a:solidFill>
                <a:latin typeface="Calibri" pitchFamily="34" charset="0"/>
                <a:ea typeface="Calibri" pitchFamily="34" charset="-122"/>
                <a:cs typeface="Calibri" pitchFamily="34" charset="-120"/>
              </a:rPr>
              <a:t>Common words get small weights: a finer stop list.</a:t>
            </a:r>
            <a:endParaRPr lang="en-US" sz="120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par>
                                <p:cTn id="6" presetID="22" presetClass="entr" presetSubtype="8"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8" dur="500"/>
                                        <p:tgtEl>
                                          <p:spTgt spid="6"/>
                                        </p:tgtEl>
                                      </p:cBhvr>
                                    </p:animEffect>
                                  </p:childTnLst>
                                </p:cTn>
                              </p:par>
                              <p:par>
                                <p:cTn id="9" presetID="22" presetClass="entr" presetSubtype="8"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ppt_w</p:attrName>
                                        </p:attrNameLst>
                                      </p:cBhvr>
                                      <p:tavLst>
                                        <p:tav tm="0">
                                          <p:val>
                                            <p:fltVal val="0"/>
                                          </p:val>
                                        </p:tav>
                                        <p:tav tm="100000">
                                          <p:val>
                                            <p:strVal val="#ppt_w"/>
                                          </p:val>
                                        </p:tav>
                                      </p:tavLst>
                                    </p:anim>
                                    <p:anim calcmode="lin" valueType="num">
                                      <p:cBhvr additive="base">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p:stCondLst>
                                    <p:cond delay="25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ppt_w</p:attrName>
                                        </p:attrNameLst>
                                      </p:cBhvr>
                                      <p:tavLst>
                                        <p:tav tm="0">
                                          <p:val>
                                            <p:fltVal val="0"/>
                                          </p:val>
                                        </p:tav>
                                        <p:tav tm="100000">
                                          <p:val>
                                            <p:strVal val="#ppt_w"/>
                                          </p:val>
                                        </p:tav>
                                      </p:tavLst>
                                    </p:anim>
                                    <p:anim calcmode="lin" valueType="num">
                                      <p:cBhvr additive="base">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VARIANT 2</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Extended / Adapted Lesk</a:t>
            </a:r>
            <a:endParaRPr lang="en-US" sz="2800" dirty="0"/>
          </a:p>
        </p:txBody>
      </p:sp>
      <p:sp>
        <p:nvSpPr>
          <p:cNvPr id="5" name="a1_fade_0_317"/>
          <p:cNvSpPr txBox="1"/>
          <p:nvPr/>
        </p:nvSpPr>
        <p:spPr>
          <a:xfrm>
            <a:off x="457200" y="1143000"/>
            <a:ext cx="4206240" cy="274320"/>
          </a:xfrm>
          <a:prstGeom prst="rect">
            <a:avLst/>
          </a:prstGeom>
          <a:noFill/>
          <a:ln/>
        </p:spPr>
        <p:txBody>
          <a:bodyPr wrap="square" lIns="0" tIns="0" rIns="0" bIns="0" rtlCol="0" anchor="t"/>
          <a:lstStyle/>
          <a:p>
            <a:pPr indent="0" marL="0">
              <a:buNone/>
            </a:pPr>
            <a:r>
              <a:rPr lang="en-US" sz="1500" b="1" dirty="0">
                <a:solidFill>
                  <a:srgbClr val="1B2A49"/>
                </a:solidFill>
                <a:latin typeface="Cambria" pitchFamily="34" charset="0"/>
                <a:ea typeface="Cambria" pitchFamily="34" charset="-122"/>
                <a:cs typeface="Cambria" pitchFamily="34" charset="-120"/>
              </a:rPr>
              <a:t>Supergloss = own gloss + related glosses</a:t>
            </a:r>
            <a:endParaRPr lang="en-US" sz="1500" dirty="0"/>
          </a:p>
        </p:txBody>
      </p:sp>
      <p:sp>
        <p:nvSpPr>
          <p:cNvPr id="6" name="a1_fly_0_318"/>
          <p:cNvSpPr/>
          <p:nvPr/>
        </p:nvSpPr>
        <p:spPr>
          <a:xfrm>
            <a:off x="457200" y="1554480"/>
            <a:ext cx="2743200" cy="384048"/>
          </a:xfrm>
          <a:prstGeom prst="roundRect">
            <a:avLst>
              <a:gd name="adj" fmla="val 28571"/>
            </a:avLst>
          </a:prstGeom>
          <a:solidFill>
            <a:srgbClr val="1F8A7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own gloss</a:t>
            </a:r>
            <a:endParaRPr lang="en-US" sz="1300" dirty="0"/>
          </a:p>
        </p:txBody>
      </p:sp>
      <p:sp>
        <p:nvSpPr>
          <p:cNvPr id="7" name="a1_fly_250_319"/>
          <p:cNvSpPr/>
          <p:nvPr/>
        </p:nvSpPr>
        <p:spPr>
          <a:xfrm>
            <a:off x="457200" y="2029968"/>
            <a:ext cx="2743200" cy="384048"/>
          </a:xfrm>
          <a:prstGeom prst="roundRect">
            <a:avLst>
              <a:gd name="adj" fmla="val 28571"/>
            </a:avLst>
          </a:prstGeom>
          <a:solidFill>
            <a:srgbClr val="E6EAF2"/>
          </a:solidFill>
          <a:ln/>
        </p:spPr>
        <p:txBody>
          <a:bodyPr wrap="square" lIns="0" tIns="0" rIns="0" bIns="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hypernym gloss</a:t>
            </a:r>
            <a:endParaRPr lang="en-US" sz="1300" dirty="0"/>
          </a:p>
        </p:txBody>
      </p:sp>
      <p:sp>
        <p:nvSpPr>
          <p:cNvPr id="8" name="a1_fly_500_320"/>
          <p:cNvSpPr/>
          <p:nvPr/>
        </p:nvSpPr>
        <p:spPr>
          <a:xfrm>
            <a:off x="457200" y="2505456"/>
            <a:ext cx="2743200" cy="384048"/>
          </a:xfrm>
          <a:prstGeom prst="roundRect">
            <a:avLst>
              <a:gd name="adj" fmla="val 28571"/>
            </a:avLst>
          </a:prstGeom>
          <a:solidFill>
            <a:srgbClr val="E6EAF2"/>
          </a:solidFill>
          <a:ln/>
        </p:spPr>
        <p:txBody>
          <a:bodyPr wrap="square" lIns="0" tIns="0" rIns="0" bIns="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hyponym glosses</a:t>
            </a:r>
            <a:endParaRPr lang="en-US" sz="1300" dirty="0"/>
          </a:p>
        </p:txBody>
      </p:sp>
      <p:sp>
        <p:nvSpPr>
          <p:cNvPr id="9" name="a1_fly_750_321"/>
          <p:cNvSpPr/>
          <p:nvPr/>
        </p:nvSpPr>
        <p:spPr>
          <a:xfrm>
            <a:off x="457200" y="2980944"/>
            <a:ext cx="2743200" cy="384048"/>
          </a:xfrm>
          <a:prstGeom prst="roundRect">
            <a:avLst>
              <a:gd name="adj" fmla="val 28571"/>
            </a:avLst>
          </a:prstGeom>
          <a:solidFill>
            <a:srgbClr val="E6EAF2"/>
          </a:solidFill>
          <a:ln/>
        </p:spPr>
        <p:txBody>
          <a:bodyPr wrap="square" lIns="0" tIns="0" rIns="0" bIns="0" rtlCol="0" anchor="ctr"/>
          <a:lstStyle/>
          <a:p>
            <a:pPr algn="ctr" indent="0" marL="0">
              <a:buNone/>
            </a:pPr>
            <a:r>
              <a:rPr lang="en-US" sz="1300" dirty="0">
                <a:solidFill>
                  <a:srgbClr val="22262E"/>
                </a:solidFill>
                <a:latin typeface="Calibri" pitchFamily="34" charset="0"/>
                <a:ea typeface="Calibri" pitchFamily="34" charset="-122"/>
                <a:cs typeface="Calibri" pitchFamily="34" charset="-120"/>
              </a:rPr>
              <a:t>meronym / holonym glosses</a:t>
            </a:r>
            <a:endParaRPr lang="en-US" sz="1300" dirty="0"/>
          </a:p>
        </p:txBody>
      </p:sp>
      <p:sp>
        <p:nvSpPr>
          <p:cNvPr id="10" name="a1_fade_1000_322"/>
          <p:cNvSpPr/>
          <p:nvPr/>
        </p:nvSpPr>
        <p:spPr>
          <a:xfrm>
            <a:off x="3337560" y="2377440"/>
            <a:ext cx="457200" cy="365760"/>
          </a:xfrm>
          <a:prstGeom prst="rightArrow">
            <a:avLst/>
          </a:prstGeom>
          <a:solidFill>
            <a:srgbClr val="C9D0DC"/>
          </a:solidFill>
          <a:ln/>
        </p:spPr>
      </p:sp>
      <p:sp>
        <p:nvSpPr>
          <p:cNvPr id="11" name="a1_zoom_1100_323"/>
          <p:cNvSpPr/>
          <p:nvPr/>
        </p:nvSpPr>
        <p:spPr>
          <a:xfrm>
            <a:off x="3931920" y="2103120"/>
            <a:ext cx="1097280" cy="914400"/>
          </a:xfrm>
          <a:prstGeom prst="roundRect">
            <a:avLst>
              <a:gd name="adj" fmla="val 12000"/>
            </a:avLst>
          </a:prstGeom>
          <a:solidFill>
            <a:srgbClr val="F4A300"/>
          </a:solidFill>
          <a:ln/>
        </p:spPr>
        <p:txBody>
          <a:bodyPr wrap="square" lIns="27432" tIns="45720" rIns="45720" bIns="27432" rtlCol="0" anchor="ctr"/>
          <a:lstStyle/>
          <a:p>
            <a:pPr algn="ctr" indent="0" marL="0">
              <a:buNone/>
            </a:pPr>
            <a:r>
              <a:rPr lang="en-US" sz="1100" b="1" dirty="0">
                <a:solidFill>
                  <a:srgbClr val="22262E"/>
                </a:solidFill>
                <a:latin typeface="Calibri" pitchFamily="34" charset="0"/>
                <a:ea typeface="Calibri" pitchFamily="34" charset="-122"/>
                <a:cs typeface="Calibri" pitchFamily="34" charset="-120"/>
              </a:rPr>
              <a:t>supergloss</a:t>
            </a:r>
            <a:pPr algn="ctr" indent="0" marL="0">
              <a:buNone/>
            </a:pPr>
            <a:endParaRPr lang="en-US" sz="1100" dirty="0"/>
          </a:p>
          <a:p>
            <a:pPr algn="ctr" indent="0" marL="0">
              <a:buNone/>
            </a:pPr>
            <a:r>
              <a:rPr lang="en-US" sz="1100" dirty="0">
                <a:solidFill>
                  <a:srgbClr val="22262E"/>
                </a:solidFill>
                <a:latin typeface="Calibri" pitchFamily="34" charset="0"/>
                <a:ea typeface="Calibri" pitchFamily="34" charset="-122"/>
                <a:cs typeface="Calibri" pitchFamily="34" charset="-120"/>
              </a:rPr>
              <a:t>much richer signature</a:t>
            </a:r>
            <a:endParaRPr lang="en-US" sz="1100" dirty="0"/>
          </a:p>
        </p:txBody>
      </p:sp>
      <p:sp>
        <p:nvSpPr>
          <p:cNvPr id="12" name="a2_wipe_0_324"/>
          <p:cNvSpPr/>
          <p:nvPr/>
        </p:nvSpPr>
        <p:spPr>
          <a:xfrm>
            <a:off x="5303520" y="1188720"/>
            <a:ext cx="3383280" cy="1874520"/>
          </a:xfrm>
          <a:prstGeom prst="roundRect">
            <a:avLst>
              <a:gd name="adj" fmla="val 5854"/>
            </a:avLst>
          </a:prstGeom>
          <a:solidFill>
            <a:srgbClr val="E2F3F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Phrase scoring</a:t>
            </a:r>
            <a:pPr algn="l" indent="0" marL="0">
              <a:buNone/>
            </a:pP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An n-word overlap scores n².</a:t>
            </a: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“body of water”: 9 points</a:t>
            </a: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“land”: 1 point</a:t>
            </a: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Total about </a:t>
            </a:r>
            <a:endParaRPr lang="en-US" sz="1250" dirty="0"/>
          </a:p>
          <a:p>
            <a:pPr algn="l" indent="0" marL="0">
              <a:buNone/>
            </a:pPr>
            <a:r>
              <a:rPr lang="en-US" sz="1250" b="1" dirty="0">
                <a:solidFill>
                  <a:srgbClr val="22262E"/>
                </a:solidFill>
                <a:latin typeface="Calibri" pitchFamily="34" charset="0"/>
                <a:ea typeface="Calibri" pitchFamily="34" charset="-122"/>
                <a:cs typeface="Calibri" pitchFamily="34" charset="-120"/>
              </a:rPr>
              <a:t>10</a:t>
            </a:r>
            <a:pPr algn="l" indent="0" marL="0">
              <a:buNone/>
            </a:pPr>
            <a:r>
              <a:rPr lang="en-US" sz="1250" dirty="0">
                <a:solidFill>
                  <a:srgbClr val="22262E"/>
                </a:solidFill>
                <a:latin typeface="Calibri" pitchFamily="34" charset="0"/>
                <a:ea typeface="Calibri" pitchFamily="34" charset="-122"/>
                <a:cs typeface="Calibri" pitchFamily="34" charset="-120"/>
              </a:rPr>
              <a:t>, vs 3 for single words</a:t>
            </a:r>
            <a:endParaRPr lang="en-US" sz="1250" dirty="0"/>
          </a:p>
        </p:txBody>
      </p:sp>
      <p:sp>
        <p:nvSpPr>
          <p:cNvPr id="13" name="a3_wipe_0_325"/>
          <p:cNvSpPr/>
          <p:nvPr/>
        </p:nvSpPr>
        <p:spPr>
          <a:xfrm>
            <a:off x="5303520" y="3200400"/>
            <a:ext cx="3383280" cy="1280160"/>
          </a:xfrm>
          <a:prstGeom prst="roundRect">
            <a:avLst>
              <a:gd name="adj" fmla="val 8571"/>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250" b="1" dirty="0">
                <a:solidFill>
                  <a:srgbClr val="22262E"/>
                </a:solidFill>
                <a:latin typeface="Calibri" pitchFamily="34" charset="0"/>
                <a:ea typeface="Calibri" pitchFamily="34" charset="-122"/>
                <a:cs typeface="Calibri" pitchFamily="34" charset="-120"/>
              </a:rPr>
              <a:t>Graph-based (lecture)</a:t>
            </a:r>
            <a:pPr algn="l" indent="0" marL="0">
              <a:buNone/>
            </a:pPr>
            <a:endParaRPr lang="en-US" sz="1250" dirty="0"/>
          </a:p>
          <a:p>
            <a:pPr algn="l" indent="0" marL="0">
              <a:buNone/>
            </a:pPr>
            <a:r>
              <a:rPr lang="en-US" sz="1250" dirty="0">
                <a:solidFill>
                  <a:srgbClr val="22262E"/>
                </a:solidFill>
                <a:latin typeface="Calibri" pitchFamily="34" charset="0"/>
                <a:ea typeface="Calibri" pitchFamily="34" charset="-122"/>
                <a:cs typeface="Calibri" pitchFamily="34" charset="-120"/>
              </a:rPr>
              <a:t>WordNet as a graph; add context words; run PageRank; most central sense wins.</a:t>
            </a:r>
            <a:endParaRPr lang="en-US" sz="1250" dirty="0"/>
          </a:p>
        </p:txBody>
      </p:sp>
      <p:sp>
        <p:nvSpPr>
          <p:cNvPr id="14" name="a3_fade_300_326"/>
          <p:cNvSpPr/>
          <p:nvPr/>
        </p:nvSpPr>
        <p:spPr>
          <a:xfrm>
            <a:off x="457200" y="4069080"/>
            <a:ext cx="4572000" cy="457200"/>
          </a:xfrm>
          <a:prstGeom prst="roundRect">
            <a:avLst>
              <a:gd name="adj" fmla="val 24000"/>
            </a:avLst>
          </a:prstGeom>
          <a:solidFill>
            <a:srgbClr val="FDE6E1"/>
          </a:solidFill>
          <a:ln/>
        </p:spPr>
        <p:txBody>
          <a:bodyPr wrap="square" lIns="76810" tIns="128016" rIns="128016" bIns="76810" rtlCol="0" anchor="ctr"/>
          <a:lstStyle/>
          <a:p>
            <a:pPr algn="l" indent="0" marL="0">
              <a:buNone/>
            </a:pPr>
            <a:r>
              <a:rPr lang="en-US" sz="1200" dirty="0">
                <a:solidFill>
                  <a:srgbClr val="22262E"/>
                </a:solidFill>
                <a:latin typeface="Calibri" pitchFamily="34" charset="0"/>
                <a:ea typeface="Calibri" pitchFamily="34" charset="-122"/>
                <a:cs typeface="Calibri" pitchFamily="34" charset="-120"/>
              </a:rPr>
              <a:t>Still exact matching: synonyms and word variants are not matched.</a:t>
            </a:r>
            <a:endParaRPr lang="en-US" sz="1200" dirty="0"/>
          </a:p>
        </p:txBody>
      </p:sp>
      <p:sp>
        <p:nvSpPr>
          <p:cNvPr id="15" name="Text 12"/>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2" presetClass="entr" presetSubtype="4"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500" fill="hold"/>
                                        <p:tgtEl>
                                          <p:spTgt spid="6"/>
                                        </p:tgtEl>
                                        <p:attrNameLst>
                                          <p:attrName>ppt_x</p:attrName>
                                        </p:attrNameLst>
                                      </p:cBhvr>
                                      <p:tavLst>
                                        <p:tav tm="0">
                                          <p:val>
                                            <p:strVal val="#ppt_x"/>
                                          </p:val>
                                        </p:tav>
                                        <p:tav tm="100000">
                                          <p:val>
                                            <p:strVal val="#ppt_x"/>
                                          </p:val>
                                        </p:tav>
                                      </p:tavLst>
                                    </p:anim>
                                    <p:anim calcmode="lin" valueType="num">
                                      <p:cBhvr additive="base">
                                        <p:cTn id="9" dur="500" fill="hold"/>
                                        <p:tgtEl>
                                          <p:spTgt spid="6"/>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5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5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75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par>
                                <p:cTn id="22" presetID="10" presetClass="entr" presetSubtype="0" fill="hold" grpId="0" nodeType="withEffect">
                                  <p:stCondLst>
                                    <p:cond delay="10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53" presetClass="entr" presetSubtype="16" fill="hold" grpId="0" nodeType="withEffect">
                                  <p:stCondLst>
                                    <p:cond delay="11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ppt_w</p:attrName>
                                        </p:attrNameLst>
                                      </p:cBhvr>
                                      <p:tavLst>
                                        <p:tav tm="0">
                                          <p:val>
                                            <p:fltVal val="0"/>
                                          </p:val>
                                        </p:tav>
                                        <p:tav tm="100000">
                                          <p:val>
                                            <p:strVal val="#ppt_w"/>
                                          </p:val>
                                        </p:tav>
                                      </p:tavLst>
                                    </p:anim>
                                    <p:anim calcmode="lin" valueType="num">
                                      <p:cBhvr additive="base">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par>
                                <p:cTn id="40" presetID="10" presetClass="entr" presetSubtype="0" fill="hold" grpId="0" nodeType="withEffect">
                                  <p:stCondLst>
                                    <p:cond delay="3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COMPARE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Four versions side by side</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1737360"/>
                <a:gridCol w="1737360"/>
                <a:gridCol w="1737360"/>
                <a:gridCol w="1828800"/>
              </a:tblGrid>
              <a:tr h="365760">
                <a:tc>
                  <a:txBody>
                    <a:bodyPr/>
                    <a:lstStyle/>
                    <a:p>
                      <a:pPr indent="0" marL="0">
                        <a:buNone/>
                      </a:pPr>
                      <a:endParaRPr lang="en-US" sz="1200" dirty="0">
                        <a:latin typeface="Calibri" charset="0"/>
                        <a:ea typeface="Calibri" charset="0"/>
                        <a:cs typeface="Calibri" charset="0"/>
                      </a:endParaRPr>
                    </a:p>
                  </a:txBody>
                  <a:tcPr marL="73152" marR="73152" marT="36576" marB="36576">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Original</a:t>
                      </a:r>
                      <a:endParaRPr lang="en-US" sz="1200" dirty="0">
                        <a:latin typeface="Calibri" charset="0"/>
                        <a:ea typeface="Calibri" charset="0"/>
                        <a:cs typeface="Calibri" charset="0"/>
                      </a:endParaRPr>
                    </a:p>
                  </a:txBody>
                  <a:tcPr marL="73152" marR="73152" marT="36576" marB="36576">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Simplified</a:t>
                      </a:r>
                      <a:endParaRPr lang="en-US" sz="1200" dirty="0">
                        <a:latin typeface="Calibri" charset="0"/>
                        <a:ea typeface="Calibri" charset="0"/>
                        <a:cs typeface="Calibri" charset="0"/>
                      </a:endParaRPr>
                    </a:p>
                  </a:txBody>
                  <a:tcPr marL="73152" marR="73152" marT="36576" marB="36576">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Corpus (IDF)</a:t>
                      </a:r>
                      <a:endParaRPr lang="en-US" sz="1200" dirty="0">
                        <a:latin typeface="Calibri" charset="0"/>
                        <a:ea typeface="Calibri" charset="0"/>
                        <a:cs typeface="Calibri" charset="0"/>
                      </a:endParaRPr>
                    </a:p>
                  </a:txBody>
                  <a:tcPr marL="73152" marR="73152" marT="36576" marB="36576">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Adapted / Extended</a:t>
                      </a:r>
                      <a:endParaRPr lang="en-US" sz="1200" dirty="0">
                        <a:latin typeface="Calibri" charset="0"/>
                        <a:ea typeface="Calibri" charset="0"/>
                        <a:cs typeface="Calibri" charset="0"/>
                      </a:endParaRPr>
                    </a:p>
                  </a:txBody>
                  <a:tcPr marL="73152" marR="73152" marT="36576" marB="36576">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solidFill>
                      <a:srgbClr val="1B2A49"/>
                    </a:solidFill>
                  </a:tcPr>
                </a:tc>
              </a:tr>
              <a:tr h="685800">
                <a:tc>
                  <a:txBody>
                    <a:bodyPr/>
                    <a:lstStyle/>
                    <a:p>
                      <a:pPr indent="0" marL="0">
                        <a:buNone/>
                      </a:pPr>
                      <a:r>
                        <a:rPr lang="en-US" sz="1100" b="1" dirty="0">
                          <a:solidFill>
                            <a:srgbClr val="22262E"/>
                          </a:solidFill>
                          <a:latin typeface="Calibri" pitchFamily="34" charset="0"/>
                          <a:ea typeface="Calibri" pitchFamily="34" charset="-122"/>
                          <a:cs typeface="Calibri" pitchFamily="34" charset="-120"/>
                        </a:rPr>
                        <a:t>Compares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target senses vs definitions of context words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target senses vs the context words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enlarged signatures vs context, weighted</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superglosses vs context / definitions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r>
              <a:tr h="457200">
                <a:tc>
                  <a:txBody>
                    <a:bodyPr/>
                    <a:lstStyle/>
                    <a:p>
                      <a:pPr indent="0" marL="0">
                        <a:buNone/>
                      </a:pPr>
                      <a:r>
                        <a:rPr lang="en-US" sz="1100" b="1" dirty="0">
                          <a:solidFill>
                            <a:srgbClr val="22262E"/>
                          </a:solidFill>
                          <a:latin typeface="Calibri" pitchFamily="34" charset="0"/>
                          <a:ea typeface="Calibri" pitchFamily="34" charset="-122"/>
                          <a:cs typeface="Calibri" pitchFamily="34" charset="-120"/>
                        </a:rPr>
                        <a:t>Extra resource</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sense-labelled corpus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WordNet relations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r>
              <a:tr h="457200">
                <a:tc>
                  <a:txBody>
                    <a:bodyPr/>
                    <a:lstStyle/>
                    <a:p>
                      <a:pPr indent="0" marL="0">
                        <a:buNone/>
                      </a:pPr>
                      <a:r>
                        <a:rPr lang="en-US" sz="1100" b="1" dirty="0">
                          <a:solidFill>
                            <a:srgbClr val="22262E"/>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word overlap</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word overlap</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sum of idf of overlaps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word / phrase overlap (n²)</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r>
              <a:tr h="457200">
                <a:tc>
                  <a:txBody>
                    <a:bodyPr/>
                    <a:lstStyle/>
                    <a:p>
                      <a:pPr indent="0" marL="0">
                        <a:buNone/>
                      </a:pPr>
                      <a:r>
                        <a:rPr lang="en-US" sz="1100" b="1" dirty="0">
                          <a:solidFill>
                            <a:srgbClr val="22262E"/>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high (combinations)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low to medium</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medium to high</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r>
              <a:tr h="548640">
                <a:tc>
                  <a:txBody>
                    <a:bodyPr/>
                    <a:lstStyle/>
                    <a:p>
                      <a:pPr indent="0" marL="0">
                        <a:buNone/>
                      </a:pPr>
                      <a:r>
                        <a:rPr lang="en-US" sz="1100" b="1" dirty="0">
                          <a:solidFill>
                            <a:srgbClr val="22262E"/>
                          </a:solidFill>
                          <a:latin typeface="Calibri" pitchFamily="34" charset="0"/>
                          <a:ea typeface="Calibri" pitchFamily="34" charset="-122"/>
                          <a:cs typeface="Calibri" pitchFamily="34" charset="-120"/>
                        </a:rPr>
                        <a:t>Use it for</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history, concept</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b="1" dirty="0">
                          <a:solidFill>
                            <a:srgbClr val="22262E"/>
                          </a:solidFill>
                          <a:latin typeface="Calibri" pitchFamily="34" charset="0"/>
                          <a:ea typeface="Calibri" pitchFamily="34" charset="-122"/>
                          <a:cs typeface="Calibri" pitchFamily="34" charset="-120"/>
                        </a:rPr>
                        <a:t>classroom sums, baseline</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solidFill>
                      <a:srgbClr val="FFF0C7"/>
                    </a:solidFill>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fixing short glosses with data</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c>
                  <a:txBody>
                    <a:bodyPr/>
                    <a:lstStyle/>
                    <a:p>
                      <a:pPr indent="0" marL="0">
                        <a:buNone/>
                      </a:pPr>
                      <a:r>
                        <a:rPr lang="en-US" sz="1100" dirty="0">
                          <a:solidFill>
                            <a:srgbClr val="22262E"/>
                          </a:solidFill>
                          <a:latin typeface="Calibri" pitchFamily="34" charset="0"/>
                          <a:ea typeface="Calibri" pitchFamily="34" charset="-122"/>
                          <a:cs typeface="Calibri" pitchFamily="34" charset="-120"/>
                        </a:rPr>
                        <a:t>fixing short glosses with relations</a:t>
                      </a:r>
                      <a:endParaRPr lang="en-US" sz="1100" dirty="0">
                        <a:latin typeface="Calibri" charset="0"/>
                        <a:ea typeface="Calibri" charset="0"/>
                        <a:cs typeface="Calibri" charset="0"/>
                      </a:endParaRPr>
                    </a:p>
                  </a:txBody>
                  <a:tcPr marL="73152" marR="73152" marT="36576" marB="36576" anchor="ctr">
                    <a:lnL w="6350" cap="flat" cmpd="sng" algn="ctr">
                      <a:solidFill>
                        <a:srgbClr val="C9D0DC"/>
                      </a:solidFill>
                      <a:prstDash val="solid"/>
                      <a:round/>
                      <a:headEnd type="none" w="med" len="med"/>
                      <a:tailEnd type="none" w="med" len="med"/>
                    </a:lnL>
                    <a:lnR w="6350" cap="flat" cmpd="sng" algn="ctr">
                      <a:solidFill>
                        <a:srgbClr val="C9D0DC"/>
                      </a:solidFill>
                      <a:prstDash val="solid"/>
                      <a:round/>
                      <a:headEnd type="none" w="med" len="med"/>
                      <a:tailEnd type="none" w="med" len="med"/>
                    </a:lnR>
                    <a:lnT w="6350" cap="flat" cmpd="sng" algn="ctr">
                      <a:solidFill>
                        <a:srgbClr val="C9D0DC"/>
                      </a:solidFill>
                      <a:prstDash val="solid"/>
                      <a:round/>
                      <a:headEnd type="none" w="med" len="med"/>
                      <a:tailEnd type="none" w="med" len="med"/>
                    </a:lnT>
                    <a:lnB w="6350" cap="flat" cmpd="sng" algn="ctr">
                      <a:solidFill>
                        <a:srgbClr val="C9D0DC"/>
                      </a:solidFill>
                      <a:prstDash val="solid"/>
                      <a:round/>
                      <a:headEnd type="none" w="med" len="med"/>
                      <a:tailEnd type="none" w="med" len="med"/>
                    </a:lnB>
                  </a:tcPr>
                </a:tc>
              </a:tr>
            </a:tbl>
          </a:graphicData>
        </a:graphic>
      </p:graphicFrame>
      <p:sp>
        <p:nvSpPr>
          <p:cNvPr id="6" name="Text 2"/>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ASSESSMENT</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Strengths and limitations</a:t>
            </a:r>
            <a:endParaRPr lang="en-US" sz="2800" dirty="0"/>
          </a:p>
        </p:txBody>
      </p:sp>
      <p:sp>
        <p:nvSpPr>
          <p:cNvPr id="5" name="a1_wipe_0_327"/>
          <p:cNvSpPr/>
          <p:nvPr/>
        </p:nvSpPr>
        <p:spPr>
          <a:xfrm>
            <a:off x="457200" y="1188720"/>
            <a:ext cx="4023360" cy="3108960"/>
          </a:xfrm>
          <a:prstGeom prst="roundRect">
            <a:avLst>
              <a:gd name="adj" fmla="val 3529"/>
            </a:avLst>
          </a:prstGeom>
          <a:solidFill>
            <a:srgbClr val="E2F3F0"/>
          </a:solidFill>
          <a:ln/>
          <a:effectLst>
            <a:outerShdw sx="100000" sy="100000" kx="0" ky="0" algn="bl" rotWithShape="0" blurRad="76200" dist="25400" dir="5400000">
              <a:srgbClr val="000000">
                <a:alpha val="14000"/>
              </a:srgbClr>
            </a:outerShdw>
          </a:effectLst>
        </p:spPr>
        <p:txBody>
          <a:bodyPr wrap="square" lIns="76810" tIns="128016" rIns="128016" bIns="76810" rtlCol="0" anchor="t"/>
          <a:lstStyle/>
          <a:p>
            <a:pPr algn="l" indent="0" marL="0">
              <a:buNone/>
            </a:pPr>
            <a:r>
              <a:rPr lang="en-US" sz="1500" b="1" dirty="0">
                <a:solidFill>
                  <a:srgbClr val="22262E"/>
                </a:solidFill>
                <a:latin typeface="Calibri" pitchFamily="34" charset="0"/>
                <a:ea typeface="Calibri" pitchFamily="34" charset="-122"/>
                <a:cs typeface="Calibri" pitchFamily="34" charset="-120"/>
              </a:rPr>
              <a:t>Strengths</a:t>
            </a:r>
            <a:pPr algn="l" indent="0" marL="0">
              <a:buNone/>
            </a:pPr>
            <a:r>
              <a:rPr lang="en-US" sz="1500" dirty="0">
                <a:solidFill>
                  <a:srgbClr val="22262E"/>
                </a:solidFill>
                <a:latin typeface="Calibri" pitchFamily="34" charset="0"/>
                <a:ea typeface="Calibri" pitchFamily="34" charset="-122"/>
                <a:cs typeface="Calibri" pitchFamily="34" charset="-120"/>
              </a:rPr>
              <a:t>
</a:t>
            </a:r>
            <a:pPr algn="l" indent="0" marL="0">
              <a:buNone/>
            </a:pPr>
            <a:r>
              <a:rPr lang="en-US" sz="1500" b="1" dirty="0">
                <a:solidFill>
                  <a:srgbClr val="22262E"/>
                </a:solidFill>
                <a:latin typeface="Calibri" pitchFamily="34" charset="0"/>
                <a:ea typeface="Calibri" pitchFamily="34" charset="-122"/>
                <a:cs typeface="Calibri" pitchFamily="34" charset="-120"/>
              </a:rPr>
              <a:t>Simple</a:t>
            </a:r>
            <a:pPr algn="l" indent="0" marL="0">
              <a:buNone/>
            </a:pPr>
            <a:r>
              <a:rPr lang="en-US" sz="1500" dirty="0">
                <a:solidFill>
                  <a:srgbClr val="22262E"/>
                </a:solidFill>
                <a:latin typeface="Calibri" pitchFamily="34" charset="0"/>
                <a:ea typeface="Calibri" pitchFamily="34" charset="-122"/>
                <a:cs typeface="Calibri" pitchFamily="34" charset="-120"/>
              </a:rPr>
              <a:t> and computable by hand
</a:t>
            </a:r>
            <a:pPr algn="l" indent="0" marL="0">
              <a:buNone/>
            </a:pPr>
            <a:r>
              <a:rPr lang="en-US" sz="1500" b="1" dirty="0">
                <a:solidFill>
                  <a:srgbClr val="22262E"/>
                </a:solidFill>
                <a:latin typeface="Calibri" pitchFamily="34" charset="0"/>
                <a:ea typeface="Calibri" pitchFamily="34" charset="-122"/>
                <a:cs typeface="Calibri" pitchFamily="34" charset="-120"/>
              </a:rPr>
              <a:t>Explainable</a:t>
            </a:r>
            <a:pPr algn="l" indent="0" marL="0">
              <a:buNone/>
            </a:pPr>
            <a:r>
              <a:rPr lang="en-US" sz="1500" dirty="0">
                <a:solidFill>
                  <a:srgbClr val="22262E"/>
                </a:solidFill>
                <a:latin typeface="Calibri" pitchFamily="34" charset="0"/>
                <a:ea typeface="Calibri" pitchFamily="34" charset="-122"/>
                <a:cs typeface="Calibri" pitchFamily="34" charset="-120"/>
              </a:rPr>
              <a:t>: the shared words are the reason
</a:t>
            </a:r>
            <a:pPr algn="l" indent="0" marL="0">
              <a:buNone/>
            </a:pPr>
            <a:r>
              <a:rPr lang="en-US" sz="1500" b="1" dirty="0">
                <a:solidFill>
                  <a:srgbClr val="22262E"/>
                </a:solidFill>
                <a:latin typeface="Calibri" pitchFamily="34" charset="0"/>
                <a:ea typeface="Calibri" pitchFamily="34" charset="-122"/>
                <a:cs typeface="Calibri" pitchFamily="34" charset="-120"/>
              </a:rPr>
              <a:t>No labelled corpus</a:t>
            </a:r>
            <a:pPr algn="l" indent="0" marL="0">
              <a:buNone/>
            </a:pPr>
            <a:r>
              <a:rPr lang="en-US" sz="1500" dirty="0">
                <a:solidFill>
                  <a:srgbClr val="22262E"/>
                </a:solidFill>
                <a:latin typeface="Calibri" pitchFamily="34" charset="0"/>
                <a:ea typeface="Calibri" pitchFamily="34" charset="-122"/>
                <a:cs typeface="Calibri" pitchFamily="34" charset="-120"/>
              </a:rPr>
              <a:t> for the basic version
</a:t>
            </a:r>
            <a:pPr algn="l" indent="0" marL="0">
              <a:buNone/>
            </a:pPr>
            <a:r>
              <a:rPr lang="en-US" sz="1500" b="1" dirty="0">
                <a:solidFill>
                  <a:srgbClr val="22262E"/>
                </a:solidFill>
                <a:latin typeface="Calibri" pitchFamily="34" charset="0"/>
                <a:ea typeface="Calibri" pitchFamily="34" charset="-122"/>
                <a:cs typeface="Calibri" pitchFamily="34" charset="-120"/>
              </a:rPr>
              <a:t>General</a:t>
            </a:r>
            <a:pPr algn="l" indent="0" marL="0">
              <a:buNone/>
            </a:pPr>
            <a:r>
              <a:rPr lang="en-US" sz="1500" dirty="0">
                <a:solidFill>
                  <a:srgbClr val="22262E"/>
                </a:solidFill>
                <a:latin typeface="Calibri" pitchFamily="34" charset="0"/>
                <a:ea typeface="Calibri" pitchFamily="34" charset="-122"/>
                <a:cs typeface="Calibri" pitchFamily="34" charset="-120"/>
              </a:rPr>
              <a:t>: new words, no syntax needed
</a:t>
            </a:r>
            <a:pPr algn="l" indent="0" marL="0">
              <a:buNone/>
            </a:pPr>
            <a:r>
              <a:rPr lang="en-US" sz="1500" b="1" dirty="0">
                <a:solidFill>
                  <a:srgbClr val="22262E"/>
                </a:solidFill>
                <a:latin typeface="Calibri" pitchFamily="34" charset="0"/>
                <a:ea typeface="Calibri" pitchFamily="34" charset="-122"/>
                <a:cs typeface="Calibri" pitchFamily="34" charset="-120"/>
              </a:rPr>
              <a:t>Adaptable</a:t>
            </a:r>
            <a:pPr algn="l" indent="0" marL="0">
              <a:buNone/>
            </a:pPr>
            <a:r>
              <a:rPr lang="en-US" sz="1500" dirty="0">
                <a:solidFill>
                  <a:srgbClr val="22262E"/>
                </a:solidFill>
                <a:latin typeface="Calibri" pitchFamily="34" charset="0"/>
                <a:ea typeface="Calibri" pitchFamily="34" charset="-122"/>
                <a:cs typeface="Calibri" pitchFamily="34" charset="-120"/>
              </a:rPr>
              <a:t>: weights, corpus, WordNet relations</a:t>
            </a:r>
            <a:endParaRPr lang="en-US" sz="1500" dirty="0"/>
          </a:p>
        </p:txBody>
      </p:sp>
      <p:sp>
        <p:nvSpPr>
          <p:cNvPr id="6" name="a2_wipe_0_328"/>
          <p:cNvSpPr/>
          <p:nvPr/>
        </p:nvSpPr>
        <p:spPr>
          <a:xfrm>
            <a:off x="4663440" y="1188720"/>
            <a:ext cx="4023360" cy="3108960"/>
          </a:xfrm>
          <a:prstGeom prst="roundRect">
            <a:avLst>
              <a:gd name="adj" fmla="val 3529"/>
            </a:avLst>
          </a:prstGeom>
          <a:solidFill>
            <a:srgbClr val="FDE6E1"/>
          </a:solidFill>
          <a:ln/>
          <a:effectLst>
            <a:outerShdw sx="100000" sy="100000" kx="0" ky="0" algn="bl" rotWithShape="0" blurRad="76200" dist="25400" dir="5400000">
              <a:srgbClr val="000000">
                <a:alpha val="14000"/>
              </a:srgbClr>
            </a:outerShdw>
          </a:effectLst>
        </p:spPr>
        <p:txBody>
          <a:bodyPr wrap="square" lIns="76810" tIns="128016" rIns="128016" bIns="76810" rtlCol="0" anchor="t"/>
          <a:lstStyle/>
          <a:p>
            <a:pPr algn="l" indent="0" marL="0">
              <a:buNone/>
            </a:pPr>
            <a:r>
              <a:rPr lang="en-US" sz="1500" b="1" dirty="0">
                <a:solidFill>
                  <a:srgbClr val="22262E"/>
                </a:solidFill>
                <a:latin typeface="Calibri" pitchFamily="34" charset="0"/>
                <a:ea typeface="Calibri" pitchFamily="34" charset="-122"/>
                <a:cs typeface="Calibri" pitchFamily="34" charset="-120"/>
              </a:rPr>
              <a:t>Limitations</a:t>
            </a:r>
            <a:pPr algn="l" indent="0" marL="0">
              <a:buNone/>
            </a:pPr>
            <a:r>
              <a:rPr lang="en-US" sz="1500" dirty="0">
                <a:solidFill>
                  <a:srgbClr val="22262E"/>
                </a:solidFill>
                <a:latin typeface="Calibri" pitchFamily="34" charset="0"/>
                <a:ea typeface="Calibri" pitchFamily="34" charset="-122"/>
                <a:cs typeface="Calibri" pitchFamily="34" charset="-120"/>
              </a:rPr>
              <a:t>
</a:t>
            </a:r>
            <a:pPr algn="l" indent="0" marL="0">
              <a:buNone/>
            </a:pPr>
            <a:r>
              <a:rPr lang="en-US" sz="1500" b="1" dirty="0">
                <a:solidFill>
                  <a:srgbClr val="22262E"/>
                </a:solidFill>
                <a:latin typeface="Calibri" pitchFamily="34" charset="0"/>
                <a:ea typeface="Calibri" pitchFamily="34" charset="-122"/>
                <a:cs typeface="Calibri" pitchFamily="34" charset="-120"/>
              </a:rPr>
              <a:t>Sparse overlap</a:t>
            </a:r>
            <a:pPr algn="l" indent="0" marL="0">
              <a:buNone/>
            </a:pPr>
            <a:r>
              <a:rPr lang="en-US" sz="1500" dirty="0">
                <a:solidFill>
                  <a:srgbClr val="22262E"/>
                </a:solidFill>
                <a:latin typeface="Calibri" pitchFamily="34" charset="0"/>
                <a:ea typeface="Calibri" pitchFamily="34" charset="-122"/>
                <a:cs typeface="Calibri" pitchFamily="34" charset="-120"/>
              </a:rPr>
              <a:t>: short glosses, zero scores
</a:t>
            </a:r>
            <a:pPr algn="l" indent="0" marL="0">
              <a:buNone/>
            </a:pPr>
            <a:r>
              <a:rPr lang="en-US" sz="1500" b="1" dirty="0">
                <a:solidFill>
                  <a:srgbClr val="22262E"/>
                </a:solidFill>
                <a:latin typeface="Calibri" pitchFamily="34" charset="0"/>
                <a:ea typeface="Calibri" pitchFamily="34" charset="-122"/>
                <a:cs typeface="Calibri" pitchFamily="34" charset="-120"/>
              </a:rPr>
              <a:t>Exact matching</a:t>
            </a:r>
            <a:pPr algn="l" indent="0" marL="0">
              <a:buNone/>
            </a:pPr>
            <a:r>
              <a:rPr lang="en-US" sz="1500" dirty="0">
                <a:solidFill>
                  <a:srgbClr val="22262E"/>
                </a:solidFill>
                <a:latin typeface="Calibri" pitchFamily="34" charset="0"/>
                <a:ea typeface="Calibri" pitchFamily="34" charset="-122"/>
                <a:cs typeface="Calibri" pitchFamily="34" charset="-120"/>
              </a:rPr>
              <a:t>: car ≠ automobile
</a:t>
            </a:r>
            <a:pPr algn="l" indent="0" marL="0">
              <a:buNone/>
            </a:pPr>
            <a:r>
              <a:rPr lang="en-US" sz="1500" b="1" dirty="0">
                <a:solidFill>
                  <a:srgbClr val="22262E"/>
                </a:solidFill>
                <a:latin typeface="Calibri" pitchFamily="34" charset="0"/>
                <a:ea typeface="Calibri" pitchFamily="34" charset="-122"/>
                <a:cs typeface="Calibri" pitchFamily="34" charset="-120"/>
              </a:rPr>
              <a:t>Window size</a:t>
            </a:r>
            <a:pPr algn="l" indent="0" marL="0">
              <a:buNone/>
            </a:pPr>
            <a:r>
              <a:rPr lang="en-US" sz="1500" dirty="0">
                <a:solidFill>
                  <a:srgbClr val="22262E"/>
                </a:solidFill>
                <a:latin typeface="Calibri" pitchFamily="34" charset="0"/>
                <a:ea typeface="Calibri" pitchFamily="34" charset="-122"/>
                <a:cs typeface="Calibri" pitchFamily="34" charset="-120"/>
              </a:rPr>
              <a:t>: too small, no evidence; too big, noise
</a:t>
            </a:r>
            <a:pPr algn="l" indent="0" marL="0">
              <a:buNone/>
            </a:pPr>
            <a:r>
              <a:rPr lang="en-US" sz="1500" b="1" dirty="0">
                <a:solidFill>
                  <a:srgbClr val="22262E"/>
                </a:solidFill>
                <a:latin typeface="Calibri" pitchFamily="34" charset="0"/>
                <a:ea typeface="Calibri" pitchFamily="34" charset="-122"/>
                <a:cs typeface="Calibri" pitchFamily="34" charset="-120"/>
              </a:rPr>
              <a:t>Dictionary dependence</a:t>
            </a:r>
            <a:pPr algn="l" indent="0" marL="0">
              <a:buNone/>
            </a:pPr>
            <a:r>
              <a:rPr lang="en-US" sz="1500" dirty="0">
                <a:solidFill>
                  <a:srgbClr val="22262E"/>
                </a:solidFill>
                <a:latin typeface="Calibri" pitchFamily="34" charset="0"/>
                <a:ea typeface="Calibri" pitchFamily="34" charset="-122"/>
                <a:cs typeface="Calibri" pitchFamily="34" charset="-120"/>
              </a:rPr>
              <a:t>: senses and glosses differ
</a:t>
            </a:r>
            <a:pPr algn="l" indent="0" marL="0">
              <a:buNone/>
            </a:pPr>
            <a:r>
              <a:rPr lang="en-US" sz="1500" b="1" dirty="0">
                <a:solidFill>
                  <a:srgbClr val="22262E"/>
                </a:solidFill>
                <a:latin typeface="Calibri" pitchFamily="34" charset="0"/>
                <a:ea typeface="Calibri" pitchFamily="34" charset="-122"/>
                <a:cs typeface="Calibri" pitchFamily="34" charset="-120"/>
              </a:rPr>
              <a:t>Close senses, ties, preprocessing choices</a:t>
            </a:r>
            <a:endParaRPr lang="en-US" sz="1500" dirty="0"/>
          </a:p>
        </p:txBody>
      </p:sp>
      <p:sp>
        <p:nvSpPr>
          <p:cNvPr id="7" name="Text 4"/>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EVALUATION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Evaluation and baselines</a:t>
            </a:r>
            <a:endParaRPr lang="en-US" sz="2800" dirty="0"/>
          </a:p>
        </p:txBody>
      </p:sp>
      <p:sp>
        <p:nvSpPr>
          <p:cNvPr id="5" name="a1_zoom_0_329"/>
          <p:cNvSpPr/>
          <p:nvPr/>
        </p:nvSpPr>
        <p:spPr>
          <a:xfrm>
            <a:off x="457200" y="1188720"/>
            <a:ext cx="2606040" cy="1828800"/>
          </a:xfrm>
          <a:prstGeom prst="roundRect">
            <a:avLst>
              <a:gd name="adj" fmla="val 6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6" name="a1_fade_100_330"/>
          <p:cNvSpPr txBox="1"/>
          <p:nvPr/>
        </p:nvSpPr>
        <p:spPr>
          <a:xfrm>
            <a:off x="640080" y="1325880"/>
            <a:ext cx="2240280" cy="640080"/>
          </a:xfrm>
          <a:prstGeom prst="rect">
            <a:avLst/>
          </a:prstGeom>
          <a:noFill/>
          <a:ln/>
        </p:spPr>
        <p:txBody>
          <a:bodyPr wrap="square" lIns="0" tIns="0" rIns="0" bIns="0" rtlCol="0" anchor="t"/>
          <a:lstStyle/>
          <a:p>
            <a:pPr indent="0" marL="0">
              <a:buNone/>
            </a:pPr>
            <a:r>
              <a:rPr lang="en-US" sz="3200" b="1" dirty="0">
                <a:solidFill>
                  <a:srgbClr val="1F8A7D"/>
                </a:solidFill>
                <a:latin typeface="Cambria" pitchFamily="34" charset="0"/>
                <a:ea typeface="Cambria" pitchFamily="34" charset="-122"/>
                <a:cs typeface="Cambria" pitchFamily="34" charset="-120"/>
              </a:rPr>
              <a:t>MFS</a:t>
            </a:r>
            <a:endParaRPr lang="en-US" sz="3200" dirty="0"/>
          </a:p>
        </p:txBody>
      </p:sp>
      <p:sp>
        <p:nvSpPr>
          <p:cNvPr id="7" name="a1_fade_100_331"/>
          <p:cNvSpPr txBox="1"/>
          <p:nvPr/>
        </p:nvSpPr>
        <p:spPr>
          <a:xfrm>
            <a:off x="640080" y="2011680"/>
            <a:ext cx="2240280" cy="32004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Most frequent sense</a:t>
            </a:r>
            <a:endParaRPr lang="en-US" sz="1400" dirty="0"/>
          </a:p>
        </p:txBody>
      </p:sp>
      <p:sp>
        <p:nvSpPr>
          <p:cNvPr id="8" name="a1_fade_100_332"/>
          <p:cNvSpPr txBox="1"/>
          <p:nvPr/>
        </p:nvSpPr>
        <p:spPr>
          <a:xfrm>
            <a:off x="640080" y="2377440"/>
            <a:ext cx="2240280" cy="5486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take the first WordNet sense</a:t>
            </a:r>
            <a:endParaRPr lang="en-US" sz="1200" dirty="0"/>
          </a:p>
        </p:txBody>
      </p:sp>
      <p:sp>
        <p:nvSpPr>
          <p:cNvPr id="9" name="a1_zoom_250_333"/>
          <p:cNvSpPr/>
          <p:nvPr/>
        </p:nvSpPr>
        <p:spPr>
          <a:xfrm>
            <a:off x="3246120" y="1188720"/>
            <a:ext cx="2606040" cy="1828800"/>
          </a:xfrm>
          <a:prstGeom prst="roundRect">
            <a:avLst>
              <a:gd name="adj" fmla="val 6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0" name="a1_fade_350_334"/>
          <p:cNvSpPr txBox="1"/>
          <p:nvPr/>
        </p:nvSpPr>
        <p:spPr>
          <a:xfrm>
            <a:off x="3429000" y="1325880"/>
            <a:ext cx="2240280" cy="640080"/>
          </a:xfrm>
          <a:prstGeom prst="rect">
            <a:avLst/>
          </a:prstGeom>
          <a:noFill/>
          <a:ln/>
        </p:spPr>
        <p:txBody>
          <a:bodyPr wrap="square" lIns="0" tIns="0" rIns="0" bIns="0" rtlCol="0" anchor="t"/>
          <a:lstStyle/>
          <a:p>
            <a:pPr indent="0" marL="0">
              <a:buNone/>
            </a:pPr>
            <a:r>
              <a:rPr lang="en-US" sz="3200" b="1" dirty="0">
                <a:solidFill>
                  <a:srgbClr val="1F8A7D"/>
                </a:solidFill>
                <a:latin typeface="Cambria" pitchFamily="34" charset="0"/>
                <a:ea typeface="Cambria" pitchFamily="34" charset="-122"/>
                <a:cs typeface="Cambria" pitchFamily="34" charset="-120"/>
              </a:rPr>
              <a:t>Lesk</a:t>
            </a:r>
            <a:endParaRPr lang="en-US" sz="3200" dirty="0"/>
          </a:p>
        </p:txBody>
      </p:sp>
      <p:sp>
        <p:nvSpPr>
          <p:cNvPr id="11" name="a1_fade_350_335"/>
          <p:cNvSpPr txBox="1"/>
          <p:nvPr/>
        </p:nvSpPr>
        <p:spPr>
          <a:xfrm>
            <a:off x="3429000" y="2011680"/>
            <a:ext cx="2240280" cy="32004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Knowledge-based baseline</a:t>
            </a:r>
            <a:endParaRPr lang="en-US" sz="1400" dirty="0"/>
          </a:p>
        </p:txBody>
      </p:sp>
      <p:sp>
        <p:nvSpPr>
          <p:cNvPr id="12" name="a1_fade_350_336"/>
          <p:cNvSpPr txBox="1"/>
          <p:nvPr/>
        </p:nvSpPr>
        <p:spPr>
          <a:xfrm>
            <a:off x="3429000" y="2377440"/>
            <a:ext cx="2240280" cy="5486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dictionary overlap, as in this lecture</a:t>
            </a:r>
            <a:endParaRPr lang="en-US" sz="1200" dirty="0"/>
          </a:p>
        </p:txBody>
      </p:sp>
      <p:sp>
        <p:nvSpPr>
          <p:cNvPr id="13" name="a1_zoom_500_337"/>
          <p:cNvSpPr/>
          <p:nvPr/>
        </p:nvSpPr>
        <p:spPr>
          <a:xfrm>
            <a:off x="6035040" y="1188720"/>
            <a:ext cx="2606040" cy="1828800"/>
          </a:xfrm>
          <a:prstGeom prst="roundRect">
            <a:avLst>
              <a:gd name="adj" fmla="val 6000"/>
            </a:avLst>
          </a:prstGeom>
          <a:solidFill>
            <a:srgbClr val="FFF0C7"/>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4" name="a1_fade_600_338"/>
          <p:cNvSpPr txBox="1"/>
          <p:nvPr/>
        </p:nvSpPr>
        <p:spPr>
          <a:xfrm>
            <a:off x="6217920" y="1325880"/>
            <a:ext cx="2240280" cy="640080"/>
          </a:xfrm>
          <a:prstGeom prst="rect">
            <a:avLst/>
          </a:prstGeom>
          <a:noFill/>
          <a:ln/>
        </p:spPr>
        <p:txBody>
          <a:bodyPr wrap="square" lIns="0" tIns="0" rIns="0" bIns="0" rtlCol="0" anchor="t"/>
          <a:lstStyle/>
          <a:p>
            <a:pPr indent="0" marL="0">
              <a:buNone/>
            </a:pPr>
            <a:r>
              <a:rPr lang="en-US" sz="3200" b="1" dirty="0">
                <a:solidFill>
                  <a:srgbClr val="8A5A00"/>
                </a:solidFill>
                <a:latin typeface="Cambria" pitchFamily="34" charset="0"/>
                <a:ea typeface="Cambria" pitchFamily="34" charset="-122"/>
                <a:cs typeface="Cambria" pitchFamily="34" charset="-120"/>
              </a:rPr>
              <a:t>75–80%</a:t>
            </a:r>
            <a:endParaRPr lang="en-US" sz="3200" dirty="0"/>
          </a:p>
        </p:txBody>
      </p:sp>
      <p:sp>
        <p:nvSpPr>
          <p:cNvPr id="15" name="a1_fade_600_339"/>
          <p:cNvSpPr txBox="1"/>
          <p:nvPr/>
        </p:nvSpPr>
        <p:spPr>
          <a:xfrm>
            <a:off x="6217920" y="2011680"/>
            <a:ext cx="2240280" cy="320040"/>
          </a:xfrm>
          <a:prstGeom prst="rect">
            <a:avLst/>
          </a:prstGeom>
          <a:noFill/>
          <a:ln/>
        </p:spPr>
        <p:txBody>
          <a:bodyPr wrap="square" lIns="0" tIns="0" rIns="0" bIns="0" rtlCol="0" anchor="t"/>
          <a:lstStyle/>
          <a:p>
            <a:pPr indent="0" marL="0">
              <a:buNone/>
            </a:pPr>
            <a:r>
              <a:rPr lang="en-US" sz="1400" b="1" dirty="0">
                <a:solidFill>
                  <a:srgbClr val="1B2A49"/>
                </a:solidFill>
                <a:latin typeface="Calibri" pitchFamily="34" charset="0"/>
                <a:ea typeface="Calibri" pitchFamily="34" charset="-122"/>
                <a:cs typeface="Calibri" pitchFamily="34" charset="-120"/>
              </a:rPr>
              <a:t>Human ceiling</a:t>
            </a:r>
            <a:endParaRPr lang="en-US" sz="1400" dirty="0"/>
          </a:p>
        </p:txBody>
      </p:sp>
      <p:sp>
        <p:nvSpPr>
          <p:cNvPr id="16" name="a1_fade_600_340"/>
          <p:cNvSpPr txBox="1"/>
          <p:nvPr/>
        </p:nvSpPr>
        <p:spPr>
          <a:xfrm>
            <a:off x="6217920" y="2377440"/>
            <a:ext cx="2240280" cy="548640"/>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inter-annotator agreement, WordNet-style senses</a:t>
            </a:r>
            <a:endParaRPr lang="en-US" sz="1200" dirty="0"/>
          </a:p>
        </p:txBody>
      </p:sp>
      <p:sp>
        <p:nvSpPr>
          <p:cNvPr id="17" name="a2_wipe_0_341"/>
          <p:cNvSpPr/>
          <p:nvPr/>
        </p:nvSpPr>
        <p:spPr>
          <a:xfrm>
            <a:off x="457200" y="3291840"/>
            <a:ext cx="4023360" cy="1188720"/>
          </a:xfrm>
          <a:prstGeom prst="roundRect">
            <a:avLst>
              <a:gd name="adj" fmla="val 9231"/>
            </a:avLst>
          </a:prstGeom>
          <a:solidFill>
            <a:srgbClr val="E2F3F0"/>
          </a:solidFill>
          <a:ln/>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Extrinsic (best)</a:t>
            </a:r>
            <a:pPr algn="l" indent="0" marL="0">
              <a:buNone/>
            </a:pPr>
            <a:endParaRPr lang="en-US" sz="1300" dirty="0"/>
          </a:p>
          <a:p>
            <a:pPr algn="l" indent="0" marL="0">
              <a:buNone/>
            </a:pPr>
            <a:r>
              <a:rPr lang="en-US" sz="1300" dirty="0">
                <a:solidFill>
                  <a:srgbClr val="22262E"/>
                </a:solidFill>
                <a:latin typeface="Calibri" pitchFamily="34" charset="0"/>
                <a:ea typeface="Calibri" pitchFamily="34" charset="-122"/>
                <a:cs typeface="Calibri" pitchFamily="34" charset="-120"/>
              </a:rPr>
              <a:t>Embed WSD in MT / QA / IR and check whether the task improves.</a:t>
            </a:r>
            <a:endParaRPr lang="en-US" sz="1300" dirty="0"/>
          </a:p>
        </p:txBody>
      </p:sp>
      <p:sp>
        <p:nvSpPr>
          <p:cNvPr id="18" name="a2_wipe_250_342"/>
          <p:cNvSpPr/>
          <p:nvPr/>
        </p:nvSpPr>
        <p:spPr>
          <a:xfrm>
            <a:off x="4663440" y="3291840"/>
            <a:ext cx="4023360" cy="1188720"/>
          </a:xfrm>
          <a:prstGeom prst="roundRect">
            <a:avLst>
              <a:gd name="adj" fmla="val 9231"/>
            </a:avLst>
          </a:prstGeom>
          <a:solidFill>
            <a:srgbClr val="E2F3F0"/>
          </a:solidFill>
          <a:ln/>
        </p:spPr>
        <p:txBody>
          <a:bodyPr wrap="square" lIns="76810" tIns="128016" rIns="128016" bIns="76810" rtlCol="0" anchor="ctr"/>
          <a:lstStyle/>
          <a:p>
            <a:pPr algn="l" indent="0" marL="0">
              <a:buNone/>
            </a:pPr>
            <a:r>
              <a:rPr lang="en-US" sz="1300" b="1" dirty="0">
                <a:solidFill>
                  <a:srgbClr val="22262E"/>
                </a:solidFill>
                <a:latin typeface="Calibri" pitchFamily="34" charset="0"/>
                <a:ea typeface="Calibri" pitchFamily="34" charset="-122"/>
                <a:cs typeface="Calibri" pitchFamily="34" charset="-120"/>
              </a:rPr>
              <a:t>Intrinsic (convenient)</a:t>
            </a:r>
            <a:pPr algn="l" indent="0" marL="0">
              <a:buNone/>
            </a:pPr>
            <a:endParaRPr lang="en-US" sz="1300" dirty="0"/>
          </a:p>
          <a:p>
            <a:pPr algn="l" indent="0" marL="0">
              <a:buNone/>
            </a:pPr>
            <a:r>
              <a:rPr lang="en-US" sz="1300" dirty="0">
                <a:solidFill>
                  <a:srgbClr val="22262E"/>
                </a:solidFill>
                <a:latin typeface="Calibri" pitchFamily="34" charset="0"/>
                <a:ea typeface="Calibri" pitchFamily="34" charset="-122"/>
                <a:cs typeface="Calibri" pitchFamily="34" charset="-120"/>
              </a:rPr>
              <a:t>Exact-match sense accuracy on held-out data from a labelled corpus (SemCor, Senseval).</a:t>
            </a:r>
            <a:endParaRPr lang="en-US" sz="1300" dirty="0"/>
          </a:p>
        </p:txBody>
      </p:sp>
      <p:sp>
        <p:nvSpPr>
          <p:cNvPr id="19" name="Text 16"/>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500" fill="hold"/>
                                        <p:tgtEl>
                                          <p:spTgt spid="5"/>
                                        </p:tgtEl>
                                        <p:attrNameLst>
                                          <p:attrName>ppt_w</p:attrName>
                                        </p:attrNameLst>
                                      </p:cBhvr>
                                      <p:tavLst>
                                        <p:tav tm="0">
                                          <p:val>
                                            <p:fltVal val="0"/>
                                          </p:val>
                                        </p:tav>
                                        <p:tav tm="100000">
                                          <p:val>
                                            <p:strVal val="#ppt_w"/>
                                          </p:val>
                                        </p:tav>
                                      </p:tavLst>
                                    </p:anim>
                                    <p:anim calcmode="lin" valueType="num">
                                      <p:cBhvr additive="base">
                                        <p:cTn id="6" dur="500" fill="hold"/>
                                        <p:tgtEl>
                                          <p:spTgt spid="5"/>
                                        </p:tgtEl>
                                        <p:attrNameLst>
                                          <p:attrName>ppt_h</p:attrName>
                                        </p:attrNameLst>
                                      </p:cBhvr>
                                      <p:tavLst>
                                        <p:tav tm="0">
                                          <p:val>
                                            <p:fltVal val="0"/>
                                          </p:val>
                                        </p:tav>
                                        <p:tav tm="100000">
                                          <p:val>
                                            <p:strVal val="#ppt_h"/>
                                          </p:val>
                                        </p:tav>
                                      </p:tavLst>
                                    </p:anim>
                                    <p:animEffect transition="in" filter="fade">
                                      <p:cBhvr>
                                        <p:cTn id="7" dur="500"/>
                                        <p:tgtEl>
                                          <p:spTgt spid="5"/>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53" presetClass="entr" presetSubtype="16"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ppt_w</p:attrName>
                                        </p:attrNameLst>
                                      </p:cBhvr>
                                      <p:tavLst>
                                        <p:tav tm="0">
                                          <p:val>
                                            <p:fltVal val="0"/>
                                          </p:val>
                                        </p:tav>
                                        <p:tav tm="100000">
                                          <p:val>
                                            <p:strVal val="#ppt_w"/>
                                          </p:val>
                                        </p:tav>
                                      </p:tavLst>
                                    </p:anim>
                                    <p:anim calcmode="lin" valueType="num">
                                      <p:cBhvr additive="base">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10" presetClass="entr" presetSubtype="0" fill="hold" grpId="0" nodeType="withEffect">
                                  <p:stCondLst>
                                    <p:cond delay="3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3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3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53" presetClass="entr" presetSubtype="16" fill="hold" grpId="0" nodeType="withEffect">
                                  <p:stCondLst>
                                    <p:cond delay="50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ppt_w</p:attrName>
                                        </p:attrNameLst>
                                      </p:cBhvr>
                                      <p:tavLst>
                                        <p:tav tm="0">
                                          <p:val>
                                            <p:fltVal val="0"/>
                                          </p:val>
                                        </p:tav>
                                        <p:tav tm="100000">
                                          <p:val>
                                            <p:strVal val="#ppt_w"/>
                                          </p:val>
                                        </p:tav>
                                      </p:tavLst>
                                    </p:anim>
                                    <p:anim calcmode="lin" valueType="num">
                                      <p:cBhvr additive="base">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36" presetID="10" presetClass="entr" presetSubtype="0" fill="hold" grpId="0" nodeType="withEffect">
                                  <p:stCondLst>
                                    <p:cond delay="6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6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6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22" presetClass="entr" presetSubtype="8" fill="hold" grpId="0" nodeType="withEffect">
                                  <p:stCondLst>
                                    <p:cond delay="25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9"/>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F4A300"/>
                </a:solidFill>
                <a:latin typeface="Calibri" pitchFamily="34" charset="0"/>
                <a:ea typeface="Calibri" pitchFamily="34" charset="-122"/>
                <a:cs typeface="Calibri" pitchFamily="34" charset="-120"/>
              </a:rPr>
              <a:t>CODE</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Simplified Lesk in Python</a:t>
            </a:r>
            <a:endParaRPr lang="en-US" sz="2800" dirty="0"/>
          </a:p>
        </p:txBody>
      </p:sp>
      <p:sp>
        <p:nvSpPr>
          <p:cNvPr id="5" name="Shape 2"/>
          <p:cNvSpPr/>
          <p:nvPr/>
        </p:nvSpPr>
        <p:spPr>
          <a:xfrm>
            <a:off x="457200" y="1143000"/>
            <a:ext cx="4846320" cy="3383280"/>
          </a:xfrm>
          <a:prstGeom prst="roundRect">
            <a:avLst>
              <a:gd name="adj" fmla="val 3243"/>
            </a:avLst>
          </a:prstGeom>
          <a:solidFill>
            <a:srgbClr val="0F1A33"/>
          </a:solidFill>
          <a:ln/>
        </p:spPr>
      </p:sp>
      <p:sp>
        <p:nvSpPr>
          <p:cNvPr id="6" name="a1_wipe_0_343"/>
          <p:cNvSpPr txBox="1"/>
          <p:nvPr/>
        </p:nvSpPr>
        <p:spPr>
          <a:xfrm>
            <a:off x="640080" y="1280160"/>
            <a:ext cx="4572000" cy="3108960"/>
          </a:xfrm>
          <a:prstGeom prst="rect">
            <a:avLst/>
          </a:prstGeom>
          <a:noFill/>
          <a:ln/>
        </p:spPr>
        <p:txBody>
          <a:bodyPr wrap="square" lIns="0" tIns="0" rIns="0" bIns="0" rtlCol="0" anchor="t"/>
          <a:lstStyle/>
          <a:p>
            <a:pPr indent="0" marL="0">
              <a:buNone/>
            </a:pPr>
            <a:r>
              <a:rPr lang="en-US" sz="1000" dirty="0">
                <a:solidFill>
                  <a:srgbClr val="CADCFC"/>
                </a:solidFill>
                <a:latin typeface="Courier New" pitchFamily="34" charset="0"/>
                <a:ea typeface="Courier New" pitchFamily="34" charset="-122"/>
                <a:cs typeface="Courier New" pitchFamily="34" charset="-120"/>
              </a:rPr>
              <a:t>def simplified_lesk(word, sentence, pos="n"):</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context = content_words(sentence) - {norm(word)}</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senses  = wn.synsets(word, pos=pos)</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best, max_overlap = senses[0], 0   # MFS default</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for s in senses:</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sig = signature(s, word)       # gloss+examples</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overlap = len(sig &amp; context)</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if overlap &gt; max_overlap:      # strict &gt;</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best, max_overlap = s, overlap</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return best, max_overlap</a:t>
            </a:r>
            <a:endParaRPr lang="en-US" sz="1000" dirty="0"/>
          </a:p>
          <a:p>
            <a:pPr indent="0" marL="0">
              <a:buNone/>
            </a:pP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content_words(): lower-case, stop list,</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lemmatise;  signature(): gloss + examples,</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 target removed</a:t>
            </a:r>
            <a:endParaRPr lang="en-US" sz="1000" dirty="0"/>
          </a:p>
        </p:txBody>
      </p:sp>
      <p:sp>
        <p:nvSpPr>
          <p:cNvPr id="7" name="a2_fly_0_344"/>
          <p:cNvSpPr/>
          <p:nvPr/>
        </p:nvSpPr>
        <p:spPr>
          <a:xfrm>
            <a:off x="5577840" y="1143000"/>
            <a:ext cx="3108960" cy="457200"/>
          </a:xfrm>
          <a:prstGeom prst="roundRect">
            <a:avLst>
              <a:gd name="adj" fmla="val 24000"/>
            </a:avLst>
          </a:prstGeom>
          <a:solidFill>
            <a:srgbClr val="27385F"/>
          </a:solidFill>
          <a:ln/>
        </p:spPr>
        <p:txBody>
          <a:bodyPr wrap="square" lIns="76810" tIns="128016" rIns="128016" bIns="7681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bank (Text 1)</a:t>
            </a:r>
            <a:pPr algn="l" indent="0" marL="0">
              <a:buNone/>
            </a:pPr>
            <a:r>
              <a:rPr lang="en-US" sz="1150" dirty="0">
                <a:solidFill>
                  <a:srgbClr val="FFFFFF"/>
                </a:solidFill>
                <a:latin typeface="Calibri" pitchFamily="34" charset="0"/>
                <a:ea typeface="Calibri" pitchFamily="34" charset="-122"/>
                <a:cs typeface="Calibri" pitchFamily="34" charset="-120"/>
              </a:rPr>
              <a:t>  financial, overlap 2</a:t>
            </a:r>
            <a:endParaRPr lang="en-US" sz="1150" dirty="0"/>
          </a:p>
        </p:txBody>
      </p:sp>
      <p:sp>
        <p:nvSpPr>
          <p:cNvPr id="8" name="a2_fly_250_345"/>
          <p:cNvSpPr/>
          <p:nvPr/>
        </p:nvSpPr>
        <p:spPr>
          <a:xfrm>
            <a:off x="5577840" y="1691640"/>
            <a:ext cx="3108960" cy="457200"/>
          </a:xfrm>
          <a:prstGeom prst="roundRect">
            <a:avLst>
              <a:gd name="adj" fmla="val 24000"/>
            </a:avLst>
          </a:prstGeom>
          <a:solidFill>
            <a:srgbClr val="27385F"/>
          </a:solidFill>
          <a:ln/>
        </p:spPr>
        <p:txBody>
          <a:bodyPr wrap="square" lIns="76810" tIns="128016" rIns="128016" bIns="7681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bank (Text 2)</a:t>
            </a:r>
            <a:pPr algn="l" indent="0" marL="0">
              <a:buNone/>
            </a:pPr>
            <a:r>
              <a:rPr lang="en-US" sz="1150" dirty="0">
                <a:solidFill>
                  <a:srgbClr val="FFFFFF"/>
                </a:solidFill>
                <a:latin typeface="Calibri" pitchFamily="34" charset="0"/>
                <a:ea typeface="Calibri" pitchFamily="34" charset="-122"/>
                <a:cs typeface="Calibri" pitchFamily="34" charset="-120"/>
              </a:rPr>
              <a:t>  slope, overlap 1</a:t>
            </a:r>
            <a:endParaRPr lang="en-US" sz="1150" dirty="0"/>
          </a:p>
        </p:txBody>
      </p:sp>
      <p:sp>
        <p:nvSpPr>
          <p:cNvPr id="9" name="a2_fly_500_346"/>
          <p:cNvSpPr/>
          <p:nvPr/>
        </p:nvSpPr>
        <p:spPr>
          <a:xfrm>
            <a:off x="5577840" y="2240280"/>
            <a:ext cx="3108960" cy="457200"/>
          </a:xfrm>
          <a:prstGeom prst="roundRect">
            <a:avLst>
              <a:gd name="adj" fmla="val 24000"/>
            </a:avLst>
          </a:prstGeom>
          <a:solidFill>
            <a:srgbClr val="27385F"/>
          </a:solidFill>
          <a:ln/>
        </p:spPr>
        <p:txBody>
          <a:bodyPr wrap="square" lIns="76810" tIns="128016" rIns="128016" bIns="7681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plant (cars)</a:t>
            </a:r>
            <a:pPr algn="l" indent="0" marL="0">
              <a:buNone/>
            </a:pPr>
            <a:r>
              <a:rPr lang="en-US" sz="1150" dirty="0">
                <a:solidFill>
                  <a:srgbClr val="FFFFFF"/>
                </a:solidFill>
                <a:latin typeface="Calibri" pitchFamily="34" charset="0"/>
                <a:ea typeface="Calibri" pitchFamily="34" charset="-122"/>
                <a:cs typeface="Calibri" pitchFamily="34" charset="-120"/>
              </a:rPr>
              <a:t>  industrial, overlap 3</a:t>
            </a:r>
            <a:endParaRPr lang="en-US" sz="1150" dirty="0"/>
          </a:p>
        </p:txBody>
      </p:sp>
      <p:sp>
        <p:nvSpPr>
          <p:cNvPr id="10" name="a2_fly_750_347"/>
          <p:cNvSpPr/>
          <p:nvPr/>
        </p:nvSpPr>
        <p:spPr>
          <a:xfrm>
            <a:off x="5577840" y="2788920"/>
            <a:ext cx="3108960" cy="457200"/>
          </a:xfrm>
          <a:prstGeom prst="roundRect">
            <a:avLst>
              <a:gd name="adj" fmla="val 24000"/>
            </a:avLst>
          </a:prstGeom>
          <a:solidFill>
            <a:srgbClr val="D9503A"/>
          </a:solidFill>
          <a:ln/>
        </p:spPr>
        <p:txBody>
          <a:bodyPr wrap="square" lIns="76810" tIns="128016" rIns="128016" bIns="7681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plant (watered)</a:t>
            </a:r>
            <a:pPr algn="l" indent="0" marL="0">
              <a:buNone/>
            </a:pPr>
            <a:r>
              <a:rPr lang="en-US" sz="1150" dirty="0">
                <a:solidFill>
                  <a:srgbClr val="FFFFFF"/>
                </a:solidFill>
                <a:latin typeface="Calibri" pitchFamily="34" charset="0"/>
                <a:ea typeface="Calibri" pitchFamily="34" charset="-122"/>
                <a:cs typeface="Calibri" pitchFamily="34" charset="-120"/>
              </a:rPr>
              <a:t>  industrial by back-off, WRONG</a:t>
            </a:r>
            <a:endParaRPr lang="en-US" sz="1150" dirty="0"/>
          </a:p>
        </p:txBody>
      </p:sp>
      <p:sp>
        <p:nvSpPr>
          <p:cNvPr id="11" name="a3_zoom_0_348"/>
          <p:cNvSpPr/>
          <p:nvPr/>
        </p:nvSpPr>
        <p:spPr>
          <a:xfrm>
            <a:off x="5577840" y="3429000"/>
            <a:ext cx="3108960" cy="1097280"/>
          </a:xfrm>
          <a:prstGeom prst="roundRect">
            <a:avLst>
              <a:gd name="adj" fmla="val 10000"/>
            </a:avLst>
          </a:prstGeom>
          <a:solidFill>
            <a:srgbClr val="F4A300"/>
          </a:solidFill>
          <a:ln/>
        </p:spPr>
        <p:txBody>
          <a:bodyPr wrap="square" lIns="76810" tIns="128016" rIns="128016" bIns="76810" rtlCol="0" anchor="ctr"/>
          <a:lstStyle/>
          <a:p>
            <a:pPr algn="l" indent="0" marL="0">
              <a:buNone/>
            </a:pPr>
            <a:r>
              <a:rPr lang="en-US" sz="1100" dirty="0">
                <a:solidFill>
                  <a:srgbClr val="22262E"/>
                </a:solidFill>
                <a:latin typeface="Calibri" pitchFamily="34" charset="0"/>
                <a:ea typeface="Calibri" pitchFamily="34" charset="-122"/>
                <a:cs typeface="Calibri" pitchFamily="34" charset="-120"/>
              </a:rPr>
              <a:t>NLTK lesk() is not textbook Lesk</a:t>
            </a:r>
            <a:endParaRPr lang="en-US" sz="1100" dirty="0"/>
          </a:p>
          <a:p>
            <a:pPr algn="l" indent="0" marL="0">
              <a:buNone/>
            </a:pPr>
            <a:r>
              <a:rPr lang="en-US" sz="1100" dirty="0">
                <a:solidFill>
                  <a:srgbClr val="22262E"/>
                </a:solidFill>
                <a:latin typeface="Calibri" pitchFamily="34" charset="0"/>
                <a:ea typeface="Calibri" pitchFamily="34" charset="-122"/>
                <a:cs typeface="Calibri" pitchFamily="34" charset="-120"/>
              </a:rPr>
              <a:t>Gloss only, no stop list, no lemmas. On the textbook bank sentence it returns bank.n.05 via in and future.</a:t>
            </a:r>
            <a:endParaRPr lang="en-US" sz="1100" dirty="0"/>
          </a:p>
        </p:txBody>
      </p:sp>
      <p:sp>
        <p:nvSpPr>
          <p:cNvPr id="12" name="Text 9"/>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BB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wipe(left)">
                                      <p:cBhvr>
                                        <p:cTn id="5"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8" presetID="2" presetClass="entr" presetSubtype="4" fill="hold" grpId="0" nodeType="click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25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50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75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ppt_x"/>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ppt_w</p:attrName>
                                        </p:attrNameLst>
                                      </p:cBhvr>
                                      <p:tavLst>
                                        <p:tav tm="0">
                                          <p:val>
                                            <p:fltVal val="0"/>
                                          </p:val>
                                        </p:tav>
                                        <p:tav tm="100000">
                                          <p:val>
                                            <p:strVal val="#ppt_w"/>
                                          </p:val>
                                        </p:tav>
                                      </p:tavLst>
                                    </p:anim>
                                    <p:anim calcmode="lin" valueType="num">
                                      <p:cBhvr additive="base">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EXAM TIPS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Six mistakes to avoid</a:t>
            </a:r>
            <a:endParaRPr lang="en-US" sz="2800" dirty="0"/>
          </a:p>
        </p:txBody>
      </p:sp>
      <p:sp>
        <p:nvSpPr>
          <p:cNvPr id="5" name="a1_fade_0_349"/>
          <p:cNvSpPr/>
          <p:nvPr/>
        </p:nvSpPr>
        <p:spPr>
          <a:xfrm>
            <a:off x="457200" y="123444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6" name="a1_fade_100_350"/>
          <p:cNvSpPr txBox="1"/>
          <p:nvPr/>
        </p:nvSpPr>
        <p:spPr>
          <a:xfrm>
            <a:off x="594360" y="1362456"/>
            <a:ext cx="2331720" cy="594360"/>
          </a:xfrm>
          <a:prstGeom prst="rect">
            <a:avLst/>
          </a:prstGeom>
          <a:noFill/>
          <a:ln/>
        </p:spPr>
        <p:txBody>
          <a:bodyPr wrap="square" lIns="0" tIns="0" rIns="0" bIns="0" rtlCol="0" anchor="t"/>
          <a:lstStyle/>
          <a:p>
            <a:pPr indent="0" marL="0">
              <a:buNone/>
            </a:pPr>
            <a:r>
              <a:rPr lang="en-US" sz="1300" b="1" dirty="0">
                <a:solidFill>
                  <a:srgbClr val="D9503A"/>
                </a:solidFill>
                <a:latin typeface="Calibri" pitchFamily="34" charset="0"/>
                <a:ea typeface="Calibri" pitchFamily="34" charset="-122"/>
                <a:cs typeface="Calibri" pitchFamily="34" charset="-120"/>
              </a:rPr>
              <a:t>✗  Picking what sounds right</a:t>
            </a:r>
            <a:endParaRPr lang="en-US" sz="1300" dirty="0"/>
          </a:p>
        </p:txBody>
      </p:sp>
      <p:sp>
        <p:nvSpPr>
          <p:cNvPr id="7" name="a1_fade_100_351"/>
          <p:cNvSpPr txBox="1"/>
          <p:nvPr/>
        </p:nvSpPr>
        <p:spPr>
          <a:xfrm>
            <a:off x="594360" y="2057400"/>
            <a:ext cx="2331720" cy="594360"/>
          </a:xfrm>
          <a:prstGeom prst="rect">
            <a:avLst/>
          </a:prstGeom>
          <a:noFill/>
          <a:ln/>
        </p:spPr>
        <p:txBody>
          <a:bodyPr wrap="square" lIns="0" tIns="0" rIns="0" bIns="0" rtlCol="0" anchor="t"/>
          <a:lstStyle/>
          <a:p>
            <a:pPr indent="0" marL="0">
              <a:buNone/>
            </a:pPr>
            <a:r>
              <a:rPr lang="en-US" sz="1250" dirty="0">
                <a:solidFill>
                  <a:srgbClr val="1F8A7D"/>
                </a:solidFill>
                <a:latin typeface="Calibri" pitchFamily="34" charset="0"/>
                <a:ea typeface="Calibri" pitchFamily="34" charset="-122"/>
                <a:cs typeface="Calibri" pitchFamily="34" charset="-120"/>
              </a:rPr>
              <a:t>✓  Show every sense and its score</a:t>
            </a:r>
            <a:endParaRPr lang="en-US" sz="1250" dirty="0"/>
          </a:p>
        </p:txBody>
      </p:sp>
      <p:sp>
        <p:nvSpPr>
          <p:cNvPr id="8" name="a1_fade_200_352"/>
          <p:cNvSpPr/>
          <p:nvPr/>
        </p:nvSpPr>
        <p:spPr>
          <a:xfrm>
            <a:off x="3246120" y="123444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9" name="a1_fade_300_353"/>
          <p:cNvSpPr txBox="1"/>
          <p:nvPr/>
        </p:nvSpPr>
        <p:spPr>
          <a:xfrm>
            <a:off x="3383280" y="1362456"/>
            <a:ext cx="2331720" cy="594360"/>
          </a:xfrm>
          <a:prstGeom prst="rect">
            <a:avLst/>
          </a:prstGeom>
          <a:noFill/>
          <a:ln/>
        </p:spPr>
        <p:txBody>
          <a:bodyPr wrap="square" lIns="0" tIns="0" rIns="0" bIns="0" rtlCol="0" anchor="t"/>
          <a:lstStyle/>
          <a:p>
            <a:pPr indent="0" marL="0">
              <a:buNone/>
            </a:pPr>
            <a:r>
              <a:rPr lang="en-US" sz="1300" b="1" dirty="0">
                <a:solidFill>
                  <a:srgbClr val="D9503A"/>
                </a:solidFill>
                <a:latin typeface="Calibri" pitchFamily="34" charset="0"/>
                <a:ea typeface="Calibri" pitchFamily="34" charset="-122"/>
                <a:cs typeface="Calibri" pitchFamily="34" charset="-120"/>
              </a:rPr>
              <a:t>✗  Counting the target word</a:t>
            </a:r>
            <a:endParaRPr lang="en-US" sz="1300" dirty="0"/>
          </a:p>
        </p:txBody>
      </p:sp>
      <p:sp>
        <p:nvSpPr>
          <p:cNvPr id="10" name="a1_fade_300_354"/>
          <p:cNvSpPr txBox="1"/>
          <p:nvPr/>
        </p:nvSpPr>
        <p:spPr>
          <a:xfrm>
            <a:off x="3383280" y="2057400"/>
            <a:ext cx="2331720" cy="594360"/>
          </a:xfrm>
          <a:prstGeom prst="rect">
            <a:avLst/>
          </a:prstGeom>
          <a:noFill/>
          <a:ln/>
        </p:spPr>
        <p:txBody>
          <a:bodyPr wrap="square" lIns="0" tIns="0" rIns="0" bIns="0" rtlCol="0" anchor="t"/>
          <a:lstStyle/>
          <a:p>
            <a:pPr indent="0" marL="0">
              <a:buNone/>
            </a:pPr>
            <a:r>
              <a:rPr lang="en-US" sz="1250" dirty="0">
                <a:solidFill>
                  <a:srgbClr val="1F8A7D"/>
                </a:solidFill>
                <a:latin typeface="Calibri" pitchFamily="34" charset="0"/>
                <a:ea typeface="Calibri" pitchFamily="34" charset="-122"/>
                <a:cs typeface="Calibri" pitchFamily="34" charset="-120"/>
              </a:rPr>
              <a:t>✓  Exclude it from the context</a:t>
            </a:r>
            <a:endParaRPr lang="en-US" sz="1250" dirty="0"/>
          </a:p>
        </p:txBody>
      </p:sp>
      <p:sp>
        <p:nvSpPr>
          <p:cNvPr id="11" name="a1_fade_400_355"/>
          <p:cNvSpPr/>
          <p:nvPr/>
        </p:nvSpPr>
        <p:spPr>
          <a:xfrm>
            <a:off x="6035040" y="123444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2" name="a1_fade_500_356"/>
          <p:cNvSpPr txBox="1"/>
          <p:nvPr/>
        </p:nvSpPr>
        <p:spPr>
          <a:xfrm>
            <a:off x="6172200" y="1362456"/>
            <a:ext cx="2331720" cy="594360"/>
          </a:xfrm>
          <a:prstGeom prst="rect">
            <a:avLst/>
          </a:prstGeom>
          <a:noFill/>
          <a:ln/>
        </p:spPr>
        <p:txBody>
          <a:bodyPr wrap="square" lIns="0" tIns="0" rIns="0" bIns="0" rtlCol="0" anchor="t"/>
          <a:lstStyle/>
          <a:p>
            <a:pPr indent="0" marL="0">
              <a:buNone/>
            </a:pPr>
            <a:r>
              <a:rPr lang="en-US" sz="1300" b="1" dirty="0">
                <a:solidFill>
                  <a:srgbClr val="D9503A"/>
                </a:solidFill>
                <a:latin typeface="Calibri" pitchFamily="34" charset="0"/>
                <a:ea typeface="Calibri" pitchFamily="34" charset="-122"/>
                <a:cs typeface="Calibri" pitchFamily="34" charset="-120"/>
              </a:rPr>
              <a:t>✗  Counting stop words</a:t>
            </a:r>
            <a:endParaRPr lang="en-US" sz="1300" dirty="0"/>
          </a:p>
        </p:txBody>
      </p:sp>
      <p:sp>
        <p:nvSpPr>
          <p:cNvPr id="13" name="a1_fade_500_357"/>
          <p:cNvSpPr txBox="1"/>
          <p:nvPr/>
        </p:nvSpPr>
        <p:spPr>
          <a:xfrm>
            <a:off x="6172200" y="2057400"/>
            <a:ext cx="2331720" cy="594360"/>
          </a:xfrm>
          <a:prstGeom prst="rect">
            <a:avLst/>
          </a:prstGeom>
          <a:noFill/>
          <a:ln/>
        </p:spPr>
        <p:txBody>
          <a:bodyPr wrap="square" lIns="0" tIns="0" rIns="0" bIns="0" rtlCol="0" anchor="t"/>
          <a:lstStyle/>
          <a:p>
            <a:pPr indent="0" marL="0">
              <a:buNone/>
            </a:pPr>
            <a:r>
              <a:rPr lang="en-US" sz="1250" dirty="0">
                <a:solidFill>
                  <a:srgbClr val="1F8A7D"/>
                </a:solidFill>
                <a:latin typeface="Calibri" pitchFamily="34" charset="0"/>
                <a:ea typeface="Calibri" pitchFamily="34" charset="-122"/>
                <a:cs typeface="Calibri" pitchFamily="34" charset="-120"/>
              </a:rPr>
              <a:t>✓  Remove them when a stop list is used</a:t>
            </a:r>
            <a:endParaRPr lang="en-US" sz="1250" dirty="0"/>
          </a:p>
        </p:txBody>
      </p:sp>
      <p:sp>
        <p:nvSpPr>
          <p:cNvPr id="14" name="a1_fade_600_358"/>
          <p:cNvSpPr/>
          <p:nvPr/>
        </p:nvSpPr>
        <p:spPr>
          <a:xfrm>
            <a:off x="457200" y="292608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5" name="a1_fade_700_359"/>
          <p:cNvSpPr txBox="1"/>
          <p:nvPr/>
        </p:nvSpPr>
        <p:spPr>
          <a:xfrm>
            <a:off x="594360" y="3054096"/>
            <a:ext cx="2331720" cy="594360"/>
          </a:xfrm>
          <a:prstGeom prst="rect">
            <a:avLst/>
          </a:prstGeom>
          <a:noFill/>
          <a:ln/>
        </p:spPr>
        <p:txBody>
          <a:bodyPr wrap="square" lIns="0" tIns="0" rIns="0" bIns="0" rtlCol="0" anchor="t"/>
          <a:lstStyle/>
          <a:p>
            <a:pPr indent="0" marL="0">
              <a:buNone/>
            </a:pPr>
            <a:r>
              <a:rPr lang="en-US" sz="1300" b="1" dirty="0">
                <a:solidFill>
                  <a:srgbClr val="D9503A"/>
                </a:solidFill>
                <a:latin typeface="Calibri" pitchFamily="34" charset="0"/>
                <a:ea typeface="Calibri" pitchFamily="34" charset="-122"/>
                <a:cs typeface="Calibri" pitchFamily="34" charset="-120"/>
              </a:rPr>
              <a:t>✗  Matching deposit with deposits silently</a:t>
            </a:r>
            <a:endParaRPr lang="en-US" sz="1300" dirty="0"/>
          </a:p>
        </p:txBody>
      </p:sp>
      <p:sp>
        <p:nvSpPr>
          <p:cNvPr id="16" name="a1_fade_700_360"/>
          <p:cNvSpPr txBox="1"/>
          <p:nvPr/>
        </p:nvSpPr>
        <p:spPr>
          <a:xfrm>
            <a:off x="594360" y="3749040"/>
            <a:ext cx="2331720" cy="594360"/>
          </a:xfrm>
          <a:prstGeom prst="rect">
            <a:avLst/>
          </a:prstGeom>
          <a:noFill/>
          <a:ln/>
        </p:spPr>
        <p:txBody>
          <a:bodyPr wrap="square" lIns="0" tIns="0" rIns="0" bIns="0" rtlCol="0" anchor="t"/>
          <a:lstStyle/>
          <a:p>
            <a:pPr indent="0" marL="0">
              <a:buNone/>
            </a:pPr>
            <a:r>
              <a:rPr lang="en-US" sz="1250" dirty="0">
                <a:solidFill>
                  <a:srgbClr val="1F8A7D"/>
                </a:solidFill>
                <a:latin typeface="Calibri" pitchFamily="34" charset="0"/>
                <a:ea typeface="Calibri" pitchFamily="34" charset="-122"/>
                <a:cs typeface="Calibri" pitchFamily="34" charset="-120"/>
              </a:rPr>
              <a:t>✓  State that lemmatisation is on, or use exact match</a:t>
            </a:r>
            <a:endParaRPr lang="en-US" sz="1250" dirty="0"/>
          </a:p>
        </p:txBody>
      </p:sp>
      <p:sp>
        <p:nvSpPr>
          <p:cNvPr id="17" name="a1_fade_800_361"/>
          <p:cNvSpPr/>
          <p:nvPr/>
        </p:nvSpPr>
        <p:spPr>
          <a:xfrm>
            <a:off x="3246120" y="292608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18" name="a1_fade_900_362"/>
          <p:cNvSpPr txBox="1"/>
          <p:nvPr/>
        </p:nvSpPr>
        <p:spPr>
          <a:xfrm>
            <a:off x="3383280" y="3054096"/>
            <a:ext cx="2331720" cy="594360"/>
          </a:xfrm>
          <a:prstGeom prst="rect">
            <a:avLst/>
          </a:prstGeom>
          <a:noFill/>
          <a:ln/>
        </p:spPr>
        <p:txBody>
          <a:bodyPr wrap="square" lIns="0" tIns="0" rIns="0" bIns="0" rtlCol="0" anchor="t"/>
          <a:lstStyle/>
          <a:p>
            <a:pPr indent="0" marL="0">
              <a:buNone/>
            </a:pPr>
            <a:r>
              <a:rPr lang="en-US" sz="1300" b="1" dirty="0">
                <a:solidFill>
                  <a:srgbClr val="D9503A"/>
                </a:solidFill>
                <a:latin typeface="Calibri" pitchFamily="34" charset="0"/>
                <a:ea typeface="Calibri" pitchFamily="34" charset="-122"/>
                <a:cs typeface="Calibri" pitchFamily="34" charset="-120"/>
              </a:rPr>
              <a:t>✗  Treating synonyms as matches</a:t>
            </a:r>
            <a:endParaRPr lang="en-US" sz="1300" dirty="0"/>
          </a:p>
        </p:txBody>
      </p:sp>
      <p:sp>
        <p:nvSpPr>
          <p:cNvPr id="19" name="a1_fade_900_363"/>
          <p:cNvSpPr txBox="1"/>
          <p:nvPr/>
        </p:nvSpPr>
        <p:spPr>
          <a:xfrm>
            <a:off x="3383280" y="3749040"/>
            <a:ext cx="2331720" cy="594360"/>
          </a:xfrm>
          <a:prstGeom prst="rect">
            <a:avLst/>
          </a:prstGeom>
          <a:noFill/>
          <a:ln/>
        </p:spPr>
        <p:txBody>
          <a:bodyPr wrap="square" lIns="0" tIns="0" rIns="0" bIns="0" rtlCol="0" anchor="t"/>
          <a:lstStyle/>
          <a:p>
            <a:pPr indent="0" marL="0">
              <a:buNone/>
            </a:pPr>
            <a:r>
              <a:rPr lang="en-US" sz="1250" dirty="0">
                <a:solidFill>
                  <a:srgbClr val="1F8A7D"/>
                </a:solidFill>
                <a:latin typeface="Calibri" pitchFamily="34" charset="0"/>
                <a:ea typeface="Calibri" pitchFamily="34" charset="-122"/>
                <a:cs typeface="Calibri" pitchFamily="34" charset="-120"/>
              </a:rPr>
              <a:t>✓  Basic Lesk needs lexical overlap</a:t>
            </a:r>
            <a:endParaRPr lang="en-US" sz="1250" dirty="0"/>
          </a:p>
        </p:txBody>
      </p:sp>
      <p:sp>
        <p:nvSpPr>
          <p:cNvPr id="20" name="a1_fade_1000_364"/>
          <p:cNvSpPr/>
          <p:nvPr/>
        </p:nvSpPr>
        <p:spPr>
          <a:xfrm>
            <a:off x="6035040" y="2926080"/>
            <a:ext cx="2606040" cy="1508760"/>
          </a:xfrm>
          <a:prstGeom prst="roundRect">
            <a:avLst>
              <a:gd name="adj" fmla="val 7273"/>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endParaRPr lang="en-US" sz="1300" dirty="0"/>
          </a:p>
        </p:txBody>
      </p:sp>
      <p:sp>
        <p:nvSpPr>
          <p:cNvPr id="21" name="a1_fade_1100_365"/>
          <p:cNvSpPr txBox="1"/>
          <p:nvPr/>
        </p:nvSpPr>
        <p:spPr>
          <a:xfrm>
            <a:off x="6172200" y="3054096"/>
            <a:ext cx="2331720" cy="594360"/>
          </a:xfrm>
          <a:prstGeom prst="rect">
            <a:avLst/>
          </a:prstGeom>
          <a:noFill/>
          <a:ln/>
        </p:spPr>
        <p:txBody>
          <a:bodyPr wrap="square" lIns="0" tIns="0" rIns="0" bIns="0" rtlCol="0" anchor="t"/>
          <a:lstStyle/>
          <a:p>
            <a:pPr indent="0" marL="0">
              <a:buNone/>
            </a:pPr>
            <a:r>
              <a:rPr lang="en-US" sz="1300" b="1" dirty="0">
                <a:solidFill>
                  <a:srgbClr val="D9503A"/>
                </a:solidFill>
                <a:latin typeface="Calibri" pitchFamily="34" charset="0"/>
                <a:ea typeface="Calibri" pitchFamily="34" charset="-122"/>
                <a:cs typeface="Calibri" pitchFamily="34" charset="-120"/>
              </a:rPr>
              <a:t>✗  Ignoring ties and zeros</a:t>
            </a:r>
            <a:endParaRPr lang="en-US" sz="1300" dirty="0"/>
          </a:p>
        </p:txBody>
      </p:sp>
      <p:sp>
        <p:nvSpPr>
          <p:cNvPr id="22" name="a1_fade_1100_366"/>
          <p:cNvSpPr txBox="1"/>
          <p:nvPr/>
        </p:nvSpPr>
        <p:spPr>
          <a:xfrm>
            <a:off x="6172200" y="3749040"/>
            <a:ext cx="2331720" cy="594360"/>
          </a:xfrm>
          <a:prstGeom prst="rect">
            <a:avLst/>
          </a:prstGeom>
          <a:noFill/>
          <a:ln/>
        </p:spPr>
        <p:txBody>
          <a:bodyPr wrap="square" lIns="0" tIns="0" rIns="0" bIns="0" rtlCol="0" anchor="t"/>
          <a:lstStyle/>
          <a:p>
            <a:pPr indent="0" marL="0">
              <a:buNone/>
            </a:pPr>
            <a:r>
              <a:rPr lang="en-US" sz="1250" dirty="0">
                <a:solidFill>
                  <a:srgbClr val="1F8A7D"/>
                </a:solidFill>
                <a:latin typeface="Calibri" pitchFamily="34" charset="0"/>
                <a:ea typeface="Calibri" pitchFamily="34" charset="-122"/>
                <a:cs typeface="Calibri" pitchFamily="34" charset="-120"/>
              </a:rPr>
              <a:t>✓  State strict &gt; and the most-frequent-sense back-off</a:t>
            </a:r>
            <a:endParaRPr lang="en-US" sz="1250" dirty="0"/>
          </a:p>
        </p:txBody>
      </p:sp>
      <p:sp>
        <p:nvSpPr>
          <p:cNvPr id="23" name="Text 2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3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4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6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7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7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8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10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11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110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CHECK UNDERSTANDING</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Quick quiz</a:t>
            </a:r>
            <a:endParaRPr lang="en-US" sz="2800" dirty="0"/>
          </a:p>
        </p:txBody>
      </p:sp>
      <p:sp>
        <p:nvSpPr>
          <p:cNvPr id="5" name="Text 2"/>
          <p:cNvSpPr/>
          <p:nvPr/>
        </p:nvSpPr>
        <p:spPr>
          <a:xfrm>
            <a:off x="457200" y="1188720"/>
            <a:ext cx="4023360" cy="685800"/>
          </a:xfrm>
          <a:prstGeom prst="roundRect">
            <a:avLst>
              <a:gd name="adj" fmla="val 16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Q1.</a:t>
            </a:r>
            <a:pPr algn="l" indent="0" marL="0">
              <a:buNone/>
            </a:pPr>
            <a:r>
              <a:rPr lang="en-US" sz="1400" dirty="0">
                <a:solidFill>
                  <a:srgbClr val="22262E"/>
                </a:solidFill>
                <a:latin typeface="Calibri" pitchFamily="34" charset="0"/>
                <a:ea typeface="Calibri" pitchFamily="34" charset="-122"/>
                <a:cs typeface="Calibri" pitchFamily="34" charset="-120"/>
              </a:rPr>
              <a:t> Why remove the target word from the context?</a:t>
            </a:r>
            <a:endParaRPr lang="en-US" sz="1400" dirty="0"/>
          </a:p>
        </p:txBody>
      </p:sp>
      <p:sp>
        <p:nvSpPr>
          <p:cNvPr id="6" name="a1_fly_0_367"/>
          <p:cNvSpPr/>
          <p:nvPr/>
        </p:nvSpPr>
        <p:spPr>
          <a:xfrm>
            <a:off x="457200" y="1965960"/>
            <a:ext cx="4023360" cy="777240"/>
          </a:xfrm>
          <a:prstGeom prst="roundRect">
            <a:avLst>
              <a:gd name="adj" fmla="val 14118"/>
            </a:avLst>
          </a:prstGeom>
          <a:solidFill>
            <a:srgbClr val="F4A300"/>
          </a:solidFill>
          <a:ln/>
        </p:spPr>
        <p:txBody>
          <a:bodyPr wrap="square" lIns="76810" tIns="128016" rIns="128016" bIns="76810" rtlCol="0" anchor="ctr"/>
          <a:lstStyle/>
          <a:p>
            <a:pPr algn="l" indent="0" marL="0">
              <a:buNone/>
            </a:pPr>
            <a:r>
              <a:rPr lang="en-US" sz="1300" dirty="0">
                <a:solidFill>
                  <a:srgbClr val="22262E"/>
                </a:solidFill>
                <a:latin typeface="Calibri" pitchFamily="34" charset="0"/>
                <a:ea typeface="Calibri" pitchFamily="34" charset="-122"/>
                <a:cs typeface="Calibri" pitchFamily="34" charset="-120"/>
              </a:rPr>
              <a:t>It is not evidence for or against its own senses.</a:t>
            </a:r>
            <a:endParaRPr lang="en-US" sz="1300" dirty="0"/>
          </a:p>
        </p:txBody>
      </p:sp>
      <p:sp>
        <p:nvSpPr>
          <p:cNvPr id="7" name="Text 4"/>
          <p:cNvSpPr/>
          <p:nvPr/>
        </p:nvSpPr>
        <p:spPr>
          <a:xfrm>
            <a:off x="4663440" y="1188720"/>
            <a:ext cx="4023360" cy="685800"/>
          </a:xfrm>
          <a:prstGeom prst="roundRect">
            <a:avLst>
              <a:gd name="adj" fmla="val 16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Q2.</a:t>
            </a:r>
            <a:pPr algn="l" indent="0" marL="0">
              <a:buNone/>
            </a:pPr>
            <a:r>
              <a:rPr lang="en-US" sz="1400" dirty="0">
                <a:solidFill>
                  <a:srgbClr val="22262E"/>
                </a:solidFill>
                <a:latin typeface="Calibri" pitchFamily="34" charset="0"/>
                <a:ea typeface="Calibri" pitchFamily="34" charset="-122"/>
                <a:cs typeface="Calibri" pitchFamily="34" charset="-120"/>
              </a:rPr>
              <a:t> Two senses tie at 2. What now?</a:t>
            </a:r>
            <a:endParaRPr lang="en-US" sz="1400" dirty="0"/>
          </a:p>
        </p:txBody>
      </p:sp>
      <p:sp>
        <p:nvSpPr>
          <p:cNvPr id="8" name="a2_fly_0_368"/>
          <p:cNvSpPr/>
          <p:nvPr/>
        </p:nvSpPr>
        <p:spPr>
          <a:xfrm>
            <a:off x="4663440" y="1965960"/>
            <a:ext cx="4023360" cy="777240"/>
          </a:xfrm>
          <a:prstGeom prst="roundRect">
            <a:avLst>
              <a:gd name="adj" fmla="val 14118"/>
            </a:avLst>
          </a:prstGeom>
          <a:solidFill>
            <a:srgbClr val="F4A300"/>
          </a:solidFill>
          <a:ln/>
        </p:spPr>
        <p:txBody>
          <a:bodyPr wrap="square" lIns="76810" tIns="128016" rIns="128016" bIns="76810" rtlCol="0" anchor="ctr"/>
          <a:lstStyle/>
          <a:p>
            <a:pPr algn="l" indent="0" marL="0">
              <a:buNone/>
            </a:pPr>
            <a:r>
              <a:rPr lang="en-US" sz="1300" dirty="0">
                <a:solidFill>
                  <a:srgbClr val="22262E"/>
                </a:solidFill>
                <a:latin typeface="Calibri" pitchFamily="34" charset="0"/>
                <a:ea typeface="Calibri" pitchFamily="34" charset="-122"/>
                <a:cs typeface="Calibri" pitchFamily="34" charset="-120"/>
              </a:rPr>
              <a:t>State a rule: strict &gt; gives the first sense; or IDF weights; or widen context.</a:t>
            </a:r>
            <a:endParaRPr lang="en-US" sz="1300" dirty="0"/>
          </a:p>
        </p:txBody>
      </p:sp>
      <p:sp>
        <p:nvSpPr>
          <p:cNvPr id="9" name="Text 6"/>
          <p:cNvSpPr/>
          <p:nvPr/>
        </p:nvSpPr>
        <p:spPr>
          <a:xfrm>
            <a:off x="457200" y="2926080"/>
            <a:ext cx="4023360" cy="685800"/>
          </a:xfrm>
          <a:prstGeom prst="roundRect">
            <a:avLst>
              <a:gd name="adj" fmla="val 16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Q3.</a:t>
            </a:r>
            <a:pPr algn="l" indent="0" marL="0">
              <a:buNone/>
            </a:pPr>
            <a:r>
              <a:rPr lang="en-US" sz="1400" dirty="0">
                <a:solidFill>
                  <a:srgbClr val="22262E"/>
                </a:solidFill>
                <a:latin typeface="Calibri" pitchFamily="34" charset="0"/>
                <a:ea typeface="Calibri" pitchFamily="34" charset="-122"/>
                <a:cs typeface="Calibri" pitchFamily="34" charset="-120"/>
              </a:rPr>
              <a:t> Why does car not match automobile?</a:t>
            </a:r>
            <a:endParaRPr lang="en-US" sz="1400" dirty="0"/>
          </a:p>
        </p:txBody>
      </p:sp>
      <p:sp>
        <p:nvSpPr>
          <p:cNvPr id="10" name="a3_fly_0_369"/>
          <p:cNvSpPr/>
          <p:nvPr/>
        </p:nvSpPr>
        <p:spPr>
          <a:xfrm>
            <a:off x="457200" y="3703320"/>
            <a:ext cx="4023360" cy="777240"/>
          </a:xfrm>
          <a:prstGeom prst="roundRect">
            <a:avLst>
              <a:gd name="adj" fmla="val 14118"/>
            </a:avLst>
          </a:prstGeom>
          <a:solidFill>
            <a:srgbClr val="F4A300"/>
          </a:solidFill>
          <a:ln/>
        </p:spPr>
        <p:txBody>
          <a:bodyPr wrap="square" lIns="76810" tIns="128016" rIns="128016" bIns="76810" rtlCol="0" anchor="ctr"/>
          <a:lstStyle/>
          <a:p>
            <a:pPr algn="l" indent="0" marL="0">
              <a:buNone/>
            </a:pPr>
            <a:r>
              <a:rPr lang="en-US" sz="1300" dirty="0">
                <a:solidFill>
                  <a:srgbClr val="22262E"/>
                </a:solidFill>
                <a:latin typeface="Calibri" pitchFamily="34" charset="0"/>
                <a:ea typeface="Calibri" pitchFamily="34" charset="-122"/>
                <a:cs typeface="Calibri" pitchFamily="34" charset="-120"/>
              </a:rPr>
              <a:t>Lesk needs exact normalised words; synonyms need extended Lesk.</a:t>
            </a:r>
            <a:endParaRPr lang="en-US" sz="1300" dirty="0"/>
          </a:p>
        </p:txBody>
      </p:sp>
      <p:sp>
        <p:nvSpPr>
          <p:cNvPr id="11" name="Text 8"/>
          <p:cNvSpPr/>
          <p:nvPr/>
        </p:nvSpPr>
        <p:spPr>
          <a:xfrm>
            <a:off x="4663440" y="2926080"/>
            <a:ext cx="4023360" cy="685800"/>
          </a:xfrm>
          <a:prstGeom prst="roundRect">
            <a:avLst>
              <a:gd name="adj" fmla="val 16000"/>
            </a:avLst>
          </a:prstGeom>
          <a:solidFill>
            <a:srgbClr val="F2F4F8"/>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l" indent="0" marL="0">
              <a:buNone/>
            </a:pPr>
            <a:r>
              <a:rPr lang="en-US" sz="1400" b="1" dirty="0">
                <a:solidFill>
                  <a:srgbClr val="22262E"/>
                </a:solidFill>
                <a:latin typeface="Calibri" pitchFamily="34" charset="0"/>
                <a:ea typeface="Calibri" pitchFamily="34" charset="-122"/>
                <a:cs typeface="Calibri" pitchFamily="34" charset="-120"/>
              </a:rPr>
              <a:t>Q4.</a:t>
            </a:r>
            <a:pPr algn="l" indent="0" marL="0">
              <a:buNone/>
            </a:pPr>
            <a:r>
              <a:rPr lang="en-US" sz="1400" dirty="0">
                <a:solidFill>
                  <a:srgbClr val="22262E"/>
                </a:solidFill>
                <a:latin typeface="Calibri" pitchFamily="34" charset="0"/>
                <a:ea typeface="Calibri" pitchFamily="34" charset="-122"/>
                <a:cs typeface="Calibri" pitchFamily="34" charset="-120"/>
              </a:rPr>
              <a:t> Original vs simplified in one line?</a:t>
            </a:r>
            <a:endParaRPr lang="en-US" sz="1400" dirty="0"/>
          </a:p>
        </p:txBody>
      </p:sp>
      <p:sp>
        <p:nvSpPr>
          <p:cNvPr id="12" name="a4_fly_0_370"/>
          <p:cNvSpPr/>
          <p:nvPr/>
        </p:nvSpPr>
        <p:spPr>
          <a:xfrm>
            <a:off x="4663440" y="3703320"/>
            <a:ext cx="4023360" cy="777240"/>
          </a:xfrm>
          <a:prstGeom prst="roundRect">
            <a:avLst>
              <a:gd name="adj" fmla="val 14118"/>
            </a:avLst>
          </a:prstGeom>
          <a:solidFill>
            <a:srgbClr val="F4A300"/>
          </a:solidFill>
          <a:ln/>
        </p:spPr>
        <p:txBody>
          <a:bodyPr wrap="square" lIns="76810" tIns="128016" rIns="128016" bIns="76810" rtlCol="0" anchor="ctr"/>
          <a:lstStyle/>
          <a:p>
            <a:pPr algn="l" indent="0" marL="0">
              <a:buNone/>
            </a:pPr>
            <a:r>
              <a:rPr lang="en-US" sz="1300" dirty="0">
                <a:solidFill>
                  <a:srgbClr val="22262E"/>
                </a:solidFill>
                <a:latin typeface="Calibri" pitchFamily="34" charset="0"/>
                <a:ea typeface="Calibri" pitchFamily="34" charset="-122"/>
                <a:cs typeface="Calibri" pitchFamily="34" charset="-120"/>
              </a:rPr>
              <a:t>Definitions of the context words vs the context words themselves.</a:t>
            </a:r>
            <a:endParaRPr lang="en-US" sz="130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2" presetClass="entr" presetSubtype="4"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 calcmode="lin" valueType="num">
                                      <p:cBhvr additive="base">
                                        <p:cTn id="5" dur="500" fill="hold"/>
                                        <p:tgtEl>
                                          <p:spTgt spid="6"/>
                                        </p:tgtEl>
                                        <p:attrNameLst>
                                          <p:attrName>ppt_x</p:attrName>
                                        </p:attrNameLst>
                                      </p:cBhvr>
                                      <p:tavLst>
                                        <p:tav tm="0">
                                          <p:val>
                                            <p:strVal val="#ppt_x"/>
                                          </p:val>
                                        </p:tav>
                                        <p:tav tm="100000">
                                          <p:val>
                                            <p:strVal val="#ppt_x"/>
                                          </p:val>
                                        </p:tav>
                                      </p:tavLst>
                                    </p:anim>
                                    <p:anim calcmode="lin" valueType="num">
                                      <p:cBhvr additive="base">
                                        <p:cTn id="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9"/>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F4A300"/>
                </a:solidFill>
                <a:latin typeface="Calibri" pitchFamily="34" charset="0"/>
                <a:ea typeface="Calibri" pitchFamily="34" charset="-122"/>
                <a:cs typeface="Calibri" pitchFamily="34" charset="-120"/>
              </a:rPr>
              <a:t>SUMMARY</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If you remember one line</a:t>
            </a:r>
            <a:endParaRPr lang="en-US" sz="2800" dirty="0"/>
          </a:p>
        </p:txBody>
      </p:sp>
      <p:sp>
        <p:nvSpPr>
          <p:cNvPr id="5" name="a1_zoom_0_371"/>
          <p:cNvSpPr/>
          <p:nvPr/>
        </p:nvSpPr>
        <p:spPr>
          <a:xfrm>
            <a:off x="457200" y="1371600"/>
            <a:ext cx="2286000" cy="731520"/>
          </a:xfrm>
          <a:prstGeom prst="roundRect">
            <a:avLst>
              <a:gd name="adj" fmla="val 15000"/>
            </a:avLst>
          </a:prstGeom>
          <a:solidFill>
            <a:srgbClr val="1F8A7D"/>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GLOSS + CONTEXT</a:t>
            </a:r>
            <a:endParaRPr lang="en-US" sz="1400" dirty="0"/>
          </a:p>
        </p:txBody>
      </p:sp>
      <p:sp>
        <p:nvSpPr>
          <p:cNvPr id="6" name="a1_fade_200_372"/>
          <p:cNvSpPr/>
          <p:nvPr/>
        </p:nvSpPr>
        <p:spPr>
          <a:xfrm>
            <a:off x="2743200" y="1627632"/>
            <a:ext cx="164592" cy="228600"/>
          </a:xfrm>
          <a:prstGeom prst="rightArrow">
            <a:avLst/>
          </a:prstGeom>
          <a:solidFill>
            <a:srgbClr val="CADCFC"/>
          </a:solidFill>
          <a:ln/>
        </p:spPr>
      </p:sp>
      <p:sp>
        <p:nvSpPr>
          <p:cNvPr id="7" name="a1_zoom_350_373"/>
          <p:cNvSpPr/>
          <p:nvPr/>
        </p:nvSpPr>
        <p:spPr>
          <a:xfrm>
            <a:off x="2926080" y="1371600"/>
            <a:ext cx="1325880" cy="731520"/>
          </a:xfrm>
          <a:prstGeom prst="roundRect">
            <a:avLst>
              <a:gd name="adj" fmla="val 15000"/>
            </a:avLst>
          </a:prstGeom>
          <a:solidFill>
            <a:srgbClr val="1F8A7D"/>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OVERLAP</a:t>
            </a:r>
            <a:endParaRPr lang="en-US" sz="1400" dirty="0"/>
          </a:p>
        </p:txBody>
      </p:sp>
      <p:sp>
        <p:nvSpPr>
          <p:cNvPr id="8" name="a1_fade_550_374"/>
          <p:cNvSpPr/>
          <p:nvPr/>
        </p:nvSpPr>
        <p:spPr>
          <a:xfrm>
            <a:off x="4251960" y="1627632"/>
            <a:ext cx="164592" cy="228600"/>
          </a:xfrm>
          <a:prstGeom prst="rightArrow">
            <a:avLst/>
          </a:prstGeom>
          <a:solidFill>
            <a:srgbClr val="CADCFC"/>
          </a:solidFill>
          <a:ln/>
        </p:spPr>
      </p:sp>
      <p:sp>
        <p:nvSpPr>
          <p:cNvPr id="9" name="a1_zoom_700_375"/>
          <p:cNvSpPr/>
          <p:nvPr/>
        </p:nvSpPr>
        <p:spPr>
          <a:xfrm>
            <a:off x="4434840" y="1371600"/>
            <a:ext cx="1280160" cy="731520"/>
          </a:xfrm>
          <a:prstGeom prst="roundRect">
            <a:avLst>
              <a:gd name="adj" fmla="val 15000"/>
            </a:avLst>
          </a:prstGeom>
          <a:solidFill>
            <a:srgbClr val="1F8A7D"/>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SCORE</a:t>
            </a:r>
            <a:endParaRPr lang="en-US" sz="1400" dirty="0"/>
          </a:p>
        </p:txBody>
      </p:sp>
      <p:sp>
        <p:nvSpPr>
          <p:cNvPr id="10" name="a1_fade_900_376"/>
          <p:cNvSpPr/>
          <p:nvPr/>
        </p:nvSpPr>
        <p:spPr>
          <a:xfrm>
            <a:off x="5715000" y="1627632"/>
            <a:ext cx="164592" cy="228600"/>
          </a:xfrm>
          <a:prstGeom prst="rightArrow">
            <a:avLst/>
          </a:prstGeom>
          <a:solidFill>
            <a:srgbClr val="CADCFC"/>
          </a:solidFill>
          <a:ln/>
        </p:spPr>
      </p:sp>
      <p:sp>
        <p:nvSpPr>
          <p:cNvPr id="11" name="a1_zoom_1050_377"/>
          <p:cNvSpPr/>
          <p:nvPr/>
        </p:nvSpPr>
        <p:spPr>
          <a:xfrm>
            <a:off x="5897880" y="1371600"/>
            <a:ext cx="1463040" cy="731520"/>
          </a:xfrm>
          <a:prstGeom prst="roundRect">
            <a:avLst>
              <a:gd name="adj" fmla="val 15000"/>
            </a:avLst>
          </a:prstGeom>
          <a:solidFill>
            <a:srgbClr val="1F8A7D"/>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MAXIMUM</a:t>
            </a:r>
            <a:endParaRPr lang="en-US" sz="1400" dirty="0"/>
          </a:p>
        </p:txBody>
      </p:sp>
      <p:sp>
        <p:nvSpPr>
          <p:cNvPr id="12" name="a1_fade_1250_378"/>
          <p:cNvSpPr/>
          <p:nvPr/>
        </p:nvSpPr>
        <p:spPr>
          <a:xfrm>
            <a:off x="7360920" y="1627632"/>
            <a:ext cx="164592" cy="228600"/>
          </a:xfrm>
          <a:prstGeom prst="rightArrow">
            <a:avLst/>
          </a:prstGeom>
          <a:solidFill>
            <a:srgbClr val="CADCFC"/>
          </a:solidFill>
          <a:ln/>
        </p:spPr>
      </p:sp>
      <p:sp>
        <p:nvSpPr>
          <p:cNvPr id="13" name="a1_zoom_1400_379"/>
          <p:cNvSpPr/>
          <p:nvPr/>
        </p:nvSpPr>
        <p:spPr>
          <a:xfrm>
            <a:off x="7543800" y="1371600"/>
            <a:ext cx="1143000" cy="731520"/>
          </a:xfrm>
          <a:prstGeom prst="roundRect">
            <a:avLst>
              <a:gd name="adj" fmla="val 15000"/>
            </a:avLst>
          </a:prstGeom>
          <a:solidFill>
            <a:srgbClr val="F4A300"/>
          </a:solidFill>
          <a:ln/>
          <a:effectLst>
            <a:outerShdw sx="100000" sy="100000" kx="0" ky="0" algn="bl" rotWithShape="0" blurRad="76200" dist="25400" dir="5400000">
              <a:srgbClr val="000000">
                <a:alpha val="14000"/>
              </a:srgbClr>
            </a:outerShdw>
          </a:effectLst>
        </p:spPr>
        <p:txBody>
          <a:bodyPr wrap="square" lIns="76810" tIns="128016" rIns="128016" bIns="76810" rtlCol="0" anchor="ctr"/>
          <a:lstStyle/>
          <a:p>
            <a:pPr algn="ctr" indent="0" marL="0">
              <a:buNone/>
            </a:pPr>
            <a:r>
              <a:rPr lang="en-US" sz="1400" b="1" dirty="0">
                <a:solidFill>
                  <a:srgbClr val="22262E"/>
                </a:solidFill>
                <a:latin typeface="Calibri" pitchFamily="34" charset="0"/>
                <a:ea typeface="Calibri" pitchFamily="34" charset="-122"/>
                <a:cs typeface="Calibri" pitchFamily="34" charset="-120"/>
              </a:rPr>
              <a:t>SENSE</a:t>
            </a:r>
            <a:endParaRPr lang="en-US" sz="1400" dirty="0"/>
          </a:p>
        </p:txBody>
      </p:sp>
      <p:sp>
        <p:nvSpPr>
          <p:cNvPr id="14" name="a2_fade_0_380"/>
          <p:cNvSpPr/>
          <p:nvPr/>
        </p:nvSpPr>
        <p:spPr>
          <a:xfrm>
            <a:off x="457200" y="2651760"/>
            <a:ext cx="2606040" cy="1463040"/>
          </a:xfrm>
          <a:prstGeom prst="roundRect">
            <a:avLst>
              <a:gd name="adj" fmla="val 7500"/>
            </a:avLst>
          </a:prstGeom>
          <a:solidFill>
            <a:srgbClr val="27385F"/>
          </a:solidFill>
          <a:ln/>
        </p:spPr>
        <p:txBody>
          <a:bodyPr wrap="square" lIns="76810" tIns="128016" rIns="128016" bIns="76810" rtlCol="0" anchor="ctr"/>
          <a:lstStyle/>
          <a:p>
            <a:pPr algn="l" indent="0" marL="0">
              <a:buNone/>
            </a:pPr>
            <a:r>
              <a:rPr lang="en-US" sz="1300" b="1" dirty="0">
                <a:solidFill>
                  <a:srgbClr val="CADCFC"/>
                </a:solidFill>
                <a:latin typeface="Calibri" pitchFamily="34" charset="0"/>
                <a:ea typeface="Calibri" pitchFamily="34" charset="-122"/>
                <a:cs typeface="Calibri" pitchFamily="34" charset="-120"/>
              </a:rPr>
              <a:t>Knowledge-based</a:t>
            </a:r>
            <a:pPr algn="l" indent="0" marL="0">
              <a:buNone/>
            </a:pPr>
            <a:endParaRPr lang="en-US" sz="1300" dirty="0"/>
          </a:p>
          <a:p>
            <a:pPr algn="l" indent="0" marL="0">
              <a:buNone/>
            </a:pPr>
            <a:r>
              <a:rPr lang="en-US" sz="1300" dirty="0">
                <a:solidFill>
                  <a:srgbClr val="CADCFC"/>
                </a:solidFill>
                <a:latin typeface="Calibri" pitchFamily="34" charset="0"/>
                <a:ea typeface="Calibri" pitchFamily="34" charset="-122"/>
                <a:cs typeface="Calibri" pitchFamily="34" charset="-120"/>
              </a:rPr>
              <a:t>Dictionary in, sense out. No labelled corpus.</a:t>
            </a:r>
            <a:endParaRPr lang="en-US" sz="1300" dirty="0"/>
          </a:p>
        </p:txBody>
      </p:sp>
      <p:sp>
        <p:nvSpPr>
          <p:cNvPr id="15" name="a2_fade_300_381"/>
          <p:cNvSpPr/>
          <p:nvPr/>
        </p:nvSpPr>
        <p:spPr>
          <a:xfrm>
            <a:off x="3246120" y="2651760"/>
            <a:ext cx="2606040" cy="1463040"/>
          </a:xfrm>
          <a:prstGeom prst="roundRect">
            <a:avLst>
              <a:gd name="adj" fmla="val 7500"/>
            </a:avLst>
          </a:prstGeom>
          <a:solidFill>
            <a:srgbClr val="27385F"/>
          </a:solidFill>
          <a:ln/>
        </p:spPr>
        <p:txBody>
          <a:bodyPr wrap="square" lIns="76810" tIns="128016" rIns="128016" bIns="76810" rtlCol="0" anchor="ctr"/>
          <a:lstStyle/>
          <a:p>
            <a:pPr algn="l" indent="0" marL="0">
              <a:buNone/>
            </a:pPr>
            <a:r>
              <a:rPr lang="en-US" sz="1300" b="1" dirty="0">
                <a:solidFill>
                  <a:srgbClr val="CADCFC"/>
                </a:solidFill>
                <a:latin typeface="Calibri" pitchFamily="34" charset="0"/>
                <a:ea typeface="Calibri" pitchFamily="34" charset="-122"/>
                <a:cs typeface="Calibri" pitchFamily="34" charset="-120"/>
              </a:rPr>
              <a:t>Two versions</a:t>
            </a:r>
            <a:pPr algn="l" indent="0" marL="0">
              <a:buNone/>
            </a:pPr>
            <a:endParaRPr lang="en-US" sz="1300" dirty="0"/>
          </a:p>
          <a:p>
            <a:pPr algn="l" indent="0" marL="0">
              <a:buNone/>
            </a:pPr>
            <a:r>
              <a:rPr lang="en-US" sz="1300" dirty="0">
                <a:solidFill>
                  <a:srgbClr val="CADCFC"/>
                </a:solidFill>
                <a:latin typeface="Calibri" pitchFamily="34" charset="0"/>
                <a:ea typeface="Calibri" pitchFamily="34" charset="-122"/>
                <a:cs typeface="Calibri" pitchFamily="34" charset="-120"/>
              </a:rPr>
              <a:t>Original: vs definitions of context words. Simplified: vs the context words.</a:t>
            </a:r>
            <a:endParaRPr lang="en-US" sz="1300" dirty="0"/>
          </a:p>
        </p:txBody>
      </p:sp>
      <p:sp>
        <p:nvSpPr>
          <p:cNvPr id="16" name="a2_fade_600_382"/>
          <p:cNvSpPr/>
          <p:nvPr/>
        </p:nvSpPr>
        <p:spPr>
          <a:xfrm>
            <a:off x="6035040" y="2651760"/>
            <a:ext cx="2606040" cy="1463040"/>
          </a:xfrm>
          <a:prstGeom prst="roundRect">
            <a:avLst>
              <a:gd name="adj" fmla="val 7500"/>
            </a:avLst>
          </a:prstGeom>
          <a:solidFill>
            <a:srgbClr val="27385F"/>
          </a:solidFill>
          <a:ln/>
        </p:spPr>
        <p:txBody>
          <a:bodyPr wrap="square" lIns="76810" tIns="128016" rIns="128016" bIns="76810" rtlCol="0" anchor="ctr"/>
          <a:lstStyle/>
          <a:p>
            <a:pPr algn="l" indent="0" marL="0">
              <a:buNone/>
            </a:pPr>
            <a:r>
              <a:rPr lang="en-US" sz="1300" b="1" dirty="0">
                <a:solidFill>
                  <a:srgbClr val="CADCFC"/>
                </a:solidFill>
                <a:latin typeface="Calibri" pitchFamily="34" charset="0"/>
                <a:ea typeface="Calibri" pitchFamily="34" charset="-122"/>
                <a:cs typeface="Calibri" pitchFamily="34" charset="-120"/>
              </a:rPr>
              <a:t>Know the limits</a:t>
            </a:r>
            <a:pPr algn="l" indent="0" marL="0">
              <a:buNone/>
            </a:pPr>
            <a:endParaRPr lang="en-US" sz="1300" dirty="0"/>
          </a:p>
          <a:p>
            <a:pPr algn="l" indent="0" marL="0">
              <a:buNone/>
            </a:pPr>
            <a:r>
              <a:rPr lang="en-US" sz="1300" dirty="0">
                <a:solidFill>
                  <a:srgbClr val="CADCFC"/>
                </a:solidFill>
                <a:latin typeface="Calibri" pitchFamily="34" charset="0"/>
                <a:ea typeface="Calibri" pitchFamily="34" charset="-122"/>
                <a:cs typeface="Calibri" pitchFamily="34" charset="-120"/>
              </a:rPr>
              <a:t>Sparse, exact-match; fixed by Corpus, IDF, Extended Lesk.</a:t>
            </a:r>
            <a:endParaRPr lang="en-US" sz="1300" dirty="0"/>
          </a:p>
        </p:txBody>
      </p:sp>
      <p:sp>
        <p:nvSpPr>
          <p:cNvPr id="17" name="Text 14"/>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BB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40" fill="hold">
                      <p:stCondLst>
                        <p:cond delay="indefinite"/>
                      </p:stCondLst>
                      <p:childTnLst>
                        <p:par>
                          <p:cTn id="41"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500" fill="hold"/>
                                        <p:tgtEl>
                                          <p:spTgt spid="5"/>
                                        </p:tgtEl>
                                        <p:attrNameLst>
                                          <p:attrName>ppt_w</p:attrName>
                                        </p:attrNameLst>
                                      </p:cBhvr>
                                      <p:tavLst>
                                        <p:tav tm="0">
                                          <p:val>
                                            <p:fltVal val="0"/>
                                          </p:val>
                                        </p:tav>
                                        <p:tav tm="100000">
                                          <p:val>
                                            <p:strVal val="#ppt_w"/>
                                          </p:val>
                                        </p:tav>
                                      </p:tavLst>
                                    </p:anim>
                                    <p:anim calcmode="lin" valueType="num">
                                      <p:cBhvr additive="base">
                                        <p:cTn id="6" dur="500" fill="hold"/>
                                        <p:tgtEl>
                                          <p:spTgt spid="5"/>
                                        </p:tgtEl>
                                        <p:attrNameLst>
                                          <p:attrName>ppt_h</p:attrName>
                                        </p:attrNameLst>
                                      </p:cBhvr>
                                      <p:tavLst>
                                        <p:tav tm="0">
                                          <p:val>
                                            <p:fltVal val="0"/>
                                          </p:val>
                                        </p:tav>
                                        <p:tav tm="100000">
                                          <p:val>
                                            <p:strVal val="#ppt_h"/>
                                          </p:val>
                                        </p:tav>
                                      </p:tavLst>
                                    </p:anim>
                                    <p:animEffect transition="in" filter="fade">
                                      <p:cBhvr>
                                        <p:cTn id="7" dur="500"/>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53" presetClass="entr" presetSubtype="16" fill="hold" grpId="0" nodeType="withEffect">
                                  <p:stCondLst>
                                    <p:cond delay="35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53" presetClass="entr" presetSubtype="16" fill="hold" grpId="0" nodeType="withEffect">
                                  <p:stCondLst>
                                    <p:cond delay="70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ppt_w</p:attrName>
                                        </p:attrNameLst>
                                      </p:cBhvr>
                                      <p:tavLst>
                                        <p:tav tm="0">
                                          <p:val>
                                            <p:fltVal val="0"/>
                                          </p:val>
                                        </p:tav>
                                        <p:tav tm="100000">
                                          <p:val>
                                            <p:strVal val="#ppt_w"/>
                                          </p:val>
                                        </p:tav>
                                      </p:tavLst>
                                    </p:anim>
                                    <p:anim calcmode="lin" valueType="num">
                                      <p:cBhvr additive="base">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10" presetClass="entr" presetSubtype="0" fill="hold" grpId="0" nodeType="withEffect">
                                  <p:stCondLst>
                                    <p:cond delay="9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53" presetClass="entr" presetSubtype="16" fill="hold" grpId="0" nodeType="withEffect">
                                  <p:stCondLst>
                                    <p:cond delay="105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ppt_w</p:attrName>
                                        </p:attrNameLst>
                                      </p:cBhvr>
                                      <p:tavLst>
                                        <p:tav tm="0">
                                          <p:val>
                                            <p:fltVal val="0"/>
                                          </p:val>
                                        </p:tav>
                                        <p:tav tm="100000">
                                          <p:val>
                                            <p:strVal val="#ppt_w"/>
                                          </p:val>
                                        </p:tav>
                                      </p:tavLst>
                                    </p:anim>
                                    <p:anim calcmode="lin" valueType="num">
                                      <p:cBhvr additive="base">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10" presetClass="entr" presetSubtype="0" fill="hold" grpId="0" nodeType="withEffect">
                                  <p:stCondLst>
                                    <p:cond delay="12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53" presetClass="entr" presetSubtype="16" fill="hold" grpId="0" nodeType="withEffect">
                                  <p:stCondLst>
                                    <p:cond delay="140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ppt_w</p:attrName>
                                        </p:attrNameLst>
                                      </p:cBhvr>
                                      <p:tavLst>
                                        <p:tav tm="0">
                                          <p:val>
                                            <p:fltVal val="0"/>
                                          </p:val>
                                        </p:tav>
                                        <p:tav tm="100000">
                                          <p:val>
                                            <p:strVal val="#ppt_w"/>
                                          </p:val>
                                        </p:tav>
                                      </p:tavLst>
                                    </p:anim>
                                    <p:anim calcmode="lin" valueType="num">
                                      <p:cBhvr additive="base">
                                        <p:cTn id="38" dur="500" fill="hold"/>
                                        <p:tgtEl>
                                          <p:spTgt spid="13"/>
                                        </p:tgtEl>
                                        <p:attrNameLst>
                                          <p:attrName>ppt_h</p:attrName>
                                        </p:attrNameLst>
                                      </p:cBhvr>
                                      <p:tavLst>
                                        <p:tav tm="0">
                                          <p:val>
                                            <p:fltVal val="0"/>
                                          </p:val>
                                        </p:tav>
                                        <p:tav tm="100000">
                                          <p:val>
                                            <p:strVal val="#ppt_h"/>
                                          </p:val>
                                        </p:tav>
                                      </p:tavLst>
                                    </p:anim>
                                    <p:animEffect transition="in" filter="fade">
                                      <p:cBhvr>
                                        <p:cTn id="39"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6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indent="0" marL="0">
              <a:buNone/>
            </a:pPr>
            <a:r>
              <a:rPr lang="en-US" sz="1000" b="1" spc="300" kern="0" dirty="0">
                <a:solidFill>
                  <a:srgbClr val="1F8A7D"/>
                </a:solidFill>
                <a:latin typeface="Calibri" pitchFamily="34" charset="0"/>
                <a:ea typeface="Calibri" pitchFamily="34" charset="-122"/>
                <a:cs typeface="Calibri" pitchFamily="34" charset="-120"/>
              </a:rPr>
              <a:t>SOURCES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indent="0" marL="0">
              <a:buNone/>
            </a:pPr>
            <a:r>
              <a:rPr lang="en-US" sz="2800" b="1" dirty="0">
                <a:solidFill>
                  <a:srgbClr val="1B2A49"/>
                </a:solidFill>
                <a:latin typeface="Cambria" pitchFamily="34" charset="0"/>
                <a:ea typeface="Cambria" pitchFamily="34" charset="-122"/>
                <a:cs typeface="Cambria" pitchFamily="34" charset="-120"/>
              </a:rPr>
              <a:t>References</a:t>
            </a:r>
            <a:endParaRPr lang="en-US" sz="2800" dirty="0"/>
          </a:p>
        </p:txBody>
      </p:sp>
      <p:sp>
        <p:nvSpPr>
          <p:cNvPr id="5" name="Text 2"/>
          <p:cNvSpPr txBox="1"/>
          <p:nvPr/>
        </p:nvSpPr>
        <p:spPr>
          <a:xfrm>
            <a:off x="457200" y="1188720"/>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1.  Lesk, M. (1986). Automatic sense disambiguation using machine readable dictionaries: how to tell a pine cone from an ice cream cone. SIGDOC.</a:t>
            </a:r>
            <a:endParaRPr lang="en-US" sz="1150" dirty="0"/>
          </a:p>
        </p:txBody>
      </p:sp>
      <p:sp>
        <p:nvSpPr>
          <p:cNvPr id="6" name="Text 3"/>
          <p:cNvSpPr txBox="1"/>
          <p:nvPr/>
        </p:nvSpPr>
        <p:spPr>
          <a:xfrm>
            <a:off x="457200" y="1618488"/>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2.  Kilgarriff, A. &amp; Rosenzweig, J. (2000). English SENSEVAL: report and results. LREC.</a:t>
            </a:r>
            <a:endParaRPr lang="en-US" sz="1150" dirty="0"/>
          </a:p>
        </p:txBody>
      </p:sp>
      <p:sp>
        <p:nvSpPr>
          <p:cNvPr id="7" name="Text 4"/>
          <p:cNvSpPr txBox="1"/>
          <p:nvPr/>
        </p:nvSpPr>
        <p:spPr>
          <a:xfrm>
            <a:off x="457200" y="2048256"/>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3.  Vasilescu, F., Langlais, P. &amp; Lapalme, G. (2004). Evaluating variants of the Lesk approach for disambiguating words. LREC.</a:t>
            </a:r>
            <a:endParaRPr lang="en-US" sz="1150" dirty="0"/>
          </a:p>
        </p:txBody>
      </p:sp>
      <p:sp>
        <p:nvSpPr>
          <p:cNvPr id="8" name="Text 5"/>
          <p:cNvSpPr txBox="1"/>
          <p:nvPr/>
        </p:nvSpPr>
        <p:spPr>
          <a:xfrm>
            <a:off x="457200" y="2478024"/>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4.  Banerjee, S. &amp; Pedersen, T. (2002). An adapted Lesk algorithm for word sense disambiguation using WordNet. CICLing.</a:t>
            </a:r>
            <a:endParaRPr lang="en-US" sz="1150" dirty="0"/>
          </a:p>
        </p:txBody>
      </p:sp>
      <p:sp>
        <p:nvSpPr>
          <p:cNvPr id="9" name="Text 6"/>
          <p:cNvSpPr txBox="1"/>
          <p:nvPr/>
        </p:nvSpPr>
        <p:spPr>
          <a:xfrm>
            <a:off x="457200" y="2907792"/>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5.  Banerjee, S. &amp; Pedersen, T. (2003). Extended gloss overlaps as a measure of semantic relatedness. IJCAI.</a:t>
            </a:r>
            <a:endParaRPr lang="en-US" sz="1150" dirty="0"/>
          </a:p>
        </p:txBody>
      </p:sp>
      <p:sp>
        <p:nvSpPr>
          <p:cNvPr id="10" name="Text 7"/>
          <p:cNvSpPr txBox="1"/>
          <p:nvPr/>
        </p:nvSpPr>
        <p:spPr>
          <a:xfrm>
            <a:off x="457200" y="3337560"/>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6.  Jurafsky, D. &amp; Martin, J. H. Speech and Language Processing (WSD chapter; simplified Lesk, Corpus Lesk).</a:t>
            </a:r>
            <a:endParaRPr lang="en-US" sz="1150" dirty="0"/>
          </a:p>
        </p:txBody>
      </p:sp>
      <p:sp>
        <p:nvSpPr>
          <p:cNvPr id="11" name="Text 8"/>
          <p:cNvSpPr txBox="1"/>
          <p:nvPr/>
        </p:nvSpPr>
        <p:spPr>
          <a:xfrm>
            <a:off x="457200" y="3767328"/>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7.  Princeton WordNet and NLTK documentation.</a:t>
            </a:r>
            <a:endParaRPr lang="en-US" sz="1150" dirty="0"/>
          </a:p>
        </p:txBody>
      </p:sp>
      <p:sp>
        <p:nvSpPr>
          <p:cNvPr id="12" name="Text 9"/>
          <p:cNvSpPr txBox="1"/>
          <p:nvPr/>
        </p:nvSpPr>
        <p:spPr>
          <a:xfrm>
            <a:off x="457200" y="4197096"/>
            <a:ext cx="8229600" cy="384048"/>
          </a:xfrm>
          <a:prstGeom prst="rect">
            <a:avLst/>
          </a:prstGeom>
          <a:noFill/>
          <a:ln/>
        </p:spPr>
        <p:txBody>
          <a:bodyPr wrap="square" lIns="0" tIns="0" rIns="0" bIns="0" rtlCol="0" anchor="t"/>
          <a:lstStyle/>
          <a:p>
            <a:pPr indent="0" marL="0">
              <a:buNone/>
            </a:pPr>
            <a:r>
              <a:rPr lang="en-US" sz="1150" dirty="0">
                <a:solidFill>
                  <a:srgbClr val="22262E"/>
                </a:solidFill>
                <a:latin typeface="Calibri" pitchFamily="34" charset="0"/>
                <a:ea typeface="Calibri" pitchFamily="34" charset="-122"/>
                <a:cs typeface="Calibri" pitchFamily="34" charset="-120"/>
              </a:rPr>
              <a:t>8.  Course materials: WSD notes, Module lecture slides, Lesk and WSD handouts.</a:t>
            </a:r>
            <a:endParaRPr lang="en-US" sz="115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indent="0" marL="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Lesk Algorithm</dc:title>
  <dc:subject>PptxGenJS Presentation</dc:subject>
  <dc:creator>PptxGenJS</dc:creator>
  <cp:lastModifiedBy>PptxGenJS</cp:lastModifiedBy>
  <cp:revision>1</cp:revision>
  <dcterms:created xsi:type="dcterms:W3CDTF">2026-09-30T19:24:13Z</dcterms:created>
  <dcterms:modified xsi:type="dcterms:W3CDTF">2026-09-30T19:24:13Z</dcterms:modified>
</cp:coreProperties>
</file>