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tags/tag2.xml" ContentType="application/vnd.openxmlformats-officedocument.presentationml.tags+xml"/>
  <Override PartName="/ppt/tags/tag3.xml" ContentType="application/vnd.openxmlformats-officedocument.presentationml.tags+xml"/>
  <Override PartName="/ppt/charts/chart9.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 id="2147483736" r:id="rId5"/>
    <p:sldMasterId id="2147483708" r:id="rId6"/>
    <p:sldMasterId id="2147483722" r:id="rId7"/>
  </p:sldMasterIdLst>
  <p:notesMasterIdLst>
    <p:notesMasterId r:id="rId71"/>
  </p:notesMasterIdLst>
  <p:sldIdLst>
    <p:sldId id="563" r:id="rId8"/>
    <p:sldId id="642" r:id="rId9"/>
    <p:sldId id="623" r:id="rId10"/>
    <p:sldId id="296" r:id="rId11"/>
    <p:sldId id="616" r:id="rId12"/>
    <p:sldId id="624" r:id="rId13"/>
    <p:sldId id="627" r:id="rId14"/>
    <p:sldId id="625" r:id="rId15"/>
    <p:sldId id="479" r:id="rId16"/>
    <p:sldId id="566" r:id="rId17"/>
    <p:sldId id="628" r:id="rId18"/>
    <p:sldId id="633" r:id="rId19"/>
    <p:sldId id="568" r:id="rId20"/>
    <p:sldId id="569" r:id="rId21"/>
    <p:sldId id="570" r:id="rId22"/>
    <p:sldId id="634" r:id="rId23"/>
    <p:sldId id="635" r:id="rId24"/>
    <p:sldId id="338" r:id="rId25"/>
    <p:sldId id="647" r:id="rId26"/>
    <p:sldId id="648" r:id="rId27"/>
    <p:sldId id="649" r:id="rId28"/>
    <p:sldId id="650" r:id="rId29"/>
    <p:sldId id="651" r:id="rId30"/>
    <p:sldId id="636" r:id="rId31"/>
    <p:sldId id="637" r:id="rId32"/>
    <p:sldId id="638" r:id="rId33"/>
    <p:sldId id="626" r:id="rId34"/>
    <p:sldId id="629" r:id="rId35"/>
    <p:sldId id="639" r:id="rId36"/>
    <p:sldId id="310" r:id="rId37"/>
    <p:sldId id="309" r:id="rId38"/>
    <p:sldId id="313" r:id="rId39"/>
    <p:sldId id="631" r:id="rId40"/>
    <p:sldId id="632" r:id="rId41"/>
    <p:sldId id="640" r:id="rId42"/>
    <p:sldId id="641" r:id="rId43"/>
    <p:sldId id="581" r:id="rId44"/>
    <p:sldId id="645" r:id="rId45"/>
    <p:sldId id="572" r:id="rId46"/>
    <p:sldId id="573" r:id="rId47"/>
    <p:sldId id="574" r:id="rId48"/>
    <p:sldId id="575" r:id="rId49"/>
    <p:sldId id="578" r:id="rId50"/>
    <p:sldId id="579" r:id="rId51"/>
    <p:sldId id="598" r:id="rId52"/>
    <p:sldId id="599" r:id="rId53"/>
    <p:sldId id="600" r:id="rId54"/>
    <p:sldId id="601" r:id="rId55"/>
    <p:sldId id="602" r:id="rId56"/>
    <p:sldId id="603" r:id="rId57"/>
    <p:sldId id="604" r:id="rId58"/>
    <p:sldId id="605" r:id="rId59"/>
    <p:sldId id="606" r:id="rId60"/>
    <p:sldId id="607" r:id="rId61"/>
    <p:sldId id="582" r:id="rId62"/>
    <p:sldId id="583" r:id="rId63"/>
    <p:sldId id="646" r:id="rId64"/>
    <p:sldId id="584" r:id="rId65"/>
    <p:sldId id="588" r:id="rId66"/>
    <p:sldId id="589" r:id="rId67"/>
    <p:sldId id="590" r:id="rId68"/>
    <p:sldId id="643" r:id="rId69"/>
    <p:sldId id="644" r:id="rId70"/>
  </p:sldIdLst>
  <p:sldSz cx="9144000" cy="5143500" type="screen16x9"/>
  <p:notesSz cx="6858000" cy="9144000"/>
  <p:custDataLst>
    <p:tags r:id="rId7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306E"/>
    <a:srgbClr val="00CC00"/>
    <a:srgbClr val="FDB390"/>
    <a:srgbClr val="D0D0D0"/>
    <a:srgbClr val="FFFFCC"/>
    <a:srgbClr val="0000F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AD444D-EE72-A139-7C1A-BE68AE7B6FAB}" v="6" dt="2026-08-31T15:09:36.107"/>
    <p1510:client id="{614A7A5C-545C-9711-D9E5-C291E2B5B5B2}" v="2" dt="2026-08-30T00:58:10.9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16" Type="http://schemas.openxmlformats.org/officeDocument/2006/relationships/slide" Target="slides/slide9.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microsoft.com/office/2016/11/relationships/changesInfo" Target="changesInfos/changesInfo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tableStyles" Target="tableStyles.xml"/><Relationship Id="rId7" Type="http://schemas.openxmlformats.org/officeDocument/2006/relationships/slideMaster" Target="slideMasters/slideMaster4.xml"/><Relationship Id="rId71"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PTI KAMBLI - 60018240106" userId="S::prapti.kambli06@svkmmumbai.onmicrosoft.com::96a408aa-5bab-4682-897f-f3376012e4b5" providerId="AD" clId="Web-{10AD444D-EE72-A139-7C1A-BE68AE7B6FAB}"/>
    <pc:docChg chg="modSld">
      <pc:chgData name="PRAPTI KAMBLI - 60018240106" userId="S::prapti.kambli06@svkmmumbai.onmicrosoft.com::96a408aa-5bab-4682-897f-f3376012e4b5" providerId="AD" clId="Web-{10AD444D-EE72-A139-7C1A-BE68AE7B6FAB}" dt="2026-08-31T15:09:36.107" v="5" actId="1076"/>
      <pc:docMkLst>
        <pc:docMk/>
      </pc:docMkLst>
      <pc:sldChg chg="delSp modSp delAnim">
        <pc:chgData name="PRAPTI KAMBLI - 60018240106" userId="S::prapti.kambli06@svkmmumbai.onmicrosoft.com::96a408aa-5bab-4682-897f-f3376012e4b5" providerId="AD" clId="Web-{10AD444D-EE72-A139-7C1A-BE68AE7B6FAB}" dt="2026-08-31T15:09:36.107" v="5" actId="1076"/>
        <pc:sldMkLst>
          <pc:docMk/>
          <pc:sldMk cId="289962303" sldId="624"/>
        </pc:sldMkLst>
        <pc:spChg chg="del mod">
          <ac:chgData name="PRAPTI KAMBLI - 60018240106" userId="S::prapti.kambli06@svkmmumbai.onmicrosoft.com::96a408aa-5bab-4682-897f-f3376012e4b5" providerId="AD" clId="Web-{10AD444D-EE72-A139-7C1A-BE68AE7B6FAB}" dt="2026-08-31T15:09:29.420" v="3"/>
          <ac:spMkLst>
            <pc:docMk/>
            <pc:sldMk cId="289962303" sldId="624"/>
            <ac:spMk id="5" creationId="{C628A458-F740-F223-33A3-A527F566269D}"/>
          </ac:spMkLst>
        </pc:spChg>
        <pc:spChg chg="del mod">
          <ac:chgData name="PRAPTI KAMBLI - 60018240106" userId="S::prapti.kambli06@svkmmumbai.onmicrosoft.com::96a408aa-5bab-4682-897f-f3376012e4b5" providerId="AD" clId="Web-{10AD444D-EE72-A139-7C1A-BE68AE7B6FAB}" dt="2026-08-31T15:09:30.373" v="4"/>
          <ac:spMkLst>
            <pc:docMk/>
            <pc:sldMk cId="289962303" sldId="624"/>
            <ac:spMk id="6" creationId="{B7C0B7A2-0293-B364-BC3E-7C03F0EFB0DC}"/>
          </ac:spMkLst>
        </pc:spChg>
        <pc:picChg chg="mod">
          <ac:chgData name="PRAPTI KAMBLI - 60018240106" userId="S::prapti.kambli06@svkmmumbai.onmicrosoft.com::96a408aa-5bab-4682-897f-f3376012e4b5" providerId="AD" clId="Web-{10AD444D-EE72-A139-7C1A-BE68AE7B6FAB}" dt="2026-08-31T15:09:36.107" v="5" actId="1076"/>
          <ac:picMkLst>
            <pc:docMk/>
            <pc:sldMk cId="289962303" sldId="624"/>
            <ac:picMk id="7" creationId="{AAB37791-9AAC-AABE-BCD0-4FF1167CD688}"/>
          </ac:picMkLst>
        </pc:picChg>
      </pc:sldChg>
    </pc:docChg>
  </pc:docChgLst>
  <pc:docChgLst>
    <pc:chgData name="PRAPTI KAMBLI - 60018240106" userId="S::prapti.kambli06@svkmmumbai.onmicrosoft.com::96a408aa-5bab-4682-897f-f3376012e4b5" providerId="AD" clId="Web-{614A7A5C-545C-9711-D9E5-C291E2B5B5B2}"/>
    <pc:docChg chg="addSld delSld">
      <pc:chgData name="PRAPTI KAMBLI - 60018240106" userId="S::prapti.kambli06@svkmmumbai.onmicrosoft.com::96a408aa-5bab-4682-897f-f3376012e4b5" providerId="AD" clId="Web-{614A7A5C-545C-9711-D9E5-C291E2B5B5B2}" dt="2026-08-30T00:58:10.906" v="1"/>
      <pc:docMkLst>
        <pc:docMk/>
      </pc:docMkLst>
      <pc:sldChg chg="add del">
        <pc:chgData name="PRAPTI KAMBLI - 60018240106" userId="S::prapti.kambli06@svkmmumbai.onmicrosoft.com::96a408aa-5bab-4682-897f-f3376012e4b5" providerId="AD" clId="Web-{614A7A5C-545C-9711-D9E5-C291E2B5B5B2}" dt="2026-08-30T00:58:10.906" v="1"/>
        <pc:sldMkLst>
          <pc:docMk/>
          <pc:sldMk cId="0" sldId="310"/>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file:///C:\Users\Public\Documents\ml-class\lectures-slides\assets\portland.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Public\Documents\ml-class\lectures-slides\assets\portland.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C:\Users\Public\Documents\ml-class\lectures-slides\assets\portland.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none"/>
          </c:marker>
          <c:xVal>
            <c:numRef>
              <c:f>portland!$A$1:$A$48</c:f>
              <c:numCache>
                <c:formatCode>General</c:formatCode>
                <c:ptCount val="48"/>
                <c:pt idx="0">
                  <c:v>2104</c:v>
                </c:pt>
                <c:pt idx="1">
                  <c:v>1600</c:v>
                </c:pt>
                <c:pt idx="2">
                  <c:v>2400</c:v>
                </c:pt>
                <c:pt idx="3">
                  <c:v>1416</c:v>
                </c:pt>
                <c:pt idx="4">
                  <c:v>3000</c:v>
                </c:pt>
                <c:pt idx="5">
                  <c:v>1985</c:v>
                </c:pt>
                <c:pt idx="6">
                  <c:v>1534</c:v>
                </c:pt>
                <c:pt idx="7">
                  <c:v>1427</c:v>
                </c:pt>
                <c:pt idx="8">
                  <c:v>1380</c:v>
                </c:pt>
                <c:pt idx="9">
                  <c:v>1494</c:v>
                </c:pt>
                <c:pt idx="10">
                  <c:v>1940</c:v>
                </c:pt>
                <c:pt idx="11">
                  <c:v>2000</c:v>
                </c:pt>
                <c:pt idx="12">
                  <c:v>1890</c:v>
                </c:pt>
                <c:pt idx="13">
                  <c:v>4478</c:v>
                </c:pt>
                <c:pt idx="14">
                  <c:v>1268</c:v>
                </c:pt>
                <c:pt idx="15">
                  <c:v>2300</c:v>
                </c:pt>
                <c:pt idx="16">
                  <c:v>1320</c:v>
                </c:pt>
                <c:pt idx="17">
                  <c:v>1236</c:v>
                </c:pt>
                <c:pt idx="18">
                  <c:v>2609</c:v>
                </c:pt>
                <c:pt idx="19">
                  <c:v>3031</c:v>
                </c:pt>
                <c:pt idx="20">
                  <c:v>1767</c:v>
                </c:pt>
                <c:pt idx="21">
                  <c:v>1888</c:v>
                </c:pt>
                <c:pt idx="22">
                  <c:v>1604</c:v>
                </c:pt>
                <c:pt idx="23">
                  <c:v>1962</c:v>
                </c:pt>
                <c:pt idx="24">
                  <c:v>3890</c:v>
                </c:pt>
                <c:pt idx="25">
                  <c:v>1100</c:v>
                </c:pt>
                <c:pt idx="26">
                  <c:v>1458</c:v>
                </c:pt>
                <c:pt idx="27">
                  <c:v>2526</c:v>
                </c:pt>
                <c:pt idx="28">
                  <c:v>2200</c:v>
                </c:pt>
                <c:pt idx="29">
                  <c:v>2637</c:v>
                </c:pt>
                <c:pt idx="30">
                  <c:v>1839</c:v>
                </c:pt>
                <c:pt idx="31">
                  <c:v>1000</c:v>
                </c:pt>
                <c:pt idx="32">
                  <c:v>2040</c:v>
                </c:pt>
                <c:pt idx="33">
                  <c:v>3137</c:v>
                </c:pt>
                <c:pt idx="34">
                  <c:v>1811</c:v>
                </c:pt>
                <c:pt idx="35">
                  <c:v>1437</c:v>
                </c:pt>
                <c:pt idx="36">
                  <c:v>1239</c:v>
                </c:pt>
                <c:pt idx="37">
                  <c:v>2132</c:v>
                </c:pt>
                <c:pt idx="38">
                  <c:v>4215</c:v>
                </c:pt>
                <c:pt idx="39">
                  <c:v>2162</c:v>
                </c:pt>
                <c:pt idx="40">
                  <c:v>1664</c:v>
                </c:pt>
                <c:pt idx="41">
                  <c:v>2238</c:v>
                </c:pt>
                <c:pt idx="42">
                  <c:v>2567</c:v>
                </c:pt>
                <c:pt idx="43">
                  <c:v>1200</c:v>
                </c:pt>
                <c:pt idx="44">
                  <c:v>852</c:v>
                </c:pt>
                <c:pt idx="45">
                  <c:v>1852</c:v>
                </c:pt>
                <c:pt idx="46">
                  <c:v>1203</c:v>
                </c:pt>
              </c:numCache>
            </c:numRef>
          </c:xVal>
          <c:yVal>
            <c:numRef>
              <c:f>portland!$B$1:$B$48</c:f>
              <c:numCache>
                <c:formatCode>General</c:formatCode>
                <c:ptCount val="48"/>
                <c:pt idx="0">
                  <c:v>399900</c:v>
                </c:pt>
                <c:pt idx="1">
                  <c:v>329900</c:v>
                </c:pt>
                <c:pt idx="2">
                  <c:v>369000</c:v>
                </c:pt>
                <c:pt idx="3">
                  <c:v>232000</c:v>
                </c:pt>
                <c:pt idx="4">
                  <c:v>539900</c:v>
                </c:pt>
                <c:pt idx="5">
                  <c:v>299900</c:v>
                </c:pt>
                <c:pt idx="6">
                  <c:v>314900</c:v>
                </c:pt>
                <c:pt idx="7">
                  <c:v>198999</c:v>
                </c:pt>
                <c:pt idx="8">
                  <c:v>212000</c:v>
                </c:pt>
                <c:pt idx="9">
                  <c:v>242500</c:v>
                </c:pt>
                <c:pt idx="10">
                  <c:v>239999</c:v>
                </c:pt>
                <c:pt idx="11">
                  <c:v>347000</c:v>
                </c:pt>
                <c:pt idx="12">
                  <c:v>329999</c:v>
                </c:pt>
                <c:pt idx="13">
                  <c:v>699900</c:v>
                </c:pt>
                <c:pt idx="14">
                  <c:v>259900</c:v>
                </c:pt>
                <c:pt idx="15">
                  <c:v>449900</c:v>
                </c:pt>
                <c:pt idx="16">
                  <c:v>299900</c:v>
                </c:pt>
                <c:pt idx="17">
                  <c:v>199900</c:v>
                </c:pt>
                <c:pt idx="18">
                  <c:v>499998</c:v>
                </c:pt>
                <c:pt idx="19">
                  <c:v>599000</c:v>
                </c:pt>
                <c:pt idx="20">
                  <c:v>252900</c:v>
                </c:pt>
                <c:pt idx="21">
                  <c:v>255000</c:v>
                </c:pt>
                <c:pt idx="22">
                  <c:v>242900</c:v>
                </c:pt>
                <c:pt idx="23">
                  <c:v>259900</c:v>
                </c:pt>
                <c:pt idx="24">
                  <c:v>573900</c:v>
                </c:pt>
                <c:pt idx="25">
                  <c:v>249900</c:v>
                </c:pt>
                <c:pt idx="26">
                  <c:v>464500</c:v>
                </c:pt>
                <c:pt idx="27">
                  <c:v>469000</c:v>
                </c:pt>
                <c:pt idx="28">
                  <c:v>475000</c:v>
                </c:pt>
                <c:pt idx="29">
                  <c:v>299900</c:v>
                </c:pt>
                <c:pt idx="30">
                  <c:v>349900</c:v>
                </c:pt>
                <c:pt idx="31">
                  <c:v>169900</c:v>
                </c:pt>
                <c:pt idx="32">
                  <c:v>314900</c:v>
                </c:pt>
                <c:pt idx="33">
                  <c:v>579900</c:v>
                </c:pt>
                <c:pt idx="34">
                  <c:v>285900</c:v>
                </c:pt>
                <c:pt idx="35">
                  <c:v>249900</c:v>
                </c:pt>
                <c:pt idx="36">
                  <c:v>229900</c:v>
                </c:pt>
                <c:pt idx="37">
                  <c:v>345000</c:v>
                </c:pt>
                <c:pt idx="38">
                  <c:v>549000</c:v>
                </c:pt>
                <c:pt idx="39">
                  <c:v>287000</c:v>
                </c:pt>
                <c:pt idx="40">
                  <c:v>368500</c:v>
                </c:pt>
                <c:pt idx="41">
                  <c:v>329900</c:v>
                </c:pt>
                <c:pt idx="42">
                  <c:v>314000</c:v>
                </c:pt>
                <c:pt idx="43">
                  <c:v>299000</c:v>
                </c:pt>
                <c:pt idx="44">
                  <c:v>179900</c:v>
                </c:pt>
                <c:pt idx="45">
                  <c:v>299900</c:v>
                </c:pt>
                <c:pt idx="46">
                  <c:v>239500</c:v>
                </c:pt>
              </c:numCache>
            </c:numRef>
          </c:yVal>
          <c:smooth val="0"/>
          <c:extLst>
            <c:ext xmlns:c16="http://schemas.microsoft.com/office/drawing/2014/chart" uri="{C3380CC4-5D6E-409C-BE32-E72D297353CC}">
              <c16:uniqueId val="{00000000-581C-40E0-989E-E26BB791EC05}"/>
            </c:ext>
          </c:extLst>
        </c:ser>
        <c:dLbls>
          <c:showLegendKey val="0"/>
          <c:showVal val="0"/>
          <c:showCatName val="0"/>
          <c:showSerName val="0"/>
          <c:showPercent val="0"/>
          <c:showBubbleSize val="0"/>
        </c:dLbls>
        <c:axId val="39958784"/>
        <c:axId val="39960576"/>
      </c:scatterChart>
      <c:valAx>
        <c:axId val="39958784"/>
        <c:scaling>
          <c:orientation val="minMax"/>
          <c:max val="3000"/>
        </c:scaling>
        <c:delete val="0"/>
        <c:axPos val="b"/>
        <c:numFmt formatCode="General" sourceLinked="1"/>
        <c:majorTickMark val="out"/>
        <c:minorTickMark val="none"/>
        <c:tickLblPos val="nextTo"/>
        <c:crossAx val="39960576"/>
        <c:crosses val="autoZero"/>
        <c:crossBetween val="midCat"/>
      </c:valAx>
      <c:valAx>
        <c:axId val="39960576"/>
        <c:scaling>
          <c:orientation val="minMax"/>
          <c:max val="500000"/>
        </c:scaling>
        <c:delete val="0"/>
        <c:axPos val="l"/>
        <c:majorGridlines/>
        <c:numFmt formatCode="General" sourceLinked="0"/>
        <c:majorTickMark val="out"/>
        <c:minorTickMark val="none"/>
        <c:tickLblPos val="nextTo"/>
        <c:crossAx val="39958784"/>
        <c:crosses val="autoZero"/>
        <c:crossBetween val="midCat"/>
        <c:majorUnit val="100000"/>
        <c:dispUnits>
          <c:builtInUnit val="thousands"/>
        </c:dispUnits>
      </c:valAx>
    </c:plotArea>
    <c:plotVisOnly val="1"/>
    <c:dispBlanksAs val="gap"/>
    <c:showDLblsOverMax val="0"/>
  </c:chart>
  <c:txPr>
    <a:bodyPr/>
    <a:lstStyle/>
    <a:p>
      <a:pPr>
        <a:defRPr sz="16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8"/>
            <c:spPr>
              <a:noFill/>
              <a:ln w="12700">
                <a:solidFill>
                  <a:srgbClr val="C00000"/>
                </a:solidFill>
              </a:ln>
            </c:spPr>
          </c:marker>
          <c:xVal>
            <c:numRef>
              <c:f>portland!$A$1:$A$48</c:f>
              <c:numCache>
                <c:formatCode>General</c:formatCode>
                <c:ptCount val="48"/>
                <c:pt idx="0">
                  <c:v>2104</c:v>
                </c:pt>
                <c:pt idx="1">
                  <c:v>1600</c:v>
                </c:pt>
                <c:pt idx="2">
                  <c:v>2400</c:v>
                </c:pt>
                <c:pt idx="3">
                  <c:v>1416</c:v>
                </c:pt>
                <c:pt idx="4">
                  <c:v>3000</c:v>
                </c:pt>
                <c:pt idx="5">
                  <c:v>1985</c:v>
                </c:pt>
                <c:pt idx="6">
                  <c:v>1534</c:v>
                </c:pt>
                <c:pt idx="7">
                  <c:v>1427</c:v>
                </c:pt>
                <c:pt idx="8">
                  <c:v>1380</c:v>
                </c:pt>
                <c:pt idx="9">
                  <c:v>1494</c:v>
                </c:pt>
                <c:pt idx="10">
                  <c:v>1940</c:v>
                </c:pt>
                <c:pt idx="11">
                  <c:v>2000</c:v>
                </c:pt>
                <c:pt idx="12">
                  <c:v>1890</c:v>
                </c:pt>
                <c:pt idx="13">
                  <c:v>4478</c:v>
                </c:pt>
                <c:pt idx="14">
                  <c:v>1268</c:v>
                </c:pt>
                <c:pt idx="15">
                  <c:v>2300</c:v>
                </c:pt>
                <c:pt idx="16">
                  <c:v>1320</c:v>
                </c:pt>
                <c:pt idx="17">
                  <c:v>1236</c:v>
                </c:pt>
                <c:pt idx="18">
                  <c:v>2609</c:v>
                </c:pt>
                <c:pt idx="19">
                  <c:v>3031</c:v>
                </c:pt>
                <c:pt idx="20">
                  <c:v>1767</c:v>
                </c:pt>
                <c:pt idx="21">
                  <c:v>1888</c:v>
                </c:pt>
                <c:pt idx="22">
                  <c:v>1604</c:v>
                </c:pt>
                <c:pt idx="23">
                  <c:v>1962</c:v>
                </c:pt>
                <c:pt idx="24">
                  <c:v>3890</c:v>
                </c:pt>
                <c:pt idx="25">
                  <c:v>1100</c:v>
                </c:pt>
                <c:pt idx="26">
                  <c:v>1458</c:v>
                </c:pt>
                <c:pt idx="27">
                  <c:v>2526</c:v>
                </c:pt>
                <c:pt idx="28">
                  <c:v>2200</c:v>
                </c:pt>
                <c:pt idx="29">
                  <c:v>2637</c:v>
                </c:pt>
                <c:pt idx="30">
                  <c:v>1839</c:v>
                </c:pt>
                <c:pt idx="31">
                  <c:v>1000</c:v>
                </c:pt>
                <c:pt idx="32">
                  <c:v>2040</c:v>
                </c:pt>
                <c:pt idx="33">
                  <c:v>3137</c:v>
                </c:pt>
                <c:pt idx="34">
                  <c:v>1811</c:v>
                </c:pt>
                <c:pt idx="35">
                  <c:v>1437</c:v>
                </c:pt>
                <c:pt idx="36">
                  <c:v>1239</c:v>
                </c:pt>
                <c:pt idx="37">
                  <c:v>2132</c:v>
                </c:pt>
                <c:pt idx="38">
                  <c:v>4215</c:v>
                </c:pt>
                <c:pt idx="39">
                  <c:v>2162</c:v>
                </c:pt>
                <c:pt idx="40">
                  <c:v>1664</c:v>
                </c:pt>
                <c:pt idx="41">
                  <c:v>2238</c:v>
                </c:pt>
                <c:pt idx="42">
                  <c:v>2567</c:v>
                </c:pt>
                <c:pt idx="43">
                  <c:v>1200</c:v>
                </c:pt>
                <c:pt idx="44">
                  <c:v>852</c:v>
                </c:pt>
                <c:pt idx="45">
                  <c:v>1852</c:v>
                </c:pt>
                <c:pt idx="46">
                  <c:v>1203</c:v>
                </c:pt>
              </c:numCache>
            </c:numRef>
          </c:xVal>
          <c:yVal>
            <c:numRef>
              <c:f>portland!$B$1:$B$48</c:f>
              <c:numCache>
                <c:formatCode>General</c:formatCode>
                <c:ptCount val="48"/>
                <c:pt idx="0">
                  <c:v>399900</c:v>
                </c:pt>
                <c:pt idx="1">
                  <c:v>329900</c:v>
                </c:pt>
                <c:pt idx="2">
                  <c:v>369000</c:v>
                </c:pt>
                <c:pt idx="3">
                  <c:v>232000</c:v>
                </c:pt>
                <c:pt idx="4">
                  <c:v>539900</c:v>
                </c:pt>
                <c:pt idx="5">
                  <c:v>299900</c:v>
                </c:pt>
                <c:pt idx="6">
                  <c:v>314900</c:v>
                </c:pt>
                <c:pt idx="7">
                  <c:v>198999</c:v>
                </c:pt>
                <c:pt idx="8">
                  <c:v>212000</c:v>
                </c:pt>
                <c:pt idx="9">
                  <c:v>242500</c:v>
                </c:pt>
                <c:pt idx="10">
                  <c:v>239999</c:v>
                </c:pt>
                <c:pt idx="11">
                  <c:v>347000</c:v>
                </c:pt>
                <c:pt idx="12">
                  <c:v>329999</c:v>
                </c:pt>
                <c:pt idx="13">
                  <c:v>699900</c:v>
                </c:pt>
                <c:pt idx="14">
                  <c:v>259900</c:v>
                </c:pt>
                <c:pt idx="15">
                  <c:v>449900</c:v>
                </c:pt>
                <c:pt idx="16">
                  <c:v>299900</c:v>
                </c:pt>
                <c:pt idx="17">
                  <c:v>199900</c:v>
                </c:pt>
                <c:pt idx="18">
                  <c:v>499998</c:v>
                </c:pt>
                <c:pt idx="19">
                  <c:v>599000</c:v>
                </c:pt>
                <c:pt idx="20">
                  <c:v>252900</c:v>
                </c:pt>
                <c:pt idx="21">
                  <c:v>255000</c:v>
                </c:pt>
                <c:pt idx="22">
                  <c:v>242900</c:v>
                </c:pt>
                <c:pt idx="23">
                  <c:v>259900</c:v>
                </c:pt>
                <c:pt idx="24">
                  <c:v>573900</c:v>
                </c:pt>
                <c:pt idx="25">
                  <c:v>249900</c:v>
                </c:pt>
                <c:pt idx="26">
                  <c:v>464500</c:v>
                </c:pt>
                <c:pt idx="27">
                  <c:v>469000</c:v>
                </c:pt>
                <c:pt idx="28">
                  <c:v>475000</c:v>
                </c:pt>
                <c:pt idx="29">
                  <c:v>299900</c:v>
                </c:pt>
                <c:pt idx="30">
                  <c:v>349900</c:v>
                </c:pt>
                <c:pt idx="31">
                  <c:v>169900</c:v>
                </c:pt>
                <c:pt idx="32">
                  <c:v>314900</c:v>
                </c:pt>
                <c:pt idx="33">
                  <c:v>579900</c:v>
                </c:pt>
                <c:pt idx="34">
                  <c:v>285900</c:v>
                </c:pt>
                <c:pt idx="35">
                  <c:v>249900</c:v>
                </c:pt>
                <c:pt idx="36">
                  <c:v>229900</c:v>
                </c:pt>
                <c:pt idx="37">
                  <c:v>345000</c:v>
                </c:pt>
                <c:pt idx="38">
                  <c:v>549000</c:v>
                </c:pt>
                <c:pt idx="39">
                  <c:v>287000</c:v>
                </c:pt>
                <c:pt idx="40">
                  <c:v>368500</c:v>
                </c:pt>
                <c:pt idx="41">
                  <c:v>329900</c:v>
                </c:pt>
                <c:pt idx="42">
                  <c:v>314000</c:v>
                </c:pt>
                <c:pt idx="43">
                  <c:v>299000</c:v>
                </c:pt>
                <c:pt idx="44">
                  <c:v>179900</c:v>
                </c:pt>
                <c:pt idx="45">
                  <c:v>299900</c:v>
                </c:pt>
                <c:pt idx="46">
                  <c:v>239500</c:v>
                </c:pt>
              </c:numCache>
            </c:numRef>
          </c:yVal>
          <c:smooth val="0"/>
          <c:extLst>
            <c:ext xmlns:c16="http://schemas.microsoft.com/office/drawing/2014/chart" uri="{C3380CC4-5D6E-409C-BE32-E72D297353CC}">
              <c16:uniqueId val="{00000000-EBB8-4D99-88E5-1C625D90FC12}"/>
            </c:ext>
          </c:extLst>
        </c:ser>
        <c:dLbls>
          <c:showLegendKey val="0"/>
          <c:showVal val="0"/>
          <c:showCatName val="0"/>
          <c:showSerName val="0"/>
          <c:showPercent val="0"/>
          <c:showBubbleSize val="0"/>
        </c:dLbls>
        <c:axId val="39975936"/>
        <c:axId val="40642432"/>
      </c:scatterChart>
      <c:valAx>
        <c:axId val="39975936"/>
        <c:scaling>
          <c:orientation val="minMax"/>
          <c:max val="3000"/>
        </c:scaling>
        <c:delete val="0"/>
        <c:axPos val="b"/>
        <c:numFmt formatCode="General" sourceLinked="1"/>
        <c:majorTickMark val="out"/>
        <c:minorTickMark val="none"/>
        <c:tickLblPos val="nextTo"/>
        <c:crossAx val="40642432"/>
        <c:crosses val="autoZero"/>
        <c:crossBetween val="midCat"/>
      </c:valAx>
      <c:valAx>
        <c:axId val="40642432"/>
        <c:scaling>
          <c:orientation val="minMax"/>
          <c:max val="500000"/>
        </c:scaling>
        <c:delete val="0"/>
        <c:axPos val="l"/>
        <c:majorGridlines/>
        <c:numFmt formatCode="General" sourceLinked="0"/>
        <c:majorTickMark val="out"/>
        <c:minorTickMark val="none"/>
        <c:tickLblPos val="nextTo"/>
        <c:crossAx val="39975936"/>
        <c:crosses val="autoZero"/>
        <c:crossBetween val="midCat"/>
        <c:majorUnit val="100000"/>
        <c:dispUnits>
          <c:builtInUnit val="thousands"/>
        </c:dispUnits>
      </c:valAx>
    </c:plotArea>
    <c:plotVisOnly val="1"/>
    <c:dispBlanksAs val="gap"/>
    <c:showDLblsOverMax val="0"/>
  </c:chart>
  <c:txPr>
    <a:bodyPr/>
    <a:lstStyle/>
    <a:p>
      <a:pPr>
        <a:defRPr sz="16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none"/>
          </c:marker>
          <c:xVal>
            <c:numRef>
              <c:f>Sheet1!$A$2:$A$5</c:f>
              <c:numCache>
                <c:formatCode>General</c:formatCode>
                <c:ptCount val="4"/>
                <c:pt idx="0">
                  <c:v>1</c:v>
                </c:pt>
                <c:pt idx="1">
                  <c:v>2</c:v>
                </c:pt>
              </c:numCache>
            </c:numRef>
          </c:xVal>
          <c:yVal>
            <c:numRef>
              <c:f>Sheet1!$B$2:$B$5</c:f>
              <c:numCache>
                <c:formatCode>General</c:formatCode>
                <c:ptCount val="4"/>
                <c:pt idx="0">
                  <c:v>1</c:v>
                </c:pt>
                <c:pt idx="1">
                  <c:v>2</c:v>
                </c:pt>
              </c:numCache>
            </c:numRef>
          </c:yVal>
          <c:smooth val="0"/>
          <c:extLst>
            <c:ext xmlns:c16="http://schemas.microsoft.com/office/drawing/2014/chart" uri="{C3380CC4-5D6E-409C-BE32-E72D297353CC}">
              <c16:uniqueId val="{00000000-E277-464D-B975-DE3F2414165E}"/>
            </c:ext>
          </c:extLst>
        </c:ser>
        <c:dLbls>
          <c:showLegendKey val="0"/>
          <c:showVal val="0"/>
          <c:showCatName val="0"/>
          <c:showSerName val="0"/>
          <c:showPercent val="0"/>
          <c:showBubbleSize val="0"/>
        </c:dLbls>
        <c:axId val="40402944"/>
        <c:axId val="40404480"/>
      </c:scatterChart>
      <c:valAx>
        <c:axId val="40402944"/>
        <c:scaling>
          <c:orientation val="minMax"/>
        </c:scaling>
        <c:delete val="0"/>
        <c:axPos val="b"/>
        <c:numFmt formatCode="General" sourceLinked="1"/>
        <c:majorTickMark val="cross"/>
        <c:minorTickMark val="none"/>
        <c:tickLblPos val="nextTo"/>
        <c:spPr>
          <a:ln w="38100"/>
        </c:spPr>
        <c:crossAx val="40404480"/>
        <c:crosses val="autoZero"/>
        <c:crossBetween val="midCat"/>
        <c:majorUnit val="1"/>
      </c:valAx>
      <c:valAx>
        <c:axId val="40404480"/>
        <c:scaling>
          <c:orientation val="minMax"/>
        </c:scaling>
        <c:delete val="0"/>
        <c:axPos val="l"/>
        <c:majorGridlines>
          <c:spPr>
            <a:ln>
              <a:noFill/>
            </a:ln>
          </c:spPr>
        </c:majorGridlines>
        <c:numFmt formatCode="General" sourceLinked="1"/>
        <c:majorTickMark val="cross"/>
        <c:minorTickMark val="none"/>
        <c:tickLblPos val="nextTo"/>
        <c:spPr>
          <a:ln w="38100"/>
        </c:spPr>
        <c:crossAx val="40402944"/>
        <c:crosses val="autoZero"/>
        <c:crossBetween val="midCat"/>
        <c:majorUnit val="1"/>
      </c:valAx>
      <c:spPr>
        <a:ln w="12700">
          <a:noFill/>
        </a:ln>
      </c:spPr>
    </c:plotArea>
    <c:plotVisOnly val="1"/>
    <c:dispBlanksAs val="gap"/>
    <c:showDLblsOverMax val="0"/>
  </c:chart>
  <c:txPr>
    <a:bodyPr/>
    <a:lstStyle/>
    <a:p>
      <a:pPr>
        <a:defRPr sz="20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none"/>
          </c:marker>
          <c:xVal>
            <c:numRef>
              <c:f>Sheet1!$A$2:$A$5</c:f>
              <c:numCache>
                <c:formatCode>General</c:formatCode>
                <c:ptCount val="4"/>
                <c:pt idx="0">
                  <c:v>1</c:v>
                </c:pt>
                <c:pt idx="1">
                  <c:v>2</c:v>
                </c:pt>
              </c:numCache>
            </c:numRef>
          </c:xVal>
          <c:yVal>
            <c:numRef>
              <c:f>Sheet1!$B$2:$B$5</c:f>
              <c:numCache>
                <c:formatCode>General</c:formatCode>
                <c:ptCount val="4"/>
                <c:pt idx="0">
                  <c:v>1</c:v>
                </c:pt>
                <c:pt idx="1">
                  <c:v>2</c:v>
                </c:pt>
              </c:numCache>
            </c:numRef>
          </c:yVal>
          <c:smooth val="0"/>
          <c:extLst>
            <c:ext xmlns:c16="http://schemas.microsoft.com/office/drawing/2014/chart" uri="{C3380CC4-5D6E-409C-BE32-E72D297353CC}">
              <c16:uniqueId val="{00000000-A087-4ED6-BD3E-B2E5FE1C31F4}"/>
            </c:ext>
          </c:extLst>
        </c:ser>
        <c:dLbls>
          <c:showLegendKey val="0"/>
          <c:showVal val="0"/>
          <c:showCatName val="0"/>
          <c:showSerName val="0"/>
          <c:showPercent val="0"/>
          <c:showBubbleSize val="0"/>
        </c:dLbls>
        <c:axId val="39981440"/>
        <c:axId val="39982976"/>
      </c:scatterChart>
      <c:valAx>
        <c:axId val="39981440"/>
        <c:scaling>
          <c:orientation val="minMax"/>
        </c:scaling>
        <c:delete val="0"/>
        <c:axPos val="b"/>
        <c:numFmt formatCode="General" sourceLinked="1"/>
        <c:majorTickMark val="cross"/>
        <c:minorTickMark val="none"/>
        <c:tickLblPos val="nextTo"/>
        <c:spPr>
          <a:ln w="38100"/>
        </c:spPr>
        <c:crossAx val="39982976"/>
        <c:crosses val="autoZero"/>
        <c:crossBetween val="midCat"/>
        <c:majorUnit val="1"/>
      </c:valAx>
      <c:valAx>
        <c:axId val="39982976"/>
        <c:scaling>
          <c:orientation val="minMax"/>
        </c:scaling>
        <c:delete val="0"/>
        <c:axPos val="l"/>
        <c:majorGridlines>
          <c:spPr>
            <a:ln>
              <a:noFill/>
            </a:ln>
          </c:spPr>
        </c:majorGridlines>
        <c:numFmt formatCode="General" sourceLinked="1"/>
        <c:majorTickMark val="cross"/>
        <c:minorTickMark val="none"/>
        <c:tickLblPos val="nextTo"/>
        <c:spPr>
          <a:ln w="38100"/>
        </c:spPr>
        <c:crossAx val="39981440"/>
        <c:crosses val="autoZero"/>
        <c:crossBetween val="midCat"/>
        <c:majorUnit val="1"/>
      </c:valAx>
      <c:spPr>
        <a:ln w="12700">
          <a:noFill/>
        </a:ln>
      </c:spPr>
    </c:plotArea>
    <c:plotVisOnly val="1"/>
    <c:dispBlanksAs val="gap"/>
    <c:showDLblsOverMax val="0"/>
  </c:chart>
  <c:txPr>
    <a:bodyPr/>
    <a:lstStyle/>
    <a:p>
      <a:pPr>
        <a:defRPr sz="20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none"/>
          </c:marker>
          <c:xVal>
            <c:numRef>
              <c:f>Sheet1!$A$2:$A$5</c:f>
              <c:numCache>
                <c:formatCode>General</c:formatCode>
                <c:ptCount val="4"/>
                <c:pt idx="0">
                  <c:v>1</c:v>
                </c:pt>
                <c:pt idx="1">
                  <c:v>2</c:v>
                </c:pt>
              </c:numCache>
            </c:numRef>
          </c:xVal>
          <c:yVal>
            <c:numRef>
              <c:f>Sheet1!$B$2:$B$5</c:f>
              <c:numCache>
                <c:formatCode>General</c:formatCode>
                <c:ptCount val="4"/>
                <c:pt idx="0">
                  <c:v>1</c:v>
                </c:pt>
                <c:pt idx="1">
                  <c:v>2</c:v>
                </c:pt>
              </c:numCache>
            </c:numRef>
          </c:yVal>
          <c:smooth val="0"/>
          <c:extLst>
            <c:ext xmlns:c16="http://schemas.microsoft.com/office/drawing/2014/chart" uri="{C3380CC4-5D6E-409C-BE32-E72D297353CC}">
              <c16:uniqueId val="{00000000-4144-47EE-AF7F-1BEDFC1B09C1}"/>
            </c:ext>
          </c:extLst>
        </c:ser>
        <c:dLbls>
          <c:showLegendKey val="0"/>
          <c:showVal val="0"/>
          <c:showCatName val="0"/>
          <c:showSerName val="0"/>
          <c:showPercent val="0"/>
          <c:showBubbleSize val="0"/>
        </c:dLbls>
        <c:axId val="39994496"/>
        <c:axId val="39996032"/>
      </c:scatterChart>
      <c:valAx>
        <c:axId val="39994496"/>
        <c:scaling>
          <c:orientation val="minMax"/>
        </c:scaling>
        <c:delete val="0"/>
        <c:axPos val="b"/>
        <c:numFmt formatCode="General" sourceLinked="1"/>
        <c:majorTickMark val="cross"/>
        <c:minorTickMark val="none"/>
        <c:tickLblPos val="nextTo"/>
        <c:spPr>
          <a:ln w="38100"/>
        </c:spPr>
        <c:crossAx val="39996032"/>
        <c:crosses val="autoZero"/>
        <c:crossBetween val="midCat"/>
        <c:majorUnit val="1"/>
      </c:valAx>
      <c:valAx>
        <c:axId val="39996032"/>
        <c:scaling>
          <c:orientation val="minMax"/>
        </c:scaling>
        <c:delete val="0"/>
        <c:axPos val="l"/>
        <c:majorGridlines>
          <c:spPr>
            <a:ln>
              <a:noFill/>
            </a:ln>
          </c:spPr>
        </c:majorGridlines>
        <c:numFmt formatCode="General" sourceLinked="1"/>
        <c:majorTickMark val="cross"/>
        <c:minorTickMark val="none"/>
        <c:tickLblPos val="nextTo"/>
        <c:spPr>
          <a:ln w="38100"/>
        </c:spPr>
        <c:crossAx val="39994496"/>
        <c:crosses val="autoZero"/>
        <c:crossBetween val="midCat"/>
        <c:majorUnit val="1"/>
      </c:valAx>
      <c:spPr>
        <a:ln w="12700">
          <a:noFill/>
        </a:ln>
      </c:spPr>
    </c:plotArea>
    <c:plotVisOnly val="1"/>
    <c:dispBlanksAs val="gap"/>
    <c:showDLblsOverMax val="0"/>
  </c:chart>
  <c:txPr>
    <a:bodyPr/>
    <a:lstStyle/>
    <a:p>
      <a:pPr>
        <a:defRPr sz="20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4"/>
          <c:order val="4"/>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0-EC5B-4DAC-9C28-C6809456F16A}"/>
            </c:ext>
          </c:extLst>
        </c:ser>
        <c:ser>
          <c:idx val="5"/>
          <c:order val="5"/>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1-EC5B-4DAC-9C28-C6809456F16A}"/>
            </c:ext>
          </c:extLst>
        </c:ser>
        <c:ser>
          <c:idx val="6"/>
          <c:order val="6"/>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2-EC5B-4DAC-9C28-C6809456F16A}"/>
            </c:ext>
          </c:extLst>
        </c:ser>
        <c:ser>
          <c:idx val="7"/>
          <c:order val="7"/>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3-EC5B-4DAC-9C28-C6809456F16A}"/>
            </c:ext>
          </c:extLst>
        </c:ser>
        <c:ser>
          <c:idx val="2"/>
          <c:order val="2"/>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4-EC5B-4DAC-9C28-C6809456F16A}"/>
            </c:ext>
          </c:extLst>
        </c:ser>
        <c:ser>
          <c:idx val="3"/>
          <c:order val="3"/>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5-EC5B-4DAC-9C28-C6809456F16A}"/>
            </c:ext>
          </c:extLst>
        </c:ser>
        <c:ser>
          <c:idx val="1"/>
          <c:order val="1"/>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6-EC5B-4DAC-9C28-C6809456F16A}"/>
            </c:ext>
          </c:extLst>
        </c:ser>
        <c:ser>
          <c:idx val="0"/>
          <c:order val="0"/>
          <c:spPr>
            <a:ln w="0">
              <a:noFill/>
            </a:ln>
          </c:spPr>
          <c:marker>
            <c:symbol val="x"/>
            <c:size val="13"/>
            <c:spPr>
              <a:ln w="19050">
                <a:solidFill>
                  <a:schemeClr val="accent2"/>
                </a:solidFill>
              </a:ln>
            </c:spPr>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7-EC5B-4DAC-9C28-C6809456F16A}"/>
            </c:ext>
          </c:extLst>
        </c:ser>
        <c:dLbls>
          <c:showLegendKey val="0"/>
          <c:showVal val="0"/>
          <c:showCatName val="0"/>
          <c:showSerName val="0"/>
          <c:showPercent val="0"/>
          <c:showBubbleSize val="0"/>
        </c:dLbls>
        <c:axId val="40038400"/>
        <c:axId val="40040320"/>
      </c:scatterChart>
      <c:valAx>
        <c:axId val="40038400"/>
        <c:scaling>
          <c:orientation val="minMax"/>
          <c:max val="3"/>
        </c:scaling>
        <c:delete val="0"/>
        <c:axPos val="b"/>
        <c:numFmt formatCode="General" sourceLinked="1"/>
        <c:majorTickMark val="cross"/>
        <c:minorTickMark val="none"/>
        <c:tickLblPos val="nextTo"/>
        <c:spPr>
          <a:ln w="38100"/>
        </c:spPr>
        <c:crossAx val="40040320"/>
        <c:crosses val="autoZero"/>
        <c:crossBetween val="midCat"/>
        <c:majorUnit val="1"/>
      </c:valAx>
      <c:valAx>
        <c:axId val="40040320"/>
        <c:scaling>
          <c:orientation val="minMax"/>
          <c:max val="3"/>
        </c:scaling>
        <c:delete val="0"/>
        <c:axPos val="l"/>
        <c:majorGridlines>
          <c:spPr>
            <a:ln>
              <a:noFill/>
            </a:ln>
          </c:spPr>
        </c:majorGridlines>
        <c:numFmt formatCode="General" sourceLinked="1"/>
        <c:majorTickMark val="cross"/>
        <c:minorTickMark val="none"/>
        <c:tickLblPos val="nextTo"/>
        <c:spPr>
          <a:ln w="38100"/>
        </c:spPr>
        <c:crossAx val="40038400"/>
        <c:crosses val="autoZero"/>
        <c:crossBetween val="midCat"/>
        <c:majorUnit val="1"/>
      </c:valAx>
    </c:plotArea>
    <c:plotVisOnly val="1"/>
    <c:dispBlanksAs val="gap"/>
    <c:showDLblsOverMax val="0"/>
  </c:chart>
  <c:txPr>
    <a:bodyPr/>
    <a:lstStyle/>
    <a:p>
      <a:pPr>
        <a:defRPr sz="20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4"/>
          <c:order val="4"/>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0-4584-4B9D-BEFC-33566480D12B}"/>
            </c:ext>
          </c:extLst>
        </c:ser>
        <c:ser>
          <c:idx val="5"/>
          <c:order val="5"/>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1-4584-4B9D-BEFC-33566480D12B}"/>
            </c:ext>
          </c:extLst>
        </c:ser>
        <c:ser>
          <c:idx val="6"/>
          <c:order val="6"/>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2-4584-4B9D-BEFC-33566480D12B}"/>
            </c:ext>
          </c:extLst>
        </c:ser>
        <c:ser>
          <c:idx val="7"/>
          <c:order val="7"/>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3-4584-4B9D-BEFC-33566480D12B}"/>
            </c:ext>
          </c:extLst>
        </c:ser>
        <c:ser>
          <c:idx val="2"/>
          <c:order val="2"/>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4-4584-4B9D-BEFC-33566480D12B}"/>
            </c:ext>
          </c:extLst>
        </c:ser>
        <c:ser>
          <c:idx val="3"/>
          <c:order val="3"/>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5-4584-4B9D-BEFC-33566480D12B}"/>
            </c:ext>
          </c:extLst>
        </c:ser>
        <c:ser>
          <c:idx val="1"/>
          <c:order val="1"/>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6-4584-4B9D-BEFC-33566480D12B}"/>
            </c:ext>
          </c:extLst>
        </c:ser>
        <c:ser>
          <c:idx val="0"/>
          <c:order val="0"/>
          <c:spPr>
            <a:ln w="0">
              <a:noFill/>
            </a:ln>
          </c:spPr>
          <c:marker>
            <c:symbol val="x"/>
            <c:size val="13"/>
            <c:spPr>
              <a:ln w="19050">
                <a:solidFill>
                  <a:schemeClr val="accent2"/>
                </a:solidFill>
              </a:ln>
            </c:spPr>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7-4584-4B9D-BEFC-33566480D12B}"/>
            </c:ext>
          </c:extLst>
        </c:ser>
        <c:dLbls>
          <c:showLegendKey val="0"/>
          <c:showVal val="0"/>
          <c:showCatName val="0"/>
          <c:showSerName val="0"/>
          <c:showPercent val="0"/>
          <c:showBubbleSize val="0"/>
        </c:dLbls>
        <c:axId val="40352384"/>
        <c:axId val="45277952"/>
      </c:scatterChart>
      <c:valAx>
        <c:axId val="40352384"/>
        <c:scaling>
          <c:orientation val="minMax"/>
          <c:max val="3"/>
        </c:scaling>
        <c:delete val="0"/>
        <c:axPos val="b"/>
        <c:numFmt formatCode="General" sourceLinked="1"/>
        <c:majorTickMark val="cross"/>
        <c:minorTickMark val="none"/>
        <c:tickLblPos val="nextTo"/>
        <c:spPr>
          <a:ln w="38100"/>
        </c:spPr>
        <c:crossAx val="45277952"/>
        <c:crosses val="autoZero"/>
        <c:crossBetween val="midCat"/>
        <c:majorUnit val="1"/>
      </c:valAx>
      <c:valAx>
        <c:axId val="45277952"/>
        <c:scaling>
          <c:orientation val="minMax"/>
          <c:max val="3"/>
        </c:scaling>
        <c:delete val="0"/>
        <c:axPos val="l"/>
        <c:majorGridlines>
          <c:spPr>
            <a:ln>
              <a:noFill/>
            </a:ln>
          </c:spPr>
        </c:majorGridlines>
        <c:numFmt formatCode="General" sourceLinked="1"/>
        <c:majorTickMark val="cross"/>
        <c:minorTickMark val="none"/>
        <c:tickLblPos val="nextTo"/>
        <c:spPr>
          <a:ln w="38100"/>
        </c:spPr>
        <c:crossAx val="40352384"/>
        <c:crosses val="autoZero"/>
        <c:crossBetween val="midCat"/>
        <c:majorUnit val="1"/>
      </c:valAx>
    </c:plotArea>
    <c:plotVisOnly val="1"/>
    <c:dispBlanksAs val="gap"/>
    <c:showDLblsOverMax val="0"/>
  </c:chart>
  <c:txPr>
    <a:bodyPr/>
    <a:lstStyle/>
    <a:p>
      <a:pPr>
        <a:defRPr sz="20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4"/>
          <c:order val="4"/>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0-8637-4C3E-8EE6-9DC641CC548C}"/>
            </c:ext>
          </c:extLst>
        </c:ser>
        <c:ser>
          <c:idx val="5"/>
          <c:order val="5"/>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1-8637-4C3E-8EE6-9DC641CC548C}"/>
            </c:ext>
          </c:extLst>
        </c:ser>
        <c:ser>
          <c:idx val="6"/>
          <c:order val="6"/>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2-8637-4C3E-8EE6-9DC641CC548C}"/>
            </c:ext>
          </c:extLst>
        </c:ser>
        <c:ser>
          <c:idx val="7"/>
          <c:order val="7"/>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3-8637-4C3E-8EE6-9DC641CC548C}"/>
            </c:ext>
          </c:extLst>
        </c:ser>
        <c:ser>
          <c:idx val="2"/>
          <c:order val="2"/>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4-8637-4C3E-8EE6-9DC641CC548C}"/>
            </c:ext>
          </c:extLst>
        </c:ser>
        <c:ser>
          <c:idx val="3"/>
          <c:order val="3"/>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5-8637-4C3E-8EE6-9DC641CC548C}"/>
            </c:ext>
          </c:extLst>
        </c:ser>
        <c:ser>
          <c:idx val="1"/>
          <c:order val="1"/>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6-8637-4C3E-8EE6-9DC641CC548C}"/>
            </c:ext>
          </c:extLst>
        </c:ser>
        <c:ser>
          <c:idx val="0"/>
          <c:order val="0"/>
          <c:spPr>
            <a:ln w="0">
              <a:noFill/>
            </a:ln>
          </c:spPr>
          <c:marker>
            <c:symbol val="x"/>
            <c:size val="13"/>
            <c:spPr>
              <a:ln w="19050">
                <a:solidFill>
                  <a:schemeClr val="accent2"/>
                </a:solidFill>
              </a:ln>
            </c:spPr>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7-8637-4C3E-8EE6-9DC641CC548C}"/>
            </c:ext>
          </c:extLst>
        </c:ser>
        <c:dLbls>
          <c:showLegendKey val="0"/>
          <c:showVal val="0"/>
          <c:showCatName val="0"/>
          <c:showSerName val="0"/>
          <c:showPercent val="0"/>
          <c:showBubbleSize val="0"/>
        </c:dLbls>
        <c:axId val="6226688"/>
        <c:axId val="6228608"/>
      </c:scatterChart>
      <c:valAx>
        <c:axId val="6226688"/>
        <c:scaling>
          <c:orientation val="minMax"/>
          <c:max val="3"/>
        </c:scaling>
        <c:delete val="0"/>
        <c:axPos val="b"/>
        <c:numFmt formatCode="General" sourceLinked="1"/>
        <c:majorTickMark val="cross"/>
        <c:minorTickMark val="none"/>
        <c:tickLblPos val="nextTo"/>
        <c:spPr>
          <a:ln w="38100">
            <a:solidFill>
              <a:srgbClr val="FFC000"/>
            </a:solidFill>
          </a:ln>
        </c:spPr>
        <c:crossAx val="6228608"/>
        <c:crosses val="autoZero"/>
        <c:crossBetween val="midCat"/>
        <c:majorUnit val="1"/>
      </c:valAx>
      <c:valAx>
        <c:axId val="6228608"/>
        <c:scaling>
          <c:orientation val="minMax"/>
          <c:max val="3"/>
        </c:scaling>
        <c:delete val="0"/>
        <c:axPos val="l"/>
        <c:majorGridlines>
          <c:spPr>
            <a:ln>
              <a:noFill/>
            </a:ln>
          </c:spPr>
        </c:majorGridlines>
        <c:numFmt formatCode="General" sourceLinked="1"/>
        <c:majorTickMark val="cross"/>
        <c:minorTickMark val="none"/>
        <c:tickLblPos val="nextTo"/>
        <c:spPr>
          <a:ln w="38100"/>
        </c:spPr>
        <c:crossAx val="6226688"/>
        <c:crosses val="autoZero"/>
        <c:crossBetween val="midCat"/>
        <c:majorUnit val="1"/>
      </c:valAx>
    </c:plotArea>
    <c:plotVisOnly val="1"/>
    <c:dispBlanksAs val="gap"/>
    <c:showDLblsOverMax val="0"/>
  </c:chart>
  <c:txPr>
    <a:bodyPr/>
    <a:lstStyle/>
    <a:p>
      <a:pPr>
        <a:defRPr sz="20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noFill/>
              <a:ln w="12700">
                <a:solidFill>
                  <a:srgbClr val="C00000"/>
                </a:solidFill>
              </a:ln>
            </c:spPr>
          </c:marker>
          <c:xVal>
            <c:numRef>
              <c:f>portland!$A$1:$A$48</c:f>
              <c:numCache>
                <c:formatCode>General</c:formatCode>
                <c:ptCount val="48"/>
                <c:pt idx="0">
                  <c:v>2104</c:v>
                </c:pt>
                <c:pt idx="1">
                  <c:v>1600</c:v>
                </c:pt>
                <c:pt idx="2">
                  <c:v>2400</c:v>
                </c:pt>
                <c:pt idx="3">
                  <c:v>1416</c:v>
                </c:pt>
                <c:pt idx="4">
                  <c:v>3000</c:v>
                </c:pt>
                <c:pt idx="5">
                  <c:v>1985</c:v>
                </c:pt>
                <c:pt idx="6">
                  <c:v>1534</c:v>
                </c:pt>
                <c:pt idx="7">
                  <c:v>1427</c:v>
                </c:pt>
                <c:pt idx="8">
                  <c:v>1380</c:v>
                </c:pt>
                <c:pt idx="9">
                  <c:v>1494</c:v>
                </c:pt>
                <c:pt idx="10">
                  <c:v>1940</c:v>
                </c:pt>
                <c:pt idx="11">
                  <c:v>2000</c:v>
                </c:pt>
                <c:pt idx="12">
                  <c:v>1890</c:v>
                </c:pt>
                <c:pt idx="13">
                  <c:v>4478</c:v>
                </c:pt>
                <c:pt idx="14">
                  <c:v>1268</c:v>
                </c:pt>
                <c:pt idx="15">
                  <c:v>2300</c:v>
                </c:pt>
                <c:pt idx="16">
                  <c:v>1320</c:v>
                </c:pt>
                <c:pt idx="17">
                  <c:v>1236</c:v>
                </c:pt>
                <c:pt idx="18">
                  <c:v>2609</c:v>
                </c:pt>
                <c:pt idx="19">
                  <c:v>3031</c:v>
                </c:pt>
                <c:pt idx="20">
                  <c:v>1767</c:v>
                </c:pt>
                <c:pt idx="21">
                  <c:v>1888</c:v>
                </c:pt>
                <c:pt idx="22">
                  <c:v>1604</c:v>
                </c:pt>
                <c:pt idx="23">
                  <c:v>1962</c:v>
                </c:pt>
                <c:pt idx="24">
                  <c:v>3890</c:v>
                </c:pt>
                <c:pt idx="25">
                  <c:v>1100</c:v>
                </c:pt>
                <c:pt idx="26">
                  <c:v>1458</c:v>
                </c:pt>
                <c:pt idx="27">
                  <c:v>2526</c:v>
                </c:pt>
                <c:pt idx="28">
                  <c:v>2200</c:v>
                </c:pt>
                <c:pt idx="29">
                  <c:v>2637</c:v>
                </c:pt>
                <c:pt idx="30">
                  <c:v>1839</c:v>
                </c:pt>
                <c:pt idx="31">
                  <c:v>1000</c:v>
                </c:pt>
                <c:pt idx="32">
                  <c:v>2040</c:v>
                </c:pt>
                <c:pt idx="33">
                  <c:v>3137</c:v>
                </c:pt>
                <c:pt idx="34">
                  <c:v>1811</c:v>
                </c:pt>
                <c:pt idx="35">
                  <c:v>1437</c:v>
                </c:pt>
                <c:pt idx="36">
                  <c:v>1239</c:v>
                </c:pt>
                <c:pt idx="37">
                  <c:v>2132</c:v>
                </c:pt>
                <c:pt idx="38">
                  <c:v>4215</c:v>
                </c:pt>
                <c:pt idx="39">
                  <c:v>2162</c:v>
                </c:pt>
                <c:pt idx="40">
                  <c:v>1664</c:v>
                </c:pt>
                <c:pt idx="41">
                  <c:v>2238</c:v>
                </c:pt>
                <c:pt idx="42">
                  <c:v>2567</c:v>
                </c:pt>
                <c:pt idx="43">
                  <c:v>1200</c:v>
                </c:pt>
                <c:pt idx="44">
                  <c:v>852</c:v>
                </c:pt>
                <c:pt idx="45">
                  <c:v>1852</c:v>
                </c:pt>
                <c:pt idx="46">
                  <c:v>1203</c:v>
                </c:pt>
              </c:numCache>
            </c:numRef>
          </c:xVal>
          <c:yVal>
            <c:numRef>
              <c:f>portland!$B$1:$B$48</c:f>
              <c:numCache>
                <c:formatCode>General</c:formatCode>
                <c:ptCount val="48"/>
                <c:pt idx="0">
                  <c:v>399900</c:v>
                </c:pt>
                <c:pt idx="1">
                  <c:v>329900</c:v>
                </c:pt>
                <c:pt idx="2">
                  <c:v>369000</c:v>
                </c:pt>
                <c:pt idx="3">
                  <c:v>232000</c:v>
                </c:pt>
                <c:pt idx="4">
                  <c:v>539900</c:v>
                </c:pt>
                <c:pt idx="5">
                  <c:v>299900</c:v>
                </c:pt>
                <c:pt idx="6">
                  <c:v>314900</c:v>
                </c:pt>
                <c:pt idx="7">
                  <c:v>198999</c:v>
                </c:pt>
                <c:pt idx="8">
                  <c:v>212000</c:v>
                </c:pt>
                <c:pt idx="9">
                  <c:v>242500</c:v>
                </c:pt>
                <c:pt idx="10">
                  <c:v>239999</c:v>
                </c:pt>
                <c:pt idx="11">
                  <c:v>347000</c:v>
                </c:pt>
                <c:pt idx="12">
                  <c:v>329999</c:v>
                </c:pt>
                <c:pt idx="13">
                  <c:v>699900</c:v>
                </c:pt>
                <c:pt idx="14">
                  <c:v>259900</c:v>
                </c:pt>
                <c:pt idx="15">
                  <c:v>449900</c:v>
                </c:pt>
                <c:pt idx="16">
                  <c:v>299900</c:v>
                </c:pt>
                <c:pt idx="17">
                  <c:v>199900</c:v>
                </c:pt>
                <c:pt idx="18">
                  <c:v>499998</c:v>
                </c:pt>
                <c:pt idx="19">
                  <c:v>599000</c:v>
                </c:pt>
                <c:pt idx="20">
                  <c:v>252900</c:v>
                </c:pt>
                <c:pt idx="21">
                  <c:v>255000</c:v>
                </c:pt>
                <c:pt idx="22">
                  <c:v>242900</c:v>
                </c:pt>
                <c:pt idx="23">
                  <c:v>259900</c:v>
                </c:pt>
                <c:pt idx="24">
                  <c:v>573900</c:v>
                </c:pt>
                <c:pt idx="25">
                  <c:v>249900</c:v>
                </c:pt>
                <c:pt idx="26">
                  <c:v>464500</c:v>
                </c:pt>
                <c:pt idx="27">
                  <c:v>469000</c:v>
                </c:pt>
                <c:pt idx="28">
                  <c:v>475000</c:v>
                </c:pt>
                <c:pt idx="29">
                  <c:v>299900</c:v>
                </c:pt>
                <c:pt idx="30">
                  <c:v>349900</c:v>
                </c:pt>
                <c:pt idx="31">
                  <c:v>169900</c:v>
                </c:pt>
                <c:pt idx="32">
                  <c:v>314900</c:v>
                </c:pt>
                <c:pt idx="33">
                  <c:v>579900</c:v>
                </c:pt>
                <c:pt idx="34">
                  <c:v>285900</c:v>
                </c:pt>
                <c:pt idx="35">
                  <c:v>249900</c:v>
                </c:pt>
                <c:pt idx="36">
                  <c:v>229900</c:v>
                </c:pt>
                <c:pt idx="37">
                  <c:v>345000</c:v>
                </c:pt>
                <c:pt idx="38">
                  <c:v>549000</c:v>
                </c:pt>
                <c:pt idx="39">
                  <c:v>287000</c:v>
                </c:pt>
                <c:pt idx="40">
                  <c:v>368500</c:v>
                </c:pt>
                <c:pt idx="41">
                  <c:v>329900</c:v>
                </c:pt>
                <c:pt idx="42">
                  <c:v>314000</c:v>
                </c:pt>
                <c:pt idx="43">
                  <c:v>299000</c:v>
                </c:pt>
                <c:pt idx="44">
                  <c:v>179900</c:v>
                </c:pt>
                <c:pt idx="45">
                  <c:v>299900</c:v>
                </c:pt>
                <c:pt idx="46">
                  <c:v>239500</c:v>
                </c:pt>
              </c:numCache>
            </c:numRef>
          </c:yVal>
          <c:smooth val="0"/>
          <c:extLst>
            <c:ext xmlns:c16="http://schemas.microsoft.com/office/drawing/2014/chart" uri="{C3380CC4-5D6E-409C-BE32-E72D297353CC}">
              <c16:uniqueId val="{00000000-690A-48C1-8AED-58FAC0399E70}"/>
            </c:ext>
          </c:extLst>
        </c:ser>
        <c:dLbls>
          <c:showLegendKey val="0"/>
          <c:showVal val="0"/>
          <c:showCatName val="0"/>
          <c:showSerName val="0"/>
          <c:showPercent val="0"/>
          <c:showBubbleSize val="0"/>
        </c:dLbls>
        <c:axId val="6232320"/>
        <c:axId val="6239360"/>
      </c:scatterChart>
      <c:valAx>
        <c:axId val="6232320"/>
        <c:scaling>
          <c:orientation val="minMax"/>
          <c:max val="3000"/>
        </c:scaling>
        <c:delete val="0"/>
        <c:axPos val="b"/>
        <c:numFmt formatCode="General" sourceLinked="1"/>
        <c:majorTickMark val="out"/>
        <c:minorTickMark val="none"/>
        <c:tickLblPos val="nextTo"/>
        <c:spPr>
          <a:ln w="25400"/>
        </c:spPr>
        <c:crossAx val="6239360"/>
        <c:crosses val="autoZero"/>
        <c:crossBetween val="midCat"/>
      </c:valAx>
      <c:valAx>
        <c:axId val="6239360"/>
        <c:scaling>
          <c:orientation val="minMax"/>
          <c:max val="500000"/>
        </c:scaling>
        <c:delete val="0"/>
        <c:axPos val="l"/>
        <c:majorGridlines/>
        <c:numFmt formatCode="General" sourceLinked="0"/>
        <c:majorTickMark val="out"/>
        <c:minorTickMark val="none"/>
        <c:tickLblPos val="nextTo"/>
        <c:spPr>
          <a:ln w="25400"/>
        </c:spPr>
        <c:crossAx val="6232320"/>
        <c:crosses val="autoZero"/>
        <c:crossBetween val="midCat"/>
        <c:majorUnit val="100000"/>
        <c:dispUnits>
          <c:builtInUnit val="thousands"/>
        </c:dispUnits>
      </c:valAx>
    </c:plotArea>
    <c:plotVisOnly val="1"/>
    <c:dispBlanksAs val="gap"/>
    <c:showDLblsOverMax val="0"/>
  </c:chart>
  <c:txPr>
    <a:bodyPr/>
    <a:lstStyle/>
    <a:p>
      <a:pPr>
        <a:defRPr sz="16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08008F-8C0F-4F63-86DC-E7B67385E4BD}" type="datetimeFigureOut">
              <a:rPr lang="en-US" smtClean="0"/>
              <a:pPr/>
              <a:t>8/31/2026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F38DAD-5F37-4EA5-A798-26ED1E453939}" type="slidenum">
              <a:rPr lang="en-US" smtClean="0"/>
              <a:pPr/>
              <a:t>‹#›</a:t>
            </a:fld>
            <a:endParaRPr lang="en-US"/>
          </a:p>
        </p:txBody>
      </p:sp>
    </p:spTree>
    <p:extLst>
      <p:ext uri="{BB962C8B-B14F-4D97-AF65-F5344CB8AC3E}">
        <p14:creationId xmlns:p14="http://schemas.microsoft.com/office/powerpoint/2010/main" val="240361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FF38DAD-5F37-4EA5-A798-26ED1E453939}"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F38DAD-5F37-4EA5-A798-26ED1E453939}" type="slidenum">
              <a:rPr lang="en-US" smtClean="0"/>
              <a:pPr/>
              <a:t>6</a:t>
            </a:fld>
            <a:endParaRPr lang="en-US"/>
          </a:p>
        </p:txBody>
      </p:sp>
    </p:spTree>
    <p:extLst>
      <p:ext uri="{BB962C8B-B14F-4D97-AF65-F5344CB8AC3E}">
        <p14:creationId xmlns:p14="http://schemas.microsoft.com/office/powerpoint/2010/main" val="1566210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0" name="Google Shape;540;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6" name="Google Shape;546;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0" name="Google Shape;540;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4" name="Google Shape;564;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a:t>Example </a:t>
            </a:r>
            <a:r>
              <a:rPr lang="en-IN" b="0" i="0">
                <a:solidFill>
                  <a:srgbClr val="0D405F"/>
                </a:solidFill>
                <a:latin typeface="Inter"/>
                <a:ea typeface="Inter"/>
                <a:cs typeface="Inter"/>
                <a:sym typeface="Inter"/>
              </a:rPr>
              <a:t>You are a public health researcher interested in social factors that influence heart disease. You survey 500 towns and gather data on the percentage of people in each town who smoke, the percentage of people in each town who bike to work, and the percentage of people in each town who have heart disease.</a:t>
            </a:r>
            <a:endParaRPr/>
          </a:p>
          <a:p>
            <a:pPr marL="0" lvl="0" indent="0" algn="l" rtl="0">
              <a:spcBef>
                <a:spcPts val="0"/>
              </a:spcBef>
              <a:spcAft>
                <a:spcPts val="0"/>
              </a:spcAft>
              <a:buNone/>
            </a:pPr>
            <a:r>
              <a:rPr lang="en-IN" b="0" i="0">
                <a:solidFill>
                  <a:srgbClr val="0D405F"/>
                </a:solidFill>
                <a:latin typeface="Inter"/>
                <a:ea typeface="Inter"/>
                <a:cs typeface="Inter"/>
                <a:sym typeface="Inter"/>
              </a:rPr>
              <a:t>Because you have two independent variables and one dependent variable, and all your variables are quantitative, you can use multiple linear regression to </a:t>
            </a:r>
            <a:r>
              <a:rPr lang="en-IN" b="0" i="0" err="1">
                <a:solidFill>
                  <a:srgbClr val="0D405F"/>
                </a:solidFill>
                <a:latin typeface="Inter"/>
                <a:ea typeface="Inter"/>
                <a:cs typeface="Inter"/>
                <a:sym typeface="Inter"/>
              </a:rPr>
              <a:t>analyze</a:t>
            </a:r>
            <a:r>
              <a:rPr lang="en-IN" b="0" i="0">
                <a:solidFill>
                  <a:srgbClr val="0D405F"/>
                </a:solidFill>
                <a:latin typeface="Inter"/>
                <a:ea typeface="Inter"/>
                <a:cs typeface="Inter"/>
                <a:sym typeface="Inter"/>
              </a:rPr>
              <a:t> the relationship between them.</a:t>
            </a:r>
            <a:endParaRPr/>
          </a:p>
          <a:p>
            <a:pPr marL="0" lvl="0" indent="0" algn="l" rtl="0">
              <a:spcBef>
                <a:spcPts val="0"/>
              </a:spcBef>
              <a:spcAft>
                <a:spcPts val="0"/>
              </a:spcAft>
              <a:buNone/>
            </a:pPr>
            <a:endParaRPr/>
          </a:p>
        </p:txBody>
      </p:sp>
      <p:sp>
        <p:nvSpPr>
          <p:cNvPr id="565" name="Google Shape;565;p5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32</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J in any function…not necessarily cost function</a:t>
            </a:r>
          </a:p>
        </p:txBody>
      </p:sp>
      <p:sp>
        <p:nvSpPr>
          <p:cNvPr id="4" name="Slide Number Placeholder 3"/>
          <p:cNvSpPr>
            <a:spLocks noGrp="1"/>
          </p:cNvSpPr>
          <p:nvPr>
            <p:ph type="sldNum" sz="quarter" idx="5"/>
          </p:nvPr>
        </p:nvSpPr>
        <p:spPr/>
        <p:txBody>
          <a:bodyPr/>
          <a:lstStyle/>
          <a:p>
            <a:fld id="{8FF38DAD-5F37-4EA5-A798-26ED1E453939}" type="slidenum">
              <a:rPr lang="en-US" smtClean="0"/>
              <a:pPr/>
              <a:t>37</a:t>
            </a:fld>
            <a:endParaRPr lang="en-US"/>
          </a:p>
        </p:txBody>
      </p:sp>
    </p:spTree>
    <p:extLst>
      <p:ext uri="{BB962C8B-B14F-4D97-AF65-F5344CB8AC3E}">
        <p14:creationId xmlns:p14="http://schemas.microsoft.com/office/powerpoint/2010/main" val="42198585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p>
            <a:fld id="{324BCD14-5A93-4938-87CE-709050061C51}" type="slidenum">
              <a:rPr lang="en-US" smtClean="0">
                <a:solidFill>
                  <a:prstClr val="black"/>
                </a:solidFill>
                <a:latin typeface="Arial" pitchFamily="34" charset="0"/>
              </a:rPr>
              <a:pPr/>
              <a:t>55</a:t>
            </a:fld>
            <a:endParaRPr lang="en-US">
              <a:solidFill>
                <a:prstClr val="black"/>
              </a:solidFill>
              <a:latin typeface="Arial" pitchFamily="34" charset="0"/>
            </a:endParaRPr>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xfrm>
            <a:off x="914400" y="4343400"/>
            <a:ext cx="5029200" cy="4114800"/>
          </a:xfrm>
          <a:noFill/>
          <a:ln/>
        </p:spPr>
        <p:txBody>
          <a:bodyPr/>
          <a:lstStyle/>
          <a:p>
            <a:pPr eaLnBrk="1" hangingPunct="1"/>
            <a:endParaRPr lang="en-US">
              <a:latin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p>
            <a:fld id="{90F41B15-6F5C-47EB-9972-9BA42C6AE2E6}" type="slidenum">
              <a:rPr lang="en-US" smtClean="0">
                <a:solidFill>
                  <a:prstClr val="black"/>
                </a:solidFill>
                <a:latin typeface="Arial" pitchFamily="34" charset="0"/>
              </a:rPr>
              <a:pPr/>
              <a:t>56</a:t>
            </a:fld>
            <a:endParaRPr lang="en-US">
              <a:solidFill>
                <a:prstClr val="black"/>
              </a:solidFill>
              <a:latin typeface="Arial" pitchFamily="34" charset="0"/>
            </a:endParaRPr>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xfrm>
            <a:off x="914400" y="4343400"/>
            <a:ext cx="5029200" cy="4114800"/>
          </a:xfrm>
          <a:noFill/>
          <a:ln/>
        </p:spPr>
        <p:txBody>
          <a:bodyPr/>
          <a:lstStyle/>
          <a:p>
            <a:pPr eaLnBrk="1" hangingPunct="1"/>
            <a:r>
              <a:rPr lang="en-US">
                <a:latin typeface="Arial" pitchFamily="34" charset="0"/>
              </a:rPr>
              <a:t>Two different starting points reaching to two different local optimum…local minima</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IN"/>
                  <a:t>The term </a:t>
                </a:r>
                <a14:m>
                  <m:oMath xmlns:m="http://schemas.openxmlformats.org/officeDocument/2006/math">
                    <m:d>
                      <m:dPr>
                        <m:ctrlPr>
                          <a:rPr lang="en-IN" sz="1200" i="1" kern="1200">
                            <a:solidFill>
                              <a:schemeClr val="tx1"/>
                            </a:solidFill>
                            <a:latin typeface="Cambria Math" panose="02040503050406030204" pitchFamily="18" charset="0"/>
                            <a:ea typeface="+mn-ea"/>
                            <a:cs typeface="+mn-cs"/>
                          </a:rPr>
                        </m:ctrlPr>
                      </m:dPr>
                      <m:e>
                        <m:sSub>
                          <m:sSubPr>
                            <m:ctrlPr>
                              <a:rPr lang="en-IN" sz="1200" i="1" kern="1200">
                                <a:solidFill>
                                  <a:schemeClr val="tx1"/>
                                </a:solidFill>
                                <a:latin typeface="Cambria Math" panose="02040503050406030204" pitchFamily="18" charset="0"/>
                                <a:ea typeface="+mn-ea"/>
                                <a:cs typeface="+mn-cs"/>
                              </a:rPr>
                            </m:ctrlPr>
                          </m:sSubPr>
                          <m:e>
                            <m:acc>
                              <m:accPr>
                                <m:chr m:val="̂"/>
                                <m:ctrlPr>
                                  <a:rPr lang="en-IN" sz="1200" i="1" kern="1200">
                                    <a:solidFill>
                                      <a:schemeClr val="tx1"/>
                                    </a:solidFill>
                                    <a:latin typeface="Cambria Math" panose="02040503050406030204" pitchFamily="18" charset="0"/>
                                    <a:ea typeface="+mn-ea"/>
                                    <a:cs typeface="+mn-cs"/>
                                  </a:rPr>
                                </m:ctrlPr>
                              </m:accPr>
                              <m:e>
                                <m:r>
                                  <a:rPr lang="en-IN" sz="1200" i="1" kern="1200">
                                    <a:solidFill>
                                      <a:schemeClr val="tx1"/>
                                    </a:solidFill>
                                    <a:latin typeface="Cambria Math" panose="02040503050406030204" pitchFamily="18" charset="0"/>
                                    <a:ea typeface="+mn-ea"/>
                                    <a:cs typeface="+mn-cs"/>
                                  </a:rPr>
                                  <m:t>𝑦</m:t>
                                </m:r>
                              </m:e>
                            </m:acc>
                          </m:e>
                          <m:sub>
                            <m:r>
                              <a:rPr lang="en-IN" sz="1200" i="1" kern="1200">
                                <a:solidFill>
                                  <a:schemeClr val="tx1"/>
                                </a:solidFill>
                                <a:latin typeface="Cambria Math" panose="02040503050406030204" pitchFamily="18" charset="0"/>
                                <a:ea typeface="+mn-ea"/>
                                <a:cs typeface="+mn-cs"/>
                              </a:rPr>
                              <m:t>𝑖</m:t>
                            </m:r>
                          </m:sub>
                        </m:sSub>
                        <m:r>
                          <a:rPr lang="en-IN" sz="1200" i="0" kern="1200">
                            <a:solidFill>
                              <a:schemeClr val="tx1"/>
                            </a:solidFill>
                            <a:latin typeface="Cambria Math" panose="02040503050406030204" pitchFamily="18" charset="0"/>
                            <a:ea typeface="+mn-ea"/>
                            <a:cs typeface="+mn-cs"/>
                          </a:rPr>
                          <m:t>−</m:t>
                        </m:r>
                        <m:sSub>
                          <m:sSubPr>
                            <m:ctrlPr>
                              <a:rPr lang="en-IN" sz="1200" i="1" kern="1200">
                                <a:solidFill>
                                  <a:schemeClr val="tx1"/>
                                </a:solidFill>
                                <a:latin typeface="Cambria Math" panose="02040503050406030204" pitchFamily="18" charset="0"/>
                                <a:ea typeface="+mn-ea"/>
                                <a:cs typeface="+mn-cs"/>
                              </a:rPr>
                            </m:ctrlPr>
                          </m:sSubPr>
                          <m:e>
                            <m:r>
                              <a:rPr lang="en-IN" sz="1200" i="1" kern="1200">
                                <a:solidFill>
                                  <a:schemeClr val="tx1"/>
                                </a:solidFill>
                                <a:latin typeface="Cambria Math" panose="02040503050406030204" pitchFamily="18" charset="0"/>
                                <a:ea typeface="+mn-ea"/>
                                <a:cs typeface="+mn-cs"/>
                              </a:rPr>
                              <m:t>𝑦</m:t>
                            </m:r>
                          </m:e>
                          <m:sub>
                            <m:r>
                              <a:rPr lang="en-IN" sz="1200" i="1" kern="1200">
                                <a:solidFill>
                                  <a:schemeClr val="tx1"/>
                                </a:solidFill>
                                <a:latin typeface="Cambria Math" panose="02040503050406030204" pitchFamily="18" charset="0"/>
                                <a:ea typeface="+mn-ea"/>
                                <a:cs typeface="+mn-cs"/>
                              </a:rPr>
                              <m:t>𝑖</m:t>
                            </m:r>
                          </m:sub>
                        </m:sSub>
                      </m:e>
                    </m:d>
                  </m:oMath>
                </a14:m>
                <a:r>
                  <a:rPr lang="en-IN"/>
                  <a:t>is the </a:t>
                </a:r>
                <a:r>
                  <a:rPr lang="en-IN" b="1"/>
                  <a:t>prediction error</a:t>
                </a:r>
                <a:r>
                  <a:rPr lang="en-IN"/>
                  <a:t>.</a:t>
                </a:r>
              </a:p>
              <a:p>
                <a:pPr lvl="0"/>
                <a:r>
                  <a:rPr lang="en-IN"/>
                  <a:t>If the prediction is too high, the error is positive, and gradient descent decreases the parameter values. </a:t>
                </a:r>
              </a:p>
              <a:p>
                <a:pPr lvl="0"/>
                <a:r>
                  <a:rPr lang="en-IN"/>
                  <a:t>If the prediction is too low, the error is negative, and gradient descent increases the parameter values. </a:t>
                </a:r>
              </a:p>
              <a:p>
                <a:r>
                  <a:rPr lang="en-IN"/>
                  <a:t>The algorithm repeatedly adjusts </a:t>
                </a:r>
                <a14:m>
                  <m:oMath xmlns:m="http://schemas.openxmlformats.org/officeDocument/2006/math">
                    <m:sSub>
                      <m:sSubPr>
                        <m:ctrlPr>
                          <a:rPr lang="en-IN" sz="1200" i="1" kern="1200">
                            <a:solidFill>
                              <a:schemeClr val="tx1"/>
                            </a:solidFill>
                            <a:latin typeface="Cambria Math" panose="02040503050406030204" pitchFamily="18" charset="0"/>
                            <a:ea typeface="+mn-ea"/>
                            <a:cs typeface="+mn-cs"/>
                          </a:rPr>
                        </m:ctrlPr>
                      </m:sSubPr>
                      <m:e>
                        <m:r>
                          <a:rPr lang="en-IN" sz="1200" i="1" kern="1200">
                            <a:solidFill>
                              <a:schemeClr val="tx1"/>
                            </a:solidFill>
                            <a:latin typeface="Cambria Math" panose="02040503050406030204" pitchFamily="18" charset="0"/>
                            <a:ea typeface="+mn-ea"/>
                            <a:cs typeface="+mn-cs"/>
                          </a:rPr>
                          <m:t>𝑎</m:t>
                        </m:r>
                      </m:e>
                      <m:sub>
                        <m:r>
                          <a:rPr lang="en-IN" sz="1200" i="0" kern="1200">
                            <a:solidFill>
                              <a:schemeClr val="tx1"/>
                            </a:solidFill>
                            <a:latin typeface="Cambria Math" panose="02040503050406030204" pitchFamily="18" charset="0"/>
                            <a:ea typeface="+mn-ea"/>
                            <a:cs typeface="+mn-cs"/>
                          </a:rPr>
                          <m:t>0</m:t>
                        </m:r>
                      </m:sub>
                    </m:sSub>
                  </m:oMath>
                </a14:m>
                <a:r>
                  <a:rPr lang="en-IN"/>
                  <a:t>and </a:t>
                </a:r>
                <a14:m>
                  <m:oMath xmlns:m="http://schemas.openxmlformats.org/officeDocument/2006/math">
                    <m:sSub>
                      <m:sSubPr>
                        <m:ctrlPr>
                          <a:rPr lang="en-IN" sz="1200" i="1" kern="1200">
                            <a:solidFill>
                              <a:schemeClr val="tx1"/>
                            </a:solidFill>
                            <a:latin typeface="Cambria Math" panose="02040503050406030204" pitchFamily="18" charset="0"/>
                            <a:ea typeface="+mn-ea"/>
                            <a:cs typeface="+mn-cs"/>
                          </a:rPr>
                        </m:ctrlPr>
                      </m:sSubPr>
                      <m:e>
                        <m:r>
                          <a:rPr lang="en-IN" sz="1200" i="1" kern="1200">
                            <a:solidFill>
                              <a:schemeClr val="tx1"/>
                            </a:solidFill>
                            <a:latin typeface="Cambria Math" panose="02040503050406030204" pitchFamily="18" charset="0"/>
                            <a:ea typeface="+mn-ea"/>
                            <a:cs typeface="+mn-cs"/>
                          </a:rPr>
                          <m:t>𝑎</m:t>
                        </m:r>
                      </m:e>
                      <m:sub>
                        <m:r>
                          <a:rPr lang="en-IN" sz="1200" i="0" kern="1200">
                            <a:solidFill>
                              <a:schemeClr val="tx1"/>
                            </a:solidFill>
                            <a:latin typeface="Cambria Math" panose="02040503050406030204" pitchFamily="18" charset="0"/>
                            <a:ea typeface="+mn-ea"/>
                            <a:cs typeface="+mn-cs"/>
                          </a:rPr>
                          <m:t>1</m:t>
                        </m:r>
                      </m:sub>
                    </m:sSub>
                  </m:oMath>
                </a14:m>
                <a:r>
                  <a:rPr lang="en-IN"/>
                  <a:t>in the direction that reduces the overall prediction error until the cost function reaches (or gets very close to) its minimum.</a:t>
                </a:r>
              </a:p>
              <a:p>
                <a:endParaRPr lang="en-IN"/>
              </a:p>
            </p:txBody>
          </p:sp>
        </mc:Choice>
        <mc:Fallback>
          <p:sp>
            <p:nvSpPr>
              <p:cNvPr id="3" name="Notes Placeholder 2"/>
              <p:cNvSpPr>
                <a:spLocks noGrp="1"/>
              </p:cNvSpPr>
              <p:nvPr>
                <p:ph type="body" idx="1"/>
              </p:nvPr>
            </p:nvSpPr>
            <p:spPr/>
            <p:txBody>
              <a:bodyPr/>
              <a:lstStyle/>
              <a:p>
                <a:r>
                  <a:rPr lang="en-IN"/>
                  <a:t>The term </a:t>
                </a:r>
                <a:r>
                  <a:rPr lang="en-IN" sz="1200" i="0" kern="1200">
                    <a:solidFill>
                      <a:schemeClr val="tx1"/>
                    </a:solidFill>
                    <a:latin typeface="Cambria Math" panose="02040503050406030204" pitchFamily="18" charset="0"/>
                    <a:ea typeface="+mn-ea"/>
                    <a:cs typeface="+mn-cs"/>
                  </a:rPr>
                  <a:t>(𝑦 ̂_𝑖−𝑦_𝑖 )</a:t>
                </a:r>
                <a:r>
                  <a:rPr lang="en-IN"/>
                  <a:t>is the </a:t>
                </a:r>
                <a:r>
                  <a:rPr lang="en-IN" b="1"/>
                  <a:t>prediction error</a:t>
                </a:r>
                <a:r>
                  <a:rPr lang="en-IN"/>
                  <a:t>.</a:t>
                </a:r>
              </a:p>
              <a:p>
                <a:pPr lvl="0"/>
                <a:r>
                  <a:rPr lang="en-IN"/>
                  <a:t>If the prediction is too high, the error is positive, and gradient descent decreases the parameter values. </a:t>
                </a:r>
              </a:p>
              <a:p>
                <a:pPr lvl="0"/>
                <a:r>
                  <a:rPr lang="en-IN"/>
                  <a:t>If the prediction is too low, the error is negative, and gradient descent increases the parameter values. </a:t>
                </a:r>
              </a:p>
              <a:p>
                <a:r>
                  <a:rPr lang="en-IN"/>
                  <a:t>The algorithm repeatedly adjusts </a:t>
                </a:r>
                <a:r>
                  <a:rPr lang="en-IN" sz="1200" i="0" kern="1200">
                    <a:solidFill>
                      <a:schemeClr val="tx1"/>
                    </a:solidFill>
                    <a:latin typeface="Cambria Math" panose="02040503050406030204" pitchFamily="18" charset="0"/>
                    <a:ea typeface="+mn-ea"/>
                    <a:cs typeface="+mn-cs"/>
                  </a:rPr>
                  <a:t>𝑎_0</a:t>
                </a:r>
                <a:r>
                  <a:rPr lang="en-IN"/>
                  <a:t>and </a:t>
                </a:r>
                <a:r>
                  <a:rPr lang="en-IN" sz="1200" i="0" kern="1200">
                    <a:solidFill>
                      <a:schemeClr val="tx1"/>
                    </a:solidFill>
                    <a:latin typeface="Cambria Math" panose="02040503050406030204" pitchFamily="18" charset="0"/>
                    <a:ea typeface="+mn-ea"/>
                    <a:cs typeface="+mn-cs"/>
                  </a:rPr>
                  <a:t>𝑎_1</a:t>
                </a:r>
                <a:r>
                  <a:rPr lang="en-IN"/>
                  <a:t>in the direction that reduces the overall prediction error until the cost function reaches (or gets very close to) its minimum.</a:t>
                </a:r>
              </a:p>
              <a:p>
                <a:endParaRPr lang="en-IN"/>
              </a:p>
            </p:txBody>
          </p:sp>
        </mc:Fallback>
      </mc:AlternateContent>
      <p:sp>
        <p:nvSpPr>
          <p:cNvPr id="4" name="Slide Number Placeholder 3"/>
          <p:cNvSpPr>
            <a:spLocks noGrp="1"/>
          </p:cNvSpPr>
          <p:nvPr>
            <p:ph type="sldNum" sz="quarter" idx="5"/>
          </p:nvPr>
        </p:nvSpPr>
        <p:spPr/>
        <p:txBody>
          <a:bodyPr/>
          <a:lstStyle/>
          <a:p>
            <a:fld id="{8FF38DAD-5F37-4EA5-A798-26ED1E453939}" type="slidenum">
              <a:rPr lang="en-US" smtClean="0"/>
              <a:pPr/>
              <a:t>57</a:t>
            </a:fld>
            <a:endParaRPr lang="en-US"/>
          </a:p>
        </p:txBody>
      </p:sp>
    </p:spTree>
    <p:extLst>
      <p:ext uri="{BB962C8B-B14F-4D97-AF65-F5344CB8AC3E}">
        <p14:creationId xmlns:p14="http://schemas.microsoft.com/office/powerpoint/2010/main" val="3430057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F38DAD-5F37-4EA5-A798-26ED1E453939}" type="slidenum">
              <a:rPr lang="en-US" smtClean="0"/>
              <a:pPr/>
              <a:t>62</a:t>
            </a:fld>
            <a:endParaRPr lang="en-US"/>
          </a:p>
        </p:txBody>
      </p:sp>
    </p:spTree>
    <p:extLst>
      <p:ext uri="{BB962C8B-B14F-4D97-AF65-F5344CB8AC3E}">
        <p14:creationId xmlns:p14="http://schemas.microsoft.com/office/powerpoint/2010/main" val="3741117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Requires assumptions to be satisfied</a:t>
            </a:r>
            <a:r>
              <a:rPr lang="en-IN"/>
              <a:t>, such as linearity, independence of observations, homoscedasticity (constant variance of errors), normality of residuals, and low multicollinearity. Violating these assumptions can reduce the model's reliability.</a:t>
            </a:r>
          </a:p>
        </p:txBody>
      </p:sp>
      <p:sp>
        <p:nvSpPr>
          <p:cNvPr id="4" name="Slide Number Placeholder 3"/>
          <p:cNvSpPr>
            <a:spLocks noGrp="1"/>
          </p:cNvSpPr>
          <p:nvPr>
            <p:ph type="sldNum" sz="quarter" idx="5"/>
          </p:nvPr>
        </p:nvSpPr>
        <p:spPr/>
        <p:txBody>
          <a:bodyPr/>
          <a:lstStyle/>
          <a:p>
            <a:fld id="{8FF38DAD-5F37-4EA5-A798-26ED1E453939}" type="slidenum">
              <a:rPr lang="en-US" smtClean="0"/>
              <a:pPr/>
              <a:t>63</a:t>
            </a:fld>
            <a:endParaRPr lang="en-US"/>
          </a:p>
        </p:txBody>
      </p:sp>
    </p:spTree>
    <p:extLst>
      <p:ext uri="{BB962C8B-B14F-4D97-AF65-F5344CB8AC3E}">
        <p14:creationId xmlns:p14="http://schemas.microsoft.com/office/powerpoint/2010/main" val="2663365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07742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Bookman Old Style" panose="02050604050505020204" pitchFamily="18" charset="0"/>
              </a:defRPr>
            </a:lvl1pPr>
            <a:lvl2pPr>
              <a:defRPr>
                <a:latin typeface="Bookman Old Style" panose="02050604050505020204" pitchFamily="18" charset="0"/>
              </a:defRPr>
            </a:lvl2pPr>
            <a:lvl3pPr>
              <a:defRPr>
                <a:latin typeface="Bookman Old Style" panose="02050604050505020204" pitchFamily="18" charset="0"/>
              </a:defRPr>
            </a:lvl3pPr>
            <a:lvl4pPr>
              <a:defRPr>
                <a:latin typeface="Bookman Old Style" panose="02050604050505020204" pitchFamily="18" charset="0"/>
              </a:defRPr>
            </a:lvl4pPr>
            <a:lvl5pPr>
              <a:defRPr>
                <a:latin typeface="Bookman Old Style" panose="020506040505050202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E5CA80-AEEF-4C6D-7001-96F4443B495F}"/>
              </a:ext>
            </a:extLst>
          </p:cNvPr>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8" name="Footer Placeholder 7">
            <a:extLst>
              <a:ext uri="{FF2B5EF4-FFF2-40B4-BE49-F238E27FC236}">
                <a16:creationId xmlns:a16="http://schemas.microsoft.com/office/drawing/2014/main" id="{12E1F68F-4CB8-7042-1963-7EFDB07E7E69}"/>
              </a:ext>
            </a:extLst>
          </p:cNvPr>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D29F88FD-0E1D-E541-1A5B-26D87A15E24F}"/>
              </a:ext>
            </a:extLst>
          </p:cNvPr>
          <p:cNvSpPr>
            <a:spLocks noGrp="1"/>
          </p:cNvSpPr>
          <p:nvPr>
            <p:ph type="sldNum" sz="quarter" idx="12"/>
          </p:nvPr>
        </p:nvSpPr>
        <p:spPr>
          <a:xfrm>
            <a:off x="6400800" y="3806427"/>
            <a:ext cx="2133600" cy="273844"/>
          </a:xfrm>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
        <p:nvSpPr>
          <p:cNvPr id="10" name="Title 9">
            <a:extLst>
              <a:ext uri="{FF2B5EF4-FFF2-40B4-BE49-F238E27FC236}">
                <a16:creationId xmlns:a16="http://schemas.microsoft.com/office/drawing/2014/main" id="{B8F651A5-7F8A-C2BF-C67F-B9886B806E0E}"/>
              </a:ext>
            </a:extLst>
          </p:cNvPr>
          <p:cNvSpPr>
            <a:spLocks noGrp="1"/>
          </p:cNvSpPr>
          <p:nvPr>
            <p:ph type="title"/>
          </p:nvPr>
        </p:nvSpPr>
        <p:spPr/>
        <p:txBody>
          <a:bodyPr/>
          <a:lstStyle>
            <a:lvl1pPr>
              <a:defRPr>
                <a:latin typeface="Georgia" panose="02040502050405020303" pitchFamily="18" charset="0"/>
              </a:defRPr>
            </a:lvl1pPr>
          </a:lstStyle>
          <a:p>
            <a:r>
              <a:rPr lang="en-US"/>
              <a:t>Click to edit Master title style</a:t>
            </a:r>
            <a:endParaRPr lang="en-IN"/>
          </a:p>
        </p:txBody>
      </p:sp>
      <p:sp>
        <p:nvSpPr>
          <p:cNvPr id="11" name="Rectangle 10">
            <a:extLst>
              <a:ext uri="{FF2B5EF4-FFF2-40B4-BE49-F238E27FC236}">
                <a16:creationId xmlns:a16="http://schemas.microsoft.com/office/drawing/2014/main" id="{EBE5B7B7-4EB0-5C64-FB68-4ECCAED3D5F2}"/>
              </a:ext>
            </a:extLst>
          </p:cNvPr>
          <p:cNvSpPr/>
          <p:nvPr userDrawn="1"/>
        </p:nvSpPr>
        <p:spPr>
          <a:xfrm>
            <a:off x="8390467" y="4937520"/>
            <a:ext cx="752303" cy="2059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91603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4856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1175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64199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09329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
        <p:nvSpPr>
          <p:cNvPr id="5" name="Rectangle 4">
            <a:extLst>
              <a:ext uri="{FF2B5EF4-FFF2-40B4-BE49-F238E27FC236}">
                <a16:creationId xmlns:a16="http://schemas.microsoft.com/office/drawing/2014/main" id="{8CD7FEB7-311D-3334-C937-C3FDC0DF0891}"/>
              </a:ext>
            </a:extLst>
          </p:cNvPr>
          <p:cNvSpPr/>
          <p:nvPr userDrawn="1"/>
        </p:nvSpPr>
        <p:spPr>
          <a:xfrm>
            <a:off x="8305800" y="4629150"/>
            <a:ext cx="838200" cy="5143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89333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36583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54415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46306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093069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9168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2_Title and Conten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sz="3000">
                <a:latin typeface="Georgia" panose="02040502050405020303" pitchFamily="18"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atin typeface="Bookman Old Style" panose="02050604050505020204" pitchFamily="18" charset="0"/>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IN" smtClean="0"/>
              <a:pPr/>
              <a:t>‹#›</a:t>
            </a:fld>
            <a:endParaRPr lang="en-IN"/>
          </a:p>
        </p:txBody>
      </p:sp>
      <p:sp>
        <p:nvSpPr>
          <p:cNvPr id="2" name="Rectangle 1">
            <a:extLst>
              <a:ext uri="{FF2B5EF4-FFF2-40B4-BE49-F238E27FC236}">
                <a16:creationId xmlns:a16="http://schemas.microsoft.com/office/drawing/2014/main" id="{98892030-A932-2448-B5F7-342D0FD88063}"/>
              </a:ext>
            </a:extLst>
          </p:cNvPr>
          <p:cNvSpPr/>
          <p:nvPr userDrawn="1"/>
        </p:nvSpPr>
        <p:spPr>
          <a:xfrm>
            <a:off x="8515350" y="4933950"/>
            <a:ext cx="628650" cy="2095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299780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31008-A84F-4275-74F2-E6FAC5A8C1AB}"/>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DB6B73-3C8A-70EB-4D88-935DBE957A86}"/>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38218BD-9E04-4D72-1D8C-2608F29EA662}"/>
              </a:ext>
            </a:extLst>
          </p:cNvPr>
          <p:cNvSpPr>
            <a:spLocks noGrp="1"/>
          </p:cNvSpPr>
          <p:nvPr>
            <p:ph type="dt" sz="half" idx="10"/>
          </p:nvPr>
        </p:nvSpPr>
        <p:spPr/>
        <p:txBody>
          <a:bodyPr/>
          <a:lstStyle/>
          <a:p>
            <a:fld id="{88C2A1AA-9D2A-4AE0-8706-2337476E5A92}" type="datetimeFigureOut">
              <a:rPr lang="en-IN" smtClean="0"/>
              <a:t>31-08-2026</a:t>
            </a:fld>
            <a:endParaRPr lang="en-IN"/>
          </a:p>
        </p:txBody>
      </p:sp>
      <p:sp>
        <p:nvSpPr>
          <p:cNvPr id="5" name="Footer Placeholder 4">
            <a:extLst>
              <a:ext uri="{FF2B5EF4-FFF2-40B4-BE49-F238E27FC236}">
                <a16:creationId xmlns:a16="http://schemas.microsoft.com/office/drawing/2014/main" id="{48F65ABF-A297-B26E-31B9-592AE0E39C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110785-BE39-B772-C760-45FBF15FFF32}"/>
              </a:ext>
            </a:extLst>
          </p:cNvPr>
          <p:cNvSpPr>
            <a:spLocks noGrp="1"/>
          </p:cNvSpPr>
          <p:nvPr>
            <p:ph type="sldNum" sz="quarter" idx="12"/>
          </p:nvPr>
        </p:nvSpPr>
        <p:spPr/>
        <p:txBody>
          <a:bodyPr/>
          <a:lstStyle/>
          <a:p>
            <a:fld id="{26A379CF-BA4B-4094-AE53-780A3797CC62}" type="slidenum">
              <a:rPr lang="en-IN" smtClean="0"/>
              <a:t>‹#›</a:t>
            </a:fld>
            <a:endParaRPr lang="en-IN"/>
          </a:p>
        </p:txBody>
      </p:sp>
    </p:spTree>
    <p:extLst>
      <p:ext uri="{BB962C8B-B14F-4D97-AF65-F5344CB8AC3E}">
        <p14:creationId xmlns:p14="http://schemas.microsoft.com/office/powerpoint/2010/main" val="16202870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5CDA8-F94A-5EDB-9B28-8508A365069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7455A8-F52D-1EEF-3A2F-028EE869F2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41274C-DFEB-22C7-7F09-E037AF43E468}"/>
              </a:ext>
            </a:extLst>
          </p:cNvPr>
          <p:cNvSpPr>
            <a:spLocks noGrp="1"/>
          </p:cNvSpPr>
          <p:nvPr>
            <p:ph type="dt" sz="half" idx="10"/>
          </p:nvPr>
        </p:nvSpPr>
        <p:spPr/>
        <p:txBody>
          <a:bodyPr/>
          <a:lstStyle/>
          <a:p>
            <a:fld id="{88C2A1AA-9D2A-4AE0-8706-2337476E5A92}" type="datetimeFigureOut">
              <a:rPr lang="en-IN" smtClean="0"/>
              <a:t>31-08-2026</a:t>
            </a:fld>
            <a:endParaRPr lang="en-IN"/>
          </a:p>
        </p:txBody>
      </p:sp>
      <p:sp>
        <p:nvSpPr>
          <p:cNvPr id="5" name="Footer Placeholder 4">
            <a:extLst>
              <a:ext uri="{FF2B5EF4-FFF2-40B4-BE49-F238E27FC236}">
                <a16:creationId xmlns:a16="http://schemas.microsoft.com/office/drawing/2014/main" id="{4A8C2387-AA6E-E47D-79CD-301FE221DE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D83F29-53A3-70B8-6274-C37BEDDE5EBB}"/>
              </a:ext>
            </a:extLst>
          </p:cNvPr>
          <p:cNvSpPr>
            <a:spLocks noGrp="1"/>
          </p:cNvSpPr>
          <p:nvPr>
            <p:ph type="sldNum" sz="quarter" idx="12"/>
          </p:nvPr>
        </p:nvSpPr>
        <p:spPr/>
        <p:txBody>
          <a:bodyPr/>
          <a:lstStyle/>
          <a:p>
            <a:fld id="{26A379CF-BA4B-4094-AE53-780A3797CC62}" type="slidenum">
              <a:rPr lang="en-IN" smtClean="0"/>
              <a:t>‹#›</a:t>
            </a:fld>
            <a:endParaRPr lang="en-IN"/>
          </a:p>
        </p:txBody>
      </p:sp>
    </p:spTree>
    <p:extLst>
      <p:ext uri="{BB962C8B-B14F-4D97-AF65-F5344CB8AC3E}">
        <p14:creationId xmlns:p14="http://schemas.microsoft.com/office/powerpoint/2010/main" val="18053483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9D2BA-3C4E-8580-5B21-7C1F6A191FEA}"/>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6405A27-54C2-C9C9-6737-A9FA272C89AF}"/>
              </a:ext>
            </a:extLst>
          </p:cNvPr>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F10CDE-3DA9-6F04-018C-AFF1F949F864}"/>
              </a:ext>
            </a:extLst>
          </p:cNvPr>
          <p:cNvSpPr>
            <a:spLocks noGrp="1"/>
          </p:cNvSpPr>
          <p:nvPr>
            <p:ph type="dt" sz="half" idx="10"/>
          </p:nvPr>
        </p:nvSpPr>
        <p:spPr/>
        <p:txBody>
          <a:bodyPr/>
          <a:lstStyle/>
          <a:p>
            <a:fld id="{88C2A1AA-9D2A-4AE0-8706-2337476E5A92}" type="datetimeFigureOut">
              <a:rPr lang="en-IN" smtClean="0"/>
              <a:t>31-08-2026</a:t>
            </a:fld>
            <a:endParaRPr lang="en-IN"/>
          </a:p>
        </p:txBody>
      </p:sp>
      <p:sp>
        <p:nvSpPr>
          <p:cNvPr id="5" name="Footer Placeholder 4">
            <a:extLst>
              <a:ext uri="{FF2B5EF4-FFF2-40B4-BE49-F238E27FC236}">
                <a16:creationId xmlns:a16="http://schemas.microsoft.com/office/drawing/2014/main" id="{CA5FE26C-201D-FEC1-1C94-508CA7CA5B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28FE98-A15C-1D05-8669-8A858001FAC0}"/>
              </a:ext>
            </a:extLst>
          </p:cNvPr>
          <p:cNvSpPr>
            <a:spLocks noGrp="1"/>
          </p:cNvSpPr>
          <p:nvPr>
            <p:ph type="sldNum" sz="quarter" idx="12"/>
          </p:nvPr>
        </p:nvSpPr>
        <p:spPr/>
        <p:txBody>
          <a:bodyPr/>
          <a:lstStyle/>
          <a:p>
            <a:fld id="{26A379CF-BA4B-4094-AE53-780A3797CC62}" type="slidenum">
              <a:rPr lang="en-IN" smtClean="0"/>
              <a:t>‹#›</a:t>
            </a:fld>
            <a:endParaRPr lang="en-IN"/>
          </a:p>
        </p:txBody>
      </p:sp>
    </p:spTree>
    <p:extLst>
      <p:ext uri="{BB962C8B-B14F-4D97-AF65-F5344CB8AC3E}">
        <p14:creationId xmlns:p14="http://schemas.microsoft.com/office/powerpoint/2010/main" val="36978126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31150-376A-6DFB-F7D2-E3C8811845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C44DF7-BA7F-9DEC-8488-5A13B2AF274D}"/>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E1E4AF-413C-2E8E-A5E3-02C157208A9F}"/>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7EF28D-EB07-CD6D-4C22-F3A84CE02AA2}"/>
              </a:ext>
            </a:extLst>
          </p:cNvPr>
          <p:cNvSpPr>
            <a:spLocks noGrp="1"/>
          </p:cNvSpPr>
          <p:nvPr>
            <p:ph type="dt" sz="half" idx="10"/>
          </p:nvPr>
        </p:nvSpPr>
        <p:spPr/>
        <p:txBody>
          <a:bodyPr/>
          <a:lstStyle/>
          <a:p>
            <a:fld id="{88C2A1AA-9D2A-4AE0-8706-2337476E5A92}" type="datetimeFigureOut">
              <a:rPr lang="en-IN" smtClean="0"/>
              <a:t>31-08-2026</a:t>
            </a:fld>
            <a:endParaRPr lang="en-IN"/>
          </a:p>
        </p:txBody>
      </p:sp>
      <p:sp>
        <p:nvSpPr>
          <p:cNvPr id="6" name="Footer Placeholder 5">
            <a:extLst>
              <a:ext uri="{FF2B5EF4-FFF2-40B4-BE49-F238E27FC236}">
                <a16:creationId xmlns:a16="http://schemas.microsoft.com/office/drawing/2014/main" id="{72789444-182B-208D-70B4-F46E9310AC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520C64-34D6-FD12-09A0-85DA9B419A8B}"/>
              </a:ext>
            </a:extLst>
          </p:cNvPr>
          <p:cNvSpPr>
            <a:spLocks noGrp="1"/>
          </p:cNvSpPr>
          <p:nvPr>
            <p:ph type="sldNum" sz="quarter" idx="12"/>
          </p:nvPr>
        </p:nvSpPr>
        <p:spPr/>
        <p:txBody>
          <a:bodyPr/>
          <a:lstStyle/>
          <a:p>
            <a:fld id="{26A379CF-BA4B-4094-AE53-780A3797CC62}" type="slidenum">
              <a:rPr lang="en-IN" smtClean="0"/>
              <a:t>‹#›</a:t>
            </a:fld>
            <a:endParaRPr lang="en-IN"/>
          </a:p>
        </p:txBody>
      </p:sp>
    </p:spTree>
    <p:extLst>
      <p:ext uri="{BB962C8B-B14F-4D97-AF65-F5344CB8AC3E}">
        <p14:creationId xmlns:p14="http://schemas.microsoft.com/office/powerpoint/2010/main" val="11528463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9D342-65C0-C097-EEB0-E506BAE6259B}"/>
              </a:ext>
            </a:extLst>
          </p:cNvPr>
          <p:cNvSpPr>
            <a:spLocks noGrp="1"/>
          </p:cNvSpPr>
          <p:nvPr>
            <p:ph type="title"/>
          </p:nvPr>
        </p:nvSpPr>
        <p:spPr>
          <a:xfrm>
            <a:off x="630238" y="274638"/>
            <a:ext cx="7886700" cy="99377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061082-3FDA-32CF-264E-25A5D5EC7028}"/>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4C1E77-19E7-80FC-3DFE-4158D89AD093}"/>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C8B3460-0EDF-7FE8-2AC3-7142214960C1}"/>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9A54CC-EEEC-AE6C-C98F-6C5B4AD98202}"/>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C21605B-B83E-1127-2705-039A5F0073E9}"/>
              </a:ext>
            </a:extLst>
          </p:cNvPr>
          <p:cNvSpPr>
            <a:spLocks noGrp="1"/>
          </p:cNvSpPr>
          <p:nvPr>
            <p:ph type="dt" sz="half" idx="10"/>
          </p:nvPr>
        </p:nvSpPr>
        <p:spPr/>
        <p:txBody>
          <a:bodyPr/>
          <a:lstStyle/>
          <a:p>
            <a:fld id="{88C2A1AA-9D2A-4AE0-8706-2337476E5A92}" type="datetimeFigureOut">
              <a:rPr lang="en-IN" smtClean="0"/>
              <a:t>31-08-2026</a:t>
            </a:fld>
            <a:endParaRPr lang="en-IN"/>
          </a:p>
        </p:txBody>
      </p:sp>
      <p:sp>
        <p:nvSpPr>
          <p:cNvPr id="8" name="Footer Placeholder 7">
            <a:extLst>
              <a:ext uri="{FF2B5EF4-FFF2-40B4-BE49-F238E27FC236}">
                <a16:creationId xmlns:a16="http://schemas.microsoft.com/office/drawing/2014/main" id="{66A759F3-5261-959F-CEFE-1F63C10DCBA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6376541-8EC1-5F5B-E670-CEE0B0270431}"/>
              </a:ext>
            </a:extLst>
          </p:cNvPr>
          <p:cNvSpPr>
            <a:spLocks noGrp="1"/>
          </p:cNvSpPr>
          <p:nvPr>
            <p:ph type="sldNum" sz="quarter" idx="12"/>
          </p:nvPr>
        </p:nvSpPr>
        <p:spPr/>
        <p:txBody>
          <a:bodyPr/>
          <a:lstStyle/>
          <a:p>
            <a:fld id="{26A379CF-BA4B-4094-AE53-780A3797CC62}" type="slidenum">
              <a:rPr lang="en-IN" smtClean="0"/>
              <a:t>‹#›</a:t>
            </a:fld>
            <a:endParaRPr lang="en-IN"/>
          </a:p>
        </p:txBody>
      </p:sp>
    </p:spTree>
    <p:extLst>
      <p:ext uri="{BB962C8B-B14F-4D97-AF65-F5344CB8AC3E}">
        <p14:creationId xmlns:p14="http://schemas.microsoft.com/office/powerpoint/2010/main" val="41615558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14477-8195-4D20-2F8E-614FB384559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822C557-AED4-73C8-658A-033F9D5ED838}"/>
              </a:ext>
            </a:extLst>
          </p:cNvPr>
          <p:cNvSpPr>
            <a:spLocks noGrp="1"/>
          </p:cNvSpPr>
          <p:nvPr>
            <p:ph type="dt" sz="half" idx="10"/>
          </p:nvPr>
        </p:nvSpPr>
        <p:spPr/>
        <p:txBody>
          <a:bodyPr/>
          <a:lstStyle/>
          <a:p>
            <a:fld id="{88C2A1AA-9D2A-4AE0-8706-2337476E5A92}" type="datetimeFigureOut">
              <a:rPr lang="en-IN" smtClean="0"/>
              <a:t>31-08-2026</a:t>
            </a:fld>
            <a:endParaRPr lang="en-IN"/>
          </a:p>
        </p:txBody>
      </p:sp>
      <p:sp>
        <p:nvSpPr>
          <p:cNvPr id="4" name="Footer Placeholder 3">
            <a:extLst>
              <a:ext uri="{FF2B5EF4-FFF2-40B4-BE49-F238E27FC236}">
                <a16:creationId xmlns:a16="http://schemas.microsoft.com/office/drawing/2014/main" id="{8C203B35-798E-D3FE-1818-0FB7B573CC3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DFB26C9-B2C5-C71D-7B17-20BC025C3EDE}"/>
              </a:ext>
            </a:extLst>
          </p:cNvPr>
          <p:cNvSpPr>
            <a:spLocks noGrp="1"/>
          </p:cNvSpPr>
          <p:nvPr>
            <p:ph type="sldNum" sz="quarter" idx="12"/>
          </p:nvPr>
        </p:nvSpPr>
        <p:spPr/>
        <p:txBody>
          <a:bodyPr/>
          <a:lstStyle/>
          <a:p>
            <a:fld id="{26A379CF-BA4B-4094-AE53-780A3797CC62}" type="slidenum">
              <a:rPr lang="en-IN" smtClean="0"/>
              <a:t>‹#›</a:t>
            </a:fld>
            <a:endParaRPr lang="en-IN"/>
          </a:p>
        </p:txBody>
      </p:sp>
    </p:spTree>
    <p:extLst>
      <p:ext uri="{BB962C8B-B14F-4D97-AF65-F5344CB8AC3E}">
        <p14:creationId xmlns:p14="http://schemas.microsoft.com/office/powerpoint/2010/main" val="29009369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0C07A1-D7B1-9703-17E7-72227548A7D9}"/>
              </a:ext>
            </a:extLst>
          </p:cNvPr>
          <p:cNvSpPr>
            <a:spLocks noGrp="1"/>
          </p:cNvSpPr>
          <p:nvPr>
            <p:ph type="dt" sz="half" idx="10"/>
          </p:nvPr>
        </p:nvSpPr>
        <p:spPr/>
        <p:txBody>
          <a:bodyPr/>
          <a:lstStyle/>
          <a:p>
            <a:fld id="{88C2A1AA-9D2A-4AE0-8706-2337476E5A92}" type="datetimeFigureOut">
              <a:rPr lang="en-IN" smtClean="0"/>
              <a:t>31-08-2026</a:t>
            </a:fld>
            <a:endParaRPr lang="en-IN"/>
          </a:p>
        </p:txBody>
      </p:sp>
      <p:sp>
        <p:nvSpPr>
          <p:cNvPr id="3" name="Footer Placeholder 2">
            <a:extLst>
              <a:ext uri="{FF2B5EF4-FFF2-40B4-BE49-F238E27FC236}">
                <a16:creationId xmlns:a16="http://schemas.microsoft.com/office/drawing/2014/main" id="{14769D54-9632-4B38-141D-DF139ACE2E8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1D79C77-4B1D-CFB8-A2B0-AB4741AD6601}"/>
              </a:ext>
            </a:extLst>
          </p:cNvPr>
          <p:cNvSpPr>
            <a:spLocks noGrp="1"/>
          </p:cNvSpPr>
          <p:nvPr>
            <p:ph type="sldNum" sz="quarter" idx="12"/>
          </p:nvPr>
        </p:nvSpPr>
        <p:spPr/>
        <p:txBody>
          <a:bodyPr/>
          <a:lstStyle/>
          <a:p>
            <a:fld id="{26A379CF-BA4B-4094-AE53-780A3797CC62}" type="slidenum">
              <a:rPr lang="en-IN" smtClean="0"/>
              <a:t>‹#›</a:t>
            </a:fld>
            <a:endParaRPr lang="en-IN"/>
          </a:p>
        </p:txBody>
      </p:sp>
    </p:spTree>
    <p:extLst>
      <p:ext uri="{BB962C8B-B14F-4D97-AF65-F5344CB8AC3E}">
        <p14:creationId xmlns:p14="http://schemas.microsoft.com/office/powerpoint/2010/main" val="42762304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09BD0-BCF4-852E-B50E-7F3270E4D922}"/>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D69121-76E2-F3DC-7554-D2A2AD5770D4}"/>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B4C879C-A2D5-4076-767B-7ABA4B3E8C77}"/>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13FC1A-99F0-BAAE-9EFE-6562074221B3}"/>
              </a:ext>
            </a:extLst>
          </p:cNvPr>
          <p:cNvSpPr>
            <a:spLocks noGrp="1"/>
          </p:cNvSpPr>
          <p:nvPr>
            <p:ph type="dt" sz="half" idx="10"/>
          </p:nvPr>
        </p:nvSpPr>
        <p:spPr/>
        <p:txBody>
          <a:bodyPr/>
          <a:lstStyle/>
          <a:p>
            <a:fld id="{88C2A1AA-9D2A-4AE0-8706-2337476E5A92}" type="datetimeFigureOut">
              <a:rPr lang="en-IN" smtClean="0"/>
              <a:t>31-08-2026</a:t>
            </a:fld>
            <a:endParaRPr lang="en-IN"/>
          </a:p>
        </p:txBody>
      </p:sp>
      <p:sp>
        <p:nvSpPr>
          <p:cNvPr id="6" name="Footer Placeholder 5">
            <a:extLst>
              <a:ext uri="{FF2B5EF4-FFF2-40B4-BE49-F238E27FC236}">
                <a16:creationId xmlns:a16="http://schemas.microsoft.com/office/drawing/2014/main" id="{60ADD727-5BB2-EEF3-F959-B5D5ABEC52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B320FF-295D-912E-F8D2-00DE382AF4BE}"/>
              </a:ext>
            </a:extLst>
          </p:cNvPr>
          <p:cNvSpPr>
            <a:spLocks noGrp="1"/>
          </p:cNvSpPr>
          <p:nvPr>
            <p:ph type="sldNum" sz="quarter" idx="12"/>
          </p:nvPr>
        </p:nvSpPr>
        <p:spPr/>
        <p:txBody>
          <a:bodyPr/>
          <a:lstStyle/>
          <a:p>
            <a:fld id="{26A379CF-BA4B-4094-AE53-780A3797CC62}" type="slidenum">
              <a:rPr lang="en-IN" smtClean="0"/>
              <a:t>‹#›</a:t>
            </a:fld>
            <a:endParaRPr lang="en-IN"/>
          </a:p>
        </p:txBody>
      </p:sp>
    </p:spTree>
    <p:extLst>
      <p:ext uri="{BB962C8B-B14F-4D97-AF65-F5344CB8AC3E}">
        <p14:creationId xmlns:p14="http://schemas.microsoft.com/office/powerpoint/2010/main" val="42813305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48BB2-8318-9ED7-9973-2E2D607B7D62}"/>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7BA9D08-9375-00BA-B35F-3DBD78D902B0}"/>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3A26937-33BA-C4E0-CF53-F2675895E699}"/>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E7903B-8733-9FE3-1140-BAFD5CB24804}"/>
              </a:ext>
            </a:extLst>
          </p:cNvPr>
          <p:cNvSpPr>
            <a:spLocks noGrp="1"/>
          </p:cNvSpPr>
          <p:nvPr>
            <p:ph type="dt" sz="half" idx="10"/>
          </p:nvPr>
        </p:nvSpPr>
        <p:spPr/>
        <p:txBody>
          <a:bodyPr/>
          <a:lstStyle/>
          <a:p>
            <a:fld id="{88C2A1AA-9D2A-4AE0-8706-2337476E5A92}" type="datetimeFigureOut">
              <a:rPr lang="en-IN" smtClean="0"/>
              <a:t>31-08-2026</a:t>
            </a:fld>
            <a:endParaRPr lang="en-IN"/>
          </a:p>
        </p:txBody>
      </p:sp>
      <p:sp>
        <p:nvSpPr>
          <p:cNvPr id="6" name="Footer Placeholder 5">
            <a:extLst>
              <a:ext uri="{FF2B5EF4-FFF2-40B4-BE49-F238E27FC236}">
                <a16:creationId xmlns:a16="http://schemas.microsoft.com/office/drawing/2014/main" id="{A676172E-4B0A-4C0B-F3FF-40C9F09BAA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E61C21-FBDD-DDE6-B328-6C59E360D595}"/>
              </a:ext>
            </a:extLst>
          </p:cNvPr>
          <p:cNvSpPr>
            <a:spLocks noGrp="1"/>
          </p:cNvSpPr>
          <p:nvPr>
            <p:ph type="sldNum" sz="quarter" idx="12"/>
          </p:nvPr>
        </p:nvSpPr>
        <p:spPr/>
        <p:txBody>
          <a:bodyPr/>
          <a:lstStyle/>
          <a:p>
            <a:fld id="{26A379CF-BA4B-4094-AE53-780A3797CC62}" type="slidenum">
              <a:rPr lang="en-IN" smtClean="0"/>
              <a:t>‹#›</a:t>
            </a:fld>
            <a:endParaRPr lang="en-IN"/>
          </a:p>
        </p:txBody>
      </p:sp>
    </p:spTree>
    <p:extLst>
      <p:ext uri="{BB962C8B-B14F-4D97-AF65-F5344CB8AC3E}">
        <p14:creationId xmlns:p14="http://schemas.microsoft.com/office/powerpoint/2010/main" val="37996876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A44BA-7321-D24D-646C-FA6E4A3B1B0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4789B3-7F92-8C88-57FD-826A7F27B1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35854F-07E1-6226-EB23-90B6E9278F1F}"/>
              </a:ext>
            </a:extLst>
          </p:cNvPr>
          <p:cNvSpPr>
            <a:spLocks noGrp="1"/>
          </p:cNvSpPr>
          <p:nvPr>
            <p:ph type="dt" sz="half" idx="10"/>
          </p:nvPr>
        </p:nvSpPr>
        <p:spPr/>
        <p:txBody>
          <a:bodyPr/>
          <a:lstStyle/>
          <a:p>
            <a:fld id="{88C2A1AA-9D2A-4AE0-8706-2337476E5A92}" type="datetimeFigureOut">
              <a:rPr lang="en-IN" smtClean="0"/>
              <a:t>31-08-2026</a:t>
            </a:fld>
            <a:endParaRPr lang="en-IN"/>
          </a:p>
        </p:txBody>
      </p:sp>
      <p:sp>
        <p:nvSpPr>
          <p:cNvPr id="5" name="Footer Placeholder 4">
            <a:extLst>
              <a:ext uri="{FF2B5EF4-FFF2-40B4-BE49-F238E27FC236}">
                <a16:creationId xmlns:a16="http://schemas.microsoft.com/office/drawing/2014/main" id="{89675471-4F03-6A93-E4C3-9C278E756B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130261-B8AC-195C-4077-D657D430C8B3}"/>
              </a:ext>
            </a:extLst>
          </p:cNvPr>
          <p:cNvSpPr>
            <a:spLocks noGrp="1"/>
          </p:cNvSpPr>
          <p:nvPr>
            <p:ph type="sldNum" sz="quarter" idx="12"/>
          </p:nvPr>
        </p:nvSpPr>
        <p:spPr/>
        <p:txBody>
          <a:bodyPr/>
          <a:lstStyle/>
          <a:p>
            <a:fld id="{26A379CF-BA4B-4094-AE53-780A3797CC62}" type="slidenum">
              <a:rPr lang="en-IN" smtClean="0"/>
              <a:t>‹#›</a:t>
            </a:fld>
            <a:endParaRPr lang="en-IN"/>
          </a:p>
        </p:txBody>
      </p:sp>
    </p:spTree>
    <p:extLst>
      <p:ext uri="{BB962C8B-B14F-4D97-AF65-F5344CB8AC3E}">
        <p14:creationId xmlns:p14="http://schemas.microsoft.com/office/powerpoint/2010/main" val="25221855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314A5D-AC1A-8908-112D-42982692FC1D}"/>
              </a:ext>
            </a:extLst>
          </p:cNvPr>
          <p:cNvSpPr>
            <a:spLocks noGrp="1"/>
          </p:cNvSpPr>
          <p:nvPr>
            <p:ph type="title" orient="vert"/>
          </p:nvPr>
        </p:nvSpPr>
        <p:spPr>
          <a:xfrm>
            <a:off x="6543675" y="274638"/>
            <a:ext cx="1971675" cy="435768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C9D06A-10DA-DD3C-07DB-41263092F180}"/>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36141B-DFF3-3F7F-988B-DF66FEEA817C}"/>
              </a:ext>
            </a:extLst>
          </p:cNvPr>
          <p:cNvSpPr>
            <a:spLocks noGrp="1"/>
          </p:cNvSpPr>
          <p:nvPr>
            <p:ph type="dt" sz="half" idx="10"/>
          </p:nvPr>
        </p:nvSpPr>
        <p:spPr/>
        <p:txBody>
          <a:bodyPr/>
          <a:lstStyle/>
          <a:p>
            <a:fld id="{88C2A1AA-9D2A-4AE0-8706-2337476E5A92}" type="datetimeFigureOut">
              <a:rPr lang="en-IN" smtClean="0"/>
              <a:t>31-08-2026</a:t>
            </a:fld>
            <a:endParaRPr lang="en-IN"/>
          </a:p>
        </p:txBody>
      </p:sp>
      <p:sp>
        <p:nvSpPr>
          <p:cNvPr id="5" name="Footer Placeholder 4">
            <a:extLst>
              <a:ext uri="{FF2B5EF4-FFF2-40B4-BE49-F238E27FC236}">
                <a16:creationId xmlns:a16="http://schemas.microsoft.com/office/drawing/2014/main" id="{D573D4CB-B261-0F09-24AD-D50DDDC243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5486DE-5EE2-784E-45C6-CBFF0015BDF3}"/>
              </a:ext>
            </a:extLst>
          </p:cNvPr>
          <p:cNvSpPr>
            <a:spLocks noGrp="1"/>
          </p:cNvSpPr>
          <p:nvPr>
            <p:ph type="sldNum" sz="quarter" idx="12"/>
          </p:nvPr>
        </p:nvSpPr>
        <p:spPr/>
        <p:txBody>
          <a:bodyPr/>
          <a:lstStyle/>
          <a:p>
            <a:fld id="{26A379CF-BA4B-4094-AE53-780A3797CC62}" type="slidenum">
              <a:rPr lang="en-IN" smtClean="0"/>
              <a:t>‹#›</a:t>
            </a:fld>
            <a:endParaRPr lang="en-IN"/>
          </a:p>
        </p:txBody>
      </p:sp>
    </p:spTree>
    <p:extLst>
      <p:ext uri="{BB962C8B-B14F-4D97-AF65-F5344CB8AC3E}">
        <p14:creationId xmlns:p14="http://schemas.microsoft.com/office/powerpoint/2010/main" val="31235683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44651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7704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864410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657316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61311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4461555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183198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964515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0414417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6724609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960806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8401967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5616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661860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33317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6938364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367611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16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17523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484239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3708398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639593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200151"/>
            <a:ext cx="8229600" cy="33944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20561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jpe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
        <p:nvSpPr>
          <p:cNvPr id="9" name="TextBox 8"/>
          <p:cNvSpPr txBox="1"/>
          <p:nvPr userDrawn="1"/>
        </p:nvSpPr>
        <p:spPr>
          <a:xfrm>
            <a:off x="8448353" y="4932892"/>
            <a:ext cx="766557" cy="246221"/>
          </a:xfrm>
          <a:prstGeom prst="rect">
            <a:avLst/>
          </a:prstGeom>
          <a:noFill/>
        </p:spPr>
        <p:txBody>
          <a:bodyPr wrap="none" rtlCol="0">
            <a:spAutoFit/>
          </a:bodyPr>
          <a:lstStyle/>
          <a:p>
            <a:r>
              <a:rPr lang="en-US" sz="1000">
                <a:solidFill>
                  <a:prstClr val="black"/>
                </a:solidFill>
              </a:rPr>
              <a:t>Andrew Ng</a:t>
            </a:r>
          </a:p>
        </p:txBody>
      </p:sp>
    </p:spTree>
    <p:extLst>
      <p:ext uri="{BB962C8B-B14F-4D97-AF65-F5344CB8AC3E}">
        <p14:creationId xmlns:p14="http://schemas.microsoft.com/office/powerpoint/2010/main" val="182167633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721" r:id="rId12"/>
    <p:sldLayoutId id="2147483735"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B02CD0-FDB6-4FF4-9645-149EADF026E9}"/>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2D35E5-AAA1-F6AF-1C73-FB2D4E1B7D00}"/>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667745-882D-0C9E-13DA-245CA1E26A34}"/>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88C2A1AA-9D2A-4AE0-8706-2337476E5A92}" type="datetimeFigureOut">
              <a:rPr lang="en-IN" smtClean="0"/>
              <a:t>31-08-2026</a:t>
            </a:fld>
            <a:endParaRPr lang="en-IN"/>
          </a:p>
        </p:txBody>
      </p:sp>
      <p:sp>
        <p:nvSpPr>
          <p:cNvPr id="5" name="Footer Placeholder 4">
            <a:extLst>
              <a:ext uri="{FF2B5EF4-FFF2-40B4-BE49-F238E27FC236}">
                <a16:creationId xmlns:a16="http://schemas.microsoft.com/office/drawing/2014/main" id="{7585D392-66EF-D713-6D7D-FB380D444D40}"/>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8A581F5-8526-6953-B5F4-14A28F9A0744}"/>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26A379CF-BA4B-4094-AE53-780A3797CC62}" type="slidenum">
              <a:rPr lang="en-IN" smtClean="0"/>
              <a:t>‹#›</a:t>
            </a:fld>
            <a:endParaRPr lang="en-IN"/>
          </a:p>
        </p:txBody>
      </p:sp>
    </p:spTree>
    <p:extLst>
      <p:ext uri="{BB962C8B-B14F-4D97-AF65-F5344CB8AC3E}">
        <p14:creationId xmlns:p14="http://schemas.microsoft.com/office/powerpoint/2010/main" val="2498238045"/>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
        <p:nvSpPr>
          <p:cNvPr id="12" name="TextBox 11"/>
          <p:cNvSpPr txBox="1"/>
          <p:nvPr userDrawn="1"/>
        </p:nvSpPr>
        <p:spPr>
          <a:xfrm>
            <a:off x="9372599" y="666750"/>
            <a:ext cx="1293496" cy="523220"/>
          </a:xfrm>
          <a:prstGeom prst="rect">
            <a:avLst/>
          </a:prstGeom>
          <a:noFill/>
        </p:spPr>
        <p:txBody>
          <a:bodyPr wrap="none" rtlCol="0">
            <a:spAutoFit/>
          </a:bodyPr>
          <a:lstStyle/>
          <a:p>
            <a:r>
              <a:rPr lang="en-US" sz="1400">
                <a:solidFill>
                  <a:prstClr val="black"/>
                </a:solidFill>
              </a:rPr>
              <a:t>Template</a:t>
            </a:r>
          </a:p>
          <a:p>
            <a:r>
              <a:rPr lang="en-US" sz="1400">
                <a:solidFill>
                  <a:prstClr val="black"/>
                </a:solidFill>
              </a:rPr>
              <a:t>vertLeftWhite2</a:t>
            </a:r>
          </a:p>
        </p:txBody>
      </p:sp>
      <p:pic>
        <p:nvPicPr>
          <p:cNvPr id="13"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329184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283464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374904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4206240"/>
            <a:ext cx="254471" cy="256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148564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94CFE4B-17F2-49B1-A8CD-48A7230178BE}" type="datetimeFigureOut">
              <a:rPr lang="en-US" smtClean="0">
                <a:solidFill>
                  <a:prstClr val="black">
                    <a:tint val="75000"/>
                  </a:prstClr>
                </a:solidFill>
              </a:rPr>
              <a:pPr/>
              <a:t>8/31/2026</a:t>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
        <p:nvSpPr>
          <p:cNvPr id="12" name="TextBox 11"/>
          <p:cNvSpPr txBox="1"/>
          <p:nvPr userDrawn="1"/>
        </p:nvSpPr>
        <p:spPr>
          <a:xfrm>
            <a:off x="9372599" y="666750"/>
            <a:ext cx="1370568" cy="1600438"/>
          </a:xfrm>
          <a:prstGeom prst="rect">
            <a:avLst/>
          </a:prstGeom>
          <a:noFill/>
        </p:spPr>
        <p:txBody>
          <a:bodyPr wrap="none" rtlCol="0">
            <a:spAutoFit/>
          </a:bodyPr>
          <a:lstStyle/>
          <a:p>
            <a:r>
              <a:rPr lang="en-US" sz="1400">
                <a:solidFill>
                  <a:prstClr val="black"/>
                </a:solidFill>
              </a:rPr>
              <a:t>Template</a:t>
            </a:r>
          </a:p>
          <a:p>
            <a:r>
              <a:rPr lang="en-US" sz="1400">
                <a:solidFill>
                  <a:prstClr val="black"/>
                </a:solidFill>
              </a:rPr>
              <a:t>block2x2White1</a:t>
            </a:r>
          </a:p>
          <a:p>
            <a:endParaRPr lang="en-US" sz="1400">
              <a:solidFill>
                <a:prstClr val="black"/>
              </a:solidFill>
            </a:endParaRPr>
          </a:p>
          <a:p>
            <a:r>
              <a:rPr lang="en-US" sz="1400">
                <a:solidFill>
                  <a:prstClr val="black"/>
                </a:solidFill>
              </a:rPr>
              <a:t>Ordering of</a:t>
            </a:r>
            <a:r>
              <a:rPr lang="en-US" sz="1400" baseline="0">
                <a:solidFill>
                  <a:prstClr val="black"/>
                </a:solidFill>
              </a:rPr>
              <a:t> </a:t>
            </a:r>
          </a:p>
          <a:p>
            <a:r>
              <a:rPr lang="en-US" sz="1400" baseline="0">
                <a:solidFill>
                  <a:prstClr val="black"/>
                </a:solidFill>
              </a:rPr>
              <a:t>buttons is</a:t>
            </a:r>
            <a:r>
              <a:rPr lang="en-US" sz="1400">
                <a:solidFill>
                  <a:prstClr val="black"/>
                </a:solidFill>
              </a:rPr>
              <a:t>:</a:t>
            </a:r>
          </a:p>
          <a:p>
            <a:r>
              <a:rPr lang="en-US" sz="1400">
                <a:solidFill>
                  <a:prstClr val="black"/>
                </a:solidFill>
              </a:rPr>
              <a:t>13</a:t>
            </a:r>
          </a:p>
          <a:p>
            <a:r>
              <a:rPr lang="en-US" sz="1400">
                <a:solidFill>
                  <a:prstClr val="black"/>
                </a:solidFill>
              </a:rPr>
              <a:t>24</a:t>
            </a:r>
          </a:p>
        </p:txBody>
      </p:sp>
      <p:pic>
        <p:nvPicPr>
          <p:cNvPr id="13" name="Picture 3" descr="C:\Users\Tarun Singh\Desktop\whiteRadio.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914400" y="393192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3" descr="C:\Users\Tarun Singh\Desktop\whiteRadio.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914400" y="201168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3" descr="C:\Users\Tarun Singh\Desktop\whiteRadio.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572000" y="201168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descr="C:\Users\Tarun Singh\Desktop\whiteRadio.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572000" y="3931920"/>
            <a:ext cx="254471" cy="256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230408"/>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image" Target="../media/image14.png"/><Relationship Id="rId2" Type="http://schemas.openxmlformats.org/officeDocument/2006/relationships/chart" Target="../charts/chart3.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chart" Target="../charts/chart5.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3.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chart" Target="../charts/chart6.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chart" Target="../charts/chart7.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chart" Target="../charts/chart8.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chart" Target="../charts/chart9.xml"/><Relationship Id="rId5" Type="http://schemas.openxmlformats.org/officeDocument/2006/relationships/image" Target="../media/image51.png"/><Relationship Id="rId4" Type="http://schemas.openxmlformats.org/officeDocument/2006/relationships/image" Target="../media/image50.png"/></Relationships>
</file>

<file path=ppt/slides/_rels/slide4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6.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58.png"/><Relationship Id="rId2"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58.png"/><Relationship Id="rId2"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8.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58.png"/><Relationship Id="rId2" Type="http://schemas.openxmlformats.org/officeDocument/2006/relationships/image" Target="../media/image63.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9.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58.png"/><Relationship Id="rId2" Type="http://schemas.openxmlformats.org/officeDocument/2006/relationships/image" Target="../media/image65.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0.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58.png"/><Relationship Id="rId2" Type="http://schemas.openxmlformats.org/officeDocument/2006/relationships/image" Target="../media/image67.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1.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58.png"/><Relationship Id="rId2"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2.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58.png"/><Relationship Id="rId2"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3.xml.rels><?xml version="1.0" encoding="UTF-8" standalone="yes"?>
<Relationships xmlns="http://schemas.openxmlformats.org/package/2006/relationships"><Relationship Id="rId3" Type="http://schemas.openxmlformats.org/officeDocument/2006/relationships/image" Target="../media/image74.png"/><Relationship Id="rId7" Type="http://schemas.openxmlformats.org/officeDocument/2006/relationships/image" Target="../media/image58.png"/><Relationship Id="rId2" Type="http://schemas.openxmlformats.org/officeDocument/2006/relationships/image" Target="../media/image73.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76.png"/></Relationships>
</file>

<file path=ppt/slides/_rels/slide5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5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79.png"/><Relationship Id="rId4" Type="http://schemas.openxmlformats.org/officeDocument/2006/relationships/image" Target="../media/image78.png"/></Relationships>
</file>

<file path=ppt/slides/_rels/slide5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7.xml"/><Relationship Id="rId4" Type="http://schemas.openxmlformats.org/officeDocument/2006/relationships/image" Target="../media/image82.png"/></Relationships>
</file>

<file path=ppt/slides/_rels/slide5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7.xml"/><Relationship Id="rId5" Type="http://schemas.openxmlformats.org/officeDocument/2006/relationships/image" Target="../media/image84.png"/><Relationship Id="rId4" Type="http://schemas.openxmlformats.org/officeDocument/2006/relationships/image" Target="../media/image88.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153400" y="4705350"/>
            <a:ext cx="990600" cy="438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F163382-E963-39EE-A446-0C86942CE896}"/>
              </a:ext>
            </a:extLst>
          </p:cNvPr>
          <p:cNvSpPr>
            <a:spLocks noGrp="1"/>
          </p:cNvSpPr>
          <p:nvPr>
            <p:ph type="ctrTitle"/>
          </p:nvPr>
        </p:nvSpPr>
        <p:spPr>
          <a:xfrm>
            <a:off x="685800" y="1733550"/>
            <a:ext cx="7772400" cy="1102519"/>
          </a:xfrm>
        </p:spPr>
        <p:txBody>
          <a:bodyPr/>
          <a:lstStyle/>
          <a:p>
            <a:r>
              <a:rPr lang="en-IN">
                <a:latin typeface="Georgia" panose="02040502050405020303" pitchFamily="18" charset="0"/>
              </a:rPr>
              <a:t>Regression</a:t>
            </a:r>
          </a:p>
        </p:txBody>
      </p:sp>
      <p:sp>
        <p:nvSpPr>
          <p:cNvPr id="8" name="Subtitle 7">
            <a:extLst>
              <a:ext uri="{FF2B5EF4-FFF2-40B4-BE49-F238E27FC236}">
                <a16:creationId xmlns:a16="http://schemas.microsoft.com/office/drawing/2014/main" id="{929D3789-B246-DC65-B044-D24EEB8A22BD}"/>
              </a:ext>
            </a:extLst>
          </p:cNvPr>
          <p:cNvSpPr>
            <a:spLocks noGrp="1"/>
          </p:cNvSpPr>
          <p:nvPr>
            <p:ph type="subTitle" idx="1"/>
          </p:nvPr>
        </p:nvSpPr>
        <p:spPr>
          <a:xfrm>
            <a:off x="5638800" y="4476750"/>
            <a:ext cx="3429000" cy="571500"/>
          </a:xfrm>
        </p:spPr>
        <p:txBody>
          <a:bodyPr>
            <a:normAutofit/>
          </a:bodyPr>
          <a:lstStyle/>
          <a:p>
            <a:pPr algn="r"/>
            <a:r>
              <a:rPr lang="en-IN" sz="2400">
                <a:solidFill>
                  <a:schemeClr val="tx1"/>
                </a:solidFill>
                <a:latin typeface="Georgia" panose="02040502050405020303" pitchFamily="18" charset="0"/>
              </a:rPr>
              <a:t>Dr. Mrunal Rane</a:t>
            </a:r>
          </a:p>
        </p:txBody>
      </p:sp>
    </p:spTree>
    <p:extLst>
      <p:ext uri="{BB962C8B-B14F-4D97-AF65-F5344CB8AC3E}">
        <p14:creationId xmlns:p14="http://schemas.microsoft.com/office/powerpoint/2010/main" val="709584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99EA27-2701-4998-5E85-C1E6D301E7BD}"/>
              </a:ext>
            </a:extLst>
          </p:cNvPr>
          <p:cNvSpPr>
            <a:spLocks noGrp="1"/>
          </p:cNvSpPr>
          <p:nvPr>
            <p:ph type="title"/>
          </p:nvPr>
        </p:nvSpPr>
        <p:spPr/>
        <p:txBody>
          <a:bodyPr/>
          <a:lstStyle/>
          <a:p>
            <a:r>
              <a:rPr lang="en-IN"/>
              <a:t>Syllabus</a:t>
            </a:r>
          </a:p>
        </p:txBody>
      </p:sp>
      <p:sp>
        <p:nvSpPr>
          <p:cNvPr id="4" name="Content Placeholder 2">
            <a:extLst>
              <a:ext uri="{FF2B5EF4-FFF2-40B4-BE49-F238E27FC236}">
                <a16:creationId xmlns:a16="http://schemas.microsoft.com/office/drawing/2014/main" id="{2B6B56FF-9255-FCDC-3B2C-C2A3FD754ECC}"/>
              </a:ext>
            </a:extLst>
          </p:cNvPr>
          <p:cNvSpPr>
            <a:spLocks noGrp="1"/>
          </p:cNvSpPr>
          <p:nvPr>
            <p:ph idx="1"/>
          </p:nvPr>
        </p:nvSpPr>
        <p:spPr>
          <a:xfrm>
            <a:off x="457200" y="1200150"/>
            <a:ext cx="8229600" cy="3394075"/>
          </a:xfrm>
        </p:spPr>
        <p:txBody>
          <a:bodyPr>
            <a:normAutofit/>
          </a:bodyPr>
          <a:lstStyle/>
          <a:p>
            <a:r>
              <a:rPr lang="en-IN" sz="2400" b="0" i="0" u="none" strike="noStrike" baseline="0">
                <a:solidFill>
                  <a:srgbClr val="000000"/>
                </a:solidFill>
                <a:latin typeface="Times New Roman" panose="02020603050405020304" pitchFamily="18" charset="0"/>
              </a:rPr>
              <a:t>Linear Regression </a:t>
            </a:r>
          </a:p>
          <a:p>
            <a:r>
              <a:rPr lang="en-IN" sz="2400" b="0" i="0" u="none" strike="noStrike" baseline="0">
                <a:solidFill>
                  <a:srgbClr val="000000"/>
                </a:solidFill>
                <a:latin typeface="Times New Roman" panose="02020603050405020304" pitchFamily="18" charset="0"/>
              </a:rPr>
              <a:t>Gradient Descent</a:t>
            </a:r>
          </a:p>
          <a:p>
            <a:r>
              <a:rPr lang="en-IN" sz="2400" b="0" i="0" u="none" strike="noStrike" baseline="0">
                <a:solidFill>
                  <a:srgbClr val="000000"/>
                </a:solidFill>
                <a:latin typeface="Times New Roman" panose="02020603050405020304" pitchFamily="18" charset="0"/>
              </a:rPr>
              <a:t>Lasso </a:t>
            </a:r>
            <a:r>
              <a:rPr lang="en-US" sz="2400" b="0" i="0" u="none" strike="noStrike" baseline="0">
                <a:solidFill>
                  <a:srgbClr val="000000"/>
                </a:solidFill>
                <a:latin typeface="Times New Roman" panose="02020603050405020304" pitchFamily="18" charset="0"/>
              </a:rPr>
              <a:t>and Ridge Regression</a:t>
            </a:r>
          </a:p>
          <a:p>
            <a:r>
              <a:rPr lang="en-US" sz="2400" b="0" i="0" u="none" strike="noStrike" baseline="0">
                <a:solidFill>
                  <a:srgbClr val="000000"/>
                </a:solidFill>
                <a:latin typeface="Times New Roman" panose="02020603050405020304" pitchFamily="18" charset="0"/>
              </a:rPr>
              <a:t>Polynomial Regression</a:t>
            </a:r>
          </a:p>
          <a:p>
            <a:r>
              <a:rPr lang="en-US" sz="2400" b="0" i="0" u="none" strike="noStrike" baseline="0">
                <a:solidFill>
                  <a:srgbClr val="000000"/>
                </a:solidFill>
                <a:latin typeface="Times New Roman" panose="02020603050405020304" pitchFamily="18" charset="0"/>
              </a:rPr>
              <a:t>Logistic Regression </a:t>
            </a:r>
          </a:p>
          <a:p>
            <a:r>
              <a:rPr lang="en-US" sz="2400" b="0" i="0" u="none" strike="noStrike" baseline="0">
                <a:solidFill>
                  <a:srgbClr val="000000"/>
                </a:solidFill>
                <a:latin typeface="Times New Roman" panose="02020603050405020304" pitchFamily="18" charset="0"/>
              </a:rPr>
              <a:t>Maximum Likelihood </a:t>
            </a:r>
            <a:r>
              <a:rPr lang="en-IN" sz="2400" b="0" i="0" u="none" strike="noStrike" baseline="0">
                <a:solidFill>
                  <a:srgbClr val="000000"/>
                </a:solidFill>
                <a:latin typeface="Times New Roman" panose="02020603050405020304" pitchFamily="18" charset="0"/>
              </a:rPr>
              <a:t>Function	</a:t>
            </a:r>
          </a:p>
          <a:p>
            <a:pPr marL="0" indent="0">
              <a:buNone/>
            </a:pPr>
            <a:endParaRPr lang="en-IN" sz="2400"/>
          </a:p>
        </p:txBody>
      </p:sp>
    </p:spTree>
    <p:extLst>
      <p:ext uri="{BB962C8B-B14F-4D97-AF65-F5344CB8AC3E}">
        <p14:creationId xmlns:p14="http://schemas.microsoft.com/office/powerpoint/2010/main" val="1646383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414DD-F638-C600-72AD-99B5E1AD0871}"/>
              </a:ext>
            </a:extLst>
          </p:cNvPr>
          <p:cNvSpPr>
            <a:spLocks noGrp="1"/>
          </p:cNvSpPr>
          <p:nvPr>
            <p:ph type="title"/>
          </p:nvPr>
        </p:nvSpPr>
        <p:spPr>
          <a:xfrm>
            <a:off x="457200" y="0"/>
            <a:ext cx="8229600" cy="857250"/>
          </a:xfrm>
        </p:spPr>
        <p:txBody>
          <a:bodyPr/>
          <a:lstStyle/>
          <a:p>
            <a:r>
              <a:rPr lang="en-IN"/>
              <a:t>Regression</a:t>
            </a:r>
          </a:p>
        </p:txBody>
      </p:sp>
      <p:sp>
        <p:nvSpPr>
          <p:cNvPr id="3" name="Content Placeholder 2">
            <a:extLst>
              <a:ext uri="{FF2B5EF4-FFF2-40B4-BE49-F238E27FC236}">
                <a16:creationId xmlns:a16="http://schemas.microsoft.com/office/drawing/2014/main" id="{F2D1DD42-394D-762B-6C0A-E06B492198D3}"/>
              </a:ext>
            </a:extLst>
          </p:cNvPr>
          <p:cNvSpPr>
            <a:spLocks noGrp="1"/>
          </p:cNvSpPr>
          <p:nvPr>
            <p:ph idx="1"/>
          </p:nvPr>
        </p:nvSpPr>
        <p:spPr>
          <a:xfrm>
            <a:off x="207885" y="742950"/>
            <a:ext cx="8707515" cy="3657599"/>
          </a:xfrm>
        </p:spPr>
        <p:txBody>
          <a:bodyPr>
            <a:noAutofit/>
          </a:bodyPr>
          <a:lstStyle/>
          <a:p>
            <a:pPr algn="just"/>
            <a:r>
              <a:rPr lang="en-US" sz="1800"/>
              <a:t>Is Supervised or Unsupervised?</a:t>
            </a:r>
          </a:p>
          <a:p>
            <a:pPr algn="just"/>
            <a:r>
              <a:rPr lang="en-US" sz="1800"/>
              <a:t>What is the basic requirement of Supervised learning?</a:t>
            </a:r>
          </a:p>
          <a:p>
            <a:pPr algn="just"/>
            <a:r>
              <a:rPr lang="en-US" sz="1800"/>
              <a:t>What is Regression?</a:t>
            </a:r>
          </a:p>
          <a:p>
            <a:pPr lvl="1" algn="just"/>
            <a:r>
              <a:rPr lang="en-US" sz="1800"/>
              <a:t>Regression is a supervised machine learning technique which is used to predict continuous values.</a:t>
            </a:r>
          </a:p>
          <a:p>
            <a:pPr lvl="1" algn="just"/>
            <a:r>
              <a:rPr lang="en-US" sz="1800"/>
              <a:t>Regression analysis is a set of statistical methods used for the estimation of relationships between a dependent variable and one or more independent variables. </a:t>
            </a:r>
          </a:p>
          <a:p>
            <a:pPr lvl="1" algn="just"/>
            <a:r>
              <a:rPr lang="en-US" sz="1800"/>
              <a:t>It can be utilized to assess the strength of the relationship between variables and for modeling the future relationship between them.</a:t>
            </a:r>
          </a:p>
          <a:p>
            <a:pPr algn="just"/>
            <a:endParaRPr lang="en-IN" sz="1800"/>
          </a:p>
        </p:txBody>
      </p:sp>
      <p:pic>
        <p:nvPicPr>
          <p:cNvPr id="4" name="Google Shape;348;p46">
            <a:extLst>
              <a:ext uri="{FF2B5EF4-FFF2-40B4-BE49-F238E27FC236}">
                <a16:creationId xmlns:a16="http://schemas.microsoft.com/office/drawing/2014/main" id="{6FA51B27-B369-96BA-39F5-5A252EF72F4B}"/>
              </a:ext>
            </a:extLst>
          </p:cNvPr>
          <p:cNvPicPr preferRelativeResize="0"/>
          <p:nvPr/>
        </p:nvPicPr>
        <p:blipFill rotWithShape="1">
          <a:blip r:embed="rId2">
            <a:alphaModFix/>
          </a:blip>
          <a:srcRect/>
          <a:stretch/>
        </p:blipFill>
        <p:spPr>
          <a:xfrm>
            <a:off x="5181599" y="3257550"/>
            <a:ext cx="3978675" cy="1885950"/>
          </a:xfrm>
          <a:prstGeom prst="rect">
            <a:avLst/>
          </a:prstGeom>
          <a:noFill/>
          <a:ln>
            <a:noFill/>
          </a:ln>
        </p:spPr>
      </p:pic>
    </p:spTree>
    <p:extLst>
      <p:ext uri="{BB962C8B-B14F-4D97-AF65-F5344CB8AC3E}">
        <p14:creationId xmlns:p14="http://schemas.microsoft.com/office/powerpoint/2010/main" val="2386822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53"/>
          <p:cNvSpPr/>
          <p:nvPr/>
        </p:nvSpPr>
        <p:spPr>
          <a:xfrm>
            <a:off x="0" y="0"/>
            <a:ext cx="9141714" cy="5143500"/>
          </a:xfrm>
          <a:prstGeom prst="rect">
            <a:avLst/>
          </a:prstGeom>
          <a:solidFill>
            <a:schemeClr val="lt1"/>
          </a:solidFill>
          <a:ln>
            <a:noFill/>
          </a:ln>
        </p:spPr>
        <p:txBody>
          <a:bodyPr spcFirstLastPara="1" wrap="square" lIns="68569" tIns="34275" rIns="68569" bIns="34275" anchor="ctr" anchorCtr="0">
            <a:noAutofit/>
          </a:bodyPr>
          <a:lstStyle/>
          <a:p>
            <a:pPr algn="ctr"/>
            <a:endParaRPr sz="1350">
              <a:solidFill>
                <a:schemeClr val="lt1"/>
              </a:solidFill>
              <a:latin typeface="Calibri"/>
              <a:ea typeface="Calibri"/>
              <a:cs typeface="Calibri"/>
              <a:sym typeface="Calibri"/>
            </a:endParaRPr>
          </a:p>
        </p:txBody>
      </p:sp>
      <p:sp>
        <p:nvSpPr>
          <p:cNvPr id="399" name="Google Shape;399;p53"/>
          <p:cNvSpPr txBox="1">
            <a:spLocks noGrp="1"/>
          </p:cNvSpPr>
          <p:nvPr>
            <p:ph type="title"/>
          </p:nvPr>
        </p:nvSpPr>
        <p:spPr>
          <a:prstGeom prst="rect">
            <a:avLst/>
          </a:prstGeom>
          <a:noFill/>
          <a:ln>
            <a:noFill/>
          </a:ln>
        </p:spPr>
        <p:txBody>
          <a:bodyPr spcFirstLastPara="1" vert="horz" wrap="square" lIns="68569" tIns="34275" rIns="68569" bIns="34275" rtlCol="0" anchor="ctr" anchorCtr="0">
            <a:normAutofit/>
          </a:bodyPr>
          <a:lstStyle/>
          <a:p>
            <a:pPr>
              <a:buClr>
                <a:srgbClr val="FFFFFF"/>
              </a:buClr>
              <a:buSzPts val="4000"/>
            </a:pPr>
            <a:r>
              <a:rPr lang="en-IN"/>
              <a:t>Which of the following is a regression </a:t>
            </a:r>
            <a:r>
              <a:rPr lang="en-IN" err="1"/>
              <a:t>task?</a:t>
            </a:r>
            <a:r>
              <a:rPr lang="en-IN" err="1">
                <a:solidFill>
                  <a:srgbClr val="FFFFFF"/>
                </a:solidFill>
              </a:rPr>
              <a:t>ch</a:t>
            </a:r>
            <a:r>
              <a:rPr lang="en-IN">
                <a:solidFill>
                  <a:srgbClr val="FFFFFF"/>
                </a:solidFill>
              </a:rPr>
              <a:t> of the following is a regression task? </a:t>
            </a:r>
            <a:endParaRPr>
              <a:solidFill>
                <a:srgbClr val="FFFFFF"/>
              </a:solidFill>
            </a:endParaRPr>
          </a:p>
        </p:txBody>
      </p:sp>
      <p:grpSp>
        <p:nvGrpSpPr>
          <p:cNvPr id="400" name="Google Shape;400;p53"/>
          <p:cNvGrpSpPr/>
          <p:nvPr/>
        </p:nvGrpSpPr>
        <p:grpSpPr>
          <a:xfrm>
            <a:off x="784936" y="1352550"/>
            <a:ext cx="7571841" cy="3024466"/>
            <a:chOff x="0" y="0"/>
            <a:chExt cx="10095788" cy="4032621"/>
          </a:xfrm>
        </p:grpSpPr>
        <p:sp>
          <p:nvSpPr>
            <p:cNvPr id="401" name="Google Shape;401;p53"/>
            <p:cNvSpPr/>
            <p:nvPr/>
          </p:nvSpPr>
          <p:spPr>
            <a:xfrm>
              <a:off x="0" y="0"/>
              <a:ext cx="3154934" cy="4032621"/>
            </a:xfrm>
            <a:prstGeom prst="rect">
              <a:avLst/>
            </a:prstGeom>
            <a:solidFill>
              <a:srgbClr val="CFDEEF">
                <a:alpha val="89803"/>
              </a:srgbClr>
            </a:solidFill>
            <a:ln w="12700" cap="flat" cmpd="sng">
              <a:solidFill>
                <a:srgbClr val="CFDEEF">
                  <a:alpha val="89803"/>
                </a:srgbClr>
              </a:solidFill>
              <a:prstDash val="solid"/>
              <a:miter lim="800000"/>
              <a:headEnd type="none" w="sm" len="sm"/>
              <a:tailEnd type="none" w="sm" len="sm"/>
            </a:ln>
          </p:spPr>
          <p:txBody>
            <a:bodyPr spcFirstLastPara="1" wrap="square" lIns="68569" tIns="68569" rIns="68569" bIns="68569" anchor="ctr" anchorCtr="0">
              <a:noAutofit/>
            </a:bodyPr>
            <a:lstStyle/>
            <a:p>
              <a:endParaRPr sz="1350"/>
            </a:p>
          </p:txBody>
        </p:sp>
        <p:sp>
          <p:nvSpPr>
            <p:cNvPr id="402" name="Google Shape;402;p53"/>
            <p:cNvSpPr txBox="1"/>
            <p:nvPr/>
          </p:nvSpPr>
          <p:spPr>
            <a:xfrm>
              <a:off x="0" y="1532395"/>
              <a:ext cx="3154934" cy="2419572"/>
            </a:xfrm>
            <a:prstGeom prst="rect">
              <a:avLst/>
            </a:prstGeom>
            <a:noFill/>
            <a:ln>
              <a:noFill/>
            </a:ln>
          </p:spPr>
          <p:txBody>
            <a:bodyPr spcFirstLastPara="1" wrap="square" lIns="184463" tIns="247650" rIns="184463" bIns="247650" anchor="t" anchorCtr="0">
              <a:noAutofit/>
            </a:bodyPr>
            <a:lstStyle/>
            <a:p>
              <a:pPr>
                <a:lnSpc>
                  <a:spcPct val="90000"/>
                </a:lnSpc>
                <a:buClr>
                  <a:schemeClr val="dk1"/>
                </a:buClr>
                <a:buSzPts val="2600"/>
              </a:pPr>
              <a:r>
                <a:rPr lang="en-IN" sz="1950">
                  <a:solidFill>
                    <a:schemeClr val="dk1"/>
                  </a:solidFill>
                  <a:latin typeface="Calibri"/>
                  <a:ea typeface="Calibri"/>
                  <a:cs typeface="Calibri"/>
                  <a:sym typeface="Calibri"/>
                </a:rPr>
                <a:t>Predict age of a person</a:t>
              </a:r>
              <a:endParaRPr sz="1350"/>
            </a:p>
          </p:txBody>
        </p:sp>
        <p:sp>
          <p:nvSpPr>
            <p:cNvPr id="403" name="Google Shape;403;p53"/>
            <p:cNvSpPr/>
            <p:nvPr/>
          </p:nvSpPr>
          <p:spPr>
            <a:xfrm>
              <a:off x="972573" y="403262"/>
              <a:ext cx="1209786" cy="1209786"/>
            </a:xfrm>
            <a:prstGeom prst="ellipse">
              <a:avLst/>
            </a:prstGeom>
            <a:solidFill>
              <a:srgbClr val="599BD5"/>
            </a:solidFill>
            <a:ln w="12700" cap="flat" cmpd="sng">
              <a:solidFill>
                <a:srgbClr val="599BD5"/>
              </a:solidFill>
              <a:prstDash val="solid"/>
              <a:miter lim="800000"/>
              <a:headEnd type="none" w="sm" len="sm"/>
              <a:tailEnd type="none" w="sm" len="sm"/>
            </a:ln>
          </p:spPr>
          <p:txBody>
            <a:bodyPr spcFirstLastPara="1" wrap="square" lIns="68569" tIns="68569" rIns="68569" bIns="68569" anchor="ctr" anchorCtr="0">
              <a:noAutofit/>
            </a:bodyPr>
            <a:lstStyle/>
            <a:p>
              <a:endParaRPr sz="1350"/>
            </a:p>
          </p:txBody>
        </p:sp>
        <p:sp>
          <p:nvSpPr>
            <p:cNvPr id="404" name="Google Shape;404;p53"/>
            <p:cNvSpPr txBox="1"/>
            <p:nvPr/>
          </p:nvSpPr>
          <p:spPr>
            <a:xfrm>
              <a:off x="1149742" y="580431"/>
              <a:ext cx="855448" cy="855448"/>
            </a:xfrm>
            <a:prstGeom prst="rect">
              <a:avLst/>
            </a:prstGeom>
            <a:noFill/>
            <a:ln>
              <a:noFill/>
            </a:ln>
          </p:spPr>
          <p:txBody>
            <a:bodyPr spcFirstLastPara="1" wrap="square" lIns="70725" tIns="9525" rIns="70725" bIns="9525" anchor="ctr" anchorCtr="0">
              <a:noAutofit/>
            </a:bodyPr>
            <a:lstStyle/>
            <a:p>
              <a:pPr algn="ctr">
                <a:lnSpc>
                  <a:spcPct val="90000"/>
                </a:lnSpc>
                <a:buClr>
                  <a:schemeClr val="lt1"/>
                </a:buClr>
                <a:buSzPts val="4800"/>
              </a:pPr>
              <a:r>
                <a:rPr lang="en-IN" sz="3600">
                  <a:solidFill>
                    <a:schemeClr val="lt1"/>
                  </a:solidFill>
                  <a:latin typeface="Calibri"/>
                  <a:ea typeface="Calibri"/>
                  <a:cs typeface="Calibri"/>
                  <a:sym typeface="Calibri"/>
                </a:rPr>
                <a:t>1</a:t>
              </a:r>
              <a:endParaRPr sz="1350"/>
            </a:p>
          </p:txBody>
        </p:sp>
        <p:sp>
          <p:nvSpPr>
            <p:cNvPr id="405" name="Google Shape;405;p53"/>
            <p:cNvSpPr/>
            <p:nvPr/>
          </p:nvSpPr>
          <p:spPr>
            <a:xfrm>
              <a:off x="0" y="4032549"/>
              <a:ext cx="3154934" cy="72"/>
            </a:xfrm>
            <a:prstGeom prst="rect">
              <a:avLst/>
            </a:prstGeom>
            <a:solidFill>
              <a:srgbClr val="53C1CE"/>
            </a:solidFill>
            <a:ln w="12700" cap="flat" cmpd="sng">
              <a:solidFill>
                <a:srgbClr val="53C1CE"/>
              </a:solidFill>
              <a:prstDash val="solid"/>
              <a:miter lim="800000"/>
              <a:headEnd type="none" w="sm" len="sm"/>
              <a:tailEnd type="none" w="sm" len="sm"/>
            </a:ln>
          </p:spPr>
          <p:txBody>
            <a:bodyPr spcFirstLastPara="1" wrap="square" lIns="68569" tIns="68569" rIns="68569" bIns="68569" anchor="ctr" anchorCtr="0">
              <a:noAutofit/>
            </a:bodyPr>
            <a:lstStyle/>
            <a:p>
              <a:endParaRPr sz="1350"/>
            </a:p>
          </p:txBody>
        </p:sp>
        <p:sp>
          <p:nvSpPr>
            <p:cNvPr id="406" name="Google Shape;406;p53"/>
            <p:cNvSpPr/>
            <p:nvPr/>
          </p:nvSpPr>
          <p:spPr>
            <a:xfrm>
              <a:off x="3470427" y="0"/>
              <a:ext cx="3154934" cy="4032621"/>
            </a:xfrm>
            <a:prstGeom prst="rect">
              <a:avLst/>
            </a:prstGeom>
            <a:solidFill>
              <a:srgbClr val="CCE8DD">
                <a:alpha val="89803"/>
              </a:srgbClr>
            </a:solidFill>
            <a:ln w="12700" cap="flat" cmpd="sng">
              <a:solidFill>
                <a:srgbClr val="CCE8DD">
                  <a:alpha val="89803"/>
                </a:srgbClr>
              </a:solidFill>
              <a:prstDash val="solid"/>
              <a:miter lim="800000"/>
              <a:headEnd type="none" w="sm" len="sm"/>
              <a:tailEnd type="none" w="sm" len="sm"/>
            </a:ln>
          </p:spPr>
          <p:txBody>
            <a:bodyPr spcFirstLastPara="1" wrap="square" lIns="68569" tIns="68569" rIns="68569" bIns="68569" anchor="ctr" anchorCtr="0">
              <a:noAutofit/>
            </a:bodyPr>
            <a:lstStyle/>
            <a:p>
              <a:endParaRPr sz="1350"/>
            </a:p>
          </p:txBody>
        </p:sp>
        <p:sp>
          <p:nvSpPr>
            <p:cNvPr id="407" name="Google Shape;407;p53"/>
            <p:cNvSpPr txBox="1"/>
            <p:nvPr/>
          </p:nvSpPr>
          <p:spPr>
            <a:xfrm>
              <a:off x="3470427" y="1532395"/>
              <a:ext cx="3154934" cy="2419572"/>
            </a:xfrm>
            <a:prstGeom prst="rect">
              <a:avLst/>
            </a:prstGeom>
            <a:noFill/>
            <a:ln>
              <a:noFill/>
            </a:ln>
          </p:spPr>
          <p:txBody>
            <a:bodyPr spcFirstLastPara="1" wrap="square" lIns="184463" tIns="247650" rIns="184463" bIns="247650" anchor="t" anchorCtr="0">
              <a:noAutofit/>
            </a:bodyPr>
            <a:lstStyle/>
            <a:p>
              <a:pPr>
                <a:lnSpc>
                  <a:spcPct val="90000"/>
                </a:lnSpc>
                <a:buClr>
                  <a:schemeClr val="dk1"/>
                </a:buClr>
                <a:buSzPts val="2600"/>
              </a:pPr>
              <a:r>
                <a:rPr lang="en-IN" sz="1950">
                  <a:solidFill>
                    <a:schemeClr val="dk1"/>
                  </a:solidFill>
                  <a:latin typeface="Calibri"/>
                  <a:ea typeface="Calibri"/>
                  <a:cs typeface="Calibri"/>
                  <a:sym typeface="Calibri"/>
                </a:rPr>
                <a:t>Predict the country from where the person comes from</a:t>
              </a:r>
              <a:endParaRPr sz="1950">
                <a:solidFill>
                  <a:schemeClr val="dk1"/>
                </a:solidFill>
                <a:latin typeface="Calibri"/>
                <a:ea typeface="Calibri"/>
                <a:cs typeface="Calibri"/>
                <a:sym typeface="Calibri"/>
              </a:endParaRPr>
            </a:p>
          </p:txBody>
        </p:sp>
        <p:sp>
          <p:nvSpPr>
            <p:cNvPr id="408" name="Google Shape;408;p53"/>
            <p:cNvSpPr/>
            <p:nvPr/>
          </p:nvSpPr>
          <p:spPr>
            <a:xfrm>
              <a:off x="4443001" y="403262"/>
              <a:ext cx="1209786" cy="1209786"/>
            </a:xfrm>
            <a:prstGeom prst="ellipse">
              <a:avLst/>
            </a:prstGeom>
            <a:solidFill>
              <a:srgbClr val="4EC7A5"/>
            </a:solidFill>
            <a:ln w="12700" cap="flat" cmpd="sng">
              <a:solidFill>
                <a:srgbClr val="4EC7A5"/>
              </a:solidFill>
              <a:prstDash val="solid"/>
              <a:miter lim="800000"/>
              <a:headEnd type="none" w="sm" len="sm"/>
              <a:tailEnd type="none" w="sm" len="sm"/>
            </a:ln>
          </p:spPr>
          <p:txBody>
            <a:bodyPr spcFirstLastPara="1" wrap="square" lIns="68569" tIns="68569" rIns="68569" bIns="68569" anchor="ctr" anchorCtr="0">
              <a:noAutofit/>
            </a:bodyPr>
            <a:lstStyle/>
            <a:p>
              <a:endParaRPr sz="1350"/>
            </a:p>
          </p:txBody>
        </p:sp>
        <p:sp>
          <p:nvSpPr>
            <p:cNvPr id="409" name="Google Shape;409;p53"/>
            <p:cNvSpPr txBox="1"/>
            <p:nvPr/>
          </p:nvSpPr>
          <p:spPr>
            <a:xfrm>
              <a:off x="4620170" y="580431"/>
              <a:ext cx="855448" cy="855448"/>
            </a:xfrm>
            <a:prstGeom prst="rect">
              <a:avLst/>
            </a:prstGeom>
            <a:noFill/>
            <a:ln>
              <a:noFill/>
            </a:ln>
          </p:spPr>
          <p:txBody>
            <a:bodyPr spcFirstLastPara="1" wrap="square" lIns="70725" tIns="9525" rIns="70725" bIns="9525" anchor="ctr" anchorCtr="0">
              <a:noAutofit/>
            </a:bodyPr>
            <a:lstStyle/>
            <a:p>
              <a:pPr algn="ctr">
                <a:lnSpc>
                  <a:spcPct val="90000"/>
                </a:lnSpc>
                <a:buClr>
                  <a:schemeClr val="lt1"/>
                </a:buClr>
                <a:buSzPts val="4800"/>
              </a:pPr>
              <a:r>
                <a:rPr lang="en-IN" sz="3600">
                  <a:solidFill>
                    <a:schemeClr val="lt1"/>
                  </a:solidFill>
                  <a:latin typeface="Calibri"/>
                  <a:ea typeface="Calibri"/>
                  <a:cs typeface="Calibri"/>
                  <a:sym typeface="Calibri"/>
                </a:rPr>
                <a:t>2</a:t>
              </a:r>
              <a:endParaRPr sz="1350"/>
            </a:p>
          </p:txBody>
        </p:sp>
        <p:sp>
          <p:nvSpPr>
            <p:cNvPr id="410" name="Google Shape;410;p53"/>
            <p:cNvSpPr/>
            <p:nvPr/>
          </p:nvSpPr>
          <p:spPr>
            <a:xfrm>
              <a:off x="3470427" y="4032549"/>
              <a:ext cx="3154934" cy="72"/>
            </a:xfrm>
            <a:prstGeom prst="rect">
              <a:avLst/>
            </a:prstGeom>
            <a:solidFill>
              <a:srgbClr val="49C073"/>
            </a:solidFill>
            <a:ln w="12700" cap="flat" cmpd="sng">
              <a:solidFill>
                <a:srgbClr val="49C073"/>
              </a:solidFill>
              <a:prstDash val="solid"/>
              <a:miter lim="800000"/>
              <a:headEnd type="none" w="sm" len="sm"/>
              <a:tailEnd type="none" w="sm" len="sm"/>
            </a:ln>
          </p:spPr>
          <p:txBody>
            <a:bodyPr spcFirstLastPara="1" wrap="square" lIns="68569" tIns="68569" rIns="68569" bIns="68569" anchor="ctr" anchorCtr="0">
              <a:noAutofit/>
            </a:bodyPr>
            <a:lstStyle/>
            <a:p>
              <a:endParaRPr sz="1350"/>
            </a:p>
          </p:txBody>
        </p:sp>
        <p:sp>
          <p:nvSpPr>
            <p:cNvPr id="411" name="Google Shape;411;p53"/>
            <p:cNvSpPr/>
            <p:nvPr/>
          </p:nvSpPr>
          <p:spPr>
            <a:xfrm>
              <a:off x="6940854" y="0"/>
              <a:ext cx="3154934" cy="4032621"/>
            </a:xfrm>
            <a:prstGeom prst="rect">
              <a:avLst/>
            </a:prstGeom>
            <a:solidFill>
              <a:srgbClr val="D3E1CC">
                <a:alpha val="89803"/>
              </a:srgbClr>
            </a:solidFill>
            <a:ln w="12700" cap="flat" cmpd="sng">
              <a:solidFill>
                <a:srgbClr val="D3E1CC">
                  <a:alpha val="89803"/>
                </a:srgbClr>
              </a:solidFill>
              <a:prstDash val="solid"/>
              <a:miter lim="800000"/>
              <a:headEnd type="none" w="sm" len="sm"/>
              <a:tailEnd type="none" w="sm" len="sm"/>
            </a:ln>
          </p:spPr>
          <p:txBody>
            <a:bodyPr spcFirstLastPara="1" wrap="square" lIns="68569" tIns="68569" rIns="68569" bIns="68569" anchor="ctr" anchorCtr="0">
              <a:noAutofit/>
            </a:bodyPr>
            <a:lstStyle/>
            <a:p>
              <a:endParaRPr sz="1350"/>
            </a:p>
          </p:txBody>
        </p:sp>
        <p:sp>
          <p:nvSpPr>
            <p:cNvPr id="412" name="Google Shape;412;p53"/>
            <p:cNvSpPr txBox="1"/>
            <p:nvPr/>
          </p:nvSpPr>
          <p:spPr>
            <a:xfrm>
              <a:off x="6940854" y="1532395"/>
              <a:ext cx="3154934" cy="2419572"/>
            </a:xfrm>
            <a:prstGeom prst="rect">
              <a:avLst/>
            </a:prstGeom>
            <a:noFill/>
            <a:ln>
              <a:noFill/>
            </a:ln>
          </p:spPr>
          <p:txBody>
            <a:bodyPr spcFirstLastPara="1" wrap="square" lIns="184463" tIns="247650" rIns="184463" bIns="247650" anchor="t" anchorCtr="0">
              <a:noAutofit/>
            </a:bodyPr>
            <a:lstStyle/>
            <a:p>
              <a:pPr>
                <a:lnSpc>
                  <a:spcPct val="90000"/>
                </a:lnSpc>
                <a:buClr>
                  <a:schemeClr val="dk1"/>
                </a:buClr>
                <a:buSzPts val="2600"/>
              </a:pPr>
              <a:r>
                <a:rPr lang="en-IN" sz="1950">
                  <a:solidFill>
                    <a:schemeClr val="dk1"/>
                  </a:solidFill>
                  <a:latin typeface="Calibri"/>
                  <a:ea typeface="Calibri"/>
                  <a:cs typeface="Calibri"/>
                  <a:sym typeface="Calibri"/>
                </a:rPr>
                <a:t>Predicting whether stock price of a company will increase tomorrow</a:t>
              </a:r>
              <a:endParaRPr sz="1350"/>
            </a:p>
          </p:txBody>
        </p:sp>
        <p:sp>
          <p:nvSpPr>
            <p:cNvPr id="413" name="Google Shape;413;p53"/>
            <p:cNvSpPr/>
            <p:nvPr/>
          </p:nvSpPr>
          <p:spPr>
            <a:xfrm>
              <a:off x="7913428" y="403262"/>
              <a:ext cx="1209786" cy="1209786"/>
            </a:xfrm>
            <a:prstGeom prst="ellipse">
              <a:avLst/>
            </a:prstGeom>
            <a:solidFill>
              <a:srgbClr val="49B845"/>
            </a:solidFill>
            <a:ln w="12700" cap="flat" cmpd="sng">
              <a:solidFill>
                <a:srgbClr val="49B845"/>
              </a:solidFill>
              <a:prstDash val="solid"/>
              <a:miter lim="800000"/>
              <a:headEnd type="none" w="sm" len="sm"/>
              <a:tailEnd type="none" w="sm" len="sm"/>
            </a:ln>
          </p:spPr>
          <p:txBody>
            <a:bodyPr spcFirstLastPara="1" wrap="square" lIns="68569" tIns="68569" rIns="68569" bIns="68569" anchor="ctr" anchorCtr="0">
              <a:noAutofit/>
            </a:bodyPr>
            <a:lstStyle/>
            <a:p>
              <a:endParaRPr sz="1350"/>
            </a:p>
          </p:txBody>
        </p:sp>
        <p:sp>
          <p:nvSpPr>
            <p:cNvPr id="414" name="Google Shape;414;p53"/>
            <p:cNvSpPr txBox="1"/>
            <p:nvPr/>
          </p:nvSpPr>
          <p:spPr>
            <a:xfrm>
              <a:off x="8090597" y="580431"/>
              <a:ext cx="855448" cy="855448"/>
            </a:xfrm>
            <a:prstGeom prst="rect">
              <a:avLst/>
            </a:prstGeom>
            <a:noFill/>
            <a:ln>
              <a:noFill/>
            </a:ln>
          </p:spPr>
          <p:txBody>
            <a:bodyPr spcFirstLastPara="1" wrap="square" lIns="70725" tIns="9525" rIns="70725" bIns="9525" anchor="ctr" anchorCtr="0">
              <a:noAutofit/>
            </a:bodyPr>
            <a:lstStyle/>
            <a:p>
              <a:pPr algn="ctr">
                <a:lnSpc>
                  <a:spcPct val="90000"/>
                </a:lnSpc>
                <a:buClr>
                  <a:schemeClr val="lt1"/>
                </a:buClr>
                <a:buSzPts val="4800"/>
              </a:pPr>
              <a:r>
                <a:rPr lang="en-IN" sz="3600">
                  <a:solidFill>
                    <a:schemeClr val="lt1"/>
                  </a:solidFill>
                  <a:latin typeface="Calibri"/>
                  <a:ea typeface="Calibri"/>
                  <a:cs typeface="Calibri"/>
                  <a:sym typeface="Calibri"/>
                </a:rPr>
                <a:t>3</a:t>
              </a:r>
              <a:endParaRPr sz="1350"/>
            </a:p>
          </p:txBody>
        </p:sp>
        <p:sp>
          <p:nvSpPr>
            <p:cNvPr id="415" name="Google Shape;415;p53"/>
            <p:cNvSpPr/>
            <p:nvPr/>
          </p:nvSpPr>
          <p:spPr>
            <a:xfrm>
              <a:off x="6940854" y="4032549"/>
              <a:ext cx="3154934" cy="72"/>
            </a:xfrm>
            <a:prstGeom prst="rect">
              <a:avLst/>
            </a:prstGeom>
            <a:solidFill>
              <a:srgbClr val="6FAB46"/>
            </a:solidFill>
            <a:ln w="12700" cap="flat" cmpd="sng">
              <a:solidFill>
                <a:srgbClr val="6FAB46"/>
              </a:solidFill>
              <a:prstDash val="solid"/>
              <a:miter lim="800000"/>
              <a:headEnd type="none" w="sm" len="sm"/>
              <a:tailEnd type="none" w="sm" len="sm"/>
            </a:ln>
          </p:spPr>
          <p:txBody>
            <a:bodyPr spcFirstLastPara="1" wrap="square" lIns="68569" tIns="68569" rIns="68569" bIns="68569" anchor="ctr" anchorCtr="0">
              <a:noAutofit/>
            </a:bodyPr>
            <a:lstStyle/>
            <a:p>
              <a:endParaRPr sz="135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A1DC7A-C674-8FA6-08B2-9665E23A1ED7}"/>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 name="Group 5">
            <a:extLst>
              <a:ext uri="{FF2B5EF4-FFF2-40B4-BE49-F238E27FC236}">
                <a16:creationId xmlns:a16="http://schemas.microsoft.com/office/drawing/2014/main" id="{39CE16E4-F86D-486E-A527-9E49E023FABD}"/>
              </a:ext>
            </a:extLst>
          </p:cNvPr>
          <p:cNvGrpSpPr/>
          <p:nvPr/>
        </p:nvGrpSpPr>
        <p:grpSpPr>
          <a:xfrm>
            <a:off x="0" y="0"/>
            <a:ext cx="9144000" cy="5143500"/>
            <a:chOff x="0" y="0"/>
            <a:chExt cx="9144000" cy="5143500"/>
          </a:xfrm>
        </p:grpSpPr>
        <p:pic>
          <p:nvPicPr>
            <p:cNvPr id="4" name="Picture 3">
              <a:extLst>
                <a:ext uri="{FF2B5EF4-FFF2-40B4-BE49-F238E27FC236}">
                  <a16:creationId xmlns:a16="http://schemas.microsoft.com/office/drawing/2014/main" id="{EC3AF426-1B83-C000-56FB-38D2023505AE}"/>
                </a:ext>
              </a:extLst>
            </p:cNvPr>
            <p:cNvPicPr>
              <a:picLocks noChangeAspect="1"/>
            </p:cNvPicPr>
            <p:nvPr/>
          </p:nvPicPr>
          <p:blipFill rotWithShape="1">
            <a:blip r:embed="rId2"/>
            <a:srcRect t="4074" b="4347"/>
            <a:stretch/>
          </p:blipFill>
          <p:spPr>
            <a:xfrm>
              <a:off x="0" y="0"/>
              <a:ext cx="9144000" cy="5143500"/>
            </a:xfrm>
            <a:prstGeom prst="rect">
              <a:avLst/>
            </a:prstGeom>
          </p:spPr>
        </p:pic>
        <p:sp>
          <p:nvSpPr>
            <p:cNvPr id="5" name="Rectangle 4">
              <a:extLst>
                <a:ext uri="{FF2B5EF4-FFF2-40B4-BE49-F238E27FC236}">
                  <a16:creationId xmlns:a16="http://schemas.microsoft.com/office/drawing/2014/main" id="{62F1905F-928C-A785-B7EB-6C80BF463235}"/>
                </a:ext>
              </a:extLst>
            </p:cNvPr>
            <p:cNvSpPr/>
            <p:nvPr/>
          </p:nvSpPr>
          <p:spPr>
            <a:xfrm>
              <a:off x="8423329" y="4857750"/>
              <a:ext cx="339671" cy="242645"/>
            </a:xfrm>
            <a:prstGeom prst="rect">
              <a:avLst/>
            </a:prstGeom>
            <a:solidFill>
              <a:srgbClr val="D0D0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7" name="Rectangle 6">
            <a:extLst>
              <a:ext uri="{FF2B5EF4-FFF2-40B4-BE49-F238E27FC236}">
                <a16:creationId xmlns:a16="http://schemas.microsoft.com/office/drawing/2014/main" id="{D4A77CB5-F274-1C62-61C9-6BB89AA64B5A}"/>
              </a:ext>
            </a:extLst>
          </p:cNvPr>
          <p:cNvSpPr/>
          <p:nvPr/>
        </p:nvSpPr>
        <p:spPr>
          <a:xfrm>
            <a:off x="5334000" y="3028950"/>
            <a:ext cx="2971800" cy="1752600"/>
          </a:xfrm>
          <a:prstGeom prst="rect">
            <a:avLst/>
          </a:prstGeom>
          <a:solidFill>
            <a:srgbClr val="D0D0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53300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F618DE-9144-5C59-1B92-C243D34F09E4}"/>
              </a:ext>
            </a:extLst>
          </p:cNvPr>
          <p:cNvPicPr>
            <a:picLocks noChangeAspect="1"/>
          </p:cNvPicPr>
          <p:nvPr/>
        </p:nvPicPr>
        <p:blipFill>
          <a:blip r:embed="rId3"/>
          <a:stretch>
            <a:fillRect/>
          </a:stretch>
        </p:blipFill>
        <p:spPr>
          <a:xfrm>
            <a:off x="1133244" y="895350"/>
            <a:ext cx="6877511" cy="4095749"/>
          </a:xfrm>
          <a:prstGeom prst="rect">
            <a:avLst/>
          </a:prstGeom>
        </p:spPr>
      </p:pic>
      <p:sp>
        <p:nvSpPr>
          <p:cNvPr id="4" name="Title 3">
            <a:extLst>
              <a:ext uri="{FF2B5EF4-FFF2-40B4-BE49-F238E27FC236}">
                <a16:creationId xmlns:a16="http://schemas.microsoft.com/office/drawing/2014/main" id="{744528FC-8898-8A11-2819-1C7F9E02789B}"/>
              </a:ext>
            </a:extLst>
          </p:cNvPr>
          <p:cNvSpPr>
            <a:spLocks noGrp="1"/>
          </p:cNvSpPr>
          <p:nvPr>
            <p:ph type="title"/>
          </p:nvPr>
        </p:nvSpPr>
        <p:spPr>
          <a:xfrm>
            <a:off x="114299" y="38101"/>
            <a:ext cx="8915400" cy="857250"/>
          </a:xfrm>
        </p:spPr>
        <p:txBody>
          <a:bodyPr>
            <a:noAutofit/>
          </a:bodyPr>
          <a:lstStyle/>
          <a:p>
            <a:r>
              <a:rPr lang="en-IN" sz="3600"/>
              <a:t>Some fits to the data : which is the best?</a:t>
            </a:r>
          </a:p>
        </p:txBody>
      </p:sp>
      <p:sp>
        <p:nvSpPr>
          <p:cNvPr id="2" name="Rectangle 1">
            <a:extLst>
              <a:ext uri="{FF2B5EF4-FFF2-40B4-BE49-F238E27FC236}">
                <a16:creationId xmlns:a16="http://schemas.microsoft.com/office/drawing/2014/main" id="{A1C84B5F-417C-5C91-3C82-36791B40C0B5}"/>
              </a:ext>
            </a:extLst>
          </p:cNvPr>
          <p:cNvSpPr/>
          <p:nvPr/>
        </p:nvSpPr>
        <p:spPr>
          <a:xfrm>
            <a:off x="4648200" y="3029395"/>
            <a:ext cx="3190645" cy="1924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AAB37791-9AAC-AABE-BCD0-4FF1167CD688}"/>
              </a:ext>
            </a:extLst>
          </p:cNvPr>
          <p:cNvPicPr>
            <a:picLocks noChangeAspect="1"/>
          </p:cNvPicPr>
          <p:nvPr/>
        </p:nvPicPr>
        <p:blipFill>
          <a:blip r:embed="rId4"/>
          <a:stretch>
            <a:fillRect/>
          </a:stretch>
        </p:blipFill>
        <p:spPr>
          <a:xfrm>
            <a:off x="4753197" y="2942117"/>
            <a:ext cx="3330095" cy="1924943"/>
          </a:xfrm>
          <a:prstGeom prst="rect">
            <a:avLst/>
          </a:prstGeom>
          <a:ln w="38100">
            <a:solidFill>
              <a:schemeClr val="accent2"/>
            </a:solidFill>
          </a:ln>
        </p:spPr>
      </p:pic>
    </p:spTree>
    <p:extLst>
      <p:ext uri="{BB962C8B-B14F-4D97-AF65-F5344CB8AC3E}">
        <p14:creationId xmlns:p14="http://schemas.microsoft.com/office/powerpoint/2010/main" val="289962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9B370B-B88E-BDF9-37B4-3441572E784D}"/>
              </a:ext>
            </a:extLst>
          </p:cNvPr>
          <p:cNvSpPr>
            <a:spLocks noGrp="1"/>
          </p:cNvSpPr>
          <p:nvPr>
            <p:ph idx="1"/>
          </p:nvPr>
        </p:nvSpPr>
        <p:spPr/>
        <p:txBody>
          <a:bodyPr/>
          <a:lstStyle/>
          <a:p>
            <a:endParaRPr lang="en-IN"/>
          </a:p>
        </p:txBody>
      </p:sp>
      <p:pic>
        <p:nvPicPr>
          <p:cNvPr id="4" name="Google Shape;445;p55" descr="regression types">
            <a:extLst>
              <a:ext uri="{FF2B5EF4-FFF2-40B4-BE49-F238E27FC236}">
                <a16:creationId xmlns:a16="http://schemas.microsoft.com/office/drawing/2014/main" id="{AAC11636-858F-359F-F3B6-5BD5B532F75A}"/>
              </a:ext>
            </a:extLst>
          </p:cNvPr>
          <p:cNvPicPr preferRelativeResize="0"/>
          <p:nvPr/>
        </p:nvPicPr>
        <p:blipFill rotWithShape="1">
          <a:blip r:embed="rId2">
            <a:alphaModFix/>
          </a:blip>
          <a:srcRect/>
          <a:stretch/>
        </p:blipFill>
        <p:spPr>
          <a:xfrm>
            <a:off x="718351" y="1581150"/>
            <a:ext cx="7707297" cy="2948132"/>
          </a:xfrm>
          <a:prstGeom prst="rect">
            <a:avLst/>
          </a:prstGeom>
          <a:noFill/>
          <a:ln>
            <a:noFill/>
          </a:ln>
        </p:spPr>
      </p:pic>
      <p:sp>
        <p:nvSpPr>
          <p:cNvPr id="6" name="Title 2">
            <a:extLst>
              <a:ext uri="{FF2B5EF4-FFF2-40B4-BE49-F238E27FC236}">
                <a16:creationId xmlns:a16="http://schemas.microsoft.com/office/drawing/2014/main" id="{B3E75806-EA21-E15D-FD6C-DF985D38577B}"/>
              </a:ext>
            </a:extLst>
          </p:cNvPr>
          <p:cNvSpPr>
            <a:spLocks noGrp="1"/>
          </p:cNvSpPr>
          <p:nvPr>
            <p:ph type="title"/>
          </p:nvPr>
        </p:nvSpPr>
        <p:spPr>
          <a:xfrm>
            <a:off x="457200" y="205979"/>
            <a:ext cx="8229600" cy="857250"/>
          </a:xfrm>
        </p:spPr>
        <p:txBody>
          <a:bodyPr/>
          <a:lstStyle/>
          <a:p>
            <a:r>
              <a:rPr lang="en-IN"/>
              <a:t>Types of regression models</a:t>
            </a:r>
          </a:p>
        </p:txBody>
      </p:sp>
    </p:spTree>
    <p:extLst>
      <p:ext uri="{BB962C8B-B14F-4D97-AF65-F5344CB8AC3E}">
        <p14:creationId xmlns:p14="http://schemas.microsoft.com/office/powerpoint/2010/main" val="1240797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175066-4353-B228-9896-11B2E66D7F5E}"/>
              </a:ext>
            </a:extLst>
          </p:cNvPr>
          <p:cNvSpPr>
            <a:spLocks noGrp="1"/>
          </p:cNvSpPr>
          <p:nvPr>
            <p:ph type="title"/>
          </p:nvPr>
        </p:nvSpPr>
        <p:spPr/>
        <p:txBody>
          <a:bodyPr/>
          <a:lstStyle/>
          <a:p>
            <a:r>
              <a:rPr lang="en-IN"/>
              <a:t>Types of regression models</a:t>
            </a:r>
          </a:p>
        </p:txBody>
      </p:sp>
      <p:pic>
        <p:nvPicPr>
          <p:cNvPr id="5" name="Picture 4">
            <a:extLst>
              <a:ext uri="{FF2B5EF4-FFF2-40B4-BE49-F238E27FC236}">
                <a16:creationId xmlns:a16="http://schemas.microsoft.com/office/drawing/2014/main" id="{D05188C1-2A21-FE26-0B2A-91141282646D}"/>
              </a:ext>
            </a:extLst>
          </p:cNvPr>
          <p:cNvPicPr>
            <a:picLocks noChangeAspect="1"/>
          </p:cNvPicPr>
          <p:nvPr/>
        </p:nvPicPr>
        <p:blipFill>
          <a:blip r:embed="rId2"/>
          <a:stretch>
            <a:fillRect/>
          </a:stretch>
        </p:blipFill>
        <p:spPr>
          <a:xfrm>
            <a:off x="0" y="1156546"/>
            <a:ext cx="9144000" cy="3959026"/>
          </a:xfrm>
          <a:prstGeom prst="rect">
            <a:avLst/>
          </a:prstGeom>
        </p:spPr>
      </p:pic>
    </p:spTree>
    <p:extLst>
      <p:ext uri="{BB962C8B-B14F-4D97-AF65-F5344CB8AC3E}">
        <p14:creationId xmlns:p14="http://schemas.microsoft.com/office/powerpoint/2010/main" val="31550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p:cNvGraphicFramePr>
            <a:graphicFrameLocks/>
          </p:cNvGraphicFramePr>
          <p:nvPr>
            <p:extLst>
              <p:ext uri="{D42A27DB-BD31-4B8C-83A1-F6EECF244321}">
                <p14:modId xmlns:p14="http://schemas.microsoft.com/office/powerpoint/2010/main" val="2886120269"/>
              </p:ext>
            </p:extLst>
          </p:nvPr>
        </p:nvGraphicFramePr>
        <p:xfrm>
          <a:off x="3267052" y="133350"/>
          <a:ext cx="531876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a:graphicFrameLocks/>
          </p:cNvGraphicFramePr>
          <p:nvPr>
            <p:extLst>
              <p:ext uri="{D42A27DB-BD31-4B8C-83A1-F6EECF244321}">
                <p14:modId xmlns:p14="http://schemas.microsoft.com/office/powerpoint/2010/main" val="1264464366"/>
              </p:ext>
            </p:extLst>
          </p:nvPr>
        </p:nvGraphicFramePr>
        <p:xfrm>
          <a:off x="3267052" y="133350"/>
          <a:ext cx="531876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453422" y="209550"/>
            <a:ext cx="2351926" cy="523220"/>
          </a:xfrm>
          <a:prstGeom prst="rect">
            <a:avLst/>
          </a:prstGeom>
          <a:noFill/>
        </p:spPr>
        <p:txBody>
          <a:bodyPr wrap="none" rtlCol="0">
            <a:spAutoFit/>
          </a:bodyPr>
          <a:lstStyle/>
          <a:p>
            <a:pPr algn="ctr"/>
            <a:r>
              <a:rPr lang="en-US" sz="2800" b="1"/>
              <a:t>Housing Prices</a:t>
            </a:r>
          </a:p>
        </p:txBody>
      </p:sp>
      <p:sp>
        <p:nvSpPr>
          <p:cNvPr id="9" name="TextBox 8"/>
          <p:cNvSpPr txBox="1"/>
          <p:nvPr/>
        </p:nvSpPr>
        <p:spPr>
          <a:xfrm>
            <a:off x="1828800" y="1371421"/>
            <a:ext cx="1575412" cy="461665"/>
          </a:xfrm>
          <a:prstGeom prst="rect">
            <a:avLst/>
          </a:prstGeom>
          <a:noFill/>
        </p:spPr>
        <p:txBody>
          <a:bodyPr wrap="square" rtlCol="0">
            <a:spAutoFit/>
          </a:bodyPr>
          <a:lstStyle/>
          <a:p>
            <a:pPr algn="ctr"/>
            <a:r>
              <a:rPr lang="en-US" sz="2400"/>
              <a:t>Price</a:t>
            </a:r>
          </a:p>
        </p:txBody>
      </p:sp>
      <p:sp>
        <p:nvSpPr>
          <p:cNvPr id="10" name="TextBox 9"/>
          <p:cNvSpPr txBox="1"/>
          <p:nvPr/>
        </p:nvSpPr>
        <p:spPr>
          <a:xfrm>
            <a:off x="5309212" y="2800350"/>
            <a:ext cx="1519711" cy="461665"/>
          </a:xfrm>
          <a:prstGeom prst="rect">
            <a:avLst/>
          </a:prstGeom>
          <a:noFill/>
        </p:spPr>
        <p:txBody>
          <a:bodyPr wrap="none" rtlCol="0">
            <a:spAutoFit/>
          </a:bodyPr>
          <a:lstStyle/>
          <a:p>
            <a:r>
              <a:rPr lang="en-US" sz="2400"/>
              <a:t>Size (feet</a:t>
            </a:r>
            <a:r>
              <a:rPr lang="en-US" sz="2400" baseline="30000"/>
              <a:t>2</a:t>
            </a:r>
            <a:r>
              <a:rPr lang="en-US" sz="2400"/>
              <a:t>)</a:t>
            </a:r>
          </a:p>
        </p:txBody>
      </p:sp>
      <p:sp>
        <p:nvSpPr>
          <p:cNvPr id="11" name="TextBox 10"/>
          <p:cNvSpPr txBox="1"/>
          <p:nvPr/>
        </p:nvSpPr>
        <p:spPr>
          <a:xfrm>
            <a:off x="304800" y="3270945"/>
            <a:ext cx="4000500" cy="1384995"/>
          </a:xfrm>
          <a:prstGeom prst="rect">
            <a:avLst/>
          </a:prstGeom>
          <a:noFill/>
        </p:spPr>
        <p:txBody>
          <a:bodyPr wrap="square" rtlCol="0">
            <a:spAutoFit/>
          </a:bodyPr>
          <a:lstStyle/>
          <a:p>
            <a:r>
              <a:rPr lang="en-US" sz="2400" u="sng"/>
              <a:t>Supervised Learning</a:t>
            </a:r>
          </a:p>
          <a:p>
            <a:endParaRPr lang="en-US" sz="1000"/>
          </a:p>
          <a:p>
            <a:r>
              <a:rPr lang="en-US" sz="2400"/>
              <a:t>Given the “right answer” for each example in the data.</a:t>
            </a:r>
          </a:p>
        </p:txBody>
      </p:sp>
      <p:sp>
        <p:nvSpPr>
          <p:cNvPr id="12" name="TextBox 11"/>
          <p:cNvSpPr txBox="1"/>
          <p:nvPr/>
        </p:nvSpPr>
        <p:spPr>
          <a:xfrm>
            <a:off x="4267200" y="3270945"/>
            <a:ext cx="4114800" cy="1015663"/>
          </a:xfrm>
          <a:prstGeom prst="rect">
            <a:avLst/>
          </a:prstGeom>
          <a:noFill/>
        </p:spPr>
        <p:txBody>
          <a:bodyPr wrap="square" rtlCol="0">
            <a:spAutoFit/>
          </a:bodyPr>
          <a:lstStyle/>
          <a:p>
            <a:r>
              <a:rPr lang="en-US" sz="2400" u="sng"/>
              <a:t>Regression Problem</a:t>
            </a:r>
          </a:p>
          <a:p>
            <a:endParaRPr lang="en-US" sz="1000"/>
          </a:p>
          <a:p>
            <a:r>
              <a:rPr lang="en-US" sz="2400"/>
              <a:t>Predict real-valued output</a:t>
            </a:r>
          </a:p>
        </p:txBody>
      </p:sp>
      <p:cxnSp>
        <p:nvCxnSpPr>
          <p:cNvPr id="14" name="Straight Connector 13"/>
          <p:cNvCxnSpPr/>
          <p:nvPr/>
        </p:nvCxnSpPr>
        <p:spPr>
          <a:xfrm>
            <a:off x="4114800" y="3347145"/>
            <a:ext cx="0" cy="151060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AF5BADF0-6380-561B-D624-D28F5BD4E13D}"/>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31813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Graphic spid="7" grpId="0">
        <p:bldAsOne/>
      </p:bldGraphic>
      <p:bldP spid="11"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4800600" y="438150"/>
            <a:ext cx="0" cy="41148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ounded Rectangle 4"/>
          <p:cNvSpPr/>
          <p:nvPr/>
        </p:nvSpPr>
        <p:spPr>
          <a:xfrm>
            <a:off x="1048288" y="438150"/>
            <a:ext cx="2533112" cy="609600"/>
          </a:xfrm>
          <a:prstGeom prst="round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Training Set</a:t>
            </a:r>
          </a:p>
        </p:txBody>
      </p:sp>
      <p:sp>
        <p:nvSpPr>
          <p:cNvPr id="6" name="Rounded Rectangle 5"/>
          <p:cNvSpPr/>
          <p:nvPr/>
        </p:nvSpPr>
        <p:spPr>
          <a:xfrm>
            <a:off x="743488" y="1618686"/>
            <a:ext cx="3142712" cy="586556"/>
          </a:xfrm>
          <a:prstGeom prst="round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Learning Algorithm</a:t>
            </a:r>
          </a:p>
        </p:txBody>
      </p:sp>
      <p:sp>
        <p:nvSpPr>
          <p:cNvPr id="7" name="Rounded Rectangle 6"/>
          <p:cNvSpPr/>
          <p:nvPr/>
        </p:nvSpPr>
        <p:spPr>
          <a:xfrm>
            <a:off x="1933844" y="2837886"/>
            <a:ext cx="762000" cy="586556"/>
          </a:xfrm>
          <a:prstGeom prst="round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i="1">
                <a:solidFill>
                  <a:schemeClr val="tx1"/>
                </a:solidFill>
                <a:latin typeface="Courier New" panose="02070309020205020404" pitchFamily="49" charset="0"/>
                <a:cs typeface="Courier New" panose="02070309020205020404" pitchFamily="49" charset="0"/>
              </a:rPr>
              <a:t>h</a:t>
            </a:r>
          </a:p>
        </p:txBody>
      </p:sp>
      <p:sp>
        <p:nvSpPr>
          <p:cNvPr id="8" name="TextBox 7"/>
          <p:cNvSpPr txBox="1"/>
          <p:nvPr/>
        </p:nvSpPr>
        <p:spPr>
          <a:xfrm>
            <a:off x="0" y="2807553"/>
            <a:ext cx="1143000" cy="830997"/>
          </a:xfrm>
          <a:prstGeom prst="rect">
            <a:avLst/>
          </a:prstGeom>
          <a:noFill/>
        </p:spPr>
        <p:txBody>
          <a:bodyPr wrap="square" rtlCol="0">
            <a:spAutoFit/>
          </a:bodyPr>
          <a:lstStyle/>
          <a:p>
            <a:pPr algn="ctr"/>
            <a:r>
              <a:rPr lang="en-US" sz="2400"/>
              <a:t>Size of house</a:t>
            </a:r>
          </a:p>
        </p:txBody>
      </p:sp>
      <p:sp>
        <p:nvSpPr>
          <p:cNvPr id="9" name="TextBox 8"/>
          <p:cNvSpPr txBox="1"/>
          <p:nvPr/>
        </p:nvSpPr>
        <p:spPr>
          <a:xfrm>
            <a:off x="3352800" y="2807553"/>
            <a:ext cx="1447800" cy="830997"/>
          </a:xfrm>
          <a:prstGeom prst="rect">
            <a:avLst/>
          </a:prstGeom>
          <a:noFill/>
        </p:spPr>
        <p:txBody>
          <a:bodyPr wrap="square" rtlCol="0">
            <a:spAutoFit/>
          </a:bodyPr>
          <a:lstStyle/>
          <a:p>
            <a:pPr algn="ctr"/>
            <a:r>
              <a:rPr lang="en-US" sz="2400"/>
              <a:t>Estimated price</a:t>
            </a:r>
          </a:p>
        </p:txBody>
      </p:sp>
      <p:cxnSp>
        <p:nvCxnSpPr>
          <p:cNvPr id="12" name="Straight Arrow Connector 11"/>
          <p:cNvCxnSpPr>
            <a:stCxn id="5" idx="2"/>
            <a:endCxn id="6" idx="0"/>
          </p:cNvCxnSpPr>
          <p:nvPr/>
        </p:nvCxnSpPr>
        <p:spPr>
          <a:xfrm>
            <a:off x="2314844" y="1047750"/>
            <a:ext cx="0" cy="570936"/>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6" idx="2"/>
            <a:endCxn id="7" idx="0"/>
          </p:cNvCxnSpPr>
          <p:nvPr/>
        </p:nvCxnSpPr>
        <p:spPr>
          <a:xfrm>
            <a:off x="2314844" y="2205242"/>
            <a:ext cx="0" cy="632644"/>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7" idx="1"/>
          </p:cNvCxnSpPr>
          <p:nvPr/>
        </p:nvCxnSpPr>
        <p:spPr>
          <a:xfrm>
            <a:off x="1143000" y="3131164"/>
            <a:ext cx="790844" cy="0"/>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7" idx="3"/>
          </p:cNvCxnSpPr>
          <p:nvPr/>
        </p:nvCxnSpPr>
        <p:spPr>
          <a:xfrm>
            <a:off x="2695844" y="3131164"/>
            <a:ext cx="733156" cy="0"/>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5257800" y="438150"/>
            <a:ext cx="3369833" cy="461665"/>
          </a:xfrm>
          <a:prstGeom prst="rect">
            <a:avLst/>
          </a:prstGeom>
          <a:noFill/>
        </p:spPr>
        <p:txBody>
          <a:bodyPr wrap="none" rtlCol="0">
            <a:spAutoFit/>
          </a:bodyPr>
          <a:lstStyle/>
          <a:p>
            <a:r>
              <a:rPr lang="en-US" sz="2400" b="1"/>
              <a:t>How do we represent </a:t>
            </a:r>
            <a:r>
              <a:rPr lang="en-US" sz="2400" b="1" i="1">
                <a:latin typeface="Courier New" panose="02070309020205020404" pitchFamily="49" charset="0"/>
                <a:cs typeface="Courier New" panose="02070309020205020404" pitchFamily="49" charset="0"/>
              </a:rPr>
              <a:t>h</a:t>
            </a:r>
            <a:r>
              <a:rPr lang="en-US" sz="2400" b="1"/>
              <a:t> ?</a:t>
            </a:r>
          </a:p>
        </p:txBody>
      </p:sp>
      <p:sp>
        <p:nvSpPr>
          <p:cNvPr id="37" name="TextBox 36"/>
          <p:cNvSpPr txBox="1"/>
          <p:nvPr/>
        </p:nvSpPr>
        <p:spPr>
          <a:xfrm>
            <a:off x="4946147" y="3867150"/>
            <a:ext cx="3893053" cy="707886"/>
          </a:xfrm>
          <a:prstGeom prst="rect">
            <a:avLst/>
          </a:prstGeom>
          <a:noFill/>
        </p:spPr>
        <p:txBody>
          <a:bodyPr wrap="none" rtlCol="0">
            <a:spAutoFit/>
          </a:bodyPr>
          <a:lstStyle/>
          <a:p>
            <a:r>
              <a:rPr lang="en-US" sz="2000"/>
              <a:t>Linear regression with one variable.</a:t>
            </a:r>
          </a:p>
          <a:p>
            <a:r>
              <a:rPr lang="en-US" sz="2000"/>
              <a:t>Univariate linear regression.</a:t>
            </a:r>
          </a:p>
        </p:txBody>
      </p:sp>
      <p:sp>
        <p:nvSpPr>
          <p:cNvPr id="4" name="Rectangle 3">
            <a:extLst>
              <a:ext uri="{FF2B5EF4-FFF2-40B4-BE49-F238E27FC236}">
                <a16:creationId xmlns:a16="http://schemas.microsoft.com/office/drawing/2014/main" id="{00B147F1-430B-6BE6-AF08-BA67123F36EA}"/>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90A91999-B2B7-EAA2-FD25-711D0F9A47B9}"/>
              </a:ext>
            </a:extLst>
          </p:cNvPr>
          <p:cNvPicPr>
            <a:picLocks noChangeAspect="1"/>
          </p:cNvPicPr>
          <p:nvPr/>
        </p:nvPicPr>
        <p:blipFill>
          <a:blip r:embed="rId2"/>
          <a:stretch>
            <a:fillRect/>
          </a:stretch>
        </p:blipFill>
        <p:spPr>
          <a:xfrm>
            <a:off x="5608113" y="1203576"/>
            <a:ext cx="2392887" cy="2019475"/>
          </a:xfrm>
          <a:prstGeom prst="rect">
            <a:avLst/>
          </a:prstGeom>
        </p:spPr>
      </p:pic>
      <p:pic>
        <p:nvPicPr>
          <p:cNvPr id="2" name="Picture 1">
            <a:extLst>
              <a:ext uri="{FF2B5EF4-FFF2-40B4-BE49-F238E27FC236}">
                <a16:creationId xmlns:a16="http://schemas.microsoft.com/office/drawing/2014/main" id="{84433517-8927-1764-6631-BB9C9EBF7E2A}"/>
              </a:ext>
            </a:extLst>
          </p:cNvPr>
          <p:cNvPicPr>
            <a:picLocks noChangeAspect="1"/>
          </p:cNvPicPr>
          <p:nvPr/>
        </p:nvPicPr>
        <p:blipFill rotWithShape="1">
          <a:blip r:embed="rId3"/>
          <a:srcRect l="19565" t="21179" r="4348"/>
          <a:stretch/>
        </p:blipFill>
        <p:spPr>
          <a:xfrm>
            <a:off x="5253989" y="1685769"/>
            <a:ext cx="3142707" cy="1952966"/>
          </a:xfrm>
          <a:prstGeom prst="rect">
            <a:avLst/>
          </a:prstGeom>
        </p:spPr>
      </p:pic>
    </p:spTree>
    <p:extLst>
      <p:ext uri="{BB962C8B-B14F-4D97-AF65-F5344CB8AC3E}">
        <p14:creationId xmlns:p14="http://schemas.microsoft.com/office/powerpoint/2010/main" val="1492800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36" grpId="0"/>
      <p:bldP spid="3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6A5091-C182-1E53-E0C8-A5B607FAA8A7}"/>
              </a:ext>
            </a:extLst>
          </p:cNvPr>
          <p:cNvSpPr>
            <a:spLocks noGrp="1"/>
          </p:cNvSpPr>
          <p:nvPr>
            <p:ph idx="1"/>
          </p:nvPr>
        </p:nvSpPr>
        <p:spPr/>
        <p:txBody>
          <a:bodyPr/>
          <a:lstStyle/>
          <a:p>
            <a:endParaRPr lang="en-IN"/>
          </a:p>
        </p:txBody>
      </p:sp>
      <p:sp>
        <p:nvSpPr>
          <p:cNvPr id="3" name="Title 2">
            <a:extLst>
              <a:ext uri="{FF2B5EF4-FFF2-40B4-BE49-F238E27FC236}">
                <a16:creationId xmlns:a16="http://schemas.microsoft.com/office/drawing/2014/main" id="{974321E0-6E61-B9CB-E603-FA6C942EEB0B}"/>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B65727EC-0727-B724-F869-CA25EF39E557}"/>
              </a:ext>
            </a:extLst>
          </p:cNvPr>
          <p:cNvPicPr>
            <a:picLocks noChangeAspect="1"/>
          </p:cNvPicPr>
          <p:nvPr/>
        </p:nvPicPr>
        <p:blipFill>
          <a:blip r:embed="rId2"/>
          <a:stretch>
            <a:fillRect/>
          </a:stretch>
        </p:blipFill>
        <p:spPr>
          <a:xfrm>
            <a:off x="38100" y="95250"/>
            <a:ext cx="9067800" cy="4953000"/>
          </a:xfrm>
          <a:prstGeom prst="rect">
            <a:avLst/>
          </a:prstGeom>
        </p:spPr>
      </p:pic>
    </p:spTree>
    <p:extLst>
      <p:ext uri="{BB962C8B-B14F-4D97-AF65-F5344CB8AC3E}">
        <p14:creationId xmlns:p14="http://schemas.microsoft.com/office/powerpoint/2010/main" val="2420757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231FB-5C38-46D8-4C17-F0F4B718D58F}"/>
              </a:ext>
            </a:extLst>
          </p:cNvPr>
          <p:cNvSpPr>
            <a:spLocks noGrp="1"/>
          </p:cNvSpPr>
          <p:nvPr>
            <p:ph type="title"/>
          </p:nvPr>
        </p:nvSpPr>
        <p:spPr/>
        <p:txBody>
          <a:bodyPr/>
          <a:lstStyle/>
          <a:p>
            <a:r>
              <a:rPr lang="en-IN"/>
              <a:t>Assumptions about the error</a:t>
            </a:r>
          </a:p>
        </p:txBody>
      </p:sp>
      <p:sp>
        <p:nvSpPr>
          <p:cNvPr id="3" name="Text Placeholder 2">
            <a:extLst>
              <a:ext uri="{FF2B5EF4-FFF2-40B4-BE49-F238E27FC236}">
                <a16:creationId xmlns:a16="http://schemas.microsoft.com/office/drawing/2014/main" id="{2CAC7EA3-B3E4-C59D-DFD2-1C467B1C8AEF}"/>
              </a:ext>
            </a:extLst>
          </p:cNvPr>
          <p:cNvSpPr>
            <a:spLocks noGrp="1"/>
          </p:cNvSpPr>
          <p:nvPr>
            <p:ph type="body" idx="1"/>
          </p:nvPr>
        </p:nvSpPr>
        <p:spPr/>
        <p:txBody>
          <a:bodyPr/>
          <a:lstStyle/>
          <a:p>
            <a:endParaRPr lang="en-IN"/>
          </a:p>
        </p:txBody>
      </p:sp>
      <p:pic>
        <p:nvPicPr>
          <p:cNvPr id="4" name="Picture 3">
            <a:extLst>
              <a:ext uri="{FF2B5EF4-FFF2-40B4-BE49-F238E27FC236}">
                <a16:creationId xmlns:a16="http://schemas.microsoft.com/office/drawing/2014/main" id="{316CE80E-F5D8-8005-4FA6-759B4C0D8EC7}"/>
              </a:ext>
            </a:extLst>
          </p:cNvPr>
          <p:cNvPicPr>
            <a:picLocks noChangeAspect="1"/>
          </p:cNvPicPr>
          <p:nvPr/>
        </p:nvPicPr>
        <p:blipFill rotWithShape="1">
          <a:blip r:embed="rId2"/>
          <a:srcRect t="23697"/>
          <a:stretch/>
        </p:blipFill>
        <p:spPr>
          <a:xfrm>
            <a:off x="381000" y="1606152"/>
            <a:ext cx="8610601" cy="3263504"/>
          </a:xfrm>
          <a:prstGeom prst="rect">
            <a:avLst/>
          </a:prstGeom>
        </p:spPr>
      </p:pic>
    </p:spTree>
    <p:extLst>
      <p:ext uri="{BB962C8B-B14F-4D97-AF65-F5344CB8AC3E}">
        <p14:creationId xmlns:p14="http://schemas.microsoft.com/office/powerpoint/2010/main" val="404565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542D5-0C4A-FFA3-ECDA-8E7E8F15053E}"/>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ED70CA59-4C6C-F0D5-2C2B-474C03FB5470}"/>
              </a:ext>
            </a:extLst>
          </p:cNvPr>
          <p:cNvSpPr txBox="1"/>
          <p:nvPr/>
        </p:nvSpPr>
        <p:spPr>
          <a:xfrm>
            <a:off x="914400" y="4195921"/>
            <a:ext cx="4138633" cy="584775"/>
          </a:xfrm>
          <a:prstGeom prst="rect">
            <a:avLst/>
          </a:prstGeom>
          <a:noFill/>
        </p:spPr>
        <p:txBody>
          <a:bodyPr wrap="none" rtlCol="0">
            <a:spAutoFit/>
          </a:bodyPr>
          <a:lstStyle/>
          <a:p>
            <a:r>
              <a:rPr lang="en-US" sz="3200"/>
              <a:t>How to choose          ‘s ?</a:t>
            </a:r>
          </a:p>
        </p:txBody>
      </p:sp>
      <p:sp>
        <p:nvSpPr>
          <p:cNvPr id="2" name="TextBox 1">
            <a:extLst>
              <a:ext uri="{FF2B5EF4-FFF2-40B4-BE49-F238E27FC236}">
                <a16:creationId xmlns:a16="http://schemas.microsoft.com/office/drawing/2014/main" id="{A3BC791E-B30E-FB7E-4A0A-66073F78F07A}"/>
              </a:ext>
            </a:extLst>
          </p:cNvPr>
          <p:cNvSpPr txBox="1"/>
          <p:nvPr/>
        </p:nvSpPr>
        <p:spPr>
          <a:xfrm>
            <a:off x="381000" y="249019"/>
            <a:ext cx="2427203" cy="646331"/>
          </a:xfrm>
          <a:prstGeom prst="rect">
            <a:avLst/>
          </a:prstGeom>
          <a:noFill/>
        </p:spPr>
        <p:txBody>
          <a:bodyPr wrap="none" rtlCol="0">
            <a:spAutoFit/>
          </a:bodyPr>
          <a:lstStyle/>
          <a:p>
            <a:pPr algn="ctr"/>
            <a:r>
              <a:rPr lang="en-US" sz="3600"/>
              <a:t>Training Set</a:t>
            </a:r>
          </a:p>
        </p:txBody>
      </p:sp>
      <p:sp>
        <p:nvSpPr>
          <p:cNvPr id="10" name="TextBox 9">
            <a:extLst>
              <a:ext uri="{FF2B5EF4-FFF2-40B4-BE49-F238E27FC236}">
                <a16:creationId xmlns:a16="http://schemas.microsoft.com/office/drawing/2014/main" id="{997BB050-D114-2041-1279-BD228A0C3A11}"/>
              </a:ext>
            </a:extLst>
          </p:cNvPr>
          <p:cNvSpPr txBox="1"/>
          <p:nvPr/>
        </p:nvSpPr>
        <p:spPr>
          <a:xfrm>
            <a:off x="457200" y="2943116"/>
            <a:ext cx="2143536" cy="584775"/>
          </a:xfrm>
          <a:prstGeom prst="rect">
            <a:avLst/>
          </a:prstGeom>
          <a:noFill/>
        </p:spPr>
        <p:txBody>
          <a:bodyPr wrap="none" rtlCol="0">
            <a:spAutoFit/>
          </a:bodyPr>
          <a:lstStyle/>
          <a:p>
            <a:r>
              <a:rPr lang="en-US" sz="3200"/>
              <a:t>Hypothesis:</a:t>
            </a:r>
          </a:p>
        </p:txBody>
      </p:sp>
      <p:sp>
        <p:nvSpPr>
          <p:cNvPr id="11" name="TextBox 10">
            <a:extLst>
              <a:ext uri="{FF2B5EF4-FFF2-40B4-BE49-F238E27FC236}">
                <a16:creationId xmlns:a16="http://schemas.microsoft.com/office/drawing/2014/main" id="{93641885-CF3C-A5CF-ACC0-566383340833}"/>
              </a:ext>
            </a:extLst>
          </p:cNvPr>
          <p:cNvSpPr txBox="1"/>
          <p:nvPr/>
        </p:nvSpPr>
        <p:spPr>
          <a:xfrm>
            <a:off x="1430446" y="3581387"/>
            <a:ext cx="2629053" cy="584775"/>
          </a:xfrm>
          <a:prstGeom prst="rect">
            <a:avLst/>
          </a:prstGeom>
          <a:noFill/>
        </p:spPr>
        <p:txBody>
          <a:bodyPr wrap="none" rtlCol="0">
            <a:spAutoFit/>
          </a:bodyPr>
          <a:lstStyle/>
          <a:p>
            <a:r>
              <a:rPr lang="en-US" sz="3200"/>
              <a:t>‘s:  Parameters</a:t>
            </a:r>
          </a:p>
        </p:txBody>
      </p:sp>
      <p:graphicFrame>
        <p:nvGraphicFramePr>
          <p:cNvPr id="14" name="Table 13">
            <a:extLst>
              <a:ext uri="{FF2B5EF4-FFF2-40B4-BE49-F238E27FC236}">
                <a16:creationId xmlns:a16="http://schemas.microsoft.com/office/drawing/2014/main" id="{B66A990F-1A19-3DC5-B30C-941F61239F76}"/>
              </a:ext>
            </a:extLst>
          </p:cNvPr>
          <p:cNvGraphicFramePr>
            <a:graphicFrameLocks noGrp="1"/>
          </p:cNvGraphicFramePr>
          <p:nvPr/>
        </p:nvGraphicFramePr>
        <p:xfrm>
          <a:off x="3276600" y="209550"/>
          <a:ext cx="5334000" cy="2324100"/>
        </p:xfrm>
        <a:graphic>
          <a:graphicData uri="http://schemas.openxmlformats.org/drawingml/2006/table">
            <a:tbl>
              <a:tblPr>
                <a:tableStyleId>{2D5ABB26-0587-4C30-8999-92F81FD0307C}</a:tableStyleId>
              </a:tblPr>
              <a:tblGrid>
                <a:gridCol w="2391103">
                  <a:extLst>
                    <a:ext uri="{9D8B030D-6E8A-4147-A177-3AD203B41FA5}">
                      <a16:colId xmlns:a16="http://schemas.microsoft.com/office/drawing/2014/main" val="20000"/>
                    </a:ext>
                  </a:extLst>
                </a:gridCol>
                <a:gridCol w="2942897">
                  <a:extLst>
                    <a:ext uri="{9D8B030D-6E8A-4147-A177-3AD203B41FA5}">
                      <a16:colId xmlns:a16="http://schemas.microsoft.com/office/drawing/2014/main" val="20001"/>
                    </a:ext>
                  </a:extLst>
                </a:gridCol>
              </a:tblGrid>
              <a:tr h="457200">
                <a:tc>
                  <a:txBody>
                    <a:bodyPr/>
                    <a:lstStyle/>
                    <a:p>
                      <a:pPr algn="ctr" fontAlgn="b"/>
                      <a:r>
                        <a:rPr lang="en-US" sz="2400" b="1" u="none" strike="noStrike">
                          <a:effectLst/>
                        </a:rPr>
                        <a:t>Size in</a:t>
                      </a:r>
                      <a:r>
                        <a:rPr lang="en-US" sz="2400" b="1" u="none" strike="noStrike" baseline="0">
                          <a:effectLst/>
                        </a:rPr>
                        <a:t> </a:t>
                      </a:r>
                      <a:r>
                        <a:rPr lang="en-US" sz="2400" b="1" u="none" strike="noStrike">
                          <a:effectLst/>
                        </a:rPr>
                        <a:t>feet</a:t>
                      </a:r>
                      <a:r>
                        <a:rPr lang="en-US" sz="2400" b="1" u="none" strike="noStrike" baseline="30000">
                          <a:effectLst/>
                        </a:rPr>
                        <a:t>2</a:t>
                      </a:r>
                      <a:r>
                        <a:rPr lang="en-US" sz="2400" b="1" u="none" strike="noStrike">
                          <a:effectLst/>
                        </a:rPr>
                        <a:t> (</a:t>
                      </a:r>
                      <a:r>
                        <a:rPr lang="en-US" sz="2400" b="0" u="none" strike="noStrike">
                          <a:effectLst/>
                          <a:latin typeface="Courier New" panose="02070309020205020404" pitchFamily="49" charset="0"/>
                          <a:cs typeface="Courier New" panose="02070309020205020404" pitchFamily="49" charset="0"/>
                        </a:rPr>
                        <a:t>x</a:t>
                      </a:r>
                      <a:r>
                        <a:rPr lang="en-US" sz="2400" b="1" u="none" strike="noStrike">
                          <a:effectLst/>
                        </a:rPr>
                        <a:t>)</a:t>
                      </a:r>
                      <a:endParaRPr lang="en-US" sz="2400" b="1" i="0" u="none" strike="noStrike">
                        <a:solidFill>
                          <a:srgbClr val="000000"/>
                        </a:solidFill>
                        <a:effectLst/>
                        <a:latin typeface="Calibri"/>
                      </a:endParaRPr>
                    </a:p>
                  </a:txBody>
                  <a:tcPr marL="7620" marR="7620" marT="762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US" sz="2400" b="1" u="none" strike="noStrike">
                          <a:effectLst/>
                        </a:rPr>
                        <a:t>Price ($) in 1000's (</a:t>
                      </a:r>
                      <a:r>
                        <a:rPr lang="en-US" sz="2400" b="0" u="none" strike="noStrike">
                          <a:effectLst/>
                          <a:latin typeface="Courier New" panose="02070309020205020404" pitchFamily="49" charset="0"/>
                          <a:cs typeface="Courier New" panose="02070309020205020404" pitchFamily="49" charset="0"/>
                        </a:rPr>
                        <a:t>y</a:t>
                      </a:r>
                      <a:r>
                        <a:rPr lang="en-US" sz="2400" b="1" u="none" strike="noStrike">
                          <a:effectLst/>
                        </a:rPr>
                        <a:t>)</a:t>
                      </a:r>
                      <a:endParaRPr lang="en-US" sz="2400" b="1" i="0" u="none" strike="noStrike">
                        <a:solidFill>
                          <a:srgbClr val="000000"/>
                        </a:solidFill>
                        <a:effectLst/>
                        <a:latin typeface="Calibri"/>
                      </a:endParaRPr>
                    </a:p>
                  </a:txBody>
                  <a:tcPr marL="7620" marR="7620" marT="762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91362">
                <a:tc>
                  <a:txBody>
                    <a:bodyPr/>
                    <a:lstStyle/>
                    <a:p>
                      <a:pPr algn="ctr" fontAlgn="b"/>
                      <a:r>
                        <a:rPr lang="en-US" sz="2400" u="none" strike="noStrike">
                          <a:effectLst/>
                        </a:rPr>
                        <a:t>2104</a:t>
                      </a:r>
                      <a:endParaRPr lang="en-US" sz="2400" b="0" i="0" u="none" strike="noStrike">
                        <a:solidFill>
                          <a:srgbClr val="000000"/>
                        </a:solidFill>
                        <a:effectLst/>
                        <a:latin typeface="Calibri"/>
                      </a:endParaRPr>
                    </a:p>
                  </a:txBody>
                  <a:tcPr marL="7620" marR="7620" marT="7620"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US" sz="2400" b="0" i="0" u="none" strike="noStrike">
                          <a:solidFill>
                            <a:schemeClr val="tx1"/>
                          </a:solidFill>
                          <a:effectLst/>
                          <a:latin typeface="+mn-lt"/>
                        </a:rPr>
                        <a:t>460</a:t>
                      </a:r>
                      <a:endParaRPr lang="en-US" sz="2400" b="0" i="0" u="none" strike="noStrike">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291362">
                <a:tc>
                  <a:txBody>
                    <a:bodyPr/>
                    <a:lstStyle/>
                    <a:p>
                      <a:pPr algn="ctr" fontAlgn="b"/>
                      <a:r>
                        <a:rPr lang="en-US" sz="2400" u="none" strike="noStrike">
                          <a:effectLst/>
                        </a:rPr>
                        <a:t>1416</a:t>
                      </a:r>
                      <a:endParaRPr lang="en-US" sz="2400" b="0" i="0" u="none" strike="noStrike">
                        <a:solidFill>
                          <a:srgbClr val="000000"/>
                        </a:solidFill>
                        <a:effectLst/>
                        <a:latin typeface="Calibri"/>
                      </a:endParaRPr>
                    </a:p>
                  </a:txBody>
                  <a:tcPr marL="7620" marR="7620" marT="7620" marB="0" anchor="b">
                    <a:lnR w="12700" cap="flat" cmpd="sng" algn="ctr">
                      <a:solidFill>
                        <a:schemeClr val="tx1"/>
                      </a:solidFill>
                      <a:prstDash val="solid"/>
                      <a:round/>
                      <a:headEnd type="none" w="med" len="med"/>
                      <a:tailEnd type="none" w="med" len="med"/>
                    </a:lnR>
                  </a:tcPr>
                </a:tc>
                <a:tc>
                  <a:txBody>
                    <a:bodyPr/>
                    <a:lstStyle/>
                    <a:p>
                      <a:pPr algn="ctr" fontAlgn="b"/>
                      <a:r>
                        <a:rPr lang="en-US" sz="2400" u="none" strike="noStrike">
                          <a:effectLst/>
                        </a:rPr>
                        <a:t>232</a:t>
                      </a:r>
                      <a:endParaRPr lang="en-US" sz="2400" b="0" i="0" u="none" strike="noStrike">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291362">
                <a:tc>
                  <a:txBody>
                    <a:bodyPr/>
                    <a:lstStyle/>
                    <a:p>
                      <a:pPr algn="ctr" fontAlgn="b"/>
                      <a:r>
                        <a:rPr lang="en-US" sz="2400" u="none" strike="noStrike">
                          <a:effectLst/>
                        </a:rPr>
                        <a:t>1534</a:t>
                      </a:r>
                      <a:endParaRPr lang="en-US" sz="2400" b="0" i="0" u="none" strike="noStrike">
                        <a:solidFill>
                          <a:srgbClr val="000000"/>
                        </a:solidFill>
                        <a:effectLst/>
                        <a:latin typeface="Calibri"/>
                      </a:endParaRPr>
                    </a:p>
                  </a:txBody>
                  <a:tcPr marL="7620" marR="7620" marT="7620" marB="0" anchor="b">
                    <a:lnR w="12700" cap="flat" cmpd="sng" algn="ctr">
                      <a:solidFill>
                        <a:schemeClr val="tx1"/>
                      </a:solidFill>
                      <a:prstDash val="solid"/>
                      <a:round/>
                      <a:headEnd type="none" w="med" len="med"/>
                      <a:tailEnd type="none" w="med" len="med"/>
                    </a:lnR>
                  </a:tcPr>
                </a:tc>
                <a:tc>
                  <a:txBody>
                    <a:bodyPr/>
                    <a:lstStyle/>
                    <a:p>
                      <a:pPr algn="ctr" fontAlgn="b"/>
                      <a:r>
                        <a:rPr lang="en-US" sz="2400" u="none" strike="noStrike">
                          <a:effectLst/>
                        </a:rPr>
                        <a:t>315</a:t>
                      </a:r>
                      <a:endParaRPr lang="en-US" sz="2400" b="0" i="0" u="none" strike="noStrike">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291362">
                <a:tc>
                  <a:txBody>
                    <a:bodyPr/>
                    <a:lstStyle/>
                    <a:p>
                      <a:pPr algn="ctr" fontAlgn="b"/>
                      <a:r>
                        <a:rPr lang="en-US" sz="2400" u="none" strike="noStrike">
                          <a:effectLst/>
                        </a:rPr>
                        <a:t>852</a:t>
                      </a:r>
                      <a:endParaRPr lang="en-US" sz="2400" b="0" i="0" u="none" strike="noStrike">
                        <a:solidFill>
                          <a:srgbClr val="000000"/>
                        </a:solidFill>
                        <a:effectLst/>
                        <a:latin typeface="Calibri"/>
                      </a:endParaRPr>
                    </a:p>
                  </a:txBody>
                  <a:tcPr marL="7620" marR="7620" marT="7620" marB="0" anchor="b">
                    <a:lnR w="12700" cap="flat" cmpd="sng" algn="ctr">
                      <a:solidFill>
                        <a:schemeClr val="tx1"/>
                      </a:solidFill>
                      <a:prstDash val="solid"/>
                      <a:round/>
                      <a:headEnd type="none" w="med" len="med"/>
                      <a:tailEnd type="none" w="med" len="med"/>
                    </a:lnR>
                  </a:tcPr>
                </a:tc>
                <a:tc>
                  <a:txBody>
                    <a:bodyPr/>
                    <a:lstStyle/>
                    <a:p>
                      <a:pPr algn="ctr" fontAlgn="b"/>
                      <a:r>
                        <a:rPr lang="en-US" sz="2400" u="none" strike="noStrike">
                          <a:effectLst/>
                        </a:rPr>
                        <a:t>178</a:t>
                      </a:r>
                      <a:endParaRPr lang="en-US" sz="2400" b="0" i="0" u="none" strike="noStrike">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291362">
                <a:tc>
                  <a:txBody>
                    <a:bodyPr/>
                    <a:lstStyle/>
                    <a:p>
                      <a:pPr algn="ctr" fontAlgn="b"/>
                      <a:r>
                        <a:rPr lang="en-US" sz="2400" u="none" strike="noStrike">
                          <a:effectLst/>
                        </a:rPr>
                        <a:t>…</a:t>
                      </a:r>
                      <a:endParaRPr lang="en-US" sz="2400" b="0" i="0" u="none" strike="noStrike">
                        <a:solidFill>
                          <a:srgbClr val="000000"/>
                        </a:solidFill>
                        <a:effectLst/>
                        <a:latin typeface="Calibri"/>
                      </a:endParaRPr>
                    </a:p>
                  </a:txBody>
                  <a:tcPr marL="7620" marR="7620" marT="7620" marB="0" anchor="b">
                    <a:lnR w="12700" cap="flat" cmpd="sng" algn="ctr">
                      <a:solidFill>
                        <a:schemeClr val="tx1"/>
                      </a:solidFill>
                      <a:prstDash val="solid"/>
                      <a:round/>
                      <a:headEnd type="none" w="med" len="med"/>
                      <a:tailEnd type="none" w="med" len="med"/>
                    </a:lnR>
                  </a:tcPr>
                </a:tc>
                <a:tc>
                  <a:txBody>
                    <a:bodyPr/>
                    <a:lstStyle/>
                    <a:p>
                      <a:pPr algn="ctr" fontAlgn="b"/>
                      <a:r>
                        <a:rPr lang="en-US" sz="2400" u="none" strike="noStrike">
                          <a:effectLst/>
                        </a:rPr>
                        <a:t>…</a:t>
                      </a:r>
                      <a:endParaRPr lang="en-US" sz="2400" b="0" i="0" u="none" strike="noStrike">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FBA7E459-85FA-0825-ACD8-E5A686CC5767}"/>
              </a:ext>
            </a:extLst>
          </p:cNvPr>
          <p:cNvSpPr txBox="1"/>
          <p:nvPr/>
        </p:nvSpPr>
        <p:spPr>
          <a:xfrm>
            <a:off x="2687646" y="3028950"/>
            <a:ext cx="2798753" cy="523220"/>
          </a:xfrm>
          <a:prstGeom prst="rect">
            <a:avLst/>
          </a:prstGeom>
          <a:noFill/>
        </p:spPr>
        <p:txBody>
          <a:bodyPr wrap="square" rtlCol="0">
            <a:spAutoFit/>
          </a:bodyPr>
          <a:lstStyle/>
          <a:p>
            <a:r>
              <a:rPr lang="en-IN" sz="2800" err="1">
                <a:latin typeface="Courier New" panose="02070309020205020404" pitchFamily="49" charset="0"/>
                <a:cs typeface="Courier New" panose="02070309020205020404" pitchFamily="49" charset="0"/>
              </a:rPr>
              <a:t>h</a:t>
            </a:r>
            <a:r>
              <a:rPr lang="en-IN" sz="2800" baseline="-25000" err="1">
                <a:latin typeface="Courier New" panose="02070309020205020404" pitchFamily="49" charset="0"/>
                <a:cs typeface="Courier New" panose="02070309020205020404" pitchFamily="49" charset="0"/>
              </a:rPr>
              <a:t>b</a:t>
            </a:r>
            <a:r>
              <a:rPr lang="en-IN" sz="2800" baseline="-25000" err="1">
                <a:cs typeface="Courier New" panose="02070309020205020404" pitchFamily="49" charset="0"/>
              </a:rPr>
              <a:t>,</a:t>
            </a:r>
            <a:r>
              <a:rPr lang="en-IN" sz="2800" baseline="-25000" err="1">
                <a:latin typeface="Courier New" panose="02070309020205020404" pitchFamily="49" charset="0"/>
                <a:cs typeface="Courier New" panose="02070309020205020404" pitchFamily="49" charset="0"/>
              </a:rPr>
              <a:t>w</a:t>
            </a:r>
            <a:r>
              <a:rPr lang="en-IN" sz="2800">
                <a:latin typeface="Courier New" panose="02070309020205020404" pitchFamily="49" charset="0"/>
                <a:cs typeface="Courier New" panose="02070309020205020404" pitchFamily="49" charset="0"/>
              </a:rPr>
              <a:t>(x)= </a:t>
            </a:r>
            <a:r>
              <a:rPr lang="en-IN" sz="2800" err="1">
                <a:latin typeface="Courier New" panose="02070309020205020404" pitchFamily="49" charset="0"/>
                <a:cs typeface="Courier New" panose="02070309020205020404" pitchFamily="49" charset="0"/>
              </a:rPr>
              <a:t>b+wx</a:t>
            </a:r>
            <a:endParaRPr lang="en-IN" sz="2800">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723902E3-A752-C69B-E600-406D2EBEC046}"/>
              </a:ext>
            </a:extLst>
          </p:cNvPr>
          <p:cNvSpPr txBox="1"/>
          <p:nvPr/>
        </p:nvSpPr>
        <p:spPr>
          <a:xfrm>
            <a:off x="841348" y="3620535"/>
            <a:ext cx="784250" cy="523220"/>
          </a:xfrm>
          <a:prstGeom prst="rect">
            <a:avLst/>
          </a:prstGeom>
          <a:noFill/>
        </p:spPr>
        <p:txBody>
          <a:bodyPr wrap="square" rtlCol="0">
            <a:spAutoFit/>
          </a:bodyPr>
          <a:lstStyle/>
          <a:p>
            <a:r>
              <a:rPr lang="en-IN" sz="2800" err="1">
                <a:latin typeface="Courier New" panose="02070309020205020404" pitchFamily="49" charset="0"/>
                <a:cs typeface="Courier New" panose="02070309020205020404" pitchFamily="49" charset="0"/>
              </a:rPr>
              <a:t>b</a:t>
            </a:r>
            <a:r>
              <a:rPr lang="en-IN" sz="2800" err="1"/>
              <a:t>,</a:t>
            </a:r>
            <a:r>
              <a:rPr lang="en-IN" sz="2800" err="1">
                <a:latin typeface="Courier New" panose="02070309020205020404" pitchFamily="49" charset="0"/>
                <a:cs typeface="Courier New" panose="02070309020205020404" pitchFamily="49" charset="0"/>
              </a:rPr>
              <a:t>w</a:t>
            </a:r>
            <a:endParaRPr lang="en-IN" sz="280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B1274322-6283-28F2-AD56-4FFC6795145E}"/>
              </a:ext>
            </a:extLst>
          </p:cNvPr>
          <p:cNvSpPr txBox="1"/>
          <p:nvPr/>
        </p:nvSpPr>
        <p:spPr>
          <a:xfrm>
            <a:off x="3681020" y="4227692"/>
            <a:ext cx="890980" cy="523220"/>
          </a:xfrm>
          <a:prstGeom prst="rect">
            <a:avLst/>
          </a:prstGeom>
          <a:noFill/>
        </p:spPr>
        <p:txBody>
          <a:bodyPr wrap="square" rtlCol="0">
            <a:spAutoFit/>
          </a:bodyPr>
          <a:lstStyle/>
          <a:p>
            <a:r>
              <a:rPr lang="en-IN" sz="2800" err="1">
                <a:latin typeface="Courier New" panose="02070309020205020404" pitchFamily="49" charset="0"/>
                <a:cs typeface="Courier New" panose="02070309020205020404" pitchFamily="49" charset="0"/>
              </a:rPr>
              <a:t>b</a:t>
            </a:r>
            <a:r>
              <a:rPr lang="en-IN" sz="2800" err="1"/>
              <a:t>,</a:t>
            </a:r>
            <a:r>
              <a:rPr lang="en-IN" sz="2800" err="1">
                <a:latin typeface="Courier New" panose="02070309020205020404" pitchFamily="49" charset="0"/>
                <a:cs typeface="Courier New" panose="02070309020205020404" pitchFamily="49" charset="0"/>
              </a:rPr>
              <a:t>w</a:t>
            </a:r>
            <a:endParaRPr lang="en-IN" sz="2800">
              <a:latin typeface="Courier New" panose="02070309020205020404" pitchFamily="49" charset="0"/>
              <a:cs typeface="Courier New" panose="02070309020205020404" pitchFamily="49" charset="0"/>
            </a:endParaRPr>
          </a:p>
        </p:txBody>
      </p:sp>
      <p:sp>
        <p:nvSpPr>
          <p:cNvPr id="3" name="Rectangle 2">
            <a:extLst>
              <a:ext uri="{FF2B5EF4-FFF2-40B4-BE49-F238E27FC236}">
                <a16:creationId xmlns:a16="http://schemas.microsoft.com/office/drawing/2014/main" id="{C1932EFF-61F5-39D3-6965-E8FADF11093D}"/>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73730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1" grpId="0"/>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7C18A-8E78-3591-A765-25D6DCE6AC39}"/>
            </a:ext>
          </a:extLst>
        </p:cNvPr>
        <p:cNvGrpSpPr/>
        <p:nvPr/>
      </p:nvGrpSpPr>
      <p:grpSpPr>
        <a:xfrm>
          <a:off x="0" y="0"/>
          <a:ext cx="0" cy="0"/>
          <a:chOff x="0" y="0"/>
          <a:chExt cx="0" cy="0"/>
        </a:xfrm>
      </p:grpSpPr>
      <p:graphicFrame>
        <p:nvGraphicFramePr>
          <p:cNvPr id="7" name="Chart 6">
            <a:extLst>
              <a:ext uri="{FF2B5EF4-FFF2-40B4-BE49-F238E27FC236}">
                <a16:creationId xmlns:a16="http://schemas.microsoft.com/office/drawing/2014/main" id="{FF3C8E6D-E0E3-C517-CABB-E7183B288CC9}"/>
              </a:ext>
            </a:extLst>
          </p:cNvPr>
          <p:cNvGraphicFramePr>
            <a:graphicFrameLocks/>
          </p:cNvGraphicFramePr>
          <p:nvPr/>
        </p:nvGraphicFramePr>
        <p:xfrm>
          <a:off x="215306" y="1056513"/>
          <a:ext cx="2832694" cy="24003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F33910AC-CB37-1BCF-CA36-223C40553544}"/>
              </a:ext>
            </a:extLst>
          </p:cNvPr>
          <p:cNvGraphicFramePr>
            <a:graphicFrameLocks/>
          </p:cNvGraphicFramePr>
          <p:nvPr/>
        </p:nvGraphicFramePr>
        <p:xfrm>
          <a:off x="3242055" y="1056513"/>
          <a:ext cx="2832694" cy="24003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5F5DD0AF-643F-E89E-8593-5FEAA6521DFB}"/>
              </a:ext>
            </a:extLst>
          </p:cNvPr>
          <p:cNvGraphicFramePr>
            <a:graphicFrameLocks/>
          </p:cNvGraphicFramePr>
          <p:nvPr/>
        </p:nvGraphicFramePr>
        <p:xfrm>
          <a:off x="6268804" y="1056513"/>
          <a:ext cx="2832694" cy="2400300"/>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Box 2">
            <a:extLst>
              <a:ext uri="{FF2B5EF4-FFF2-40B4-BE49-F238E27FC236}">
                <a16:creationId xmlns:a16="http://schemas.microsoft.com/office/drawing/2014/main" id="{22A403FB-15D5-7453-4B6B-E9A57A373296}"/>
              </a:ext>
            </a:extLst>
          </p:cNvPr>
          <p:cNvSpPr txBox="1"/>
          <p:nvPr/>
        </p:nvSpPr>
        <p:spPr>
          <a:xfrm>
            <a:off x="533400" y="209550"/>
            <a:ext cx="2944749" cy="523220"/>
          </a:xfrm>
          <a:prstGeom prst="rect">
            <a:avLst/>
          </a:prstGeom>
          <a:noFill/>
        </p:spPr>
        <p:txBody>
          <a:bodyPr wrap="square" rtlCol="0">
            <a:spAutoFit/>
          </a:bodyPr>
          <a:lstStyle/>
          <a:p>
            <a:r>
              <a:rPr lang="en-IN" sz="2800" err="1">
                <a:latin typeface="Courier New" panose="02070309020205020404" pitchFamily="49" charset="0"/>
                <a:cs typeface="Courier New" panose="02070309020205020404" pitchFamily="49" charset="0"/>
              </a:rPr>
              <a:t>h</a:t>
            </a:r>
            <a:r>
              <a:rPr lang="en-IN" sz="2800" baseline="-25000" err="1">
                <a:latin typeface="Courier New" panose="02070309020205020404" pitchFamily="49" charset="0"/>
                <a:cs typeface="Courier New" panose="02070309020205020404" pitchFamily="49" charset="0"/>
              </a:rPr>
              <a:t>b</a:t>
            </a:r>
            <a:r>
              <a:rPr lang="en-IN" sz="2800" baseline="-25000" err="1">
                <a:cs typeface="Courier New" panose="02070309020205020404" pitchFamily="49" charset="0"/>
              </a:rPr>
              <a:t>,</a:t>
            </a:r>
            <a:r>
              <a:rPr lang="en-IN" sz="2800" baseline="-25000" err="1">
                <a:latin typeface="Courier New" panose="02070309020205020404" pitchFamily="49" charset="0"/>
                <a:cs typeface="Courier New" panose="02070309020205020404" pitchFamily="49" charset="0"/>
              </a:rPr>
              <a:t>w</a:t>
            </a:r>
            <a:r>
              <a:rPr lang="en-IN" sz="2800">
                <a:latin typeface="Courier New" panose="02070309020205020404" pitchFamily="49" charset="0"/>
                <a:cs typeface="Courier New" panose="02070309020205020404" pitchFamily="49" charset="0"/>
              </a:rPr>
              <a:t>(x)= </a:t>
            </a:r>
            <a:r>
              <a:rPr lang="en-IN" sz="2800" err="1">
                <a:latin typeface="Courier New" panose="02070309020205020404" pitchFamily="49" charset="0"/>
                <a:cs typeface="Courier New" panose="02070309020205020404" pitchFamily="49" charset="0"/>
              </a:rPr>
              <a:t>b+wx</a:t>
            </a:r>
            <a:endParaRPr lang="en-IN" sz="2800">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96CC4926-67C0-4AC6-39BD-DA1A0B18B2E5}"/>
              </a:ext>
            </a:extLst>
          </p:cNvPr>
          <p:cNvSpPr txBox="1"/>
          <p:nvPr/>
        </p:nvSpPr>
        <p:spPr>
          <a:xfrm>
            <a:off x="990600" y="3486150"/>
            <a:ext cx="1378247" cy="830997"/>
          </a:xfrm>
          <a:prstGeom prst="rect">
            <a:avLst/>
          </a:prstGeom>
          <a:noFill/>
        </p:spPr>
        <p:txBody>
          <a:bodyPr wrap="square" rtlCol="0">
            <a:spAutoFit/>
          </a:bodyPr>
          <a:lstStyle/>
          <a:p>
            <a:r>
              <a:rPr lang="en-IN" sz="2400"/>
              <a:t> </a:t>
            </a:r>
            <a:r>
              <a:rPr lang="en-IN" sz="2400">
                <a:latin typeface="Courier New" panose="02070309020205020404" pitchFamily="49" charset="0"/>
                <a:cs typeface="Courier New" panose="02070309020205020404" pitchFamily="49" charset="0"/>
              </a:rPr>
              <a:t>b</a:t>
            </a:r>
            <a:r>
              <a:rPr lang="en-IN" sz="2400"/>
              <a:t> = 1.5</a:t>
            </a:r>
          </a:p>
          <a:p>
            <a:r>
              <a:rPr lang="en-IN" sz="2400"/>
              <a:t> </a:t>
            </a:r>
            <a:r>
              <a:rPr lang="en-IN" sz="2400">
                <a:latin typeface="Courier New" panose="02070309020205020404" pitchFamily="49" charset="0"/>
                <a:cs typeface="Courier New" panose="02070309020205020404" pitchFamily="49" charset="0"/>
              </a:rPr>
              <a:t>w</a:t>
            </a:r>
            <a:r>
              <a:rPr lang="en-IN" sz="2400"/>
              <a:t> = 0</a:t>
            </a:r>
          </a:p>
        </p:txBody>
      </p:sp>
      <p:sp>
        <p:nvSpPr>
          <p:cNvPr id="5" name="TextBox 4">
            <a:extLst>
              <a:ext uri="{FF2B5EF4-FFF2-40B4-BE49-F238E27FC236}">
                <a16:creationId xmlns:a16="http://schemas.microsoft.com/office/drawing/2014/main" id="{46194034-EEBE-7558-2E22-2937D12BC4F3}"/>
              </a:ext>
            </a:extLst>
          </p:cNvPr>
          <p:cNvSpPr txBox="1"/>
          <p:nvPr/>
        </p:nvSpPr>
        <p:spPr>
          <a:xfrm>
            <a:off x="4267200" y="3486150"/>
            <a:ext cx="1378247" cy="830997"/>
          </a:xfrm>
          <a:prstGeom prst="rect">
            <a:avLst/>
          </a:prstGeom>
          <a:noFill/>
        </p:spPr>
        <p:txBody>
          <a:bodyPr wrap="square" rtlCol="0">
            <a:spAutoFit/>
          </a:bodyPr>
          <a:lstStyle/>
          <a:p>
            <a:r>
              <a:rPr lang="en-IN" sz="2400"/>
              <a:t> </a:t>
            </a:r>
            <a:r>
              <a:rPr lang="en-IN" sz="2400">
                <a:latin typeface="Courier New" panose="02070309020205020404" pitchFamily="49" charset="0"/>
                <a:cs typeface="Courier New" panose="02070309020205020404" pitchFamily="49" charset="0"/>
              </a:rPr>
              <a:t>b</a:t>
            </a:r>
            <a:r>
              <a:rPr lang="en-IN" sz="2400"/>
              <a:t> = 0</a:t>
            </a:r>
          </a:p>
          <a:p>
            <a:r>
              <a:rPr lang="en-IN" sz="2400"/>
              <a:t> </a:t>
            </a:r>
            <a:r>
              <a:rPr lang="en-IN" sz="2400">
                <a:latin typeface="Courier New" panose="02070309020205020404" pitchFamily="49" charset="0"/>
                <a:cs typeface="Courier New" panose="02070309020205020404" pitchFamily="49" charset="0"/>
              </a:rPr>
              <a:t>w</a:t>
            </a:r>
            <a:r>
              <a:rPr lang="en-IN" sz="2400"/>
              <a:t> = 0.5</a:t>
            </a:r>
          </a:p>
        </p:txBody>
      </p:sp>
      <p:sp>
        <p:nvSpPr>
          <p:cNvPr id="6" name="TextBox 5">
            <a:extLst>
              <a:ext uri="{FF2B5EF4-FFF2-40B4-BE49-F238E27FC236}">
                <a16:creationId xmlns:a16="http://schemas.microsoft.com/office/drawing/2014/main" id="{248A35C7-F76F-E05D-B902-A38F207FC92F}"/>
              </a:ext>
            </a:extLst>
          </p:cNvPr>
          <p:cNvSpPr txBox="1"/>
          <p:nvPr/>
        </p:nvSpPr>
        <p:spPr>
          <a:xfrm>
            <a:off x="7162800" y="3486149"/>
            <a:ext cx="1378247" cy="830997"/>
          </a:xfrm>
          <a:prstGeom prst="rect">
            <a:avLst/>
          </a:prstGeom>
          <a:noFill/>
        </p:spPr>
        <p:txBody>
          <a:bodyPr wrap="square" rtlCol="0">
            <a:spAutoFit/>
          </a:bodyPr>
          <a:lstStyle/>
          <a:p>
            <a:r>
              <a:rPr lang="en-IN" sz="2400"/>
              <a:t> </a:t>
            </a:r>
            <a:r>
              <a:rPr lang="en-IN" sz="2400">
                <a:latin typeface="Courier New" panose="02070309020205020404" pitchFamily="49" charset="0"/>
                <a:cs typeface="Courier New" panose="02070309020205020404" pitchFamily="49" charset="0"/>
              </a:rPr>
              <a:t>b</a:t>
            </a:r>
            <a:r>
              <a:rPr lang="en-IN" sz="2400"/>
              <a:t> = 1</a:t>
            </a:r>
          </a:p>
          <a:p>
            <a:r>
              <a:rPr lang="en-IN" sz="2400"/>
              <a:t> </a:t>
            </a:r>
            <a:r>
              <a:rPr lang="en-IN" sz="2400">
                <a:latin typeface="Courier New" panose="02070309020205020404" pitchFamily="49" charset="0"/>
                <a:cs typeface="Courier New" panose="02070309020205020404" pitchFamily="49" charset="0"/>
              </a:rPr>
              <a:t>w</a:t>
            </a:r>
            <a:r>
              <a:rPr lang="en-IN" sz="2400"/>
              <a:t> = 0.5</a:t>
            </a:r>
          </a:p>
        </p:txBody>
      </p:sp>
      <p:sp>
        <p:nvSpPr>
          <p:cNvPr id="8" name="Rectangle 7">
            <a:extLst>
              <a:ext uri="{FF2B5EF4-FFF2-40B4-BE49-F238E27FC236}">
                <a16:creationId xmlns:a16="http://schemas.microsoft.com/office/drawing/2014/main" id="{1F892722-829E-5503-9671-9BAED061B575}"/>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170972EB-47EE-3A14-D75A-C5481A17B384}"/>
              </a:ext>
            </a:extLst>
          </p:cNvPr>
          <p:cNvPicPr>
            <a:picLocks noChangeAspect="1"/>
          </p:cNvPicPr>
          <p:nvPr/>
        </p:nvPicPr>
        <p:blipFill rotWithShape="1">
          <a:blip r:embed="rId5"/>
          <a:srcRect b="28906"/>
          <a:stretch/>
        </p:blipFill>
        <p:spPr>
          <a:xfrm>
            <a:off x="153160" y="971550"/>
            <a:ext cx="2908894" cy="2485263"/>
          </a:xfrm>
          <a:prstGeom prst="rect">
            <a:avLst/>
          </a:prstGeom>
        </p:spPr>
      </p:pic>
      <p:pic>
        <p:nvPicPr>
          <p:cNvPr id="13" name="Picture 12">
            <a:extLst>
              <a:ext uri="{FF2B5EF4-FFF2-40B4-BE49-F238E27FC236}">
                <a16:creationId xmlns:a16="http://schemas.microsoft.com/office/drawing/2014/main" id="{892E81B7-1DE8-239D-47CF-2B344CF7DFD1}"/>
              </a:ext>
            </a:extLst>
          </p:cNvPr>
          <p:cNvPicPr>
            <a:picLocks noChangeAspect="1"/>
          </p:cNvPicPr>
          <p:nvPr/>
        </p:nvPicPr>
        <p:blipFill>
          <a:blip r:embed="rId6"/>
          <a:stretch>
            <a:fillRect/>
          </a:stretch>
        </p:blipFill>
        <p:spPr>
          <a:xfrm>
            <a:off x="3276600" y="762107"/>
            <a:ext cx="2908894" cy="2694706"/>
          </a:xfrm>
          <a:prstGeom prst="rect">
            <a:avLst/>
          </a:prstGeom>
        </p:spPr>
      </p:pic>
      <p:pic>
        <p:nvPicPr>
          <p:cNvPr id="15" name="Picture 14">
            <a:extLst>
              <a:ext uri="{FF2B5EF4-FFF2-40B4-BE49-F238E27FC236}">
                <a16:creationId xmlns:a16="http://schemas.microsoft.com/office/drawing/2014/main" id="{BE0B4DFB-6A36-3B0F-411A-1B9235A38CE2}"/>
              </a:ext>
            </a:extLst>
          </p:cNvPr>
          <p:cNvPicPr>
            <a:picLocks noChangeAspect="1"/>
          </p:cNvPicPr>
          <p:nvPr/>
        </p:nvPicPr>
        <p:blipFill>
          <a:blip r:embed="rId7"/>
          <a:stretch>
            <a:fillRect/>
          </a:stretch>
        </p:blipFill>
        <p:spPr>
          <a:xfrm>
            <a:off x="6292183" y="971551"/>
            <a:ext cx="2698657" cy="2400300"/>
          </a:xfrm>
          <a:prstGeom prst="rect">
            <a:avLst/>
          </a:prstGeom>
        </p:spPr>
      </p:pic>
      <p:sp>
        <p:nvSpPr>
          <p:cNvPr id="16" name="Rectangle 15">
            <a:extLst>
              <a:ext uri="{FF2B5EF4-FFF2-40B4-BE49-F238E27FC236}">
                <a16:creationId xmlns:a16="http://schemas.microsoft.com/office/drawing/2014/main" id="{6ABC4A35-E01E-062D-48CA-040DAFBB112A}"/>
              </a:ext>
            </a:extLst>
          </p:cNvPr>
          <p:cNvSpPr/>
          <p:nvPr/>
        </p:nvSpPr>
        <p:spPr>
          <a:xfrm>
            <a:off x="990600" y="3486149"/>
            <a:ext cx="1295400" cy="8603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E121F716-83EF-AD89-8DC1-13D5B88A3C78}"/>
              </a:ext>
            </a:extLst>
          </p:cNvPr>
          <p:cNvSpPr/>
          <p:nvPr/>
        </p:nvSpPr>
        <p:spPr>
          <a:xfrm>
            <a:off x="4284049" y="3456811"/>
            <a:ext cx="1295400" cy="8603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14A5D0BC-E528-C670-0AA7-8CFDDE0100C3}"/>
              </a:ext>
            </a:extLst>
          </p:cNvPr>
          <p:cNvSpPr/>
          <p:nvPr/>
        </p:nvSpPr>
        <p:spPr>
          <a:xfrm>
            <a:off x="7103069" y="3371851"/>
            <a:ext cx="1295400" cy="8603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81A4617B-DB48-5C09-22A7-AF957A92F740}"/>
              </a:ext>
            </a:extLst>
          </p:cNvPr>
          <p:cNvSpPr/>
          <p:nvPr/>
        </p:nvSpPr>
        <p:spPr>
          <a:xfrm>
            <a:off x="1143000" y="1428750"/>
            <a:ext cx="175260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E7B57613-7550-AF3F-6DC3-1ABABE29C377}"/>
              </a:ext>
            </a:extLst>
          </p:cNvPr>
          <p:cNvSpPr/>
          <p:nvPr/>
        </p:nvSpPr>
        <p:spPr>
          <a:xfrm>
            <a:off x="3908227" y="1352550"/>
            <a:ext cx="175260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0FE2648B-8D9F-B70B-892B-A00E143FEC2B}"/>
              </a:ext>
            </a:extLst>
          </p:cNvPr>
          <p:cNvSpPr/>
          <p:nvPr/>
        </p:nvSpPr>
        <p:spPr>
          <a:xfrm>
            <a:off x="7162800" y="2256663"/>
            <a:ext cx="175260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09737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2" grpId="0" animBg="1"/>
      <p:bldP spid="12" grpId="0" animBg="1"/>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48719-58DD-8662-49A5-C221BDEE22EB}"/>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610B236-EB0E-4285-11AA-A27365F6064C}"/>
              </a:ext>
            </a:extLst>
          </p:cNvPr>
          <p:cNvCxnSpPr/>
          <p:nvPr/>
        </p:nvCxnSpPr>
        <p:spPr>
          <a:xfrm flipV="1">
            <a:off x="858666" y="433685"/>
            <a:ext cx="0" cy="2133601"/>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021361F-6FD9-3FAC-0586-497ED811832A}"/>
              </a:ext>
            </a:extLst>
          </p:cNvPr>
          <p:cNvCxnSpPr/>
          <p:nvPr/>
        </p:nvCxnSpPr>
        <p:spPr>
          <a:xfrm>
            <a:off x="630066" y="2338685"/>
            <a:ext cx="2971800"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C0C8CA0-7A4A-7A0D-488B-49EE38ABE12B}"/>
              </a:ext>
            </a:extLst>
          </p:cNvPr>
          <p:cNvSpPr txBox="1"/>
          <p:nvPr/>
        </p:nvSpPr>
        <p:spPr>
          <a:xfrm>
            <a:off x="534538" y="1119485"/>
            <a:ext cx="324128" cy="461665"/>
          </a:xfrm>
          <a:prstGeom prst="rect">
            <a:avLst/>
          </a:prstGeom>
          <a:noFill/>
        </p:spPr>
        <p:txBody>
          <a:bodyPr wrap="none" rtlCol="0">
            <a:spAutoFit/>
          </a:bodyPr>
          <a:lstStyle/>
          <a:p>
            <a:r>
              <a:rPr lang="en-US" sz="2400"/>
              <a:t>y</a:t>
            </a:r>
          </a:p>
        </p:txBody>
      </p:sp>
      <p:sp>
        <p:nvSpPr>
          <p:cNvPr id="9" name="TextBox 8">
            <a:extLst>
              <a:ext uri="{FF2B5EF4-FFF2-40B4-BE49-F238E27FC236}">
                <a16:creationId xmlns:a16="http://schemas.microsoft.com/office/drawing/2014/main" id="{4EC0EDE5-65A4-1CB5-7B66-0D79BA89D502}"/>
              </a:ext>
            </a:extLst>
          </p:cNvPr>
          <p:cNvSpPr txBox="1"/>
          <p:nvPr/>
        </p:nvSpPr>
        <p:spPr>
          <a:xfrm>
            <a:off x="2001666" y="2262485"/>
            <a:ext cx="317716" cy="461665"/>
          </a:xfrm>
          <a:prstGeom prst="rect">
            <a:avLst/>
          </a:prstGeom>
          <a:noFill/>
        </p:spPr>
        <p:txBody>
          <a:bodyPr wrap="none" rtlCol="0">
            <a:spAutoFit/>
          </a:bodyPr>
          <a:lstStyle/>
          <a:p>
            <a:r>
              <a:rPr lang="en-US" sz="2400"/>
              <a:t>x</a:t>
            </a:r>
          </a:p>
        </p:txBody>
      </p:sp>
      <p:grpSp>
        <p:nvGrpSpPr>
          <p:cNvPr id="43" name="Group 42">
            <a:extLst>
              <a:ext uri="{FF2B5EF4-FFF2-40B4-BE49-F238E27FC236}">
                <a16:creationId xmlns:a16="http://schemas.microsoft.com/office/drawing/2014/main" id="{39C2D568-5C3B-C101-4984-237884BD2D27}"/>
              </a:ext>
            </a:extLst>
          </p:cNvPr>
          <p:cNvGrpSpPr/>
          <p:nvPr/>
        </p:nvGrpSpPr>
        <p:grpSpPr>
          <a:xfrm>
            <a:off x="1011066" y="984142"/>
            <a:ext cx="1811743" cy="1108886"/>
            <a:chOff x="1981200" y="760007"/>
            <a:chExt cx="1811743" cy="1108886"/>
          </a:xfrm>
        </p:grpSpPr>
        <p:grpSp>
          <p:nvGrpSpPr>
            <p:cNvPr id="25" name="Group 24">
              <a:extLst>
                <a:ext uri="{FF2B5EF4-FFF2-40B4-BE49-F238E27FC236}">
                  <a16:creationId xmlns:a16="http://schemas.microsoft.com/office/drawing/2014/main" id="{29F9A046-CCF3-9E00-FF14-05F504016B05}"/>
                </a:ext>
              </a:extLst>
            </p:cNvPr>
            <p:cNvGrpSpPr/>
            <p:nvPr/>
          </p:nvGrpSpPr>
          <p:grpSpPr>
            <a:xfrm flipV="1">
              <a:off x="1981200" y="1733550"/>
              <a:ext cx="135343" cy="135343"/>
              <a:chOff x="5370863" y="1729085"/>
              <a:chExt cx="914400" cy="914400"/>
            </a:xfrm>
          </p:grpSpPr>
          <p:cxnSp>
            <p:nvCxnSpPr>
              <p:cNvPr id="26" name="Straight Connector 25">
                <a:extLst>
                  <a:ext uri="{FF2B5EF4-FFF2-40B4-BE49-F238E27FC236}">
                    <a16:creationId xmlns:a16="http://schemas.microsoft.com/office/drawing/2014/main" id="{0204BA55-86F7-3486-5010-699AD514504C}"/>
                  </a:ext>
                </a:extLst>
              </p:cNvPr>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6BC35D1-0750-7362-F170-F123FB69EAAE}"/>
                  </a:ext>
                </a:extLst>
              </p:cNvPr>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A62EB84F-2FDD-A028-0E0C-12F2F91996C1}"/>
                </a:ext>
              </a:extLst>
            </p:cNvPr>
            <p:cNvGrpSpPr/>
            <p:nvPr/>
          </p:nvGrpSpPr>
          <p:grpSpPr>
            <a:xfrm flipV="1">
              <a:off x="2438400" y="1675773"/>
              <a:ext cx="135343" cy="135343"/>
              <a:chOff x="5370863" y="1729085"/>
              <a:chExt cx="914400" cy="914400"/>
            </a:xfrm>
          </p:grpSpPr>
          <p:cxnSp>
            <p:nvCxnSpPr>
              <p:cNvPr id="29" name="Straight Connector 28">
                <a:extLst>
                  <a:ext uri="{FF2B5EF4-FFF2-40B4-BE49-F238E27FC236}">
                    <a16:creationId xmlns:a16="http://schemas.microsoft.com/office/drawing/2014/main" id="{638C34F7-9FA7-F14B-EEB1-D6238F87B3A5}"/>
                  </a:ext>
                </a:extLst>
              </p:cNvPr>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A250D83-8B85-D33E-307A-1D55D8DC72B4}"/>
                  </a:ext>
                </a:extLst>
              </p:cNvPr>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4B23BF48-CB2A-FC70-54D8-839520F1D017}"/>
                </a:ext>
              </a:extLst>
            </p:cNvPr>
            <p:cNvGrpSpPr/>
            <p:nvPr/>
          </p:nvGrpSpPr>
          <p:grpSpPr>
            <a:xfrm flipV="1">
              <a:off x="2535773" y="1358615"/>
              <a:ext cx="135343" cy="135343"/>
              <a:chOff x="5370863" y="1729085"/>
              <a:chExt cx="914400" cy="914400"/>
            </a:xfrm>
          </p:grpSpPr>
          <p:cxnSp>
            <p:nvCxnSpPr>
              <p:cNvPr id="32" name="Straight Connector 31">
                <a:extLst>
                  <a:ext uri="{FF2B5EF4-FFF2-40B4-BE49-F238E27FC236}">
                    <a16:creationId xmlns:a16="http://schemas.microsoft.com/office/drawing/2014/main" id="{4F3E8F17-2CE4-5EE1-24BE-04CCFE10BCAF}"/>
                  </a:ext>
                </a:extLst>
              </p:cNvPr>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8585B8D-5B71-5C73-7F4A-DE6415317041}"/>
                  </a:ext>
                </a:extLst>
              </p:cNvPr>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E4AB958F-A52C-5B43-C5F7-2E829B996398}"/>
                </a:ext>
              </a:extLst>
            </p:cNvPr>
            <p:cNvGrpSpPr/>
            <p:nvPr/>
          </p:nvGrpSpPr>
          <p:grpSpPr>
            <a:xfrm flipV="1">
              <a:off x="3062986" y="1276350"/>
              <a:ext cx="135343" cy="135343"/>
              <a:chOff x="5370863" y="1729085"/>
              <a:chExt cx="914400" cy="914400"/>
            </a:xfrm>
          </p:grpSpPr>
          <p:cxnSp>
            <p:nvCxnSpPr>
              <p:cNvPr id="35" name="Straight Connector 34">
                <a:extLst>
                  <a:ext uri="{FF2B5EF4-FFF2-40B4-BE49-F238E27FC236}">
                    <a16:creationId xmlns:a16="http://schemas.microsoft.com/office/drawing/2014/main" id="{901FAA24-7741-0220-0BE9-9EC69F4E44D7}"/>
                  </a:ext>
                </a:extLst>
              </p:cNvPr>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7AD19B3-35BA-EAAC-B050-BFBB9E9DBBC1}"/>
                  </a:ext>
                </a:extLst>
              </p:cNvPr>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7" name="Group 36">
              <a:extLst>
                <a:ext uri="{FF2B5EF4-FFF2-40B4-BE49-F238E27FC236}">
                  <a16:creationId xmlns:a16="http://schemas.microsoft.com/office/drawing/2014/main" id="{BFD23E76-4966-7E47-CD20-188EB0A4465F}"/>
                </a:ext>
              </a:extLst>
            </p:cNvPr>
            <p:cNvGrpSpPr/>
            <p:nvPr/>
          </p:nvGrpSpPr>
          <p:grpSpPr>
            <a:xfrm flipV="1">
              <a:off x="3429000" y="1058510"/>
              <a:ext cx="135343" cy="135343"/>
              <a:chOff x="5370863" y="1729085"/>
              <a:chExt cx="914400" cy="914400"/>
            </a:xfrm>
          </p:grpSpPr>
          <p:cxnSp>
            <p:nvCxnSpPr>
              <p:cNvPr id="38" name="Straight Connector 37">
                <a:extLst>
                  <a:ext uri="{FF2B5EF4-FFF2-40B4-BE49-F238E27FC236}">
                    <a16:creationId xmlns:a16="http://schemas.microsoft.com/office/drawing/2014/main" id="{F29C729F-946D-9DB5-FCF6-C7B8F5046FEF}"/>
                  </a:ext>
                </a:extLst>
              </p:cNvPr>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147DCD6-14BB-F501-782A-04C52DEE3D94}"/>
                  </a:ext>
                </a:extLst>
              </p:cNvPr>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E4D69A94-766B-E33B-42BE-865B5ABDBD36}"/>
                </a:ext>
              </a:extLst>
            </p:cNvPr>
            <p:cNvGrpSpPr/>
            <p:nvPr/>
          </p:nvGrpSpPr>
          <p:grpSpPr>
            <a:xfrm flipV="1">
              <a:off x="3657600" y="760007"/>
              <a:ext cx="135343" cy="135343"/>
              <a:chOff x="5370863" y="1729085"/>
              <a:chExt cx="914400" cy="914400"/>
            </a:xfrm>
          </p:grpSpPr>
          <p:cxnSp>
            <p:nvCxnSpPr>
              <p:cNvPr id="41" name="Straight Connector 40">
                <a:extLst>
                  <a:ext uri="{FF2B5EF4-FFF2-40B4-BE49-F238E27FC236}">
                    <a16:creationId xmlns:a16="http://schemas.microsoft.com/office/drawing/2014/main" id="{2D054954-2D6A-F6CF-803C-AA42D2D80A62}"/>
                  </a:ext>
                </a:extLst>
              </p:cNvPr>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9BCFD03-3BC6-FD9F-C797-D6E9A6D91D82}"/>
                  </a:ext>
                </a:extLst>
              </p:cNvPr>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sp>
        <p:nvSpPr>
          <p:cNvPr id="44" name="TextBox 43">
            <a:extLst>
              <a:ext uri="{FF2B5EF4-FFF2-40B4-BE49-F238E27FC236}">
                <a16:creationId xmlns:a16="http://schemas.microsoft.com/office/drawing/2014/main" id="{A50748BC-49A4-EECD-C206-CEB160748076}"/>
              </a:ext>
            </a:extLst>
          </p:cNvPr>
          <p:cNvSpPr txBox="1"/>
          <p:nvPr/>
        </p:nvSpPr>
        <p:spPr>
          <a:xfrm>
            <a:off x="848333" y="2813268"/>
            <a:ext cx="5323865" cy="1384995"/>
          </a:xfrm>
          <a:prstGeom prst="rect">
            <a:avLst/>
          </a:prstGeom>
          <a:noFill/>
        </p:spPr>
        <p:txBody>
          <a:bodyPr wrap="square" rtlCol="0">
            <a:spAutoFit/>
          </a:bodyPr>
          <a:lstStyle/>
          <a:p>
            <a:r>
              <a:rPr lang="en-US" sz="2800"/>
              <a:t>Choose  </a:t>
            </a:r>
            <a:r>
              <a:rPr lang="en-US" sz="2800">
                <a:latin typeface="Courier New" panose="02070309020205020404" pitchFamily="49" charset="0"/>
                <a:cs typeface="Courier New" panose="02070309020205020404" pitchFamily="49" charset="0"/>
              </a:rPr>
              <a:t>b</a:t>
            </a:r>
            <a:r>
              <a:rPr lang="en-US" sz="2800">
                <a:latin typeface="+mj-lt"/>
                <a:cs typeface="Courier New" panose="02070309020205020404" pitchFamily="49" charset="0"/>
              </a:rPr>
              <a:t>, </a:t>
            </a:r>
            <a:r>
              <a:rPr lang="en-US" sz="2800">
                <a:latin typeface="Courier New" panose="02070309020205020404" pitchFamily="49" charset="0"/>
                <a:cs typeface="Courier New" panose="02070309020205020404" pitchFamily="49" charset="0"/>
              </a:rPr>
              <a:t>w</a:t>
            </a:r>
            <a:r>
              <a:rPr lang="en-US" sz="2800"/>
              <a:t>  so that </a:t>
            </a:r>
            <a:r>
              <a:rPr lang="en-US" sz="2800" err="1">
                <a:latin typeface="Courier New" panose="02070309020205020404" pitchFamily="49" charset="0"/>
                <a:cs typeface="Courier New" panose="02070309020205020404" pitchFamily="49" charset="0"/>
              </a:rPr>
              <a:t>h</a:t>
            </a:r>
            <a:r>
              <a:rPr lang="en-US" sz="2800" baseline="-25000" err="1">
                <a:latin typeface="Courier New" panose="02070309020205020404" pitchFamily="49" charset="0"/>
                <a:cs typeface="Courier New" panose="02070309020205020404" pitchFamily="49" charset="0"/>
              </a:rPr>
              <a:t>b</a:t>
            </a:r>
            <a:r>
              <a:rPr lang="en-US" sz="2800" baseline="-25000" err="1">
                <a:cs typeface="Courier New" panose="02070309020205020404" pitchFamily="49" charset="0"/>
              </a:rPr>
              <a:t>,</a:t>
            </a:r>
            <a:r>
              <a:rPr lang="en-US" sz="2800" baseline="-25000" err="1">
                <a:latin typeface="Courier New" panose="02070309020205020404" pitchFamily="49" charset="0"/>
                <a:cs typeface="Courier New" panose="02070309020205020404" pitchFamily="49" charset="0"/>
              </a:rPr>
              <a:t>w</a:t>
            </a:r>
            <a:r>
              <a:rPr lang="en-US" sz="2800">
                <a:latin typeface="Courier New" panose="02070309020205020404" pitchFamily="49" charset="0"/>
                <a:cs typeface="Courier New" panose="02070309020205020404" pitchFamily="49" charset="0"/>
              </a:rPr>
              <a:t>(x)</a:t>
            </a:r>
            <a:r>
              <a:rPr lang="en-US" sz="2800"/>
              <a:t> is close to </a:t>
            </a:r>
            <a:r>
              <a:rPr lang="en-US" sz="2800">
                <a:latin typeface="Courier New" panose="02070309020205020404" pitchFamily="49" charset="0"/>
                <a:cs typeface="Courier New" panose="02070309020205020404" pitchFamily="49" charset="0"/>
              </a:rPr>
              <a:t>y</a:t>
            </a:r>
            <a:r>
              <a:rPr lang="en-US" sz="2800"/>
              <a:t> for training examples </a:t>
            </a:r>
            <a:r>
              <a:rPr lang="en-US" sz="2800">
                <a:latin typeface="Courier New" panose="02070309020205020404" pitchFamily="49" charset="0"/>
                <a:cs typeface="Courier New" panose="02070309020205020404" pitchFamily="49" charset="0"/>
              </a:rPr>
              <a:t>(</a:t>
            </a:r>
            <a:r>
              <a:rPr lang="en-US" sz="2800" err="1">
                <a:latin typeface="Courier New" panose="02070309020205020404" pitchFamily="49" charset="0"/>
                <a:cs typeface="Courier New" panose="02070309020205020404" pitchFamily="49" charset="0"/>
              </a:rPr>
              <a:t>x</a:t>
            </a:r>
            <a:r>
              <a:rPr lang="en-US" sz="2800" err="1">
                <a:cs typeface="Courier New" panose="02070309020205020404" pitchFamily="49" charset="0"/>
              </a:rPr>
              <a:t>,</a:t>
            </a:r>
            <a:r>
              <a:rPr lang="en-US" sz="2800" err="1">
                <a:latin typeface="Courier New" panose="02070309020205020404" pitchFamily="49" charset="0"/>
                <a:cs typeface="Courier New" panose="02070309020205020404" pitchFamily="49" charset="0"/>
              </a:rPr>
              <a:t>y</a:t>
            </a:r>
            <a:r>
              <a:rPr lang="en-US" sz="2800">
                <a:latin typeface="Courier New" panose="02070309020205020404" pitchFamily="49" charset="0"/>
                <a:cs typeface="Courier New" panose="02070309020205020404" pitchFamily="49" charset="0"/>
              </a:rPr>
              <a:t>)</a:t>
            </a:r>
          </a:p>
        </p:txBody>
      </p:sp>
      <p:sp>
        <p:nvSpPr>
          <p:cNvPr id="7" name="Rectangle 6">
            <a:extLst>
              <a:ext uri="{FF2B5EF4-FFF2-40B4-BE49-F238E27FC236}">
                <a16:creationId xmlns:a16="http://schemas.microsoft.com/office/drawing/2014/main" id="{568926C1-F3F5-92F1-959C-A8BA86CB3E41}"/>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D6F5DEA6-1A43-78DC-32D7-32F770DACC61}"/>
              </a:ext>
            </a:extLst>
          </p:cNvPr>
          <p:cNvPicPr>
            <a:picLocks noChangeAspect="1"/>
          </p:cNvPicPr>
          <p:nvPr/>
        </p:nvPicPr>
        <p:blipFill>
          <a:blip r:embed="rId2"/>
          <a:stretch>
            <a:fillRect/>
          </a:stretch>
        </p:blipFill>
        <p:spPr>
          <a:xfrm>
            <a:off x="381000" y="209550"/>
            <a:ext cx="3524037" cy="2666999"/>
          </a:xfrm>
          <a:prstGeom prst="rect">
            <a:avLst/>
          </a:prstGeom>
        </p:spPr>
      </p:pic>
    </p:spTree>
    <p:extLst>
      <p:ext uri="{BB962C8B-B14F-4D97-AF65-F5344CB8AC3E}">
        <p14:creationId xmlns:p14="http://schemas.microsoft.com/office/powerpoint/2010/main" val="2389961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69DCB-C70B-E1CC-CFD6-BDE68468544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B9DF191B-5FBD-24C3-2806-366A8A248289}"/>
              </a:ext>
            </a:extLst>
          </p:cNvPr>
          <p:cNvSpPr>
            <a:spLocks noGrp="1"/>
          </p:cNvSpPr>
          <p:nvPr>
            <p:ph type="body" idx="1"/>
          </p:nvPr>
        </p:nvSpPr>
        <p:spPr/>
        <p:txBody>
          <a:bodyPr/>
          <a:lstStyle/>
          <a:p>
            <a:endParaRPr lang="en-IN"/>
          </a:p>
        </p:txBody>
      </p:sp>
      <p:pic>
        <p:nvPicPr>
          <p:cNvPr id="4" name="Picture 3">
            <a:extLst>
              <a:ext uri="{FF2B5EF4-FFF2-40B4-BE49-F238E27FC236}">
                <a16:creationId xmlns:a16="http://schemas.microsoft.com/office/drawing/2014/main" id="{12A350EF-DB75-CEF3-817C-380EE840D6AB}"/>
              </a:ext>
            </a:extLst>
          </p:cNvPr>
          <p:cNvPicPr>
            <a:picLocks noChangeAspect="1"/>
          </p:cNvPicPr>
          <p:nvPr/>
        </p:nvPicPr>
        <p:blipFill>
          <a:blip r:embed="rId2"/>
          <a:stretch>
            <a:fillRect/>
          </a:stretch>
        </p:blipFill>
        <p:spPr>
          <a:xfrm>
            <a:off x="125149" y="245269"/>
            <a:ext cx="8893701" cy="4519985"/>
          </a:xfrm>
          <a:prstGeom prst="rect">
            <a:avLst/>
          </a:prstGeom>
        </p:spPr>
      </p:pic>
      <p:sp>
        <p:nvSpPr>
          <p:cNvPr id="5" name="Rectangle 4">
            <a:extLst>
              <a:ext uri="{FF2B5EF4-FFF2-40B4-BE49-F238E27FC236}">
                <a16:creationId xmlns:a16="http://schemas.microsoft.com/office/drawing/2014/main" id="{3DB85C57-6C5D-8130-8B84-1EAE262FE906}"/>
              </a:ext>
            </a:extLst>
          </p:cNvPr>
          <p:cNvSpPr/>
          <p:nvPr/>
        </p:nvSpPr>
        <p:spPr>
          <a:xfrm>
            <a:off x="7239000" y="4248150"/>
            <a:ext cx="1905000" cy="545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918532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8DC3FC8-5CF8-8664-6ECD-29A4B688F248}"/>
              </a:ext>
            </a:extLst>
          </p:cNvPr>
          <p:cNvPicPr>
            <a:picLocks noChangeAspect="1"/>
          </p:cNvPicPr>
          <p:nvPr/>
        </p:nvPicPr>
        <p:blipFill rotWithShape="1">
          <a:blip r:embed="rId2"/>
          <a:srcRect b="3380"/>
          <a:stretch/>
        </p:blipFill>
        <p:spPr>
          <a:xfrm>
            <a:off x="414302" y="209550"/>
            <a:ext cx="8315395" cy="4724400"/>
          </a:xfrm>
          <a:prstGeom prst="rect">
            <a:avLst/>
          </a:prstGeom>
        </p:spPr>
      </p:pic>
    </p:spTree>
    <p:extLst>
      <p:ext uri="{BB962C8B-B14F-4D97-AF65-F5344CB8AC3E}">
        <p14:creationId xmlns:p14="http://schemas.microsoft.com/office/powerpoint/2010/main" val="2826102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E04D5-6D76-A939-2D48-778AE031287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39C3668-E066-0194-D7EF-84F43FADE809}"/>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9E069521-5D19-449C-C2CF-C4D881A31DB9}"/>
              </a:ext>
            </a:extLst>
          </p:cNvPr>
          <p:cNvPicPr>
            <a:picLocks noChangeAspect="1"/>
          </p:cNvPicPr>
          <p:nvPr/>
        </p:nvPicPr>
        <p:blipFill>
          <a:blip r:embed="rId2"/>
          <a:stretch>
            <a:fillRect/>
          </a:stretch>
        </p:blipFill>
        <p:spPr>
          <a:xfrm>
            <a:off x="258418" y="381885"/>
            <a:ext cx="8637105" cy="4627437"/>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E36050D5-F510-4AC3-B1DE-EC0CFF09EC0D}"/>
                  </a:ext>
                </a:extLst>
              </p:cNvPr>
              <p:cNvSpPr txBox="1"/>
              <p:nvPr/>
            </p:nvSpPr>
            <p:spPr>
              <a:xfrm>
                <a:off x="5791200" y="1428750"/>
                <a:ext cx="2624136" cy="676467"/>
              </a:xfrm>
              <a:prstGeom prst="rect">
                <a:avLst/>
              </a:prstGeom>
              <a:solidFill>
                <a:schemeClr val="accent1">
                  <a:lumMod val="60000"/>
                  <a:lumOff val="4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b="1" i="1" smtClean="0">
                              <a:solidFill>
                                <a:srgbClr val="836967"/>
                              </a:solidFill>
                              <a:latin typeface="Cambria Math" panose="02040503050406030204" pitchFamily="18" charset="0"/>
                            </a:rPr>
                          </m:ctrlPr>
                        </m:sSubPr>
                        <m:e>
                          <m:r>
                            <a:rPr lang="en-IN" b="1" i="1">
                              <a:latin typeface="Cambria Math" panose="02040503050406030204" pitchFamily="18" charset="0"/>
                            </a:rPr>
                            <m:t>𝒃</m:t>
                          </m:r>
                        </m:e>
                        <m:sub>
                          <m:r>
                            <a:rPr lang="en-IN" b="0" i="0">
                              <a:latin typeface="Cambria Math" panose="02040503050406030204" pitchFamily="18" charset="0"/>
                            </a:rPr>
                            <m:t>1</m:t>
                          </m:r>
                        </m:sub>
                      </m:sSub>
                      <m:r>
                        <a:rPr lang="en-IN" b="0" i="0">
                          <a:latin typeface="Cambria Math" panose="02040503050406030204" pitchFamily="18" charset="0"/>
                        </a:rPr>
                        <m:t>=</m:t>
                      </m:r>
                      <m:f>
                        <m:fPr>
                          <m:ctrlPr>
                            <a:rPr lang="en-IN" b="0" i="1">
                              <a:solidFill>
                                <a:srgbClr val="836967"/>
                              </a:solidFill>
                              <a:latin typeface="Cambria Math" panose="02040503050406030204" pitchFamily="18" charset="0"/>
                            </a:rPr>
                          </m:ctrlPr>
                        </m:fPr>
                        <m:num>
                          <m:nary>
                            <m:naryPr>
                              <m:chr m:val="∑"/>
                              <m:subHide m:val="on"/>
                              <m:supHide m:val="on"/>
                              <m:ctrlPr>
                                <a:rPr lang="en-IN" b="0" i="1">
                                  <a:latin typeface="Cambria Math" panose="02040503050406030204" pitchFamily="18" charset="0"/>
                                </a:rPr>
                              </m:ctrlPr>
                            </m:naryPr>
                            <m:sub/>
                            <m:sup/>
                            <m:e>
                              <m:d>
                                <m:dPr>
                                  <m:ctrlPr>
                                    <a:rPr lang="en-IN" b="0" i="1">
                                      <a:latin typeface="Cambria Math" panose="02040503050406030204" pitchFamily="18" charset="0"/>
                                    </a:rPr>
                                  </m:ctrlPr>
                                </m:dPr>
                                <m:e>
                                  <m:sSub>
                                    <m:sSubPr>
                                      <m:ctrlPr>
                                        <a:rPr lang="en-IN" b="0" i="1">
                                          <a:solidFill>
                                            <a:srgbClr val="836967"/>
                                          </a:solidFill>
                                          <a:latin typeface="Cambria Math" panose="02040503050406030204" pitchFamily="18" charset="0"/>
                                        </a:rPr>
                                      </m:ctrlPr>
                                    </m:sSubPr>
                                    <m:e>
                                      <m:r>
                                        <a:rPr lang="en-IN" b="1" i="1">
                                          <a:latin typeface="Cambria Math" panose="02040503050406030204" pitchFamily="18" charset="0"/>
                                        </a:rPr>
                                        <m:t>𝒙</m:t>
                                      </m:r>
                                    </m:e>
                                    <m:sub>
                                      <m:r>
                                        <a:rPr lang="en-IN" b="1" i="1">
                                          <a:latin typeface="Cambria Math" panose="02040503050406030204" pitchFamily="18" charset="0"/>
                                        </a:rPr>
                                        <m:t>𝒊</m:t>
                                      </m:r>
                                    </m:sub>
                                  </m:sSub>
                                  <m:r>
                                    <a:rPr lang="en-IN" b="0" i="0">
                                      <a:latin typeface="Cambria Math" panose="02040503050406030204" pitchFamily="18" charset="0"/>
                                    </a:rPr>
                                    <m:t>−</m:t>
                                  </m:r>
                                  <m:acc>
                                    <m:accPr>
                                      <m:chr m:val="̅"/>
                                      <m:ctrlPr>
                                        <a:rPr lang="en-IN" b="0" i="1">
                                          <a:solidFill>
                                            <a:srgbClr val="836967"/>
                                          </a:solidFill>
                                          <a:latin typeface="Cambria Math" panose="02040503050406030204" pitchFamily="18" charset="0"/>
                                        </a:rPr>
                                      </m:ctrlPr>
                                    </m:accPr>
                                    <m:e>
                                      <m:r>
                                        <a:rPr lang="en-IN" b="1" i="1">
                                          <a:latin typeface="Cambria Math" panose="02040503050406030204" pitchFamily="18" charset="0"/>
                                        </a:rPr>
                                        <m:t>𝒙</m:t>
                                      </m:r>
                                    </m:e>
                                  </m:acc>
                                </m:e>
                              </m:d>
                              <m:d>
                                <m:dPr>
                                  <m:ctrlPr>
                                    <a:rPr lang="en-IN" b="0" i="1">
                                      <a:latin typeface="Cambria Math" panose="02040503050406030204" pitchFamily="18" charset="0"/>
                                    </a:rPr>
                                  </m:ctrlPr>
                                </m:dPr>
                                <m:e>
                                  <m:sSub>
                                    <m:sSubPr>
                                      <m:ctrlPr>
                                        <a:rPr lang="en-IN" b="0" i="1">
                                          <a:solidFill>
                                            <a:srgbClr val="836967"/>
                                          </a:solidFill>
                                          <a:latin typeface="Cambria Math" panose="02040503050406030204" pitchFamily="18" charset="0"/>
                                        </a:rPr>
                                      </m:ctrlPr>
                                    </m:sSubPr>
                                    <m:e>
                                      <m:r>
                                        <a:rPr lang="en-IN" b="1" i="1">
                                          <a:latin typeface="Cambria Math" panose="02040503050406030204" pitchFamily="18" charset="0"/>
                                        </a:rPr>
                                        <m:t>𝒚</m:t>
                                      </m:r>
                                    </m:e>
                                    <m:sub>
                                      <m:r>
                                        <a:rPr lang="en-IN" b="1" i="1">
                                          <a:latin typeface="Cambria Math" panose="02040503050406030204" pitchFamily="18" charset="0"/>
                                        </a:rPr>
                                        <m:t>𝒊</m:t>
                                      </m:r>
                                    </m:sub>
                                  </m:sSub>
                                  <m:r>
                                    <a:rPr lang="en-IN" b="0" i="0">
                                      <a:latin typeface="Cambria Math" panose="02040503050406030204" pitchFamily="18" charset="0"/>
                                    </a:rPr>
                                    <m:t>−</m:t>
                                  </m:r>
                                  <m:acc>
                                    <m:accPr>
                                      <m:chr m:val="̅"/>
                                      <m:ctrlPr>
                                        <a:rPr lang="en-IN" b="0" i="1">
                                          <a:solidFill>
                                            <a:srgbClr val="836967"/>
                                          </a:solidFill>
                                          <a:latin typeface="Cambria Math" panose="02040503050406030204" pitchFamily="18" charset="0"/>
                                        </a:rPr>
                                      </m:ctrlPr>
                                    </m:accPr>
                                    <m:e>
                                      <m:r>
                                        <a:rPr lang="en-IN" b="1" i="1">
                                          <a:latin typeface="Cambria Math" panose="02040503050406030204" pitchFamily="18" charset="0"/>
                                        </a:rPr>
                                        <m:t>𝒚</m:t>
                                      </m:r>
                                    </m:e>
                                  </m:acc>
                                </m:e>
                              </m:d>
                            </m:e>
                          </m:nary>
                        </m:num>
                        <m:den>
                          <m:nary>
                            <m:naryPr>
                              <m:chr m:val="∑"/>
                              <m:subHide m:val="on"/>
                              <m:supHide m:val="on"/>
                              <m:ctrlPr>
                                <a:rPr lang="en-IN" b="0" i="1">
                                  <a:latin typeface="Cambria Math" panose="02040503050406030204" pitchFamily="18" charset="0"/>
                                </a:rPr>
                              </m:ctrlPr>
                            </m:naryPr>
                            <m:sub/>
                            <m:sup/>
                            <m:e>
                              <m:sSup>
                                <m:sSupPr>
                                  <m:ctrlPr>
                                    <a:rPr lang="en-IN" b="0" i="1">
                                      <a:solidFill>
                                        <a:srgbClr val="836967"/>
                                      </a:solidFill>
                                      <a:latin typeface="Cambria Math" panose="02040503050406030204" pitchFamily="18" charset="0"/>
                                    </a:rPr>
                                  </m:ctrlPr>
                                </m:sSupPr>
                                <m:e>
                                  <m:d>
                                    <m:dPr>
                                      <m:ctrlPr>
                                        <a:rPr lang="en-IN" b="0" i="1">
                                          <a:latin typeface="Cambria Math" panose="02040503050406030204" pitchFamily="18" charset="0"/>
                                        </a:rPr>
                                      </m:ctrlPr>
                                    </m:dPr>
                                    <m:e>
                                      <m:sSub>
                                        <m:sSubPr>
                                          <m:ctrlPr>
                                            <a:rPr lang="en-IN" b="0" i="1">
                                              <a:solidFill>
                                                <a:srgbClr val="836967"/>
                                              </a:solidFill>
                                              <a:latin typeface="Cambria Math" panose="02040503050406030204" pitchFamily="18" charset="0"/>
                                            </a:rPr>
                                          </m:ctrlPr>
                                        </m:sSubPr>
                                        <m:e>
                                          <m:r>
                                            <a:rPr lang="en-IN" b="1" i="1">
                                              <a:latin typeface="Cambria Math" panose="02040503050406030204" pitchFamily="18" charset="0"/>
                                            </a:rPr>
                                            <m:t>𝒙</m:t>
                                          </m:r>
                                        </m:e>
                                        <m:sub>
                                          <m:r>
                                            <a:rPr lang="en-IN" b="1" i="1">
                                              <a:latin typeface="Cambria Math" panose="02040503050406030204" pitchFamily="18" charset="0"/>
                                            </a:rPr>
                                            <m:t>𝒊</m:t>
                                          </m:r>
                                        </m:sub>
                                      </m:sSub>
                                      <m:r>
                                        <a:rPr lang="en-IN" b="0" i="0">
                                          <a:latin typeface="Cambria Math" panose="02040503050406030204" pitchFamily="18" charset="0"/>
                                        </a:rPr>
                                        <m:t>−</m:t>
                                      </m:r>
                                      <m:acc>
                                        <m:accPr>
                                          <m:chr m:val="̅"/>
                                          <m:ctrlPr>
                                            <a:rPr lang="en-IN" b="0" i="1">
                                              <a:solidFill>
                                                <a:srgbClr val="836967"/>
                                              </a:solidFill>
                                              <a:latin typeface="Cambria Math" panose="02040503050406030204" pitchFamily="18" charset="0"/>
                                            </a:rPr>
                                          </m:ctrlPr>
                                        </m:accPr>
                                        <m:e>
                                          <m:r>
                                            <a:rPr lang="en-IN" b="1" i="1">
                                              <a:latin typeface="Cambria Math" panose="02040503050406030204" pitchFamily="18" charset="0"/>
                                            </a:rPr>
                                            <m:t>𝒙</m:t>
                                          </m:r>
                                        </m:e>
                                      </m:acc>
                                    </m:e>
                                  </m:d>
                                </m:e>
                                <m:sup>
                                  <m:r>
                                    <a:rPr lang="en-IN" b="0" i="0">
                                      <a:latin typeface="Cambria Math" panose="02040503050406030204" pitchFamily="18" charset="0"/>
                                    </a:rPr>
                                    <m:t>2</m:t>
                                  </m:r>
                                </m:sup>
                              </m:sSup>
                            </m:e>
                          </m:nary>
                        </m:den>
                      </m:f>
                    </m:oMath>
                  </m:oMathPara>
                </a14:m>
                <a:endParaRPr lang="en-IN"/>
              </a:p>
            </p:txBody>
          </p:sp>
        </mc:Choice>
        <mc:Fallback>
          <p:sp>
            <p:nvSpPr>
              <p:cNvPr id="6" name="TextBox 5">
                <a:extLst>
                  <a:ext uri="{FF2B5EF4-FFF2-40B4-BE49-F238E27FC236}">
                    <a16:creationId xmlns:a16="http://schemas.microsoft.com/office/drawing/2014/main" id="{E36050D5-F510-4AC3-B1DE-EC0CFF09EC0D}"/>
                  </a:ext>
                </a:extLst>
              </p:cNvPr>
              <p:cNvSpPr txBox="1">
                <a:spLocks noRot="1" noChangeAspect="1" noMove="1" noResize="1" noEditPoints="1" noAdjustHandles="1" noChangeArrowheads="1" noChangeShapeType="1" noTextEdit="1"/>
              </p:cNvSpPr>
              <p:nvPr/>
            </p:nvSpPr>
            <p:spPr>
              <a:xfrm>
                <a:off x="5791200" y="1428750"/>
                <a:ext cx="2624136" cy="676467"/>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10075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342E4D-4C6B-57F9-8D14-C0698D125636}"/>
              </a:ext>
            </a:extLst>
          </p:cNvPr>
          <p:cNvPicPr>
            <a:picLocks noChangeAspect="1"/>
          </p:cNvPicPr>
          <p:nvPr/>
        </p:nvPicPr>
        <p:blipFill>
          <a:blip r:embed="rId2"/>
          <a:stretch>
            <a:fillRect/>
          </a:stretch>
        </p:blipFill>
        <p:spPr>
          <a:xfrm>
            <a:off x="1905000" y="21981"/>
            <a:ext cx="5494276" cy="1362428"/>
          </a:xfrm>
          <a:prstGeom prst="rect">
            <a:avLst/>
          </a:prstGeom>
        </p:spPr>
      </p:pic>
      <p:pic>
        <p:nvPicPr>
          <p:cNvPr id="7" name="Picture 6">
            <a:extLst>
              <a:ext uri="{FF2B5EF4-FFF2-40B4-BE49-F238E27FC236}">
                <a16:creationId xmlns:a16="http://schemas.microsoft.com/office/drawing/2014/main" id="{6CCD7011-0278-E5B2-8993-A5DF8BA8EC68}"/>
              </a:ext>
            </a:extLst>
          </p:cNvPr>
          <p:cNvPicPr>
            <a:picLocks noChangeAspect="1"/>
          </p:cNvPicPr>
          <p:nvPr/>
        </p:nvPicPr>
        <p:blipFill>
          <a:blip r:embed="rId3"/>
          <a:stretch>
            <a:fillRect/>
          </a:stretch>
        </p:blipFill>
        <p:spPr>
          <a:xfrm>
            <a:off x="1399183" y="1351972"/>
            <a:ext cx="6344216" cy="1921136"/>
          </a:xfrm>
          <a:prstGeom prst="rect">
            <a:avLst/>
          </a:prstGeom>
        </p:spPr>
      </p:pic>
      <p:pic>
        <p:nvPicPr>
          <p:cNvPr id="9" name="Picture 8">
            <a:extLst>
              <a:ext uri="{FF2B5EF4-FFF2-40B4-BE49-F238E27FC236}">
                <a16:creationId xmlns:a16="http://schemas.microsoft.com/office/drawing/2014/main" id="{5F0B2238-618F-7A76-967A-7765AC82FF13}"/>
              </a:ext>
            </a:extLst>
          </p:cNvPr>
          <p:cNvPicPr>
            <a:picLocks noChangeAspect="1"/>
          </p:cNvPicPr>
          <p:nvPr/>
        </p:nvPicPr>
        <p:blipFill>
          <a:blip r:embed="rId4"/>
          <a:stretch>
            <a:fillRect/>
          </a:stretch>
        </p:blipFill>
        <p:spPr>
          <a:xfrm>
            <a:off x="1365432" y="3240671"/>
            <a:ext cx="6573412" cy="1902829"/>
          </a:xfrm>
          <a:prstGeom prst="rect">
            <a:avLst/>
          </a:prstGeom>
        </p:spPr>
      </p:pic>
    </p:spTree>
    <p:extLst>
      <p:ext uri="{BB962C8B-B14F-4D97-AF65-F5344CB8AC3E}">
        <p14:creationId xmlns:p14="http://schemas.microsoft.com/office/powerpoint/2010/main" val="731348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699D29-4CB4-8F3D-5044-8018E50A0D89}"/>
              </a:ext>
            </a:extLst>
          </p:cNvPr>
          <p:cNvPicPr>
            <a:picLocks noChangeAspect="1"/>
          </p:cNvPicPr>
          <p:nvPr/>
        </p:nvPicPr>
        <p:blipFill>
          <a:blip r:embed="rId2"/>
          <a:stretch>
            <a:fillRect/>
          </a:stretch>
        </p:blipFill>
        <p:spPr>
          <a:xfrm>
            <a:off x="2286000" y="161903"/>
            <a:ext cx="4443814" cy="2033861"/>
          </a:xfrm>
          <a:prstGeom prst="rect">
            <a:avLst/>
          </a:prstGeom>
        </p:spPr>
      </p:pic>
      <p:pic>
        <p:nvPicPr>
          <p:cNvPr id="7" name="Picture 6">
            <a:extLst>
              <a:ext uri="{FF2B5EF4-FFF2-40B4-BE49-F238E27FC236}">
                <a16:creationId xmlns:a16="http://schemas.microsoft.com/office/drawing/2014/main" id="{E2334DA0-3DBC-7E6C-2784-EB5644EA8F91}"/>
              </a:ext>
            </a:extLst>
          </p:cNvPr>
          <p:cNvPicPr>
            <a:picLocks noChangeAspect="1"/>
          </p:cNvPicPr>
          <p:nvPr/>
        </p:nvPicPr>
        <p:blipFill>
          <a:blip r:embed="rId3"/>
          <a:stretch>
            <a:fillRect/>
          </a:stretch>
        </p:blipFill>
        <p:spPr>
          <a:xfrm>
            <a:off x="2057400" y="2343150"/>
            <a:ext cx="5220279" cy="2562247"/>
          </a:xfrm>
          <a:prstGeom prst="rect">
            <a:avLst/>
          </a:prstGeom>
        </p:spPr>
      </p:pic>
    </p:spTree>
    <p:extLst>
      <p:ext uri="{BB962C8B-B14F-4D97-AF65-F5344CB8AC3E}">
        <p14:creationId xmlns:p14="http://schemas.microsoft.com/office/powerpoint/2010/main" val="1741044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13B724-6CCD-2FC5-A1F1-D4C9D62839F9}"/>
              </a:ext>
            </a:extLst>
          </p:cNvPr>
          <p:cNvPicPr>
            <a:picLocks noChangeAspect="1"/>
          </p:cNvPicPr>
          <p:nvPr/>
        </p:nvPicPr>
        <p:blipFill>
          <a:blip r:embed="rId2"/>
          <a:stretch>
            <a:fillRect/>
          </a:stretch>
        </p:blipFill>
        <p:spPr>
          <a:xfrm>
            <a:off x="1447800" y="209550"/>
            <a:ext cx="6752185" cy="4476750"/>
          </a:xfrm>
          <a:prstGeom prst="rect">
            <a:avLst/>
          </a:prstGeom>
        </p:spPr>
      </p:pic>
    </p:spTree>
    <p:extLst>
      <p:ext uri="{BB962C8B-B14F-4D97-AF65-F5344CB8AC3E}">
        <p14:creationId xmlns:p14="http://schemas.microsoft.com/office/powerpoint/2010/main" val="41068111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5429E0-2175-DB1C-F9A1-EB022D0D8FF9}"/>
              </a:ext>
            </a:extLst>
          </p:cNvPr>
          <p:cNvPicPr>
            <a:picLocks noChangeAspect="1"/>
          </p:cNvPicPr>
          <p:nvPr/>
        </p:nvPicPr>
        <p:blipFill>
          <a:blip r:embed="rId2"/>
          <a:stretch>
            <a:fillRect/>
          </a:stretch>
        </p:blipFill>
        <p:spPr>
          <a:xfrm>
            <a:off x="356599" y="356878"/>
            <a:ext cx="8430802" cy="4429743"/>
          </a:xfrm>
          <a:prstGeom prst="rect">
            <a:avLst/>
          </a:prstGeom>
        </p:spPr>
      </p:pic>
    </p:spTree>
    <p:extLst>
      <p:ext uri="{BB962C8B-B14F-4D97-AF65-F5344CB8AC3E}">
        <p14:creationId xmlns:p14="http://schemas.microsoft.com/office/powerpoint/2010/main" val="42231508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EC1B4E-1539-BFEE-007D-8BEFC07D18A1}"/>
              </a:ext>
            </a:extLst>
          </p:cNvPr>
          <p:cNvPicPr>
            <a:picLocks noChangeAspect="1"/>
          </p:cNvPicPr>
          <p:nvPr/>
        </p:nvPicPr>
        <p:blipFill>
          <a:blip r:embed="rId2"/>
          <a:stretch>
            <a:fillRect/>
          </a:stretch>
        </p:blipFill>
        <p:spPr>
          <a:xfrm>
            <a:off x="442336" y="294957"/>
            <a:ext cx="8259328" cy="4553585"/>
          </a:xfrm>
          <a:prstGeom prst="rect">
            <a:avLst/>
          </a:prstGeom>
        </p:spPr>
      </p:pic>
    </p:spTree>
    <p:extLst>
      <p:ext uri="{BB962C8B-B14F-4D97-AF65-F5344CB8AC3E}">
        <p14:creationId xmlns:p14="http://schemas.microsoft.com/office/powerpoint/2010/main" val="4240688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6D5A-64CC-93C0-5B36-0A0970E545B8}"/>
              </a:ext>
            </a:extLst>
          </p:cNvPr>
          <p:cNvSpPr>
            <a:spLocks noGrp="1"/>
          </p:cNvSpPr>
          <p:nvPr>
            <p:ph type="title"/>
          </p:nvPr>
        </p:nvSpPr>
        <p:spPr/>
        <p:txBody>
          <a:bodyPr/>
          <a:lstStyle/>
          <a:p>
            <a:r>
              <a:rPr lang="en-IN"/>
              <a:t>Example</a:t>
            </a:r>
            <a:br>
              <a:rPr lang="en-IN"/>
            </a:br>
            <a:endParaRPr lang="en-IN"/>
          </a:p>
        </p:txBody>
      </p:sp>
      <p:pic>
        <p:nvPicPr>
          <p:cNvPr id="5" name="Picture 4">
            <a:extLst>
              <a:ext uri="{FF2B5EF4-FFF2-40B4-BE49-F238E27FC236}">
                <a16:creationId xmlns:a16="http://schemas.microsoft.com/office/drawing/2014/main" id="{9A23135B-BB8A-AAE5-6B76-B986D5C7A4F8}"/>
              </a:ext>
            </a:extLst>
          </p:cNvPr>
          <p:cNvPicPr>
            <a:picLocks noChangeAspect="1"/>
          </p:cNvPicPr>
          <p:nvPr/>
        </p:nvPicPr>
        <p:blipFill>
          <a:blip r:embed="rId2"/>
          <a:stretch>
            <a:fillRect/>
          </a:stretch>
        </p:blipFill>
        <p:spPr>
          <a:xfrm>
            <a:off x="457200" y="1390650"/>
            <a:ext cx="8594362" cy="2362200"/>
          </a:xfrm>
          <a:prstGeom prst="rect">
            <a:avLst/>
          </a:prstGeom>
        </p:spPr>
      </p:pic>
    </p:spTree>
    <p:extLst>
      <p:ext uri="{BB962C8B-B14F-4D97-AF65-F5344CB8AC3E}">
        <p14:creationId xmlns:p14="http://schemas.microsoft.com/office/powerpoint/2010/main" val="3357420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506468C-B422-F3BE-34AE-7DD32CA59AF1}"/>
              </a:ext>
            </a:extLst>
          </p:cNvPr>
          <p:cNvPicPr>
            <a:picLocks noChangeAspect="1"/>
          </p:cNvPicPr>
          <p:nvPr/>
        </p:nvPicPr>
        <p:blipFill>
          <a:blip r:embed="rId2"/>
          <a:srcRect b="1818"/>
          <a:stretch/>
        </p:blipFill>
        <p:spPr>
          <a:xfrm>
            <a:off x="381000" y="590550"/>
            <a:ext cx="5797465" cy="4114800"/>
          </a:xfrm>
          <a:prstGeom prst="rect">
            <a:avLst/>
          </a:prstGeom>
        </p:spPr>
      </p:pic>
      <p:pic>
        <p:nvPicPr>
          <p:cNvPr id="11" name="Picture 10">
            <a:extLst>
              <a:ext uri="{FF2B5EF4-FFF2-40B4-BE49-F238E27FC236}">
                <a16:creationId xmlns:a16="http://schemas.microsoft.com/office/drawing/2014/main" id="{0E0AB699-5EDC-A00A-F042-CF536E7EA8AE}"/>
              </a:ext>
            </a:extLst>
          </p:cNvPr>
          <p:cNvPicPr>
            <a:picLocks noChangeAspect="1"/>
          </p:cNvPicPr>
          <p:nvPr/>
        </p:nvPicPr>
        <p:blipFill>
          <a:blip r:embed="rId3"/>
          <a:stretch>
            <a:fillRect/>
          </a:stretch>
        </p:blipFill>
        <p:spPr>
          <a:xfrm>
            <a:off x="6400800" y="2031880"/>
            <a:ext cx="2570546" cy="1308340"/>
          </a:xfrm>
          <a:prstGeom prst="rect">
            <a:avLst/>
          </a:prstGeom>
        </p:spPr>
      </p:pic>
      <p:sp>
        <p:nvSpPr>
          <p:cNvPr id="2" name="Rectangle 1">
            <a:extLst>
              <a:ext uri="{FF2B5EF4-FFF2-40B4-BE49-F238E27FC236}">
                <a16:creationId xmlns:a16="http://schemas.microsoft.com/office/drawing/2014/main" id="{FBC2279F-622B-A1FC-2777-C39A1E0AE67C}"/>
              </a:ext>
            </a:extLst>
          </p:cNvPr>
          <p:cNvSpPr/>
          <p:nvPr/>
        </p:nvSpPr>
        <p:spPr>
          <a:xfrm>
            <a:off x="407191" y="3964782"/>
            <a:ext cx="5749841" cy="685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43436B2E-1645-BEA2-9131-B47898B8DB3E}"/>
              </a:ext>
            </a:extLst>
          </p:cNvPr>
          <p:cNvSpPr/>
          <p:nvPr/>
        </p:nvSpPr>
        <p:spPr>
          <a:xfrm>
            <a:off x="6248399" y="2041404"/>
            <a:ext cx="2667001" cy="12988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6CEECFE-C514-1B49-B45E-07488E0181D7}"/>
              </a:ext>
            </a:extLst>
          </p:cNvPr>
          <p:cNvSpPr txBox="1"/>
          <p:nvPr/>
        </p:nvSpPr>
        <p:spPr>
          <a:xfrm>
            <a:off x="5211336" y="666750"/>
            <a:ext cx="503664" cy="369332"/>
          </a:xfrm>
          <a:prstGeom prst="rect">
            <a:avLst/>
          </a:prstGeom>
          <a:solidFill>
            <a:srgbClr val="A8306E"/>
          </a:solidFill>
        </p:spPr>
        <p:txBody>
          <a:bodyPr wrap="none" rtlCol="0">
            <a:spAutoFit/>
          </a:bodyPr>
          <a:lstStyle/>
          <a:p>
            <a:r>
              <a:rPr lang="en-US" i="1">
                <a:solidFill>
                  <a:schemeClr val="bg1"/>
                </a:solidFill>
                <a:latin typeface="Baskerville Old Face" panose="02020602080505020303" pitchFamily="18" charset="0"/>
              </a:rPr>
              <a:t>XY</a:t>
            </a:r>
            <a:endParaRPr lang="en-IN" i="1">
              <a:solidFill>
                <a:schemeClr val="bg1"/>
              </a:solidFill>
              <a:latin typeface="Baskerville Old Face" panose="02020602080505020303" pitchFamily="18" charset="0"/>
            </a:endParaRPr>
          </a:p>
        </p:txBody>
      </p:sp>
    </p:spTree>
    <p:extLst>
      <p:ext uri="{BB962C8B-B14F-4D97-AF65-F5344CB8AC3E}">
        <p14:creationId xmlns:p14="http://schemas.microsoft.com/office/powerpoint/2010/main" val="1126429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7D166B-DB4B-3CEB-F1FB-4A569FFFEE7B}"/>
              </a:ext>
            </a:extLst>
          </p:cNvPr>
          <p:cNvPicPr>
            <a:picLocks noChangeAspect="1"/>
          </p:cNvPicPr>
          <p:nvPr/>
        </p:nvPicPr>
        <p:blipFill>
          <a:blip r:embed="rId2"/>
          <a:stretch>
            <a:fillRect/>
          </a:stretch>
        </p:blipFill>
        <p:spPr>
          <a:xfrm>
            <a:off x="152400" y="171450"/>
            <a:ext cx="4343400" cy="4933950"/>
          </a:xfrm>
          <a:prstGeom prst="rect">
            <a:avLst/>
          </a:prstGeom>
        </p:spPr>
      </p:pic>
      <p:pic>
        <p:nvPicPr>
          <p:cNvPr id="7" name="Picture 6">
            <a:extLst>
              <a:ext uri="{FF2B5EF4-FFF2-40B4-BE49-F238E27FC236}">
                <a16:creationId xmlns:a16="http://schemas.microsoft.com/office/drawing/2014/main" id="{BB1AD857-CEEA-E1E6-C056-6F2229B9CA8D}"/>
              </a:ext>
            </a:extLst>
          </p:cNvPr>
          <p:cNvPicPr>
            <a:picLocks noChangeAspect="1"/>
          </p:cNvPicPr>
          <p:nvPr/>
        </p:nvPicPr>
        <p:blipFill>
          <a:blip r:embed="rId3"/>
          <a:stretch>
            <a:fillRect/>
          </a:stretch>
        </p:blipFill>
        <p:spPr>
          <a:xfrm>
            <a:off x="4676777" y="9525"/>
            <a:ext cx="4343400" cy="5143500"/>
          </a:xfrm>
          <a:prstGeom prst="rect">
            <a:avLst/>
          </a:prstGeom>
        </p:spPr>
      </p:pic>
      <p:sp>
        <p:nvSpPr>
          <p:cNvPr id="3" name="Rectangle 2">
            <a:extLst>
              <a:ext uri="{FF2B5EF4-FFF2-40B4-BE49-F238E27FC236}">
                <a16:creationId xmlns:a16="http://schemas.microsoft.com/office/drawing/2014/main" id="{71EFDD3F-4580-E548-C02A-309C5859B6EB}"/>
              </a:ext>
            </a:extLst>
          </p:cNvPr>
          <p:cNvSpPr/>
          <p:nvPr/>
        </p:nvSpPr>
        <p:spPr>
          <a:xfrm>
            <a:off x="457200" y="1276350"/>
            <a:ext cx="1981200" cy="1752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F654EA6C-A7F5-D881-CC99-88EBB2D39911}"/>
              </a:ext>
            </a:extLst>
          </p:cNvPr>
          <p:cNvSpPr/>
          <p:nvPr/>
        </p:nvSpPr>
        <p:spPr>
          <a:xfrm>
            <a:off x="5791200" y="895350"/>
            <a:ext cx="2286000" cy="1676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2E12CC09-D0A6-115C-573E-97FA01CE7240}"/>
              </a:ext>
            </a:extLst>
          </p:cNvPr>
          <p:cNvSpPr/>
          <p:nvPr/>
        </p:nvSpPr>
        <p:spPr>
          <a:xfrm>
            <a:off x="4676776" y="3638550"/>
            <a:ext cx="4343400" cy="14668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830CE19F-9707-5ED4-CF99-15B988FFE903}"/>
              </a:ext>
            </a:extLst>
          </p:cNvPr>
          <p:cNvSpPr/>
          <p:nvPr/>
        </p:nvSpPr>
        <p:spPr>
          <a:xfrm>
            <a:off x="381000" y="3943350"/>
            <a:ext cx="4114800" cy="11620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89018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B311A25-37D3-80A8-4AC5-8D7A5594E6CA}"/>
              </a:ext>
            </a:extLst>
          </p:cNvPr>
          <p:cNvPicPr>
            <a:picLocks noChangeAspect="1"/>
          </p:cNvPicPr>
          <p:nvPr/>
        </p:nvPicPr>
        <p:blipFill>
          <a:blip r:embed="rId2"/>
          <a:stretch>
            <a:fillRect/>
          </a:stretch>
        </p:blipFill>
        <p:spPr>
          <a:xfrm>
            <a:off x="990600" y="0"/>
            <a:ext cx="7465868" cy="5143500"/>
          </a:xfrm>
          <a:prstGeom prst="rect">
            <a:avLst/>
          </a:prstGeom>
        </p:spPr>
      </p:pic>
      <p:sp>
        <p:nvSpPr>
          <p:cNvPr id="8" name="Rectangle 7">
            <a:extLst>
              <a:ext uri="{FF2B5EF4-FFF2-40B4-BE49-F238E27FC236}">
                <a16:creationId xmlns:a16="http://schemas.microsoft.com/office/drawing/2014/main" id="{4CB30CA7-AD78-A919-3C2A-DA2B606A889D}"/>
              </a:ext>
            </a:extLst>
          </p:cNvPr>
          <p:cNvSpPr/>
          <p:nvPr/>
        </p:nvSpPr>
        <p:spPr>
          <a:xfrm>
            <a:off x="1676400" y="4781550"/>
            <a:ext cx="1143000" cy="228600"/>
          </a:xfrm>
          <a:prstGeom prst="rect">
            <a:avLst/>
          </a:prstGeom>
          <a:solidFill>
            <a:srgbClr val="FDB3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7C474D63-FC35-D397-9146-AB36183DDC21}"/>
              </a:ext>
            </a:extLst>
          </p:cNvPr>
          <p:cNvSpPr/>
          <p:nvPr/>
        </p:nvSpPr>
        <p:spPr>
          <a:xfrm>
            <a:off x="3808526" y="4790428"/>
            <a:ext cx="1143000" cy="228600"/>
          </a:xfrm>
          <a:prstGeom prst="rect">
            <a:avLst/>
          </a:prstGeom>
          <a:solidFill>
            <a:srgbClr val="FDB3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1B3ADE07-23A4-EA51-F702-EE8B3218B6FA}"/>
              </a:ext>
            </a:extLst>
          </p:cNvPr>
          <p:cNvSpPr/>
          <p:nvPr/>
        </p:nvSpPr>
        <p:spPr>
          <a:xfrm>
            <a:off x="6324600" y="4781550"/>
            <a:ext cx="1143000" cy="228600"/>
          </a:xfrm>
          <a:prstGeom prst="rect">
            <a:avLst/>
          </a:prstGeom>
          <a:solidFill>
            <a:srgbClr val="FDB3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41212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18FB1D-823A-428E-E2A8-47F16B129DD6}"/>
              </a:ext>
            </a:extLst>
          </p:cNvPr>
          <p:cNvSpPr>
            <a:spLocks noGrp="1"/>
          </p:cNvSpPr>
          <p:nvPr>
            <p:ph idx="1"/>
          </p:nvPr>
        </p:nvSpPr>
        <p:spPr/>
        <p:txBody>
          <a:bodyPr>
            <a:normAutofit fontScale="85000" lnSpcReduction="20000"/>
          </a:bodyPr>
          <a:lstStyle/>
          <a:p>
            <a:r>
              <a:rPr lang="en-US"/>
              <a:t>more susceptible to outliers hence; </a:t>
            </a:r>
          </a:p>
          <a:p>
            <a:r>
              <a:rPr lang="en-US"/>
              <a:t>it should not be used in the case of big-size data.</a:t>
            </a:r>
          </a:p>
          <a:p>
            <a:r>
              <a:rPr lang="en-US"/>
              <a:t>There should be a linear relationship between independent and dependent variables.</a:t>
            </a:r>
          </a:p>
          <a:p>
            <a:r>
              <a:rPr lang="en-US"/>
              <a:t>There is only one independent and dependent variable.</a:t>
            </a:r>
          </a:p>
          <a:p>
            <a:r>
              <a:rPr lang="en-US"/>
              <a:t>The type of regression line: a best fit straight line.</a:t>
            </a:r>
          </a:p>
          <a:p>
            <a:endParaRPr lang="en-IN"/>
          </a:p>
        </p:txBody>
      </p:sp>
      <p:sp>
        <p:nvSpPr>
          <p:cNvPr id="3" name="Title 2">
            <a:extLst>
              <a:ext uri="{FF2B5EF4-FFF2-40B4-BE49-F238E27FC236}">
                <a16:creationId xmlns:a16="http://schemas.microsoft.com/office/drawing/2014/main" id="{4DB8F43E-5FC8-BC27-7B17-D34F7B06C047}"/>
              </a:ext>
            </a:extLst>
          </p:cNvPr>
          <p:cNvSpPr>
            <a:spLocks noGrp="1"/>
          </p:cNvSpPr>
          <p:nvPr>
            <p:ph type="title"/>
          </p:nvPr>
        </p:nvSpPr>
        <p:spPr/>
        <p:txBody>
          <a:bodyPr/>
          <a:lstStyle/>
          <a:p>
            <a:r>
              <a:rPr lang="en-IN"/>
              <a:t>Important points about LR</a:t>
            </a:r>
          </a:p>
        </p:txBody>
      </p:sp>
    </p:spTree>
    <p:extLst>
      <p:ext uri="{BB962C8B-B14F-4D97-AF65-F5344CB8AC3E}">
        <p14:creationId xmlns:p14="http://schemas.microsoft.com/office/powerpoint/2010/main" val="18460103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66"/>
          <p:cNvSpPr txBox="1">
            <a:spLocks noGrp="1"/>
          </p:cNvSpPr>
          <p:nvPr>
            <p:ph type="title"/>
          </p:nvPr>
        </p:nvSpPr>
        <p:spPr>
          <a:xfrm>
            <a:off x="628650" y="273844"/>
            <a:ext cx="7886700" cy="994172"/>
          </a:xfrm>
          <a:prstGeom prst="rect">
            <a:avLst/>
          </a:prstGeom>
          <a:noFill/>
          <a:ln>
            <a:noFill/>
          </a:ln>
        </p:spPr>
        <p:txBody>
          <a:bodyPr spcFirstLastPara="1" vert="horz" wrap="square" lIns="68569" tIns="34275" rIns="68569" bIns="34275" rtlCol="0" anchor="ctr" anchorCtr="0">
            <a:normAutofit/>
          </a:bodyPr>
          <a:lstStyle/>
          <a:p>
            <a:pPr>
              <a:buSzPts val="4400"/>
            </a:pPr>
            <a:r>
              <a:rPr lang="en-IN"/>
              <a:t>Advantages And Disadvantages of LR</a:t>
            </a:r>
            <a:br>
              <a:rPr lang="en-IN" b="0" i="0">
                <a:solidFill>
                  <a:srgbClr val="4A4A4A"/>
                </a:solidFill>
                <a:latin typeface="Open Sans"/>
                <a:ea typeface="Open Sans"/>
                <a:cs typeface="Open Sans"/>
                <a:sym typeface="Open Sans"/>
              </a:rPr>
            </a:br>
            <a:endParaRPr/>
          </a:p>
        </p:txBody>
      </p:sp>
      <p:graphicFrame>
        <p:nvGraphicFramePr>
          <p:cNvPr id="2" name="Google Shape;555;p68">
            <a:extLst>
              <a:ext uri="{FF2B5EF4-FFF2-40B4-BE49-F238E27FC236}">
                <a16:creationId xmlns:a16="http://schemas.microsoft.com/office/drawing/2014/main" id="{B133B263-4DAC-FBC4-A074-A32E01C96D2E}"/>
              </a:ext>
            </a:extLst>
          </p:cNvPr>
          <p:cNvGraphicFramePr/>
          <p:nvPr>
            <p:extLst>
              <p:ext uri="{D42A27DB-BD31-4B8C-83A1-F6EECF244321}">
                <p14:modId xmlns:p14="http://schemas.microsoft.com/office/powerpoint/2010/main" val="1816239965"/>
              </p:ext>
            </p:extLst>
          </p:nvPr>
        </p:nvGraphicFramePr>
        <p:xfrm>
          <a:off x="266700" y="971550"/>
          <a:ext cx="8610600" cy="1399675"/>
        </p:xfrm>
        <a:graphic>
          <a:graphicData uri="http://schemas.openxmlformats.org/drawingml/2006/table">
            <a:tbl>
              <a:tblPr>
                <a:noFill/>
              </a:tblPr>
              <a:tblGrid>
                <a:gridCol w="430530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tblGrid>
              <a:tr h="398225">
                <a:tc>
                  <a:txBody>
                    <a:bodyPr/>
                    <a:lstStyle/>
                    <a:p>
                      <a:pPr marL="0" marR="0" lvl="0" indent="0" algn="ctr" rtl="0">
                        <a:spcBef>
                          <a:spcPts val="0"/>
                        </a:spcBef>
                        <a:spcAft>
                          <a:spcPts val="0"/>
                        </a:spcAft>
                        <a:buNone/>
                      </a:pPr>
                      <a:r>
                        <a:rPr lang="en-IN" sz="2000" b="1">
                          <a:latin typeface="Bookman Old Style" panose="02050604050505020204" pitchFamily="18" charset="0"/>
                          <a:ea typeface="MS Mincho" panose="02020609040205080304" pitchFamily="49" charset="-128"/>
                        </a:rPr>
                        <a:t>Advantages</a:t>
                      </a:r>
                      <a:endParaRPr sz="2000">
                        <a:latin typeface="Bookman Old Style" panose="02050604050505020204" pitchFamily="18" charset="0"/>
                        <a:ea typeface="MS Mincho" panose="02020609040205080304" pitchFamily="49" charset="-128"/>
                      </a:endParaRPr>
                    </a:p>
                  </a:txBody>
                  <a:tcPr marL="36250" marR="87025" marT="43525" marB="435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IN" sz="2000" b="1">
                          <a:latin typeface="Bookman Old Style" panose="02050604050505020204" pitchFamily="18" charset="0"/>
                          <a:ea typeface="MS Mincho" panose="02020609040205080304" pitchFamily="49" charset="-128"/>
                        </a:rPr>
                        <a:t>Disadvantages</a:t>
                      </a:r>
                      <a:endParaRPr sz="2000">
                        <a:latin typeface="Bookman Old Style" panose="02050604050505020204" pitchFamily="18" charset="0"/>
                        <a:ea typeface="MS Mincho" panose="02020609040205080304" pitchFamily="49" charset="-128"/>
                      </a:endParaRPr>
                    </a:p>
                  </a:txBody>
                  <a:tcPr marL="36250" marR="87025" marT="43525" marB="435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55650">
                <a:tc>
                  <a:txBody>
                    <a:bodyPr/>
                    <a:lstStyle/>
                    <a:p>
                      <a:pPr marL="0" marR="0" lvl="0" indent="0" algn="just" rtl="0">
                        <a:spcBef>
                          <a:spcPts val="0"/>
                        </a:spcBef>
                        <a:spcAft>
                          <a:spcPts val="0"/>
                        </a:spcAft>
                        <a:buNone/>
                      </a:pPr>
                      <a:r>
                        <a:rPr lang="en-IN" sz="2000">
                          <a:latin typeface="Bookman Old Style" panose="02050604050505020204" pitchFamily="18" charset="0"/>
                          <a:ea typeface="MS Mincho" panose="02020609040205080304" pitchFamily="49" charset="-128"/>
                        </a:rPr>
                        <a:t>Linear regression performs exceptionally well for linearly separable data</a:t>
                      </a:r>
                      <a:endParaRPr>
                        <a:latin typeface="Bookman Old Style" panose="02050604050505020204" pitchFamily="18" charset="0"/>
                        <a:ea typeface="MS Mincho" panose="02020609040205080304" pitchFamily="49" charset="-128"/>
                      </a:endParaRPr>
                    </a:p>
                  </a:txBody>
                  <a:tcPr marL="36250" marR="87025" marT="43525" marB="435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just" rtl="0">
                        <a:spcBef>
                          <a:spcPts val="0"/>
                        </a:spcBef>
                        <a:spcAft>
                          <a:spcPts val="0"/>
                        </a:spcAft>
                        <a:buNone/>
                      </a:pPr>
                      <a:r>
                        <a:rPr lang="en-IN" sz="2000">
                          <a:latin typeface="Bookman Old Style" panose="02050604050505020204" pitchFamily="18" charset="0"/>
                          <a:ea typeface="MS Mincho" panose="02020609040205080304" pitchFamily="49" charset="-128"/>
                        </a:rPr>
                        <a:t>The assumption of linearity between dependent and independent variables</a:t>
                      </a:r>
                      <a:endParaRPr>
                        <a:latin typeface="Bookman Old Style" panose="02050604050505020204" pitchFamily="18" charset="0"/>
                        <a:ea typeface="MS Mincho" panose="02020609040205080304" pitchFamily="49" charset="-128"/>
                      </a:endParaRPr>
                    </a:p>
                  </a:txBody>
                  <a:tcPr marL="36250" marR="87025" marT="43525" marB="435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67"/>
          <p:cNvSpPr txBox="1">
            <a:spLocks noGrp="1"/>
          </p:cNvSpPr>
          <p:nvPr>
            <p:ph type="title"/>
          </p:nvPr>
        </p:nvSpPr>
        <p:spPr>
          <a:xfrm>
            <a:off x="628650" y="273844"/>
            <a:ext cx="7886700" cy="994172"/>
          </a:xfrm>
          <a:prstGeom prst="rect">
            <a:avLst/>
          </a:prstGeom>
          <a:noFill/>
          <a:ln>
            <a:noFill/>
          </a:ln>
        </p:spPr>
        <p:txBody>
          <a:bodyPr spcFirstLastPara="1" vert="horz" wrap="square" lIns="68569" tIns="34275" rIns="68569" bIns="34275" rtlCol="0" anchor="ctr" anchorCtr="0">
            <a:normAutofit/>
          </a:bodyPr>
          <a:lstStyle/>
          <a:p>
            <a:pPr>
              <a:buSzPts val="4400"/>
            </a:pPr>
            <a:r>
              <a:rPr lang="en-IN"/>
              <a:t>Advantages And Disadvantages of LR</a:t>
            </a:r>
            <a:br>
              <a:rPr lang="en-IN" b="0" i="0">
                <a:solidFill>
                  <a:srgbClr val="4A4A4A"/>
                </a:solidFill>
                <a:latin typeface="Open Sans"/>
                <a:ea typeface="Open Sans"/>
                <a:cs typeface="Open Sans"/>
                <a:sym typeface="Open Sans"/>
              </a:rPr>
            </a:br>
            <a:endParaRPr/>
          </a:p>
        </p:txBody>
      </p:sp>
      <p:graphicFrame>
        <p:nvGraphicFramePr>
          <p:cNvPr id="2" name="Google Shape;555;p68">
            <a:extLst>
              <a:ext uri="{FF2B5EF4-FFF2-40B4-BE49-F238E27FC236}">
                <a16:creationId xmlns:a16="http://schemas.microsoft.com/office/drawing/2014/main" id="{2155CF83-A4A4-BD21-2655-73BA00D6A453}"/>
              </a:ext>
            </a:extLst>
          </p:cNvPr>
          <p:cNvGraphicFramePr/>
          <p:nvPr>
            <p:extLst>
              <p:ext uri="{D42A27DB-BD31-4B8C-83A1-F6EECF244321}">
                <p14:modId xmlns:p14="http://schemas.microsoft.com/office/powerpoint/2010/main" val="946865366"/>
              </p:ext>
            </p:extLst>
          </p:nvPr>
        </p:nvGraphicFramePr>
        <p:xfrm>
          <a:off x="266700" y="971550"/>
          <a:ext cx="8610600" cy="2355325"/>
        </p:xfrm>
        <a:graphic>
          <a:graphicData uri="http://schemas.openxmlformats.org/drawingml/2006/table">
            <a:tbl>
              <a:tblPr>
                <a:noFill/>
              </a:tblPr>
              <a:tblGrid>
                <a:gridCol w="430530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tblGrid>
              <a:tr h="398225">
                <a:tc>
                  <a:txBody>
                    <a:bodyPr/>
                    <a:lstStyle/>
                    <a:p>
                      <a:pPr marL="0" marR="0" lvl="0" indent="0" algn="ctr" rtl="0">
                        <a:spcBef>
                          <a:spcPts val="0"/>
                        </a:spcBef>
                        <a:spcAft>
                          <a:spcPts val="0"/>
                        </a:spcAft>
                        <a:buNone/>
                      </a:pPr>
                      <a:r>
                        <a:rPr lang="en-IN" sz="2000" b="1">
                          <a:latin typeface="Bookman Old Style" panose="02050604050505020204" pitchFamily="18" charset="0"/>
                          <a:ea typeface="MS Mincho" panose="02020609040205080304" pitchFamily="49" charset="-128"/>
                        </a:rPr>
                        <a:t>Advantages</a:t>
                      </a:r>
                      <a:endParaRPr sz="2000">
                        <a:latin typeface="Bookman Old Style" panose="02050604050505020204" pitchFamily="18" charset="0"/>
                        <a:ea typeface="MS Mincho" panose="02020609040205080304" pitchFamily="49" charset="-128"/>
                      </a:endParaRPr>
                    </a:p>
                  </a:txBody>
                  <a:tcPr marL="36250" marR="87025" marT="43525" marB="435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IN" sz="2000" b="1">
                          <a:latin typeface="Bookman Old Style" panose="02050604050505020204" pitchFamily="18" charset="0"/>
                          <a:ea typeface="MS Mincho" panose="02020609040205080304" pitchFamily="49" charset="-128"/>
                        </a:rPr>
                        <a:t>Disadvantages</a:t>
                      </a:r>
                      <a:endParaRPr sz="2000">
                        <a:latin typeface="Bookman Old Style" panose="02050604050505020204" pitchFamily="18" charset="0"/>
                        <a:ea typeface="MS Mincho" panose="02020609040205080304" pitchFamily="49" charset="-128"/>
                      </a:endParaRPr>
                    </a:p>
                  </a:txBody>
                  <a:tcPr marL="36250" marR="87025" marT="43525" marB="435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55650">
                <a:tc>
                  <a:txBody>
                    <a:bodyPr/>
                    <a:lstStyle/>
                    <a:p>
                      <a:pPr marL="0" marR="0" lvl="0" indent="0" algn="just" rtl="0">
                        <a:spcBef>
                          <a:spcPts val="0"/>
                        </a:spcBef>
                        <a:spcAft>
                          <a:spcPts val="0"/>
                        </a:spcAft>
                        <a:buNone/>
                      </a:pPr>
                      <a:r>
                        <a:rPr lang="en-IN" sz="2000">
                          <a:latin typeface="Bookman Old Style" panose="02050604050505020204" pitchFamily="18" charset="0"/>
                          <a:ea typeface="MS Mincho" panose="02020609040205080304" pitchFamily="49" charset="-128"/>
                        </a:rPr>
                        <a:t>Linear regression performs exceptionally well for linearly separable data</a:t>
                      </a:r>
                      <a:endParaRPr>
                        <a:latin typeface="Bookman Old Style" panose="02050604050505020204" pitchFamily="18" charset="0"/>
                        <a:ea typeface="MS Mincho" panose="02020609040205080304" pitchFamily="49" charset="-128"/>
                      </a:endParaRPr>
                    </a:p>
                  </a:txBody>
                  <a:tcPr marL="36250" marR="87025" marT="43525" marB="435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just" rtl="0">
                        <a:spcBef>
                          <a:spcPts val="0"/>
                        </a:spcBef>
                        <a:spcAft>
                          <a:spcPts val="0"/>
                        </a:spcAft>
                        <a:buNone/>
                      </a:pPr>
                      <a:r>
                        <a:rPr lang="en-IN" sz="2000">
                          <a:latin typeface="Bookman Old Style" panose="02050604050505020204" pitchFamily="18" charset="0"/>
                          <a:ea typeface="MS Mincho" panose="02020609040205080304" pitchFamily="49" charset="-128"/>
                        </a:rPr>
                        <a:t>The assumption of linearity between dependent and independent variables</a:t>
                      </a:r>
                      <a:endParaRPr>
                        <a:latin typeface="Bookman Old Style" panose="02050604050505020204" pitchFamily="18" charset="0"/>
                        <a:ea typeface="MS Mincho" panose="02020609040205080304" pitchFamily="49" charset="-128"/>
                      </a:endParaRPr>
                    </a:p>
                  </a:txBody>
                  <a:tcPr marL="36250" marR="87025" marT="43525" marB="435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55650">
                <a:tc>
                  <a:txBody>
                    <a:bodyPr/>
                    <a:lstStyle/>
                    <a:p>
                      <a:pPr marL="0" marR="0" lvl="0" indent="0" algn="just" rtl="0">
                        <a:spcBef>
                          <a:spcPts val="0"/>
                        </a:spcBef>
                        <a:spcAft>
                          <a:spcPts val="0"/>
                        </a:spcAft>
                        <a:buNone/>
                      </a:pPr>
                      <a:r>
                        <a:rPr lang="en-IN" sz="2000">
                          <a:latin typeface="Bookman Old Style" panose="02050604050505020204" pitchFamily="18" charset="0"/>
                          <a:ea typeface="MS Mincho" panose="02020609040205080304" pitchFamily="49" charset="-128"/>
                        </a:rPr>
                        <a:t>Easier to implement, interpret and efficient to train</a:t>
                      </a:r>
                      <a:endParaRPr>
                        <a:latin typeface="Bookman Old Style" panose="02050604050505020204" pitchFamily="18" charset="0"/>
                        <a:ea typeface="MS Mincho" panose="02020609040205080304" pitchFamily="49" charset="-128"/>
                      </a:endParaRPr>
                    </a:p>
                  </a:txBody>
                  <a:tcPr marL="36250" marR="87025" marT="43525" marB="435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just" rtl="0">
                        <a:spcBef>
                          <a:spcPts val="0"/>
                        </a:spcBef>
                        <a:spcAft>
                          <a:spcPts val="0"/>
                        </a:spcAft>
                        <a:buNone/>
                      </a:pPr>
                      <a:r>
                        <a:rPr lang="en-IN" sz="2000">
                          <a:latin typeface="Bookman Old Style" panose="02050604050505020204" pitchFamily="18" charset="0"/>
                          <a:ea typeface="MS Mincho" panose="02020609040205080304" pitchFamily="49" charset="-128"/>
                        </a:rPr>
                        <a:t>It is often quite prone to noise and overfitting</a:t>
                      </a:r>
                      <a:endParaRPr>
                        <a:latin typeface="Bookman Old Style" panose="02050604050505020204" pitchFamily="18" charset="0"/>
                        <a:ea typeface="MS Mincho" panose="02020609040205080304" pitchFamily="49" charset="-128"/>
                      </a:endParaRPr>
                    </a:p>
                  </a:txBody>
                  <a:tcPr marL="36250" marR="87025" marT="43525" marB="435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66"/>
          <p:cNvSpPr txBox="1">
            <a:spLocks noGrp="1"/>
          </p:cNvSpPr>
          <p:nvPr>
            <p:ph type="title"/>
          </p:nvPr>
        </p:nvSpPr>
        <p:spPr>
          <a:xfrm>
            <a:off x="990600" y="133350"/>
            <a:ext cx="7886700" cy="994172"/>
          </a:xfrm>
          <a:prstGeom prst="rect">
            <a:avLst/>
          </a:prstGeom>
          <a:noFill/>
          <a:ln>
            <a:noFill/>
          </a:ln>
        </p:spPr>
        <p:txBody>
          <a:bodyPr spcFirstLastPara="1" vert="horz" wrap="square" lIns="68569" tIns="34275" rIns="68569" bIns="34275" rtlCol="0" anchor="ctr" anchorCtr="0">
            <a:normAutofit/>
          </a:bodyPr>
          <a:lstStyle/>
          <a:p>
            <a:pPr>
              <a:buSzPts val="4400"/>
            </a:pPr>
            <a:r>
              <a:rPr lang="en-IN" b="1"/>
              <a:t>Advantages and Disadvantages of LR</a:t>
            </a:r>
            <a:br>
              <a:rPr lang="en-IN" b="1" i="0">
                <a:solidFill>
                  <a:srgbClr val="4A4A4A"/>
                </a:solidFill>
                <a:ea typeface="Open Sans"/>
                <a:cs typeface="Open Sans"/>
                <a:sym typeface="Open Sans"/>
              </a:rPr>
            </a:br>
            <a:endParaRPr b="1"/>
          </a:p>
        </p:txBody>
      </p:sp>
      <p:graphicFrame>
        <p:nvGraphicFramePr>
          <p:cNvPr id="3" name="Google Shape;555;p68">
            <a:extLst>
              <a:ext uri="{FF2B5EF4-FFF2-40B4-BE49-F238E27FC236}">
                <a16:creationId xmlns:a16="http://schemas.microsoft.com/office/drawing/2014/main" id="{DB774853-E032-24E6-39F6-B2F6E481DCE2}"/>
              </a:ext>
            </a:extLst>
          </p:cNvPr>
          <p:cNvGraphicFramePr/>
          <p:nvPr>
            <p:extLst>
              <p:ext uri="{D42A27DB-BD31-4B8C-83A1-F6EECF244321}">
                <p14:modId xmlns:p14="http://schemas.microsoft.com/office/powerpoint/2010/main" val="4015872472"/>
              </p:ext>
            </p:extLst>
          </p:nvPr>
        </p:nvGraphicFramePr>
        <p:xfrm>
          <a:off x="266700" y="971550"/>
          <a:ext cx="8610600" cy="3884375"/>
        </p:xfrm>
        <a:graphic>
          <a:graphicData uri="http://schemas.openxmlformats.org/drawingml/2006/table">
            <a:tbl>
              <a:tblPr>
                <a:noFill/>
              </a:tblPr>
              <a:tblGrid>
                <a:gridCol w="430530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tblGrid>
              <a:tr h="398225">
                <a:tc>
                  <a:txBody>
                    <a:bodyPr/>
                    <a:lstStyle/>
                    <a:p>
                      <a:pPr marL="0" marR="0" lvl="0" indent="0" algn="ctr" rtl="0">
                        <a:spcBef>
                          <a:spcPts val="0"/>
                        </a:spcBef>
                        <a:spcAft>
                          <a:spcPts val="0"/>
                        </a:spcAft>
                        <a:buNone/>
                      </a:pPr>
                      <a:r>
                        <a:rPr lang="en-IN" sz="2000" b="1">
                          <a:latin typeface="Bookman Old Style" panose="02050604050505020204" pitchFamily="18" charset="0"/>
                          <a:ea typeface="MS Mincho" panose="02020609040205080304" pitchFamily="49" charset="-128"/>
                        </a:rPr>
                        <a:t>Advantages</a:t>
                      </a:r>
                      <a:endParaRPr sz="2000">
                        <a:latin typeface="Bookman Old Style" panose="02050604050505020204" pitchFamily="18" charset="0"/>
                        <a:ea typeface="MS Mincho" panose="02020609040205080304" pitchFamily="49" charset="-128"/>
                      </a:endParaRPr>
                    </a:p>
                  </a:txBody>
                  <a:tcPr marL="36250" marR="87025" marT="43525" marB="435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IN" sz="2000" b="1">
                          <a:latin typeface="Bookman Old Style" panose="02050604050505020204" pitchFamily="18" charset="0"/>
                          <a:ea typeface="MS Mincho" panose="02020609040205080304" pitchFamily="49" charset="-128"/>
                        </a:rPr>
                        <a:t>Disadvantages</a:t>
                      </a:r>
                      <a:endParaRPr sz="2000">
                        <a:latin typeface="Bookman Old Style" panose="02050604050505020204" pitchFamily="18" charset="0"/>
                        <a:ea typeface="MS Mincho" panose="02020609040205080304" pitchFamily="49" charset="-128"/>
                      </a:endParaRPr>
                    </a:p>
                  </a:txBody>
                  <a:tcPr marL="36250" marR="87025" marT="43525" marB="435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55650">
                <a:tc>
                  <a:txBody>
                    <a:bodyPr/>
                    <a:lstStyle/>
                    <a:p>
                      <a:pPr marL="0" marR="0" lvl="0" indent="0" algn="just" rtl="0">
                        <a:spcBef>
                          <a:spcPts val="0"/>
                        </a:spcBef>
                        <a:spcAft>
                          <a:spcPts val="0"/>
                        </a:spcAft>
                        <a:buNone/>
                      </a:pPr>
                      <a:r>
                        <a:rPr lang="en-IN" sz="2000">
                          <a:latin typeface="Bookman Old Style" panose="02050604050505020204" pitchFamily="18" charset="0"/>
                          <a:ea typeface="MS Mincho" panose="02020609040205080304" pitchFamily="49" charset="-128"/>
                        </a:rPr>
                        <a:t>Linear regression performs exceptionally well for linearly separable data</a:t>
                      </a:r>
                      <a:endParaRPr>
                        <a:latin typeface="Bookman Old Style" panose="02050604050505020204" pitchFamily="18" charset="0"/>
                        <a:ea typeface="MS Mincho" panose="02020609040205080304" pitchFamily="49" charset="-128"/>
                      </a:endParaRPr>
                    </a:p>
                  </a:txBody>
                  <a:tcPr marL="36250" marR="87025" marT="43525" marB="435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just" rtl="0">
                        <a:spcBef>
                          <a:spcPts val="0"/>
                        </a:spcBef>
                        <a:spcAft>
                          <a:spcPts val="0"/>
                        </a:spcAft>
                        <a:buNone/>
                      </a:pPr>
                      <a:r>
                        <a:rPr lang="en-IN" sz="2000">
                          <a:latin typeface="Bookman Old Style" panose="02050604050505020204" pitchFamily="18" charset="0"/>
                          <a:ea typeface="MS Mincho" panose="02020609040205080304" pitchFamily="49" charset="-128"/>
                        </a:rPr>
                        <a:t>The assumption of linearity between dependent and independent variables</a:t>
                      </a:r>
                      <a:endParaRPr>
                        <a:latin typeface="Bookman Old Style" panose="02050604050505020204" pitchFamily="18" charset="0"/>
                        <a:ea typeface="MS Mincho" panose="02020609040205080304" pitchFamily="49" charset="-128"/>
                      </a:endParaRPr>
                    </a:p>
                  </a:txBody>
                  <a:tcPr marL="36250" marR="87025" marT="43525" marB="435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55650">
                <a:tc>
                  <a:txBody>
                    <a:bodyPr/>
                    <a:lstStyle/>
                    <a:p>
                      <a:pPr marL="0" marR="0" lvl="0" indent="0" algn="just" rtl="0">
                        <a:spcBef>
                          <a:spcPts val="0"/>
                        </a:spcBef>
                        <a:spcAft>
                          <a:spcPts val="0"/>
                        </a:spcAft>
                        <a:buNone/>
                      </a:pPr>
                      <a:r>
                        <a:rPr lang="en-IN" sz="2000">
                          <a:latin typeface="Bookman Old Style" panose="02050604050505020204" pitchFamily="18" charset="0"/>
                          <a:ea typeface="MS Mincho" panose="02020609040205080304" pitchFamily="49" charset="-128"/>
                        </a:rPr>
                        <a:t>Easier to implement, interpret and efficient to train</a:t>
                      </a:r>
                      <a:endParaRPr>
                        <a:latin typeface="Bookman Old Style" panose="02050604050505020204" pitchFamily="18" charset="0"/>
                        <a:ea typeface="MS Mincho" panose="02020609040205080304" pitchFamily="49" charset="-128"/>
                      </a:endParaRPr>
                    </a:p>
                  </a:txBody>
                  <a:tcPr marL="36250" marR="87025" marT="43525" marB="435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just" rtl="0">
                        <a:spcBef>
                          <a:spcPts val="0"/>
                        </a:spcBef>
                        <a:spcAft>
                          <a:spcPts val="0"/>
                        </a:spcAft>
                        <a:buNone/>
                      </a:pPr>
                      <a:r>
                        <a:rPr lang="en-IN" sz="2000">
                          <a:latin typeface="Bookman Old Style" panose="02050604050505020204" pitchFamily="18" charset="0"/>
                          <a:ea typeface="MS Mincho" panose="02020609040205080304" pitchFamily="49" charset="-128"/>
                        </a:rPr>
                        <a:t>It is often quite prone to noise and overfitting</a:t>
                      </a:r>
                      <a:endParaRPr>
                        <a:latin typeface="Bookman Old Style" panose="02050604050505020204" pitchFamily="18" charset="0"/>
                        <a:ea typeface="MS Mincho" panose="02020609040205080304" pitchFamily="49" charset="-128"/>
                      </a:endParaRPr>
                    </a:p>
                  </a:txBody>
                  <a:tcPr marL="36250" marR="87025" marT="43525" marB="435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529050">
                <a:tc>
                  <a:txBody>
                    <a:bodyPr/>
                    <a:lstStyle/>
                    <a:p>
                      <a:pPr marL="0" marR="0" lvl="0" indent="0" algn="just" rtl="0">
                        <a:spcBef>
                          <a:spcPts val="0"/>
                        </a:spcBef>
                        <a:spcAft>
                          <a:spcPts val="0"/>
                        </a:spcAft>
                        <a:buNone/>
                      </a:pPr>
                      <a:r>
                        <a:rPr lang="en-IN" sz="2000">
                          <a:latin typeface="Bookman Old Style" panose="02050604050505020204" pitchFamily="18" charset="0"/>
                          <a:ea typeface="MS Mincho" panose="02020609040205080304" pitchFamily="49" charset="-128"/>
                        </a:rPr>
                        <a:t>It handles overfitting pretty well using dimensionally reduction techniques, regularization, and cross-validation</a:t>
                      </a:r>
                      <a:endParaRPr>
                        <a:latin typeface="Bookman Old Style" panose="02050604050505020204" pitchFamily="18" charset="0"/>
                        <a:ea typeface="MS Mincho" panose="02020609040205080304" pitchFamily="49" charset="-128"/>
                      </a:endParaRPr>
                    </a:p>
                  </a:txBody>
                  <a:tcPr marL="36250" marR="87025" marT="43525" marB="435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just" rtl="0">
                        <a:spcBef>
                          <a:spcPts val="0"/>
                        </a:spcBef>
                        <a:spcAft>
                          <a:spcPts val="0"/>
                        </a:spcAft>
                        <a:buNone/>
                      </a:pPr>
                      <a:r>
                        <a:rPr lang="en-IN" sz="2000">
                          <a:latin typeface="Bookman Old Style" panose="02050604050505020204" pitchFamily="18" charset="0"/>
                          <a:ea typeface="MS Mincho" panose="02020609040205080304" pitchFamily="49" charset="-128"/>
                        </a:rPr>
                        <a:t>Linear regression is quite sensitive to outliers </a:t>
                      </a:r>
                      <a:r>
                        <a:rPr lang="en-IN" sz="2000" b="0" i="0" u="none" strike="noStrike" cap="none">
                          <a:solidFill>
                            <a:schemeClr val="dk1"/>
                          </a:solidFill>
                          <a:latin typeface="Bookman Old Style" panose="02050604050505020204" pitchFamily="18" charset="0"/>
                          <a:ea typeface="MS Mincho" panose="02020609040205080304" pitchFamily="49" charset="-128"/>
                          <a:cs typeface="Calibri"/>
                          <a:sym typeface="Arial"/>
                        </a:rPr>
                        <a:t>Hence, </a:t>
                      </a:r>
                      <a:r>
                        <a:rPr lang="en-IN" sz="2000" b="0" i="0" u="none" strike="noStrike" cap="none">
                          <a:solidFill>
                            <a:schemeClr val="dk1"/>
                          </a:solidFill>
                          <a:latin typeface="Bookman Old Style" panose="02050604050505020204" pitchFamily="18" charset="0"/>
                          <a:ea typeface="MS Mincho" panose="02020609040205080304" pitchFamily="49" charset="-128"/>
                          <a:cs typeface="Calibri"/>
                          <a:sym typeface="Poppins"/>
                        </a:rPr>
                        <a:t>it should not be used in the case of big-size data.</a:t>
                      </a:r>
                      <a:endParaRPr sz="2000" b="0" i="0" u="none" strike="noStrike" cap="none">
                        <a:solidFill>
                          <a:schemeClr val="dk1"/>
                        </a:solidFill>
                        <a:latin typeface="Bookman Old Style" panose="02050604050505020204" pitchFamily="18" charset="0"/>
                        <a:ea typeface="MS Mincho" panose="02020609040205080304" pitchFamily="49" charset="-128"/>
                        <a:cs typeface="Calibri"/>
                        <a:sym typeface="Arial"/>
                      </a:endParaRPr>
                    </a:p>
                  </a:txBody>
                  <a:tcPr marL="36250" marR="87025" marT="43525" marB="435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70"/>
          <p:cNvSpPr txBox="1">
            <a:spLocks noGrp="1"/>
          </p:cNvSpPr>
          <p:nvPr>
            <p:ph type="title"/>
          </p:nvPr>
        </p:nvSpPr>
        <p:spPr>
          <a:xfrm>
            <a:off x="2362200" y="-35326"/>
            <a:ext cx="4800600" cy="994172"/>
          </a:xfrm>
          <a:prstGeom prst="rect">
            <a:avLst/>
          </a:prstGeom>
          <a:noFill/>
          <a:ln>
            <a:noFill/>
          </a:ln>
        </p:spPr>
        <p:txBody>
          <a:bodyPr spcFirstLastPara="1" vert="horz" wrap="square" lIns="68569" tIns="34275" rIns="68569" bIns="34275" rtlCol="0" anchor="ctr" anchorCtr="0">
            <a:normAutofit/>
          </a:bodyPr>
          <a:lstStyle/>
          <a:p>
            <a:pPr>
              <a:buSzPts val="4400"/>
            </a:pPr>
            <a:r>
              <a:rPr lang="en-IN"/>
              <a:t>Multiple linear regression</a:t>
            </a:r>
            <a:endParaRPr/>
          </a:p>
        </p:txBody>
      </p:sp>
      <p:sp>
        <p:nvSpPr>
          <p:cNvPr id="568" name="Google Shape;568;p70"/>
          <p:cNvSpPr txBox="1">
            <a:spLocks noGrp="1"/>
          </p:cNvSpPr>
          <p:nvPr>
            <p:ph type="body" idx="1"/>
          </p:nvPr>
        </p:nvSpPr>
        <p:spPr>
          <a:xfrm>
            <a:off x="457200" y="1123950"/>
            <a:ext cx="8229600" cy="3448769"/>
          </a:xfrm>
          <a:prstGeom prst="rect">
            <a:avLst/>
          </a:prstGeom>
          <a:noFill/>
          <a:ln>
            <a:noFill/>
          </a:ln>
        </p:spPr>
        <p:txBody>
          <a:bodyPr spcFirstLastPara="1" vert="horz" wrap="square" lIns="68569" tIns="34275" rIns="68569" bIns="34275" rtlCol="0" anchor="t" anchorCtr="0">
            <a:normAutofit fontScale="62500" lnSpcReduction="20000"/>
          </a:bodyPr>
          <a:lstStyle/>
          <a:p>
            <a:pPr marL="171450" indent="-171450" algn="just">
              <a:lnSpc>
                <a:spcPct val="120000"/>
              </a:lnSpc>
              <a:spcBef>
                <a:spcPts val="0"/>
              </a:spcBef>
              <a:buClr>
                <a:srgbClr val="0D405F"/>
              </a:buClr>
              <a:buSzPts val="2800"/>
            </a:pPr>
            <a:r>
              <a:rPr lang="en-IN" b="0" i="0"/>
              <a:t>is used to estimate the relationship between </a:t>
            </a:r>
            <a:r>
              <a:rPr lang="en-IN" b="1" i="0"/>
              <a:t>two or more independent variables </a:t>
            </a:r>
            <a:r>
              <a:rPr lang="en-IN" b="0" i="0"/>
              <a:t>and</a:t>
            </a:r>
            <a:r>
              <a:rPr lang="en-IN" b="1" i="0"/>
              <a:t> one dependent variable</a:t>
            </a:r>
            <a:endParaRPr/>
          </a:p>
          <a:p>
            <a:pPr marL="171450" indent="-171450" algn="just">
              <a:lnSpc>
                <a:spcPct val="120000"/>
              </a:lnSpc>
              <a:buClr>
                <a:srgbClr val="0D405F"/>
              </a:buClr>
              <a:buSzPts val="2800"/>
            </a:pPr>
            <a:r>
              <a:rPr lang="en-IN" b="1" i="0">
                <a:solidFill>
                  <a:srgbClr val="0D405F"/>
                </a:solidFill>
              </a:rPr>
              <a:t>Example:</a:t>
            </a:r>
            <a:endParaRPr/>
          </a:p>
          <a:p>
            <a:pPr marL="171450" indent="-171450" algn="just">
              <a:lnSpc>
                <a:spcPct val="120000"/>
              </a:lnSpc>
              <a:buSzPts val="2800"/>
            </a:pPr>
            <a:r>
              <a:rPr lang="en-IN"/>
              <a:t>The selling </a:t>
            </a:r>
            <a:r>
              <a:rPr lang="en-IN" b="1">
                <a:solidFill>
                  <a:srgbClr val="FF0000"/>
                </a:solidFill>
              </a:rPr>
              <a:t>price</a:t>
            </a:r>
            <a:r>
              <a:rPr lang="en-IN"/>
              <a:t> of a house can depend on the desirability of the </a:t>
            </a:r>
            <a:r>
              <a:rPr lang="en-IN" b="1">
                <a:solidFill>
                  <a:srgbClr val="00B050"/>
                </a:solidFill>
              </a:rPr>
              <a:t>location</a:t>
            </a:r>
            <a:r>
              <a:rPr lang="en-IN"/>
              <a:t>, the number of </a:t>
            </a:r>
            <a:r>
              <a:rPr lang="en-IN" b="1">
                <a:solidFill>
                  <a:srgbClr val="00B050"/>
                </a:solidFill>
              </a:rPr>
              <a:t>bedrooms</a:t>
            </a:r>
            <a:r>
              <a:rPr lang="en-IN"/>
              <a:t>, the number of </a:t>
            </a:r>
            <a:r>
              <a:rPr lang="en-IN" b="1">
                <a:solidFill>
                  <a:srgbClr val="00B050"/>
                </a:solidFill>
              </a:rPr>
              <a:t>bathrooms</a:t>
            </a:r>
            <a:r>
              <a:rPr lang="en-IN"/>
              <a:t>, the </a:t>
            </a:r>
            <a:r>
              <a:rPr lang="en-IN" b="1">
                <a:solidFill>
                  <a:srgbClr val="00B050"/>
                </a:solidFill>
              </a:rPr>
              <a:t>year</a:t>
            </a:r>
            <a:r>
              <a:rPr lang="en-IN"/>
              <a:t> the house was built, the </a:t>
            </a:r>
            <a:r>
              <a:rPr lang="en-IN" b="1">
                <a:solidFill>
                  <a:srgbClr val="00B050"/>
                </a:solidFill>
              </a:rPr>
              <a:t>square footage </a:t>
            </a:r>
            <a:r>
              <a:rPr lang="en-IN"/>
              <a:t>of the lot and a number of other factors</a:t>
            </a:r>
            <a:endParaRPr b="1">
              <a:solidFill>
                <a:srgbClr val="0D405F"/>
              </a:solidFill>
            </a:endParaRPr>
          </a:p>
          <a:p>
            <a:pPr marL="171450" indent="-171450" algn="just">
              <a:lnSpc>
                <a:spcPct val="120000"/>
              </a:lnSpc>
              <a:buSzPts val="2800"/>
            </a:pPr>
            <a:r>
              <a:rPr lang="en-IN"/>
              <a:t>The </a:t>
            </a:r>
            <a:r>
              <a:rPr lang="en-IN" b="1">
                <a:solidFill>
                  <a:srgbClr val="FF0000"/>
                </a:solidFill>
              </a:rPr>
              <a:t>height</a:t>
            </a:r>
            <a:r>
              <a:rPr lang="en-IN"/>
              <a:t> of a child can depend on the </a:t>
            </a:r>
            <a:r>
              <a:rPr lang="en-IN" b="1">
                <a:solidFill>
                  <a:srgbClr val="00CC00"/>
                </a:solidFill>
              </a:rPr>
              <a:t>height of the mother</a:t>
            </a:r>
            <a:r>
              <a:rPr lang="en-IN"/>
              <a:t>, the </a:t>
            </a:r>
            <a:r>
              <a:rPr lang="en-IN" b="1">
                <a:solidFill>
                  <a:srgbClr val="00CC00"/>
                </a:solidFill>
              </a:rPr>
              <a:t>height of the father</a:t>
            </a:r>
            <a:r>
              <a:rPr lang="en-IN"/>
              <a:t>, </a:t>
            </a:r>
            <a:r>
              <a:rPr lang="en-IN" b="1">
                <a:solidFill>
                  <a:srgbClr val="00CC00"/>
                </a:solidFill>
              </a:rPr>
              <a:t>nutrition</a:t>
            </a:r>
            <a:r>
              <a:rPr lang="en-IN"/>
              <a:t>, and environmental factors.</a:t>
            </a:r>
            <a:endParaRPr b="1" i="0">
              <a:solidFill>
                <a:srgbClr val="0D405F"/>
              </a:solidFill>
            </a:endParaRPr>
          </a:p>
          <a:p>
            <a:pPr marL="171450" indent="-38100" algn="just">
              <a:lnSpc>
                <a:spcPct val="120000"/>
              </a:lnSpc>
              <a:buSzPts val="2800"/>
              <a:buNone/>
            </a:pPr>
            <a:endParaRPr b="1" i="0">
              <a:solidFill>
                <a:srgbClr val="0D405F"/>
              </a:solidFill>
            </a:endParaRPr>
          </a:p>
          <a:p>
            <a:pPr marL="171450" indent="-38100" algn="just">
              <a:lnSpc>
                <a:spcPct val="120000"/>
              </a:lnSpc>
              <a:buSzPts val="280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101A77A-6C19-9022-D3A6-408AA6256BE1}"/>
              </a:ext>
            </a:extLst>
          </p:cNvPr>
          <p:cNvSpPr>
            <a:spLocks noGrp="1"/>
          </p:cNvSpPr>
          <p:nvPr>
            <p:ph type="body" idx="1"/>
          </p:nvPr>
        </p:nvSpPr>
        <p:spPr/>
        <p:txBody>
          <a:bodyPr/>
          <a:lstStyle/>
          <a:p>
            <a:endParaRPr lang="en-IN"/>
          </a:p>
        </p:txBody>
      </p:sp>
      <p:pic>
        <p:nvPicPr>
          <p:cNvPr id="4" name="Google Shape;576;p71" descr="Diagram&#10;&#10;Description automatically generated">
            <a:extLst>
              <a:ext uri="{FF2B5EF4-FFF2-40B4-BE49-F238E27FC236}">
                <a16:creationId xmlns:a16="http://schemas.microsoft.com/office/drawing/2014/main" id="{90C86BD2-9612-5D72-BBE4-CB10AE1FB039}"/>
              </a:ext>
            </a:extLst>
          </p:cNvPr>
          <p:cNvPicPr preferRelativeResize="0"/>
          <p:nvPr/>
        </p:nvPicPr>
        <p:blipFill rotWithShape="1">
          <a:blip r:embed="rId2">
            <a:alphaModFix/>
          </a:blip>
          <a:srcRect/>
          <a:stretch/>
        </p:blipFill>
        <p:spPr>
          <a:xfrm>
            <a:off x="628650" y="2038350"/>
            <a:ext cx="7886700" cy="2396179"/>
          </a:xfrm>
          <a:prstGeom prst="rect">
            <a:avLst/>
          </a:prstGeom>
          <a:noFill/>
          <a:ln>
            <a:noFill/>
          </a:ln>
        </p:spPr>
      </p:pic>
      <p:sp>
        <p:nvSpPr>
          <p:cNvPr id="5" name="Google Shape;567;p70">
            <a:extLst>
              <a:ext uri="{FF2B5EF4-FFF2-40B4-BE49-F238E27FC236}">
                <a16:creationId xmlns:a16="http://schemas.microsoft.com/office/drawing/2014/main" id="{BE7D51FE-0D05-68FE-4CC3-20D9EDFD013B}"/>
              </a:ext>
            </a:extLst>
          </p:cNvPr>
          <p:cNvSpPr txBox="1">
            <a:spLocks noGrp="1"/>
          </p:cNvSpPr>
          <p:nvPr>
            <p:ph type="title"/>
          </p:nvPr>
        </p:nvSpPr>
        <p:spPr>
          <a:xfrm>
            <a:off x="628650" y="274638"/>
            <a:ext cx="7886700" cy="993775"/>
          </a:xfrm>
          <a:prstGeom prst="rect">
            <a:avLst/>
          </a:prstGeom>
          <a:noFill/>
          <a:ln>
            <a:noFill/>
          </a:ln>
        </p:spPr>
        <p:txBody>
          <a:bodyPr spcFirstLastPara="1" vert="horz" wrap="square" lIns="68569" tIns="34275" rIns="68569" bIns="34275" rtlCol="0" anchor="ctr" anchorCtr="0">
            <a:normAutofit/>
          </a:bodyPr>
          <a:lstStyle/>
          <a:p>
            <a:pPr algn="ctr">
              <a:buSzPts val="4400"/>
            </a:pPr>
            <a:r>
              <a:rPr lang="en-IN"/>
              <a:t>Multiple linear regression model</a:t>
            </a:r>
            <a:endParaRPr/>
          </a:p>
        </p:txBody>
      </p:sp>
    </p:spTree>
    <p:extLst>
      <p:ext uri="{BB962C8B-B14F-4D97-AF65-F5344CB8AC3E}">
        <p14:creationId xmlns:p14="http://schemas.microsoft.com/office/powerpoint/2010/main" val="25482951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E7AEC-6CC7-4F18-428F-1DC25EDFF0A6}"/>
              </a:ext>
            </a:extLst>
          </p:cNvPr>
          <p:cNvSpPr>
            <a:spLocks noGrp="1"/>
          </p:cNvSpPr>
          <p:nvPr>
            <p:ph type="title"/>
          </p:nvPr>
        </p:nvSpPr>
        <p:spPr/>
        <p:txBody>
          <a:bodyPr/>
          <a:lstStyle/>
          <a:p>
            <a:r>
              <a:rPr lang="en-IN"/>
              <a:t>Regression Model</a:t>
            </a:r>
          </a:p>
        </p:txBody>
      </p:sp>
      <p:grpSp>
        <p:nvGrpSpPr>
          <p:cNvPr id="12" name="Group 11">
            <a:extLst>
              <a:ext uri="{FF2B5EF4-FFF2-40B4-BE49-F238E27FC236}">
                <a16:creationId xmlns:a16="http://schemas.microsoft.com/office/drawing/2014/main" id="{11C7297F-65D3-E6D6-3016-83865E804C34}"/>
              </a:ext>
            </a:extLst>
          </p:cNvPr>
          <p:cNvGrpSpPr/>
          <p:nvPr/>
        </p:nvGrpSpPr>
        <p:grpSpPr>
          <a:xfrm>
            <a:off x="152400" y="1154248"/>
            <a:ext cx="9143744" cy="3904208"/>
            <a:chOff x="152400" y="1154248"/>
            <a:chExt cx="9143744" cy="3904208"/>
          </a:xfrm>
        </p:grpSpPr>
        <p:pic>
          <p:nvPicPr>
            <p:cNvPr id="4" name="Picture 3">
              <a:extLst>
                <a:ext uri="{FF2B5EF4-FFF2-40B4-BE49-F238E27FC236}">
                  <a16:creationId xmlns:a16="http://schemas.microsoft.com/office/drawing/2014/main" id="{FFF01AC5-DB97-0B6B-A78F-163213E51381}"/>
                </a:ext>
              </a:extLst>
            </p:cNvPr>
            <p:cNvPicPr>
              <a:picLocks noChangeAspect="1"/>
            </p:cNvPicPr>
            <p:nvPr/>
          </p:nvPicPr>
          <p:blipFill rotWithShape="1">
            <a:blip r:embed="rId2"/>
            <a:srcRect t="21121"/>
            <a:stretch/>
          </p:blipFill>
          <p:spPr>
            <a:xfrm>
              <a:off x="152400" y="1154248"/>
              <a:ext cx="6405879" cy="3904208"/>
            </a:xfrm>
            <a:prstGeom prst="rect">
              <a:avLst/>
            </a:prstGeom>
          </p:spPr>
        </p:pic>
        <p:cxnSp>
          <p:nvCxnSpPr>
            <p:cNvPr id="5" name="Straight Arrow Connector 4">
              <a:extLst>
                <a:ext uri="{FF2B5EF4-FFF2-40B4-BE49-F238E27FC236}">
                  <a16:creationId xmlns:a16="http://schemas.microsoft.com/office/drawing/2014/main" id="{AE4C2048-B277-EAB5-5614-5C24FB429CD0}"/>
                </a:ext>
              </a:extLst>
            </p:cNvPr>
            <p:cNvCxnSpPr>
              <a:cxnSpLocks/>
            </p:cNvCxnSpPr>
            <p:nvPr/>
          </p:nvCxnSpPr>
          <p:spPr>
            <a:xfrm flipV="1">
              <a:off x="6184274" y="2121824"/>
              <a:ext cx="1064029" cy="507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AB98DB8A-8C7A-F985-CFF6-43FDB1152309}"/>
                </a:ext>
              </a:extLst>
            </p:cNvPr>
            <p:cNvCxnSpPr>
              <a:cxnSpLocks/>
            </p:cNvCxnSpPr>
            <p:nvPr/>
          </p:nvCxnSpPr>
          <p:spPr>
            <a:xfrm flipV="1">
              <a:off x="5562600" y="3106352"/>
              <a:ext cx="1886989" cy="623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055DF58-54FF-710F-9DEF-3EFA69F46B86}"/>
                </a:ext>
              </a:extLst>
            </p:cNvPr>
            <p:cNvSpPr txBox="1"/>
            <p:nvPr/>
          </p:nvSpPr>
          <p:spPr>
            <a:xfrm>
              <a:off x="7248303" y="1540679"/>
              <a:ext cx="1904868" cy="1200329"/>
            </a:xfrm>
            <a:prstGeom prst="rect">
              <a:avLst/>
            </a:prstGeom>
            <a:noFill/>
          </p:spPr>
          <p:txBody>
            <a:bodyPr wrap="square" rtlCol="0">
              <a:spAutoFit/>
            </a:bodyPr>
            <a:lstStyle/>
            <a:p>
              <a:r>
                <a:rPr lang="en-US"/>
                <a:t>Actual line from which the examples are drawn.</a:t>
              </a:r>
              <a:endParaRPr lang="en-IN"/>
            </a:p>
          </p:txBody>
        </p:sp>
        <p:sp>
          <p:nvSpPr>
            <p:cNvPr id="8" name="TextBox 7">
              <a:extLst>
                <a:ext uri="{FF2B5EF4-FFF2-40B4-BE49-F238E27FC236}">
                  <a16:creationId xmlns:a16="http://schemas.microsoft.com/office/drawing/2014/main" id="{EC9307A4-4F4F-F966-0B85-9C3321D68923}"/>
                </a:ext>
              </a:extLst>
            </p:cNvPr>
            <p:cNvSpPr txBox="1"/>
            <p:nvPr/>
          </p:nvSpPr>
          <p:spPr>
            <a:xfrm>
              <a:off x="7449589" y="2842211"/>
              <a:ext cx="1846555" cy="923330"/>
            </a:xfrm>
            <a:prstGeom prst="rect">
              <a:avLst/>
            </a:prstGeom>
            <a:noFill/>
          </p:spPr>
          <p:txBody>
            <a:bodyPr wrap="square" rtlCol="0">
              <a:spAutoFit/>
            </a:bodyPr>
            <a:lstStyle/>
            <a:p>
              <a:r>
                <a:rPr lang="en-US"/>
                <a:t>Estimated equation we want to create.</a:t>
              </a:r>
              <a:endParaRPr lang="en-IN"/>
            </a:p>
          </p:txBody>
        </p:sp>
        <p:sp>
          <p:nvSpPr>
            <p:cNvPr id="11" name="Rectangle 10">
              <a:extLst>
                <a:ext uri="{FF2B5EF4-FFF2-40B4-BE49-F238E27FC236}">
                  <a16:creationId xmlns:a16="http://schemas.microsoft.com/office/drawing/2014/main" id="{40B129FB-6EB0-02B7-1B0A-7357707D56FE}"/>
                </a:ext>
              </a:extLst>
            </p:cNvPr>
            <p:cNvSpPr/>
            <p:nvPr/>
          </p:nvSpPr>
          <p:spPr>
            <a:xfrm>
              <a:off x="5344688" y="4723297"/>
              <a:ext cx="1371600" cy="2927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34293824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E9F014-EFEC-E948-C67B-DF6F3AC57A87}"/>
              </a:ext>
            </a:extLst>
          </p:cNvPr>
          <p:cNvPicPr>
            <a:picLocks noChangeAspect="1"/>
          </p:cNvPicPr>
          <p:nvPr/>
        </p:nvPicPr>
        <p:blipFill rotWithShape="1">
          <a:blip r:embed="rId2"/>
          <a:srcRect t="16561" b="1543"/>
          <a:stretch/>
        </p:blipFill>
        <p:spPr>
          <a:xfrm>
            <a:off x="228600" y="1180676"/>
            <a:ext cx="5851902" cy="3600874"/>
          </a:xfrm>
          <a:prstGeom prst="rect">
            <a:avLst/>
          </a:prstGeom>
        </p:spPr>
      </p:pic>
      <p:sp>
        <p:nvSpPr>
          <p:cNvPr id="5" name="Google Shape;567;p70">
            <a:extLst>
              <a:ext uri="{FF2B5EF4-FFF2-40B4-BE49-F238E27FC236}">
                <a16:creationId xmlns:a16="http://schemas.microsoft.com/office/drawing/2014/main" id="{6BCC26AC-B091-3045-1BBC-6FC753657BAE}"/>
              </a:ext>
            </a:extLst>
          </p:cNvPr>
          <p:cNvSpPr txBox="1">
            <a:spLocks noGrp="1"/>
          </p:cNvSpPr>
          <p:nvPr>
            <p:ph type="title"/>
          </p:nvPr>
        </p:nvSpPr>
        <p:spPr>
          <a:xfrm>
            <a:off x="628650" y="274638"/>
            <a:ext cx="7886700" cy="993775"/>
          </a:xfrm>
          <a:prstGeom prst="rect">
            <a:avLst/>
          </a:prstGeom>
          <a:noFill/>
          <a:ln>
            <a:noFill/>
          </a:ln>
        </p:spPr>
        <p:txBody>
          <a:bodyPr spcFirstLastPara="1" vert="horz" wrap="square" lIns="68569" tIns="34275" rIns="68569" bIns="34275" rtlCol="0" anchor="ctr" anchorCtr="0">
            <a:normAutofit/>
          </a:bodyPr>
          <a:lstStyle/>
          <a:p>
            <a:pPr algn="ctr">
              <a:buSzPts val="4400"/>
            </a:pPr>
            <a:r>
              <a:rPr lang="en-IN"/>
              <a:t>Multiple linear regression model</a:t>
            </a:r>
            <a:endParaRPr/>
          </a:p>
        </p:txBody>
      </p:sp>
      <p:pic>
        <p:nvPicPr>
          <p:cNvPr id="6" name="Picture 5">
            <a:extLst>
              <a:ext uri="{FF2B5EF4-FFF2-40B4-BE49-F238E27FC236}">
                <a16:creationId xmlns:a16="http://schemas.microsoft.com/office/drawing/2014/main" id="{147C41FD-419C-68BA-117E-0918EF937831}"/>
              </a:ext>
            </a:extLst>
          </p:cNvPr>
          <p:cNvPicPr>
            <a:picLocks noChangeAspect="1"/>
          </p:cNvPicPr>
          <p:nvPr/>
        </p:nvPicPr>
        <p:blipFill rotWithShape="1">
          <a:blip r:embed="rId3"/>
          <a:srcRect l="19165" t="32223" r="16669" b="27778"/>
          <a:stretch/>
        </p:blipFill>
        <p:spPr>
          <a:xfrm>
            <a:off x="213102" y="1200150"/>
            <a:ext cx="5867400" cy="1752600"/>
          </a:xfrm>
          <a:prstGeom prst="rect">
            <a:avLst/>
          </a:prstGeom>
        </p:spPr>
      </p:pic>
      <p:pic>
        <p:nvPicPr>
          <p:cNvPr id="3" name="Picture 2">
            <a:extLst>
              <a:ext uri="{FF2B5EF4-FFF2-40B4-BE49-F238E27FC236}">
                <a16:creationId xmlns:a16="http://schemas.microsoft.com/office/drawing/2014/main" id="{53BF4CD9-259A-B943-50F1-61A2FDF5552B}"/>
              </a:ext>
            </a:extLst>
          </p:cNvPr>
          <p:cNvPicPr>
            <a:picLocks noChangeAspect="1"/>
          </p:cNvPicPr>
          <p:nvPr/>
        </p:nvPicPr>
        <p:blipFill rotWithShape="1">
          <a:blip r:embed="rId4"/>
          <a:srcRect l="38334" t="51024" r="29999" b="22955"/>
          <a:stretch/>
        </p:blipFill>
        <p:spPr>
          <a:xfrm>
            <a:off x="5410200" y="1778754"/>
            <a:ext cx="3733800" cy="2286000"/>
          </a:xfrm>
          <a:prstGeom prst="rect">
            <a:avLst/>
          </a:prstGeom>
        </p:spPr>
      </p:pic>
    </p:spTree>
    <p:extLst>
      <p:ext uri="{BB962C8B-B14F-4D97-AF65-F5344CB8AC3E}">
        <p14:creationId xmlns:p14="http://schemas.microsoft.com/office/powerpoint/2010/main" val="32691155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91964-8CF5-69A1-9141-8BBD24061EC4}"/>
              </a:ext>
            </a:extLst>
          </p:cNvPr>
          <p:cNvSpPr>
            <a:spLocks noGrp="1"/>
          </p:cNvSpPr>
          <p:nvPr>
            <p:ph type="title"/>
          </p:nvPr>
        </p:nvSpPr>
        <p:spPr>
          <a:xfrm>
            <a:off x="228600" y="24493"/>
            <a:ext cx="7886700" cy="994172"/>
          </a:xfrm>
        </p:spPr>
        <p:txBody>
          <a:bodyPr/>
          <a:lstStyle/>
          <a:p>
            <a:r>
              <a:rPr lang="en-IN" b="1"/>
              <a:t>Cost Function</a:t>
            </a:r>
          </a:p>
        </p:txBody>
      </p:sp>
      <p:pic>
        <p:nvPicPr>
          <p:cNvPr id="5" name="Picture 4">
            <a:extLst>
              <a:ext uri="{FF2B5EF4-FFF2-40B4-BE49-F238E27FC236}">
                <a16:creationId xmlns:a16="http://schemas.microsoft.com/office/drawing/2014/main" id="{2FEDE503-505E-5581-55B5-1A9927E4582B}"/>
              </a:ext>
            </a:extLst>
          </p:cNvPr>
          <p:cNvPicPr>
            <a:picLocks noChangeAspect="1"/>
          </p:cNvPicPr>
          <p:nvPr/>
        </p:nvPicPr>
        <p:blipFill>
          <a:blip r:embed="rId2"/>
          <a:stretch>
            <a:fillRect/>
          </a:stretch>
        </p:blipFill>
        <p:spPr>
          <a:xfrm>
            <a:off x="1066800" y="895350"/>
            <a:ext cx="7277100" cy="1068536"/>
          </a:xfrm>
          <a:prstGeom prst="rect">
            <a:avLst/>
          </a:prstGeom>
        </p:spPr>
      </p:pic>
      <p:pic>
        <p:nvPicPr>
          <p:cNvPr id="7" name="Picture 6">
            <a:extLst>
              <a:ext uri="{FF2B5EF4-FFF2-40B4-BE49-F238E27FC236}">
                <a16:creationId xmlns:a16="http://schemas.microsoft.com/office/drawing/2014/main" id="{BC0B57EB-B994-92C3-3FB3-6D153A1CDCD2}"/>
              </a:ext>
            </a:extLst>
          </p:cNvPr>
          <p:cNvPicPr>
            <a:picLocks noChangeAspect="1"/>
          </p:cNvPicPr>
          <p:nvPr/>
        </p:nvPicPr>
        <p:blipFill>
          <a:blip r:embed="rId3"/>
          <a:stretch>
            <a:fillRect/>
          </a:stretch>
        </p:blipFill>
        <p:spPr>
          <a:xfrm>
            <a:off x="6172200" y="2348711"/>
            <a:ext cx="1485900" cy="484649"/>
          </a:xfrm>
          <a:prstGeom prst="rect">
            <a:avLst/>
          </a:prstGeom>
        </p:spPr>
      </p:pic>
      <p:sp>
        <p:nvSpPr>
          <p:cNvPr id="8" name="TextBox 7">
            <a:extLst>
              <a:ext uri="{FF2B5EF4-FFF2-40B4-BE49-F238E27FC236}">
                <a16:creationId xmlns:a16="http://schemas.microsoft.com/office/drawing/2014/main" id="{BDD092AF-10A9-621C-BF2B-6A5FB8DA3355}"/>
              </a:ext>
            </a:extLst>
          </p:cNvPr>
          <p:cNvSpPr txBox="1"/>
          <p:nvPr/>
        </p:nvSpPr>
        <p:spPr>
          <a:xfrm>
            <a:off x="1143000" y="2310140"/>
            <a:ext cx="6707285" cy="523220"/>
          </a:xfrm>
          <a:prstGeom prst="rect">
            <a:avLst/>
          </a:prstGeom>
          <a:noFill/>
        </p:spPr>
        <p:txBody>
          <a:bodyPr wrap="none" rtlCol="0">
            <a:spAutoFit/>
          </a:bodyPr>
          <a:lstStyle/>
          <a:p>
            <a:r>
              <a:rPr lang="en-US" sz="2800">
                <a:latin typeface="Bookman Old Style" panose="02050604050505020204" pitchFamily="18" charset="0"/>
              </a:rPr>
              <a:t>Find b and w to minimize J (            )</a:t>
            </a:r>
            <a:endParaRPr lang="en-IN" sz="2800">
              <a:latin typeface="Bookman Old Style" panose="02050604050505020204" pitchFamily="18" charset="0"/>
            </a:endParaRPr>
          </a:p>
        </p:txBody>
      </p:sp>
    </p:spTree>
    <p:extLst>
      <p:ext uri="{BB962C8B-B14F-4D97-AF65-F5344CB8AC3E}">
        <p14:creationId xmlns:p14="http://schemas.microsoft.com/office/powerpoint/2010/main" val="33835242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839843" y="438150"/>
            <a:ext cx="3089435" cy="523220"/>
          </a:xfrm>
          <a:prstGeom prst="rect">
            <a:avLst/>
          </a:prstGeom>
          <a:noFill/>
        </p:spPr>
        <p:txBody>
          <a:bodyPr wrap="none" rtlCol="0">
            <a:spAutoFit/>
          </a:bodyPr>
          <a:lstStyle/>
          <a:p>
            <a:r>
              <a:rPr lang="en-US" sz="2800"/>
              <a:t>Have some function</a:t>
            </a:r>
          </a:p>
        </p:txBody>
      </p:sp>
      <p:sp>
        <p:nvSpPr>
          <p:cNvPr id="44" name="TextBox 43"/>
          <p:cNvSpPr txBox="1"/>
          <p:nvPr/>
        </p:nvSpPr>
        <p:spPr>
          <a:xfrm>
            <a:off x="839843" y="1057930"/>
            <a:ext cx="1050544" cy="523220"/>
          </a:xfrm>
          <a:prstGeom prst="rect">
            <a:avLst/>
          </a:prstGeom>
          <a:noFill/>
        </p:spPr>
        <p:txBody>
          <a:bodyPr wrap="none" rtlCol="0">
            <a:spAutoFit/>
          </a:bodyPr>
          <a:lstStyle/>
          <a:p>
            <a:r>
              <a:rPr lang="en-US" sz="2800"/>
              <a:t>Want </a:t>
            </a:r>
          </a:p>
        </p:txBody>
      </p:sp>
      <p:sp>
        <p:nvSpPr>
          <p:cNvPr id="15" name="TextBox 14"/>
          <p:cNvSpPr txBox="1"/>
          <p:nvPr/>
        </p:nvSpPr>
        <p:spPr>
          <a:xfrm>
            <a:off x="685800" y="1787468"/>
            <a:ext cx="7620000" cy="2962513"/>
          </a:xfrm>
          <a:prstGeom prst="roundRect">
            <a:avLst/>
          </a:prstGeom>
          <a:noFill/>
          <a:ln>
            <a:noFill/>
          </a:ln>
        </p:spPr>
        <p:txBody>
          <a:bodyPr wrap="square" rtlCol="0">
            <a:spAutoFit/>
          </a:bodyPr>
          <a:lstStyle/>
          <a:p>
            <a:pPr>
              <a:lnSpc>
                <a:spcPct val="150000"/>
              </a:lnSpc>
            </a:pPr>
            <a:r>
              <a:rPr lang="en-US" sz="2800" b="1"/>
              <a:t>Outline:</a:t>
            </a:r>
          </a:p>
          <a:p>
            <a:pPr marL="800100" lvl="1" indent="-342900">
              <a:lnSpc>
                <a:spcPct val="150000"/>
              </a:lnSpc>
              <a:buFont typeface="Arial" pitchFamily="34" charset="0"/>
              <a:buChar char="•"/>
            </a:pPr>
            <a:r>
              <a:rPr lang="en-US" sz="2800"/>
              <a:t>Start with some</a:t>
            </a:r>
          </a:p>
          <a:p>
            <a:pPr marL="800100" lvl="1" indent="-342900">
              <a:lnSpc>
                <a:spcPct val="150000"/>
              </a:lnSpc>
              <a:buFont typeface="Arial" pitchFamily="34" charset="0"/>
              <a:buChar char="•"/>
            </a:pPr>
            <a:r>
              <a:rPr lang="en-US" sz="2800"/>
              <a:t>Keep changing          to reduce                     until we hopefully end up at a minimum</a:t>
            </a:r>
          </a:p>
        </p:txBody>
      </p:sp>
      <p:sp>
        <p:nvSpPr>
          <p:cNvPr id="2" name="TextBox 1">
            <a:extLst>
              <a:ext uri="{FF2B5EF4-FFF2-40B4-BE49-F238E27FC236}">
                <a16:creationId xmlns:a16="http://schemas.microsoft.com/office/drawing/2014/main" id="{B577B928-2B94-C49E-1EAE-BD04F47E6745}"/>
              </a:ext>
            </a:extLst>
          </p:cNvPr>
          <p:cNvSpPr txBox="1"/>
          <p:nvPr/>
        </p:nvSpPr>
        <p:spPr>
          <a:xfrm>
            <a:off x="4148857" y="499705"/>
            <a:ext cx="1050544" cy="461665"/>
          </a:xfrm>
          <a:prstGeom prst="rect">
            <a:avLst/>
          </a:prstGeom>
          <a:noFill/>
        </p:spPr>
        <p:txBody>
          <a:bodyPr wrap="square">
            <a:spAutoFit/>
          </a:bodyPr>
          <a:lstStyle/>
          <a:p>
            <a:r>
              <a:rPr lang="en-IN" sz="2400">
                <a:latin typeface="Cambria Math" panose="02040503050406030204" pitchFamily="18" charset="0"/>
                <a:ea typeface="Cambria Math" panose="02040503050406030204" pitchFamily="18" charset="0"/>
                <a:cs typeface="Courier New" panose="02070309020205020404" pitchFamily="49" charset="0"/>
              </a:rPr>
              <a:t>J(</a:t>
            </a:r>
            <a:r>
              <a:rPr lang="en-IN" sz="2400" err="1">
                <a:latin typeface="Cambria Math" panose="02040503050406030204" pitchFamily="18" charset="0"/>
                <a:ea typeface="Cambria Math" panose="02040503050406030204" pitchFamily="18" charset="0"/>
                <a:cs typeface="Courier New" panose="02070309020205020404" pitchFamily="49" charset="0"/>
              </a:rPr>
              <a:t>b,w</a:t>
            </a:r>
            <a:r>
              <a:rPr lang="en-IN" sz="2400">
                <a:latin typeface="Cambria Math" panose="02040503050406030204" pitchFamily="18" charset="0"/>
                <a:ea typeface="Cambria Math" panose="02040503050406030204" pitchFamily="18" charset="0"/>
                <a:cs typeface="Courier New" panose="02070309020205020404" pitchFamily="49" charset="0"/>
              </a:rPr>
              <a:t>)</a:t>
            </a:r>
            <a:endParaRPr lang="en-IN" sz="2400"/>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C82F3DA8-8BEC-1DBC-C1AF-68CC9FB346D5}"/>
                  </a:ext>
                </a:extLst>
              </p:cNvPr>
              <p:cNvSpPr txBox="1"/>
              <p:nvPr/>
            </p:nvSpPr>
            <p:spPr>
              <a:xfrm>
                <a:off x="2268533" y="1072100"/>
                <a:ext cx="1652055" cy="5090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IN" sz="2400" i="1" smtClean="0">
                              <a:latin typeface="Cambria Math" panose="02040503050406030204" pitchFamily="18" charset="0"/>
                            </a:rPr>
                          </m:ctrlPr>
                        </m:funcPr>
                        <m:fName>
                          <m:limLow>
                            <m:limLowPr>
                              <m:ctrlPr>
                                <a:rPr lang="en-IN" sz="2400" i="1" smtClean="0">
                                  <a:latin typeface="Cambria Math" panose="02040503050406030204" pitchFamily="18" charset="0"/>
                                </a:rPr>
                              </m:ctrlPr>
                            </m:limLowPr>
                            <m:e>
                              <m:r>
                                <m:rPr>
                                  <m:sty m:val="p"/>
                                </m:rPr>
                                <a:rPr lang="en-IN" sz="2400" i="0" smtClean="0">
                                  <a:latin typeface="Cambria Math" panose="02040503050406030204" pitchFamily="18" charset="0"/>
                                </a:rPr>
                                <m:t>min</m:t>
                              </m:r>
                            </m:e>
                            <m:lim>
                              <m:r>
                                <a:rPr lang="en-IN" sz="2400" b="0" i="1" smtClean="0">
                                  <a:latin typeface="Cambria Math" panose="02040503050406030204" pitchFamily="18" charset="0"/>
                                </a:rPr>
                                <m:t>𝑏</m:t>
                              </m:r>
                              <m:r>
                                <a:rPr lang="en-IN" sz="2400" b="0" i="1" smtClean="0">
                                  <a:latin typeface="Cambria Math" panose="02040503050406030204" pitchFamily="18" charset="0"/>
                                </a:rPr>
                                <m:t>,</m:t>
                              </m:r>
                              <m:r>
                                <a:rPr lang="en-IN" sz="2400" b="0" i="1" smtClean="0">
                                  <a:latin typeface="Cambria Math" panose="02040503050406030204" pitchFamily="18" charset="0"/>
                                </a:rPr>
                                <m:t>𝑤</m:t>
                              </m:r>
                            </m:lim>
                          </m:limLow>
                        </m:fName>
                        <m:e>
                          <m:r>
                            <a:rPr lang="en-IN" sz="2400" b="0" i="1" smtClean="0">
                              <a:latin typeface="Cambria Math" panose="02040503050406030204" pitchFamily="18" charset="0"/>
                            </a:rPr>
                            <m:t>𝐽</m:t>
                          </m:r>
                          <m:r>
                            <a:rPr lang="en-IN" sz="2400" b="0" i="1" smtClean="0">
                              <a:latin typeface="Cambria Math" panose="02040503050406030204" pitchFamily="18" charset="0"/>
                            </a:rPr>
                            <m:t>(</m:t>
                          </m:r>
                          <m:r>
                            <a:rPr lang="en-IN" sz="2400" b="0" i="1" smtClean="0">
                              <a:latin typeface="Cambria Math" panose="02040503050406030204" pitchFamily="18" charset="0"/>
                            </a:rPr>
                            <m:t>𝑏</m:t>
                          </m:r>
                          <m:r>
                            <a:rPr lang="en-IN" sz="2400" b="0" i="1" smtClean="0">
                              <a:latin typeface="Cambria Math" panose="02040503050406030204" pitchFamily="18" charset="0"/>
                            </a:rPr>
                            <m:t>,</m:t>
                          </m:r>
                          <m:r>
                            <a:rPr lang="en-IN" sz="2400" b="0" i="1" smtClean="0">
                              <a:latin typeface="Cambria Math" panose="02040503050406030204" pitchFamily="18" charset="0"/>
                            </a:rPr>
                            <m:t>𝑤</m:t>
                          </m:r>
                          <m:r>
                            <a:rPr lang="en-IN" sz="2400" b="0" i="1" smtClean="0">
                              <a:latin typeface="Cambria Math" panose="02040503050406030204" pitchFamily="18" charset="0"/>
                            </a:rPr>
                            <m:t>)</m:t>
                          </m:r>
                        </m:e>
                      </m:func>
                    </m:oMath>
                  </m:oMathPara>
                </a14:m>
                <a:endParaRPr lang="en-IN" sz="2400">
                  <a:latin typeface="Courier New" panose="02070309020205020404" pitchFamily="49" charset="0"/>
                  <a:cs typeface="Courier New" panose="02070309020205020404" pitchFamily="49" charset="0"/>
                </a:endParaRPr>
              </a:p>
            </p:txBody>
          </p:sp>
        </mc:Choice>
        <mc:Fallback>
          <p:sp>
            <p:nvSpPr>
              <p:cNvPr id="4" name="TextBox 3">
                <a:extLst>
                  <a:ext uri="{FF2B5EF4-FFF2-40B4-BE49-F238E27FC236}">
                    <a16:creationId xmlns:a16="http://schemas.microsoft.com/office/drawing/2014/main" id="{C82F3DA8-8BEC-1DBC-C1AF-68CC9FB346D5}"/>
                  </a:ext>
                </a:extLst>
              </p:cNvPr>
              <p:cNvSpPr txBox="1">
                <a:spLocks noRot="1" noChangeAspect="1" noMove="1" noResize="1" noEditPoints="1" noAdjustHandles="1" noChangeArrowheads="1" noChangeShapeType="1" noTextEdit="1"/>
              </p:cNvSpPr>
              <p:nvPr/>
            </p:nvSpPr>
            <p:spPr>
              <a:xfrm>
                <a:off x="2268533" y="1072100"/>
                <a:ext cx="1652055" cy="509050"/>
              </a:xfrm>
              <a:prstGeom prst="rect">
                <a:avLst/>
              </a:prstGeom>
              <a:blipFill>
                <a:blip r:embed="rId3"/>
                <a:stretch>
                  <a:fillRect l="-369" r="-2952" b="-9639"/>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7C4D1FF2-5E8A-9783-A04D-6FEFC78BA18F}"/>
              </a:ext>
            </a:extLst>
          </p:cNvPr>
          <p:cNvSpPr txBox="1"/>
          <p:nvPr/>
        </p:nvSpPr>
        <p:spPr>
          <a:xfrm>
            <a:off x="4148857" y="2724150"/>
            <a:ext cx="685800" cy="461665"/>
          </a:xfrm>
          <a:prstGeom prst="rect">
            <a:avLst/>
          </a:prstGeom>
          <a:noFill/>
        </p:spPr>
        <p:txBody>
          <a:bodyPr wrap="square">
            <a:spAutoFit/>
          </a:bodyPr>
          <a:lstStyle/>
          <a:p>
            <a:r>
              <a:rPr lang="en-IN" sz="2400" err="1">
                <a:latin typeface="Cambria Math" panose="02040503050406030204" pitchFamily="18" charset="0"/>
                <a:ea typeface="Cambria Math" panose="02040503050406030204" pitchFamily="18" charset="0"/>
                <a:cs typeface="Courier New" panose="02070309020205020404" pitchFamily="49" charset="0"/>
              </a:rPr>
              <a:t>b,w</a:t>
            </a:r>
            <a:endParaRPr lang="en-IN" sz="2400"/>
          </a:p>
        </p:txBody>
      </p:sp>
      <p:sp>
        <p:nvSpPr>
          <p:cNvPr id="6" name="TextBox 5">
            <a:extLst>
              <a:ext uri="{FF2B5EF4-FFF2-40B4-BE49-F238E27FC236}">
                <a16:creationId xmlns:a16="http://schemas.microsoft.com/office/drawing/2014/main" id="{D5A2A115-7F2D-B97B-6F17-0AB8C5515D30}"/>
              </a:ext>
            </a:extLst>
          </p:cNvPr>
          <p:cNvSpPr txBox="1"/>
          <p:nvPr/>
        </p:nvSpPr>
        <p:spPr>
          <a:xfrm>
            <a:off x="6019800" y="3392133"/>
            <a:ext cx="1050544" cy="461665"/>
          </a:xfrm>
          <a:prstGeom prst="rect">
            <a:avLst/>
          </a:prstGeom>
          <a:noFill/>
        </p:spPr>
        <p:txBody>
          <a:bodyPr wrap="square">
            <a:spAutoFit/>
          </a:bodyPr>
          <a:lstStyle/>
          <a:p>
            <a:r>
              <a:rPr lang="en-IN" sz="2400">
                <a:latin typeface="Cambria Math" panose="02040503050406030204" pitchFamily="18" charset="0"/>
                <a:ea typeface="Cambria Math" panose="02040503050406030204" pitchFamily="18" charset="0"/>
                <a:cs typeface="Courier New" panose="02070309020205020404" pitchFamily="49" charset="0"/>
              </a:rPr>
              <a:t>J(</a:t>
            </a:r>
            <a:r>
              <a:rPr lang="en-IN" sz="2400" err="1">
                <a:latin typeface="Cambria Math" panose="02040503050406030204" pitchFamily="18" charset="0"/>
                <a:ea typeface="Cambria Math" panose="02040503050406030204" pitchFamily="18" charset="0"/>
                <a:cs typeface="Courier New" panose="02070309020205020404" pitchFamily="49" charset="0"/>
              </a:rPr>
              <a:t>b,w</a:t>
            </a:r>
            <a:r>
              <a:rPr lang="en-IN" sz="2400">
                <a:latin typeface="Cambria Math" panose="02040503050406030204" pitchFamily="18" charset="0"/>
                <a:ea typeface="Cambria Math" panose="02040503050406030204" pitchFamily="18" charset="0"/>
                <a:cs typeface="Courier New" panose="02070309020205020404" pitchFamily="49" charset="0"/>
              </a:rPr>
              <a:t>)</a:t>
            </a:r>
            <a:endParaRPr lang="en-IN" sz="2400"/>
          </a:p>
        </p:txBody>
      </p:sp>
      <p:sp>
        <p:nvSpPr>
          <p:cNvPr id="7" name="TextBox 6">
            <a:extLst>
              <a:ext uri="{FF2B5EF4-FFF2-40B4-BE49-F238E27FC236}">
                <a16:creationId xmlns:a16="http://schemas.microsoft.com/office/drawing/2014/main" id="{6A35956D-7CE8-A54F-78E6-EE41AE006F4F}"/>
              </a:ext>
            </a:extLst>
          </p:cNvPr>
          <p:cNvSpPr txBox="1"/>
          <p:nvPr/>
        </p:nvSpPr>
        <p:spPr>
          <a:xfrm>
            <a:off x="3886200" y="3392133"/>
            <a:ext cx="685800" cy="461665"/>
          </a:xfrm>
          <a:prstGeom prst="rect">
            <a:avLst/>
          </a:prstGeom>
          <a:noFill/>
        </p:spPr>
        <p:txBody>
          <a:bodyPr wrap="square">
            <a:spAutoFit/>
          </a:bodyPr>
          <a:lstStyle/>
          <a:p>
            <a:r>
              <a:rPr lang="en-IN" sz="2400" err="1">
                <a:latin typeface="Cambria Math" panose="02040503050406030204" pitchFamily="18" charset="0"/>
                <a:ea typeface="Cambria Math" panose="02040503050406030204" pitchFamily="18" charset="0"/>
                <a:cs typeface="Courier New" panose="02070309020205020404" pitchFamily="49" charset="0"/>
              </a:rPr>
              <a:t>b,w</a:t>
            </a:r>
            <a:endParaRPr lang="en-IN" sz="2400"/>
          </a:p>
        </p:txBody>
      </p:sp>
      <p:sp>
        <p:nvSpPr>
          <p:cNvPr id="8" name="Rectangle 7">
            <a:extLst>
              <a:ext uri="{FF2B5EF4-FFF2-40B4-BE49-F238E27FC236}">
                <a16:creationId xmlns:a16="http://schemas.microsoft.com/office/drawing/2014/main" id="{C5BC310C-95FF-38A7-B5CB-A12190158474}"/>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8431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3BB65-5A02-DE20-77FD-F52D08EE8259}"/>
              </a:ext>
            </a:extLst>
          </p:cNvPr>
          <p:cNvSpPr>
            <a:spLocks noGrp="1"/>
          </p:cNvSpPr>
          <p:nvPr>
            <p:ph type="title"/>
          </p:nvPr>
        </p:nvSpPr>
        <p:spPr/>
        <p:txBody>
          <a:bodyPr/>
          <a:lstStyle/>
          <a:p>
            <a:r>
              <a:rPr lang="en-IN"/>
              <a:t>Gradient descent/delta rule/LMS method</a:t>
            </a:r>
          </a:p>
        </p:txBody>
      </p:sp>
      <p:pic>
        <p:nvPicPr>
          <p:cNvPr id="1026" name="Picture 2">
            <a:extLst>
              <a:ext uri="{FF2B5EF4-FFF2-40B4-BE49-F238E27FC236}">
                <a16:creationId xmlns:a16="http://schemas.microsoft.com/office/drawing/2014/main" id="{A287529A-6B48-C90C-E47C-472794902F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123950"/>
            <a:ext cx="5953125" cy="3586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0351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04800" y="361950"/>
            <a:ext cx="1954381" cy="461665"/>
          </a:xfrm>
          <a:prstGeom prst="rect">
            <a:avLst/>
          </a:prstGeom>
          <a:noFill/>
        </p:spPr>
        <p:txBody>
          <a:bodyPr wrap="none" rtlCol="0">
            <a:spAutoFit/>
          </a:bodyPr>
          <a:lstStyle/>
          <a:p>
            <a:r>
              <a:rPr lang="en-US" sz="2400">
                <a:latin typeface="Bookman Old Style" panose="02050604050505020204" pitchFamily="18" charset="0"/>
              </a:rPr>
              <a:t>Hypothesis:</a:t>
            </a:r>
          </a:p>
        </p:txBody>
      </p:sp>
      <p:sp>
        <p:nvSpPr>
          <p:cNvPr id="15" name="TextBox 14"/>
          <p:cNvSpPr txBox="1"/>
          <p:nvPr/>
        </p:nvSpPr>
        <p:spPr>
          <a:xfrm>
            <a:off x="304800" y="1478062"/>
            <a:ext cx="1984839" cy="461665"/>
          </a:xfrm>
          <a:prstGeom prst="rect">
            <a:avLst/>
          </a:prstGeom>
          <a:noFill/>
        </p:spPr>
        <p:txBody>
          <a:bodyPr wrap="none" rtlCol="0">
            <a:spAutoFit/>
          </a:bodyPr>
          <a:lstStyle/>
          <a:p>
            <a:r>
              <a:rPr lang="en-US" sz="2400">
                <a:latin typeface="Bookman Old Style" panose="02050604050505020204" pitchFamily="18" charset="0"/>
              </a:rPr>
              <a:t>Parameters:</a:t>
            </a:r>
          </a:p>
        </p:txBody>
      </p:sp>
      <p:sp>
        <p:nvSpPr>
          <p:cNvPr id="17" name="TextBox 16"/>
          <p:cNvSpPr txBox="1"/>
          <p:nvPr/>
        </p:nvSpPr>
        <p:spPr>
          <a:xfrm>
            <a:off x="304800" y="2594174"/>
            <a:ext cx="2416046" cy="461665"/>
          </a:xfrm>
          <a:prstGeom prst="rect">
            <a:avLst/>
          </a:prstGeom>
          <a:noFill/>
        </p:spPr>
        <p:txBody>
          <a:bodyPr wrap="none" rtlCol="0">
            <a:spAutoFit/>
          </a:bodyPr>
          <a:lstStyle/>
          <a:p>
            <a:r>
              <a:rPr lang="en-US" sz="2400">
                <a:latin typeface="Bookman Old Style" panose="02050604050505020204" pitchFamily="18" charset="0"/>
              </a:rPr>
              <a:t>Cost Function:</a:t>
            </a:r>
          </a:p>
        </p:txBody>
      </p:sp>
      <p:sp>
        <p:nvSpPr>
          <p:cNvPr id="19" name="TextBox 18"/>
          <p:cNvSpPr txBox="1"/>
          <p:nvPr/>
        </p:nvSpPr>
        <p:spPr>
          <a:xfrm>
            <a:off x="304800" y="3827039"/>
            <a:ext cx="973343" cy="461665"/>
          </a:xfrm>
          <a:prstGeom prst="rect">
            <a:avLst/>
          </a:prstGeom>
          <a:noFill/>
        </p:spPr>
        <p:txBody>
          <a:bodyPr wrap="none" rtlCol="0">
            <a:spAutoFit/>
          </a:bodyPr>
          <a:lstStyle/>
          <a:p>
            <a:r>
              <a:rPr lang="en-US" sz="2400">
                <a:latin typeface="Bookman Old Style" panose="02050604050505020204" pitchFamily="18" charset="0"/>
              </a:rPr>
              <a:t>Goal:</a:t>
            </a:r>
          </a:p>
        </p:txBody>
      </p:sp>
      <p:cxnSp>
        <p:nvCxnSpPr>
          <p:cNvPr id="30" name="Straight Connector 29"/>
          <p:cNvCxnSpPr/>
          <p:nvPr/>
        </p:nvCxnSpPr>
        <p:spPr>
          <a:xfrm>
            <a:off x="5029200" y="570646"/>
            <a:ext cx="0" cy="3962400"/>
          </a:xfrm>
          <a:prstGeom prst="line">
            <a:avLst/>
          </a:prstGeom>
          <a:ln w="12700">
            <a:solidFill>
              <a:schemeClr val="tx1">
                <a:alpha val="55000"/>
              </a:schemeClr>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6248400" y="57150"/>
            <a:ext cx="1688283" cy="461665"/>
          </a:xfrm>
          <a:prstGeom prst="rect">
            <a:avLst/>
          </a:prstGeom>
          <a:noFill/>
        </p:spPr>
        <p:txBody>
          <a:bodyPr wrap="none" rtlCol="0">
            <a:spAutoFit/>
          </a:bodyPr>
          <a:lstStyle/>
          <a:p>
            <a:r>
              <a:rPr lang="en-US" sz="2400" u="sng">
                <a:latin typeface="Bookman Old Style" panose="02050604050505020204" pitchFamily="18" charset="0"/>
              </a:rPr>
              <a:t>Simplified</a:t>
            </a:r>
          </a:p>
        </p:txBody>
      </p:sp>
      <p:sp>
        <p:nvSpPr>
          <p:cNvPr id="2" name="TextBox 1">
            <a:extLst>
              <a:ext uri="{FF2B5EF4-FFF2-40B4-BE49-F238E27FC236}">
                <a16:creationId xmlns:a16="http://schemas.microsoft.com/office/drawing/2014/main" id="{DFBF995D-0499-463E-C363-95B9D2189137}"/>
              </a:ext>
            </a:extLst>
          </p:cNvPr>
          <p:cNvSpPr txBox="1"/>
          <p:nvPr/>
        </p:nvSpPr>
        <p:spPr>
          <a:xfrm>
            <a:off x="457213" y="823615"/>
            <a:ext cx="2944749" cy="461665"/>
          </a:xfrm>
          <a:prstGeom prst="rect">
            <a:avLst/>
          </a:prstGeom>
          <a:noFill/>
        </p:spPr>
        <p:txBody>
          <a:bodyPr wrap="square" rtlCol="0">
            <a:spAutoFit/>
          </a:bodyPr>
          <a:lstStyle/>
          <a:p>
            <a:r>
              <a:rPr lang="en-IN" sz="2400" err="1">
                <a:latin typeface="Bookman Old Style" panose="02050604050505020204" pitchFamily="18" charset="0"/>
                <a:ea typeface="Cambria Math" panose="02040503050406030204" pitchFamily="18" charset="0"/>
                <a:cs typeface="Courier New" panose="02070309020205020404" pitchFamily="49" charset="0"/>
              </a:rPr>
              <a:t>h</a:t>
            </a:r>
            <a:r>
              <a:rPr lang="en-IN" sz="2400" baseline="-25000" err="1">
                <a:latin typeface="Bookman Old Style" panose="02050604050505020204" pitchFamily="18" charset="0"/>
                <a:ea typeface="Cambria Math" panose="02040503050406030204" pitchFamily="18" charset="0"/>
                <a:cs typeface="Courier New" panose="02070309020205020404" pitchFamily="49" charset="0"/>
              </a:rPr>
              <a:t>b,w</a:t>
            </a:r>
            <a:r>
              <a:rPr lang="en-IN" sz="2400">
                <a:latin typeface="Bookman Old Style" panose="02050604050505020204" pitchFamily="18" charset="0"/>
                <a:ea typeface="Cambria Math" panose="02040503050406030204" pitchFamily="18" charset="0"/>
                <a:cs typeface="Courier New" panose="02070309020205020404" pitchFamily="49" charset="0"/>
              </a:rPr>
              <a:t>(x)= </a:t>
            </a:r>
            <a:r>
              <a:rPr lang="en-IN" sz="2400" err="1">
                <a:latin typeface="Bookman Old Style" panose="02050604050505020204" pitchFamily="18" charset="0"/>
                <a:ea typeface="Cambria Math" panose="02040503050406030204" pitchFamily="18" charset="0"/>
                <a:cs typeface="Courier New" panose="02070309020205020404" pitchFamily="49" charset="0"/>
              </a:rPr>
              <a:t>b+wx</a:t>
            </a:r>
            <a:endParaRPr lang="en-IN" sz="2400">
              <a:latin typeface="Bookman Old Style" panose="02050604050505020204" pitchFamily="18" charset="0"/>
              <a:ea typeface="Cambria Math" panose="02040503050406030204" pitchFamily="18" charset="0"/>
              <a:cs typeface="Courier New" panose="02070309020205020404" pitchFamily="49" charset="0"/>
            </a:endParaRPr>
          </a:p>
        </p:txBody>
      </p:sp>
      <p:sp>
        <p:nvSpPr>
          <p:cNvPr id="4" name="TextBox 3">
            <a:extLst>
              <a:ext uri="{FF2B5EF4-FFF2-40B4-BE49-F238E27FC236}">
                <a16:creationId xmlns:a16="http://schemas.microsoft.com/office/drawing/2014/main" id="{8DA03B91-9A3B-D74D-BCFC-10A9FCB8DECF}"/>
              </a:ext>
            </a:extLst>
          </p:cNvPr>
          <p:cNvSpPr txBox="1"/>
          <p:nvPr/>
        </p:nvSpPr>
        <p:spPr>
          <a:xfrm>
            <a:off x="304800" y="1962150"/>
            <a:ext cx="1091374" cy="461665"/>
          </a:xfrm>
          <a:prstGeom prst="rect">
            <a:avLst/>
          </a:prstGeom>
          <a:noFill/>
        </p:spPr>
        <p:txBody>
          <a:bodyPr wrap="square">
            <a:spAutoFit/>
          </a:bodyPr>
          <a:lstStyle/>
          <a:p>
            <a:r>
              <a:rPr lang="en-IN" sz="2400">
                <a:latin typeface="Bookman Old Style" panose="02050604050505020204" pitchFamily="18" charset="0"/>
                <a:cs typeface="Courier New" panose="02070309020205020404" pitchFamily="49" charset="0"/>
              </a:rPr>
              <a:t> </a:t>
            </a:r>
            <a:r>
              <a:rPr lang="en-IN" sz="2400">
                <a:latin typeface="Bookman Old Style" panose="02050604050505020204" pitchFamily="18" charset="0"/>
                <a:ea typeface="Cambria Math" panose="02040503050406030204" pitchFamily="18" charset="0"/>
                <a:cs typeface="Courier New" panose="02070309020205020404" pitchFamily="49" charset="0"/>
              </a:rPr>
              <a:t>b, w</a:t>
            </a:r>
            <a:endParaRPr lang="en-IN" sz="2400">
              <a:latin typeface="Bookman Old Style" panose="02050604050505020204" pitchFamily="18" charset="0"/>
              <a:ea typeface="Cambria Math" panose="02040503050406030204" pitchFamily="18" charset="0"/>
            </a:endParaRP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AF882A09-737D-BCE1-5E7B-7C3E1BE8CAAC}"/>
                  </a:ext>
                </a:extLst>
              </p:cNvPr>
              <p:cNvSpPr txBox="1"/>
              <p:nvPr/>
            </p:nvSpPr>
            <p:spPr>
              <a:xfrm>
                <a:off x="457213" y="3111699"/>
                <a:ext cx="4724388" cy="648063"/>
              </a:xfrm>
              <a:prstGeom prst="rect">
                <a:avLst/>
              </a:prstGeom>
              <a:noFill/>
            </p:spPr>
            <p:txBody>
              <a:bodyPr wrap="square">
                <a:spAutoFit/>
              </a:bodyPr>
              <a:lstStyle/>
              <a:p>
                <a:r>
                  <a:rPr lang="en-IN" sz="2400">
                    <a:latin typeface="Bookman Old Style" panose="02050604050505020204" pitchFamily="18" charset="0"/>
                    <a:ea typeface="Cambria Math" panose="02040503050406030204" pitchFamily="18" charset="0"/>
                    <a:cs typeface="Courier New" panose="02070309020205020404" pitchFamily="49" charset="0"/>
                  </a:rPr>
                  <a:t>J(</a:t>
                </a:r>
                <a:r>
                  <a:rPr lang="en-IN" sz="2400" err="1">
                    <a:latin typeface="Bookman Old Style" panose="02050604050505020204" pitchFamily="18" charset="0"/>
                    <a:ea typeface="Cambria Math" panose="02040503050406030204" pitchFamily="18" charset="0"/>
                    <a:cs typeface="Courier New" panose="02070309020205020404" pitchFamily="49" charset="0"/>
                  </a:rPr>
                  <a:t>b,w</a:t>
                </a:r>
                <a:r>
                  <a:rPr lang="en-IN" sz="2400">
                    <a:latin typeface="Bookman Old Style" panose="02050604050505020204" pitchFamily="18" charset="0"/>
                    <a:ea typeface="Cambria Math" panose="02040503050406030204" pitchFamily="18" charset="0"/>
                    <a:cs typeface="Courier New" panose="02070309020205020404" pitchFamily="49" charset="0"/>
                  </a:rPr>
                  <a:t>)= </a:t>
                </a:r>
                <a14:m>
                  <m:oMath xmlns:m="http://schemas.openxmlformats.org/officeDocument/2006/math">
                    <m:f>
                      <m:fPr>
                        <m:ctrlPr>
                          <a:rPr lang="en-IN" sz="2400" i="1" smtClean="0">
                            <a:latin typeface="Cambria Math" panose="02040503050406030204" pitchFamily="18" charset="0"/>
                            <a:ea typeface="Cambria Math" panose="02040503050406030204" pitchFamily="18" charset="0"/>
                            <a:cs typeface="Courier New" panose="02070309020205020404" pitchFamily="49" charset="0"/>
                          </a:rPr>
                        </m:ctrlPr>
                      </m:fPr>
                      <m:num>
                        <m:r>
                          <a:rPr lang="en-IN" sz="2400" b="0" i="1" smtClean="0">
                            <a:latin typeface="Cambria Math" panose="02040503050406030204" pitchFamily="18" charset="0"/>
                            <a:ea typeface="Cambria Math" panose="02040503050406030204" pitchFamily="18" charset="0"/>
                            <a:cs typeface="Courier New" panose="02070309020205020404" pitchFamily="49" charset="0"/>
                          </a:rPr>
                          <m:t>1</m:t>
                        </m:r>
                      </m:num>
                      <m:den>
                        <m:r>
                          <a:rPr lang="en-IN" sz="2400" b="0" i="1" smtClean="0">
                            <a:latin typeface="Cambria Math" panose="02040503050406030204" pitchFamily="18" charset="0"/>
                            <a:ea typeface="Cambria Math" panose="02040503050406030204" pitchFamily="18" charset="0"/>
                            <a:cs typeface="Courier New" panose="02070309020205020404" pitchFamily="49" charset="0"/>
                          </a:rPr>
                          <m:t>2</m:t>
                        </m:r>
                        <m:r>
                          <a:rPr lang="en-IN" sz="2400" b="0" i="1" smtClean="0">
                            <a:latin typeface="Cambria Math" panose="02040503050406030204" pitchFamily="18" charset="0"/>
                            <a:ea typeface="Cambria Math" panose="02040503050406030204" pitchFamily="18" charset="0"/>
                            <a:cs typeface="Courier New" panose="02070309020205020404" pitchFamily="49" charset="0"/>
                          </a:rPr>
                          <m:t>𝑚</m:t>
                        </m:r>
                      </m:den>
                    </m:f>
                    <m:nary>
                      <m:naryPr>
                        <m:chr m:val="∑"/>
                        <m:ctrlPr>
                          <a:rPr lang="en-IN" sz="2400" i="1" smtClean="0">
                            <a:latin typeface="Cambria Math" panose="02040503050406030204" pitchFamily="18" charset="0"/>
                            <a:ea typeface="Cambria Math" panose="02040503050406030204" pitchFamily="18" charset="0"/>
                            <a:cs typeface="Courier New" panose="02070309020205020404" pitchFamily="49" charset="0"/>
                          </a:rPr>
                        </m:ctrlPr>
                      </m:naryPr>
                      <m:sub>
                        <m:r>
                          <m:rPr>
                            <m:brk m:alnAt="23"/>
                          </m:rPr>
                          <a:rPr lang="en-IN" sz="2400" b="0" i="1" smtClean="0">
                            <a:latin typeface="Cambria Math" panose="02040503050406030204" pitchFamily="18" charset="0"/>
                            <a:ea typeface="Cambria Math" panose="02040503050406030204" pitchFamily="18" charset="0"/>
                            <a:cs typeface="Courier New" panose="02070309020205020404" pitchFamily="49" charset="0"/>
                          </a:rPr>
                          <m:t>𝑖</m:t>
                        </m:r>
                        <m:r>
                          <a:rPr lang="en-IN" sz="2400" b="0" i="1" smtClean="0">
                            <a:latin typeface="Cambria Math" panose="02040503050406030204" pitchFamily="18" charset="0"/>
                            <a:ea typeface="Cambria Math" panose="02040503050406030204" pitchFamily="18" charset="0"/>
                            <a:cs typeface="Courier New" panose="02070309020205020404" pitchFamily="49" charset="0"/>
                          </a:rPr>
                          <m:t>=1</m:t>
                        </m:r>
                      </m:sub>
                      <m:sup>
                        <m:r>
                          <a:rPr lang="en-IN" sz="2400" b="0" i="1" smtClean="0">
                            <a:latin typeface="Cambria Math" panose="02040503050406030204" pitchFamily="18" charset="0"/>
                            <a:ea typeface="Cambria Math" panose="02040503050406030204" pitchFamily="18" charset="0"/>
                            <a:cs typeface="Courier New" panose="02070309020205020404" pitchFamily="49" charset="0"/>
                          </a:rPr>
                          <m:t>𝑚</m:t>
                        </m:r>
                      </m:sup>
                      <m:e>
                        <m:sSup>
                          <m:sSupPr>
                            <m:ctrlPr>
                              <a:rPr lang="en-IN" sz="2400" i="1" smtClean="0">
                                <a:latin typeface="Cambria Math" panose="02040503050406030204" pitchFamily="18" charset="0"/>
                                <a:ea typeface="Cambria Math" panose="02040503050406030204" pitchFamily="18" charset="0"/>
                                <a:cs typeface="Courier New" panose="02070309020205020404" pitchFamily="49" charset="0"/>
                              </a:rPr>
                            </m:ctrlPr>
                          </m:sSupPr>
                          <m:e>
                            <m:d>
                              <m:dPr>
                                <m:ctrlPr>
                                  <a:rPr lang="en-IN" sz="2400" i="1">
                                    <a:latin typeface="Cambria Math" panose="02040503050406030204" pitchFamily="18" charset="0"/>
                                    <a:ea typeface="Cambria Math" panose="02040503050406030204" pitchFamily="18" charset="0"/>
                                    <a:cs typeface="Courier New" panose="02070309020205020404" pitchFamily="49" charset="0"/>
                                  </a:rPr>
                                </m:ctrlPr>
                              </m:dPr>
                              <m:e>
                                <m:r>
                                  <m:rPr>
                                    <m:nor/>
                                  </m:rPr>
                                  <a:rPr lang="en-IN" sz="2400" i="0" dirty="0">
                                    <a:latin typeface="Bookman Old Style" panose="02050604050505020204" pitchFamily="18" charset="0"/>
                                    <a:ea typeface="Cambria Math" panose="02040503050406030204" pitchFamily="18" charset="0"/>
                                    <a:cs typeface="Courier New" panose="02070309020205020404" pitchFamily="49" charset="0"/>
                                  </a:rPr>
                                  <m:t>h</m:t>
                                </m:r>
                                <m:r>
                                  <m:rPr>
                                    <m:nor/>
                                  </m:rPr>
                                  <a:rPr lang="en-IN" sz="2400" i="0" baseline="-25000" dirty="0">
                                    <a:latin typeface="Bookman Old Style" panose="02050604050505020204" pitchFamily="18" charset="0"/>
                                    <a:ea typeface="Cambria Math" panose="02040503050406030204" pitchFamily="18" charset="0"/>
                                    <a:cs typeface="Courier New" panose="02070309020205020404" pitchFamily="49" charset="0"/>
                                  </a:rPr>
                                  <m:t>b</m:t>
                                </m:r>
                                <m:r>
                                  <m:rPr>
                                    <m:nor/>
                                  </m:rPr>
                                  <a:rPr lang="en-IN" sz="2400" i="0" baseline="-25000" dirty="0">
                                    <a:latin typeface="Bookman Old Style" panose="02050604050505020204" pitchFamily="18" charset="0"/>
                                    <a:ea typeface="Cambria Math" panose="02040503050406030204" pitchFamily="18" charset="0"/>
                                    <a:cs typeface="Courier New" panose="02070309020205020404" pitchFamily="49" charset="0"/>
                                  </a:rPr>
                                  <m:t>,</m:t>
                                </m:r>
                                <m:r>
                                  <m:rPr>
                                    <m:nor/>
                                  </m:rPr>
                                  <a:rPr lang="en-IN" sz="2400" i="0" baseline="-25000" dirty="0">
                                    <a:latin typeface="Bookman Old Style" panose="02050604050505020204" pitchFamily="18" charset="0"/>
                                    <a:ea typeface="Cambria Math" panose="02040503050406030204" pitchFamily="18" charset="0"/>
                                    <a:cs typeface="Courier New" panose="02070309020205020404" pitchFamily="49" charset="0"/>
                                  </a:rPr>
                                  <m:t>w</m:t>
                                </m:r>
                                <m:r>
                                  <m:rPr>
                                    <m:nor/>
                                  </m:rPr>
                                  <a:rPr lang="en-IN" sz="2400" i="0" dirty="0">
                                    <a:latin typeface="Bookman Old Style" panose="02050604050505020204" pitchFamily="18" charset="0"/>
                                    <a:ea typeface="Cambria Math" panose="02040503050406030204" pitchFamily="18" charset="0"/>
                                    <a:cs typeface="Courier New" panose="02070309020205020404" pitchFamily="49" charset="0"/>
                                  </a:rPr>
                                  <m:t>(</m:t>
                                </m:r>
                                <m:sSup>
                                  <m:sSupPr>
                                    <m:ctrlPr>
                                      <a:rPr lang="en-IN" sz="2400" i="1">
                                        <a:latin typeface="Cambria Math" panose="02040503050406030204" pitchFamily="18" charset="0"/>
                                        <a:ea typeface="Cambria Math" panose="02040503050406030204" pitchFamily="18" charset="0"/>
                                        <a:cs typeface="Courier New" panose="02070309020205020404" pitchFamily="49" charset="0"/>
                                      </a:rPr>
                                    </m:ctrlPr>
                                  </m:sSupPr>
                                  <m:e>
                                    <m:r>
                                      <a:rPr lang="en-IN" sz="2400" i="1">
                                        <a:latin typeface="Cambria Math" panose="02040503050406030204" pitchFamily="18" charset="0"/>
                                        <a:ea typeface="Cambria Math" panose="02040503050406030204" pitchFamily="18" charset="0"/>
                                        <a:cs typeface="Courier New" panose="02070309020205020404" pitchFamily="49" charset="0"/>
                                      </a:rPr>
                                      <m:t>𝑥</m:t>
                                    </m:r>
                                  </m:e>
                                  <m:sup>
                                    <m:d>
                                      <m:dPr>
                                        <m:ctrlPr>
                                          <a:rPr lang="en-IN" sz="2400" i="1">
                                            <a:latin typeface="Cambria Math" panose="02040503050406030204" pitchFamily="18" charset="0"/>
                                            <a:ea typeface="Cambria Math" panose="02040503050406030204" pitchFamily="18" charset="0"/>
                                            <a:cs typeface="Courier New" panose="02070309020205020404" pitchFamily="49" charset="0"/>
                                          </a:rPr>
                                        </m:ctrlPr>
                                      </m:dPr>
                                      <m:e>
                                        <m:r>
                                          <a:rPr lang="en-IN" sz="2400" i="1">
                                            <a:latin typeface="Cambria Math" panose="02040503050406030204" pitchFamily="18" charset="0"/>
                                            <a:ea typeface="Cambria Math" panose="02040503050406030204" pitchFamily="18" charset="0"/>
                                            <a:cs typeface="Courier New" panose="02070309020205020404" pitchFamily="49" charset="0"/>
                                          </a:rPr>
                                          <m:t>𝑖</m:t>
                                        </m:r>
                                      </m:e>
                                    </m:d>
                                  </m:sup>
                                </m:sSup>
                                <m:r>
                                  <m:rPr>
                                    <m:nor/>
                                  </m:rPr>
                                  <a:rPr lang="en-IN" sz="2400" i="0" dirty="0">
                                    <a:latin typeface="Bookman Old Style" panose="02050604050505020204" pitchFamily="18" charset="0"/>
                                    <a:ea typeface="Cambria Math" panose="02040503050406030204" pitchFamily="18" charset="0"/>
                                    <a:cs typeface="Courier New" panose="02070309020205020404" pitchFamily="49" charset="0"/>
                                  </a:rPr>
                                  <m:t>) −</m:t>
                                </m:r>
                                <m:sSup>
                                  <m:sSupPr>
                                    <m:ctrlPr>
                                      <a:rPr lang="en-IN" sz="2400" i="1">
                                        <a:latin typeface="Cambria Math" panose="02040503050406030204" pitchFamily="18" charset="0"/>
                                        <a:ea typeface="Cambria Math" panose="02040503050406030204" pitchFamily="18" charset="0"/>
                                        <a:cs typeface="Courier New" panose="02070309020205020404" pitchFamily="49" charset="0"/>
                                      </a:rPr>
                                    </m:ctrlPr>
                                  </m:sSupPr>
                                  <m:e>
                                    <m:r>
                                      <a:rPr lang="en-IN" sz="2400" i="1">
                                        <a:latin typeface="Cambria Math" panose="02040503050406030204" pitchFamily="18" charset="0"/>
                                        <a:ea typeface="Cambria Math" panose="02040503050406030204" pitchFamily="18" charset="0"/>
                                        <a:cs typeface="Courier New" panose="02070309020205020404" pitchFamily="49" charset="0"/>
                                      </a:rPr>
                                      <m:t>𝑦</m:t>
                                    </m:r>
                                  </m:e>
                                  <m:sup>
                                    <m:d>
                                      <m:dPr>
                                        <m:ctrlPr>
                                          <a:rPr lang="en-IN" sz="2400" i="1">
                                            <a:latin typeface="Cambria Math" panose="02040503050406030204" pitchFamily="18" charset="0"/>
                                            <a:ea typeface="Cambria Math" panose="02040503050406030204" pitchFamily="18" charset="0"/>
                                            <a:cs typeface="Courier New" panose="02070309020205020404" pitchFamily="49" charset="0"/>
                                          </a:rPr>
                                        </m:ctrlPr>
                                      </m:dPr>
                                      <m:e>
                                        <m:r>
                                          <a:rPr lang="en-IN" sz="2400" i="1">
                                            <a:latin typeface="Cambria Math" panose="02040503050406030204" pitchFamily="18" charset="0"/>
                                            <a:ea typeface="Cambria Math" panose="02040503050406030204" pitchFamily="18" charset="0"/>
                                            <a:cs typeface="Courier New" panose="02070309020205020404" pitchFamily="49" charset="0"/>
                                          </a:rPr>
                                          <m:t>𝑖</m:t>
                                        </m:r>
                                      </m:e>
                                    </m:d>
                                  </m:sup>
                                </m:sSup>
                              </m:e>
                            </m:d>
                          </m:e>
                          <m:sup>
                            <m:r>
                              <a:rPr lang="en-IN" sz="2400" b="0" i="1" smtClean="0">
                                <a:latin typeface="Cambria Math" panose="02040503050406030204" pitchFamily="18" charset="0"/>
                                <a:ea typeface="Cambria Math" panose="02040503050406030204" pitchFamily="18" charset="0"/>
                                <a:cs typeface="Courier New" panose="02070309020205020404" pitchFamily="49" charset="0"/>
                              </a:rPr>
                              <m:t>2</m:t>
                            </m:r>
                          </m:sup>
                        </m:sSup>
                      </m:e>
                    </m:nary>
                  </m:oMath>
                </a14:m>
                <a:endParaRPr lang="en-IN" sz="2400">
                  <a:latin typeface="Bookman Old Style" panose="02050604050505020204" pitchFamily="18" charset="0"/>
                  <a:ea typeface="Cambria Math" panose="02040503050406030204" pitchFamily="18" charset="0"/>
                  <a:cs typeface="Courier New" panose="02070309020205020404" pitchFamily="49" charset="0"/>
                </a:endParaRPr>
              </a:p>
            </p:txBody>
          </p:sp>
        </mc:Choice>
        <mc:Fallback>
          <p:sp>
            <p:nvSpPr>
              <p:cNvPr id="11" name="TextBox 10">
                <a:extLst>
                  <a:ext uri="{FF2B5EF4-FFF2-40B4-BE49-F238E27FC236}">
                    <a16:creationId xmlns:a16="http://schemas.microsoft.com/office/drawing/2014/main" id="{AF882A09-737D-BCE1-5E7B-7C3E1BE8CAAC}"/>
                  </a:ext>
                </a:extLst>
              </p:cNvPr>
              <p:cNvSpPr txBox="1">
                <a:spLocks noRot="1" noChangeAspect="1" noMove="1" noResize="1" noEditPoints="1" noAdjustHandles="1" noChangeArrowheads="1" noChangeShapeType="1" noTextEdit="1"/>
              </p:cNvSpPr>
              <p:nvPr/>
            </p:nvSpPr>
            <p:spPr>
              <a:xfrm>
                <a:off x="457213" y="3111699"/>
                <a:ext cx="4724388" cy="648063"/>
              </a:xfrm>
              <a:prstGeom prst="rect">
                <a:avLst/>
              </a:prstGeom>
              <a:blipFill>
                <a:blip r:embed="rId2"/>
                <a:stretch>
                  <a:fillRect l="-1935" b="-84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4ACCCA3E-5C7F-BDFB-2143-5979A7FFCA7D}"/>
                  </a:ext>
                </a:extLst>
              </p:cNvPr>
              <p:cNvSpPr txBox="1"/>
              <p:nvPr/>
            </p:nvSpPr>
            <p:spPr>
              <a:xfrm>
                <a:off x="547666" y="4288704"/>
                <a:ext cx="1565492" cy="5090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IN" sz="2400" i="1" smtClean="0">
                              <a:latin typeface="Cambria Math" panose="02040503050406030204" pitchFamily="18" charset="0"/>
                            </a:rPr>
                          </m:ctrlPr>
                        </m:funcPr>
                        <m:fName>
                          <m:limLow>
                            <m:limLowPr>
                              <m:ctrlPr>
                                <a:rPr lang="en-IN" sz="2400" i="1" smtClean="0">
                                  <a:latin typeface="Cambria Math" panose="02040503050406030204" pitchFamily="18" charset="0"/>
                                </a:rPr>
                              </m:ctrlPr>
                            </m:limLowPr>
                            <m:e>
                              <m:r>
                                <m:rPr>
                                  <m:sty m:val="p"/>
                                </m:rPr>
                                <a:rPr lang="en-IN" sz="2400" i="0" smtClean="0">
                                  <a:latin typeface="Cambria Math" panose="02040503050406030204" pitchFamily="18" charset="0"/>
                                </a:rPr>
                                <m:t>min</m:t>
                              </m:r>
                            </m:e>
                            <m:lim>
                              <m:r>
                                <a:rPr lang="en-IN" sz="2400" b="0" i="1" smtClean="0">
                                  <a:latin typeface="Cambria Math" panose="02040503050406030204" pitchFamily="18" charset="0"/>
                                </a:rPr>
                                <m:t>𝑏</m:t>
                              </m:r>
                              <m:r>
                                <a:rPr lang="en-IN" sz="2400" b="0" i="1" smtClean="0">
                                  <a:latin typeface="Cambria Math" panose="02040503050406030204" pitchFamily="18" charset="0"/>
                                </a:rPr>
                                <m:t>,</m:t>
                              </m:r>
                              <m:r>
                                <a:rPr lang="en-IN" sz="2400" b="0" i="1" smtClean="0">
                                  <a:latin typeface="Cambria Math" panose="02040503050406030204" pitchFamily="18" charset="0"/>
                                </a:rPr>
                                <m:t>𝑤</m:t>
                              </m:r>
                            </m:lim>
                          </m:limLow>
                        </m:fName>
                        <m:e>
                          <m:r>
                            <a:rPr lang="en-IN" sz="2400" b="0" i="1" smtClean="0">
                              <a:latin typeface="Cambria Math" panose="02040503050406030204" pitchFamily="18" charset="0"/>
                            </a:rPr>
                            <m:t>𝐽</m:t>
                          </m:r>
                          <m:r>
                            <a:rPr lang="en-IN" sz="2400" b="0" i="1" smtClean="0">
                              <a:latin typeface="Cambria Math" panose="02040503050406030204" pitchFamily="18" charset="0"/>
                            </a:rPr>
                            <m:t>(</m:t>
                          </m:r>
                          <m:r>
                            <a:rPr lang="en-IN" sz="2400" b="0" i="1" smtClean="0">
                              <a:latin typeface="Cambria Math" panose="02040503050406030204" pitchFamily="18" charset="0"/>
                            </a:rPr>
                            <m:t>𝑏</m:t>
                          </m:r>
                          <m:r>
                            <a:rPr lang="en-IN" sz="2400" b="0" i="1" smtClean="0">
                              <a:latin typeface="Cambria Math" panose="02040503050406030204" pitchFamily="18" charset="0"/>
                            </a:rPr>
                            <m:t>,</m:t>
                          </m:r>
                          <m:r>
                            <a:rPr lang="en-IN" sz="2400" b="0" i="1" smtClean="0">
                              <a:latin typeface="Cambria Math" panose="02040503050406030204" pitchFamily="18" charset="0"/>
                            </a:rPr>
                            <m:t>𝑤</m:t>
                          </m:r>
                          <m:r>
                            <a:rPr lang="en-IN" sz="2400" b="0" i="1" smtClean="0">
                              <a:latin typeface="Cambria Math" panose="02040503050406030204" pitchFamily="18" charset="0"/>
                            </a:rPr>
                            <m:t>)</m:t>
                          </m:r>
                        </m:e>
                      </m:func>
                    </m:oMath>
                  </m:oMathPara>
                </a14:m>
                <a:endParaRPr lang="en-IN" sz="2400">
                  <a:latin typeface="Bookman Old Style" panose="02050604050505020204" pitchFamily="18" charset="0"/>
                  <a:cs typeface="Courier New" panose="02070309020205020404" pitchFamily="49" charset="0"/>
                </a:endParaRPr>
              </a:p>
            </p:txBody>
          </p:sp>
        </mc:Choice>
        <mc:Fallback>
          <p:sp>
            <p:nvSpPr>
              <p:cNvPr id="12" name="TextBox 11">
                <a:extLst>
                  <a:ext uri="{FF2B5EF4-FFF2-40B4-BE49-F238E27FC236}">
                    <a16:creationId xmlns:a16="http://schemas.microsoft.com/office/drawing/2014/main" id="{4ACCCA3E-5C7F-BDFB-2143-5979A7FFCA7D}"/>
                  </a:ext>
                </a:extLst>
              </p:cNvPr>
              <p:cNvSpPr txBox="1">
                <a:spLocks noRot="1" noChangeAspect="1" noMove="1" noResize="1" noEditPoints="1" noAdjustHandles="1" noChangeArrowheads="1" noChangeShapeType="1" noTextEdit="1"/>
              </p:cNvSpPr>
              <p:nvPr/>
            </p:nvSpPr>
            <p:spPr>
              <a:xfrm>
                <a:off x="547666" y="4288704"/>
                <a:ext cx="1565492" cy="509050"/>
              </a:xfrm>
              <a:prstGeom prst="rect">
                <a:avLst/>
              </a:prstGeom>
              <a:blipFill>
                <a:blip r:embed="rId3"/>
                <a:stretch>
                  <a:fillRect l="-3113" r="-5447" b="-9639"/>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7933AEE6-D6BA-ED5C-65EC-EF00607AB023}"/>
              </a:ext>
            </a:extLst>
          </p:cNvPr>
          <p:cNvSpPr txBox="1"/>
          <p:nvPr/>
        </p:nvSpPr>
        <p:spPr>
          <a:xfrm>
            <a:off x="5257800" y="878054"/>
            <a:ext cx="2944749" cy="830997"/>
          </a:xfrm>
          <a:prstGeom prst="rect">
            <a:avLst/>
          </a:prstGeom>
          <a:noFill/>
        </p:spPr>
        <p:txBody>
          <a:bodyPr wrap="square" rtlCol="0">
            <a:spAutoFit/>
          </a:bodyPr>
          <a:lstStyle/>
          <a:p>
            <a:r>
              <a:rPr lang="en-IN" sz="2400" err="1">
                <a:latin typeface="Bookman Old Style" panose="02050604050505020204" pitchFamily="18" charset="0"/>
                <a:ea typeface="Cambria Math" panose="02040503050406030204" pitchFamily="18" charset="0"/>
                <a:cs typeface="Courier New" panose="02070309020205020404" pitchFamily="49" charset="0"/>
              </a:rPr>
              <a:t>h</a:t>
            </a:r>
            <a:r>
              <a:rPr lang="en-IN" sz="2400" baseline="-25000" err="1">
                <a:latin typeface="Bookman Old Style" panose="02050604050505020204" pitchFamily="18" charset="0"/>
                <a:ea typeface="Cambria Math" panose="02040503050406030204" pitchFamily="18" charset="0"/>
                <a:cs typeface="Courier New" panose="02070309020205020404" pitchFamily="49" charset="0"/>
              </a:rPr>
              <a:t>w</a:t>
            </a:r>
            <a:r>
              <a:rPr lang="en-IN" sz="2400">
                <a:latin typeface="Bookman Old Style" panose="02050604050505020204" pitchFamily="18" charset="0"/>
                <a:ea typeface="Cambria Math" panose="02040503050406030204" pitchFamily="18" charset="0"/>
                <a:cs typeface="Courier New" panose="02070309020205020404" pitchFamily="49" charset="0"/>
              </a:rPr>
              <a:t>(x)= </a:t>
            </a:r>
            <a:r>
              <a:rPr lang="en-IN" sz="2400" err="1">
                <a:latin typeface="Bookman Old Style" panose="02050604050505020204" pitchFamily="18" charset="0"/>
                <a:ea typeface="Cambria Math" panose="02040503050406030204" pitchFamily="18" charset="0"/>
                <a:cs typeface="Courier New" panose="02070309020205020404" pitchFamily="49" charset="0"/>
              </a:rPr>
              <a:t>wx</a:t>
            </a:r>
            <a:endParaRPr lang="en-IN" sz="2400">
              <a:latin typeface="Bookman Old Style" panose="02050604050505020204" pitchFamily="18" charset="0"/>
              <a:ea typeface="Cambria Math" panose="02040503050406030204" pitchFamily="18" charset="0"/>
              <a:cs typeface="Courier New" panose="02070309020205020404" pitchFamily="49" charset="0"/>
            </a:endParaRPr>
          </a:p>
          <a:p>
            <a:r>
              <a:rPr lang="en-IN" sz="2400">
                <a:latin typeface="Bookman Old Style" panose="02050604050505020204" pitchFamily="18" charset="0"/>
                <a:ea typeface="Cambria Math" panose="02040503050406030204" pitchFamily="18" charset="0"/>
                <a:cs typeface="Courier New" panose="02070309020205020404" pitchFamily="49" charset="0"/>
              </a:rPr>
              <a:t>b=0</a:t>
            </a:r>
          </a:p>
        </p:txBody>
      </p:sp>
      <p:sp>
        <p:nvSpPr>
          <p:cNvPr id="18" name="TextBox 17">
            <a:extLst>
              <a:ext uri="{FF2B5EF4-FFF2-40B4-BE49-F238E27FC236}">
                <a16:creationId xmlns:a16="http://schemas.microsoft.com/office/drawing/2014/main" id="{3B6B720A-D7A1-1792-63B2-1F41D3C87F79}"/>
              </a:ext>
            </a:extLst>
          </p:cNvPr>
          <p:cNvSpPr txBox="1"/>
          <p:nvPr/>
        </p:nvSpPr>
        <p:spPr>
          <a:xfrm>
            <a:off x="5105400" y="1925325"/>
            <a:ext cx="1091374" cy="461665"/>
          </a:xfrm>
          <a:prstGeom prst="rect">
            <a:avLst/>
          </a:prstGeom>
          <a:noFill/>
        </p:spPr>
        <p:txBody>
          <a:bodyPr wrap="square">
            <a:spAutoFit/>
          </a:bodyPr>
          <a:lstStyle/>
          <a:p>
            <a:r>
              <a:rPr lang="en-IN" sz="2400">
                <a:latin typeface="Bookman Old Style" panose="02050604050505020204" pitchFamily="18" charset="0"/>
                <a:cs typeface="Courier New" panose="02070309020205020404" pitchFamily="49" charset="0"/>
              </a:rPr>
              <a:t> </a:t>
            </a:r>
            <a:r>
              <a:rPr lang="en-IN" sz="2400">
                <a:latin typeface="Bookman Old Style" panose="02050604050505020204" pitchFamily="18" charset="0"/>
                <a:ea typeface="Cambria Math" panose="02040503050406030204" pitchFamily="18" charset="0"/>
                <a:cs typeface="Courier New" panose="02070309020205020404" pitchFamily="49" charset="0"/>
              </a:rPr>
              <a:t>w</a:t>
            </a:r>
            <a:endParaRPr lang="en-IN" sz="2400">
              <a:latin typeface="Bookman Old Style" panose="02050604050505020204" pitchFamily="18" charset="0"/>
              <a:ea typeface="Cambria Math" panose="02040503050406030204" pitchFamily="18" charset="0"/>
            </a:endParaRPr>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C1775FE5-F94D-2730-EEC7-72FB61E763E4}"/>
                  </a:ext>
                </a:extLst>
              </p:cNvPr>
              <p:cNvSpPr txBox="1"/>
              <p:nvPr/>
            </p:nvSpPr>
            <p:spPr>
              <a:xfrm>
                <a:off x="5029200" y="3111699"/>
                <a:ext cx="4289603" cy="648063"/>
              </a:xfrm>
              <a:prstGeom prst="rect">
                <a:avLst/>
              </a:prstGeom>
              <a:noFill/>
            </p:spPr>
            <p:txBody>
              <a:bodyPr wrap="square">
                <a:spAutoFit/>
              </a:bodyPr>
              <a:lstStyle/>
              <a:p>
                <a:r>
                  <a:rPr lang="en-IN" sz="2400">
                    <a:latin typeface="Bookman Old Style" panose="02050604050505020204" pitchFamily="18" charset="0"/>
                    <a:ea typeface="Cambria Math" panose="02040503050406030204" pitchFamily="18" charset="0"/>
                    <a:cs typeface="Courier New" panose="02070309020205020404" pitchFamily="49" charset="0"/>
                  </a:rPr>
                  <a:t>J(w)= </a:t>
                </a:r>
                <a14:m>
                  <m:oMath xmlns:m="http://schemas.openxmlformats.org/officeDocument/2006/math">
                    <m:f>
                      <m:fPr>
                        <m:ctrlPr>
                          <a:rPr lang="en-IN" sz="2400" i="1" smtClean="0">
                            <a:latin typeface="Cambria Math" panose="02040503050406030204" pitchFamily="18" charset="0"/>
                            <a:ea typeface="Cambria Math" panose="02040503050406030204" pitchFamily="18" charset="0"/>
                            <a:cs typeface="Courier New" panose="02070309020205020404" pitchFamily="49" charset="0"/>
                          </a:rPr>
                        </m:ctrlPr>
                      </m:fPr>
                      <m:num>
                        <m:r>
                          <a:rPr lang="en-IN" sz="2400" b="0" i="1" smtClean="0">
                            <a:latin typeface="Cambria Math" panose="02040503050406030204" pitchFamily="18" charset="0"/>
                            <a:ea typeface="Cambria Math" panose="02040503050406030204" pitchFamily="18" charset="0"/>
                            <a:cs typeface="Courier New" panose="02070309020205020404" pitchFamily="49" charset="0"/>
                          </a:rPr>
                          <m:t>1</m:t>
                        </m:r>
                      </m:num>
                      <m:den>
                        <m:r>
                          <a:rPr lang="en-IN" sz="2400" b="0" i="1" smtClean="0">
                            <a:latin typeface="Cambria Math" panose="02040503050406030204" pitchFamily="18" charset="0"/>
                            <a:ea typeface="Cambria Math" panose="02040503050406030204" pitchFamily="18" charset="0"/>
                            <a:cs typeface="Courier New" panose="02070309020205020404" pitchFamily="49" charset="0"/>
                          </a:rPr>
                          <m:t>2</m:t>
                        </m:r>
                        <m:r>
                          <a:rPr lang="en-IN" sz="2400" b="0" i="1" smtClean="0">
                            <a:latin typeface="Cambria Math" panose="02040503050406030204" pitchFamily="18" charset="0"/>
                            <a:ea typeface="Cambria Math" panose="02040503050406030204" pitchFamily="18" charset="0"/>
                            <a:cs typeface="Courier New" panose="02070309020205020404" pitchFamily="49" charset="0"/>
                          </a:rPr>
                          <m:t>𝑚</m:t>
                        </m:r>
                      </m:den>
                    </m:f>
                    <m:nary>
                      <m:naryPr>
                        <m:chr m:val="∑"/>
                        <m:ctrlPr>
                          <a:rPr lang="en-IN" sz="2400" i="1" smtClean="0">
                            <a:latin typeface="Cambria Math" panose="02040503050406030204" pitchFamily="18" charset="0"/>
                            <a:ea typeface="Cambria Math" panose="02040503050406030204" pitchFamily="18" charset="0"/>
                            <a:cs typeface="Courier New" panose="02070309020205020404" pitchFamily="49" charset="0"/>
                          </a:rPr>
                        </m:ctrlPr>
                      </m:naryPr>
                      <m:sub>
                        <m:r>
                          <m:rPr>
                            <m:brk m:alnAt="23"/>
                          </m:rPr>
                          <a:rPr lang="en-IN" sz="2400" b="0" i="1" smtClean="0">
                            <a:latin typeface="Cambria Math" panose="02040503050406030204" pitchFamily="18" charset="0"/>
                            <a:ea typeface="Cambria Math" panose="02040503050406030204" pitchFamily="18" charset="0"/>
                            <a:cs typeface="Courier New" panose="02070309020205020404" pitchFamily="49" charset="0"/>
                          </a:rPr>
                          <m:t>𝑖</m:t>
                        </m:r>
                        <m:r>
                          <a:rPr lang="en-IN" sz="2400" b="0" i="1" smtClean="0">
                            <a:latin typeface="Cambria Math" panose="02040503050406030204" pitchFamily="18" charset="0"/>
                            <a:ea typeface="Cambria Math" panose="02040503050406030204" pitchFamily="18" charset="0"/>
                            <a:cs typeface="Courier New" panose="02070309020205020404" pitchFamily="49" charset="0"/>
                          </a:rPr>
                          <m:t>=1</m:t>
                        </m:r>
                      </m:sub>
                      <m:sup>
                        <m:r>
                          <a:rPr lang="en-IN" sz="2400" b="0" i="1" smtClean="0">
                            <a:latin typeface="Cambria Math" panose="02040503050406030204" pitchFamily="18" charset="0"/>
                            <a:ea typeface="Cambria Math" panose="02040503050406030204" pitchFamily="18" charset="0"/>
                            <a:cs typeface="Courier New" panose="02070309020205020404" pitchFamily="49" charset="0"/>
                          </a:rPr>
                          <m:t>𝑚</m:t>
                        </m:r>
                      </m:sup>
                      <m:e>
                        <m:sSup>
                          <m:sSupPr>
                            <m:ctrlPr>
                              <a:rPr lang="en-IN" sz="2400" i="1" smtClean="0">
                                <a:latin typeface="Cambria Math" panose="02040503050406030204" pitchFamily="18" charset="0"/>
                                <a:ea typeface="Cambria Math" panose="02040503050406030204" pitchFamily="18" charset="0"/>
                                <a:cs typeface="Courier New" panose="02070309020205020404" pitchFamily="49" charset="0"/>
                              </a:rPr>
                            </m:ctrlPr>
                          </m:sSupPr>
                          <m:e>
                            <m:d>
                              <m:dPr>
                                <m:ctrlPr>
                                  <a:rPr lang="en-IN" sz="2400" i="1">
                                    <a:latin typeface="Cambria Math" panose="02040503050406030204" pitchFamily="18" charset="0"/>
                                    <a:ea typeface="Cambria Math" panose="02040503050406030204" pitchFamily="18" charset="0"/>
                                    <a:cs typeface="Courier New" panose="02070309020205020404" pitchFamily="49" charset="0"/>
                                  </a:rPr>
                                </m:ctrlPr>
                              </m:dPr>
                              <m:e>
                                <m:r>
                                  <m:rPr>
                                    <m:nor/>
                                  </m:rPr>
                                  <a:rPr lang="en-IN" sz="2400" i="0" dirty="0">
                                    <a:latin typeface="Bookman Old Style" panose="02050604050505020204" pitchFamily="18" charset="0"/>
                                    <a:ea typeface="Cambria Math" panose="02040503050406030204" pitchFamily="18" charset="0"/>
                                    <a:cs typeface="Courier New" panose="02070309020205020404" pitchFamily="49" charset="0"/>
                                  </a:rPr>
                                  <m:t>h</m:t>
                                </m:r>
                                <m:r>
                                  <m:rPr>
                                    <m:nor/>
                                  </m:rPr>
                                  <a:rPr lang="en-IN" sz="2400" i="0" baseline="-25000" dirty="0">
                                    <a:latin typeface="Bookman Old Style" panose="02050604050505020204" pitchFamily="18" charset="0"/>
                                    <a:ea typeface="Cambria Math" panose="02040503050406030204" pitchFamily="18" charset="0"/>
                                    <a:cs typeface="Courier New" panose="02070309020205020404" pitchFamily="49" charset="0"/>
                                  </a:rPr>
                                  <m:t>w</m:t>
                                </m:r>
                                <m:r>
                                  <m:rPr>
                                    <m:nor/>
                                  </m:rPr>
                                  <a:rPr lang="en-IN" sz="2400" i="0" dirty="0">
                                    <a:latin typeface="Bookman Old Style" panose="02050604050505020204" pitchFamily="18" charset="0"/>
                                    <a:ea typeface="Cambria Math" panose="02040503050406030204" pitchFamily="18" charset="0"/>
                                    <a:cs typeface="Courier New" panose="02070309020205020404" pitchFamily="49" charset="0"/>
                                  </a:rPr>
                                  <m:t>(</m:t>
                                </m:r>
                                <m:sSup>
                                  <m:sSupPr>
                                    <m:ctrlPr>
                                      <a:rPr lang="en-IN" sz="2400" i="1">
                                        <a:latin typeface="Cambria Math" panose="02040503050406030204" pitchFamily="18" charset="0"/>
                                        <a:ea typeface="Cambria Math" panose="02040503050406030204" pitchFamily="18" charset="0"/>
                                        <a:cs typeface="Courier New" panose="02070309020205020404" pitchFamily="49" charset="0"/>
                                      </a:rPr>
                                    </m:ctrlPr>
                                  </m:sSupPr>
                                  <m:e>
                                    <m:r>
                                      <a:rPr lang="en-IN" sz="2400" i="1">
                                        <a:latin typeface="Cambria Math" panose="02040503050406030204" pitchFamily="18" charset="0"/>
                                        <a:ea typeface="Cambria Math" panose="02040503050406030204" pitchFamily="18" charset="0"/>
                                        <a:cs typeface="Courier New" panose="02070309020205020404" pitchFamily="49" charset="0"/>
                                      </a:rPr>
                                      <m:t>𝑥</m:t>
                                    </m:r>
                                  </m:e>
                                  <m:sup>
                                    <m:d>
                                      <m:dPr>
                                        <m:ctrlPr>
                                          <a:rPr lang="en-IN" sz="2400" i="1">
                                            <a:latin typeface="Cambria Math" panose="02040503050406030204" pitchFamily="18" charset="0"/>
                                            <a:ea typeface="Cambria Math" panose="02040503050406030204" pitchFamily="18" charset="0"/>
                                            <a:cs typeface="Courier New" panose="02070309020205020404" pitchFamily="49" charset="0"/>
                                          </a:rPr>
                                        </m:ctrlPr>
                                      </m:dPr>
                                      <m:e>
                                        <m:r>
                                          <a:rPr lang="en-IN" sz="2400" i="1">
                                            <a:latin typeface="Cambria Math" panose="02040503050406030204" pitchFamily="18" charset="0"/>
                                            <a:ea typeface="Cambria Math" panose="02040503050406030204" pitchFamily="18" charset="0"/>
                                            <a:cs typeface="Courier New" panose="02070309020205020404" pitchFamily="49" charset="0"/>
                                          </a:rPr>
                                          <m:t>𝑖</m:t>
                                        </m:r>
                                      </m:e>
                                    </m:d>
                                  </m:sup>
                                </m:sSup>
                                <m:r>
                                  <m:rPr>
                                    <m:nor/>
                                  </m:rPr>
                                  <a:rPr lang="en-IN" sz="2400" i="0" dirty="0">
                                    <a:latin typeface="Bookman Old Style" panose="02050604050505020204" pitchFamily="18" charset="0"/>
                                    <a:ea typeface="Cambria Math" panose="02040503050406030204" pitchFamily="18" charset="0"/>
                                    <a:cs typeface="Courier New" panose="02070309020205020404" pitchFamily="49" charset="0"/>
                                  </a:rPr>
                                  <m:t>) −</m:t>
                                </m:r>
                                <m:sSup>
                                  <m:sSupPr>
                                    <m:ctrlPr>
                                      <a:rPr lang="en-IN" sz="2400" i="1">
                                        <a:latin typeface="Cambria Math" panose="02040503050406030204" pitchFamily="18" charset="0"/>
                                        <a:ea typeface="Cambria Math" panose="02040503050406030204" pitchFamily="18" charset="0"/>
                                        <a:cs typeface="Courier New" panose="02070309020205020404" pitchFamily="49" charset="0"/>
                                      </a:rPr>
                                    </m:ctrlPr>
                                  </m:sSupPr>
                                  <m:e>
                                    <m:r>
                                      <a:rPr lang="en-IN" sz="2400" i="1">
                                        <a:latin typeface="Cambria Math" panose="02040503050406030204" pitchFamily="18" charset="0"/>
                                        <a:ea typeface="Cambria Math" panose="02040503050406030204" pitchFamily="18" charset="0"/>
                                        <a:cs typeface="Courier New" panose="02070309020205020404" pitchFamily="49" charset="0"/>
                                      </a:rPr>
                                      <m:t>𝑦</m:t>
                                    </m:r>
                                  </m:e>
                                  <m:sup>
                                    <m:d>
                                      <m:dPr>
                                        <m:ctrlPr>
                                          <a:rPr lang="en-IN" sz="2400" i="1">
                                            <a:latin typeface="Cambria Math" panose="02040503050406030204" pitchFamily="18" charset="0"/>
                                            <a:ea typeface="Cambria Math" panose="02040503050406030204" pitchFamily="18" charset="0"/>
                                            <a:cs typeface="Courier New" panose="02070309020205020404" pitchFamily="49" charset="0"/>
                                          </a:rPr>
                                        </m:ctrlPr>
                                      </m:dPr>
                                      <m:e>
                                        <m:r>
                                          <a:rPr lang="en-IN" sz="2400" i="1">
                                            <a:latin typeface="Cambria Math" panose="02040503050406030204" pitchFamily="18" charset="0"/>
                                            <a:ea typeface="Cambria Math" panose="02040503050406030204" pitchFamily="18" charset="0"/>
                                            <a:cs typeface="Courier New" panose="02070309020205020404" pitchFamily="49" charset="0"/>
                                          </a:rPr>
                                          <m:t>𝑖</m:t>
                                        </m:r>
                                      </m:e>
                                    </m:d>
                                  </m:sup>
                                </m:sSup>
                              </m:e>
                            </m:d>
                          </m:e>
                          <m:sup>
                            <m:r>
                              <a:rPr lang="en-IN" sz="2400" b="0" i="1" smtClean="0">
                                <a:latin typeface="Cambria Math" panose="02040503050406030204" pitchFamily="18" charset="0"/>
                                <a:ea typeface="Cambria Math" panose="02040503050406030204" pitchFamily="18" charset="0"/>
                                <a:cs typeface="Courier New" panose="02070309020205020404" pitchFamily="49" charset="0"/>
                              </a:rPr>
                              <m:t>2</m:t>
                            </m:r>
                          </m:sup>
                        </m:sSup>
                      </m:e>
                    </m:nary>
                  </m:oMath>
                </a14:m>
                <a:endParaRPr lang="en-IN" sz="2400">
                  <a:latin typeface="Bookman Old Style" panose="02050604050505020204" pitchFamily="18" charset="0"/>
                  <a:ea typeface="Cambria Math" panose="02040503050406030204" pitchFamily="18" charset="0"/>
                  <a:cs typeface="Courier New" panose="02070309020205020404" pitchFamily="49" charset="0"/>
                </a:endParaRPr>
              </a:p>
            </p:txBody>
          </p:sp>
        </mc:Choice>
        <mc:Fallback>
          <p:sp>
            <p:nvSpPr>
              <p:cNvPr id="21" name="TextBox 20">
                <a:extLst>
                  <a:ext uri="{FF2B5EF4-FFF2-40B4-BE49-F238E27FC236}">
                    <a16:creationId xmlns:a16="http://schemas.microsoft.com/office/drawing/2014/main" id="{C1775FE5-F94D-2730-EEC7-72FB61E763E4}"/>
                  </a:ext>
                </a:extLst>
              </p:cNvPr>
              <p:cNvSpPr txBox="1">
                <a:spLocks noRot="1" noChangeAspect="1" noMove="1" noResize="1" noEditPoints="1" noAdjustHandles="1" noChangeArrowheads="1" noChangeShapeType="1" noTextEdit="1"/>
              </p:cNvSpPr>
              <p:nvPr/>
            </p:nvSpPr>
            <p:spPr>
              <a:xfrm>
                <a:off x="5029200" y="3111699"/>
                <a:ext cx="4289603" cy="648063"/>
              </a:xfrm>
              <a:prstGeom prst="rect">
                <a:avLst/>
              </a:prstGeom>
              <a:blipFill>
                <a:blip r:embed="rId4"/>
                <a:stretch>
                  <a:fillRect l="-2131" b="-84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9694EA96-D98A-E33D-F83F-D2AB94C879B0}"/>
                  </a:ext>
                </a:extLst>
              </p:cNvPr>
              <p:cNvSpPr txBox="1"/>
              <p:nvPr/>
            </p:nvSpPr>
            <p:spPr>
              <a:xfrm>
                <a:off x="5257800" y="4171950"/>
                <a:ext cx="1278235" cy="4805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IN" sz="2400" i="1" smtClean="0">
                              <a:latin typeface="Cambria Math" panose="02040503050406030204" pitchFamily="18" charset="0"/>
                            </a:rPr>
                          </m:ctrlPr>
                        </m:funcPr>
                        <m:fName>
                          <m:limLow>
                            <m:limLowPr>
                              <m:ctrlPr>
                                <a:rPr lang="en-IN" sz="2400" i="1" smtClean="0">
                                  <a:latin typeface="Cambria Math" panose="02040503050406030204" pitchFamily="18" charset="0"/>
                                </a:rPr>
                              </m:ctrlPr>
                            </m:limLowPr>
                            <m:e>
                              <m:r>
                                <m:rPr>
                                  <m:sty m:val="p"/>
                                </m:rPr>
                                <a:rPr lang="en-IN" sz="2400" i="0" smtClean="0">
                                  <a:latin typeface="Cambria Math" panose="02040503050406030204" pitchFamily="18" charset="0"/>
                                </a:rPr>
                                <m:t>min</m:t>
                              </m:r>
                            </m:e>
                            <m:lim>
                              <m:r>
                                <a:rPr lang="en-IN" sz="2400" b="0" i="1" smtClean="0">
                                  <a:latin typeface="Cambria Math" panose="02040503050406030204" pitchFamily="18" charset="0"/>
                                </a:rPr>
                                <m:t>𝑤</m:t>
                              </m:r>
                            </m:lim>
                          </m:limLow>
                        </m:fName>
                        <m:e>
                          <m:r>
                            <a:rPr lang="en-IN" sz="2400" b="0" i="1" smtClean="0">
                              <a:latin typeface="Cambria Math" panose="02040503050406030204" pitchFamily="18" charset="0"/>
                            </a:rPr>
                            <m:t>𝐽</m:t>
                          </m:r>
                          <m:r>
                            <a:rPr lang="en-IN" sz="2400" b="0" i="1" smtClean="0">
                              <a:latin typeface="Cambria Math" panose="02040503050406030204" pitchFamily="18" charset="0"/>
                            </a:rPr>
                            <m:t>(</m:t>
                          </m:r>
                          <m:r>
                            <a:rPr lang="en-IN" sz="2400" b="0" i="1" smtClean="0">
                              <a:latin typeface="Cambria Math" panose="02040503050406030204" pitchFamily="18" charset="0"/>
                            </a:rPr>
                            <m:t>𝑤</m:t>
                          </m:r>
                          <m:r>
                            <a:rPr lang="en-IN" sz="2400" b="0" i="1" smtClean="0">
                              <a:latin typeface="Cambria Math" panose="02040503050406030204" pitchFamily="18" charset="0"/>
                            </a:rPr>
                            <m:t>)</m:t>
                          </m:r>
                        </m:e>
                      </m:func>
                    </m:oMath>
                  </m:oMathPara>
                </a14:m>
                <a:endParaRPr lang="en-IN" sz="2400">
                  <a:latin typeface="Bookman Old Style" panose="02050604050505020204" pitchFamily="18" charset="0"/>
                  <a:cs typeface="Courier New" panose="02070309020205020404" pitchFamily="49" charset="0"/>
                </a:endParaRPr>
              </a:p>
            </p:txBody>
          </p:sp>
        </mc:Choice>
        <mc:Fallback>
          <p:sp>
            <p:nvSpPr>
              <p:cNvPr id="22" name="TextBox 21">
                <a:extLst>
                  <a:ext uri="{FF2B5EF4-FFF2-40B4-BE49-F238E27FC236}">
                    <a16:creationId xmlns:a16="http://schemas.microsoft.com/office/drawing/2014/main" id="{9694EA96-D98A-E33D-F83F-D2AB94C879B0}"/>
                  </a:ext>
                </a:extLst>
              </p:cNvPr>
              <p:cNvSpPr txBox="1">
                <a:spLocks noRot="1" noChangeAspect="1" noMove="1" noResize="1" noEditPoints="1" noAdjustHandles="1" noChangeArrowheads="1" noChangeShapeType="1" noTextEdit="1"/>
              </p:cNvSpPr>
              <p:nvPr/>
            </p:nvSpPr>
            <p:spPr>
              <a:xfrm>
                <a:off x="5257800" y="4171950"/>
                <a:ext cx="1278235" cy="480516"/>
              </a:xfrm>
              <a:prstGeom prst="rect">
                <a:avLst/>
              </a:prstGeom>
              <a:blipFill>
                <a:blip r:embed="rId5"/>
                <a:stretch>
                  <a:fillRect l="-3828" r="-7177" b="-11392"/>
                </a:stretch>
              </a:blipFill>
            </p:spPr>
            <p:txBody>
              <a:bodyPr/>
              <a:lstStyle/>
              <a:p>
                <a:r>
                  <a:rPr lang="en-US">
                    <a:noFill/>
                  </a:rPr>
                  <a:t> </a:t>
                </a:r>
              </a:p>
            </p:txBody>
          </p:sp>
        </mc:Fallback>
      </mc:AlternateContent>
      <p:sp>
        <p:nvSpPr>
          <p:cNvPr id="23" name="Rectangle 22">
            <a:extLst>
              <a:ext uri="{FF2B5EF4-FFF2-40B4-BE49-F238E27FC236}">
                <a16:creationId xmlns:a16="http://schemas.microsoft.com/office/drawing/2014/main" id="{FD756A77-513E-6F75-BCB9-2B670F22CEC2}"/>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Bookman Old Style" panose="02050604050505020204" pitchFamily="18" charset="0"/>
            </a:endParaRPr>
          </a:p>
        </p:txBody>
      </p:sp>
    </p:spTree>
    <p:extLst>
      <p:ext uri="{BB962C8B-B14F-4D97-AF65-F5344CB8AC3E}">
        <p14:creationId xmlns:p14="http://schemas.microsoft.com/office/powerpoint/2010/main" val="2278243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6" grpId="0"/>
      <p:bldP spid="18" grpId="0"/>
      <p:bldP spid="21" grpId="0"/>
      <p:bldP spid="2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E3EF1-EE0C-7957-3CD9-65CFCFA84E3D}"/>
            </a:ext>
          </a:extLst>
        </p:cNvPr>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AF34DA79-8FCD-B586-8942-02BB1575B24D}"/>
              </a:ext>
            </a:extLst>
          </p:cNvPr>
          <p:cNvGraphicFramePr>
            <a:graphicFrameLocks/>
          </p:cNvGraphicFramePr>
          <p:nvPr/>
        </p:nvGraphicFramePr>
        <p:xfrm>
          <a:off x="533400" y="1169225"/>
          <a:ext cx="3169920" cy="2686050"/>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41EF5414-57EB-99D5-5B32-C73C9861BEE5}"/>
              </a:ext>
            </a:extLst>
          </p:cNvPr>
          <p:cNvSpPr txBox="1"/>
          <p:nvPr/>
        </p:nvSpPr>
        <p:spPr>
          <a:xfrm>
            <a:off x="228600" y="2102675"/>
            <a:ext cx="324128" cy="461665"/>
          </a:xfrm>
          <a:prstGeom prst="rect">
            <a:avLst/>
          </a:prstGeom>
          <a:noFill/>
        </p:spPr>
        <p:txBody>
          <a:bodyPr wrap="none" rtlCol="0">
            <a:spAutoFit/>
          </a:bodyPr>
          <a:lstStyle/>
          <a:p>
            <a:r>
              <a:rPr lang="en-US" sz="2400"/>
              <a:t>y</a:t>
            </a:r>
          </a:p>
        </p:txBody>
      </p:sp>
      <p:sp>
        <p:nvSpPr>
          <p:cNvPr id="17" name="TextBox 16">
            <a:extLst>
              <a:ext uri="{FF2B5EF4-FFF2-40B4-BE49-F238E27FC236}">
                <a16:creationId xmlns:a16="http://schemas.microsoft.com/office/drawing/2014/main" id="{1E97952C-5714-1FD8-DA29-B7799BA37633}"/>
              </a:ext>
            </a:extLst>
          </p:cNvPr>
          <p:cNvSpPr txBox="1"/>
          <p:nvPr/>
        </p:nvSpPr>
        <p:spPr>
          <a:xfrm>
            <a:off x="2057400" y="3546010"/>
            <a:ext cx="317716" cy="461665"/>
          </a:xfrm>
          <a:prstGeom prst="rect">
            <a:avLst/>
          </a:prstGeom>
          <a:noFill/>
        </p:spPr>
        <p:txBody>
          <a:bodyPr wrap="none" rtlCol="0">
            <a:spAutoFit/>
          </a:bodyPr>
          <a:lstStyle/>
          <a:p>
            <a:r>
              <a:rPr lang="en-US" sz="2400"/>
              <a:t>x</a:t>
            </a:r>
          </a:p>
        </p:txBody>
      </p:sp>
      <p:sp>
        <p:nvSpPr>
          <p:cNvPr id="30" name="TextBox 29">
            <a:extLst>
              <a:ext uri="{FF2B5EF4-FFF2-40B4-BE49-F238E27FC236}">
                <a16:creationId xmlns:a16="http://schemas.microsoft.com/office/drawing/2014/main" id="{1E3614A9-757D-09AF-636B-A17919D5A465}"/>
              </a:ext>
            </a:extLst>
          </p:cNvPr>
          <p:cNvSpPr txBox="1"/>
          <p:nvPr/>
        </p:nvSpPr>
        <p:spPr>
          <a:xfrm>
            <a:off x="552728" y="578675"/>
            <a:ext cx="3464666" cy="369332"/>
          </a:xfrm>
          <a:prstGeom prst="rect">
            <a:avLst/>
          </a:prstGeom>
          <a:noFill/>
        </p:spPr>
        <p:txBody>
          <a:bodyPr wrap="none" rtlCol="0">
            <a:spAutoFit/>
          </a:bodyPr>
          <a:lstStyle/>
          <a:p>
            <a:r>
              <a:rPr lang="en-US"/>
              <a:t>(for fixed     , this is a function of x)</a:t>
            </a:r>
          </a:p>
        </p:txBody>
      </p:sp>
      <p:cxnSp>
        <p:nvCxnSpPr>
          <p:cNvPr id="34" name="Straight Connector 33">
            <a:extLst>
              <a:ext uri="{FF2B5EF4-FFF2-40B4-BE49-F238E27FC236}">
                <a16:creationId xmlns:a16="http://schemas.microsoft.com/office/drawing/2014/main" id="{B239E521-F046-BD52-E24E-667DBFDF1281}"/>
              </a:ext>
            </a:extLst>
          </p:cNvPr>
          <p:cNvCxnSpPr/>
          <p:nvPr/>
        </p:nvCxnSpPr>
        <p:spPr>
          <a:xfrm>
            <a:off x="4648200" y="566800"/>
            <a:ext cx="0" cy="3962400"/>
          </a:xfrm>
          <a:prstGeom prst="line">
            <a:avLst/>
          </a:prstGeom>
          <a:ln w="12700">
            <a:solidFill>
              <a:schemeClr val="tx1">
                <a:alpha val="55000"/>
              </a:schemeClr>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023C6931-9169-66F5-1F64-3DBB8C156DB7}"/>
              </a:ext>
            </a:extLst>
          </p:cNvPr>
          <p:cNvSpPr txBox="1"/>
          <p:nvPr/>
        </p:nvSpPr>
        <p:spPr>
          <a:xfrm>
            <a:off x="5145934" y="578675"/>
            <a:ext cx="3080843" cy="369332"/>
          </a:xfrm>
          <a:prstGeom prst="rect">
            <a:avLst/>
          </a:prstGeom>
          <a:noFill/>
        </p:spPr>
        <p:txBody>
          <a:bodyPr wrap="none" rtlCol="0">
            <a:spAutoFit/>
          </a:bodyPr>
          <a:lstStyle/>
          <a:p>
            <a:r>
              <a:rPr lang="en-US"/>
              <a:t>(function of the parameter      )</a:t>
            </a:r>
          </a:p>
        </p:txBody>
      </p:sp>
      <p:sp>
        <p:nvSpPr>
          <p:cNvPr id="4" name="TextBox 3">
            <a:extLst>
              <a:ext uri="{FF2B5EF4-FFF2-40B4-BE49-F238E27FC236}">
                <a16:creationId xmlns:a16="http://schemas.microsoft.com/office/drawing/2014/main" id="{B206BCB8-1599-5877-1E8B-BA5B5DB0A0EA}"/>
              </a:ext>
            </a:extLst>
          </p:cNvPr>
          <p:cNvSpPr txBox="1"/>
          <p:nvPr/>
        </p:nvSpPr>
        <p:spPr>
          <a:xfrm>
            <a:off x="1883524" y="178565"/>
            <a:ext cx="744564" cy="369332"/>
          </a:xfrm>
          <a:prstGeom prst="rect">
            <a:avLst/>
          </a:prstGeom>
          <a:noFill/>
        </p:spPr>
        <p:txBody>
          <a:bodyPr wrap="square">
            <a:spAutoFit/>
          </a:bodyPr>
          <a:lstStyle/>
          <a:p>
            <a:r>
              <a:rPr lang="en-IN" sz="1800" err="1">
                <a:latin typeface="Cambria Math" panose="02040503050406030204" pitchFamily="18" charset="0"/>
                <a:ea typeface="Cambria Math" panose="02040503050406030204" pitchFamily="18" charset="0"/>
                <a:cs typeface="Courier New" panose="02070309020205020404" pitchFamily="49" charset="0"/>
              </a:rPr>
              <a:t>h</a:t>
            </a:r>
            <a:r>
              <a:rPr lang="en-IN" sz="1800" baseline="-25000" err="1">
                <a:latin typeface="Cambria Math" panose="02040503050406030204" pitchFamily="18" charset="0"/>
                <a:ea typeface="Cambria Math" panose="02040503050406030204" pitchFamily="18" charset="0"/>
                <a:cs typeface="Courier New" panose="02070309020205020404" pitchFamily="49" charset="0"/>
              </a:rPr>
              <a:t>w</a:t>
            </a:r>
            <a:r>
              <a:rPr lang="en-IN" sz="1800">
                <a:latin typeface="Cambria Math" panose="02040503050406030204" pitchFamily="18" charset="0"/>
                <a:ea typeface="Cambria Math" panose="02040503050406030204" pitchFamily="18" charset="0"/>
                <a:cs typeface="Courier New" panose="02070309020205020404" pitchFamily="49" charset="0"/>
              </a:rPr>
              <a:t>(x)</a:t>
            </a:r>
            <a:endParaRPr lang="en-IN"/>
          </a:p>
        </p:txBody>
      </p:sp>
      <p:sp>
        <p:nvSpPr>
          <p:cNvPr id="6" name="TextBox 5">
            <a:extLst>
              <a:ext uri="{FF2B5EF4-FFF2-40B4-BE49-F238E27FC236}">
                <a16:creationId xmlns:a16="http://schemas.microsoft.com/office/drawing/2014/main" id="{CE8F9B2A-F9BD-FEF1-0D0A-919CD4499608}"/>
              </a:ext>
            </a:extLst>
          </p:cNvPr>
          <p:cNvSpPr txBox="1"/>
          <p:nvPr/>
        </p:nvSpPr>
        <p:spPr>
          <a:xfrm>
            <a:off x="1461951" y="547897"/>
            <a:ext cx="394823" cy="400110"/>
          </a:xfrm>
          <a:prstGeom prst="rect">
            <a:avLst/>
          </a:prstGeom>
          <a:noFill/>
        </p:spPr>
        <p:txBody>
          <a:bodyPr wrap="square" rtlCol="0">
            <a:spAutoFit/>
          </a:bodyPr>
          <a:lstStyle/>
          <a:p>
            <a:r>
              <a:rPr lang="en-US" sz="2000"/>
              <a:t>w</a:t>
            </a:r>
            <a:endParaRPr lang="en-US" sz="2400"/>
          </a:p>
        </p:txBody>
      </p:sp>
      <p:sp>
        <p:nvSpPr>
          <p:cNvPr id="7" name="TextBox 6">
            <a:extLst>
              <a:ext uri="{FF2B5EF4-FFF2-40B4-BE49-F238E27FC236}">
                <a16:creationId xmlns:a16="http://schemas.microsoft.com/office/drawing/2014/main" id="{F39263E6-0A11-9965-DCB7-93EE927016EF}"/>
              </a:ext>
            </a:extLst>
          </p:cNvPr>
          <p:cNvSpPr txBox="1"/>
          <p:nvPr/>
        </p:nvSpPr>
        <p:spPr>
          <a:xfrm>
            <a:off x="3556472" y="1352550"/>
            <a:ext cx="828382" cy="369332"/>
          </a:xfrm>
          <a:prstGeom prst="rect">
            <a:avLst/>
          </a:prstGeom>
          <a:noFill/>
        </p:spPr>
        <p:txBody>
          <a:bodyPr wrap="square">
            <a:spAutoFit/>
          </a:bodyPr>
          <a:lstStyle/>
          <a:p>
            <a:r>
              <a:rPr lang="en-IN" sz="1800">
                <a:latin typeface="Cambria Math" panose="02040503050406030204" pitchFamily="18" charset="0"/>
                <a:ea typeface="Cambria Math" panose="02040503050406030204" pitchFamily="18" charset="0"/>
                <a:cs typeface="Courier New" panose="02070309020205020404" pitchFamily="49" charset="0"/>
              </a:rPr>
              <a:t> </a:t>
            </a:r>
            <a:r>
              <a:rPr lang="en-IN" sz="1800" err="1">
                <a:latin typeface="Cambria Math" panose="02040503050406030204" pitchFamily="18" charset="0"/>
                <a:ea typeface="Cambria Math" panose="02040503050406030204" pitchFamily="18" charset="0"/>
                <a:cs typeface="Courier New" panose="02070309020205020404" pitchFamily="49" charset="0"/>
              </a:rPr>
              <a:t>h</a:t>
            </a:r>
            <a:r>
              <a:rPr lang="en-IN" sz="1800" baseline="-25000" err="1">
                <a:latin typeface="Cambria Math" panose="02040503050406030204" pitchFamily="18" charset="0"/>
                <a:ea typeface="Cambria Math" panose="02040503050406030204" pitchFamily="18" charset="0"/>
                <a:cs typeface="Courier New" panose="02070309020205020404" pitchFamily="49" charset="0"/>
              </a:rPr>
              <a:t>w</a:t>
            </a:r>
            <a:r>
              <a:rPr lang="en-IN" sz="1800">
                <a:latin typeface="Cambria Math" panose="02040503050406030204" pitchFamily="18" charset="0"/>
                <a:ea typeface="Cambria Math" panose="02040503050406030204" pitchFamily="18" charset="0"/>
                <a:cs typeface="Courier New" panose="02070309020205020404" pitchFamily="49" charset="0"/>
              </a:rPr>
              <a:t>(x)</a:t>
            </a:r>
            <a:endParaRPr lang="en-IN"/>
          </a:p>
        </p:txBody>
      </p:sp>
      <p:sp>
        <p:nvSpPr>
          <p:cNvPr id="9" name="TextBox 8">
            <a:extLst>
              <a:ext uri="{FF2B5EF4-FFF2-40B4-BE49-F238E27FC236}">
                <a16:creationId xmlns:a16="http://schemas.microsoft.com/office/drawing/2014/main" id="{C83922CA-ECBE-86C0-3952-BE28F4092472}"/>
              </a:ext>
            </a:extLst>
          </p:cNvPr>
          <p:cNvSpPr txBox="1"/>
          <p:nvPr/>
        </p:nvSpPr>
        <p:spPr>
          <a:xfrm>
            <a:off x="3556472" y="1902620"/>
            <a:ext cx="872815" cy="400110"/>
          </a:xfrm>
          <a:prstGeom prst="rect">
            <a:avLst/>
          </a:prstGeom>
          <a:noFill/>
        </p:spPr>
        <p:txBody>
          <a:bodyPr wrap="square" rtlCol="0">
            <a:spAutoFit/>
          </a:bodyPr>
          <a:lstStyle/>
          <a:p>
            <a:r>
              <a:rPr lang="en-US" sz="2000"/>
              <a:t> w = 1</a:t>
            </a:r>
            <a:endParaRPr lang="en-US" sz="2400"/>
          </a:p>
        </p:txBody>
      </p:sp>
      <p:sp>
        <p:nvSpPr>
          <p:cNvPr id="11" name="TextBox 10">
            <a:extLst>
              <a:ext uri="{FF2B5EF4-FFF2-40B4-BE49-F238E27FC236}">
                <a16:creationId xmlns:a16="http://schemas.microsoft.com/office/drawing/2014/main" id="{94FDAE8D-9AF3-A4E7-6E3B-909B377B8F8E}"/>
              </a:ext>
            </a:extLst>
          </p:cNvPr>
          <p:cNvSpPr txBox="1"/>
          <p:nvPr/>
        </p:nvSpPr>
        <p:spPr>
          <a:xfrm>
            <a:off x="6347454" y="178565"/>
            <a:ext cx="668364" cy="369332"/>
          </a:xfrm>
          <a:prstGeom prst="rect">
            <a:avLst/>
          </a:prstGeom>
          <a:noFill/>
        </p:spPr>
        <p:txBody>
          <a:bodyPr wrap="square">
            <a:spAutoFit/>
          </a:bodyPr>
          <a:lstStyle/>
          <a:p>
            <a:r>
              <a:rPr lang="en-IN" sz="1800">
                <a:latin typeface="Cambria Math" panose="02040503050406030204" pitchFamily="18" charset="0"/>
                <a:ea typeface="Cambria Math" panose="02040503050406030204" pitchFamily="18" charset="0"/>
                <a:cs typeface="Courier New" panose="02070309020205020404" pitchFamily="49" charset="0"/>
              </a:rPr>
              <a:t>J(w)</a:t>
            </a:r>
            <a:endParaRPr lang="en-IN"/>
          </a:p>
        </p:txBody>
      </p:sp>
      <p:pic>
        <p:nvPicPr>
          <p:cNvPr id="14" name="Picture 13">
            <a:extLst>
              <a:ext uri="{FF2B5EF4-FFF2-40B4-BE49-F238E27FC236}">
                <a16:creationId xmlns:a16="http://schemas.microsoft.com/office/drawing/2014/main" id="{E6D8F239-6F53-4FA1-E218-7C54B622C6E0}"/>
              </a:ext>
            </a:extLst>
          </p:cNvPr>
          <p:cNvPicPr>
            <a:picLocks noChangeAspect="1"/>
          </p:cNvPicPr>
          <p:nvPr/>
        </p:nvPicPr>
        <p:blipFill>
          <a:blip r:embed="rId3"/>
          <a:stretch>
            <a:fillRect/>
          </a:stretch>
        </p:blipFill>
        <p:spPr>
          <a:xfrm>
            <a:off x="4966713" y="1085850"/>
            <a:ext cx="3981450" cy="2971800"/>
          </a:xfrm>
          <a:prstGeom prst="rect">
            <a:avLst/>
          </a:prstGeom>
        </p:spPr>
      </p:pic>
      <p:sp>
        <p:nvSpPr>
          <p:cNvPr id="15" name="TextBox 14">
            <a:extLst>
              <a:ext uri="{FF2B5EF4-FFF2-40B4-BE49-F238E27FC236}">
                <a16:creationId xmlns:a16="http://schemas.microsoft.com/office/drawing/2014/main" id="{C71C34F9-F488-F60A-7FF9-9E3025E61286}"/>
              </a:ext>
            </a:extLst>
          </p:cNvPr>
          <p:cNvSpPr txBox="1"/>
          <p:nvPr/>
        </p:nvSpPr>
        <p:spPr>
          <a:xfrm>
            <a:off x="7654158" y="563286"/>
            <a:ext cx="485173" cy="400110"/>
          </a:xfrm>
          <a:prstGeom prst="rect">
            <a:avLst/>
          </a:prstGeom>
          <a:noFill/>
        </p:spPr>
        <p:txBody>
          <a:bodyPr wrap="square" rtlCol="0">
            <a:spAutoFit/>
          </a:bodyPr>
          <a:lstStyle/>
          <a:p>
            <a:r>
              <a:rPr lang="en-US" sz="2000"/>
              <a:t> w</a:t>
            </a:r>
            <a:endParaRPr lang="en-US" sz="2400"/>
          </a:p>
        </p:txBody>
      </p:sp>
      <p:sp>
        <p:nvSpPr>
          <p:cNvPr id="18" name="Rectangle 17">
            <a:extLst>
              <a:ext uri="{FF2B5EF4-FFF2-40B4-BE49-F238E27FC236}">
                <a16:creationId xmlns:a16="http://schemas.microsoft.com/office/drawing/2014/main" id="{1540E0FF-9008-BF3B-F2BA-07C37E98765F}"/>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D901710-E44C-3336-0B37-1C8A0F095CB7}"/>
                  </a:ext>
                </a:extLst>
              </p:cNvPr>
              <p:cNvSpPr txBox="1"/>
              <p:nvPr/>
            </p:nvSpPr>
            <p:spPr>
              <a:xfrm>
                <a:off x="333430" y="4140662"/>
                <a:ext cx="4289603" cy="648063"/>
              </a:xfrm>
              <a:prstGeom prst="rect">
                <a:avLst/>
              </a:prstGeom>
              <a:noFill/>
            </p:spPr>
            <p:txBody>
              <a:bodyPr wrap="square">
                <a:spAutoFit/>
              </a:bodyPr>
              <a:lstStyle/>
              <a:p>
                <a:r>
                  <a:rPr lang="en-IN" sz="2400">
                    <a:latin typeface="Bookman Old Style" panose="02050604050505020204" pitchFamily="18" charset="0"/>
                    <a:ea typeface="Cambria Math" panose="02040503050406030204" pitchFamily="18" charset="0"/>
                    <a:cs typeface="Courier New" panose="02070309020205020404" pitchFamily="49" charset="0"/>
                  </a:rPr>
                  <a:t>J(w)= </a:t>
                </a:r>
                <a14:m>
                  <m:oMath xmlns:m="http://schemas.openxmlformats.org/officeDocument/2006/math">
                    <m:f>
                      <m:fPr>
                        <m:ctrlPr>
                          <a:rPr lang="en-IN" sz="2400" i="1" smtClean="0">
                            <a:latin typeface="Cambria Math" panose="02040503050406030204" pitchFamily="18" charset="0"/>
                            <a:ea typeface="Cambria Math" panose="02040503050406030204" pitchFamily="18" charset="0"/>
                            <a:cs typeface="Courier New" panose="02070309020205020404" pitchFamily="49" charset="0"/>
                          </a:rPr>
                        </m:ctrlPr>
                      </m:fPr>
                      <m:num>
                        <m:r>
                          <a:rPr lang="en-IN" sz="2400" b="0" i="1" smtClean="0">
                            <a:latin typeface="Cambria Math" panose="02040503050406030204" pitchFamily="18" charset="0"/>
                            <a:ea typeface="Cambria Math" panose="02040503050406030204" pitchFamily="18" charset="0"/>
                            <a:cs typeface="Courier New" panose="02070309020205020404" pitchFamily="49" charset="0"/>
                          </a:rPr>
                          <m:t>1</m:t>
                        </m:r>
                      </m:num>
                      <m:den>
                        <m:r>
                          <a:rPr lang="en-IN" sz="2400" b="0" i="1" smtClean="0">
                            <a:latin typeface="Cambria Math" panose="02040503050406030204" pitchFamily="18" charset="0"/>
                            <a:ea typeface="Cambria Math" panose="02040503050406030204" pitchFamily="18" charset="0"/>
                            <a:cs typeface="Courier New" panose="02070309020205020404" pitchFamily="49" charset="0"/>
                          </a:rPr>
                          <m:t>2</m:t>
                        </m:r>
                        <m:r>
                          <a:rPr lang="en-IN" sz="2400" b="0" i="1" smtClean="0">
                            <a:latin typeface="Cambria Math" panose="02040503050406030204" pitchFamily="18" charset="0"/>
                            <a:ea typeface="Cambria Math" panose="02040503050406030204" pitchFamily="18" charset="0"/>
                            <a:cs typeface="Courier New" panose="02070309020205020404" pitchFamily="49" charset="0"/>
                          </a:rPr>
                          <m:t>𝑚</m:t>
                        </m:r>
                      </m:den>
                    </m:f>
                    <m:nary>
                      <m:naryPr>
                        <m:chr m:val="∑"/>
                        <m:ctrlPr>
                          <a:rPr lang="en-IN" sz="2400" i="1" smtClean="0">
                            <a:latin typeface="Cambria Math" panose="02040503050406030204" pitchFamily="18" charset="0"/>
                            <a:ea typeface="Cambria Math" panose="02040503050406030204" pitchFamily="18" charset="0"/>
                            <a:cs typeface="Courier New" panose="02070309020205020404" pitchFamily="49" charset="0"/>
                          </a:rPr>
                        </m:ctrlPr>
                      </m:naryPr>
                      <m:sub>
                        <m:r>
                          <m:rPr>
                            <m:brk m:alnAt="23"/>
                          </m:rPr>
                          <a:rPr lang="en-IN" sz="2400" b="0" i="1" smtClean="0">
                            <a:latin typeface="Cambria Math" panose="02040503050406030204" pitchFamily="18" charset="0"/>
                            <a:ea typeface="Cambria Math" panose="02040503050406030204" pitchFamily="18" charset="0"/>
                            <a:cs typeface="Courier New" panose="02070309020205020404" pitchFamily="49" charset="0"/>
                          </a:rPr>
                          <m:t>𝑖</m:t>
                        </m:r>
                        <m:r>
                          <a:rPr lang="en-IN" sz="2400" b="0" i="1" smtClean="0">
                            <a:latin typeface="Cambria Math" panose="02040503050406030204" pitchFamily="18" charset="0"/>
                            <a:ea typeface="Cambria Math" panose="02040503050406030204" pitchFamily="18" charset="0"/>
                            <a:cs typeface="Courier New" panose="02070309020205020404" pitchFamily="49" charset="0"/>
                          </a:rPr>
                          <m:t>=1</m:t>
                        </m:r>
                      </m:sub>
                      <m:sup>
                        <m:r>
                          <a:rPr lang="en-IN" sz="2400" b="0" i="1" smtClean="0">
                            <a:latin typeface="Cambria Math" panose="02040503050406030204" pitchFamily="18" charset="0"/>
                            <a:ea typeface="Cambria Math" panose="02040503050406030204" pitchFamily="18" charset="0"/>
                            <a:cs typeface="Courier New" panose="02070309020205020404" pitchFamily="49" charset="0"/>
                          </a:rPr>
                          <m:t>𝑚</m:t>
                        </m:r>
                      </m:sup>
                      <m:e>
                        <m:sSup>
                          <m:sSupPr>
                            <m:ctrlPr>
                              <a:rPr lang="en-IN" sz="2400" i="1" smtClean="0">
                                <a:latin typeface="Cambria Math" panose="02040503050406030204" pitchFamily="18" charset="0"/>
                                <a:ea typeface="Cambria Math" panose="02040503050406030204" pitchFamily="18" charset="0"/>
                                <a:cs typeface="Courier New" panose="02070309020205020404" pitchFamily="49" charset="0"/>
                              </a:rPr>
                            </m:ctrlPr>
                          </m:sSupPr>
                          <m:e>
                            <m:d>
                              <m:dPr>
                                <m:ctrlPr>
                                  <a:rPr lang="en-IN" sz="2400" i="1">
                                    <a:latin typeface="Cambria Math" panose="02040503050406030204" pitchFamily="18" charset="0"/>
                                    <a:ea typeface="Cambria Math" panose="02040503050406030204" pitchFamily="18" charset="0"/>
                                    <a:cs typeface="Courier New" panose="02070309020205020404" pitchFamily="49" charset="0"/>
                                  </a:rPr>
                                </m:ctrlPr>
                              </m:dPr>
                              <m:e>
                                <m:r>
                                  <m:rPr>
                                    <m:nor/>
                                  </m:rPr>
                                  <a:rPr lang="en-IN" sz="2400" i="0" dirty="0">
                                    <a:latin typeface="Bookman Old Style" panose="02050604050505020204" pitchFamily="18" charset="0"/>
                                    <a:ea typeface="Cambria Math" panose="02040503050406030204" pitchFamily="18" charset="0"/>
                                    <a:cs typeface="Courier New" panose="02070309020205020404" pitchFamily="49" charset="0"/>
                                  </a:rPr>
                                  <m:t>h</m:t>
                                </m:r>
                                <m:r>
                                  <m:rPr>
                                    <m:nor/>
                                  </m:rPr>
                                  <a:rPr lang="en-IN" sz="2400" i="0" baseline="-25000" dirty="0">
                                    <a:latin typeface="Bookman Old Style" panose="02050604050505020204" pitchFamily="18" charset="0"/>
                                    <a:ea typeface="Cambria Math" panose="02040503050406030204" pitchFamily="18" charset="0"/>
                                    <a:cs typeface="Courier New" panose="02070309020205020404" pitchFamily="49" charset="0"/>
                                  </a:rPr>
                                  <m:t>w</m:t>
                                </m:r>
                                <m:r>
                                  <m:rPr>
                                    <m:nor/>
                                  </m:rPr>
                                  <a:rPr lang="en-IN" sz="2400" i="0" dirty="0">
                                    <a:latin typeface="Bookman Old Style" panose="02050604050505020204" pitchFamily="18" charset="0"/>
                                    <a:ea typeface="Cambria Math" panose="02040503050406030204" pitchFamily="18" charset="0"/>
                                    <a:cs typeface="Courier New" panose="02070309020205020404" pitchFamily="49" charset="0"/>
                                  </a:rPr>
                                  <m:t>(</m:t>
                                </m:r>
                                <m:sSup>
                                  <m:sSupPr>
                                    <m:ctrlPr>
                                      <a:rPr lang="en-IN" sz="2400" i="1">
                                        <a:latin typeface="Cambria Math" panose="02040503050406030204" pitchFamily="18" charset="0"/>
                                        <a:ea typeface="Cambria Math" panose="02040503050406030204" pitchFamily="18" charset="0"/>
                                        <a:cs typeface="Courier New" panose="02070309020205020404" pitchFamily="49" charset="0"/>
                                      </a:rPr>
                                    </m:ctrlPr>
                                  </m:sSupPr>
                                  <m:e>
                                    <m:r>
                                      <a:rPr lang="en-IN" sz="2400" i="1">
                                        <a:latin typeface="Cambria Math" panose="02040503050406030204" pitchFamily="18" charset="0"/>
                                        <a:ea typeface="Cambria Math" panose="02040503050406030204" pitchFamily="18" charset="0"/>
                                        <a:cs typeface="Courier New" panose="02070309020205020404" pitchFamily="49" charset="0"/>
                                      </a:rPr>
                                      <m:t>𝑥</m:t>
                                    </m:r>
                                  </m:e>
                                  <m:sup>
                                    <m:d>
                                      <m:dPr>
                                        <m:ctrlPr>
                                          <a:rPr lang="en-IN" sz="2400" i="1">
                                            <a:latin typeface="Cambria Math" panose="02040503050406030204" pitchFamily="18" charset="0"/>
                                            <a:ea typeface="Cambria Math" panose="02040503050406030204" pitchFamily="18" charset="0"/>
                                            <a:cs typeface="Courier New" panose="02070309020205020404" pitchFamily="49" charset="0"/>
                                          </a:rPr>
                                        </m:ctrlPr>
                                      </m:dPr>
                                      <m:e>
                                        <m:r>
                                          <a:rPr lang="en-IN" sz="2400" i="1">
                                            <a:latin typeface="Cambria Math" panose="02040503050406030204" pitchFamily="18" charset="0"/>
                                            <a:ea typeface="Cambria Math" panose="02040503050406030204" pitchFamily="18" charset="0"/>
                                            <a:cs typeface="Courier New" panose="02070309020205020404" pitchFamily="49" charset="0"/>
                                          </a:rPr>
                                          <m:t>𝑖</m:t>
                                        </m:r>
                                      </m:e>
                                    </m:d>
                                  </m:sup>
                                </m:sSup>
                                <m:r>
                                  <m:rPr>
                                    <m:nor/>
                                  </m:rPr>
                                  <a:rPr lang="en-IN" sz="2400" i="0" dirty="0">
                                    <a:latin typeface="Bookman Old Style" panose="02050604050505020204" pitchFamily="18" charset="0"/>
                                    <a:ea typeface="Cambria Math" panose="02040503050406030204" pitchFamily="18" charset="0"/>
                                    <a:cs typeface="Courier New" panose="02070309020205020404" pitchFamily="49" charset="0"/>
                                  </a:rPr>
                                  <m:t>) −</m:t>
                                </m:r>
                                <m:sSup>
                                  <m:sSupPr>
                                    <m:ctrlPr>
                                      <a:rPr lang="en-IN" sz="2400" i="1">
                                        <a:latin typeface="Cambria Math" panose="02040503050406030204" pitchFamily="18" charset="0"/>
                                        <a:ea typeface="Cambria Math" panose="02040503050406030204" pitchFamily="18" charset="0"/>
                                        <a:cs typeface="Courier New" panose="02070309020205020404" pitchFamily="49" charset="0"/>
                                      </a:rPr>
                                    </m:ctrlPr>
                                  </m:sSupPr>
                                  <m:e>
                                    <m:r>
                                      <a:rPr lang="en-IN" sz="2400" i="1">
                                        <a:latin typeface="Cambria Math" panose="02040503050406030204" pitchFamily="18" charset="0"/>
                                        <a:ea typeface="Cambria Math" panose="02040503050406030204" pitchFamily="18" charset="0"/>
                                        <a:cs typeface="Courier New" panose="02070309020205020404" pitchFamily="49" charset="0"/>
                                      </a:rPr>
                                      <m:t>𝑦</m:t>
                                    </m:r>
                                  </m:e>
                                  <m:sup>
                                    <m:d>
                                      <m:dPr>
                                        <m:ctrlPr>
                                          <a:rPr lang="en-IN" sz="2400" i="1">
                                            <a:latin typeface="Cambria Math" panose="02040503050406030204" pitchFamily="18" charset="0"/>
                                            <a:ea typeface="Cambria Math" panose="02040503050406030204" pitchFamily="18" charset="0"/>
                                            <a:cs typeface="Courier New" panose="02070309020205020404" pitchFamily="49" charset="0"/>
                                          </a:rPr>
                                        </m:ctrlPr>
                                      </m:dPr>
                                      <m:e>
                                        <m:r>
                                          <a:rPr lang="en-IN" sz="2400" i="1">
                                            <a:latin typeface="Cambria Math" panose="02040503050406030204" pitchFamily="18" charset="0"/>
                                            <a:ea typeface="Cambria Math" panose="02040503050406030204" pitchFamily="18" charset="0"/>
                                            <a:cs typeface="Courier New" panose="02070309020205020404" pitchFamily="49" charset="0"/>
                                          </a:rPr>
                                          <m:t>𝑖</m:t>
                                        </m:r>
                                      </m:e>
                                    </m:d>
                                  </m:sup>
                                </m:sSup>
                              </m:e>
                            </m:d>
                          </m:e>
                          <m:sup>
                            <m:r>
                              <a:rPr lang="en-IN" sz="2400" b="0" i="1" smtClean="0">
                                <a:latin typeface="Cambria Math" panose="02040503050406030204" pitchFamily="18" charset="0"/>
                                <a:ea typeface="Cambria Math" panose="02040503050406030204" pitchFamily="18" charset="0"/>
                                <a:cs typeface="Courier New" panose="02070309020205020404" pitchFamily="49" charset="0"/>
                              </a:rPr>
                              <m:t>2</m:t>
                            </m:r>
                          </m:sup>
                        </m:sSup>
                      </m:e>
                    </m:nary>
                  </m:oMath>
                </a14:m>
                <a:endParaRPr lang="en-IN" sz="2400">
                  <a:latin typeface="Bookman Old Style" panose="02050604050505020204" pitchFamily="18" charset="0"/>
                  <a:ea typeface="Cambria Math" panose="02040503050406030204" pitchFamily="18" charset="0"/>
                  <a:cs typeface="Courier New" panose="02070309020205020404" pitchFamily="49" charset="0"/>
                </a:endParaRPr>
              </a:p>
            </p:txBody>
          </p:sp>
        </mc:Choice>
        <mc:Fallback>
          <p:sp>
            <p:nvSpPr>
              <p:cNvPr id="3" name="TextBox 2">
                <a:extLst>
                  <a:ext uri="{FF2B5EF4-FFF2-40B4-BE49-F238E27FC236}">
                    <a16:creationId xmlns:a16="http://schemas.microsoft.com/office/drawing/2014/main" id="{FD901710-E44C-3336-0B37-1C8A0F095CB7}"/>
                  </a:ext>
                </a:extLst>
              </p:cNvPr>
              <p:cNvSpPr txBox="1">
                <a:spLocks noRot="1" noChangeAspect="1" noMove="1" noResize="1" noEditPoints="1" noAdjustHandles="1" noChangeArrowheads="1" noChangeShapeType="1" noTextEdit="1"/>
              </p:cNvSpPr>
              <p:nvPr/>
            </p:nvSpPr>
            <p:spPr>
              <a:xfrm>
                <a:off x="333430" y="4140662"/>
                <a:ext cx="4289603" cy="648063"/>
              </a:xfrm>
              <a:prstGeom prst="rect">
                <a:avLst/>
              </a:prstGeom>
              <a:blipFill>
                <a:blip r:embed="rId4"/>
                <a:stretch>
                  <a:fillRect l="-2276" b="-8411"/>
                </a:stretch>
              </a:blipFill>
            </p:spPr>
            <p:txBody>
              <a:bodyPr/>
              <a:lstStyle/>
              <a:p>
                <a:r>
                  <a:rPr lang="en-US">
                    <a:noFill/>
                  </a:rPr>
                  <a:t> </a:t>
                </a:r>
              </a:p>
            </p:txBody>
          </p:sp>
        </mc:Fallback>
      </mc:AlternateContent>
      <p:cxnSp>
        <p:nvCxnSpPr>
          <p:cNvPr id="8" name="Straight Connector 7">
            <a:extLst>
              <a:ext uri="{FF2B5EF4-FFF2-40B4-BE49-F238E27FC236}">
                <a16:creationId xmlns:a16="http://schemas.microsoft.com/office/drawing/2014/main" id="{969ED430-EF10-EFB8-C7FA-3B4F3C6DB198}"/>
              </a:ext>
            </a:extLst>
          </p:cNvPr>
          <p:cNvCxnSpPr/>
          <p:nvPr/>
        </p:nvCxnSpPr>
        <p:spPr>
          <a:xfrm flipV="1">
            <a:off x="990600" y="1085850"/>
            <a:ext cx="2895600" cy="217170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9145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16" grpId="0"/>
      <p:bldP spid="17" grpId="0"/>
      <p:bldP spid="30" grpId="0"/>
      <p:bldP spid="36" grpId="0"/>
      <p:bldP spid="6" grpId="0"/>
      <p:bldP spid="7" grpId="0"/>
      <p:bldP spid="9" grpId="0"/>
      <p:bldP spid="15" grpId="0"/>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D858D-218B-BBE7-385E-11B005ED6132}"/>
            </a:ext>
          </a:extLst>
        </p:cNvPr>
        <p:cNvGrpSpPr/>
        <p:nvPr/>
      </p:nvGrpSpPr>
      <p:grpSpPr>
        <a:xfrm>
          <a:off x="0" y="0"/>
          <a:ext cx="0" cy="0"/>
          <a:chOff x="0" y="0"/>
          <a:chExt cx="0" cy="0"/>
        </a:xfrm>
      </p:grpSpPr>
      <p:graphicFrame>
        <p:nvGraphicFramePr>
          <p:cNvPr id="44" name="Chart 43">
            <a:extLst>
              <a:ext uri="{FF2B5EF4-FFF2-40B4-BE49-F238E27FC236}">
                <a16:creationId xmlns:a16="http://schemas.microsoft.com/office/drawing/2014/main" id="{4CAC15E4-9885-F001-F557-04F6C79B728B}"/>
              </a:ext>
            </a:extLst>
          </p:cNvPr>
          <p:cNvGraphicFramePr>
            <a:graphicFrameLocks/>
          </p:cNvGraphicFramePr>
          <p:nvPr/>
        </p:nvGraphicFramePr>
        <p:xfrm>
          <a:off x="533400" y="1169225"/>
          <a:ext cx="3169920" cy="2686050"/>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2DA9FF90-2F52-9E94-87BE-362D24C5AB69}"/>
              </a:ext>
            </a:extLst>
          </p:cNvPr>
          <p:cNvSpPr txBox="1"/>
          <p:nvPr/>
        </p:nvSpPr>
        <p:spPr>
          <a:xfrm>
            <a:off x="228600" y="2102675"/>
            <a:ext cx="324128" cy="461665"/>
          </a:xfrm>
          <a:prstGeom prst="rect">
            <a:avLst/>
          </a:prstGeom>
          <a:noFill/>
        </p:spPr>
        <p:txBody>
          <a:bodyPr wrap="none" rtlCol="0">
            <a:spAutoFit/>
          </a:bodyPr>
          <a:lstStyle/>
          <a:p>
            <a:r>
              <a:rPr lang="en-US" sz="2400"/>
              <a:t>y</a:t>
            </a:r>
          </a:p>
        </p:txBody>
      </p:sp>
      <p:sp>
        <p:nvSpPr>
          <p:cNvPr id="17" name="TextBox 16">
            <a:extLst>
              <a:ext uri="{FF2B5EF4-FFF2-40B4-BE49-F238E27FC236}">
                <a16:creationId xmlns:a16="http://schemas.microsoft.com/office/drawing/2014/main" id="{AA3412E3-8221-0D11-4598-8565F9C97BC7}"/>
              </a:ext>
            </a:extLst>
          </p:cNvPr>
          <p:cNvSpPr txBox="1"/>
          <p:nvPr/>
        </p:nvSpPr>
        <p:spPr>
          <a:xfrm>
            <a:off x="2057400" y="3546010"/>
            <a:ext cx="317716" cy="461665"/>
          </a:xfrm>
          <a:prstGeom prst="rect">
            <a:avLst/>
          </a:prstGeom>
          <a:noFill/>
        </p:spPr>
        <p:txBody>
          <a:bodyPr wrap="none" rtlCol="0">
            <a:spAutoFit/>
          </a:bodyPr>
          <a:lstStyle/>
          <a:p>
            <a:r>
              <a:rPr lang="en-US" sz="2400"/>
              <a:t>x</a:t>
            </a:r>
          </a:p>
        </p:txBody>
      </p:sp>
      <p:sp>
        <p:nvSpPr>
          <p:cNvPr id="30" name="TextBox 29">
            <a:extLst>
              <a:ext uri="{FF2B5EF4-FFF2-40B4-BE49-F238E27FC236}">
                <a16:creationId xmlns:a16="http://schemas.microsoft.com/office/drawing/2014/main" id="{6B22CA51-DF41-6BF8-67E2-F5C2684DB77C}"/>
              </a:ext>
            </a:extLst>
          </p:cNvPr>
          <p:cNvSpPr txBox="1"/>
          <p:nvPr/>
        </p:nvSpPr>
        <p:spPr>
          <a:xfrm>
            <a:off x="552728" y="578675"/>
            <a:ext cx="3464666" cy="369332"/>
          </a:xfrm>
          <a:prstGeom prst="rect">
            <a:avLst/>
          </a:prstGeom>
          <a:noFill/>
        </p:spPr>
        <p:txBody>
          <a:bodyPr wrap="none" rtlCol="0">
            <a:spAutoFit/>
          </a:bodyPr>
          <a:lstStyle/>
          <a:p>
            <a:r>
              <a:rPr lang="en-US"/>
              <a:t>(for fixed     , this is a function of x)</a:t>
            </a:r>
          </a:p>
        </p:txBody>
      </p:sp>
      <p:cxnSp>
        <p:nvCxnSpPr>
          <p:cNvPr id="34" name="Straight Connector 33">
            <a:extLst>
              <a:ext uri="{FF2B5EF4-FFF2-40B4-BE49-F238E27FC236}">
                <a16:creationId xmlns:a16="http://schemas.microsoft.com/office/drawing/2014/main" id="{D70D3F01-F1B6-7E62-A0EB-7E729B87E440}"/>
              </a:ext>
            </a:extLst>
          </p:cNvPr>
          <p:cNvCxnSpPr/>
          <p:nvPr/>
        </p:nvCxnSpPr>
        <p:spPr>
          <a:xfrm>
            <a:off x="4648200" y="566800"/>
            <a:ext cx="0" cy="3962400"/>
          </a:xfrm>
          <a:prstGeom prst="line">
            <a:avLst/>
          </a:prstGeom>
          <a:ln w="12700">
            <a:solidFill>
              <a:schemeClr val="tx1">
                <a:alpha val="55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D79D01C-66D8-5029-840A-3DB90AADAD26}"/>
              </a:ext>
            </a:extLst>
          </p:cNvPr>
          <p:cNvSpPr txBox="1"/>
          <p:nvPr/>
        </p:nvSpPr>
        <p:spPr>
          <a:xfrm>
            <a:off x="1883524" y="178565"/>
            <a:ext cx="744564" cy="369332"/>
          </a:xfrm>
          <a:prstGeom prst="rect">
            <a:avLst/>
          </a:prstGeom>
          <a:noFill/>
        </p:spPr>
        <p:txBody>
          <a:bodyPr wrap="square">
            <a:spAutoFit/>
          </a:bodyPr>
          <a:lstStyle/>
          <a:p>
            <a:r>
              <a:rPr lang="en-IN" sz="1800" err="1">
                <a:latin typeface="Cambria Math" panose="02040503050406030204" pitchFamily="18" charset="0"/>
                <a:ea typeface="Cambria Math" panose="02040503050406030204" pitchFamily="18" charset="0"/>
                <a:cs typeface="Courier New" panose="02070309020205020404" pitchFamily="49" charset="0"/>
              </a:rPr>
              <a:t>h</a:t>
            </a:r>
            <a:r>
              <a:rPr lang="en-IN" sz="1800" baseline="-25000" err="1">
                <a:latin typeface="Cambria Math" panose="02040503050406030204" pitchFamily="18" charset="0"/>
                <a:ea typeface="Cambria Math" panose="02040503050406030204" pitchFamily="18" charset="0"/>
                <a:cs typeface="Courier New" panose="02070309020205020404" pitchFamily="49" charset="0"/>
              </a:rPr>
              <a:t>w</a:t>
            </a:r>
            <a:r>
              <a:rPr lang="en-IN" sz="1800">
                <a:latin typeface="Cambria Math" panose="02040503050406030204" pitchFamily="18" charset="0"/>
                <a:ea typeface="Cambria Math" panose="02040503050406030204" pitchFamily="18" charset="0"/>
                <a:cs typeface="Courier New" panose="02070309020205020404" pitchFamily="49" charset="0"/>
              </a:rPr>
              <a:t>(x)</a:t>
            </a:r>
            <a:endParaRPr lang="en-IN"/>
          </a:p>
        </p:txBody>
      </p:sp>
      <p:sp>
        <p:nvSpPr>
          <p:cNvPr id="4" name="TextBox 3">
            <a:extLst>
              <a:ext uri="{FF2B5EF4-FFF2-40B4-BE49-F238E27FC236}">
                <a16:creationId xmlns:a16="http://schemas.microsoft.com/office/drawing/2014/main" id="{5AE3343F-CDC9-65E2-564F-DBD46A7E1DD2}"/>
              </a:ext>
            </a:extLst>
          </p:cNvPr>
          <p:cNvSpPr txBox="1"/>
          <p:nvPr/>
        </p:nvSpPr>
        <p:spPr>
          <a:xfrm>
            <a:off x="3556472" y="1352550"/>
            <a:ext cx="828382" cy="369332"/>
          </a:xfrm>
          <a:prstGeom prst="rect">
            <a:avLst/>
          </a:prstGeom>
          <a:noFill/>
        </p:spPr>
        <p:txBody>
          <a:bodyPr wrap="square">
            <a:spAutoFit/>
          </a:bodyPr>
          <a:lstStyle/>
          <a:p>
            <a:r>
              <a:rPr lang="en-IN" sz="1800">
                <a:latin typeface="Cambria Math" panose="02040503050406030204" pitchFamily="18" charset="0"/>
                <a:ea typeface="Cambria Math" panose="02040503050406030204" pitchFamily="18" charset="0"/>
                <a:cs typeface="Courier New" panose="02070309020205020404" pitchFamily="49" charset="0"/>
              </a:rPr>
              <a:t> </a:t>
            </a:r>
            <a:r>
              <a:rPr lang="en-IN" sz="1800" err="1">
                <a:latin typeface="Cambria Math" panose="02040503050406030204" pitchFamily="18" charset="0"/>
                <a:ea typeface="Cambria Math" panose="02040503050406030204" pitchFamily="18" charset="0"/>
                <a:cs typeface="Courier New" panose="02070309020205020404" pitchFamily="49" charset="0"/>
              </a:rPr>
              <a:t>h</a:t>
            </a:r>
            <a:r>
              <a:rPr lang="en-IN" sz="1800" baseline="-25000" err="1">
                <a:latin typeface="Cambria Math" panose="02040503050406030204" pitchFamily="18" charset="0"/>
                <a:ea typeface="Cambria Math" panose="02040503050406030204" pitchFamily="18" charset="0"/>
                <a:cs typeface="Courier New" panose="02070309020205020404" pitchFamily="49" charset="0"/>
              </a:rPr>
              <a:t>w</a:t>
            </a:r>
            <a:r>
              <a:rPr lang="en-IN" sz="1800">
                <a:latin typeface="Cambria Math" panose="02040503050406030204" pitchFamily="18" charset="0"/>
                <a:ea typeface="Cambria Math" panose="02040503050406030204" pitchFamily="18" charset="0"/>
                <a:cs typeface="Courier New" panose="02070309020205020404" pitchFamily="49" charset="0"/>
              </a:rPr>
              <a:t>(x)</a:t>
            </a:r>
            <a:endParaRPr lang="en-IN"/>
          </a:p>
        </p:txBody>
      </p:sp>
      <p:sp>
        <p:nvSpPr>
          <p:cNvPr id="6" name="TextBox 5">
            <a:extLst>
              <a:ext uri="{FF2B5EF4-FFF2-40B4-BE49-F238E27FC236}">
                <a16:creationId xmlns:a16="http://schemas.microsoft.com/office/drawing/2014/main" id="{50F522EC-EC7A-5067-8E85-296A909137BB}"/>
              </a:ext>
            </a:extLst>
          </p:cNvPr>
          <p:cNvSpPr txBox="1"/>
          <p:nvPr/>
        </p:nvSpPr>
        <p:spPr>
          <a:xfrm>
            <a:off x="3556472" y="2247840"/>
            <a:ext cx="1091727" cy="400110"/>
          </a:xfrm>
          <a:prstGeom prst="rect">
            <a:avLst/>
          </a:prstGeom>
          <a:noFill/>
        </p:spPr>
        <p:txBody>
          <a:bodyPr wrap="square" rtlCol="0">
            <a:spAutoFit/>
          </a:bodyPr>
          <a:lstStyle/>
          <a:p>
            <a:r>
              <a:rPr lang="en-US" sz="2000"/>
              <a:t> w = 0.5</a:t>
            </a:r>
            <a:endParaRPr lang="en-US" sz="2400"/>
          </a:p>
        </p:txBody>
      </p:sp>
      <p:sp>
        <p:nvSpPr>
          <p:cNvPr id="7" name="TextBox 6">
            <a:extLst>
              <a:ext uri="{FF2B5EF4-FFF2-40B4-BE49-F238E27FC236}">
                <a16:creationId xmlns:a16="http://schemas.microsoft.com/office/drawing/2014/main" id="{32E9CF0D-EA81-C0D3-69BD-15FAEB426EB7}"/>
              </a:ext>
            </a:extLst>
          </p:cNvPr>
          <p:cNvSpPr txBox="1"/>
          <p:nvPr/>
        </p:nvSpPr>
        <p:spPr>
          <a:xfrm>
            <a:off x="1461951" y="547897"/>
            <a:ext cx="394823" cy="400110"/>
          </a:xfrm>
          <a:prstGeom prst="rect">
            <a:avLst/>
          </a:prstGeom>
          <a:noFill/>
        </p:spPr>
        <p:txBody>
          <a:bodyPr wrap="square" rtlCol="0">
            <a:spAutoFit/>
          </a:bodyPr>
          <a:lstStyle/>
          <a:p>
            <a:r>
              <a:rPr lang="en-US" sz="2000"/>
              <a:t>w</a:t>
            </a:r>
            <a:endParaRPr lang="en-US" sz="2400"/>
          </a:p>
        </p:txBody>
      </p:sp>
      <p:sp>
        <p:nvSpPr>
          <p:cNvPr id="8" name="TextBox 7">
            <a:extLst>
              <a:ext uri="{FF2B5EF4-FFF2-40B4-BE49-F238E27FC236}">
                <a16:creationId xmlns:a16="http://schemas.microsoft.com/office/drawing/2014/main" id="{173E9DE3-A7B8-6523-2877-9B9A1845340E}"/>
              </a:ext>
            </a:extLst>
          </p:cNvPr>
          <p:cNvSpPr txBox="1"/>
          <p:nvPr/>
        </p:nvSpPr>
        <p:spPr>
          <a:xfrm>
            <a:off x="6646836" y="178565"/>
            <a:ext cx="668364" cy="369332"/>
          </a:xfrm>
          <a:prstGeom prst="rect">
            <a:avLst/>
          </a:prstGeom>
          <a:noFill/>
        </p:spPr>
        <p:txBody>
          <a:bodyPr wrap="square">
            <a:spAutoFit/>
          </a:bodyPr>
          <a:lstStyle/>
          <a:p>
            <a:r>
              <a:rPr lang="en-IN" sz="1800">
                <a:latin typeface="Cambria Math" panose="02040503050406030204" pitchFamily="18" charset="0"/>
                <a:ea typeface="Cambria Math" panose="02040503050406030204" pitchFamily="18" charset="0"/>
                <a:cs typeface="Courier New" panose="02070309020205020404" pitchFamily="49" charset="0"/>
              </a:rPr>
              <a:t>J(w)</a:t>
            </a:r>
            <a:endParaRPr lang="en-IN"/>
          </a:p>
        </p:txBody>
      </p:sp>
      <p:sp>
        <p:nvSpPr>
          <p:cNvPr id="9" name="TextBox 8">
            <a:extLst>
              <a:ext uri="{FF2B5EF4-FFF2-40B4-BE49-F238E27FC236}">
                <a16:creationId xmlns:a16="http://schemas.microsoft.com/office/drawing/2014/main" id="{A52080DC-16E2-4004-C695-5681E2C2624E}"/>
              </a:ext>
            </a:extLst>
          </p:cNvPr>
          <p:cNvSpPr txBox="1"/>
          <p:nvPr/>
        </p:nvSpPr>
        <p:spPr>
          <a:xfrm>
            <a:off x="5666563" y="527260"/>
            <a:ext cx="3080843" cy="369332"/>
          </a:xfrm>
          <a:prstGeom prst="rect">
            <a:avLst/>
          </a:prstGeom>
          <a:noFill/>
        </p:spPr>
        <p:txBody>
          <a:bodyPr wrap="none" rtlCol="0">
            <a:spAutoFit/>
          </a:bodyPr>
          <a:lstStyle/>
          <a:p>
            <a:r>
              <a:rPr lang="en-US"/>
              <a:t>(function of the parameter      )</a:t>
            </a:r>
          </a:p>
        </p:txBody>
      </p:sp>
      <p:sp>
        <p:nvSpPr>
          <p:cNvPr id="10" name="TextBox 9">
            <a:extLst>
              <a:ext uri="{FF2B5EF4-FFF2-40B4-BE49-F238E27FC236}">
                <a16:creationId xmlns:a16="http://schemas.microsoft.com/office/drawing/2014/main" id="{896240F5-7AFD-E4D1-5A57-DA9D281F2618}"/>
              </a:ext>
            </a:extLst>
          </p:cNvPr>
          <p:cNvSpPr txBox="1"/>
          <p:nvPr/>
        </p:nvSpPr>
        <p:spPr>
          <a:xfrm>
            <a:off x="8177901" y="501703"/>
            <a:ext cx="485173" cy="400110"/>
          </a:xfrm>
          <a:prstGeom prst="rect">
            <a:avLst/>
          </a:prstGeom>
          <a:noFill/>
        </p:spPr>
        <p:txBody>
          <a:bodyPr wrap="square" rtlCol="0">
            <a:spAutoFit/>
          </a:bodyPr>
          <a:lstStyle/>
          <a:p>
            <a:r>
              <a:rPr lang="en-US" sz="2000"/>
              <a:t> w</a:t>
            </a:r>
            <a:endParaRPr lang="en-US" sz="2400"/>
          </a:p>
        </p:txBody>
      </p:sp>
      <p:pic>
        <p:nvPicPr>
          <p:cNvPr id="11" name="Picture 10">
            <a:extLst>
              <a:ext uri="{FF2B5EF4-FFF2-40B4-BE49-F238E27FC236}">
                <a16:creationId xmlns:a16="http://schemas.microsoft.com/office/drawing/2014/main" id="{C09B09A4-224A-B330-AA88-E8F84C19A12C}"/>
              </a:ext>
            </a:extLst>
          </p:cNvPr>
          <p:cNvPicPr>
            <a:picLocks noChangeAspect="1"/>
          </p:cNvPicPr>
          <p:nvPr/>
        </p:nvPicPr>
        <p:blipFill>
          <a:blip r:embed="rId3"/>
          <a:stretch>
            <a:fillRect/>
          </a:stretch>
        </p:blipFill>
        <p:spPr>
          <a:xfrm>
            <a:off x="4966713" y="1085850"/>
            <a:ext cx="3981450" cy="2971800"/>
          </a:xfrm>
          <a:prstGeom prst="rect">
            <a:avLst/>
          </a:prstGeom>
        </p:spPr>
      </p:pic>
      <p:sp>
        <p:nvSpPr>
          <p:cNvPr id="12" name="Rectangle 11">
            <a:extLst>
              <a:ext uri="{FF2B5EF4-FFF2-40B4-BE49-F238E27FC236}">
                <a16:creationId xmlns:a16="http://schemas.microsoft.com/office/drawing/2014/main" id="{56701AC0-6F90-0E32-984F-4BA741F22145}"/>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99E20158-013D-31EF-3714-47CD7090F234}"/>
                  </a:ext>
                </a:extLst>
              </p:cNvPr>
              <p:cNvSpPr txBox="1"/>
              <p:nvPr/>
            </p:nvSpPr>
            <p:spPr>
              <a:xfrm>
                <a:off x="248174" y="3975329"/>
                <a:ext cx="4289603" cy="648063"/>
              </a:xfrm>
              <a:prstGeom prst="rect">
                <a:avLst/>
              </a:prstGeom>
              <a:noFill/>
            </p:spPr>
            <p:txBody>
              <a:bodyPr wrap="square">
                <a:spAutoFit/>
              </a:bodyPr>
              <a:lstStyle/>
              <a:p>
                <a:r>
                  <a:rPr lang="en-IN" sz="2400">
                    <a:latin typeface="Bookman Old Style" panose="02050604050505020204" pitchFamily="18" charset="0"/>
                    <a:ea typeface="Cambria Math" panose="02040503050406030204" pitchFamily="18" charset="0"/>
                    <a:cs typeface="Courier New" panose="02070309020205020404" pitchFamily="49" charset="0"/>
                  </a:rPr>
                  <a:t>J(w)= </a:t>
                </a:r>
                <a14:m>
                  <m:oMath xmlns:m="http://schemas.openxmlformats.org/officeDocument/2006/math">
                    <m:f>
                      <m:fPr>
                        <m:ctrlPr>
                          <a:rPr lang="en-IN" sz="2400" i="1" smtClean="0">
                            <a:latin typeface="Cambria Math" panose="02040503050406030204" pitchFamily="18" charset="0"/>
                            <a:ea typeface="Cambria Math" panose="02040503050406030204" pitchFamily="18" charset="0"/>
                            <a:cs typeface="Courier New" panose="02070309020205020404" pitchFamily="49" charset="0"/>
                          </a:rPr>
                        </m:ctrlPr>
                      </m:fPr>
                      <m:num>
                        <m:r>
                          <a:rPr lang="en-IN" sz="2400" b="0" i="1" smtClean="0">
                            <a:latin typeface="Cambria Math" panose="02040503050406030204" pitchFamily="18" charset="0"/>
                            <a:ea typeface="Cambria Math" panose="02040503050406030204" pitchFamily="18" charset="0"/>
                            <a:cs typeface="Courier New" panose="02070309020205020404" pitchFamily="49" charset="0"/>
                          </a:rPr>
                          <m:t>1</m:t>
                        </m:r>
                      </m:num>
                      <m:den>
                        <m:r>
                          <a:rPr lang="en-IN" sz="2400" b="0" i="1" smtClean="0">
                            <a:latin typeface="Cambria Math" panose="02040503050406030204" pitchFamily="18" charset="0"/>
                            <a:ea typeface="Cambria Math" panose="02040503050406030204" pitchFamily="18" charset="0"/>
                            <a:cs typeface="Courier New" panose="02070309020205020404" pitchFamily="49" charset="0"/>
                          </a:rPr>
                          <m:t>2</m:t>
                        </m:r>
                        <m:r>
                          <a:rPr lang="en-IN" sz="2400" b="0" i="1" smtClean="0">
                            <a:latin typeface="Cambria Math" panose="02040503050406030204" pitchFamily="18" charset="0"/>
                            <a:ea typeface="Cambria Math" panose="02040503050406030204" pitchFamily="18" charset="0"/>
                            <a:cs typeface="Courier New" panose="02070309020205020404" pitchFamily="49" charset="0"/>
                          </a:rPr>
                          <m:t>𝑚</m:t>
                        </m:r>
                      </m:den>
                    </m:f>
                    <m:nary>
                      <m:naryPr>
                        <m:chr m:val="∑"/>
                        <m:ctrlPr>
                          <a:rPr lang="en-IN" sz="2400" i="1" smtClean="0">
                            <a:latin typeface="Cambria Math" panose="02040503050406030204" pitchFamily="18" charset="0"/>
                            <a:ea typeface="Cambria Math" panose="02040503050406030204" pitchFamily="18" charset="0"/>
                            <a:cs typeface="Courier New" panose="02070309020205020404" pitchFamily="49" charset="0"/>
                          </a:rPr>
                        </m:ctrlPr>
                      </m:naryPr>
                      <m:sub>
                        <m:r>
                          <m:rPr>
                            <m:brk m:alnAt="23"/>
                          </m:rPr>
                          <a:rPr lang="en-IN" sz="2400" b="0" i="1" smtClean="0">
                            <a:latin typeface="Cambria Math" panose="02040503050406030204" pitchFamily="18" charset="0"/>
                            <a:ea typeface="Cambria Math" panose="02040503050406030204" pitchFamily="18" charset="0"/>
                            <a:cs typeface="Courier New" panose="02070309020205020404" pitchFamily="49" charset="0"/>
                          </a:rPr>
                          <m:t>𝑖</m:t>
                        </m:r>
                        <m:r>
                          <a:rPr lang="en-IN" sz="2400" b="0" i="1" smtClean="0">
                            <a:latin typeface="Cambria Math" panose="02040503050406030204" pitchFamily="18" charset="0"/>
                            <a:ea typeface="Cambria Math" panose="02040503050406030204" pitchFamily="18" charset="0"/>
                            <a:cs typeface="Courier New" panose="02070309020205020404" pitchFamily="49" charset="0"/>
                          </a:rPr>
                          <m:t>=1</m:t>
                        </m:r>
                      </m:sub>
                      <m:sup>
                        <m:r>
                          <a:rPr lang="en-IN" sz="2400" b="0" i="1" smtClean="0">
                            <a:latin typeface="Cambria Math" panose="02040503050406030204" pitchFamily="18" charset="0"/>
                            <a:ea typeface="Cambria Math" panose="02040503050406030204" pitchFamily="18" charset="0"/>
                            <a:cs typeface="Courier New" panose="02070309020205020404" pitchFamily="49" charset="0"/>
                          </a:rPr>
                          <m:t>𝑚</m:t>
                        </m:r>
                      </m:sup>
                      <m:e>
                        <m:sSup>
                          <m:sSupPr>
                            <m:ctrlPr>
                              <a:rPr lang="en-IN" sz="2400" i="1" smtClean="0">
                                <a:latin typeface="Cambria Math" panose="02040503050406030204" pitchFamily="18" charset="0"/>
                                <a:ea typeface="Cambria Math" panose="02040503050406030204" pitchFamily="18" charset="0"/>
                                <a:cs typeface="Courier New" panose="02070309020205020404" pitchFamily="49" charset="0"/>
                              </a:rPr>
                            </m:ctrlPr>
                          </m:sSupPr>
                          <m:e>
                            <m:d>
                              <m:dPr>
                                <m:ctrlPr>
                                  <a:rPr lang="en-IN" sz="2400" i="1">
                                    <a:latin typeface="Cambria Math" panose="02040503050406030204" pitchFamily="18" charset="0"/>
                                    <a:ea typeface="Cambria Math" panose="02040503050406030204" pitchFamily="18" charset="0"/>
                                    <a:cs typeface="Courier New" panose="02070309020205020404" pitchFamily="49" charset="0"/>
                                  </a:rPr>
                                </m:ctrlPr>
                              </m:dPr>
                              <m:e>
                                <m:r>
                                  <m:rPr>
                                    <m:nor/>
                                  </m:rPr>
                                  <a:rPr lang="en-IN" sz="2400" i="0" dirty="0">
                                    <a:latin typeface="Bookman Old Style" panose="02050604050505020204" pitchFamily="18" charset="0"/>
                                    <a:ea typeface="Cambria Math" panose="02040503050406030204" pitchFamily="18" charset="0"/>
                                    <a:cs typeface="Courier New" panose="02070309020205020404" pitchFamily="49" charset="0"/>
                                  </a:rPr>
                                  <m:t>h</m:t>
                                </m:r>
                                <m:r>
                                  <m:rPr>
                                    <m:nor/>
                                  </m:rPr>
                                  <a:rPr lang="en-IN" sz="2400" i="0" baseline="-25000" dirty="0">
                                    <a:latin typeface="Bookman Old Style" panose="02050604050505020204" pitchFamily="18" charset="0"/>
                                    <a:ea typeface="Cambria Math" panose="02040503050406030204" pitchFamily="18" charset="0"/>
                                    <a:cs typeface="Courier New" panose="02070309020205020404" pitchFamily="49" charset="0"/>
                                  </a:rPr>
                                  <m:t>w</m:t>
                                </m:r>
                                <m:r>
                                  <m:rPr>
                                    <m:nor/>
                                  </m:rPr>
                                  <a:rPr lang="en-IN" sz="2400" i="0" dirty="0">
                                    <a:latin typeface="Bookman Old Style" panose="02050604050505020204" pitchFamily="18" charset="0"/>
                                    <a:ea typeface="Cambria Math" panose="02040503050406030204" pitchFamily="18" charset="0"/>
                                    <a:cs typeface="Courier New" panose="02070309020205020404" pitchFamily="49" charset="0"/>
                                  </a:rPr>
                                  <m:t>(</m:t>
                                </m:r>
                                <m:sSup>
                                  <m:sSupPr>
                                    <m:ctrlPr>
                                      <a:rPr lang="en-IN" sz="2400" i="1">
                                        <a:latin typeface="Cambria Math" panose="02040503050406030204" pitchFamily="18" charset="0"/>
                                        <a:ea typeface="Cambria Math" panose="02040503050406030204" pitchFamily="18" charset="0"/>
                                        <a:cs typeface="Courier New" panose="02070309020205020404" pitchFamily="49" charset="0"/>
                                      </a:rPr>
                                    </m:ctrlPr>
                                  </m:sSupPr>
                                  <m:e>
                                    <m:r>
                                      <a:rPr lang="en-IN" sz="2400" i="1">
                                        <a:latin typeface="Cambria Math" panose="02040503050406030204" pitchFamily="18" charset="0"/>
                                        <a:ea typeface="Cambria Math" panose="02040503050406030204" pitchFamily="18" charset="0"/>
                                        <a:cs typeface="Courier New" panose="02070309020205020404" pitchFamily="49" charset="0"/>
                                      </a:rPr>
                                      <m:t>𝑥</m:t>
                                    </m:r>
                                  </m:e>
                                  <m:sup>
                                    <m:d>
                                      <m:dPr>
                                        <m:ctrlPr>
                                          <a:rPr lang="en-IN" sz="2400" i="1">
                                            <a:latin typeface="Cambria Math" panose="02040503050406030204" pitchFamily="18" charset="0"/>
                                            <a:ea typeface="Cambria Math" panose="02040503050406030204" pitchFamily="18" charset="0"/>
                                            <a:cs typeface="Courier New" panose="02070309020205020404" pitchFamily="49" charset="0"/>
                                          </a:rPr>
                                        </m:ctrlPr>
                                      </m:dPr>
                                      <m:e>
                                        <m:r>
                                          <a:rPr lang="en-IN" sz="2400" i="1">
                                            <a:latin typeface="Cambria Math" panose="02040503050406030204" pitchFamily="18" charset="0"/>
                                            <a:ea typeface="Cambria Math" panose="02040503050406030204" pitchFamily="18" charset="0"/>
                                            <a:cs typeface="Courier New" panose="02070309020205020404" pitchFamily="49" charset="0"/>
                                          </a:rPr>
                                          <m:t>𝑖</m:t>
                                        </m:r>
                                      </m:e>
                                    </m:d>
                                  </m:sup>
                                </m:sSup>
                                <m:r>
                                  <m:rPr>
                                    <m:nor/>
                                  </m:rPr>
                                  <a:rPr lang="en-IN" sz="2400" i="0" dirty="0">
                                    <a:latin typeface="Bookman Old Style" panose="02050604050505020204" pitchFamily="18" charset="0"/>
                                    <a:ea typeface="Cambria Math" panose="02040503050406030204" pitchFamily="18" charset="0"/>
                                    <a:cs typeface="Courier New" panose="02070309020205020404" pitchFamily="49" charset="0"/>
                                  </a:rPr>
                                  <m:t>) −</m:t>
                                </m:r>
                                <m:sSup>
                                  <m:sSupPr>
                                    <m:ctrlPr>
                                      <a:rPr lang="en-IN" sz="2400" i="1">
                                        <a:latin typeface="Cambria Math" panose="02040503050406030204" pitchFamily="18" charset="0"/>
                                        <a:ea typeface="Cambria Math" panose="02040503050406030204" pitchFamily="18" charset="0"/>
                                        <a:cs typeface="Courier New" panose="02070309020205020404" pitchFamily="49" charset="0"/>
                                      </a:rPr>
                                    </m:ctrlPr>
                                  </m:sSupPr>
                                  <m:e>
                                    <m:r>
                                      <a:rPr lang="en-IN" sz="2400" i="1">
                                        <a:latin typeface="Cambria Math" panose="02040503050406030204" pitchFamily="18" charset="0"/>
                                        <a:ea typeface="Cambria Math" panose="02040503050406030204" pitchFamily="18" charset="0"/>
                                        <a:cs typeface="Courier New" panose="02070309020205020404" pitchFamily="49" charset="0"/>
                                      </a:rPr>
                                      <m:t>𝑦</m:t>
                                    </m:r>
                                  </m:e>
                                  <m:sup>
                                    <m:d>
                                      <m:dPr>
                                        <m:ctrlPr>
                                          <a:rPr lang="en-IN" sz="2400" i="1">
                                            <a:latin typeface="Cambria Math" panose="02040503050406030204" pitchFamily="18" charset="0"/>
                                            <a:ea typeface="Cambria Math" panose="02040503050406030204" pitchFamily="18" charset="0"/>
                                            <a:cs typeface="Courier New" panose="02070309020205020404" pitchFamily="49" charset="0"/>
                                          </a:rPr>
                                        </m:ctrlPr>
                                      </m:dPr>
                                      <m:e>
                                        <m:r>
                                          <a:rPr lang="en-IN" sz="2400" i="1">
                                            <a:latin typeface="Cambria Math" panose="02040503050406030204" pitchFamily="18" charset="0"/>
                                            <a:ea typeface="Cambria Math" panose="02040503050406030204" pitchFamily="18" charset="0"/>
                                            <a:cs typeface="Courier New" panose="02070309020205020404" pitchFamily="49" charset="0"/>
                                          </a:rPr>
                                          <m:t>𝑖</m:t>
                                        </m:r>
                                      </m:e>
                                    </m:d>
                                  </m:sup>
                                </m:sSup>
                              </m:e>
                            </m:d>
                          </m:e>
                          <m:sup>
                            <m:r>
                              <a:rPr lang="en-IN" sz="2400" b="0" i="1" smtClean="0">
                                <a:latin typeface="Cambria Math" panose="02040503050406030204" pitchFamily="18" charset="0"/>
                                <a:ea typeface="Cambria Math" panose="02040503050406030204" pitchFamily="18" charset="0"/>
                                <a:cs typeface="Courier New" panose="02070309020205020404" pitchFamily="49" charset="0"/>
                              </a:rPr>
                              <m:t>2</m:t>
                            </m:r>
                          </m:sup>
                        </m:sSup>
                      </m:e>
                    </m:nary>
                  </m:oMath>
                </a14:m>
                <a:endParaRPr lang="en-IN" sz="2400">
                  <a:latin typeface="Bookman Old Style" panose="02050604050505020204" pitchFamily="18" charset="0"/>
                  <a:ea typeface="Cambria Math" panose="02040503050406030204" pitchFamily="18" charset="0"/>
                  <a:cs typeface="Courier New" panose="02070309020205020404" pitchFamily="49" charset="0"/>
                </a:endParaRPr>
              </a:p>
            </p:txBody>
          </p:sp>
        </mc:Choice>
        <mc:Fallback>
          <p:sp>
            <p:nvSpPr>
              <p:cNvPr id="3" name="TextBox 2">
                <a:extLst>
                  <a:ext uri="{FF2B5EF4-FFF2-40B4-BE49-F238E27FC236}">
                    <a16:creationId xmlns:a16="http://schemas.microsoft.com/office/drawing/2014/main" id="{99E20158-013D-31EF-3714-47CD7090F234}"/>
                  </a:ext>
                </a:extLst>
              </p:cNvPr>
              <p:cNvSpPr txBox="1">
                <a:spLocks noRot="1" noChangeAspect="1" noMove="1" noResize="1" noEditPoints="1" noAdjustHandles="1" noChangeArrowheads="1" noChangeShapeType="1" noTextEdit="1"/>
              </p:cNvSpPr>
              <p:nvPr/>
            </p:nvSpPr>
            <p:spPr>
              <a:xfrm>
                <a:off x="248174" y="3975329"/>
                <a:ext cx="4289603" cy="648063"/>
              </a:xfrm>
              <a:prstGeom prst="rect">
                <a:avLst/>
              </a:prstGeom>
              <a:blipFill>
                <a:blip r:embed="rId4"/>
                <a:stretch>
                  <a:fillRect l="-2276" b="-9434"/>
                </a:stretch>
              </a:blipFill>
            </p:spPr>
            <p:txBody>
              <a:bodyPr/>
              <a:lstStyle/>
              <a:p>
                <a:r>
                  <a:rPr lang="en-US">
                    <a:noFill/>
                  </a:rPr>
                  <a:t> </a:t>
                </a:r>
              </a:p>
            </p:txBody>
          </p:sp>
        </mc:Fallback>
      </mc:AlternateContent>
    </p:spTree>
    <p:extLst>
      <p:ext uri="{BB962C8B-B14F-4D97-AF65-F5344CB8AC3E}">
        <p14:creationId xmlns:p14="http://schemas.microsoft.com/office/powerpoint/2010/main" val="35461772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5863B-D4E4-1EB4-DFCF-AFE68953FB65}"/>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A4F341A6-D167-3619-656E-A480809813B4}"/>
              </a:ext>
            </a:extLst>
          </p:cNvPr>
          <p:cNvSpPr txBox="1"/>
          <p:nvPr/>
        </p:nvSpPr>
        <p:spPr>
          <a:xfrm>
            <a:off x="228600" y="2102675"/>
            <a:ext cx="324128" cy="461665"/>
          </a:xfrm>
          <a:prstGeom prst="rect">
            <a:avLst/>
          </a:prstGeom>
          <a:noFill/>
        </p:spPr>
        <p:txBody>
          <a:bodyPr wrap="none" rtlCol="0">
            <a:spAutoFit/>
          </a:bodyPr>
          <a:lstStyle/>
          <a:p>
            <a:r>
              <a:rPr lang="en-US" sz="2400"/>
              <a:t>y</a:t>
            </a:r>
          </a:p>
        </p:txBody>
      </p:sp>
      <p:sp>
        <p:nvSpPr>
          <p:cNvPr id="17" name="TextBox 16">
            <a:extLst>
              <a:ext uri="{FF2B5EF4-FFF2-40B4-BE49-F238E27FC236}">
                <a16:creationId xmlns:a16="http://schemas.microsoft.com/office/drawing/2014/main" id="{AD8A3E1E-B7EA-22F1-FCBB-3B74BF964AE0}"/>
              </a:ext>
            </a:extLst>
          </p:cNvPr>
          <p:cNvSpPr txBox="1"/>
          <p:nvPr/>
        </p:nvSpPr>
        <p:spPr>
          <a:xfrm>
            <a:off x="2057400" y="3546010"/>
            <a:ext cx="317716" cy="461665"/>
          </a:xfrm>
          <a:prstGeom prst="rect">
            <a:avLst/>
          </a:prstGeom>
          <a:noFill/>
        </p:spPr>
        <p:txBody>
          <a:bodyPr wrap="none" rtlCol="0">
            <a:spAutoFit/>
          </a:bodyPr>
          <a:lstStyle/>
          <a:p>
            <a:r>
              <a:rPr lang="en-US" sz="2400"/>
              <a:t>x</a:t>
            </a:r>
          </a:p>
        </p:txBody>
      </p:sp>
      <p:cxnSp>
        <p:nvCxnSpPr>
          <p:cNvPr id="20" name="Straight Connector 19">
            <a:extLst>
              <a:ext uri="{FF2B5EF4-FFF2-40B4-BE49-F238E27FC236}">
                <a16:creationId xmlns:a16="http://schemas.microsoft.com/office/drawing/2014/main" id="{8ADCD667-D2E9-EB23-9A30-7738A34CC0AB}"/>
              </a:ext>
            </a:extLst>
          </p:cNvPr>
          <p:cNvCxnSpPr/>
          <p:nvPr/>
        </p:nvCxnSpPr>
        <p:spPr>
          <a:xfrm>
            <a:off x="833252" y="3276119"/>
            <a:ext cx="3002478" cy="13346"/>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8BA4CCB-62C7-5408-0175-97312003EF76}"/>
              </a:ext>
            </a:extLst>
          </p:cNvPr>
          <p:cNvSpPr txBox="1"/>
          <p:nvPr/>
        </p:nvSpPr>
        <p:spPr>
          <a:xfrm>
            <a:off x="552728" y="578675"/>
            <a:ext cx="3464666" cy="369332"/>
          </a:xfrm>
          <a:prstGeom prst="rect">
            <a:avLst/>
          </a:prstGeom>
          <a:noFill/>
        </p:spPr>
        <p:txBody>
          <a:bodyPr wrap="none" rtlCol="0">
            <a:spAutoFit/>
          </a:bodyPr>
          <a:lstStyle/>
          <a:p>
            <a:r>
              <a:rPr lang="en-US"/>
              <a:t>(for fixed     , this is a function of x)</a:t>
            </a:r>
          </a:p>
        </p:txBody>
      </p:sp>
      <p:cxnSp>
        <p:nvCxnSpPr>
          <p:cNvPr id="34" name="Straight Connector 33">
            <a:extLst>
              <a:ext uri="{FF2B5EF4-FFF2-40B4-BE49-F238E27FC236}">
                <a16:creationId xmlns:a16="http://schemas.microsoft.com/office/drawing/2014/main" id="{3A2B2F2C-D04E-06A8-025C-7DCACE0BD445}"/>
              </a:ext>
            </a:extLst>
          </p:cNvPr>
          <p:cNvCxnSpPr/>
          <p:nvPr/>
        </p:nvCxnSpPr>
        <p:spPr>
          <a:xfrm>
            <a:off x="4648200" y="566800"/>
            <a:ext cx="0" cy="3962400"/>
          </a:xfrm>
          <a:prstGeom prst="line">
            <a:avLst/>
          </a:prstGeom>
          <a:ln w="12700">
            <a:solidFill>
              <a:schemeClr val="tx1">
                <a:alpha val="5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9" name="Chart 58">
            <a:extLst>
              <a:ext uri="{FF2B5EF4-FFF2-40B4-BE49-F238E27FC236}">
                <a16:creationId xmlns:a16="http://schemas.microsoft.com/office/drawing/2014/main" id="{180547B5-1418-889A-9979-F6DD2635C019}"/>
              </a:ext>
            </a:extLst>
          </p:cNvPr>
          <p:cNvGraphicFramePr>
            <a:graphicFrameLocks/>
          </p:cNvGraphicFramePr>
          <p:nvPr>
            <p:extLst>
              <p:ext uri="{D42A27DB-BD31-4B8C-83A1-F6EECF244321}">
                <p14:modId xmlns:p14="http://schemas.microsoft.com/office/powerpoint/2010/main" val="4084328275"/>
              </p:ext>
            </p:extLst>
          </p:nvPr>
        </p:nvGraphicFramePr>
        <p:xfrm>
          <a:off x="533400" y="1169225"/>
          <a:ext cx="3169920" cy="2686050"/>
        </p:xfrm>
        <a:graphic>
          <a:graphicData uri="http://schemas.openxmlformats.org/drawingml/2006/chart">
            <c:chart xmlns:c="http://schemas.openxmlformats.org/drawingml/2006/chart" xmlns:r="http://schemas.openxmlformats.org/officeDocument/2006/relationships" r:id="rId2"/>
          </a:graphicData>
        </a:graphic>
      </p:graphicFrame>
      <p:pic>
        <p:nvPicPr>
          <p:cNvPr id="2" name="Picture 1">
            <a:extLst>
              <a:ext uri="{FF2B5EF4-FFF2-40B4-BE49-F238E27FC236}">
                <a16:creationId xmlns:a16="http://schemas.microsoft.com/office/drawing/2014/main" id="{307C6279-56CF-C3A7-32BC-ABAC452F6DC9}"/>
              </a:ext>
            </a:extLst>
          </p:cNvPr>
          <p:cNvPicPr>
            <a:picLocks noChangeAspect="1"/>
          </p:cNvPicPr>
          <p:nvPr/>
        </p:nvPicPr>
        <p:blipFill>
          <a:blip r:embed="rId3"/>
          <a:stretch>
            <a:fillRect/>
          </a:stretch>
        </p:blipFill>
        <p:spPr>
          <a:xfrm>
            <a:off x="4966713" y="1085850"/>
            <a:ext cx="3981450" cy="2971800"/>
          </a:xfrm>
          <a:prstGeom prst="rect">
            <a:avLst/>
          </a:prstGeom>
        </p:spPr>
      </p:pic>
      <p:sp>
        <p:nvSpPr>
          <p:cNvPr id="3" name="TextBox 2">
            <a:extLst>
              <a:ext uri="{FF2B5EF4-FFF2-40B4-BE49-F238E27FC236}">
                <a16:creationId xmlns:a16="http://schemas.microsoft.com/office/drawing/2014/main" id="{D9DFAE57-9F65-B5FA-DAAA-99D20DCC0B99}"/>
              </a:ext>
            </a:extLst>
          </p:cNvPr>
          <p:cNvSpPr txBox="1"/>
          <p:nvPr/>
        </p:nvSpPr>
        <p:spPr>
          <a:xfrm>
            <a:off x="2074836" y="178565"/>
            <a:ext cx="744564" cy="369332"/>
          </a:xfrm>
          <a:prstGeom prst="rect">
            <a:avLst/>
          </a:prstGeom>
          <a:noFill/>
        </p:spPr>
        <p:txBody>
          <a:bodyPr wrap="square">
            <a:spAutoFit/>
          </a:bodyPr>
          <a:lstStyle/>
          <a:p>
            <a:r>
              <a:rPr lang="en-IN" sz="1800" err="1">
                <a:latin typeface="Cambria Math" panose="02040503050406030204" pitchFamily="18" charset="0"/>
                <a:ea typeface="Cambria Math" panose="02040503050406030204" pitchFamily="18" charset="0"/>
                <a:cs typeface="Courier New" panose="02070309020205020404" pitchFamily="49" charset="0"/>
              </a:rPr>
              <a:t>h</a:t>
            </a:r>
            <a:r>
              <a:rPr lang="en-IN" sz="1800" baseline="-25000" err="1">
                <a:latin typeface="Cambria Math" panose="02040503050406030204" pitchFamily="18" charset="0"/>
                <a:ea typeface="Cambria Math" panose="02040503050406030204" pitchFamily="18" charset="0"/>
                <a:cs typeface="Courier New" panose="02070309020205020404" pitchFamily="49" charset="0"/>
              </a:rPr>
              <a:t>w</a:t>
            </a:r>
            <a:r>
              <a:rPr lang="en-IN" sz="1800">
                <a:latin typeface="Cambria Math" panose="02040503050406030204" pitchFamily="18" charset="0"/>
                <a:ea typeface="Cambria Math" panose="02040503050406030204" pitchFamily="18" charset="0"/>
                <a:cs typeface="Courier New" panose="02070309020205020404" pitchFamily="49" charset="0"/>
              </a:rPr>
              <a:t>(x)</a:t>
            </a:r>
            <a:endParaRPr lang="en-IN"/>
          </a:p>
        </p:txBody>
      </p:sp>
      <p:sp>
        <p:nvSpPr>
          <p:cNvPr id="4" name="TextBox 3">
            <a:extLst>
              <a:ext uri="{FF2B5EF4-FFF2-40B4-BE49-F238E27FC236}">
                <a16:creationId xmlns:a16="http://schemas.microsoft.com/office/drawing/2014/main" id="{D776194E-7DEE-5F92-089D-341D9F0D914A}"/>
              </a:ext>
            </a:extLst>
          </p:cNvPr>
          <p:cNvSpPr txBox="1"/>
          <p:nvPr/>
        </p:nvSpPr>
        <p:spPr>
          <a:xfrm>
            <a:off x="1444831" y="556505"/>
            <a:ext cx="394823" cy="400110"/>
          </a:xfrm>
          <a:prstGeom prst="rect">
            <a:avLst/>
          </a:prstGeom>
          <a:noFill/>
        </p:spPr>
        <p:txBody>
          <a:bodyPr wrap="square" rtlCol="0">
            <a:spAutoFit/>
          </a:bodyPr>
          <a:lstStyle/>
          <a:p>
            <a:r>
              <a:rPr lang="en-US" sz="2000"/>
              <a:t>w</a:t>
            </a:r>
            <a:endParaRPr lang="en-US" sz="2400"/>
          </a:p>
        </p:txBody>
      </p:sp>
      <p:sp>
        <p:nvSpPr>
          <p:cNvPr id="6" name="TextBox 5">
            <a:extLst>
              <a:ext uri="{FF2B5EF4-FFF2-40B4-BE49-F238E27FC236}">
                <a16:creationId xmlns:a16="http://schemas.microsoft.com/office/drawing/2014/main" id="{B098E833-F8E8-2038-DCA3-EF2DA670C70D}"/>
              </a:ext>
            </a:extLst>
          </p:cNvPr>
          <p:cNvSpPr txBox="1"/>
          <p:nvPr/>
        </p:nvSpPr>
        <p:spPr>
          <a:xfrm>
            <a:off x="3556472" y="1352550"/>
            <a:ext cx="828382" cy="369332"/>
          </a:xfrm>
          <a:prstGeom prst="rect">
            <a:avLst/>
          </a:prstGeom>
          <a:noFill/>
        </p:spPr>
        <p:txBody>
          <a:bodyPr wrap="square">
            <a:spAutoFit/>
          </a:bodyPr>
          <a:lstStyle/>
          <a:p>
            <a:r>
              <a:rPr lang="en-IN" sz="1800">
                <a:latin typeface="Cambria Math" panose="02040503050406030204" pitchFamily="18" charset="0"/>
                <a:ea typeface="Cambria Math" panose="02040503050406030204" pitchFamily="18" charset="0"/>
                <a:cs typeface="Courier New" panose="02070309020205020404" pitchFamily="49" charset="0"/>
              </a:rPr>
              <a:t> </a:t>
            </a:r>
            <a:r>
              <a:rPr lang="en-IN" sz="1800" err="1">
                <a:latin typeface="Cambria Math" panose="02040503050406030204" pitchFamily="18" charset="0"/>
                <a:ea typeface="Cambria Math" panose="02040503050406030204" pitchFamily="18" charset="0"/>
                <a:cs typeface="Courier New" panose="02070309020205020404" pitchFamily="49" charset="0"/>
              </a:rPr>
              <a:t>h</a:t>
            </a:r>
            <a:r>
              <a:rPr lang="en-IN" sz="1800" baseline="-25000" err="1">
                <a:latin typeface="Cambria Math" panose="02040503050406030204" pitchFamily="18" charset="0"/>
                <a:ea typeface="Cambria Math" panose="02040503050406030204" pitchFamily="18" charset="0"/>
                <a:cs typeface="Courier New" panose="02070309020205020404" pitchFamily="49" charset="0"/>
              </a:rPr>
              <a:t>w</a:t>
            </a:r>
            <a:r>
              <a:rPr lang="en-IN" sz="1800">
                <a:latin typeface="Cambria Math" panose="02040503050406030204" pitchFamily="18" charset="0"/>
                <a:ea typeface="Cambria Math" panose="02040503050406030204" pitchFamily="18" charset="0"/>
                <a:cs typeface="Courier New" panose="02070309020205020404" pitchFamily="49" charset="0"/>
              </a:rPr>
              <a:t>(x)</a:t>
            </a:r>
            <a:endParaRPr lang="en-IN"/>
          </a:p>
        </p:txBody>
      </p:sp>
      <p:sp>
        <p:nvSpPr>
          <p:cNvPr id="7" name="TextBox 6">
            <a:extLst>
              <a:ext uri="{FF2B5EF4-FFF2-40B4-BE49-F238E27FC236}">
                <a16:creationId xmlns:a16="http://schemas.microsoft.com/office/drawing/2014/main" id="{E5F2DA19-BA94-1A97-457D-EB4E7CF73A2F}"/>
              </a:ext>
            </a:extLst>
          </p:cNvPr>
          <p:cNvSpPr txBox="1"/>
          <p:nvPr/>
        </p:nvSpPr>
        <p:spPr>
          <a:xfrm>
            <a:off x="3556472" y="1902620"/>
            <a:ext cx="872815" cy="400110"/>
          </a:xfrm>
          <a:prstGeom prst="rect">
            <a:avLst/>
          </a:prstGeom>
          <a:noFill/>
        </p:spPr>
        <p:txBody>
          <a:bodyPr wrap="square" rtlCol="0">
            <a:spAutoFit/>
          </a:bodyPr>
          <a:lstStyle/>
          <a:p>
            <a:r>
              <a:rPr lang="en-US" sz="2000"/>
              <a:t> w = 0</a:t>
            </a:r>
            <a:endParaRPr lang="en-US" sz="2400"/>
          </a:p>
        </p:txBody>
      </p:sp>
      <p:sp>
        <p:nvSpPr>
          <p:cNvPr id="8" name="TextBox 7">
            <a:extLst>
              <a:ext uri="{FF2B5EF4-FFF2-40B4-BE49-F238E27FC236}">
                <a16:creationId xmlns:a16="http://schemas.microsoft.com/office/drawing/2014/main" id="{2092DE89-298E-EAC6-C8CB-13CC91C7B17D}"/>
              </a:ext>
            </a:extLst>
          </p:cNvPr>
          <p:cNvSpPr txBox="1"/>
          <p:nvPr/>
        </p:nvSpPr>
        <p:spPr>
          <a:xfrm>
            <a:off x="6347454" y="178565"/>
            <a:ext cx="668364" cy="369332"/>
          </a:xfrm>
          <a:prstGeom prst="rect">
            <a:avLst/>
          </a:prstGeom>
          <a:noFill/>
        </p:spPr>
        <p:txBody>
          <a:bodyPr wrap="square">
            <a:spAutoFit/>
          </a:bodyPr>
          <a:lstStyle/>
          <a:p>
            <a:r>
              <a:rPr lang="en-IN" sz="1800">
                <a:latin typeface="Cambria Math" panose="02040503050406030204" pitchFamily="18" charset="0"/>
                <a:ea typeface="Cambria Math" panose="02040503050406030204" pitchFamily="18" charset="0"/>
                <a:cs typeface="Courier New" panose="02070309020205020404" pitchFamily="49" charset="0"/>
              </a:rPr>
              <a:t>J(w)</a:t>
            </a:r>
            <a:endParaRPr lang="en-IN"/>
          </a:p>
        </p:txBody>
      </p:sp>
      <p:sp>
        <p:nvSpPr>
          <p:cNvPr id="9" name="TextBox 8">
            <a:extLst>
              <a:ext uri="{FF2B5EF4-FFF2-40B4-BE49-F238E27FC236}">
                <a16:creationId xmlns:a16="http://schemas.microsoft.com/office/drawing/2014/main" id="{1C9766F1-EC6B-4100-CFE8-5C8DB1F1B270}"/>
              </a:ext>
            </a:extLst>
          </p:cNvPr>
          <p:cNvSpPr txBox="1"/>
          <p:nvPr/>
        </p:nvSpPr>
        <p:spPr>
          <a:xfrm>
            <a:off x="8195628" y="496482"/>
            <a:ext cx="485173" cy="400110"/>
          </a:xfrm>
          <a:prstGeom prst="rect">
            <a:avLst/>
          </a:prstGeom>
          <a:noFill/>
        </p:spPr>
        <p:txBody>
          <a:bodyPr wrap="square" rtlCol="0">
            <a:spAutoFit/>
          </a:bodyPr>
          <a:lstStyle/>
          <a:p>
            <a:r>
              <a:rPr lang="en-US" sz="2000"/>
              <a:t> w</a:t>
            </a:r>
            <a:endParaRPr lang="en-US" sz="2400"/>
          </a:p>
        </p:txBody>
      </p:sp>
      <p:sp>
        <p:nvSpPr>
          <p:cNvPr id="10" name="TextBox 9">
            <a:extLst>
              <a:ext uri="{FF2B5EF4-FFF2-40B4-BE49-F238E27FC236}">
                <a16:creationId xmlns:a16="http://schemas.microsoft.com/office/drawing/2014/main" id="{B3837492-BD03-4B26-38D4-E962C1D19B7E}"/>
              </a:ext>
            </a:extLst>
          </p:cNvPr>
          <p:cNvSpPr txBox="1"/>
          <p:nvPr/>
        </p:nvSpPr>
        <p:spPr>
          <a:xfrm>
            <a:off x="5666563" y="527260"/>
            <a:ext cx="3080843" cy="369332"/>
          </a:xfrm>
          <a:prstGeom prst="rect">
            <a:avLst/>
          </a:prstGeom>
          <a:noFill/>
        </p:spPr>
        <p:txBody>
          <a:bodyPr wrap="none" rtlCol="0">
            <a:spAutoFit/>
          </a:bodyPr>
          <a:lstStyle/>
          <a:p>
            <a:r>
              <a:rPr lang="en-US"/>
              <a:t>(function of the parameter      )</a:t>
            </a:r>
          </a:p>
        </p:txBody>
      </p:sp>
      <p:sp>
        <p:nvSpPr>
          <p:cNvPr id="11" name="Rectangle 10">
            <a:extLst>
              <a:ext uri="{FF2B5EF4-FFF2-40B4-BE49-F238E27FC236}">
                <a16:creationId xmlns:a16="http://schemas.microsoft.com/office/drawing/2014/main" id="{EC4286DC-D1F7-2A71-1B7B-872D0411AA10}"/>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380CC00E-CB65-B7E8-47FE-EC63B969322C}"/>
                  </a:ext>
                </a:extLst>
              </p:cNvPr>
              <p:cNvSpPr txBox="1"/>
              <p:nvPr/>
            </p:nvSpPr>
            <p:spPr>
              <a:xfrm>
                <a:off x="333430" y="4140662"/>
                <a:ext cx="4289603" cy="648063"/>
              </a:xfrm>
              <a:prstGeom prst="rect">
                <a:avLst/>
              </a:prstGeom>
              <a:noFill/>
            </p:spPr>
            <p:txBody>
              <a:bodyPr wrap="square">
                <a:spAutoFit/>
              </a:bodyPr>
              <a:lstStyle/>
              <a:p>
                <a:r>
                  <a:rPr lang="en-IN" sz="2400">
                    <a:latin typeface="Bookman Old Style" panose="02050604050505020204" pitchFamily="18" charset="0"/>
                    <a:ea typeface="Cambria Math" panose="02040503050406030204" pitchFamily="18" charset="0"/>
                    <a:cs typeface="Courier New" panose="02070309020205020404" pitchFamily="49" charset="0"/>
                  </a:rPr>
                  <a:t>J(w)= </a:t>
                </a:r>
                <a14:m>
                  <m:oMath xmlns:m="http://schemas.openxmlformats.org/officeDocument/2006/math">
                    <m:f>
                      <m:fPr>
                        <m:ctrlPr>
                          <a:rPr lang="en-IN" sz="2400" i="1" smtClean="0">
                            <a:latin typeface="Cambria Math" panose="02040503050406030204" pitchFamily="18" charset="0"/>
                            <a:ea typeface="Cambria Math" panose="02040503050406030204" pitchFamily="18" charset="0"/>
                            <a:cs typeface="Courier New" panose="02070309020205020404" pitchFamily="49" charset="0"/>
                          </a:rPr>
                        </m:ctrlPr>
                      </m:fPr>
                      <m:num>
                        <m:r>
                          <a:rPr lang="en-IN" sz="2400" b="0" i="1" smtClean="0">
                            <a:latin typeface="Cambria Math" panose="02040503050406030204" pitchFamily="18" charset="0"/>
                            <a:ea typeface="Cambria Math" panose="02040503050406030204" pitchFamily="18" charset="0"/>
                            <a:cs typeface="Courier New" panose="02070309020205020404" pitchFamily="49" charset="0"/>
                          </a:rPr>
                          <m:t>1</m:t>
                        </m:r>
                      </m:num>
                      <m:den>
                        <m:r>
                          <a:rPr lang="en-IN" sz="2400" b="0" i="1" smtClean="0">
                            <a:latin typeface="Cambria Math" panose="02040503050406030204" pitchFamily="18" charset="0"/>
                            <a:ea typeface="Cambria Math" panose="02040503050406030204" pitchFamily="18" charset="0"/>
                            <a:cs typeface="Courier New" panose="02070309020205020404" pitchFamily="49" charset="0"/>
                          </a:rPr>
                          <m:t>2</m:t>
                        </m:r>
                        <m:r>
                          <a:rPr lang="en-IN" sz="2400" b="0" i="1" smtClean="0">
                            <a:latin typeface="Cambria Math" panose="02040503050406030204" pitchFamily="18" charset="0"/>
                            <a:ea typeface="Cambria Math" panose="02040503050406030204" pitchFamily="18" charset="0"/>
                            <a:cs typeface="Courier New" panose="02070309020205020404" pitchFamily="49" charset="0"/>
                          </a:rPr>
                          <m:t>𝑚</m:t>
                        </m:r>
                      </m:den>
                    </m:f>
                    <m:nary>
                      <m:naryPr>
                        <m:chr m:val="∑"/>
                        <m:ctrlPr>
                          <a:rPr lang="en-IN" sz="2400" i="1" smtClean="0">
                            <a:latin typeface="Cambria Math" panose="02040503050406030204" pitchFamily="18" charset="0"/>
                            <a:ea typeface="Cambria Math" panose="02040503050406030204" pitchFamily="18" charset="0"/>
                            <a:cs typeface="Courier New" panose="02070309020205020404" pitchFamily="49" charset="0"/>
                          </a:rPr>
                        </m:ctrlPr>
                      </m:naryPr>
                      <m:sub>
                        <m:r>
                          <m:rPr>
                            <m:brk m:alnAt="23"/>
                          </m:rPr>
                          <a:rPr lang="en-IN" sz="2400" b="0" i="1" smtClean="0">
                            <a:latin typeface="Cambria Math" panose="02040503050406030204" pitchFamily="18" charset="0"/>
                            <a:ea typeface="Cambria Math" panose="02040503050406030204" pitchFamily="18" charset="0"/>
                            <a:cs typeface="Courier New" panose="02070309020205020404" pitchFamily="49" charset="0"/>
                          </a:rPr>
                          <m:t>𝑖</m:t>
                        </m:r>
                        <m:r>
                          <a:rPr lang="en-IN" sz="2400" b="0" i="1" smtClean="0">
                            <a:latin typeface="Cambria Math" panose="02040503050406030204" pitchFamily="18" charset="0"/>
                            <a:ea typeface="Cambria Math" panose="02040503050406030204" pitchFamily="18" charset="0"/>
                            <a:cs typeface="Courier New" panose="02070309020205020404" pitchFamily="49" charset="0"/>
                          </a:rPr>
                          <m:t>=1</m:t>
                        </m:r>
                      </m:sub>
                      <m:sup>
                        <m:r>
                          <a:rPr lang="en-IN" sz="2400" b="0" i="1" smtClean="0">
                            <a:latin typeface="Cambria Math" panose="02040503050406030204" pitchFamily="18" charset="0"/>
                            <a:ea typeface="Cambria Math" panose="02040503050406030204" pitchFamily="18" charset="0"/>
                            <a:cs typeface="Courier New" panose="02070309020205020404" pitchFamily="49" charset="0"/>
                          </a:rPr>
                          <m:t>𝑚</m:t>
                        </m:r>
                      </m:sup>
                      <m:e>
                        <m:sSup>
                          <m:sSupPr>
                            <m:ctrlPr>
                              <a:rPr lang="en-IN" sz="2400" i="1" smtClean="0">
                                <a:latin typeface="Cambria Math" panose="02040503050406030204" pitchFamily="18" charset="0"/>
                                <a:ea typeface="Cambria Math" panose="02040503050406030204" pitchFamily="18" charset="0"/>
                                <a:cs typeface="Courier New" panose="02070309020205020404" pitchFamily="49" charset="0"/>
                              </a:rPr>
                            </m:ctrlPr>
                          </m:sSupPr>
                          <m:e>
                            <m:d>
                              <m:dPr>
                                <m:ctrlPr>
                                  <a:rPr lang="en-IN" sz="2400" i="1">
                                    <a:latin typeface="Cambria Math" panose="02040503050406030204" pitchFamily="18" charset="0"/>
                                    <a:ea typeface="Cambria Math" panose="02040503050406030204" pitchFamily="18" charset="0"/>
                                    <a:cs typeface="Courier New" panose="02070309020205020404" pitchFamily="49" charset="0"/>
                                  </a:rPr>
                                </m:ctrlPr>
                              </m:dPr>
                              <m:e>
                                <m:r>
                                  <m:rPr>
                                    <m:nor/>
                                  </m:rPr>
                                  <a:rPr lang="en-IN" sz="2400" i="0" dirty="0">
                                    <a:latin typeface="Bookman Old Style" panose="02050604050505020204" pitchFamily="18" charset="0"/>
                                    <a:ea typeface="Cambria Math" panose="02040503050406030204" pitchFamily="18" charset="0"/>
                                    <a:cs typeface="Courier New" panose="02070309020205020404" pitchFamily="49" charset="0"/>
                                  </a:rPr>
                                  <m:t>h</m:t>
                                </m:r>
                                <m:r>
                                  <m:rPr>
                                    <m:nor/>
                                  </m:rPr>
                                  <a:rPr lang="en-IN" sz="2400" i="0" baseline="-25000" dirty="0">
                                    <a:latin typeface="Bookman Old Style" panose="02050604050505020204" pitchFamily="18" charset="0"/>
                                    <a:ea typeface="Cambria Math" panose="02040503050406030204" pitchFamily="18" charset="0"/>
                                    <a:cs typeface="Courier New" panose="02070309020205020404" pitchFamily="49" charset="0"/>
                                  </a:rPr>
                                  <m:t>w</m:t>
                                </m:r>
                                <m:r>
                                  <m:rPr>
                                    <m:nor/>
                                  </m:rPr>
                                  <a:rPr lang="en-IN" sz="2400" i="0" dirty="0">
                                    <a:latin typeface="Bookman Old Style" panose="02050604050505020204" pitchFamily="18" charset="0"/>
                                    <a:ea typeface="Cambria Math" panose="02040503050406030204" pitchFamily="18" charset="0"/>
                                    <a:cs typeface="Courier New" panose="02070309020205020404" pitchFamily="49" charset="0"/>
                                  </a:rPr>
                                  <m:t>(</m:t>
                                </m:r>
                                <m:sSup>
                                  <m:sSupPr>
                                    <m:ctrlPr>
                                      <a:rPr lang="en-IN" sz="2400" i="1">
                                        <a:latin typeface="Cambria Math" panose="02040503050406030204" pitchFamily="18" charset="0"/>
                                        <a:ea typeface="Cambria Math" panose="02040503050406030204" pitchFamily="18" charset="0"/>
                                        <a:cs typeface="Courier New" panose="02070309020205020404" pitchFamily="49" charset="0"/>
                                      </a:rPr>
                                    </m:ctrlPr>
                                  </m:sSupPr>
                                  <m:e>
                                    <m:r>
                                      <a:rPr lang="en-IN" sz="2400" i="1">
                                        <a:latin typeface="Cambria Math" panose="02040503050406030204" pitchFamily="18" charset="0"/>
                                        <a:ea typeface="Cambria Math" panose="02040503050406030204" pitchFamily="18" charset="0"/>
                                        <a:cs typeface="Courier New" panose="02070309020205020404" pitchFamily="49" charset="0"/>
                                      </a:rPr>
                                      <m:t>𝑥</m:t>
                                    </m:r>
                                  </m:e>
                                  <m:sup>
                                    <m:d>
                                      <m:dPr>
                                        <m:ctrlPr>
                                          <a:rPr lang="en-IN" sz="2400" i="1">
                                            <a:latin typeface="Cambria Math" panose="02040503050406030204" pitchFamily="18" charset="0"/>
                                            <a:ea typeface="Cambria Math" panose="02040503050406030204" pitchFamily="18" charset="0"/>
                                            <a:cs typeface="Courier New" panose="02070309020205020404" pitchFamily="49" charset="0"/>
                                          </a:rPr>
                                        </m:ctrlPr>
                                      </m:dPr>
                                      <m:e>
                                        <m:r>
                                          <a:rPr lang="en-IN" sz="2400" i="1">
                                            <a:latin typeface="Cambria Math" panose="02040503050406030204" pitchFamily="18" charset="0"/>
                                            <a:ea typeface="Cambria Math" panose="02040503050406030204" pitchFamily="18" charset="0"/>
                                            <a:cs typeface="Courier New" panose="02070309020205020404" pitchFamily="49" charset="0"/>
                                          </a:rPr>
                                          <m:t>𝑖</m:t>
                                        </m:r>
                                      </m:e>
                                    </m:d>
                                  </m:sup>
                                </m:sSup>
                                <m:r>
                                  <m:rPr>
                                    <m:nor/>
                                  </m:rPr>
                                  <a:rPr lang="en-IN" sz="2400" i="0" dirty="0">
                                    <a:latin typeface="Bookman Old Style" panose="02050604050505020204" pitchFamily="18" charset="0"/>
                                    <a:ea typeface="Cambria Math" panose="02040503050406030204" pitchFamily="18" charset="0"/>
                                    <a:cs typeface="Courier New" panose="02070309020205020404" pitchFamily="49" charset="0"/>
                                  </a:rPr>
                                  <m:t>) −</m:t>
                                </m:r>
                                <m:sSup>
                                  <m:sSupPr>
                                    <m:ctrlPr>
                                      <a:rPr lang="en-IN" sz="2400" i="1">
                                        <a:latin typeface="Cambria Math" panose="02040503050406030204" pitchFamily="18" charset="0"/>
                                        <a:ea typeface="Cambria Math" panose="02040503050406030204" pitchFamily="18" charset="0"/>
                                        <a:cs typeface="Courier New" panose="02070309020205020404" pitchFamily="49" charset="0"/>
                                      </a:rPr>
                                    </m:ctrlPr>
                                  </m:sSupPr>
                                  <m:e>
                                    <m:r>
                                      <a:rPr lang="en-IN" sz="2400" i="1">
                                        <a:latin typeface="Cambria Math" panose="02040503050406030204" pitchFamily="18" charset="0"/>
                                        <a:ea typeface="Cambria Math" panose="02040503050406030204" pitchFamily="18" charset="0"/>
                                        <a:cs typeface="Courier New" panose="02070309020205020404" pitchFamily="49" charset="0"/>
                                      </a:rPr>
                                      <m:t>𝑦</m:t>
                                    </m:r>
                                  </m:e>
                                  <m:sup>
                                    <m:d>
                                      <m:dPr>
                                        <m:ctrlPr>
                                          <a:rPr lang="en-IN" sz="2400" i="1">
                                            <a:latin typeface="Cambria Math" panose="02040503050406030204" pitchFamily="18" charset="0"/>
                                            <a:ea typeface="Cambria Math" panose="02040503050406030204" pitchFamily="18" charset="0"/>
                                            <a:cs typeface="Courier New" panose="02070309020205020404" pitchFamily="49" charset="0"/>
                                          </a:rPr>
                                        </m:ctrlPr>
                                      </m:dPr>
                                      <m:e>
                                        <m:r>
                                          <a:rPr lang="en-IN" sz="2400" i="1">
                                            <a:latin typeface="Cambria Math" panose="02040503050406030204" pitchFamily="18" charset="0"/>
                                            <a:ea typeface="Cambria Math" panose="02040503050406030204" pitchFamily="18" charset="0"/>
                                            <a:cs typeface="Courier New" panose="02070309020205020404" pitchFamily="49" charset="0"/>
                                          </a:rPr>
                                          <m:t>𝑖</m:t>
                                        </m:r>
                                      </m:e>
                                    </m:d>
                                  </m:sup>
                                </m:sSup>
                              </m:e>
                            </m:d>
                          </m:e>
                          <m:sup>
                            <m:r>
                              <a:rPr lang="en-IN" sz="2400" b="0" i="1" smtClean="0">
                                <a:latin typeface="Cambria Math" panose="02040503050406030204" pitchFamily="18" charset="0"/>
                                <a:ea typeface="Cambria Math" panose="02040503050406030204" pitchFamily="18" charset="0"/>
                                <a:cs typeface="Courier New" panose="02070309020205020404" pitchFamily="49" charset="0"/>
                              </a:rPr>
                              <m:t>2</m:t>
                            </m:r>
                          </m:sup>
                        </m:sSup>
                      </m:e>
                    </m:nary>
                  </m:oMath>
                </a14:m>
                <a:endParaRPr lang="en-IN" sz="2400">
                  <a:latin typeface="Bookman Old Style" panose="02050604050505020204" pitchFamily="18" charset="0"/>
                  <a:ea typeface="Cambria Math" panose="02040503050406030204" pitchFamily="18" charset="0"/>
                  <a:cs typeface="Courier New" panose="02070309020205020404" pitchFamily="49" charset="0"/>
                </a:endParaRPr>
              </a:p>
            </p:txBody>
          </p:sp>
        </mc:Choice>
        <mc:Fallback>
          <p:sp>
            <p:nvSpPr>
              <p:cNvPr id="5" name="TextBox 4">
                <a:extLst>
                  <a:ext uri="{FF2B5EF4-FFF2-40B4-BE49-F238E27FC236}">
                    <a16:creationId xmlns:a16="http://schemas.microsoft.com/office/drawing/2014/main" id="{380CC00E-CB65-B7E8-47FE-EC63B969322C}"/>
                  </a:ext>
                </a:extLst>
              </p:cNvPr>
              <p:cNvSpPr txBox="1">
                <a:spLocks noRot="1" noChangeAspect="1" noMove="1" noResize="1" noEditPoints="1" noAdjustHandles="1" noChangeArrowheads="1" noChangeShapeType="1" noTextEdit="1"/>
              </p:cNvSpPr>
              <p:nvPr/>
            </p:nvSpPr>
            <p:spPr>
              <a:xfrm>
                <a:off x="333430" y="4140662"/>
                <a:ext cx="4289603" cy="648063"/>
              </a:xfrm>
              <a:prstGeom prst="rect">
                <a:avLst/>
              </a:prstGeom>
              <a:blipFill>
                <a:blip r:embed="rId4"/>
                <a:stretch>
                  <a:fillRect l="-2276" b="-8411"/>
                </a:stretch>
              </a:blipFill>
            </p:spPr>
            <p:txBody>
              <a:bodyPr/>
              <a:lstStyle/>
              <a:p>
                <a:r>
                  <a:rPr lang="en-US">
                    <a:noFill/>
                  </a:rPr>
                  <a:t> </a:t>
                </a:r>
              </a:p>
            </p:txBody>
          </p:sp>
        </mc:Fallback>
      </mc:AlternateContent>
    </p:spTree>
    <p:extLst>
      <p:ext uri="{BB962C8B-B14F-4D97-AF65-F5344CB8AC3E}">
        <p14:creationId xmlns:p14="http://schemas.microsoft.com/office/powerpoint/2010/main" val="27917480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p:cNvSpPr txBox="1"/>
          <p:nvPr/>
        </p:nvSpPr>
        <p:spPr>
          <a:xfrm>
            <a:off x="838200" y="578675"/>
            <a:ext cx="3729162" cy="369332"/>
          </a:xfrm>
          <a:prstGeom prst="rect">
            <a:avLst/>
          </a:prstGeom>
          <a:noFill/>
        </p:spPr>
        <p:txBody>
          <a:bodyPr wrap="none" rtlCol="0">
            <a:spAutoFit/>
          </a:bodyPr>
          <a:lstStyle/>
          <a:p>
            <a:r>
              <a:rPr lang="en-US"/>
              <a:t>(for fixed           , this is a function of x)</a:t>
            </a:r>
          </a:p>
        </p:txBody>
      </p:sp>
      <p:cxnSp>
        <p:nvCxnSpPr>
          <p:cNvPr id="34" name="Straight Connector 33"/>
          <p:cNvCxnSpPr/>
          <p:nvPr/>
        </p:nvCxnSpPr>
        <p:spPr>
          <a:xfrm>
            <a:off x="5105400" y="566800"/>
            <a:ext cx="0" cy="3962400"/>
          </a:xfrm>
          <a:prstGeom prst="line">
            <a:avLst/>
          </a:prstGeom>
          <a:ln w="12700">
            <a:solidFill>
              <a:schemeClr val="tx1">
                <a:alpha val="55000"/>
              </a:schemeClr>
            </a:solidFill>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5328312" y="578675"/>
            <a:ext cx="3484031" cy="369332"/>
          </a:xfrm>
          <a:prstGeom prst="rect">
            <a:avLst/>
          </a:prstGeom>
          <a:noFill/>
        </p:spPr>
        <p:txBody>
          <a:bodyPr wrap="none" rtlCol="0">
            <a:spAutoFit/>
          </a:bodyPr>
          <a:lstStyle/>
          <a:p>
            <a:r>
              <a:rPr lang="en-US"/>
              <a:t>(function of the parameters          )</a:t>
            </a:r>
          </a:p>
        </p:txBody>
      </p:sp>
      <p:pic>
        <p:nvPicPr>
          <p:cNvPr id="48" name="Picture 47"/>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5357113" y="1748396"/>
            <a:ext cx="530352" cy="245059"/>
          </a:xfrm>
          <a:prstGeom prst="rect">
            <a:avLst/>
          </a:prstGeom>
        </p:spPr>
      </p:pic>
      <p:pic>
        <p:nvPicPr>
          <p:cNvPr id="47" name="Picture 46"/>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7081826" y="3596786"/>
            <a:ext cx="184709" cy="208483"/>
          </a:xfrm>
          <a:prstGeom prst="rect">
            <a:avLst/>
          </a:prstGeom>
        </p:spPr>
      </p:pic>
      <p:graphicFrame>
        <p:nvGraphicFramePr>
          <p:cNvPr id="54" name="Chart 53"/>
          <p:cNvGraphicFramePr>
            <a:graphicFrameLocks/>
          </p:cNvGraphicFramePr>
          <p:nvPr>
            <p:extLst>
              <p:ext uri="{D42A27DB-BD31-4B8C-83A1-F6EECF244321}">
                <p14:modId xmlns:p14="http://schemas.microsoft.com/office/powerpoint/2010/main" val="2083933837"/>
              </p:ext>
            </p:extLst>
          </p:nvPr>
        </p:nvGraphicFramePr>
        <p:xfrm>
          <a:off x="955296" y="1200150"/>
          <a:ext cx="4114800" cy="2909045"/>
        </p:xfrm>
        <a:graphic>
          <a:graphicData uri="http://schemas.openxmlformats.org/drawingml/2006/chart">
            <c:chart xmlns:c="http://schemas.openxmlformats.org/drawingml/2006/chart" xmlns:r="http://schemas.openxmlformats.org/officeDocument/2006/relationships" r:id="rId6"/>
          </a:graphicData>
        </a:graphic>
      </p:graphicFrame>
      <p:sp>
        <p:nvSpPr>
          <p:cNvPr id="55" name="TextBox 54"/>
          <p:cNvSpPr txBox="1"/>
          <p:nvPr/>
        </p:nvSpPr>
        <p:spPr>
          <a:xfrm>
            <a:off x="0" y="2001619"/>
            <a:ext cx="1013739" cy="646331"/>
          </a:xfrm>
          <a:prstGeom prst="rect">
            <a:avLst/>
          </a:prstGeom>
          <a:noFill/>
        </p:spPr>
        <p:txBody>
          <a:bodyPr vert="horz" wrap="none" rtlCol="0">
            <a:spAutoFit/>
          </a:bodyPr>
          <a:lstStyle/>
          <a:p>
            <a:pPr algn="ctr"/>
            <a:r>
              <a:rPr lang="en-US"/>
              <a:t>Price ($) </a:t>
            </a:r>
          </a:p>
          <a:p>
            <a:pPr algn="ctr"/>
            <a:r>
              <a:rPr lang="en-US"/>
              <a:t>in 1000’s</a:t>
            </a:r>
          </a:p>
        </p:txBody>
      </p:sp>
      <p:sp>
        <p:nvSpPr>
          <p:cNvPr id="57" name="TextBox 56"/>
          <p:cNvSpPr txBox="1"/>
          <p:nvPr/>
        </p:nvSpPr>
        <p:spPr>
          <a:xfrm>
            <a:off x="2286000" y="3943350"/>
            <a:ext cx="1607171" cy="369332"/>
          </a:xfrm>
          <a:prstGeom prst="rect">
            <a:avLst/>
          </a:prstGeom>
          <a:noFill/>
        </p:spPr>
        <p:txBody>
          <a:bodyPr vert="horz" wrap="none" rtlCol="0">
            <a:spAutoFit/>
          </a:bodyPr>
          <a:lstStyle/>
          <a:p>
            <a:pPr algn="ctr"/>
            <a:r>
              <a:rPr lang="en-US"/>
              <a:t>Size in feet</a:t>
            </a:r>
            <a:r>
              <a:rPr lang="en-US" baseline="30000"/>
              <a:t>2</a:t>
            </a:r>
            <a:r>
              <a:rPr lang="en-US"/>
              <a:t> (x)</a:t>
            </a:r>
          </a:p>
        </p:txBody>
      </p:sp>
      <p:cxnSp>
        <p:nvCxnSpPr>
          <p:cNvPr id="59" name="Straight Connector 58"/>
          <p:cNvCxnSpPr/>
          <p:nvPr/>
        </p:nvCxnSpPr>
        <p:spPr>
          <a:xfrm flipV="1">
            <a:off x="1013739" y="2535013"/>
            <a:ext cx="3863061" cy="1047215"/>
          </a:xfrm>
          <a:prstGeom prst="line">
            <a:avLst/>
          </a:prstGeom>
          <a:ln w="254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flipV="1">
            <a:off x="5943600" y="1021299"/>
            <a:ext cx="0" cy="2629966"/>
          </a:xfrm>
          <a:prstGeom prst="line">
            <a:avLst/>
          </a:prstGeom>
          <a:ln w="1587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5715000" y="3383498"/>
            <a:ext cx="2971800" cy="0"/>
          </a:xfrm>
          <a:prstGeom prst="line">
            <a:avLst/>
          </a:prstGeom>
          <a:ln w="1587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sp>
        <p:nvSpPr>
          <p:cNvPr id="2" name="Freeform 1"/>
          <p:cNvSpPr/>
          <p:nvPr/>
        </p:nvSpPr>
        <p:spPr>
          <a:xfrm>
            <a:off x="5831330" y="1428750"/>
            <a:ext cx="2457450" cy="1760585"/>
          </a:xfrm>
          <a:custGeom>
            <a:avLst/>
            <a:gdLst>
              <a:gd name="connsiteX0" fmla="*/ 0 w 2457450"/>
              <a:gd name="connsiteY0" fmla="*/ 0 h 1760585"/>
              <a:gd name="connsiteX1" fmla="*/ 354330 w 2457450"/>
              <a:gd name="connsiteY1" fmla="*/ 1245870 h 1760585"/>
              <a:gd name="connsiteX2" fmla="*/ 1200150 w 2457450"/>
              <a:gd name="connsiteY2" fmla="*/ 1760220 h 1760585"/>
              <a:gd name="connsiteX3" fmla="*/ 2000250 w 2457450"/>
              <a:gd name="connsiteY3" fmla="*/ 1303020 h 1760585"/>
              <a:gd name="connsiteX4" fmla="*/ 2457450 w 2457450"/>
              <a:gd name="connsiteY4" fmla="*/ 22860 h 1760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7450" h="1760585">
                <a:moveTo>
                  <a:pt x="0" y="0"/>
                </a:moveTo>
                <a:cubicBezTo>
                  <a:pt x="77152" y="476250"/>
                  <a:pt x="154305" y="952500"/>
                  <a:pt x="354330" y="1245870"/>
                </a:cubicBezTo>
                <a:cubicBezTo>
                  <a:pt x="554355" y="1539240"/>
                  <a:pt x="925830" y="1750695"/>
                  <a:pt x="1200150" y="1760220"/>
                </a:cubicBezTo>
                <a:cubicBezTo>
                  <a:pt x="1474470" y="1769745"/>
                  <a:pt x="1790700" y="1592580"/>
                  <a:pt x="2000250" y="1303020"/>
                </a:cubicBezTo>
                <a:cubicBezTo>
                  <a:pt x="2209800" y="1013460"/>
                  <a:pt x="2333625" y="518160"/>
                  <a:pt x="2457450" y="22860"/>
                </a:cubicBezTo>
              </a:path>
            </a:pathLst>
          </a:custGeom>
          <a:ln w="15748">
            <a:solidFill>
              <a:schemeClr val="bg2">
                <a:lumMod val="1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125ADF91-7389-1D57-20C1-07234C196D9C}"/>
              </a:ext>
            </a:extLst>
          </p:cNvPr>
          <p:cNvSpPr txBox="1"/>
          <p:nvPr/>
        </p:nvSpPr>
        <p:spPr>
          <a:xfrm>
            <a:off x="2195911" y="93931"/>
            <a:ext cx="1013739" cy="369332"/>
          </a:xfrm>
          <a:prstGeom prst="rect">
            <a:avLst/>
          </a:prstGeom>
          <a:noFill/>
        </p:spPr>
        <p:txBody>
          <a:bodyPr wrap="square">
            <a:spAutoFit/>
          </a:bodyPr>
          <a:lstStyle/>
          <a:p>
            <a:r>
              <a:rPr lang="en-IN" sz="1800" err="1">
                <a:latin typeface="Cambria Math" panose="02040503050406030204" pitchFamily="18" charset="0"/>
                <a:ea typeface="Cambria Math" panose="02040503050406030204" pitchFamily="18" charset="0"/>
                <a:cs typeface="Courier New" panose="02070309020205020404" pitchFamily="49" charset="0"/>
              </a:rPr>
              <a:t>h</a:t>
            </a:r>
            <a:r>
              <a:rPr lang="en-IN" sz="1800" baseline="-25000" err="1">
                <a:latin typeface="Cambria Math" panose="02040503050406030204" pitchFamily="18" charset="0"/>
                <a:ea typeface="Cambria Math" panose="02040503050406030204" pitchFamily="18" charset="0"/>
                <a:cs typeface="Courier New" panose="02070309020205020404" pitchFamily="49" charset="0"/>
              </a:rPr>
              <a:t>b,w</a:t>
            </a:r>
            <a:r>
              <a:rPr lang="en-IN" sz="1800">
                <a:latin typeface="Cambria Math" panose="02040503050406030204" pitchFamily="18" charset="0"/>
                <a:ea typeface="Cambria Math" panose="02040503050406030204" pitchFamily="18" charset="0"/>
                <a:cs typeface="Courier New" panose="02070309020205020404" pitchFamily="49" charset="0"/>
              </a:rPr>
              <a:t>(x)</a:t>
            </a:r>
            <a:endParaRPr lang="en-IN"/>
          </a:p>
        </p:txBody>
      </p:sp>
      <p:sp>
        <p:nvSpPr>
          <p:cNvPr id="10" name="TextBox 9">
            <a:extLst>
              <a:ext uri="{FF2B5EF4-FFF2-40B4-BE49-F238E27FC236}">
                <a16:creationId xmlns:a16="http://schemas.microsoft.com/office/drawing/2014/main" id="{9CBEAB97-E4B0-A74E-A8E5-BF75E676C3C7}"/>
              </a:ext>
            </a:extLst>
          </p:cNvPr>
          <p:cNvSpPr txBox="1"/>
          <p:nvPr/>
        </p:nvSpPr>
        <p:spPr>
          <a:xfrm>
            <a:off x="1600200" y="561077"/>
            <a:ext cx="838200" cy="400110"/>
          </a:xfrm>
          <a:prstGeom prst="rect">
            <a:avLst/>
          </a:prstGeom>
          <a:noFill/>
        </p:spPr>
        <p:txBody>
          <a:bodyPr wrap="square">
            <a:spAutoFit/>
          </a:bodyPr>
          <a:lstStyle/>
          <a:p>
            <a:r>
              <a:rPr lang="en-IN" sz="2000">
                <a:latin typeface="Courier New" panose="02070309020205020404" pitchFamily="49" charset="0"/>
                <a:cs typeface="Courier New" panose="02070309020205020404" pitchFamily="49" charset="0"/>
              </a:rPr>
              <a:t> </a:t>
            </a:r>
            <a:r>
              <a:rPr lang="en-IN" sz="2000">
                <a:latin typeface="Cambria Math" panose="02040503050406030204" pitchFamily="18" charset="0"/>
                <a:ea typeface="Cambria Math" panose="02040503050406030204" pitchFamily="18" charset="0"/>
                <a:cs typeface="Courier New" panose="02070309020205020404" pitchFamily="49" charset="0"/>
              </a:rPr>
              <a:t>b, w</a:t>
            </a:r>
            <a:endParaRPr lang="en-IN" sz="2000">
              <a:latin typeface="Cambria Math" panose="02040503050406030204" pitchFamily="18" charset="0"/>
              <a:ea typeface="Cambria Math" panose="02040503050406030204" pitchFamily="18" charset="0"/>
            </a:endParaRPr>
          </a:p>
        </p:txBody>
      </p:sp>
      <p:sp>
        <p:nvSpPr>
          <p:cNvPr id="11" name="TextBox 10">
            <a:extLst>
              <a:ext uri="{FF2B5EF4-FFF2-40B4-BE49-F238E27FC236}">
                <a16:creationId xmlns:a16="http://schemas.microsoft.com/office/drawing/2014/main" id="{BED2D4AC-9064-244F-65F0-688AE16997A2}"/>
              </a:ext>
            </a:extLst>
          </p:cNvPr>
          <p:cNvSpPr txBox="1"/>
          <p:nvPr/>
        </p:nvSpPr>
        <p:spPr>
          <a:xfrm>
            <a:off x="1427275" y="4329145"/>
            <a:ext cx="2611326" cy="400110"/>
          </a:xfrm>
          <a:prstGeom prst="rect">
            <a:avLst/>
          </a:prstGeom>
          <a:noFill/>
        </p:spPr>
        <p:txBody>
          <a:bodyPr wrap="square">
            <a:spAutoFit/>
          </a:bodyPr>
          <a:lstStyle/>
          <a:p>
            <a:r>
              <a:rPr lang="en-IN" sz="2000" err="1">
                <a:latin typeface="Cambria Math" panose="02040503050406030204" pitchFamily="18" charset="0"/>
                <a:ea typeface="Cambria Math" panose="02040503050406030204" pitchFamily="18" charset="0"/>
                <a:cs typeface="Courier New" panose="02070309020205020404" pitchFamily="49" charset="0"/>
              </a:rPr>
              <a:t>h</a:t>
            </a:r>
            <a:r>
              <a:rPr lang="en-IN" sz="2000" baseline="-25000" err="1">
                <a:latin typeface="Cambria Math" panose="02040503050406030204" pitchFamily="18" charset="0"/>
                <a:ea typeface="Cambria Math" panose="02040503050406030204" pitchFamily="18" charset="0"/>
                <a:cs typeface="Courier New" panose="02070309020205020404" pitchFamily="49" charset="0"/>
              </a:rPr>
              <a:t>b,w</a:t>
            </a:r>
            <a:r>
              <a:rPr lang="en-IN" sz="2000">
                <a:latin typeface="Cambria Math" panose="02040503050406030204" pitchFamily="18" charset="0"/>
                <a:ea typeface="Cambria Math" panose="02040503050406030204" pitchFamily="18" charset="0"/>
                <a:cs typeface="Courier New" panose="02070309020205020404" pitchFamily="49" charset="0"/>
              </a:rPr>
              <a:t>(x) = 50 + 0.06x</a:t>
            </a:r>
            <a:endParaRPr lang="en-IN" sz="2000"/>
          </a:p>
        </p:txBody>
      </p:sp>
      <p:sp>
        <p:nvSpPr>
          <p:cNvPr id="13" name="TextBox 12">
            <a:extLst>
              <a:ext uri="{FF2B5EF4-FFF2-40B4-BE49-F238E27FC236}">
                <a16:creationId xmlns:a16="http://schemas.microsoft.com/office/drawing/2014/main" id="{5F84F270-BE3E-9736-FF4B-30142E32C750}"/>
              </a:ext>
            </a:extLst>
          </p:cNvPr>
          <p:cNvSpPr txBox="1"/>
          <p:nvPr/>
        </p:nvSpPr>
        <p:spPr>
          <a:xfrm>
            <a:off x="6651226" y="93931"/>
            <a:ext cx="838202" cy="369332"/>
          </a:xfrm>
          <a:prstGeom prst="rect">
            <a:avLst/>
          </a:prstGeom>
          <a:noFill/>
        </p:spPr>
        <p:txBody>
          <a:bodyPr wrap="square">
            <a:spAutoFit/>
          </a:bodyPr>
          <a:lstStyle/>
          <a:p>
            <a:r>
              <a:rPr lang="en-IN" sz="1800">
                <a:latin typeface="Cambria Math" panose="02040503050406030204" pitchFamily="18" charset="0"/>
                <a:ea typeface="Cambria Math" panose="02040503050406030204" pitchFamily="18" charset="0"/>
                <a:cs typeface="Courier New" panose="02070309020205020404" pitchFamily="49" charset="0"/>
              </a:rPr>
              <a:t>J(</a:t>
            </a:r>
            <a:r>
              <a:rPr lang="en-IN" sz="1800" err="1">
                <a:latin typeface="Cambria Math" panose="02040503050406030204" pitchFamily="18" charset="0"/>
                <a:ea typeface="Cambria Math" panose="02040503050406030204" pitchFamily="18" charset="0"/>
                <a:cs typeface="Courier New" panose="02070309020205020404" pitchFamily="49" charset="0"/>
              </a:rPr>
              <a:t>b,w</a:t>
            </a:r>
            <a:r>
              <a:rPr lang="en-IN" sz="1800">
                <a:latin typeface="Cambria Math" panose="02040503050406030204" pitchFamily="18" charset="0"/>
                <a:ea typeface="Cambria Math" panose="02040503050406030204" pitchFamily="18" charset="0"/>
                <a:cs typeface="Courier New" panose="02070309020205020404" pitchFamily="49" charset="0"/>
              </a:rPr>
              <a:t>)</a:t>
            </a:r>
            <a:endParaRPr lang="en-IN"/>
          </a:p>
        </p:txBody>
      </p:sp>
      <p:sp>
        <p:nvSpPr>
          <p:cNvPr id="15" name="TextBox 14">
            <a:extLst>
              <a:ext uri="{FF2B5EF4-FFF2-40B4-BE49-F238E27FC236}">
                <a16:creationId xmlns:a16="http://schemas.microsoft.com/office/drawing/2014/main" id="{2DBEBD34-2392-EFB5-7708-EE443BEC82B7}"/>
              </a:ext>
            </a:extLst>
          </p:cNvPr>
          <p:cNvSpPr txBox="1"/>
          <p:nvPr/>
        </p:nvSpPr>
        <p:spPr>
          <a:xfrm>
            <a:off x="8001000" y="561077"/>
            <a:ext cx="685800" cy="369332"/>
          </a:xfrm>
          <a:prstGeom prst="rect">
            <a:avLst/>
          </a:prstGeom>
          <a:noFill/>
        </p:spPr>
        <p:txBody>
          <a:bodyPr wrap="square">
            <a:spAutoFit/>
          </a:bodyPr>
          <a:lstStyle/>
          <a:p>
            <a:r>
              <a:rPr lang="en-IN" sz="1800" err="1">
                <a:latin typeface="Cambria Math" panose="02040503050406030204" pitchFamily="18" charset="0"/>
                <a:ea typeface="Cambria Math" panose="02040503050406030204" pitchFamily="18" charset="0"/>
                <a:cs typeface="Courier New" panose="02070309020205020404" pitchFamily="49" charset="0"/>
              </a:rPr>
              <a:t>b,w</a:t>
            </a:r>
            <a:endParaRPr lang="en-IN"/>
          </a:p>
        </p:txBody>
      </p:sp>
      <p:sp>
        <p:nvSpPr>
          <p:cNvPr id="16" name="Rectangle 15">
            <a:extLst>
              <a:ext uri="{FF2B5EF4-FFF2-40B4-BE49-F238E27FC236}">
                <a16:creationId xmlns:a16="http://schemas.microsoft.com/office/drawing/2014/main" id="{E779ED5F-916A-48D0-CA3B-CE2CE2973A48}"/>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61616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E4151A-DDEB-7EC8-8E88-70E568F2DB13}"/>
              </a:ext>
            </a:extLst>
          </p:cNvPr>
          <p:cNvPicPr>
            <a:picLocks noChangeAspect="1"/>
          </p:cNvPicPr>
          <p:nvPr/>
        </p:nvPicPr>
        <p:blipFill>
          <a:blip r:embed="rId2"/>
          <a:stretch>
            <a:fillRect/>
          </a:stretch>
        </p:blipFill>
        <p:spPr>
          <a:xfrm>
            <a:off x="1452562" y="195262"/>
            <a:ext cx="6238875" cy="4752975"/>
          </a:xfrm>
          <a:prstGeom prst="rect">
            <a:avLst/>
          </a:prstGeom>
        </p:spPr>
      </p:pic>
      <p:sp>
        <p:nvSpPr>
          <p:cNvPr id="4" name="Rectangle 3">
            <a:extLst>
              <a:ext uri="{FF2B5EF4-FFF2-40B4-BE49-F238E27FC236}">
                <a16:creationId xmlns:a16="http://schemas.microsoft.com/office/drawing/2014/main" id="{236482E4-D5ED-CC2A-BD3F-ECD0A687DBD0}"/>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449558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C5C34-1473-C80F-BA21-401B845856F4}"/>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65AF595A-0B71-A136-DC48-6B46456672A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526643" y="880382"/>
            <a:ext cx="4388757" cy="329156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E7BE8115-B1DC-095D-E219-12567F261D0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28600" y="880382"/>
            <a:ext cx="4388757" cy="329156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101E22E-8ED9-4E3E-F5A9-5335A1EE3D18}"/>
              </a:ext>
            </a:extLst>
          </p:cNvPr>
          <p:cNvSpPr txBox="1"/>
          <p:nvPr/>
        </p:nvSpPr>
        <p:spPr>
          <a:xfrm>
            <a:off x="838200" y="578675"/>
            <a:ext cx="3729162" cy="369332"/>
          </a:xfrm>
          <a:prstGeom prst="rect">
            <a:avLst/>
          </a:prstGeom>
          <a:noFill/>
        </p:spPr>
        <p:txBody>
          <a:bodyPr wrap="none" rtlCol="0">
            <a:spAutoFit/>
          </a:bodyPr>
          <a:lstStyle/>
          <a:p>
            <a:r>
              <a:rPr lang="en-US"/>
              <a:t>(for fixed           , this is a function of x)</a:t>
            </a:r>
          </a:p>
        </p:txBody>
      </p:sp>
      <p:sp>
        <p:nvSpPr>
          <p:cNvPr id="8" name="TextBox 7">
            <a:extLst>
              <a:ext uri="{FF2B5EF4-FFF2-40B4-BE49-F238E27FC236}">
                <a16:creationId xmlns:a16="http://schemas.microsoft.com/office/drawing/2014/main" id="{97CA1D2E-4408-0C87-90D3-44B13C657103}"/>
              </a:ext>
            </a:extLst>
          </p:cNvPr>
          <p:cNvSpPr txBox="1"/>
          <p:nvPr/>
        </p:nvSpPr>
        <p:spPr>
          <a:xfrm>
            <a:off x="5328312" y="578675"/>
            <a:ext cx="3484031" cy="369332"/>
          </a:xfrm>
          <a:prstGeom prst="rect">
            <a:avLst/>
          </a:prstGeom>
          <a:noFill/>
        </p:spPr>
        <p:txBody>
          <a:bodyPr wrap="none" rtlCol="0">
            <a:spAutoFit/>
          </a:bodyPr>
          <a:lstStyle/>
          <a:p>
            <a:r>
              <a:rPr lang="en-US"/>
              <a:t>(function of the parameters            )</a:t>
            </a:r>
          </a:p>
        </p:txBody>
      </p:sp>
      <p:sp>
        <p:nvSpPr>
          <p:cNvPr id="3" name="TextBox 2">
            <a:extLst>
              <a:ext uri="{FF2B5EF4-FFF2-40B4-BE49-F238E27FC236}">
                <a16:creationId xmlns:a16="http://schemas.microsoft.com/office/drawing/2014/main" id="{53465F79-903C-EB27-596D-6CDBE4D4FF38}"/>
              </a:ext>
            </a:extLst>
          </p:cNvPr>
          <p:cNvSpPr txBox="1"/>
          <p:nvPr/>
        </p:nvSpPr>
        <p:spPr>
          <a:xfrm>
            <a:off x="1936396" y="146542"/>
            <a:ext cx="973164" cy="369332"/>
          </a:xfrm>
          <a:prstGeom prst="rect">
            <a:avLst/>
          </a:prstGeom>
          <a:noFill/>
        </p:spPr>
        <p:txBody>
          <a:bodyPr wrap="square">
            <a:spAutoFit/>
          </a:bodyPr>
          <a:lstStyle/>
          <a:p>
            <a:r>
              <a:rPr lang="en-IN" sz="1800" err="1">
                <a:latin typeface="Cambria Math" panose="02040503050406030204" pitchFamily="18" charset="0"/>
                <a:ea typeface="Cambria Math" panose="02040503050406030204" pitchFamily="18" charset="0"/>
                <a:cs typeface="Courier New" panose="02070309020205020404" pitchFamily="49" charset="0"/>
              </a:rPr>
              <a:t>h</a:t>
            </a:r>
            <a:r>
              <a:rPr lang="en-IN" sz="1800" baseline="-25000" err="1">
                <a:latin typeface="Cambria Math" panose="02040503050406030204" pitchFamily="18" charset="0"/>
                <a:ea typeface="Cambria Math" panose="02040503050406030204" pitchFamily="18" charset="0"/>
                <a:cs typeface="Courier New" panose="02070309020205020404" pitchFamily="49" charset="0"/>
              </a:rPr>
              <a:t>b,w</a:t>
            </a:r>
            <a:r>
              <a:rPr lang="en-IN" sz="1800">
                <a:latin typeface="Cambria Math" panose="02040503050406030204" pitchFamily="18" charset="0"/>
                <a:ea typeface="Cambria Math" panose="02040503050406030204" pitchFamily="18" charset="0"/>
                <a:cs typeface="Courier New" panose="02070309020205020404" pitchFamily="49" charset="0"/>
              </a:rPr>
              <a:t>(x)</a:t>
            </a:r>
            <a:endParaRPr lang="en-IN"/>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88DEDD8B-62F0-D01E-65B6-56599C0F1BDE}"/>
                  </a:ext>
                </a:extLst>
              </p:cNvPr>
              <p:cNvSpPr txBox="1"/>
              <p:nvPr/>
            </p:nvSpPr>
            <p:spPr>
              <a:xfrm>
                <a:off x="6295707" y="146542"/>
                <a:ext cx="94935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𝐽</m:t>
                      </m:r>
                      <m:d>
                        <m:dPr>
                          <m:ctrlPr>
                            <a:rPr lang="en-IN" sz="1800" i="1">
                              <a:latin typeface="Cambria Math" panose="02040503050406030204" pitchFamily="18" charset="0"/>
                            </a:rPr>
                          </m:ctrlPr>
                        </m:dPr>
                        <m:e>
                          <m:r>
                            <a:rPr lang="en-IN" sz="1800" i="1">
                              <a:latin typeface="Cambria Math" panose="02040503050406030204" pitchFamily="18" charset="0"/>
                            </a:rPr>
                            <m:t>𝑏</m:t>
                          </m:r>
                          <m:r>
                            <a:rPr lang="en-IN" sz="1800" i="1">
                              <a:latin typeface="Cambria Math" panose="02040503050406030204" pitchFamily="18" charset="0"/>
                            </a:rPr>
                            <m:t>,</m:t>
                          </m:r>
                          <m:r>
                            <a:rPr lang="en-IN" sz="1800" i="1">
                              <a:latin typeface="Cambria Math" panose="02040503050406030204" pitchFamily="18" charset="0"/>
                            </a:rPr>
                            <m:t>𝑤</m:t>
                          </m:r>
                        </m:e>
                      </m:d>
                    </m:oMath>
                  </m:oMathPara>
                </a14:m>
                <a:endParaRPr lang="en-IN"/>
              </a:p>
            </p:txBody>
          </p:sp>
        </mc:Choice>
        <mc:Fallback>
          <p:sp>
            <p:nvSpPr>
              <p:cNvPr id="10" name="TextBox 9">
                <a:extLst>
                  <a:ext uri="{FF2B5EF4-FFF2-40B4-BE49-F238E27FC236}">
                    <a16:creationId xmlns:a16="http://schemas.microsoft.com/office/drawing/2014/main" id="{88DEDD8B-62F0-D01E-65B6-56599C0F1BDE}"/>
                  </a:ext>
                </a:extLst>
              </p:cNvPr>
              <p:cNvSpPr txBox="1">
                <a:spLocks noRot="1" noChangeAspect="1" noMove="1" noResize="1" noEditPoints="1" noAdjustHandles="1" noChangeArrowheads="1" noChangeShapeType="1" noTextEdit="1"/>
              </p:cNvSpPr>
              <p:nvPr/>
            </p:nvSpPr>
            <p:spPr>
              <a:xfrm>
                <a:off x="6295707" y="146542"/>
                <a:ext cx="949351" cy="369332"/>
              </a:xfrm>
              <a:prstGeom prst="rect">
                <a:avLst/>
              </a:prstGeom>
              <a:blipFill>
                <a:blip r:embed="rId4"/>
                <a:stretch>
                  <a:fillRect b="-98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F45CC68A-1F1F-8948-8F7D-E8FE1A1CE741}"/>
                  </a:ext>
                </a:extLst>
              </p:cNvPr>
              <p:cNvSpPr txBox="1"/>
              <p:nvPr/>
            </p:nvSpPr>
            <p:spPr>
              <a:xfrm>
                <a:off x="1726201" y="578675"/>
                <a:ext cx="66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𝑏</m:t>
                      </m:r>
                      <m:r>
                        <a:rPr lang="en-IN" sz="1800" i="1" smtClean="0">
                          <a:latin typeface="Cambria Math" panose="02040503050406030204" pitchFamily="18" charset="0"/>
                        </a:rPr>
                        <m:t>,</m:t>
                      </m:r>
                      <m:r>
                        <a:rPr lang="en-IN" sz="1800" i="1" smtClean="0">
                          <a:latin typeface="Cambria Math" panose="02040503050406030204" pitchFamily="18" charset="0"/>
                        </a:rPr>
                        <m:t>𝑤</m:t>
                      </m:r>
                    </m:oMath>
                  </m:oMathPara>
                </a14:m>
                <a:endParaRPr lang="en-IN"/>
              </a:p>
            </p:txBody>
          </p:sp>
        </mc:Choice>
        <mc:Fallback>
          <p:sp>
            <p:nvSpPr>
              <p:cNvPr id="11" name="TextBox 10">
                <a:extLst>
                  <a:ext uri="{FF2B5EF4-FFF2-40B4-BE49-F238E27FC236}">
                    <a16:creationId xmlns:a16="http://schemas.microsoft.com/office/drawing/2014/main" id="{F45CC68A-1F1F-8948-8F7D-E8FE1A1CE741}"/>
                  </a:ext>
                </a:extLst>
              </p:cNvPr>
              <p:cNvSpPr txBox="1">
                <a:spLocks noRot="1" noChangeAspect="1" noMove="1" noResize="1" noEditPoints="1" noAdjustHandles="1" noChangeArrowheads="1" noChangeShapeType="1" noTextEdit="1"/>
              </p:cNvSpPr>
              <p:nvPr/>
            </p:nvSpPr>
            <p:spPr>
              <a:xfrm>
                <a:off x="1726201" y="578675"/>
                <a:ext cx="66190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DCBD95F9-8546-D3F1-7492-208A87B47713}"/>
                  </a:ext>
                </a:extLst>
              </p:cNvPr>
              <p:cNvSpPr txBox="1"/>
              <p:nvPr/>
            </p:nvSpPr>
            <p:spPr>
              <a:xfrm>
                <a:off x="7975438" y="578675"/>
                <a:ext cx="66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𝑏</m:t>
                      </m:r>
                      <m:r>
                        <a:rPr lang="en-IN" sz="1800" i="1" smtClean="0">
                          <a:latin typeface="Cambria Math" panose="02040503050406030204" pitchFamily="18" charset="0"/>
                        </a:rPr>
                        <m:t>,</m:t>
                      </m:r>
                      <m:r>
                        <a:rPr lang="en-IN" sz="1800" i="1" smtClean="0">
                          <a:latin typeface="Cambria Math" panose="02040503050406030204" pitchFamily="18" charset="0"/>
                        </a:rPr>
                        <m:t>𝑤</m:t>
                      </m:r>
                    </m:oMath>
                  </m:oMathPara>
                </a14:m>
                <a:endParaRPr lang="en-IN"/>
              </a:p>
            </p:txBody>
          </p:sp>
        </mc:Choice>
        <mc:Fallback>
          <p:sp>
            <p:nvSpPr>
              <p:cNvPr id="12" name="TextBox 11">
                <a:extLst>
                  <a:ext uri="{FF2B5EF4-FFF2-40B4-BE49-F238E27FC236}">
                    <a16:creationId xmlns:a16="http://schemas.microsoft.com/office/drawing/2014/main" id="{DCBD95F9-8546-D3F1-7492-208A87B47713}"/>
                  </a:ext>
                </a:extLst>
              </p:cNvPr>
              <p:cNvSpPr txBox="1">
                <a:spLocks noRot="1" noChangeAspect="1" noMove="1" noResize="1" noEditPoints="1" noAdjustHandles="1" noChangeArrowheads="1" noChangeShapeType="1" noTextEdit="1"/>
              </p:cNvSpPr>
              <p:nvPr/>
            </p:nvSpPr>
            <p:spPr>
              <a:xfrm>
                <a:off x="7975438" y="578675"/>
                <a:ext cx="661906" cy="369332"/>
              </a:xfrm>
              <a:prstGeom prst="rect">
                <a:avLst/>
              </a:prstGeom>
              <a:blipFill>
                <a:blip r:embed="rId5"/>
                <a:stretch>
                  <a:fillRect/>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F45FC6D0-4EC1-9A93-0503-4D1F2057623E}"/>
              </a:ext>
            </a:extLst>
          </p:cNvPr>
          <p:cNvPicPr>
            <a:picLocks noChangeAspect="1"/>
          </p:cNvPicPr>
          <p:nvPr/>
        </p:nvPicPr>
        <p:blipFill>
          <a:blip r:embed="rId6"/>
          <a:stretch>
            <a:fillRect/>
          </a:stretch>
        </p:blipFill>
        <p:spPr>
          <a:xfrm>
            <a:off x="4567362" y="2324100"/>
            <a:ext cx="304800" cy="247650"/>
          </a:xfrm>
          <a:prstGeom prst="rect">
            <a:avLst/>
          </a:prstGeom>
        </p:spPr>
      </p:pic>
      <p:pic>
        <p:nvPicPr>
          <p:cNvPr id="16" name="Picture 15">
            <a:extLst>
              <a:ext uri="{FF2B5EF4-FFF2-40B4-BE49-F238E27FC236}">
                <a16:creationId xmlns:a16="http://schemas.microsoft.com/office/drawing/2014/main" id="{C587A190-7A26-C6B5-4207-D1FAB209D6DD}"/>
              </a:ext>
            </a:extLst>
          </p:cNvPr>
          <p:cNvPicPr>
            <a:picLocks noChangeAspect="1"/>
          </p:cNvPicPr>
          <p:nvPr/>
        </p:nvPicPr>
        <p:blipFill>
          <a:blip r:embed="rId7"/>
          <a:stretch>
            <a:fillRect/>
          </a:stretch>
        </p:blipFill>
        <p:spPr>
          <a:xfrm>
            <a:off x="6637032" y="4015998"/>
            <a:ext cx="266700" cy="304800"/>
          </a:xfrm>
          <a:prstGeom prst="rect">
            <a:avLst/>
          </a:prstGeom>
        </p:spPr>
      </p:pic>
      <p:sp>
        <p:nvSpPr>
          <p:cNvPr id="17" name="Rectangle 16">
            <a:extLst>
              <a:ext uri="{FF2B5EF4-FFF2-40B4-BE49-F238E27FC236}">
                <a16:creationId xmlns:a16="http://schemas.microsoft.com/office/drawing/2014/main" id="{E2702BBD-EBEE-E358-4FF0-8302EF274228}"/>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157317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3BB63-EB2F-7BBE-422C-326D90B2494D}"/>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271CC42F-4A82-E270-C4EA-CB13CBD77C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526644"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B60DE6B5-5F4E-9160-7C33-DCDBD0BC3C3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28600" y="880382"/>
            <a:ext cx="4388757" cy="32915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BF57095-0806-225F-1950-40A1FECAEEF8}"/>
              </a:ext>
            </a:extLst>
          </p:cNvPr>
          <p:cNvSpPr txBox="1"/>
          <p:nvPr/>
        </p:nvSpPr>
        <p:spPr>
          <a:xfrm>
            <a:off x="838200" y="578675"/>
            <a:ext cx="3729162" cy="369332"/>
          </a:xfrm>
          <a:prstGeom prst="rect">
            <a:avLst/>
          </a:prstGeom>
          <a:noFill/>
        </p:spPr>
        <p:txBody>
          <a:bodyPr wrap="none" rtlCol="0">
            <a:spAutoFit/>
          </a:bodyPr>
          <a:lstStyle/>
          <a:p>
            <a:r>
              <a:rPr lang="en-US"/>
              <a:t>(for fixed           , this is a function of x)</a:t>
            </a:r>
          </a:p>
        </p:txBody>
      </p:sp>
      <p:sp>
        <p:nvSpPr>
          <p:cNvPr id="8" name="TextBox 7">
            <a:extLst>
              <a:ext uri="{FF2B5EF4-FFF2-40B4-BE49-F238E27FC236}">
                <a16:creationId xmlns:a16="http://schemas.microsoft.com/office/drawing/2014/main" id="{230B15A6-367B-2CBF-2208-3550513F5B87}"/>
              </a:ext>
            </a:extLst>
          </p:cNvPr>
          <p:cNvSpPr txBox="1"/>
          <p:nvPr/>
        </p:nvSpPr>
        <p:spPr>
          <a:xfrm>
            <a:off x="5328312" y="578675"/>
            <a:ext cx="3484031" cy="369332"/>
          </a:xfrm>
          <a:prstGeom prst="rect">
            <a:avLst/>
          </a:prstGeom>
          <a:noFill/>
        </p:spPr>
        <p:txBody>
          <a:bodyPr wrap="none" rtlCol="0">
            <a:spAutoFit/>
          </a:bodyPr>
          <a:lstStyle/>
          <a:p>
            <a:r>
              <a:rPr lang="en-US"/>
              <a:t>(function of the parameters            )</a:t>
            </a:r>
          </a:p>
        </p:txBody>
      </p:sp>
      <p:sp>
        <p:nvSpPr>
          <p:cNvPr id="2" name="TextBox 1">
            <a:extLst>
              <a:ext uri="{FF2B5EF4-FFF2-40B4-BE49-F238E27FC236}">
                <a16:creationId xmlns:a16="http://schemas.microsoft.com/office/drawing/2014/main" id="{9F45C266-A358-1187-FDB2-212ACAB2EE39}"/>
              </a:ext>
            </a:extLst>
          </p:cNvPr>
          <p:cNvSpPr txBox="1"/>
          <p:nvPr/>
        </p:nvSpPr>
        <p:spPr>
          <a:xfrm>
            <a:off x="1936396" y="146542"/>
            <a:ext cx="883004" cy="369332"/>
          </a:xfrm>
          <a:prstGeom prst="rect">
            <a:avLst/>
          </a:prstGeom>
          <a:noFill/>
        </p:spPr>
        <p:txBody>
          <a:bodyPr wrap="square">
            <a:spAutoFit/>
          </a:bodyPr>
          <a:lstStyle/>
          <a:p>
            <a:r>
              <a:rPr lang="en-IN" sz="1800" err="1">
                <a:latin typeface="Cambria Math" panose="02040503050406030204" pitchFamily="18" charset="0"/>
                <a:ea typeface="Cambria Math" panose="02040503050406030204" pitchFamily="18" charset="0"/>
                <a:cs typeface="Courier New" panose="02070309020205020404" pitchFamily="49" charset="0"/>
              </a:rPr>
              <a:t>h</a:t>
            </a:r>
            <a:r>
              <a:rPr lang="en-IN" sz="1800" baseline="-25000" err="1">
                <a:latin typeface="Cambria Math" panose="02040503050406030204" pitchFamily="18" charset="0"/>
                <a:ea typeface="Cambria Math" panose="02040503050406030204" pitchFamily="18" charset="0"/>
                <a:cs typeface="Courier New" panose="02070309020205020404" pitchFamily="49" charset="0"/>
              </a:rPr>
              <a:t>b,w</a:t>
            </a:r>
            <a:r>
              <a:rPr lang="en-IN" sz="1800">
                <a:latin typeface="Cambria Math" panose="02040503050406030204" pitchFamily="18" charset="0"/>
                <a:ea typeface="Cambria Math" panose="02040503050406030204" pitchFamily="18" charset="0"/>
                <a:cs typeface="Courier New" panose="02070309020205020404" pitchFamily="49" charset="0"/>
              </a:rPr>
              <a:t>(x)</a:t>
            </a:r>
            <a:endParaRPr lang="en-IN"/>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8B513E8-C997-B922-5E5B-03C30B6DA95F}"/>
                  </a:ext>
                </a:extLst>
              </p:cNvPr>
              <p:cNvSpPr txBox="1"/>
              <p:nvPr/>
            </p:nvSpPr>
            <p:spPr>
              <a:xfrm>
                <a:off x="6295707" y="146542"/>
                <a:ext cx="94935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𝐽</m:t>
                      </m:r>
                      <m:d>
                        <m:dPr>
                          <m:ctrlPr>
                            <a:rPr lang="en-IN" sz="1800" i="1">
                              <a:latin typeface="Cambria Math" panose="02040503050406030204" pitchFamily="18" charset="0"/>
                            </a:rPr>
                          </m:ctrlPr>
                        </m:dPr>
                        <m:e>
                          <m:r>
                            <a:rPr lang="en-IN" sz="1800" i="1">
                              <a:latin typeface="Cambria Math" panose="02040503050406030204" pitchFamily="18" charset="0"/>
                            </a:rPr>
                            <m:t>𝑏</m:t>
                          </m:r>
                          <m:r>
                            <a:rPr lang="en-IN" sz="1800" i="1">
                              <a:latin typeface="Cambria Math" panose="02040503050406030204" pitchFamily="18" charset="0"/>
                            </a:rPr>
                            <m:t>,</m:t>
                          </m:r>
                          <m:r>
                            <a:rPr lang="en-IN" sz="1800" i="1">
                              <a:latin typeface="Cambria Math" panose="02040503050406030204" pitchFamily="18" charset="0"/>
                            </a:rPr>
                            <m:t>𝑤</m:t>
                          </m:r>
                        </m:e>
                      </m:d>
                    </m:oMath>
                  </m:oMathPara>
                </a14:m>
                <a:endParaRPr lang="en-IN"/>
              </a:p>
            </p:txBody>
          </p:sp>
        </mc:Choice>
        <mc:Fallback>
          <p:sp>
            <p:nvSpPr>
              <p:cNvPr id="3" name="TextBox 2">
                <a:extLst>
                  <a:ext uri="{FF2B5EF4-FFF2-40B4-BE49-F238E27FC236}">
                    <a16:creationId xmlns:a16="http://schemas.microsoft.com/office/drawing/2014/main" id="{C8B513E8-C997-B922-5E5B-03C30B6DA95F}"/>
                  </a:ext>
                </a:extLst>
              </p:cNvPr>
              <p:cNvSpPr txBox="1">
                <a:spLocks noRot="1" noChangeAspect="1" noMove="1" noResize="1" noEditPoints="1" noAdjustHandles="1" noChangeArrowheads="1" noChangeShapeType="1" noTextEdit="1"/>
              </p:cNvSpPr>
              <p:nvPr/>
            </p:nvSpPr>
            <p:spPr>
              <a:xfrm>
                <a:off x="6295707" y="146542"/>
                <a:ext cx="949351" cy="369332"/>
              </a:xfrm>
              <a:prstGeom prst="rect">
                <a:avLst/>
              </a:prstGeom>
              <a:blipFill>
                <a:blip r:embed="rId4"/>
                <a:stretch>
                  <a:fillRect b="-98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A2964105-80AB-B90F-ECBC-E76F41AB3E70}"/>
                  </a:ext>
                </a:extLst>
              </p:cNvPr>
              <p:cNvSpPr txBox="1"/>
              <p:nvPr/>
            </p:nvSpPr>
            <p:spPr>
              <a:xfrm>
                <a:off x="1726201" y="578675"/>
                <a:ext cx="66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𝑏</m:t>
                      </m:r>
                      <m:r>
                        <a:rPr lang="en-IN" sz="1800" i="1" smtClean="0">
                          <a:latin typeface="Cambria Math" panose="02040503050406030204" pitchFamily="18" charset="0"/>
                        </a:rPr>
                        <m:t>,</m:t>
                      </m:r>
                      <m:r>
                        <a:rPr lang="en-IN" sz="1800" i="1" smtClean="0">
                          <a:latin typeface="Cambria Math" panose="02040503050406030204" pitchFamily="18" charset="0"/>
                        </a:rPr>
                        <m:t>𝑤</m:t>
                      </m:r>
                    </m:oMath>
                  </m:oMathPara>
                </a14:m>
                <a:endParaRPr lang="en-IN"/>
              </a:p>
            </p:txBody>
          </p:sp>
        </mc:Choice>
        <mc:Fallback>
          <p:sp>
            <p:nvSpPr>
              <p:cNvPr id="10" name="TextBox 9">
                <a:extLst>
                  <a:ext uri="{FF2B5EF4-FFF2-40B4-BE49-F238E27FC236}">
                    <a16:creationId xmlns:a16="http://schemas.microsoft.com/office/drawing/2014/main" id="{A2964105-80AB-B90F-ECBC-E76F41AB3E70}"/>
                  </a:ext>
                </a:extLst>
              </p:cNvPr>
              <p:cNvSpPr txBox="1">
                <a:spLocks noRot="1" noChangeAspect="1" noMove="1" noResize="1" noEditPoints="1" noAdjustHandles="1" noChangeArrowheads="1" noChangeShapeType="1" noTextEdit="1"/>
              </p:cNvSpPr>
              <p:nvPr/>
            </p:nvSpPr>
            <p:spPr>
              <a:xfrm>
                <a:off x="1726201" y="578675"/>
                <a:ext cx="66190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B3F14376-B740-AFAF-AA41-57CB2C598AC0}"/>
                  </a:ext>
                </a:extLst>
              </p:cNvPr>
              <p:cNvSpPr txBox="1"/>
              <p:nvPr/>
            </p:nvSpPr>
            <p:spPr>
              <a:xfrm>
                <a:off x="7975438" y="578675"/>
                <a:ext cx="66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𝑏</m:t>
                      </m:r>
                      <m:r>
                        <a:rPr lang="en-IN" sz="1800" i="1" smtClean="0">
                          <a:latin typeface="Cambria Math" panose="02040503050406030204" pitchFamily="18" charset="0"/>
                        </a:rPr>
                        <m:t>,</m:t>
                      </m:r>
                      <m:r>
                        <a:rPr lang="en-IN" sz="1800" i="1" smtClean="0">
                          <a:latin typeface="Cambria Math" panose="02040503050406030204" pitchFamily="18" charset="0"/>
                        </a:rPr>
                        <m:t>𝑤</m:t>
                      </m:r>
                    </m:oMath>
                  </m:oMathPara>
                </a14:m>
                <a:endParaRPr lang="en-IN"/>
              </a:p>
            </p:txBody>
          </p:sp>
        </mc:Choice>
        <mc:Fallback>
          <p:sp>
            <p:nvSpPr>
              <p:cNvPr id="11" name="TextBox 10">
                <a:extLst>
                  <a:ext uri="{FF2B5EF4-FFF2-40B4-BE49-F238E27FC236}">
                    <a16:creationId xmlns:a16="http://schemas.microsoft.com/office/drawing/2014/main" id="{B3F14376-B740-AFAF-AA41-57CB2C598AC0}"/>
                  </a:ext>
                </a:extLst>
              </p:cNvPr>
              <p:cNvSpPr txBox="1">
                <a:spLocks noRot="1" noChangeAspect="1" noMove="1" noResize="1" noEditPoints="1" noAdjustHandles="1" noChangeArrowheads="1" noChangeShapeType="1" noTextEdit="1"/>
              </p:cNvSpPr>
              <p:nvPr/>
            </p:nvSpPr>
            <p:spPr>
              <a:xfrm>
                <a:off x="7975438" y="578675"/>
                <a:ext cx="661906" cy="369332"/>
              </a:xfrm>
              <a:prstGeom prst="rect">
                <a:avLst/>
              </a:prstGeom>
              <a:blipFill>
                <a:blip r:embed="rId5"/>
                <a:stretch>
                  <a:fillRect/>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E6BC5701-F6EF-0C92-24C4-8640FF786834}"/>
              </a:ext>
            </a:extLst>
          </p:cNvPr>
          <p:cNvPicPr>
            <a:picLocks noChangeAspect="1"/>
          </p:cNvPicPr>
          <p:nvPr/>
        </p:nvPicPr>
        <p:blipFill>
          <a:blip r:embed="rId6"/>
          <a:stretch>
            <a:fillRect/>
          </a:stretch>
        </p:blipFill>
        <p:spPr>
          <a:xfrm>
            <a:off x="4567362" y="2312328"/>
            <a:ext cx="304800" cy="247650"/>
          </a:xfrm>
          <a:prstGeom prst="rect">
            <a:avLst/>
          </a:prstGeom>
        </p:spPr>
      </p:pic>
      <p:pic>
        <p:nvPicPr>
          <p:cNvPr id="13" name="Picture 12">
            <a:extLst>
              <a:ext uri="{FF2B5EF4-FFF2-40B4-BE49-F238E27FC236}">
                <a16:creationId xmlns:a16="http://schemas.microsoft.com/office/drawing/2014/main" id="{C931312E-F25A-551F-C501-1933E2CDD689}"/>
              </a:ext>
            </a:extLst>
          </p:cNvPr>
          <p:cNvPicPr>
            <a:picLocks noChangeAspect="1"/>
          </p:cNvPicPr>
          <p:nvPr/>
        </p:nvPicPr>
        <p:blipFill>
          <a:blip r:embed="rId7"/>
          <a:stretch>
            <a:fillRect/>
          </a:stretch>
        </p:blipFill>
        <p:spPr>
          <a:xfrm>
            <a:off x="6637032" y="4015998"/>
            <a:ext cx="266700" cy="304800"/>
          </a:xfrm>
          <a:prstGeom prst="rect">
            <a:avLst/>
          </a:prstGeom>
        </p:spPr>
      </p:pic>
      <p:sp>
        <p:nvSpPr>
          <p:cNvPr id="14" name="Rectangle 13">
            <a:extLst>
              <a:ext uri="{FF2B5EF4-FFF2-40B4-BE49-F238E27FC236}">
                <a16:creationId xmlns:a16="http://schemas.microsoft.com/office/drawing/2014/main" id="{285854A6-3B1E-CF89-223A-7E830095D28B}"/>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096594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0DD6C-0E25-E867-42A4-44E81DF7D45A}"/>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EA577EC2-CF33-6BA6-0D3E-11AAFEBF574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526644"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CDC384FD-88E5-5077-FE8B-DED679CB5BE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28600"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A481C33-3B77-C9DF-5DCC-B84F601A5A14}"/>
              </a:ext>
            </a:extLst>
          </p:cNvPr>
          <p:cNvSpPr txBox="1"/>
          <p:nvPr/>
        </p:nvSpPr>
        <p:spPr>
          <a:xfrm>
            <a:off x="838200" y="578675"/>
            <a:ext cx="3729162" cy="369332"/>
          </a:xfrm>
          <a:prstGeom prst="rect">
            <a:avLst/>
          </a:prstGeom>
          <a:noFill/>
        </p:spPr>
        <p:txBody>
          <a:bodyPr wrap="none" rtlCol="0">
            <a:spAutoFit/>
          </a:bodyPr>
          <a:lstStyle/>
          <a:p>
            <a:r>
              <a:rPr lang="en-US"/>
              <a:t>(for fixed           , this is a function of x)</a:t>
            </a:r>
          </a:p>
        </p:txBody>
      </p:sp>
      <p:sp>
        <p:nvSpPr>
          <p:cNvPr id="8" name="TextBox 7">
            <a:extLst>
              <a:ext uri="{FF2B5EF4-FFF2-40B4-BE49-F238E27FC236}">
                <a16:creationId xmlns:a16="http://schemas.microsoft.com/office/drawing/2014/main" id="{ABF1B898-B921-F4BF-226D-3DD8971D9B60}"/>
              </a:ext>
            </a:extLst>
          </p:cNvPr>
          <p:cNvSpPr txBox="1"/>
          <p:nvPr/>
        </p:nvSpPr>
        <p:spPr>
          <a:xfrm>
            <a:off x="5328312" y="578675"/>
            <a:ext cx="3484031" cy="369332"/>
          </a:xfrm>
          <a:prstGeom prst="rect">
            <a:avLst/>
          </a:prstGeom>
          <a:noFill/>
        </p:spPr>
        <p:txBody>
          <a:bodyPr wrap="none" rtlCol="0">
            <a:spAutoFit/>
          </a:bodyPr>
          <a:lstStyle/>
          <a:p>
            <a:r>
              <a:rPr lang="en-US"/>
              <a:t>(function of the parameters            )</a:t>
            </a:r>
          </a:p>
        </p:txBody>
      </p:sp>
      <p:sp>
        <p:nvSpPr>
          <p:cNvPr id="2" name="TextBox 1">
            <a:extLst>
              <a:ext uri="{FF2B5EF4-FFF2-40B4-BE49-F238E27FC236}">
                <a16:creationId xmlns:a16="http://schemas.microsoft.com/office/drawing/2014/main" id="{54CAC9B4-6C92-8725-D160-3EF9CF94EE87}"/>
              </a:ext>
            </a:extLst>
          </p:cNvPr>
          <p:cNvSpPr txBox="1"/>
          <p:nvPr/>
        </p:nvSpPr>
        <p:spPr>
          <a:xfrm>
            <a:off x="1936396" y="146542"/>
            <a:ext cx="973164" cy="369332"/>
          </a:xfrm>
          <a:prstGeom prst="rect">
            <a:avLst/>
          </a:prstGeom>
          <a:noFill/>
        </p:spPr>
        <p:txBody>
          <a:bodyPr wrap="square">
            <a:spAutoFit/>
          </a:bodyPr>
          <a:lstStyle/>
          <a:p>
            <a:r>
              <a:rPr lang="en-IN" sz="1800" err="1">
                <a:latin typeface="Cambria Math" panose="02040503050406030204" pitchFamily="18" charset="0"/>
                <a:ea typeface="Cambria Math" panose="02040503050406030204" pitchFamily="18" charset="0"/>
                <a:cs typeface="Courier New" panose="02070309020205020404" pitchFamily="49" charset="0"/>
              </a:rPr>
              <a:t>h</a:t>
            </a:r>
            <a:r>
              <a:rPr lang="en-IN" sz="1800" baseline="-25000" err="1">
                <a:latin typeface="Cambria Math" panose="02040503050406030204" pitchFamily="18" charset="0"/>
                <a:ea typeface="Cambria Math" panose="02040503050406030204" pitchFamily="18" charset="0"/>
                <a:cs typeface="Courier New" panose="02070309020205020404" pitchFamily="49" charset="0"/>
              </a:rPr>
              <a:t>b,w</a:t>
            </a:r>
            <a:r>
              <a:rPr lang="en-IN" sz="1800">
                <a:latin typeface="Cambria Math" panose="02040503050406030204" pitchFamily="18" charset="0"/>
                <a:ea typeface="Cambria Math" panose="02040503050406030204" pitchFamily="18" charset="0"/>
                <a:cs typeface="Courier New" panose="02070309020205020404" pitchFamily="49" charset="0"/>
              </a:rPr>
              <a:t>(x)</a:t>
            </a:r>
            <a:endParaRPr lang="en-IN"/>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9BFCE2ED-59FA-8168-0ECF-A6DD76088210}"/>
                  </a:ext>
                </a:extLst>
              </p:cNvPr>
              <p:cNvSpPr txBox="1"/>
              <p:nvPr/>
            </p:nvSpPr>
            <p:spPr>
              <a:xfrm>
                <a:off x="6295707" y="146542"/>
                <a:ext cx="94935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𝐽</m:t>
                      </m:r>
                      <m:d>
                        <m:dPr>
                          <m:ctrlPr>
                            <a:rPr lang="en-IN" sz="1800" i="1">
                              <a:latin typeface="Cambria Math" panose="02040503050406030204" pitchFamily="18" charset="0"/>
                            </a:rPr>
                          </m:ctrlPr>
                        </m:dPr>
                        <m:e>
                          <m:r>
                            <a:rPr lang="en-IN" sz="1800" i="1">
                              <a:latin typeface="Cambria Math" panose="02040503050406030204" pitchFamily="18" charset="0"/>
                            </a:rPr>
                            <m:t>𝑏</m:t>
                          </m:r>
                          <m:r>
                            <a:rPr lang="en-IN" sz="1800" i="1">
                              <a:latin typeface="Cambria Math" panose="02040503050406030204" pitchFamily="18" charset="0"/>
                            </a:rPr>
                            <m:t>,</m:t>
                          </m:r>
                          <m:r>
                            <a:rPr lang="en-IN" sz="1800" i="1">
                              <a:latin typeface="Cambria Math" panose="02040503050406030204" pitchFamily="18" charset="0"/>
                            </a:rPr>
                            <m:t>𝑤</m:t>
                          </m:r>
                        </m:e>
                      </m:d>
                    </m:oMath>
                  </m:oMathPara>
                </a14:m>
                <a:endParaRPr lang="en-IN"/>
              </a:p>
            </p:txBody>
          </p:sp>
        </mc:Choice>
        <mc:Fallback>
          <p:sp>
            <p:nvSpPr>
              <p:cNvPr id="3" name="TextBox 2">
                <a:extLst>
                  <a:ext uri="{FF2B5EF4-FFF2-40B4-BE49-F238E27FC236}">
                    <a16:creationId xmlns:a16="http://schemas.microsoft.com/office/drawing/2014/main" id="{9BFCE2ED-59FA-8168-0ECF-A6DD76088210}"/>
                  </a:ext>
                </a:extLst>
              </p:cNvPr>
              <p:cNvSpPr txBox="1">
                <a:spLocks noRot="1" noChangeAspect="1" noMove="1" noResize="1" noEditPoints="1" noAdjustHandles="1" noChangeArrowheads="1" noChangeShapeType="1" noTextEdit="1"/>
              </p:cNvSpPr>
              <p:nvPr/>
            </p:nvSpPr>
            <p:spPr>
              <a:xfrm>
                <a:off x="6295707" y="146542"/>
                <a:ext cx="949351" cy="369332"/>
              </a:xfrm>
              <a:prstGeom prst="rect">
                <a:avLst/>
              </a:prstGeom>
              <a:blipFill>
                <a:blip r:embed="rId4"/>
                <a:stretch>
                  <a:fillRect b="-98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6C21157A-5EFA-DE40-DD76-53035D79C017}"/>
                  </a:ext>
                </a:extLst>
              </p:cNvPr>
              <p:cNvSpPr txBox="1"/>
              <p:nvPr/>
            </p:nvSpPr>
            <p:spPr>
              <a:xfrm>
                <a:off x="1726201" y="578675"/>
                <a:ext cx="66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𝑏</m:t>
                      </m:r>
                      <m:r>
                        <a:rPr lang="en-IN" sz="1800" i="1" smtClean="0">
                          <a:latin typeface="Cambria Math" panose="02040503050406030204" pitchFamily="18" charset="0"/>
                        </a:rPr>
                        <m:t>,</m:t>
                      </m:r>
                      <m:r>
                        <a:rPr lang="en-IN" sz="1800" i="1" smtClean="0">
                          <a:latin typeface="Cambria Math" panose="02040503050406030204" pitchFamily="18" charset="0"/>
                        </a:rPr>
                        <m:t>𝑤</m:t>
                      </m:r>
                    </m:oMath>
                  </m:oMathPara>
                </a14:m>
                <a:endParaRPr lang="en-IN"/>
              </a:p>
            </p:txBody>
          </p:sp>
        </mc:Choice>
        <mc:Fallback>
          <p:sp>
            <p:nvSpPr>
              <p:cNvPr id="10" name="TextBox 9">
                <a:extLst>
                  <a:ext uri="{FF2B5EF4-FFF2-40B4-BE49-F238E27FC236}">
                    <a16:creationId xmlns:a16="http://schemas.microsoft.com/office/drawing/2014/main" id="{6C21157A-5EFA-DE40-DD76-53035D79C017}"/>
                  </a:ext>
                </a:extLst>
              </p:cNvPr>
              <p:cNvSpPr txBox="1">
                <a:spLocks noRot="1" noChangeAspect="1" noMove="1" noResize="1" noEditPoints="1" noAdjustHandles="1" noChangeArrowheads="1" noChangeShapeType="1" noTextEdit="1"/>
              </p:cNvSpPr>
              <p:nvPr/>
            </p:nvSpPr>
            <p:spPr>
              <a:xfrm>
                <a:off x="1726201" y="578675"/>
                <a:ext cx="66190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88754B3C-3601-C63C-9736-D4F2F49466E5}"/>
                  </a:ext>
                </a:extLst>
              </p:cNvPr>
              <p:cNvSpPr txBox="1"/>
              <p:nvPr/>
            </p:nvSpPr>
            <p:spPr>
              <a:xfrm>
                <a:off x="7975438" y="578675"/>
                <a:ext cx="66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𝑏</m:t>
                      </m:r>
                      <m:r>
                        <a:rPr lang="en-IN" sz="1800" i="1" smtClean="0">
                          <a:latin typeface="Cambria Math" panose="02040503050406030204" pitchFamily="18" charset="0"/>
                        </a:rPr>
                        <m:t>,</m:t>
                      </m:r>
                      <m:r>
                        <a:rPr lang="en-IN" sz="1800" i="1" smtClean="0">
                          <a:latin typeface="Cambria Math" panose="02040503050406030204" pitchFamily="18" charset="0"/>
                        </a:rPr>
                        <m:t>𝑤</m:t>
                      </m:r>
                    </m:oMath>
                  </m:oMathPara>
                </a14:m>
                <a:endParaRPr lang="en-IN"/>
              </a:p>
            </p:txBody>
          </p:sp>
        </mc:Choice>
        <mc:Fallback>
          <p:sp>
            <p:nvSpPr>
              <p:cNvPr id="11" name="TextBox 10">
                <a:extLst>
                  <a:ext uri="{FF2B5EF4-FFF2-40B4-BE49-F238E27FC236}">
                    <a16:creationId xmlns:a16="http://schemas.microsoft.com/office/drawing/2014/main" id="{88754B3C-3601-C63C-9736-D4F2F49466E5}"/>
                  </a:ext>
                </a:extLst>
              </p:cNvPr>
              <p:cNvSpPr txBox="1">
                <a:spLocks noRot="1" noChangeAspect="1" noMove="1" noResize="1" noEditPoints="1" noAdjustHandles="1" noChangeArrowheads="1" noChangeShapeType="1" noTextEdit="1"/>
              </p:cNvSpPr>
              <p:nvPr/>
            </p:nvSpPr>
            <p:spPr>
              <a:xfrm>
                <a:off x="7975438" y="578675"/>
                <a:ext cx="661906" cy="369332"/>
              </a:xfrm>
              <a:prstGeom prst="rect">
                <a:avLst/>
              </a:prstGeom>
              <a:blipFill>
                <a:blip r:embed="rId5"/>
                <a:stretch>
                  <a:fillRect/>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1FDF405D-2CAB-479A-8FBE-D1357F69E238}"/>
              </a:ext>
            </a:extLst>
          </p:cNvPr>
          <p:cNvPicPr>
            <a:picLocks noChangeAspect="1"/>
          </p:cNvPicPr>
          <p:nvPr/>
        </p:nvPicPr>
        <p:blipFill>
          <a:blip r:embed="rId6"/>
          <a:stretch>
            <a:fillRect/>
          </a:stretch>
        </p:blipFill>
        <p:spPr>
          <a:xfrm>
            <a:off x="4567362" y="2312328"/>
            <a:ext cx="304800" cy="247650"/>
          </a:xfrm>
          <a:prstGeom prst="rect">
            <a:avLst/>
          </a:prstGeom>
        </p:spPr>
      </p:pic>
      <p:pic>
        <p:nvPicPr>
          <p:cNvPr id="13" name="Picture 12">
            <a:extLst>
              <a:ext uri="{FF2B5EF4-FFF2-40B4-BE49-F238E27FC236}">
                <a16:creationId xmlns:a16="http://schemas.microsoft.com/office/drawing/2014/main" id="{081B03BD-2540-3022-1A2A-E3406EB5DE36}"/>
              </a:ext>
            </a:extLst>
          </p:cNvPr>
          <p:cNvPicPr>
            <a:picLocks noChangeAspect="1"/>
          </p:cNvPicPr>
          <p:nvPr/>
        </p:nvPicPr>
        <p:blipFill>
          <a:blip r:embed="rId7"/>
          <a:stretch>
            <a:fillRect/>
          </a:stretch>
        </p:blipFill>
        <p:spPr>
          <a:xfrm>
            <a:off x="6637032" y="4015998"/>
            <a:ext cx="266700" cy="304800"/>
          </a:xfrm>
          <a:prstGeom prst="rect">
            <a:avLst/>
          </a:prstGeom>
        </p:spPr>
      </p:pic>
      <p:sp>
        <p:nvSpPr>
          <p:cNvPr id="14" name="Rectangle 13">
            <a:extLst>
              <a:ext uri="{FF2B5EF4-FFF2-40B4-BE49-F238E27FC236}">
                <a16:creationId xmlns:a16="http://schemas.microsoft.com/office/drawing/2014/main" id="{1917443A-3CAC-EF1D-BF62-2BE9B0FD5DCF}"/>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53089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02BE2-A8BA-F4AF-A707-1CF7DAE42EB9}"/>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DDE4271A-1B29-1C65-99E5-02CBFF68355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526644"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A58FCB97-4E90-8B0D-38A6-4E3838078B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28600"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6A2EC03-4B0A-61CD-B040-FB60F420DF91}"/>
              </a:ext>
            </a:extLst>
          </p:cNvPr>
          <p:cNvSpPr txBox="1"/>
          <p:nvPr/>
        </p:nvSpPr>
        <p:spPr>
          <a:xfrm>
            <a:off x="838200" y="578675"/>
            <a:ext cx="3729162" cy="369332"/>
          </a:xfrm>
          <a:prstGeom prst="rect">
            <a:avLst/>
          </a:prstGeom>
          <a:noFill/>
        </p:spPr>
        <p:txBody>
          <a:bodyPr wrap="none" rtlCol="0">
            <a:spAutoFit/>
          </a:bodyPr>
          <a:lstStyle/>
          <a:p>
            <a:r>
              <a:rPr lang="en-US"/>
              <a:t>(for fixed           , this is a function of x)</a:t>
            </a:r>
          </a:p>
        </p:txBody>
      </p:sp>
      <p:sp>
        <p:nvSpPr>
          <p:cNvPr id="8" name="TextBox 7">
            <a:extLst>
              <a:ext uri="{FF2B5EF4-FFF2-40B4-BE49-F238E27FC236}">
                <a16:creationId xmlns:a16="http://schemas.microsoft.com/office/drawing/2014/main" id="{96446625-2C66-8966-A20D-EDE8D25ED584}"/>
              </a:ext>
            </a:extLst>
          </p:cNvPr>
          <p:cNvSpPr txBox="1"/>
          <p:nvPr/>
        </p:nvSpPr>
        <p:spPr>
          <a:xfrm>
            <a:off x="5328312" y="578675"/>
            <a:ext cx="3484031" cy="369332"/>
          </a:xfrm>
          <a:prstGeom prst="rect">
            <a:avLst/>
          </a:prstGeom>
          <a:noFill/>
        </p:spPr>
        <p:txBody>
          <a:bodyPr wrap="none" rtlCol="0">
            <a:spAutoFit/>
          </a:bodyPr>
          <a:lstStyle/>
          <a:p>
            <a:r>
              <a:rPr lang="en-US"/>
              <a:t>(function of the parameters            )</a:t>
            </a:r>
          </a:p>
        </p:txBody>
      </p:sp>
      <p:sp>
        <p:nvSpPr>
          <p:cNvPr id="2" name="TextBox 1">
            <a:extLst>
              <a:ext uri="{FF2B5EF4-FFF2-40B4-BE49-F238E27FC236}">
                <a16:creationId xmlns:a16="http://schemas.microsoft.com/office/drawing/2014/main" id="{2FACB6FD-9E86-46B8-19F3-A3AB96B05653}"/>
              </a:ext>
            </a:extLst>
          </p:cNvPr>
          <p:cNvSpPr txBox="1"/>
          <p:nvPr/>
        </p:nvSpPr>
        <p:spPr>
          <a:xfrm>
            <a:off x="1936396" y="146542"/>
            <a:ext cx="973164" cy="369332"/>
          </a:xfrm>
          <a:prstGeom prst="rect">
            <a:avLst/>
          </a:prstGeom>
          <a:noFill/>
        </p:spPr>
        <p:txBody>
          <a:bodyPr wrap="square">
            <a:spAutoFit/>
          </a:bodyPr>
          <a:lstStyle/>
          <a:p>
            <a:r>
              <a:rPr lang="en-IN" sz="1800" err="1">
                <a:latin typeface="Cambria Math" panose="02040503050406030204" pitchFamily="18" charset="0"/>
                <a:ea typeface="Cambria Math" panose="02040503050406030204" pitchFamily="18" charset="0"/>
                <a:cs typeface="Courier New" panose="02070309020205020404" pitchFamily="49" charset="0"/>
              </a:rPr>
              <a:t>h</a:t>
            </a:r>
            <a:r>
              <a:rPr lang="en-IN" sz="1800" baseline="-25000" err="1">
                <a:latin typeface="Cambria Math" panose="02040503050406030204" pitchFamily="18" charset="0"/>
                <a:ea typeface="Cambria Math" panose="02040503050406030204" pitchFamily="18" charset="0"/>
                <a:cs typeface="Courier New" panose="02070309020205020404" pitchFamily="49" charset="0"/>
              </a:rPr>
              <a:t>b,w</a:t>
            </a:r>
            <a:r>
              <a:rPr lang="en-IN" sz="1800">
                <a:latin typeface="Cambria Math" panose="02040503050406030204" pitchFamily="18" charset="0"/>
                <a:ea typeface="Cambria Math" panose="02040503050406030204" pitchFamily="18" charset="0"/>
                <a:cs typeface="Courier New" panose="02070309020205020404" pitchFamily="49" charset="0"/>
              </a:rPr>
              <a:t>(x)</a:t>
            </a:r>
            <a:endParaRPr lang="en-IN"/>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E70C46D-DFBD-07C9-D358-FC1172CF4F81}"/>
                  </a:ext>
                </a:extLst>
              </p:cNvPr>
              <p:cNvSpPr txBox="1"/>
              <p:nvPr/>
            </p:nvSpPr>
            <p:spPr>
              <a:xfrm>
                <a:off x="6295707" y="146542"/>
                <a:ext cx="94935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𝐽</m:t>
                      </m:r>
                      <m:d>
                        <m:dPr>
                          <m:ctrlPr>
                            <a:rPr lang="en-IN" sz="1800" i="1">
                              <a:latin typeface="Cambria Math" panose="02040503050406030204" pitchFamily="18" charset="0"/>
                            </a:rPr>
                          </m:ctrlPr>
                        </m:dPr>
                        <m:e>
                          <m:r>
                            <a:rPr lang="en-IN" sz="1800" i="1">
                              <a:latin typeface="Cambria Math" panose="02040503050406030204" pitchFamily="18" charset="0"/>
                            </a:rPr>
                            <m:t>𝑏</m:t>
                          </m:r>
                          <m:r>
                            <a:rPr lang="en-IN" sz="1800" i="1">
                              <a:latin typeface="Cambria Math" panose="02040503050406030204" pitchFamily="18" charset="0"/>
                            </a:rPr>
                            <m:t>,</m:t>
                          </m:r>
                          <m:r>
                            <a:rPr lang="en-IN" sz="1800" i="1">
                              <a:latin typeface="Cambria Math" panose="02040503050406030204" pitchFamily="18" charset="0"/>
                            </a:rPr>
                            <m:t>𝑤</m:t>
                          </m:r>
                        </m:e>
                      </m:d>
                    </m:oMath>
                  </m:oMathPara>
                </a14:m>
                <a:endParaRPr lang="en-IN"/>
              </a:p>
            </p:txBody>
          </p:sp>
        </mc:Choice>
        <mc:Fallback>
          <p:sp>
            <p:nvSpPr>
              <p:cNvPr id="3" name="TextBox 2">
                <a:extLst>
                  <a:ext uri="{FF2B5EF4-FFF2-40B4-BE49-F238E27FC236}">
                    <a16:creationId xmlns:a16="http://schemas.microsoft.com/office/drawing/2014/main" id="{7E70C46D-DFBD-07C9-D358-FC1172CF4F81}"/>
                  </a:ext>
                </a:extLst>
              </p:cNvPr>
              <p:cNvSpPr txBox="1">
                <a:spLocks noRot="1" noChangeAspect="1" noMove="1" noResize="1" noEditPoints="1" noAdjustHandles="1" noChangeArrowheads="1" noChangeShapeType="1" noTextEdit="1"/>
              </p:cNvSpPr>
              <p:nvPr/>
            </p:nvSpPr>
            <p:spPr>
              <a:xfrm>
                <a:off x="6295707" y="146542"/>
                <a:ext cx="949351" cy="369332"/>
              </a:xfrm>
              <a:prstGeom prst="rect">
                <a:avLst/>
              </a:prstGeom>
              <a:blipFill>
                <a:blip r:embed="rId4"/>
                <a:stretch>
                  <a:fillRect b="-98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AD8CDFB7-96B1-6FF6-21EF-F9782DF22F51}"/>
                  </a:ext>
                </a:extLst>
              </p:cNvPr>
              <p:cNvSpPr txBox="1"/>
              <p:nvPr/>
            </p:nvSpPr>
            <p:spPr>
              <a:xfrm>
                <a:off x="1726201" y="578675"/>
                <a:ext cx="66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𝑏</m:t>
                      </m:r>
                      <m:r>
                        <a:rPr lang="en-IN" sz="1800" i="1" smtClean="0">
                          <a:latin typeface="Cambria Math" panose="02040503050406030204" pitchFamily="18" charset="0"/>
                        </a:rPr>
                        <m:t>,</m:t>
                      </m:r>
                      <m:r>
                        <a:rPr lang="en-IN" sz="1800" i="1" smtClean="0">
                          <a:latin typeface="Cambria Math" panose="02040503050406030204" pitchFamily="18" charset="0"/>
                        </a:rPr>
                        <m:t>𝑤</m:t>
                      </m:r>
                    </m:oMath>
                  </m:oMathPara>
                </a14:m>
                <a:endParaRPr lang="en-IN"/>
              </a:p>
            </p:txBody>
          </p:sp>
        </mc:Choice>
        <mc:Fallback>
          <p:sp>
            <p:nvSpPr>
              <p:cNvPr id="10" name="TextBox 9">
                <a:extLst>
                  <a:ext uri="{FF2B5EF4-FFF2-40B4-BE49-F238E27FC236}">
                    <a16:creationId xmlns:a16="http://schemas.microsoft.com/office/drawing/2014/main" id="{AD8CDFB7-96B1-6FF6-21EF-F9782DF22F51}"/>
                  </a:ext>
                </a:extLst>
              </p:cNvPr>
              <p:cNvSpPr txBox="1">
                <a:spLocks noRot="1" noChangeAspect="1" noMove="1" noResize="1" noEditPoints="1" noAdjustHandles="1" noChangeArrowheads="1" noChangeShapeType="1" noTextEdit="1"/>
              </p:cNvSpPr>
              <p:nvPr/>
            </p:nvSpPr>
            <p:spPr>
              <a:xfrm>
                <a:off x="1726201" y="578675"/>
                <a:ext cx="66190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917BC182-6780-E030-9779-7F43F85AD36F}"/>
                  </a:ext>
                </a:extLst>
              </p:cNvPr>
              <p:cNvSpPr txBox="1"/>
              <p:nvPr/>
            </p:nvSpPr>
            <p:spPr>
              <a:xfrm>
                <a:off x="7975438" y="578675"/>
                <a:ext cx="66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𝑏</m:t>
                      </m:r>
                      <m:r>
                        <a:rPr lang="en-IN" sz="1800" i="1" smtClean="0">
                          <a:latin typeface="Cambria Math" panose="02040503050406030204" pitchFamily="18" charset="0"/>
                        </a:rPr>
                        <m:t>,</m:t>
                      </m:r>
                      <m:r>
                        <a:rPr lang="en-IN" sz="1800" i="1" smtClean="0">
                          <a:latin typeface="Cambria Math" panose="02040503050406030204" pitchFamily="18" charset="0"/>
                        </a:rPr>
                        <m:t>𝑤</m:t>
                      </m:r>
                    </m:oMath>
                  </m:oMathPara>
                </a14:m>
                <a:endParaRPr lang="en-IN"/>
              </a:p>
            </p:txBody>
          </p:sp>
        </mc:Choice>
        <mc:Fallback>
          <p:sp>
            <p:nvSpPr>
              <p:cNvPr id="11" name="TextBox 10">
                <a:extLst>
                  <a:ext uri="{FF2B5EF4-FFF2-40B4-BE49-F238E27FC236}">
                    <a16:creationId xmlns:a16="http://schemas.microsoft.com/office/drawing/2014/main" id="{917BC182-6780-E030-9779-7F43F85AD36F}"/>
                  </a:ext>
                </a:extLst>
              </p:cNvPr>
              <p:cNvSpPr txBox="1">
                <a:spLocks noRot="1" noChangeAspect="1" noMove="1" noResize="1" noEditPoints="1" noAdjustHandles="1" noChangeArrowheads="1" noChangeShapeType="1" noTextEdit="1"/>
              </p:cNvSpPr>
              <p:nvPr/>
            </p:nvSpPr>
            <p:spPr>
              <a:xfrm>
                <a:off x="7975438" y="578675"/>
                <a:ext cx="661906" cy="369332"/>
              </a:xfrm>
              <a:prstGeom prst="rect">
                <a:avLst/>
              </a:prstGeom>
              <a:blipFill>
                <a:blip r:embed="rId5"/>
                <a:stretch>
                  <a:fillRect/>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8F003C50-D952-CD0C-67B8-0F97D4DA1A75}"/>
              </a:ext>
            </a:extLst>
          </p:cNvPr>
          <p:cNvPicPr>
            <a:picLocks noChangeAspect="1"/>
          </p:cNvPicPr>
          <p:nvPr/>
        </p:nvPicPr>
        <p:blipFill>
          <a:blip r:embed="rId6"/>
          <a:stretch>
            <a:fillRect/>
          </a:stretch>
        </p:blipFill>
        <p:spPr>
          <a:xfrm>
            <a:off x="4567362" y="2312328"/>
            <a:ext cx="304800" cy="247650"/>
          </a:xfrm>
          <a:prstGeom prst="rect">
            <a:avLst/>
          </a:prstGeom>
        </p:spPr>
      </p:pic>
      <p:pic>
        <p:nvPicPr>
          <p:cNvPr id="13" name="Picture 12">
            <a:extLst>
              <a:ext uri="{FF2B5EF4-FFF2-40B4-BE49-F238E27FC236}">
                <a16:creationId xmlns:a16="http://schemas.microsoft.com/office/drawing/2014/main" id="{621E909D-2983-4441-664F-2660AC579B3E}"/>
              </a:ext>
            </a:extLst>
          </p:cNvPr>
          <p:cNvPicPr>
            <a:picLocks noChangeAspect="1"/>
          </p:cNvPicPr>
          <p:nvPr/>
        </p:nvPicPr>
        <p:blipFill>
          <a:blip r:embed="rId7"/>
          <a:stretch>
            <a:fillRect/>
          </a:stretch>
        </p:blipFill>
        <p:spPr>
          <a:xfrm>
            <a:off x="6637032" y="4015998"/>
            <a:ext cx="266700" cy="304800"/>
          </a:xfrm>
          <a:prstGeom prst="rect">
            <a:avLst/>
          </a:prstGeom>
        </p:spPr>
      </p:pic>
      <p:sp>
        <p:nvSpPr>
          <p:cNvPr id="14" name="Rectangle 13">
            <a:extLst>
              <a:ext uri="{FF2B5EF4-FFF2-40B4-BE49-F238E27FC236}">
                <a16:creationId xmlns:a16="http://schemas.microsoft.com/office/drawing/2014/main" id="{ED351DAF-8609-5E40-D1B9-63744D99E76C}"/>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315596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75F01-28E0-ACEA-9B71-D50EAD8A83FE}"/>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5AFFBF3C-54AA-B398-F09E-1A9384A1839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526644"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7EDDD126-086D-0930-AADE-E23DA0715C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28600"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2F75502-2BF8-41F1-EAE9-9240190861E1}"/>
              </a:ext>
            </a:extLst>
          </p:cNvPr>
          <p:cNvSpPr txBox="1"/>
          <p:nvPr/>
        </p:nvSpPr>
        <p:spPr>
          <a:xfrm>
            <a:off x="838200" y="578675"/>
            <a:ext cx="3729162" cy="369332"/>
          </a:xfrm>
          <a:prstGeom prst="rect">
            <a:avLst/>
          </a:prstGeom>
          <a:noFill/>
        </p:spPr>
        <p:txBody>
          <a:bodyPr wrap="none" rtlCol="0">
            <a:spAutoFit/>
          </a:bodyPr>
          <a:lstStyle/>
          <a:p>
            <a:r>
              <a:rPr lang="en-US"/>
              <a:t>(for fixed           , this is a function of x)</a:t>
            </a:r>
          </a:p>
        </p:txBody>
      </p:sp>
      <p:sp>
        <p:nvSpPr>
          <p:cNvPr id="8" name="TextBox 7">
            <a:extLst>
              <a:ext uri="{FF2B5EF4-FFF2-40B4-BE49-F238E27FC236}">
                <a16:creationId xmlns:a16="http://schemas.microsoft.com/office/drawing/2014/main" id="{2EDDFD5B-0379-1D39-67C6-32B2A9E12609}"/>
              </a:ext>
            </a:extLst>
          </p:cNvPr>
          <p:cNvSpPr txBox="1"/>
          <p:nvPr/>
        </p:nvSpPr>
        <p:spPr>
          <a:xfrm>
            <a:off x="5328312" y="578675"/>
            <a:ext cx="3484031" cy="369332"/>
          </a:xfrm>
          <a:prstGeom prst="rect">
            <a:avLst/>
          </a:prstGeom>
          <a:noFill/>
        </p:spPr>
        <p:txBody>
          <a:bodyPr wrap="none" rtlCol="0">
            <a:spAutoFit/>
          </a:bodyPr>
          <a:lstStyle/>
          <a:p>
            <a:r>
              <a:rPr lang="en-US"/>
              <a:t>(function of the parameters            )</a:t>
            </a:r>
          </a:p>
        </p:txBody>
      </p:sp>
      <p:sp>
        <p:nvSpPr>
          <p:cNvPr id="2" name="TextBox 1">
            <a:extLst>
              <a:ext uri="{FF2B5EF4-FFF2-40B4-BE49-F238E27FC236}">
                <a16:creationId xmlns:a16="http://schemas.microsoft.com/office/drawing/2014/main" id="{E13369AF-ACB8-513B-C094-AEBF2133E9ED}"/>
              </a:ext>
            </a:extLst>
          </p:cNvPr>
          <p:cNvSpPr txBox="1"/>
          <p:nvPr/>
        </p:nvSpPr>
        <p:spPr>
          <a:xfrm>
            <a:off x="1936396" y="146542"/>
            <a:ext cx="973164" cy="369332"/>
          </a:xfrm>
          <a:prstGeom prst="rect">
            <a:avLst/>
          </a:prstGeom>
          <a:noFill/>
        </p:spPr>
        <p:txBody>
          <a:bodyPr wrap="square">
            <a:spAutoFit/>
          </a:bodyPr>
          <a:lstStyle/>
          <a:p>
            <a:r>
              <a:rPr lang="en-IN" sz="1800" err="1">
                <a:latin typeface="Cambria Math" panose="02040503050406030204" pitchFamily="18" charset="0"/>
                <a:ea typeface="Cambria Math" panose="02040503050406030204" pitchFamily="18" charset="0"/>
                <a:cs typeface="Courier New" panose="02070309020205020404" pitchFamily="49" charset="0"/>
              </a:rPr>
              <a:t>h</a:t>
            </a:r>
            <a:r>
              <a:rPr lang="en-IN" sz="1800" baseline="-25000" err="1">
                <a:latin typeface="Cambria Math" panose="02040503050406030204" pitchFamily="18" charset="0"/>
                <a:ea typeface="Cambria Math" panose="02040503050406030204" pitchFamily="18" charset="0"/>
                <a:cs typeface="Courier New" panose="02070309020205020404" pitchFamily="49" charset="0"/>
              </a:rPr>
              <a:t>b,w</a:t>
            </a:r>
            <a:r>
              <a:rPr lang="en-IN" sz="1800">
                <a:latin typeface="Cambria Math" panose="02040503050406030204" pitchFamily="18" charset="0"/>
                <a:ea typeface="Cambria Math" panose="02040503050406030204" pitchFamily="18" charset="0"/>
                <a:cs typeface="Courier New" panose="02070309020205020404" pitchFamily="49" charset="0"/>
              </a:rPr>
              <a:t>(x)</a:t>
            </a:r>
            <a:endParaRPr lang="en-IN"/>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7327F6F-B662-6987-1D12-E722726C1699}"/>
                  </a:ext>
                </a:extLst>
              </p:cNvPr>
              <p:cNvSpPr txBox="1"/>
              <p:nvPr/>
            </p:nvSpPr>
            <p:spPr>
              <a:xfrm>
                <a:off x="6295707" y="146542"/>
                <a:ext cx="94935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𝐽</m:t>
                      </m:r>
                      <m:d>
                        <m:dPr>
                          <m:ctrlPr>
                            <a:rPr lang="en-IN" sz="1800" i="1">
                              <a:latin typeface="Cambria Math" panose="02040503050406030204" pitchFamily="18" charset="0"/>
                            </a:rPr>
                          </m:ctrlPr>
                        </m:dPr>
                        <m:e>
                          <m:r>
                            <a:rPr lang="en-IN" sz="1800" i="1">
                              <a:latin typeface="Cambria Math" panose="02040503050406030204" pitchFamily="18" charset="0"/>
                            </a:rPr>
                            <m:t>𝑏</m:t>
                          </m:r>
                          <m:r>
                            <a:rPr lang="en-IN" sz="1800" i="1">
                              <a:latin typeface="Cambria Math" panose="02040503050406030204" pitchFamily="18" charset="0"/>
                            </a:rPr>
                            <m:t>,</m:t>
                          </m:r>
                          <m:r>
                            <a:rPr lang="en-IN" sz="1800" i="1">
                              <a:latin typeface="Cambria Math" panose="02040503050406030204" pitchFamily="18" charset="0"/>
                            </a:rPr>
                            <m:t>𝑤</m:t>
                          </m:r>
                        </m:e>
                      </m:d>
                    </m:oMath>
                  </m:oMathPara>
                </a14:m>
                <a:endParaRPr lang="en-IN"/>
              </a:p>
            </p:txBody>
          </p:sp>
        </mc:Choice>
        <mc:Fallback>
          <p:sp>
            <p:nvSpPr>
              <p:cNvPr id="3" name="TextBox 2">
                <a:extLst>
                  <a:ext uri="{FF2B5EF4-FFF2-40B4-BE49-F238E27FC236}">
                    <a16:creationId xmlns:a16="http://schemas.microsoft.com/office/drawing/2014/main" id="{F7327F6F-B662-6987-1D12-E722726C1699}"/>
                  </a:ext>
                </a:extLst>
              </p:cNvPr>
              <p:cNvSpPr txBox="1">
                <a:spLocks noRot="1" noChangeAspect="1" noMove="1" noResize="1" noEditPoints="1" noAdjustHandles="1" noChangeArrowheads="1" noChangeShapeType="1" noTextEdit="1"/>
              </p:cNvSpPr>
              <p:nvPr/>
            </p:nvSpPr>
            <p:spPr>
              <a:xfrm>
                <a:off x="6295707" y="146542"/>
                <a:ext cx="949351" cy="369332"/>
              </a:xfrm>
              <a:prstGeom prst="rect">
                <a:avLst/>
              </a:prstGeom>
              <a:blipFill>
                <a:blip r:embed="rId4"/>
                <a:stretch>
                  <a:fillRect b="-98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FDD0A10B-1133-5D13-6B35-2DAE6197D9FC}"/>
                  </a:ext>
                </a:extLst>
              </p:cNvPr>
              <p:cNvSpPr txBox="1"/>
              <p:nvPr/>
            </p:nvSpPr>
            <p:spPr>
              <a:xfrm>
                <a:off x="1726201" y="578675"/>
                <a:ext cx="66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𝑏</m:t>
                      </m:r>
                      <m:r>
                        <a:rPr lang="en-IN" sz="1800" i="1" smtClean="0">
                          <a:latin typeface="Cambria Math" panose="02040503050406030204" pitchFamily="18" charset="0"/>
                        </a:rPr>
                        <m:t>,</m:t>
                      </m:r>
                      <m:r>
                        <a:rPr lang="en-IN" sz="1800" i="1" smtClean="0">
                          <a:latin typeface="Cambria Math" panose="02040503050406030204" pitchFamily="18" charset="0"/>
                        </a:rPr>
                        <m:t>𝑤</m:t>
                      </m:r>
                    </m:oMath>
                  </m:oMathPara>
                </a14:m>
                <a:endParaRPr lang="en-IN"/>
              </a:p>
            </p:txBody>
          </p:sp>
        </mc:Choice>
        <mc:Fallback>
          <p:sp>
            <p:nvSpPr>
              <p:cNvPr id="10" name="TextBox 9">
                <a:extLst>
                  <a:ext uri="{FF2B5EF4-FFF2-40B4-BE49-F238E27FC236}">
                    <a16:creationId xmlns:a16="http://schemas.microsoft.com/office/drawing/2014/main" id="{FDD0A10B-1133-5D13-6B35-2DAE6197D9FC}"/>
                  </a:ext>
                </a:extLst>
              </p:cNvPr>
              <p:cNvSpPr txBox="1">
                <a:spLocks noRot="1" noChangeAspect="1" noMove="1" noResize="1" noEditPoints="1" noAdjustHandles="1" noChangeArrowheads="1" noChangeShapeType="1" noTextEdit="1"/>
              </p:cNvSpPr>
              <p:nvPr/>
            </p:nvSpPr>
            <p:spPr>
              <a:xfrm>
                <a:off x="1726201" y="578675"/>
                <a:ext cx="66190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779F2D87-1574-382B-2B6A-DCE7C2E5A34B}"/>
                  </a:ext>
                </a:extLst>
              </p:cNvPr>
              <p:cNvSpPr txBox="1"/>
              <p:nvPr/>
            </p:nvSpPr>
            <p:spPr>
              <a:xfrm>
                <a:off x="7975438" y="578675"/>
                <a:ext cx="66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𝑏</m:t>
                      </m:r>
                      <m:r>
                        <a:rPr lang="en-IN" sz="1800" i="1" smtClean="0">
                          <a:latin typeface="Cambria Math" panose="02040503050406030204" pitchFamily="18" charset="0"/>
                        </a:rPr>
                        <m:t>,</m:t>
                      </m:r>
                      <m:r>
                        <a:rPr lang="en-IN" sz="1800" i="1" smtClean="0">
                          <a:latin typeface="Cambria Math" panose="02040503050406030204" pitchFamily="18" charset="0"/>
                        </a:rPr>
                        <m:t>𝑤</m:t>
                      </m:r>
                    </m:oMath>
                  </m:oMathPara>
                </a14:m>
                <a:endParaRPr lang="en-IN"/>
              </a:p>
            </p:txBody>
          </p:sp>
        </mc:Choice>
        <mc:Fallback>
          <p:sp>
            <p:nvSpPr>
              <p:cNvPr id="11" name="TextBox 10">
                <a:extLst>
                  <a:ext uri="{FF2B5EF4-FFF2-40B4-BE49-F238E27FC236}">
                    <a16:creationId xmlns:a16="http://schemas.microsoft.com/office/drawing/2014/main" id="{779F2D87-1574-382B-2B6A-DCE7C2E5A34B}"/>
                  </a:ext>
                </a:extLst>
              </p:cNvPr>
              <p:cNvSpPr txBox="1">
                <a:spLocks noRot="1" noChangeAspect="1" noMove="1" noResize="1" noEditPoints="1" noAdjustHandles="1" noChangeArrowheads="1" noChangeShapeType="1" noTextEdit="1"/>
              </p:cNvSpPr>
              <p:nvPr/>
            </p:nvSpPr>
            <p:spPr>
              <a:xfrm>
                <a:off x="7975438" y="578675"/>
                <a:ext cx="661906" cy="369332"/>
              </a:xfrm>
              <a:prstGeom prst="rect">
                <a:avLst/>
              </a:prstGeom>
              <a:blipFill>
                <a:blip r:embed="rId5"/>
                <a:stretch>
                  <a:fillRect/>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BAF91BF9-A9A0-A12F-9F69-C9D401F578E8}"/>
              </a:ext>
            </a:extLst>
          </p:cNvPr>
          <p:cNvPicPr>
            <a:picLocks noChangeAspect="1"/>
          </p:cNvPicPr>
          <p:nvPr/>
        </p:nvPicPr>
        <p:blipFill>
          <a:blip r:embed="rId6"/>
          <a:stretch>
            <a:fillRect/>
          </a:stretch>
        </p:blipFill>
        <p:spPr>
          <a:xfrm>
            <a:off x="4567362" y="2324100"/>
            <a:ext cx="304800" cy="247650"/>
          </a:xfrm>
          <a:prstGeom prst="rect">
            <a:avLst/>
          </a:prstGeom>
        </p:spPr>
      </p:pic>
      <p:pic>
        <p:nvPicPr>
          <p:cNvPr id="14" name="Picture 13">
            <a:extLst>
              <a:ext uri="{FF2B5EF4-FFF2-40B4-BE49-F238E27FC236}">
                <a16:creationId xmlns:a16="http://schemas.microsoft.com/office/drawing/2014/main" id="{2787DB2C-D0C0-728C-6C08-910844ABF8F0}"/>
              </a:ext>
            </a:extLst>
          </p:cNvPr>
          <p:cNvPicPr>
            <a:picLocks noChangeAspect="1"/>
          </p:cNvPicPr>
          <p:nvPr/>
        </p:nvPicPr>
        <p:blipFill>
          <a:blip r:embed="rId7"/>
          <a:stretch>
            <a:fillRect/>
          </a:stretch>
        </p:blipFill>
        <p:spPr>
          <a:xfrm>
            <a:off x="6637032" y="4015998"/>
            <a:ext cx="266700" cy="304800"/>
          </a:xfrm>
          <a:prstGeom prst="rect">
            <a:avLst/>
          </a:prstGeom>
        </p:spPr>
      </p:pic>
      <p:sp>
        <p:nvSpPr>
          <p:cNvPr id="15" name="Rectangle 14">
            <a:extLst>
              <a:ext uri="{FF2B5EF4-FFF2-40B4-BE49-F238E27FC236}">
                <a16:creationId xmlns:a16="http://schemas.microsoft.com/office/drawing/2014/main" id="{B8CABC3D-7CE3-00A5-7AB9-34605C7CB0B5}"/>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442891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564A8-393C-9330-4D2E-368A4AE96F72}"/>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6891449D-7F69-9F79-F574-633BE3B0D94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526644"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5F3D1DAC-9F32-2727-6332-1F0F7F4FD4A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28600"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C108780-C997-F7FE-F0EA-A00AF462A6CE}"/>
              </a:ext>
            </a:extLst>
          </p:cNvPr>
          <p:cNvSpPr txBox="1"/>
          <p:nvPr/>
        </p:nvSpPr>
        <p:spPr>
          <a:xfrm>
            <a:off x="838200" y="578675"/>
            <a:ext cx="3729162" cy="369332"/>
          </a:xfrm>
          <a:prstGeom prst="rect">
            <a:avLst/>
          </a:prstGeom>
          <a:noFill/>
        </p:spPr>
        <p:txBody>
          <a:bodyPr wrap="none" rtlCol="0">
            <a:spAutoFit/>
          </a:bodyPr>
          <a:lstStyle/>
          <a:p>
            <a:r>
              <a:rPr lang="en-US"/>
              <a:t>(for fixed           , this is a function of x)</a:t>
            </a:r>
          </a:p>
        </p:txBody>
      </p:sp>
      <p:sp>
        <p:nvSpPr>
          <p:cNvPr id="8" name="TextBox 7">
            <a:extLst>
              <a:ext uri="{FF2B5EF4-FFF2-40B4-BE49-F238E27FC236}">
                <a16:creationId xmlns:a16="http://schemas.microsoft.com/office/drawing/2014/main" id="{B513946D-539C-91A5-2B67-08372DA69352}"/>
              </a:ext>
            </a:extLst>
          </p:cNvPr>
          <p:cNvSpPr txBox="1"/>
          <p:nvPr/>
        </p:nvSpPr>
        <p:spPr>
          <a:xfrm>
            <a:off x="5328312" y="578675"/>
            <a:ext cx="3484031" cy="369332"/>
          </a:xfrm>
          <a:prstGeom prst="rect">
            <a:avLst/>
          </a:prstGeom>
          <a:noFill/>
        </p:spPr>
        <p:txBody>
          <a:bodyPr wrap="none" rtlCol="0">
            <a:spAutoFit/>
          </a:bodyPr>
          <a:lstStyle/>
          <a:p>
            <a:r>
              <a:rPr lang="en-US"/>
              <a:t>(function of the parameters            )</a:t>
            </a:r>
          </a:p>
        </p:txBody>
      </p:sp>
      <p:sp>
        <p:nvSpPr>
          <p:cNvPr id="2" name="TextBox 1">
            <a:extLst>
              <a:ext uri="{FF2B5EF4-FFF2-40B4-BE49-F238E27FC236}">
                <a16:creationId xmlns:a16="http://schemas.microsoft.com/office/drawing/2014/main" id="{6338395F-9BB9-9368-33EB-3424F770F07B}"/>
              </a:ext>
            </a:extLst>
          </p:cNvPr>
          <p:cNvSpPr txBox="1"/>
          <p:nvPr/>
        </p:nvSpPr>
        <p:spPr>
          <a:xfrm>
            <a:off x="1936396" y="146542"/>
            <a:ext cx="973164" cy="369332"/>
          </a:xfrm>
          <a:prstGeom prst="rect">
            <a:avLst/>
          </a:prstGeom>
          <a:noFill/>
        </p:spPr>
        <p:txBody>
          <a:bodyPr wrap="square">
            <a:spAutoFit/>
          </a:bodyPr>
          <a:lstStyle/>
          <a:p>
            <a:r>
              <a:rPr lang="en-IN" sz="1800" err="1">
                <a:latin typeface="Cambria Math" panose="02040503050406030204" pitchFamily="18" charset="0"/>
                <a:ea typeface="Cambria Math" panose="02040503050406030204" pitchFamily="18" charset="0"/>
                <a:cs typeface="Courier New" panose="02070309020205020404" pitchFamily="49" charset="0"/>
              </a:rPr>
              <a:t>h</a:t>
            </a:r>
            <a:r>
              <a:rPr lang="en-IN" sz="1800" baseline="-25000" err="1">
                <a:latin typeface="Cambria Math" panose="02040503050406030204" pitchFamily="18" charset="0"/>
                <a:ea typeface="Cambria Math" panose="02040503050406030204" pitchFamily="18" charset="0"/>
                <a:cs typeface="Courier New" panose="02070309020205020404" pitchFamily="49" charset="0"/>
              </a:rPr>
              <a:t>b,w</a:t>
            </a:r>
            <a:r>
              <a:rPr lang="en-IN" sz="1800">
                <a:latin typeface="Cambria Math" panose="02040503050406030204" pitchFamily="18" charset="0"/>
                <a:ea typeface="Cambria Math" panose="02040503050406030204" pitchFamily="18" charset="0"/>
                <a:cs typeface="Courier New" panose="02070309020205020404" pitchFamily="49" charset="0"/>
              </a:rPr>
              <a:t>(x)</a:t>
            </a:r>
            <a:endParaRPr lang="en-IN"/>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0EB92CA0-BD25-9667-56A5-BDAD6F9A6D56}"/>
                  </a:ext>
                </a:extLst>
              </p:cNvPr>
              <p:cNvSpPr txBox="1"/>
              <p:nvPr/>
            </p:nvSpPr>
            <p:spPr>
              <a:xfrm>
                <a:off x="6295707" y="146542"/>
                <a:ext cx="94935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𝐽</m:t>
                      </m:r>
                      <m:d>
                        <m:dPr>
                          <m:ctrlPr>
                            <a:rPr lang="en-IN" sz="1800" i="1">
                              <a:latin typeface="Cambria Math" panose="02040503050406030204" pitchFamily="18" charset="0"/>
                            </a:rPr>
                          </m:ctrlPr>
                        </m:dPr>
                        <m:e>
                          <m:r>
                            <a:rPr lang="en-IN" sz="1800" i="1">
                              <a:latin typeface="Cambria Math" panose="02040503050406030204" pitchFamily="18" charset="0"/>
                            </a:rPr>
                            <m:t>𝑏</m:t>
                          </m:r>
                          <m:r>
                            <a:rPr lang="en-IN" sz="1800" i="1">
                              <a:latin typeface="Cambria Math" panose="02040503050406030204" pitchFamily="18" charset="0"/>
                            </a:rPr>
                            <m:t>,</m:t>
                          </m:r>
                          <m:r>
                            <a:rPr lang="en-IN" sz="1800" i="1">
                              <a:latin typeface="Cambria Math" panose="02040503050406030204" pitchFamily="18" charset="0"/>
                            </a:rPr>
                            <m:t>𝑤</m:t>
                          </m:r>
                        </m:e>
                      </m:d>
                    </m:oMath>
                  </m:oMathPara>
                </a14:m>
                <a:endParaRPr lang="en-IN"/>
              </a:p>
            </p:txBody>
          </p:sp>
        </mc:Choice>
        <mc:Fallback>
          <p:sp>
            <p:nvSpPr>
              <p:cNvPr id="3" name="TextBox 2">
                <a:extLst>
                  <a:ext uri="{FF2B5EF4-FFF2-40B4-BE49-F238E27FC236}">
                    <a16:creationId xmlns:a16="http://schemas.microsoft.com/office/drawing/2014/main" id="{0EB92CA0-BD25-9667-56A5-BDAD6F9A6D56}"/>
                  </a:ext>
                </a:extLst>
              </p:cNvPr>
              <p:cNvSpPr txBox="1">
                <a:spLocks noRot="1" noChangeAspect="1" noMove="1" noResize="1" noEditPoints="1" noAdjustHandles="1" noChangeArrowheads="1" noChangeShapeType="1" noTextEdit="1"/>
              </p:cNvSpPr>
              <p:nvPr/>
            </p:nvSpPr>
            <p:spPr>
              <a:xfrm>
                <a:off x="6295707" y="146542"/>
                <a:ext cx="949351" cy="369332"/>
              </a:xfrm>
              <a:prstGeom prst="rect">
                <a:avLst/>
              </a:prstGeom>
              <a:blipFill>
                <a:blip r:embed="rId4"/>
                <a:stretch>
                  <a:fillRect b="-98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428A8E95-1E34-074B-AFCA-A5A3AEA90316}"/>
                  </a:ext>
                </a:extLst>
              </p:cNvPr>
              <p:cNvSpPr txBox="1"/>
              <p:nvPr/>
            </p:nvSpPr>
            <p:spPr>
              <a:xfrm>
                <a:off x="1726201" y="578675"/>
                <a:ext cx="66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𝑏</m:t>
                      </m:r>
                      <m:r>
                        <a:rPr lang="en-IN" sz="1800" i="1" smtClean="0">
                          <a:latin typeface="Cambria Math" panose="02040503050406030204" pitchFamily="18" charset="0"/>
                        </a:rPr>
                        <m:t>,</m:t>
                      </m:r>
                      <m:r>
                        <a:rPr lang="en-IN" sz="1800" i="1" smtClean="0">
                          <a:latin typeface="Cambria Math" panose="02040503050406030204" pitchFamily="18" charset="0"/>
                        </a:rPr>
                        <m:t>𝑤</m:t>
                      </m:r>
                    </m:oMath>
                  </m:oMathPara>
                </a14:m>
                <a:endParaRPr lang="en-IN"/>
              </a:p>
            </p:txBody>
          </p:sp>
        </mc:Choice>
        <mc:Fallback>
          <p:sp>
            <p:nvSpPr>
              <p:cNvPr id="10" name="TextBox 9">
                <a:extLst>
                  <a:ext uri="{FF2B5EF4-FFF2-40B4-BE49-F238E27FC236}">
                    <a16:creationId xmlns:a16="http://schemas.microsoft.com/office/drawing/2014/main" id="{428A8E95-1E34-074B-AFCA-A5A3AEA90316}"/>
                  </a:ext>
                </a:extLst>
              </p:cNvPr>
              <p:cNvSpPr txBox="1">
                <a:spLocks noRot="1" noChangeAspect="1" noMove="1" noResize="1" noEditPoints="1" noAdjustHandles="1" noChangeArrowheads="1" noChangeShapeType="1" noTextEdit="1"/>
              </p:cNvSpPr>
              <p:nvPr/>
            </p:nvSpPr>
            <p:spPr>
              <a:xfrm>
                <a:off x="1726201" y="578675"/>
                <a:ext cx="66190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65FA60D-5749-9A77-4D38-A47AB77FC3EA}"/>
                  </a:ext>
                </a:extLst>
              </p:cNvPr>
              <p:cNvSpPr txBox="1"/>
              <p:nvPr/>
            </p:nvSpPr>
            <p:spPr>
              <a:xfrm>
                <a:off x="7975438" y="578675"/>
                <a:ext cx="66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𝑏</m:t>
                      </m:r>
                      <m:r>
                        <a:rPr lang="en-IN" sz="1800" i="1" smtClean="0">
                          <a:latin typeface="Cambria Math" panose="02040503050406030204" pitchFamily="18" charset="0"/>
                        </a:rPr>
                        <m:t>,</m:t>
                      </m:r>
                      <m:r>
                        <a:rPr lang="en-IN" sz="1800" i="1" smtClean="0">
                          <a:latin typeface="Cambria Math" panose="02040503050406030204" pitchFamily="18" charset="0"/>
                        </a:rPr>
                        <m:t>𝑤</m:t>
                      </m:r>
                    </m:oMath>
                  </m:oMathPara>
                </a14:m>
                <a:endParaRPr lang="en-IN"/>
              </a:p>
            </p:txBody>
          </p:sp>
        </mc:Choice>
        <mc:Fallback>
          <p:sp>
            <p:nvSpPr>
              <p:cNvPr id="11" name="TextBox 10">
                <a:extLst>
                  <a:ext uri="{FF2B5EF4-FFF2-40B4-BE49-F238E27FC236}">
                    <a16:creationId xmlns:a16="http://schemas.microsoft.com/office/drawing/2014/main" id="{E65FA60D-5749-9A77-4D38-A47AB77FC3EA}"/>
                  </a:ext>
                </a:extLst>
              </p:cNvPr>
              <p:cNvSpPr txBox="1">
                <a:spLocks noRot="1" noChangeAspect="1" noMove="1" noResize="1" noEditPoints="1" noAdjustHandles="1" noChangeArrowheads="1" noChangeShapeType="1" noTextEdit="1"/>
              </p:cNvSpPr>
              <p:nvPr/>
            </p:nvSpPr>
            <p:spPr>
              <a:xfrm>
                <a:off x="7975438" y="578675"/>
                <a:ext cx="661906" cy="369332"/>
              </a:xfrm>
              <a:prstGeom prst="rect">
                <a:avLst/>
              </a:prstGeom>
              <a:blipFill>
                <a:blip r:embed="rId5"/>
                <a:stretch>
                  <a:fillRect/>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6025B1F6-9C59-9F35-FB0F-6764268D96DC}"/>
              </a:ext>
            </a:extLst>
          </p:cNvPr>
          <p:cNvPicPr>
            <a:picLocks noChangeAspect="1"/>
          </p:cNvPicPr>
          <p:nvPr/>
        </p:nvPicPr>
        <p:blipFill>
          <a:blip r:embed="rId6"/>
          <a:stretch>
            <a:fillRect/>
          </a:stretch>
        </p:blipFill>
        <p:spPr>
          <a:xfrm>
            <a:off x="4545253" y="2324100"/>
            <a:ext cx="304800" cy="247650"/>
          </a:xfrm>
          <a:prstGeom prst="rect">
            <a:avLst/>
          </a:prstGeom>
        </p:spPr>
      </p:pic>
      <p:pic>
        <p:nvPicPr>
          <p:cNvPr id="14" name="Picture 13">
            <a:extLst>
              <a:ext uri="{FF2B5EF4-FFF2-40B4-BE49-F238E27FC236}">
                <a16:creationId xmlns:a16="http://schemas.microsoft.com/office/drawing/2014/main" id="{1C36B952-F283-BD25-2211-E50F6F65567D}"/>
              </a:ext>
            </a:extLst>
          </p:cNvPr>
          <p:cNvPicPr>
            <a:picLocks noChangeAspect="1"/>
          </p:cNvPicPr>
          <p:nvPr/>
        </p:nvPicPr>
        <p:blipFill>
          <a:blip r:embed="rId7"/>
          <a:stretch>
            <a:fillRect/>
          </a:stretch>
        </p:blipFill>
        <p:spPr>
          <a:xfrm>
            <a:off x="6637032" y="4015998"/>
            <a:ext cx="266700" cy="304800"/>
          </a:xfrm>
          <a:prstGeom prst="rect">
            <a:avLst/>
          </a:prstGeom>
        </p:spPr>
      </p:pic>
      <p:sp>
        <p:nvSpPr>
          <p:cNvPr id="15" name="Rectangle 14">
            <a:extLst>
              <a:ext uri="{FF2B5EF4-FFF2-40B4-BE49-F238E27FC236}">
                <a16:creationId xmlns:a16="http://schemas.microsoft.com/office/drawing/2014/main" id="{F93DCF56-109E-5DDD-0EAA-646783122AC4}"/>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87479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0D017-A656-FB21-21AC-DE56AB178D18}"/>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83D93D7C-0C66-0BA4-CC64-C7CF280E02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526644"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657BCF06-BD57-603E-1B12-41982C8F671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28600"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B0D2E73-06C0-52FC-6E91-26AB7C960843}"/>
              </a:ext>
            </a:extLst>
          </p:cNvPr>
          <p:cNvSpPr txBox="1"/>
          <p:nvPr/>
        </p:nvSpPr>
        <p:spPr>
          <a:xfrm>
            <a:off x="838200" y="578675"/>
            <a:ext cx="3729162" cy="369332"/>
          </a:xfrm>
          <a:prstGeom prst="rect">
            <a:avLst/>
          </a:prstGeom>
          <a:noFill/>
        </p:spPr>
        <p:txBody>
          <a:bodyPr wrap="none" rtlCol="0">
            <a:spAutoFit/>
          </a:bodyPr>
          <a:lstStyle/>
          <a:p>
            <a:r>
              <a:rPr lang="en-US"/>
              <a:t>(for fixed           , this is a function of x)</a:t>
            </a:r>
          </a:p>
        </p:txBody>
      </p:sp>
      <p:sp>
        <p:nvSpPr>
          <p:cNvPr id="8" name="TextBox 7">
            <a:extLst>
              <a:ext uri="{FF2B5EF4-FFF2-40B4-BE49-F238E27FC236}">
                <a16:creationId xmlns:a16="http://schemas.microsoft.com/office/drawing/2014/main" id="{CF8F04F9-16BB-F9B1-A743-A51031577DAB}"/>
              </a:ext>
            </a:extLst>
          </p:cNvPr>
          <p:cNvSpPr txBox="1"/>
          <p:nvPr/>
        </p:nvSpPr>
        <p:spPr>
          <a:xfrm>
            <a:off x="5328312" y="578675"/>
            <a:ext cx="3484031" cy="369332"/>
          </a:xfrm>
          <a:prstGeom prst="rect">
            <a:avLst/>
          </a:prstGeom>
          <a:noFill/>
        </p:spPr>
        <p:txBody>
          <a:bodyPr wrap="none" rtlCol="0">
            <a:spAutoFit/>
          </a:bodyPr>
          <a:lstStyle/>
          <a:p>
            <a:r>
              <a:rPr lang="en-US"/>
              <a:t>(function of the parameters            )</a:t>
            </a:r>
          </a:p>
        </p:txBody>
      </p:sp>
      <p:sp>
        <p:nvSpPr>
          <p:cNvPr id="2" name="TextBox 1">
            <a:extLst>
              <a:ext uri="{FF2B5EF4-FFF2-40B4-BE49-F238E27FC236}">
                <a16:creationId xmlns:a16="http://schemas.microsoft.com/office/drawing/2014/main" id="{8869484B-94D7-BEA5-DE89-782237132EDB}"/>
              </a:ext>
            </a:extLst>
          </p:cNvPr>
          <p:cNvSpPr txBox="1"/>
          <p:nvPr/>
        </p:nvSpPr>
        <p:spPr>
          <a:xfrm>
            <a:off x="1936396" y="146542"/>
            <a:ext cx="973164" cy="369332"/>
          </a:xfrm>
          <a:prstGeom prst="rect">
            <a:avLst/>
          </a:prstGeom>
          <a:noFill/>
        </p:spPr>
        <p:txBody>
          <a:bodyPr wrap="square">
            <a:spAutoFit/>
          </a:bodyPr>
          <a:lstStyle/>
          <a:p>
            <a:r>
              <a:rPr lang="en-IN" sz="1800" err="1">
                <a:latin typeface="Cambria Math" panose="02040503050406030204" pitchFamily="18" charset="0"/>
                <a:ea typeface="Cambria Math" panose="02040503050406030204" pitchFamily="18" charset="0"/>
                <a:cs typeface="Courier New" panose="02070309020205020404" pitchFamily="49" charset="0"/>
              </a:rPr>
              <a:t>h</a:t>
            </a:r>
            <a:r>
              <a:rPr lang="en-IN" sz="1800" baseline="-25000" err="1">
                <a:latin typeface="Cambria Math" panose="02040503050406030204" pitchFamily="18" charset="0"/>
                <a:ea typeface="Cambria Math" panose="02040503050406030204" pitchFamily="18" charset="0"/>
                <a:cs typeface="Courier New" panose="02070309020205020404" pitchFamily="49" charset="0"/>
              </a:rPr>
              <a:t>b,w</a:t>
            </a:r>
            <a:r>
              <a:rPr lang="en-IN" sz="1800">
                <a:latin typeface="Cambria Math" panose="02040503050406030204" pitchFamily="18" charset="0"/>
                <a:ea typeface="Cambria Math" panose="02040503050406030204" pitchFamily="18" charset="0"/>
                <a:cs typeface="Courier New" panose="02070309020205020404" pitchFamily="49" charset="0"/>
              </a:rPr>
              <a:t>(x)</a:t>
            </a:r>
            <a:endParaRPr lang="en-IN"/>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A245CEF6-108C-522A-42D0-1ED3086BC861}"/>
                  </a:ext>
                </a:extLst>
              </p:cNvPr>
              <p:cNvSpPr txBox="1"/>
              <p:nvPr/>
            </p:nvSpPr>
            <p:spPr>
              <a:xfrm>
                <a:off x="6295707" y="146542"/>
                <a:ext cx="94935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𝐽</m:t>
                      </m:r>
                      <m:d>
                        <m:dPr>
                          <m:ctrlPr>
                            <a:rPr lang="en-IN" sz="1800" i="1">
                              <a:latin typeface="Cambria Math" panose="02040503050406030204" pitchFamily="18" charset="0"/>
                            </a:rPr>
                          </m:ctrlPr>
                        </m:dPr>
                        <m:e>
                          <m:r>
                            <a:rPr lang="en-IN" sz="1800" i="1">
                              <a:latin typeface="Cambria Math" panose="02040503050406030204" pitchFamily="18" charset="0"/>
                            </a:rPr>
                            <m:t>𝑏</m:t>
                          </m:r>
                          <m:r>
                            <a:rPr lang="en-IN" sz="1800" i="1">
                              <a:latin typeface="Cambria Math" panose="02040503050406030204" pitchFamily="18" charset="0"/>
                            </a:rPr>
                            <m:t>,</m:t>
                          </m:r>
                          <m:r>
                            <a:rPr lang="en-IN" sz="1800" i="1">
                              <a:latin typeface="Cambria Math" panose="02040503050406030204" pitchFamily="18" charset="0"/>
                            </a:rPr>
                            <m:t>𝑤</m:t>
                          </m:r>
                        </m:e>
                      </m:d>
                    </m:oMath>
                  </m:oMathPara>
                </a14:m>
                <a:endParaRPr lang="en-IN"/>
              </a:p>
            </p:txBody>
          </p:sp>
        </mc:Choice>
        <mc:Fallback>
          <p:sp>
            <p:nvSpPr>
              <p:cNvPr id="3" name="TextBox 2">
                <a:extLst>
                  <a:ext uri="{FF2B5EF4-FFF2-40B4-BE49-F238E27FC236}">
                    <a16:creationId xmlns:a16="http://schemas.microsoft.com/office/drawing/2014/main" id="{A245CEF6-108C-522A-42D0-1ED3086BC861}"/>
                  </a:ext>
                </a:extLst>
              </p:cNvPr>
              <p:cNvSpPr txBox="1">
                <a:spLocks noRot="1" noChangeAspect="1" noMove="1" noResize="1" noEditPoints="1" noAdjustHandles="1" noChangeArrowheads="1" noChangeShapeType="1" noTextEdit="1"/>
              </p:cNvSpPr>
              <p:nvPr/>
            </p:nvSpPr>
            <p:spPr>
              <a:xfrm>
                <a:off x="6295707" y="146542"/>
                <a:ext cx="949351" cy="369332"/>
              </a:xfrm>
              <a:prstGeom prst="rect">
                <a:avLst/>
              </a:prstGeom>
              <a:blipFill>
                <a:blip r:embed="rId4"/>
                <a:stretch>
                  <a:fillRect b="-98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89723372-DD6C-A62C-1FEC-D5F888CFF633}"/>
                  </a:ext>
                </a:extLst>
              </p:cNvPr>
              <p:cNvSpPr txBox="1"/>
              <p:nvPr/>
            </p:nvSpPr>
            <p:spPr>
              <a:xfrm>
                <a:off x="1726201" y="578675"/>
                <a:ext cx="66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𝑏</m:t>
                      </m:r>
                      <m:r>
                        <a:rPr lang="en-IN" sz="1800" i="1" smtClean="0">
                          <a:latin typeface="Cambria Math" panose="02040503050406030204" pitchFamily="18" charset="0"/>
                        </a:rPr>
                        <m:t>,</m:t>
                      </m:r>
                      <m:r>
                        <a:rPr lang="en-IN" sz="1800" i="1" smtClean="0">
                          <a:latin typeface="Cambria Math" panose="02040503050406030204" pitchFamily="18" charset="0"/>
                        </a:rPr>
                        <m:t>𝑤</m:t>
                      </m:r>
                    </m:oMath>
                  </m:oMathPara>
                </a14:m>
                <a:endParaRPr lang="en-IN"/>
              </a:p>
            </p:txBody>
          </p:sp>
        </mc:Choice>
        <mc:Fallback>
          <p:sp>
            <p:nvSpPr>
              <p:cNvPr id="10" name="TextBox 9">
                <a:extLst>
                  <a:ext uri="{FF2B5EF4-FFF2-40B4-BE49-F238E27FC236}">
                    <a16:creationId xmlns:a16="http://schemas.microsoft.com/office/drawing/2014/main" id="{89723372-DD6C-A62C-1FEC-D5F888CFF633}"/>
                  </a:ext>
                </a:extLst>
              </p:cNvPr>
              <p:cNvSpPr txBox="1">
                <a:spLocks noRot="1" noChangeAspect="1" noMove="1" noResize="1" noEditPoints="1" noAdjustHandles="1" noChangeArrowheads="1" noChangeShapeType="1" noTextEdit="1"/>
              </p:cNvSpPr>
              <p:nvPr/>
            </p:nvSpPr>
            <p:spPr>
              <a:xfrm>
                <a:off x="1726201" y="578675"/>
                <a:ext cx="66190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B653D255-04ED-AE36-362A-BB44465AC07F}"/>
                  </a:ext>
                </a:extLst>
              </p:cNvPr>
              <p:cNvSpPr txBox="1"/>
              <p:nvPr/>
            </p:nvSpPr>
            <p:spPr>
              <a:xfrm>
                <a:off x="7975438" y="578675"/>
                <a:ext cx="66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𝑏</m:t>
                      </m:r>
                      <m:r>
                        <a:rPr lang="en-IN" sz="1800" i="1" smtClean="0">
                          <a:latin typeface="Cambria Math" panose="02040503050406030204" pitchFamily="18" charset="0"/>
                        </a:rPr>
                        <m:t>,</m:t>
                      </m:r>
                      <m:r>
                        <a:rPr lang="en-IN" sz="1800" i="1" smtClean="0">
                          <a:latin typeface="Cambria Math" panose="02040503050406030204" pitchFamily="18" charset="0"/>
                        </a:rPr>
                        <m:t>𝑤</m:t>
                      </m:r>
                    </m:oMath>
                  </m:oMathPara>
                </a14:m>
                <a:endParaRPr lang="en-IN"/>
              </a:p>
            </p:txBody>
          </p:sp>
        </mc:Choice>
        <mc:Fallback>
          <p:sp>
            <p:nvSpPr>
              <p:cNvPr id="11" name="TextBox 10">
                <a:extLst>
                  <a:ext uri="{FF2B5EF4-FFF2-40B4-BE49-F238E27FC236}">
                    <a16:creationId xmlns:a16="http://schemas.microsoft.com/office/drawing/2014/main" id="{B653D255-04ED-AE36-362A-BB44465AC07F}"/>
                  </a:ext>
                </a:extLst>
              </p:cNvPr>
              <p:cNvSpPr txBox="1">
                <a:spLocks noRot="1" noChangeAspect="1" noMove="1" noResize="1" noEditPoints="1" noAdjustHandles="1" noChangeArrowheads="1" noChangeShapeType="1" noTextEdit="1"/>
              </p:cNvSpPr>
              <p:nvPr/>
            </p:nvSpPr>
            <p:spPr>
              <a:xfrm>
                <a:off x="7975438" y="578675"/>
                <a:ext cx="661906" cy="369332"/>
              </a:xfrm>
              <a:prstGeom prst="rect">
                <a:avLst/>
              </a:prstGeom>
              <a:blipFill>
                <a:blip r:embed="rId5"/>
                <a:stretch>
                  <a:fillRect/>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602C3329-6AC6-1D84-7C46-33759044C8D4}"/>
              </a:ext>
            </a:extLst>
          </p:cNvPr>
          <p:cNvPicPr>
            <a:picLocks noChangeAspect="1"/>
          </p:cNvPicPr>
          <p:nvPr/>
        </p:nvPicPr>
        <p:blipFill>
          <a:blip r:embed="rId6"/>
          <a:stretch>
            <a:fillRect/>
          </a:stretch>
        </p:blipFill>
        <p:spPr>
          <a:xfrm>
            <a:off x="4547226" y="2351545"/>
            <a:ext cx="304800" cy="247650"/>
          </a:xfrm>
          <a:prstGeom prst="rect">
            <a:avLst/>
          </a:prstGeom>
        </p:spPr>
      </p:pic>
      <p:pic>
        <p:nvPicPr>
          <p:cNvPr id="14" name="Picture 13">
            <a:extLst>
              <a:ext uri="{FF2B5EF4-FFF2-40B4-BE49-F238E27FC236}">
                <a16:creationId xmlns:a16="http://schemas.microsoft.com/office/drawing/2014/main" id="{A9ED8C03-F77D-E29E-29A0-0B5B390234D8}"/>
              </a:ext>
            </a:extLst>
          </p:cNvPr>
          <p:cNvPicPr>
            <a:picLocks noChangeAspect="1"/>
          </p:cNvPicPr>
          <p:nvPr/>
        </p:nvPicPr>
        <p:blipFill>
          <a:blip r:embed="rId7"/>
          <a:stretch>
            <a:fillRect/>
          </a:stretch>
        </p:blipFill>
        <p:spPr>
          <a:xfrm>
            <a:off x="6637032" y="4015998"/>
            <a:ext cx="266700" cy="304800"/>
          </a:xfrm>
          <a:prstGeom prst="rect">
            <a:avLst/>
          </a:prstGeom>
        </p:spPr>
      </p:pic>
      <p:sp>
        <p:nvSpPr>
          <p:cNvPr id="15" name="Rectangle 14">
            <a:extLst>
              <a:ext uri="{FF2B5EF4-FFF2-40B4-BE49-F238E27FC236}">
                <a16:creationId xmlns:a16="http://schemas.microsoft.com/office/drawing/2014/main" id="{5F721304-D5BE-2BB3-31DB-C6B6896CF2FC}"/>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194115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BC81C-4A1C-54F5-A14D-C7B6D62D7ECA}"/>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30BE1F0B-2438-54EA-42A2-BD82D505154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526644"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5D07F014-F2E7-A8FF-E30D-E03665F10AB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28600"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F82CF96-0A4F-6B64-9CE3-F71099901381}"/>
              </a:ext>
            </a:extLst>
          </p:cNvPr>
          <p:cNvSpPr txBox="1"/>
          <p:nvPr/>
        </p:nvSpPr>
        <p:spPr>
          <a:xfrm>
            <a:off x="838200" y="578675"/>
            <a:ext cx="3729162" cy="369332"/>
          </a:xfrm>
          <a:prstGeom prst="rect">
            <a:avLst/>
          </a:prstGeom>
          <a:noFill/>
        </p:spPr>
        <p:txBody>
          <a:bodyPr wrap="none" rtlCol="0">
            <a:spAutoFit/>
          </a:bodyPr>
          <a:lstStyle/>
          <a:p>
            <a:r>
              <a:rPr lang="en-US"/>
              <a:t>(for fixed           , this is a function of x)</a:t>
            </a:r>
          </a:p>
        </p:txBody>
      </p:sp>
      <p:sp>
        <p:nvSpPr>
          <p:cNvPr id="8" name="TextBox 7">
            <a:extLst>
              <a:ext uri="{FF2B5EF4-FFF2-40B4-BE49-F238E27FC236}">
                <a16:creationId xmlns:a16="http://schemas.microsoft.com/office/drawing/2014/main" id="{0FD5388D-6D9B-32BD-27CF-563220329B29}"/>
              </a:ext>
            </a:extLst>
          </p:cNvPr>
          <p:cNvSpPr txBox="1"/>
          <p:nvPr/>
        </p:nvSpPr>
        <p:spPr>
          <a:xfrm>
            <a:off x="5328312" y="578675"/>
            <a:ext cx="3484031" cy="369332"/>
          </a:xfrm>
          <a:prstGeom prst="rect">
            <a:avLst/>
          </a:prstGeom>
          <a:noFill/>
        </p:spPr>
        <p:txBody>
          <a:bodyPr wrap="none" rtlCol="0">
            <a:spAutoFit/>
          </a:bodyPr>
          <a:lstStyle/>
          <a:p>
            <a:r>
              <a:rPr lang="en-US"/>
              <a:t>(function of the parameters            )</a:t>
            </a:r>
          </a:p>
        </p:txBody>
      </p:sp>
      <p:sp>
        <p:nvSpPr>
          <p:cNvPr id="2" name="TextBox 1">
            <a:extLst>
              <a:ext uri="{FF2B5EF4-FFF2-40B4-BE49-F238E27FC236}">
                <a16:creationId xmlns:a16="http://schemas.microsoft.com/office/drawing/2014/main" id="{8D599F61-09EB-0242-BDF9-9F29869EB5EB}"/>
              </a:ext>
            </a:extLst>
          </p:cNvPr>
          <p:cNvSpPr txBox="1"/>
          <p:nvPr/>
        </p:nvSpPr>
        <p:spPr>
          <a:xfrm>
            <a:off x="1936396" y="146542"/>
            <a:ext cx="973164" cy="369332"/>
          </a:xfrm>
          <a:prstGeom prst="rect">
            <a:avLst/>
          </a:prstGeom>
          <a:noFill/>
        </p:spPr>
        <p:txBody>
          <a:bodyPr wrap="square">
            <a:spAutoFit/>
          </a:bodyPr>
          <a:lstStyle/>
          <a:p>
            <a:r>
              <a:rPr lang="en-IN" sz="1800" err="1">
                <a:latin typeface="Cambria Math" panose="02040503050406030204" pitchFamily="18" charset="0"/>
                <a:ea typeface="Cambria Math" panose="02040503050406030204" pitchFamily="18" charset="0"/>
                <a:cs typeface="Courier New" panose="02070309020205020404" pitchFamily="49" charset="0"/>
              </a:rPr>
              <a:t>h</a:t>
            </a:r>
            <a:r>
              <a:rPr lang="en-IN" sz="1800" baseline="-25000" err="1">
                <a:latin typeface="Cambria Math" panose="02040503050406030204" pitchFamily="18" charset="0"/>
                <a:ea typeface="Cambria Math" panose="02040503050406030204" pitchFamily="18" charset="0"/>
                <a:cs typeface="Courier New" panose="02070309020205020404" pitchFamily="49" charset="0"/>
              </a:rPr>
              <a:t>b,w</a:t>
            </a:r>
            <a:r>
              <a:rPr lang="en-IN" sz="1800">
                <a:latin typeface="Cambria Math" panose="02040503050406030204" pitchFamily="18" charset="0"/>
                <a:ea typeface="Cambria Math" panose="02040503050406030204" pitchFamily="18" charset="0"/>
                <a:cs typeface="Courier New" panose="02070309020205020404" pitchFamily="49" charset="0"/>
              </a:rPr>
              <a:t>(x)</a:t>
            </a:r>
            <a:endParaRPr lang="en-IN"/>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6C1EE25-2173-B543-23C1-A005A393A67A}"/>
                  </a:ext>
                </a:extLst>
              </p:cNvPr>
              <p:cNvSpPr txBox="1"/>
              <p:nvPr/>
            </p:nvSpPr>
            <p:spPr>
              <a:xfrm>
                <a:off x="6295707" y="146542"/>
                <a:ext cx="94935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𝐽</m:t>
                      </m:r>
                      <m:d>
                        <m:dPr>
                          <m:ctrlPr>
                            <a:rPr lang="en-IN" sz="1800" i="1">
                              <a:latin typeface="Cambria Math" panose="02040503050406030204" pitchFamily="18" charset="0"/>
                            </a:rPr>
                          </m:ctrlPr>
                        </m:dPr>
                        <m:e>
                          <m:r>
                            <a:rPr lang="en-IN" sz="1800" i="1">
                              <a:latin typeface="Cambria Math" panose="02040503050406030204" pitchFamily="18" charset="0"/>
                            </a:rPr>
                            <m:t>𝑏</m:t>
                          </m:r>
                          <m:r>
                            <a:rPr lang="en-IN" sz="1800" i="1">
                              <a:latin typeface="Cambria Math" panose="02040503050406030204" pitchFamily="18" charset="0"/>
                            </a:rPr>
                            <m:t>,</m:t>
                          </m:r>
                          <m:r>
                            <a:rPr lang="en-IN" sz="1800" i="1">
                              <a:latin typeface="Cambria Math" panose="02040503050406030204" pitchFamily="18" charset="0"/>
                            </a:rPr>
                            <m:t>𝑤</m:t>
                          </m:r>
                        </m:e>
                      </m:d>
                    </m:oMath>
                  </m:oMathPara>
                </a14:m>
                <a:endParaRPr lang="en-IN"/>
              </a:p>
            </p:txBody>
          </p:sp>
        </mc:Choice>
        <mc:Fallback>
          <p:sp>
            <p:nvSpPr>
              <p:cNvPr id="3" name="TextBox 2">
                <a:extLst>
                  <a:ext uri="{FF2B5EF4-FFF2-40B4-BE49-F238E27FC236}">
                    <a16:creationId xmlns:a16="http://schemas.microsoft.com/office/drawing/2014/main" id="{26C1EE25-2173-B543-23C1-A005A393A67A}"/>
                  </a:ext>
                </a:extLst>
              </p:cNvPr>
              <p:cNvSpPr txBox="1">
                <a:spLocks noRot="1" noChangeAspect="1" noMove="1" noResize="1" noEditPoints="1" noAdjustHandles="1" noChangeArrowheads="1" noChangeShapeType="1" noTextEdit="1"/>
              </p:cNvSpPr>
              <p:nvPr/>
            </p:nvSpPr>
            <p:spPr>
              <a:xfrm>
                <a:off x="6295707" y="146542"/>
                <a:ext cx="949351" cy="369332"/>
              </a:xfrm>
              <a:prstGeom prst="rect">
                <a:avLst/>
              </a:prstGeom>
              <a:blipFill>
                <a:blip r:embed="rId4"/>
                <a:stretch>
                  <a:fillRect b="-98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F9421EB2-ADC3-2A2D-4881-6B6DFE86DA69}"/>
                  </a:ext>
                </a:extLst>
              </p:cNvPr>
              <p:cNvSpPr txBox="1"/>
              <p:nvPr/>
            </p:nvSpPr>
            <p:spPr>
              <a:xfrm>
                <a:off x="1726201" y="578675"/>
                <a:ext cx="66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𝑏</m:t>
                      </m:r>
                      <m:r>
                        <a:rPr lang="en-IN" sz="1800" i="1" smtClean="0">
                          <a:latin typeface="Cambria Math" panose="02040503050406030204" pitchFamily="18" charset="0"/>
                        </a:rPr>
                        <m:t>,</m:t>
                      </m:r>
                      <m:r>
                        <a:rPr lang="en-IN" sz="1800" i="1" smtClean="0">
                          <a:latin typeface="Cambria Math" panose="02040503050406030204" pitchFamily="18" charset="0"/>
                        </a:rPr>
                        <m:t>𝑤</m:t>
                      </m:r>
                    </m:oMath>
                  </m:oMathPara>
                </a14:m>
                <a:endParaRPr lang="en-IN"/>
              </a:p>
            </p:txBody>
          </p:sp>
        </mc:Choice>
        <mc:Fallback>
          <p:sp>
            <p:nvSpPr>
              <p:cNvPr id="10" name="TextBox 9">
                <a:extLst>
                  <a:ext uri="{FF2B5EF4-FFF2-40B4-BE49-F238E27FC236}">
                    <a16:creationId xmlns:a16="http://schemas.microsoft.com/office/drawing/2014/main" id="{F9421EB2-ADC3-2A2D-4881-6B6DFE86DA69}"/>
                  </a:ext>
                </a:extLst>
              </p:cNvPr>
              <p:cNvSpPr txBox="1">
                <a:spLocks noRot="1" noChangeAspect="1" noMove="1" noResize="1" noEditPoints="1" noAdjustHandles="1" noChangeArrowheads="1" noChangeShapeType="1" noTextEdit="1"/>
              </p:cNvSpPr>
              <p:nvPr/>
            </p:nvSpPr>
            <p:spPr>
              <a:xfrm>
                <a:off x="1726201" y="578675"/>
                <a:ext cx="66190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C6A77A22-6701-B934-197A-4971D8480CB6}"/>
                  </a:ext>
                </a:extLst>
              </p:cNvPr>
              <p:cNvSpPr txBox="1"/>
              <p:nvPr/>
            </p:nvSpPr>
            <p:spPr>
              <a:xfrm>
                <a:off x="7975438" y="578675"/>
                <a:ext cx="66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𝑏</m:t>
                      </m:r>
                      <m:r>
                        <a:rPr lang="en-IN" sz="1800" i="1" smtClean="0">
                          <a:latin typeface="Cambria Math" panose="02040503050406030204" pitchFamily="18" charset="0"/>
                        </a:rPr>
                        <m:t>,</m:t>
                      </m:r>
                      <m:r>
                        <a:rPr lang="en-IN" sz="1800" i="1" smtClean="0">
                          <a:latin typeface="Cambria Math" panose="02040503050406030204" pitchFamily="18" charset="0"/>
                        </a:rPr>
                        <m:t>𝑤</m:t>
                      </m:r>
                    </m:oMath>
                  </m:oMathPara>
                </a14:m>
                <a:endParaRPr lang="en-IN"/>
              </a:p>
            </p:txBody>
          </p:sp>
        </mc:Choice>
        <mc:Fallback>
          <p:sp>
            <p:nvSpPr>
              <p:cNvPr id="11" name="TextBox 10">
                <a:extLst>
                  <a:ext uri="{FF2B5EF4-FFF2-40B4-BE49-F238E27FC236}">
                    <a16:creationId xmlns:a16="http://schemas.microsoft.com/office/drawing/2014/main" id="{C6A77A22-6701-B934-197A-4971D8480CB6}"/>
                  </a:ext>
                </a:extLst>
              </p:cNvPr>
              <p:cNvSpPr txBox="1">
                <a:spLocks noRot="1" noChangeAspect="1" noMove="1" noResize="1" noEditPoints="1" noAdjustHandles="1" noChangeArrowheads="1" noChangeShapeType="1" noTextEdit="1"/>
              </p:cNvSpPr>
              <p:nvPr/>
            </p:nvSpPr>
            <p:spPr>
              <a:xfrm>
                <a:off x="7975438" y="578675"/>
                <a:ext cx="661906" cy="369332"/>
              </a:xfrm>
              <a:prstGeom prst="rect">
                <a:avLst/>
              </a:prstGeom>
              <a:blipFill>
                <a:blip r:embed="rId5"/>
                <a:stretch>
                  <a:fillRect/>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D99A86E4-9C94-1E2D-F46E-452C557482FB}"/>
              </a:ext>
            </a:extLst>
          </p:cNvPr>
          <p:cNvPicPr>
            <a:picLocks noChangeAspect="1"/>
          </p:cNvPicPr>
          <p:nvPr/>
        </p:nvPicPr>
        <p:blipFill>
          <a:blip r:embed="rId6"/>
          <a:stretch>
            <a:fillRect/>
          </a:stretch>
        </p:blipFill>
        <p:spPr>
          <a:xfrm>
            <a:off x="4567362" y="2324100"/>
            <a:ext cx="304800" cy="247650"/>
          </a:xfrm>
          <a:prstGeom prst="rect">
            <a:avLst/>
          </a:prstGeom>
        </p:spPr>
      </p:pic>
      <p:pic>
        <p:nvPicPr>
          <p:cNvPr id="14" name="Picture 13">
            <a:extLst>
              <a:ext uri="{FF2B5EF4-FFF2-40B4-BE49-F238E27FC236}">
                <a16:creationId xmlns:a16="http://schemas.microsoft.com/office/drawing/2014/main" id="{EC93F027-BDB8-9DFE-D871-D9E46E1B29A8}"/>
              </a:ext>
            </a:extLst>
          </p:cNvPr>
          <p:cNvPicPr>
            <a:picLocks noChangeAspect="1"/>
          </p:cNvPicPr>
          <p:nvPr/>
        </p:nvPicPr>
        <p:blipFill>
          <a:blip r:embed="rId7"/>
          <a:stretch>
            <a:fillRect/>
          </a:stretch>
        </p:blipFill>
        <p:spPr>
          <a:xfrm>
            <a:off x="6637032" y="4015998"/>
            <a:ext cx="266700" cy="304800"/>
          </a:xfrm>
          <a:prstGeom prst="rect">
            <a:avLst/>
          </a:prstGeom>
        </p:spPr>
      </p:pic>
      <p:sp>
        <p:nvSpPr>
          <p:cNvPr id="15" name="Rectangle 14">
            <a:extLst>
              <a:ext uri="{FF2B5EF4-FFF2-40B4-BE49-F238E27FC236}">
                <a16:creationId xmlns:a16="http://schemas.microsoft.com/office/drawing/2014/main" id="{3D958C20-20FF-5E29-0448-64EF5E01D3C5}"/>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987963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7DC54-B279-DBAA-60C2-41A4B1B594DE}"/>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A9088C03-FBC2-6B61-38AD-6C0FBFE2774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526644"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EB998BD2-C125-4726-F2B2-226AC54B954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28600"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3A060E1-A559-A2A1-162D-36611E73C752}"/>
              </a:ext>
            </a:extLst>
          </p:cNvPr>
          <p:cNvSpPr txBox="1"/>
          <p:nvPr/>
        </p:nvSpPr>
        <p:spPr>
          <a:xfrm>
            <a:off x="838200" y="578675"/>
            <a:ext cx="3729162" cy="369332"/>
          </a:xfrm>
          <a:prstGeom prst="rect">
            <a:avLst/>
          </a:prstGeom>
          <a:noFill/>
        </p:spPr>
        <p:txBody>
          <a:bodyPr wrap="none" rtlCol="0">
            <a:spAutoFit/>
          </a:bodyPr>
          <a:lstStyle/>
          <a:p>
            <a:r>
              <a:rPr lang="en-US"/>
              <a:t>(for fixed           , this is a function of x)</a:t>
            </a:r>
          </a:p>
        </p:txBody>
      </p:sp>
      <p:sp>
        <p:nvSpPr>
          <p:cNvPr id="8" name="TextBox 7">
            <a:extLst>
              <a:ext uri="{FF2B5EF4-FFF2-40B4-BE49-F238E27FC236}">
                <a16:creationId xmlns:a16="http://schemas.microsoft.com/office/drawing/2014/main" id="{465EC9B8-9479-4373-3389-51AE35E0ED7C}"/>
              </a:ext>
            </a:extLst>
          </p:cNvPr>
          <p:cNvSpPr txBox="1"/>
          <p:nvPr/>
        </p:nvSpPr>
        <p:spPr>
          <a:xfrm>
            <a:off x="5328312" y="578675"/>
            <a:ext cx="3484031" cy="369332"/>
          </a:xfrm>
          <a:prstGeom prst="rect">
            <a:avLst/>
          </a:prstGeom>
          <a:noFill/>
        </p:spPr>
        <p:txBody>
          <a:bodyPr wrap="none" rtlCol="0">
            <a:spAutoFit/>
          </a:bodyPr>
          <a:lstStyle/>
          <a:p>
            <a:r>
              <a:rPr lang="en-US"/>
              <a:t>(function of the parameters            )</a:t>
            </a:r>
          </a:p>
        </p:txBody>
      </p:sp>
      <p:sp>
        <p:nvSpPr>
          <p:cNvPr id="2" name="TextBox 1">
            <a:extLst>
              <a:ext uri="{FF2B5EF4-FFF2-40B4-BE49-F238E27FC236}">
                <a16:creationId xmlns:a16="http://schemas.microsoft.com/office/drawing/2014/main" id="{9EFB964A-1FFF-139D-3E40-8197C938972D}"/>
              </a:ext>
            </a:extLst>
          </p:cNvPr>
          <p:cNvSpPr txBox="1"/>
          <p:nvPr/>
        </p:nvSpPr>
        <p:spPr>
          <a:xfrm>
            <a:off x="1936396" y="146542"/>
            <a:ext cx="973164" cy="369332"/>
          </a:xfrm>
          <a:prstGeom prst="rect">
            <a:avLst/>
          </a:prstGeom>
          <a:noFill/>
        </p:spPr>
        <p:txBody>
          <a:bodyPr wrap="square">
            <a:spAutoFit/>
          </a:bodyPr>
          <a:lstStyle/>
          <a:p>
            <a:r>
              <a:rPr lang="en-IN" sz="1800" err="1">
                <a:latin typeface="Cambria Math" panose="02040503050406030204" pitchFamily="18" charset="0"/>
                <a:ea typeface="Cambria Math" panose="02040503050406030204" pitchFamily="18" charset="0"/>
                <a:cs typeface="Courier New" panose="02070309020205020404" pitchFamily="49" charset="0"/>
              </a:rPr>
              <a:t>h</a:t>
            </a:r>
            <a:r>
              <a:rPr lang="en-IN" sz="1800" baseline="-25000" err="1">
                <a:latin typeface="Cambria Math" panose="02040503050406030204" pitchFamily="18" charset="0"/>
                <a:ea typeface="Cambria Math" panose="02040503050406030204" pitchFamily="18" charset="0"/>
                <a:cs typeface="Courier New" panose="02070309020205020404" pitchFamily="49" charset="0"/>
              </a:rPr>
              <a:t>b,w</a:t>
            </a:r>
            <a:r>
              <a:rPr lang="en-IN" sz="1800">
                <a:latin typeface="Cambria Math" panose="02040503050406030204" pitchFamily="18" charset="0"/>
                <a:ea typeface="Cambria Math" panose="02040503050406030204" pitchFamily="18" charset="0"/>
                <a:cs typeface="Courier New" panose="02070309020205020404" pitchFamily="49" charset="0"/>
              </a:rPr>
              <a:t>(x)</a:t>
            </a:r>
            <a:endParaRPr lang="en-IN"/>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BC96A26-C6E1-584E-2A0D-86051FAF2702}"/>
                  </a:ext>
                </a:extLst>
              </p:cNvPr>
              <p:cNvSpPr txBox="1"/>
              <p:nvPr/>
            </p:nvSpPr>
            <p:spPr>
              <a:xfrm>
                <a:off x="6295707" y="146542"/>
                <a:ext cx="94935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𝐽</m:t>
                      </m:r>
                      <m:d>
                        <m:dPr>
                          <m:ctrlPr>
                            <a:rPr lang="en-IN" sz="1800" i="1">
                              <a:latin typeface="Cambria Math" panose="02040503050406030204" pitchFamily="18" charset="0"/>
                            </a:rPr>
                          </m:ctrlPr>
                        </m:dPr>
                        <m:e>
                          <m:r>
                            <a:rPr lang="en-IN" sz="1800" i="1">
                              <a:latin typeface="Cambria Math" panose="02040503050406030204" pitchFamily="18" charset="0"/>
                            </a:rPr>
                            <m:t>𝑏</m:t>
                          </m:r>
                          <m:r>
                            <a:rPr lang="en-IN" sz="1800" i="1">
                              <a:latin typeface="Cambria Math" panose="02040503050406030204" pitchFamily="18" charset="0"/>
                            </a:rPr>
                            <m:t>,</m:t>
                          </m:r>
                          <m:r>
                            <a:rPr lang="en-IN" sz="1800" i="1">
                              <a:latin typeface="Cambria Math" panose="02040503050406030204" pitchFamily="18" charset="0"/>
                            </a:rPr>
                            <m:t>𝑤</m:t>
                          </m:r>
                        </m:e>
                      </m:d>
                    </m:oMath>
                  </m:oMathPara>
                </a14:m>
                <a:endParaRPr lang="en-IN"/>
              </a:p>
            </p:txBody>
          </p:sp>
        </mc:Choice>
        <mc:Fallback>
          <p:sp>
            <p:nvSpPr>
              <p:cNvPr id="3" name="TextBox 2">
                <a:extLst>
                  <a:ext uri="{FF2B5EF4-FFF2-40B4-BE49-F238E27FC236}">
                    <a16:creationId xmlns:a16="http://schemas.microsoft.com/office/drawing/2014/main" id="{FBC96A26-C6E1-584E-2A0D-86051FAF2702}"/>
                  </a:ext>
                </a:extLst>
              </p:cNvPr>
              <p:cNvSpPr txBox="1">
                <a:spLocks noRot="1" noChangeAspect="1" noMove="1" noResize="1" noEditPoints="1" noAdjustHandles="1" noChangeArrowheads="1" noChangeShapeType="1" noTextEdit="1"/>
              </p:cNvSpPr>
              <p:nvPr/>
            </p:nvSpPr>
            <p:spPr>
              <a:xfrm>
                <a:off x="6295707" y="146542"/>
                <a:ext cx="949351" cy="369332"/>
              </a:xfrm>
              <a:prstGeom prst="rect">
                <a:avLst/>
              </a:prstGeom>
              <a:blipFill>
                <a:blip r:embed="rId4"/>
                <a:stretch>
                  <a:fillRect b="-98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DCC002BD-84FE-BE6F-0FF9-D82449DD4971}"/>
                  </a:ext>
                </a:extLst>
              </p:cNvPr>
              <p:cNvSpPr txBox="1"/>
              <p:nvPr/>
            </p:nvSpPr>
            <p:spPr>
              <a:xfrm>
                <a:off x="1726201" y="578675"/>
                <a:ext cx="66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𝑏</m:t>
                      </m:r>
                      <m:r>
                        <a:rPr lang="en-IN" sz="1800" i="1" smtClean="0">
                          <a:latin typeface="Cambria Math" panose="02040503050406030204" pitchFamily="18" charset="0"/>
                        </a:rPr>
                        <m:t>,</m:t>
                      </m:r>
                      <m:r>
                        <a:rPr lang="en-IN" sz="1800" i="1" smtClean="0">
                          <a:latin typeface="Cambria Math" panose="02040503050406030204" pitchFamily="18" charset="0"/>
                        </a:rPr>
                        <m:t>𝑤</m:t>
                      </m:r>
                    </m:oMath>
                  </m:oMathPara>
                </a14:m>
                <a:endParaRPr lang="en-IN"/>
              </a:p>
            </p:txBody>
          </p:sp>
        </mc:Choice>
        <mc:Fallback>
          <p:sp>
            <p:nvSpPr>
              <p:cNvPr id="11" name="TextBox 10">
                <a:extLst>
                  <a:ext uri="{FF2B5EF4-FFF2-40B4-BE49-F238E27FC236}">
                    <a16:creationId xmlns:a16="http://schemas.microsoft.com/office/drawing/2014/main" id="{DCC002BD-84FE-BE6F-0FF9-D82449DD4971}"/>
                  </a:ext>
                </a:extLst>
              </p:cNvPr>
              <p:cNvSpPr txBox="1">
                <a:spLocks noRot="1" noChangeAspect="1" noMove="1" noResize="1" noEditPoints="1" noAdjustHandles="1" noChangeArrowheads="1" noChangeShapeType="1" noTextEdit="1"/>
              </p:cNvSpPr>
              <p:nvPr/>
            </p:nvSpPr>
            <p:spPr>
              <a:xfrm>
                <a:off x="1726201" y="578675"/>
                <a:ext cx="66190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00EBB176-1BE4-8BC9-818D-E628C1551625}"/>
                  </a:ext>
                </a:extLst>
              </p:cNvPr>
              <p:cNvSpPr txBox="1"/>
              <p:nvPr/>
            </p:nvSpPr>
            <p:spPr>
              <a:xfrm>
                <a:off x="7975438" y="578675"/>
                <a:ext cx="66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𝑏</m:t>
                      </m:r>
                      <m:r>
                        <a:rPr lang="en-IN" sz="1800" i="1" smtClean="0">
                          <a:latin typeface="Cambria Math" panose="02040503050406030204" pitchFamily="18" charset="0"/>
                        </a:rPr>
                        <m:t>,</m:t>
                      </m:r>
                      <m:r>
                        <a:rPr lang="en-IN" sz="1800" i="1" smtClean="0">
                          <a:latin typeface="Cambria Math" panose="02040503050406030204" pitchFamily="18" charset="0"/>
                        </a:rPr>
                        <m:t>𝑤</m:t>
                      </m:r>
                    </m:oMath>
                  </m:oMathPara>
                </a14:m>
                <a:endParaRPr lang="en-IN"/>
              </a:p>
            </p:txBody>
          </p:sp>
        </mc:Choice>
        <mc:Fallback>
          <p:sp>
            <p:nvSpPr>
              <p:cNvPr id="12" name="TextBox 11">
                <a:extLst>
                  <a:ext uri="{FF2B5EF4-FFF2-40B4-BE49-F238E27FC236}">
                    <a16:creationId xmlns:a16="http://schemas.microsoft.com/office/drawing/2014/main" id="{00EBB176-1BE4-8BC9-818D-E628C1551625}"/>
                  </a:ext>
                </a:extLst>
              </p:cNvPr>
              <p:cNvSpPr txBox="1">
                <a:spLocks noRot="1" noChangeAspect="1" noMove="1" noResize="1" noEditPoints="1" noAdjustHandles="1" noChangeArrowheads="1" noChangeShapeType="1" noTextEdit="1"/>
              </p:cNvSpPr>
              <p:nvPr/>
            </p:nvSpPr>
            <p:spPr>
              <a:xfrm>
                <a:off x="7975438" y="578675"/>
                <a:ext cx="661906" cy="369332"/>
              </a:xfrm>
              <a:prstGeom prst="rect">
                <a:avLst/>
              </a:prstGeom>
              <a:blipFill>
                <a:blip r:embed="rId5"/>
                <a:stretch>
                  <a:fillRect/>
                </a:stretch>
              </a:blipFill>
            </p:spPr>
            <p:txBody>
              <a:bodyPr/>
              <a:lstStyle/>
              <a:p>
                <a:r>
                  <a:rPr lang="en-US">
                    <a:noFill/>
                  </a:rPr>
                  <a:t> </a:t>
                </a:r>
              </a:p>
            </p:txBody>
          </p:sp>
        </mc:Fallback>
      </mc:AlternateContent>
      <p:pic>
        <p:nvPicPr>
          <p:cNvPr id="14" name="Picture 13">
            <a:extLst>
              <a:ext uri="{FF2B5EF4-FFF2-40B4-BE49-F238E27FC236}">
                <a16:creationId xmlns:a16="http://schemas.microsoft.com/office/drawing/2014/main" id="{86EB4A02-4C97-4B6B-F81D-4D708439B9CB}"/>
              </a:ext>
            </a:extLst>
          </p:cNvPr>
          <p:cNvPicPr>
            <a:picLocks noChangeAspect="1"/>
          </p:cNvPicPr>
          <p:nvPr/>
        </p:nvPicPr>
        <p:blipFill>
          <a:blip r:embed="rId6"/>
          <a:stretch>
            <a:fillRect/>
          </a:stretch>
        </p:blipFill>
        <p:spPr>
          <a:xfrm>
            <a:off x="4583999" y="2324100"/>
            <a:ext cx="304800" cy="247650"/>
          </a:xfrm>
          <a:prstGeom prst="rect">
            <a:avLst/>
          </a:prstGeom>
        </p:spPr>
      </p:pic>
      <p:pic>
        <p:nvPicPr>
          <p:cNvPr id="15" name="Picture 14">
            <a:extLst>
              <a:ext uri="{FF2B5EF4-FFF2-40B4-BE49-F238E27FC236}">
                <a16:creationId xmlns:a16="http://schemas.microsoft.com/office/drawing/2014/main" id="{9F53D100-67F5-900B-70CB-6D83E8EC11D4}"/>
              </a:ext>
            </a:extLst>
          </p:cNvPr>
          <p:cNvPicPr>
            <a:picLocks noChangeAspect="1"/>
          </p:cNvPicPr>
          <p:nvPr/>
        </p:nvPicPr>
        <p:blipFill>
          <a:blip r:embed="rId7"/>
          <a:stretch>
            <a:fillRect/>
          </a:stretch>
        </p:blipFill>
        <p:spPr>
          <a:xfrm>
            <a:off x="6637032" y="4015998"/>
            <a:ext cx="266700" cy="304800"/>
          </a:xfrm>
          <a:prstGeom prst="rect">
            <a:avLst/>
          </a:prstGeom>
        </p:spPr>
      </p:pic>
      <p:sp>
        <p:nvSpPr>
          <p:cNvPr id="16" name="Rectangle 15">
            <a:extLst>
              <a:ext uri="{FF2B5EF4-FFF2-40B4-BE49-F238E27FC236}">
                <a16:creationId xmlns:a16="http://schemas.microsoft.com/office/drawing/2014/main" id="{65A3A070-5850-EE2F-BBB0-7F66CAD5CBF8}"/>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543710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55631-45E9-A76D-83C7-EB9BCA8A451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A14FFCA-0C47-9972-FE5D-C205639940E8}"/>
              </a:ext>
            </a:extLst>
          </p:cNvPr>
          <p:cNvSpPr txBox="1"/>
          <p:nvPr/>
        </p:nvSpPr>
        <p:spPr>
          <a:xfrm>
            <a:off x="228600" y="57150"/>
            <a:ext cx="2916183" cy="369332"/>
          </a:xfrm>
          <a:prstGeom prst="rect">
            <a:avLst/>
          </a:prstGeom>
          <a:noFill/>
        </p:spPr>
        <p:txBody>
          <a:bodyPr wrap="none" rtlCol="0">
            <a:spAutoFit/>
          </a:bodyPr>
          <a:lstStyle/>
          <a:p>
            <a:r>
              <a:rPr lang="en-US" b="1">
                <a:latin typeface="Book Antiqua" panose="02040602050305030304" pitchFamily="18" charset="0"/>
              </a:rPr>
              <a:t>1. Batch Gradient Descent</a:t>
            </a:r>
          </a:p>
        </p:txBody>
      </p:sp>
      <p:sp>
        <p:nvSpPr>
          <p:cNvPr id="3" name="TextBox 2">
            <a:extLst>
              <a:ext uri="{FF2B5EF4-FFF2-40B4-BE49-F238E27FC236}">
                <a16:creationId xmlns:a16="http://schemas.microsoft.com/office/drawing/2014/main" id="{78C3AB65-D15B-2678-9B44-E2AA39247A7C}"/>
              </a:ext>
            </a:extLst>
          </p:cNvPr>
          <p:cNvSpPr txBox="1"/>
          <p:nvPr/>
        </p:nvSpPr>
        <p:spPr>
          <a:xfrm>
            <a:off x="207108" y="418261"/>
            <a:ext cx="7833880" cy="369332"/>
          </a:xfrm>
          <a:prstGeom prst="rect">
            <a:avLst/>
          </a:prstGeom>
          <a:noFill/>
        </p:spPr>
        <p:txBody>
          <a:bodyPr wrap="square">
            <a:spAutoFit/>
          </a:bodyPr>
          <a:lstStyle>
            <a:defPPr>
              <a:defRPr lang="en-US"/>
            </a:defPPr>
            <a:lvl1pPr>
              <a:buNone/>
              <a:defRPr b="1">
                <a:latin typeface="Book Antiqua" panose="02040602050305030304" pitchFamily="18" charset="0"/>
              </a:defRPr>
            </a:lvl1pPr>
          </a:lstStyle>
          <a:p>
            <a:pPr marL="285750" indent="-285750">
              <a:buFont typeface="Arial" panose="020B0604020202020204" pitchFamily="34" charset="0"/>
              <a:buChar char="•"/>
            </a:pPr>
            <a:r>
              <a:rPr lang="en-US"/>
              <a:t>Batch: Each step of gradient descent uses all the training examples.</a:t>
            </a:r>
          </a:p>
        </p:txBody>
      </p:sp>
      <p:sp>
        <p:nvSpPr>
          <p:cNvPr id="4" name="Rectangle 3">
            <a:extLst>
              <a:ext uri="{FF2B5EF4-FFF2-40B4-BE49-F238E27FC236}">
                <a16:creationId xmlns:a16="http://schemas.microsoft.com/office/drawing/2014/main" id="{FEE05E24-116D-448A-34D1-FB50CBCF6846}"/>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AF4C4582-A2C0-0963-615A-7524792B2AF6}"/>
              </a:ext>
            </a:extLst>
          </p:cNvPr>
          <p:cNvSpPr txBox="1"/>
          <p:nvPr/>
        </p:nvSpPr>
        <p:spPr>
          <a:xfrm>
            <a:off x="212968" y="895350"/>
            <a:ext cx="6416431" cy="923330"/>
          </a:xfrm>
          <a:prstGeom prst="rect">
            <a:avLst/>
          </a:prstGeom>
          <a:noFill/>
        </p:spPr>
        <p:txBody>
          <a:bodyPr wrap="square">
            <a:spAutoFit/>
          </a:bodyPr>
          <a:lstStyle/>
          <a:p>
            <a:pPr>
              <a:buNone/>
            </a:pPr>
            <a:r>
              <a:rPr lang="en-IN" b="1">
                <a:latin typeface="Book Antiqua" panose="02040602050305030304" pitchFamily="18" charset="0"/>
              </a:rPr>
              <a:t>2. Stochastic Gradient Descent (SGD)</a:t>
            </a:r>
          </a:p>
          <a:p>
            <a:pPr marL="342900" lvl="0" indent="-342900">
              <a:buFont typeface="Arial" panose="020B0604020202020204" pitchFamily="34" charset="0"/>
              <a:buChar char="•"/>
            </a:pPr>
            <a:r>
              <a:rPr lang="en-IN">
                <a:latin typeface="Book Antiqua" panose="02040602050305030304" pitchFamily="18" charset="0"/>
              </a:rPr>
              <a:t>Uses </a:t>
            </a:r>
            <a:r>
              <a:rPr lang="en-IN" b="1">
                <a:latin typeface="Book Antiqua" panose="02040602050305030304" pitchFamily="18" charset="0"/>
              </a:rPr>
              <a:t>one training sample at a time</a:t>
            </a:r>
            <a:r>
              <a:rPr lang="en-IN">
                <a:latin typeface="Book Antiqua" panose="02040602050305030304" pitchFamily="18" charset="0"/>
              </a:rPr>
              <a:t>. </a:t>
            </a:r>
          </a:p>
          <a:p>
            <a:pPr marL="342900" lvl="0" indent="-342900">
              <a:buFont typeface="Arial" panose="020B0604020202020204" pitchFamily="34" charset="0"/>
              <a:buChar char="•"/>
            </a:pPr>
            <a:r>
              <a:rPr lang="en-IN">
                <a:latin typeface="Book Antiqua" panose="02040602050305030304" pitchFamily="18" charset="0"/>
              </a:rPr>
              <a:t>Parameters are updated after every sample.</a:t>
            </a:r>
          </a:p>
        </p:txBody>
      </p:sp>
      <p:sp>
        <p:nvSpPr>
          <p:cNvPr id="10" name="TextBox 9">
            <a:extLst>
              <a:ext uri="{FF2B5EF4-FFF2-40B4-BE49-F238E27FC236}">
                <a16:creationId xmlns:a16="http://schemas.microsoft.com/office/drawing/2014/main" id="{735B94B0-C0C5-2328-EB0D-D127336AA242}"/>
              </a:ext>
            </a:extLst>
          </p:cNvPr>
          <p:cNvSpPr txBox="1"/>
          <p:nvPr/>
        </p:nvSpPr>
        <p:spPr>
          <a:xfrm>
            <a:off x="249183" y="2038350"/>
            <a:ext cx="8368323" cy="1754326"/>
          </a:xfrm>
          <a:prstGeom prst="rect">
            <a:avLst/>
          </a:prstGeom>
          <a:noFill/>
        </p:spPr>
        <p:txBody>
          <a:bodyPr wrap="square">
            <a:spAutoFit/>
          </a:bodyPr>
          <a:lstStyle>
            <a:defPPr>
              <a:defRPr lang="en-US"/>
            </a:defPPr>
            <a:lvl1pPr>
              <a:buNone/>
              <a:defRPr b="1">
                <a:latin typeface="Book Antiqua" panose="02040602050305030304" pitchFamily="18" charset="0"/>
              </a:defRPr>
            </a:lvl1pPr>
          </a:lstStyle>
          <a:p>
            <a:r>
              <a:rPr lang="en-IN"/>
              <a:t>3. Mini-Batch Gradient Descent (MBGD)</a:t>
            </a:r>
          </a:p>
          <a:p>
            <a:r>
              <a:rPr lang="en-IN" b="0"/>
              <a:t>This is a compromise between Batch GD and SGD.</a:t>
            </a:r>
          </a:p>
          <a:p>
            <a:r>
              <a:rPr lang="en-IN"/>
              <a:t>Instead of using:</a:t>
            </a:r>
          </a:p>
          <a:p>
            <a:r>
              <a:rPr lang="en-IN" b="0"/>
              <a:t>all samples (Batch), </a:t>
            </a:r>
          </a:p>
          <a:p>
            <a:r>
              <a:rPr lang="en-IN" b="0"/>
              <a:t>or one sample (SGD), </a:t>
            </a:r>
          </a:p>
          <a:p>
            <a:r>
              <a:rPr lang="en-IN" b="0"/>
              <a:t>it uses a small group (mini-batch).</a:t>
            </a:r>
          </a:p>
        </p:txBody>
      </p:sp>
    </p:spTree>
    <p:extLst>
      <p:ext uri="{BB962C8B-B14F-4D97-AF65-F5344CB8AC3E}">
        <p14:creationId xmlns:p14="http://schemas.microsoft.com/office/powerpoint/2010/main" val="38487756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3" cstate="print"/>
          <a:srcRect/>
          <a:stretch>
            <a:fillRect/>
          </a:stretch>
        </p:blipFill>
        <p:spPr bwMode="auto">
          <a:xfrm>
            <a:off x="609600" y="510777"/>
            <a:ext cx="7677150" cy="4032647"/>
          </a:xfrm>
          <a:prstGeom prst="rect">
            <a:avLst/>
          </a:prstGeom>
          <a:noFill/>
          <a:ln w="9525">
            <a:noFill/>
            <a:miter lim="800000"/>
            <a:headEnd/>
            <a:tailEnd/>
          </a:ln>
        </p:spPr>
      </p:pic>
      <p:sp>
        <p:nvSpPr>
          <p:cNvPr id="50196" name="Text Box 22"/>
          <p:cNvSpPr txBox="1">
            <a:spLocks noChangeArrowheads="1"/>
          </p:cNvSpPr>
          <p:nvPr/>
        </p:nvSpPr>
        <p:spPr bwMode="auto">
          <a:xfrm>
            <a:off x="6772276" y="3714749"/>
            <a:ext cx="322524" cy="369332"/>
          </a:xfrm>
          <a:prstGeom prst="rect">
            <a:avLst/>
          </a:prstGeom>
          <a:noFill/>
          <a:ln w="9525">
            <a:noFill/>
            <a:miter lim="800000"/>
            <a:headEnd/>
            <a:tailEnd/>
          </a:ln>
        </p:spPr>
        <p:txBody>
          <a:bodyPr wrap="none">
            <a:spAutoFit/>
          </a:bodyPr>
          <a:lstStyle/>
          <a:p>
            <a:r>
              <a:rPr lang="en-US">
                <a:solidFill>
                  <a:prstClr val="black"/>
                </a:solidFill>
                <a:latin typeface="Courier New" panose="02070309020205020404" pitchFamily="49" charset="0"/>
                <a:cs typeface="Courier New" panose="02070309020205020404" pitchFamily="49" charset="0"/>
                <a:sym typeface="Symbol" pitchFamily="18" charset="2"/>
              </a:rPr>
              <a:t>w</a:t>
            </a:r>
            <a:endParaRPr lang="en-US" baseline="-25000">
              <a:solidFill>
                <a:prstClr val="black"/>
              </a:solidFill>
              <a:latin typeface="Courier New" panose="02070309020205020404" pitchFamily="49" charset="0"/>
              <a:cs typeface="Courier New" panose="02070309020205020404" pitchFamily="49" charset="0"/>
            </a:endParaRPr>
          </a:p>
        </p:txBody>
      </p:sp>
      <p:sp>
        <p:nvSpPr>
          <p:cNvPr id="50197" name="Text Box 23"/>
          <p:cNvSpPr txBox="1">
            <a:spLocks noChangeArrowheads="1"/>
          </p:cNvSpPr>
          <p:nvPr/>
        </p:nvSpPr>
        <p:spPr bwMode="auto">
          <a:xfrm>
            <a:off x="2751138" y="3999309"/>
            <a:ext cx="322524" cy="369332"/>
          </a:xfrm>
          <a:prstGeom prst="rect">
            <a:avLst/>
          </a:prstGeom>
          <a:noFill/>
          <a:ln w="9525">
            <a:noFill/>
            <a:miter lim="800000"/>
            <a:headEnd/>
            <a:tailEnd/>
          </a:ln>
        </p:spPr>
        <p:txBody>
          <a:bodyPr wrap="none">
            <a:spAutoFit/>
          </a:bodyPr>
          <a:lstStyle/>
          <a:p>
            <a:r>
              <a:rPr lang="en-US">
                <a:solidFill>
                  <a:prstClr val="black"/>
                </a:solidFill>
                <a:latin typeface="Courier New" panose="02070309020205020404" pitchFamily="49" charset="0"/>
                <a:cs typeface="Courier New" panose="02070309020205020404" pitchFamily="49" charset="0"/>
                <a:sym typeface="Symbol" pitchFamily="18" charset="2"/>
              </a:rPr>
              <a:t>b</a:t>
            </a:r>
            <a:endParaRPr lang="en-US" baseline="-25000">
              <a:solidFill>
                <a:prstClr val="black"/>
              </a:solidFill>
              <a:latin typeface="Courier New" panose="02070309020205020404" pitchFamily="49" charset="0"/>
              <a:cs typeface="Courier New" panose="02070309020205020404" pitchFamily="49" charset="0"/>
            </a:endParaRPr>
          </a:p>
        </p:txBody>
      </p:sp>
      <p:pic>
        <p:nvPicPr>
          <p:cNvPr id="3" name="Picture 2">
            <a:extLst>
              <a:ext uri="{FF2B5EF4-FFF2-40B4-BE49-F238E27FC236}">
                <a16:creationId xmlns:a16="http://schemas.microsoft.com/office/drawing/2014/main" id="{211E76DF-EAB9-71C4-AF62-5B63D33D08BE}"/>
              </a:ext>
            </a:extLst>
          </p:cNvPr>
          <p:cNvPicPr>
            <a:picLocks noChangeAspect="1"/>
          </p:cNvPicPr>
          <p:nvPr/>
        </p:nvPicPr>
        <p:blipFill>
          <a:blip r:embed="rId4"/>
          <a:stretch>
            <a:fillRect/>
          </a:stretch>
        </p:blipFill>
        <p:spPr>
          <a:xfrm>
            <a:off x="762000" y="1993701"/>
            <a:ext cx="571500" cy="1066800"/>
          </a:xfrm>
          <a:prstGeom prst="rect">
            <a:avLst/>
          </a:prstGeom>
        </p:spPr>
      </p:pic>
      <p:sp>
        <p:nvSpPr>
          <p:cNvPr id="5" name="Rectangle 4">
            <a:extLst>
              <a:ext uri="{FF2B5EF4-FFF2-40B4-BE49-F238E27FC236}">
                <a16:creationId xmlns:a16="http://schemas.microsoft.com/office/drawing/2014/main" id="{3E825BB5-E297-B3A0-FEEE-9A2FD5D78691}"/>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543600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2"/>
          <p:cNvPicPr>
            <a:picLocks noChangeAspect="1" noChangeArrowheads="1"/>
          </p:cNvPicPr>
          <p:nvPr/>
        </p:nvPicPr>
        <p:blipFill>
          <a:blip r:embed="rId3" cstate="print"/>
          <a:srcRect/>
          <a:stretch>
            <a:fillRect/>
          </a:stretch>
        </p:blipFill>
        <p:spPr bwMode="auto">
          <a:xfrm>
            <a:off x="609600" y="510778"/>
            <a:ext cx="7677150" cy="4032647"/>
          </a:xfrm>
          <a:prstGeom prst="rect">
            <a:avLst/>
          </a:prstGeom>
          <a:noFill/>
          <a:ln w="9525">
            <a:noFill/>
            <a:miter lim="800000"/>
            <a:headEnd/>
            <a:tailEnd/>
          </a:ln>
        </p:spPr>
      </p:pic>
      <p:sp>
        <p:nvSpPr>
          <p:cNvPr id="479239" name="AutoShape 7"/>
          <p:cNvSpPr>
            <a:spLocks noChangeArrowheads="1"/>
          </p:cNvSpPr>
          <p:nvPr/>
        </p:nvSpPr>
        <p:spPr bwMode="auto">
          <a:xfrm>
            <a:off x="3986213" y="1925240"/>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9240" name="AutoShape 8"/>
          <p:cNvSpPr>
            <a:spLocks noChangeArrowheads="1"/>
          </p:cNvSpPr>
          <p:nvPr/>
        </p:nvSpPr>
        <p:spPr bwMode="auto">
          <a:xfrm>
            <a:off x="4243388" y="2157412"/>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9241" name="AutoShape 9"/>
          <p:cNvSpPr>
            <a:spLocks noChangeArrowheads="1"/>
          </p:cNvSpPr>
          <p:nvPr/>
        </p:nvSpPr>
        <p:spPr bwMode="auto">
          <a:xfrm>
            <a:off x="4529138" y="2250280"/>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9242" name="AutoShape 10"/>
          <p:cNvSpPr>
            <a:spLocks noChangeArrowheads="1"/>
          </p:cNvSpPr>
          <p:nvPr/>
        </p:nvSpPr>
        <p:spPr bwMode="auto">
          <a:xfrm>
            <a:off x="4876800" y="2457449"/>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9243" name="AutoShape 11"/>
          <p:cNvSpPr>
            <a:spLocks noChangeArrowheads="1"/>
          </p:cNvSpPr>
          <p:nvPr/>
        </p:nvSpPr>
        <p:spPr bwMode="auto">
          <a:xfrm>
            <a:off x="5257800" y="2628899"/>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9244" name="AutoShape 12"/>
          <p:cNvSpPr>
            <a:spLocks noChangeArrowheads="1"/>
          </p:cNvSpPr>
          <p:nvPr/>
        </p:nvSpPr>
        <p:spPr bwMode="auto">
          <a:xfrm>
            <a:off x="5638800" y="2743199"/>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9245" name="AutoShape 13"/>
          <p:cNvSpPr>
            <a:spLocks noChangeArrowheads="1"/>
          </p:cNvSpPr>
          <p:nvPr/>
        </p:nvSpPr>
        <p:spPr bwMode="auto">
          <a:xfrm>
            <a:off x="6019800" y="2857499"/>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cxnSp>
        <p:nvCxnSpPr>
          <p:cNvPr id="479246" name="AutoShape 14"/>
          <p:cNvCxnSpPr>
            <a:cxnSpLocks noChangeShapeType="1"/>
          </p:cNvCxnSpPr>
          <p:nvPr/>
        </p:nvCxnSpPr>
        <p:spPr bwMode="auto">
          <a:xfrm>
            <a:off x="4976813" y="2543174"/>
            <a:ext cx="381000" cy="171450"/>
          </a:xfrm>
          <a:prstGeom prst="straightConnector1">
            <a:avLst/>
          </a:prstGeom>
          <a:noFill/>
          <a:ln w="28575">
            <a:solidFill>
              <a:schemeClr val="tx1"/>
            </a:solidFill>
            <a:round/>
            <a:headEnd/>
            <a:tailEnd/>
          </a:ln>
        </p:spPr>
      </p:cxnSp>
      <p:cxnSp>
        <p:nvCxnSpPr>
          <p:cNvPr id="479247" name="AutoShape 15"/>
          <p:cNvCxnSpPr>
            <a:cxnSpLocks noChangeShapeType="1"/>
          </p:cNvCxnSpPr>
          <p:nvPr/>
        </p:nvCxnSpPr>
        <p:spPr bwMode="auto">
          <a:xfrm>
            <a:off x="5368925" y="2714624"/>
            <a:ext cx="381000" cy="114300"/>
          </a:xfrm>
          <a:prstGeom prst="straightConnector1">
            <a:avLst/>
          </a:prstGeom>
          <a:noFill/>
          <a:ln w="28575">
            <a:solidFill>
              <a:schemeClr val="tx1"/>
            </a:solidFill>
            <a:round/>
            <a:headEnd/>
            <a:tailEnd/>
          </a:ln>
        </p:spPr>
      </p:cxnSp>
      <p:cxnSp>
        <p:nvCxnSpPr>
          <p:cNvPr id="479248" name="AutoShape 16"/>
          <p:cNvCxnSpPr>
            <a:cxnSpLocks noChangeShapeType="1"/>
          </p:cNvCxnSpPr>
          <p:nvPr/>
        </p:nvCxnSpPr>
        <p:spPr bwMode="auto">
          <a:xfrm>
            <a:off x="5749925" y="2828924"/>
            <a:ext cx="381000" cy="114300"/>
          </a:xfrm>
          <a:prstGeom prst="straightConnector1">
            <a:avLst/>
          </a:prstGeom>
          <a:noFill/>
          <a:ln w="28575">
            <a:solidFill>
              <a:schemeClr val="tx1"/>
            </a:solidFill>
            <a:round/>
            <a:headEnd/>
            <a:tailEnd/>
          </a:ln>
        </p:spPr>
      </p:cxnSp>
      <p:sp>
        <p:nvSpPr>
          <p:cNvPr id="479249" name="Line 17"/>
          <p:cNvSpPr>
            <a:spLocks noChangeShapeType="1"/>
          </p:cNvSpPr>
          <p:nvPr/>
        </p:nvSpPr>
        <p:spPr bwMode="auto">
          <a:xfrm>
            <a:off x="4100513" y="2014536"/>
            <a:ext cx="247650" cy="225029"/>
          </a:xfrm>
          <a:prstGeom prst="line">
            <a:avLst/>
          </a:prstGeom>
          <a:noFill/>
          <a:ln w="28575">
            <a:solidFill>
              <a:schemeClr val="tx1"/>
            </a:solidFill>
            <a:round/>
            <a:headEnd/>
            <a:tailEnd/>
          </a:ln>
        </p:spPr>
        <p:txBody>
          <a:bodyPr/>
          <a:lstStyle/>
          <a:p>
            <a:endParaRPr lang="en-US">
              <a:solidFill>
                <a:prstClr val="black"/>
              </a:solidFill>
            </a:endParaRPr>
          </a:p>
        </p:txBody>
      </p:sp>
      <p:sp>
        <p:nvSpPr>
          <p:cNvPr id="479250" name="Line 18"/>
          <p:cNvSpPr>
            <a:spLocks noChangeShapeType="1"/>
          </p:cNvSpPr>
          <p:nvPr/>
        </p:nvSpPr>
        <p:spPr bwMode="auto">
          <a:xfrm>
            <a:off x="4348163" y="2243136"/>
            <a:ext cx="290512" cy="100013"/>
          </a:xfrm>
          <a:prstGeom prst="line">
            <a:avLst/>
          </a:prstGeom>
          <a:noFill/>
          <a:ln w="28575">
            <a:solidFill>
              <a:schemeClr val="tx1"/>
            </a:solidFill>
            <a:round/>
            <a:headEnd/>
            <a:tailEnd/>
          </a:ln>
        </p:spPr>
        <p:txBody>
          <a:bodyPr/>
          <a:lstStyle/>
          <a:p>
            <a:endParaRPr lang="en-US">
              <a:solidFill>
                <a:prstClr val="black"/>
              </a:solidFill>
            </a:endParaRPr>
          </a:p>
        </p:txBody>
      </p:sp>
      <p:sp>
        <p:nvSpPr>
          <p:cNvPr id="479251" name="AutoShape 19"/>
          <p:cNvSpPr>
            <a:spLocks noChangeArrowheads="1"/>
          </p:cNvSpPr>
          <p:nvPr/>
        </p:nvSpPr>
        <p:spPr bwMode="auto">
          <a:xfrm>
            <a:off x="3790950" y="2018109"/>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9252" name="Line 20"/>
          <p:cNvSpPr>
            <a:spLocks noChangeShapeType="1"/>
          </p:cNvSpPr>
          <p:nvPr/>
        </p:nvSpPr>
        <p:spPr bwMode="auto">
          <a:xfrm>
            <a:off x="4643439" y="2346722"/>
            <a:ext cx="333375" cy="196453"/>
          </a:xfrm>
          <a:prstGeom prst="line">
            <a:avLst/>
          </a:prstGeom>
          <a:noFill/>
          <a:ln w="28575">
            <a:solidFill>
              <a:schemeClr val="tx1"/>
            </a:solidFill>
            <a:round/>
            <a:headEnd/>
            <a:tailEnd/>
          </a:ln>
        </p:spPr>
        <p:txBody>
          <a:bodyPr/>
          <a:lstStyle/>
          <a:p>
            <a:endParaRPr lang="en-US">
              <a:solidFill>
                <a:prstClr val="black"/>
              </a:solidFill>
            </a:endParaRPr>
          </a:p>
        </p:txBody>
      </p:sp>
      <p:sp>
        <p:nvSpPr>
          <p:cNvPr id="2" name="Text Box 22">
            <a:extLst>
              <a:ext uri="{FF2B5EF4-FFF2-40B4-BE49-F238E27FC236}">
                <a16:creationId xmlns:a16="http://schemas.microsoft.com/office/drawing/2014/main" id="{6BB7450D-BC62-5B11-9F1C-C4D492DBFDC2}"/>
              </a:ext>
            </a:extLst>
          </p:cNvPr>
          <p:cNvSpPr txBox="1">
            <a:spLocks noChangeArrowheads="1"/>
          </p:cNvSpPr>
          <p:nvPr/>
        </p:nvSpPr>
        <p:spPr bwMode="auto">
          <a:xfrm>
            <a:off x="6772276" y="3714749"/>
            <a:ext cx="322524" cy="369332"/>
          </a:xfrm>
          <a:prstGeom prst="rect">
            <a:avLst/>
          </a:prstGeom>
          <a:noFill/>
          <a:ln w="9525">
            <a:noFill/>
            <a:miter lim="800000"/>
            <a:headEnd/>
            <a:tailEnd/>
          </a:ln>
        </p:spPr>
        <p:txBody>
          <a:bodyPr wrap="none">
            <a:spAutoFit/>
          </a:bodyPr>
          <a:lstStyle/>
          <a:p>
            <a:r>
              <a:rPr lang="en-US">
                <a:solidFill>
                  <a:prstClr val="black"/>
                </a:solidFill>
                <a:latin typeface="Courier New" panose="02070309020205020404" pitchFamily="49" charset="0"/>
                <a:cs typeface="Courier New" panose="02070309020205020404" pitchFamily="49" charset="0"/>
                <a:sym typeface="Symbol" pitchFamily="18" charset="2"/>
              </a:rPr>
              <a:t>w</a:t>
            </a:r>
            <a:endParaRPr lang="en-US" baseline="-25000">
              <a:solidFill>
                <a:prstClr val="black"/>
              </a:solidFill>
              <a:latin typeface="Courier New" panose="02070309020205020404" pitchFamily="49" charset="0"/>
              <a:cs typeface="Courier New" panose="02070309020205020404" pitchFamily="49" charset="0"/>
            </a:endParaRPr>
          </a:p>
        </p:txBody>
      </p:sp>
      <p:sp>
        <p:nvSpPr>
          <p:cNvPr id="3" name="Text Box 23">
            <a:extLst>
              <a:ext uri="{FF2B5EF4-FFF2-40B4-BE49-F238E27FC236}">
                <a16:creationId xmlns:a16="http://schemas.microsoft.com/office/drawing/2014/main" id="{C2267D8C-A33D-DC57-C1A3-FB737AEC0C0C}"/>
              </a:ext>
            </a:extLst>
          </p:cNvPr>
          <p:cNvSpPr txBox="1">
            <a:spLocks noChangeArrowheads="1"/>
          </p:cNvSpPr>
          <p:nvPr/>
        </p:nvSpPr>
        <p:spPr bwMode="auto">
          <a:xfrm>
            <a:off x="2751138" y="3999309"/>
            <a:ext cx="322524" cy="369332"/>
          </a:xfrm>
          <a:prstGeom prst="rect">
            <a:avLst/>
          </a:prstGeom>
          <a:noFill/>
          <a:ln w="9525">
            <a:noFill/>
            <a:miter lim="800000"/>
            <a:headEnd/>
            <a:tailEnd/>
          </a:ln>
        </p:spPr>
        <p:txBody>
          <a:bodyPr wrap="none">
            <a:spAutoFit/>
          </a:bodyPr>
          <a:lstStyle/>
          <a:p>
            <a:r>
              <a:rPr lang="en-US">
                <a:solidFill>
                  <a:prstClr val="black"/>
                </a:solidFill>
                <a:latin typeface="Courier New" panose="02070309020205020404" pitchFamily="49" charset="0"/>
                <a:cs typeface="Courier New" panose="02070309020205020404" pitchFamily="49" charset="0"/>
                <a:sym typeface="Symbol" pitchFamily="18" charset="2"/>
              </a:rPr>
              <a:t>b</a:t>
            </a:r>
            <a:endParaRPr lang="en-US" baseline="-25000">
              <a:solidFill>
                <a:prstClr val="black"/>
              </a:solidFill>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C906174E-709F-394A-6951-0EC4D048903B}"/>
              </a:ext>
            </a:extLst>
          </p:cNvPr>
          <p:cNvPicPr>
            <a:picLocks noChangeAspect="1"/>
          </p:cNvPicPr>
          <p:nvPr/>
        </p:nvPicPr>
        <p:blipFill>
          <a:blip r:embed="rId4"/>
          <a:stretch>
            <a:fillRect/>
          </a:stretch>
        </p:blipFill>
        <p:spPr>
          <a:xfrm>
            <a:off x="762000" y="1993701"/>
            <a:ext cx="571500" cy="1066800"/>
          </a:xfrm>
          <a:prstGeom prst="rect">
            <a:avLst/>
          </a:prstGeom>
        </p:spPr>
      </p:pic>
      <p:sp>
        <p:nvSpPr>
          <p:cNvPr id="5" name="Rectangle 4">
            <a:extLst>
              <a:ext uri="{FF2B5EF4-FFF2-40B4-BE49-F238E27FC236}">
                <a16:creationId xmlns:a16="http://schemas.microsoft.com/office/drawing/2014/main" id="{E5E6C9A5-0239-2B68-B837-0E3674253582}"/>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utoShape 7">
            <a:extLst>
              <a:ext uri="{FF2B5EF4-FFF2-40B4-BE49-F238E27FC236}">
                <a16:creationId xmlns:a16="http://schemas.microsoft.com/office/drawing/2014/main" id="{26B82E28-EFD4-5CE8-B32D-6F1B850CB37C}"/>
              </a:ext>
            </a:extLst>
          </p:cNvPr>
          <p:cNvSpPr>
            <a:spLocks noChangeArrowheads="1"/>
          </p:cNvSpPr>
          <p:nvPr/>
        </p:nvSpPr>
        <p:spPr bwMode="auto">
          <a:xfrm>
            <a:off x="3790950" y="2024062"/>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7" name="AutoShape 8">
            <a:extLst>
              <a:ext uri="{FF2B5EF4-FFF2-40B4-BE49-F238E27FC236}">
                <a16:creationId xmlns:a16="http://schemas.microsoft.com/office/drawing/2014/main" id="{EF945D1E-F25E-9BA2-BBD2-47F8C02E6D75}"/>
              </a:ext>
            </a:extLst>
          </p:cNvPr>
          <p:cNvSpPr>
            <a:spLocks noChangeArrowheads="1"/>
          </p:cNvSpPr>
          <p:nvPr/>
        </p:nvSpPr>
        <p:spPr bwMode="auto">
          <a:xfrm>
            <a:off x="3829050" y="2241946"/>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8" name="AutoShape 9">
            <a:extLst>
              <a:ext uri="{FF2B5EF4-FFF2-40B4-BE49-F238E27FC236}">
                <a16:creationId xmlns:a16="http://schemas.microsoft.com/office/drawing/2014/main" id="{4F981996-B4F5-7DDB-44AB-EAD7FC64DC5C}"/>
              </a:ext>
            </a:extLst>
          </p:cNvPr>
          <p:cNvSpPr>
            <a:spLocks noChangeArrowheads="1"/>
          </p:cNvSpPr>
          <p:nvPr/>
        </p:nvSpPr>
        <p:spPr bwMode="auto">
          <a:xfrm>
            <a:off x="3810000" y="2463402"/>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9" name="AutoShape 10">
            <a:extLst>
              <a:ext uri="{FF2B5EF4-FFF2-40B4-BE49-F238E27FC236}">
                <a16:creationId xmlns:a16="http://schemas.microsoft.com/office/drawing/2014/main" id="{EC2A8C25-379E-4A8A-A286-579C2D2BC823}"/>
              </a:ext>
            </a:extLst>
          </p:cNvPr>
          <p:cNvSpPr>
            <a:spLocks noChangeArrowheads="1"/>
          </p:cNvSpPr>
          <p:nvPr/>
        </p:nvSpPr>
        <p:spPr bwMode="auto">
          <a:xfrm>
            <a:off x="3581400" y="2692002"/>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10" name="AutoShape 11">
            <a:extLst>
              <a:ext uri="{FF2B5EF4-FFF2-40B4-BE49-F238E27FC236}">
                <a16:creationId xmlns:a16="http://schemas.microsoft.com/office/drawing/2014/main" id="{0257EC0E-D8ED-2EBC-1266-4FDE55646F37}"/>
              </a:ext>
            </a:extLst>
          </p:cNvPr>
          <p:cNvSpPr>
            <a:spLocks noChangeArrowheads="1"/>
          </p:cNvSpPr>
          <p:nvPr/>
        </p:nvSpPr>
        <p:spPr bwMode="auto">
          <a:xfrm>
            <a:off x="3657600" y="2920602"/>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11" name="AutoShape 12">
            <a:extLst>
              <a:ext uri="{FF2B5EF4-FFF2-40B4-BE49-F238E27FC236}">
                <a16:creationId xmlns:a16="http://schemas.microsoft.com/office/drawing/2014/main" id="{C835F000-A123-691B-BA5B-A5B43CC2751C}"/>
              </a:ext>
            </a:extLst>
          </p:cNvPr>
          <p:cNvSpPr>
            <a:spLocks noChangeArrowheads="1"/>
          </p:cNvSpPr>
          <p:nvPr/>
        </p:nvSpPr>
        <p:spPr bwMode="auto">
          <a:xfrm>
            <a:off x="3962400" y="2977752"/>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12" name="AutoShape 13">
            <a:extLst>
              <a:ext uri="{FF2B5EF4-FFF2-40B4-BE49-F238E27FC236}">
                <a16:creationId xmlns:a16="http://schemas.microsoft.com/office/drawing/2014/main" id="{B7DD762E-2944-CD3C-33F9-66E72AD8699A}"/>
              </a:ext>
            </a:extLst>
          </p:cNvPr>
          <p:cNvSpPr>
            <a:spLocks noChangeArrowheads="1"/>
          </p:cNvSpPr>
          <p:nvPr/>
        </p:nvSpPr>
        <p:spPr bwMode="auto">
          <a:xfrm>
            <a:off x="4114800" y="3149202"/>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13" name="AutoShape 14">
            <a:extLst>
              <a:ext uri="{FF2B5EF4-FFF2-40B4-BE49-F238E27FC236}">
                <a16:creationId xmlns:a16="http://schemas.microsoft.com/office/drawing/2014/main" id="{64EDED2B-7154-A6F0-7D67-C5B7FEA8A1C2}"/>
              </a:ext>
            </a:extLst>
          </p:cNvPr>
          <p:cNvSpPr>
            <a:spLocks noChangeArrowheads="1"/>
          </p:cNvSpPr>
          <p:nvPr/>
        </p:nvSpPr>
        <p:spPr bwMode="auto">
          <a:xfrm>
            <a:off x="4038600" y="3377802"/>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cxnSp>
        <p:nvCxnSpPr>
          <p:cNvPr id="14" name="AutoShape 15">
            <a:extLst>
              <a:ext uri="{FF2B5EF4-FFF2-40B4-BE49-F238E27FC236}">
                <a16:creationId xmlns:a16="http://schemas.microsoft.com/office/drawing/2014/main" id="{CB5DADD1-2626-ACC2-F804-89CCA42179A0}"/>
              </a:ext>
            </a:extLst>
          </p:cNvPr>
          <p:cNvCxnSpPr>
            <a:cxnSpLocks noChangeShapeType="1"/>
          </p:cNvCxnSpPr>
          <p:nvPr/>
        </p:nvCxnSpPr>
        <p:spPr bwMode="auto">
          <a:xfrm>
            <a:off x="3692525" y="2777727"/>
            <a:ext cx="76200" cy="228600"/>
          </a:xfrm>
          <a:prstGeom prst="straightConnector1">
            <a:avLst/>
          </a:prstGeom>
          <a:noFill/>
          <a:ln w="28575">
            <a:solidFill>
              <a:schemeClr val="tx1"/>
            </a:solidFill>
            <a:round/>
            <a:headEnd/>
            <a:tailEnd/>
          </a:ln>
        </p:spPr>
      </p:cxnSp>
      <p:cxnSp>
        <p:nvCxnSpPr>
          <p:cNvPr id="15" name="AutoShape 16">
            <a:extLst>
              <a:ext uri="{FF2B5EF4-FFF2-40B4-BE49-F238E27FC236}">
                <a16:creationId xmlns:a16="http://schemas.microsoft.com/office/drawing/2014/main" id="{87D11E5C-8760-B3CC-1C75-BFE60F6FC5D1}"/>
              </a:ext>
            </a:extLst>
          </p:cNvPr>
          <p:cNvCxnSpPr>
            <a:cxnSpLocks noChangeShapeType="1"/>
          </p:cNvCxnSpPr>
          <p:nvPr/>
        </p:nvCxnSpPr>
        <p:spPr bwMode="auto">
          <a:xfrm flipH="1">
            <a:off x="3692525" y="2549127"/>
            <a:ext cx="228600" cy="228600"/>
          </a:xfrm>
          <a:prstGeom prst="straightConnector1">
            <a:avLst/>
          </a:prstGeom>
          <a:noFill/>
          <a:ln w="28575">
            <a:solidFill>
              <a:schemeClr val="tx1"/>
            </a:solidFill>
            <a:round/>
            <a:headEnd/>
            <a:tailEnd/>
          </a:ln>
        </p:spPr>
      </p:cxnSp>
      <p:cxnSp>
        <p:nvCxnSpPr>
          <p:cNvPr id="16" name="AutoShape 17">
            <a:extLst>
              <a:ext uri="{FF2B5EF4-FFF2-40B4-BE49-F238E27FC236}">
                <a16:creationId xmlns:a16="http://schemas.microsoft.com/office/drawing/2014/main" id="{ABEB6BD1-AE3F-E6FA-68AE-586FA2E61105}"/>
              </a:ext>
            </a:extLst>
          </p:cNvPr>
          <p:cNvCxnSpPr>
            <a:cxnSpLocks noChangeShapeType="1"/>
          </p:cNvCxnSpPr>
          <p:nvPr/>
        </p:nvCxnSpPr>
        <p:spPr bwMode="auto">
          <a:xfrm>
            <a:off x="3775075" y="3006327"/>
            <a:ext cx="304800" cy="57150"/>
          </a:xfrm>
          <a:prstGeom prst="straightConnector1">
            <a:avLst/>
          </a:prstGeom>
          <a:noFill/>
          <a:ln w="28575">
            <a:solidFill>
              <a:schemeClr val="tx1"/>
            </a:solidFill>
            <a:round/>
            <a:headEnd/>
            <a:tailEnd/>
          </a:ln>
        </p:spPr>
      </p:cxnSp>
      <p:cxnSp>
        <p:nvCxnSpPr>
          <p:cNvPr id="17" name="AutoShape 18">
            <a:extLst>
              <a:ext uri="{FF2B5EF4-FFF2-40B4-BE49-F238E27FC236}">
                <a16:creationId xmlns:a16="http://schemas.microsoft.com/office/drawing/2014/main" id="{ECE32AA6-A387-2AF4-21E2-E32EDD4A973A}"/>
              </a:ext>
            </a:extLst>
          </p:cNvPr>
          <p:cNvCxnSpPr>
            <a:cxnSpLocks noChangeShapeType="1"/>
          </p:cNvCxnSpPr>
          <p:nvPr/>
        </p:nvCxnSpPr>
        <p:spPr bwMode="auto">
          <a:xfrm>
            <a:off x="4068763" y="3063477"/>
            <a:ext cx="152400" cy="171450"/>
          </a:xfrm>
          <a:prstGeom prst="straightConnector1">
            <a:avLst/>
          </a:prstGeom>
          <a:noFill/>
          <a:ln w="28575">
            <a:solidFill>
              <a:schemeClr val="tx1"/>
            </a:solidFill>
            <a:round/>
            <a:headEnd/>
            <a:tailEnd/>
          </a:ln>
        </p:spPr>
      </p:cxnSp>
      <p:cxnSp>
        <p:nvCxnSpPr>
          <p:cNvPr id="18" name="AutoShape 19">
            <a:extLst>
              <a:ext uri="{FF2B5EF4-FFF2-40B4-BE49-F238E27FC236}">
                <a16:creationId xmlns:a16="http://schemas.microsoft.com/office/drawing/2014/main" id="{673175A0-57B8-3EAD-2CEE-B5E0D9860494}"/>
              </a:ext>
            </a:extLst>
          </p:cNvPr>
          <p:cNvCxnSpPr>
            <a:cxnSpLocks noChangeShapeType="1"/>
          </p:cNvCxnSpPr>
          <p:nvPr/>
        </p:nvCxnSpPr>
        <p:spPr bwMode="auto">
          <a:xfrm flipH="1">
            <a:off x="4144963" y="3234927"/>
            <a:ext cx="76200" cy="228600"/>
          </a:xfrm>
          <a:prstGeom prst="straightConnector1">
            <a:avLst/>
          </a:prstGeom>
          <a:noFill/>
          <a:ln w="28575">
            <a:solidFill>
              <a:schemeClr val="tx1"/>
            </a:solidFill>
            <a:round/>
            <a:headEnd/>
            <a:tailEnd/>
          </a:ln>
        </p:spPr>
      </p:cxnSp>
      <p:sp>
        <p:nvSpPr>
          <p:cNvPr id="19" name="Line 20">
            <a:extLst>
              <a:ext uri="{FF2B5EF4-FFF2-40B4-BE49-F238E27FC236}">
                <a16:creationId xmlns:a16="http://schemas.microsoft.com/office/drawing/2014/main" id="{D7653998-C17D-8C33-9B4B-E3161B75D543}"/>
              </a:ext>
            </a:extLst>
          </p:cNvPr>
          <p:cNvSpPr>
            <a:spLocks noChangeShapeType="1"/>
          </p:cNvSpPr>
          <p:nvPr/>
        </p:nvSpPr>
        <p:spPr bwMode="auto">
          <a:xfrm>
            <a:off x="3905251" y="2109787"/>
            <a:ext cx="42863" cy="228600"/>
          </a:xfrm>
          <a:prstGeom prst="line">
            <a:avLst/>
          </a:prstGeom>
          <a:noFill/>
          <a:ln w="28575">
            <a:solidFill>
              <a:schemeClr val="tx1"/>
            </a:solidFill>
            <a:round/>
            <a:headEnd/>
            <a:tailEnd/>
          </a:ln>
        </p:spPr>
        <p:txBody>
          <a:bodyPr/>
          <a:lstStyle/>
          <a:p>
            <a:endParaRPr lang="en-US">
              <a:solidFill>
                <a:prstClr val="black"/>
              </a:solidFill>
            </a:endParaRPr>
          </a:p>
        </p:txBody>
      </p:sp>
      <p:sp>
        <p:nvSpPr>
          <p:cNvPr id="21" name="Line 21">
            <a:extLst>
              <a:ext uri="{FF2B5EF4-FFF2-40B4-BE49-F238E27FC236}">
                <a16:creationId xmlns:a16="http://schemas.microsoft.com/office/drawing/2014/main" id="{6780A596-68B4-D93F-DBEB-DE4A9F0EF380}"/>
              </a:ext>
            </a:extLst>
          </p:cNvPr>
          <p:cNvSpPr>
            <a:spLocks noChangeShapeType="1"/>
          </p:cNvSpPr>
          <p:nvPr/>
        </p:nvSpPr>
        <p:spPr bwMode="auto">
          <a:xfrm flipH="1">
            <a:off x="3924301" y="2334815"/>
            <a:ext cx="23813" cy="210741"/>
          </a:xfrm>
          <a:prstGeom prst="line">
            <a:avLst/>
          </a:prstGeom>
          <a:noFill/>
          <a:ln w="28575">
            <a:solidFill>
              <a:schemeClr val="tx1"/>
            </a:solidFill>
            <a:round/>
            <a:headEnd/>
            <a:tailEnd/>
          </a:ln>
        </p:spPr>
        <p:txBody>
          <a:bodyPr/>
          <a:lstStyle/>
          <a:p>
            <a:endParaRPr lang="en-US">
              <a:solidFill>
                <a:prstClr val="black"/>
              </a:solidFill>
            </a:endParaRPr>
          </a:p>
        </p:txBody>
      </p:sp>
      <p:sp>
        <p:nvSpPr>
          <p:cNvPr id="23" name="Content Placeholder 22">
            <a:extLst>
              <a:ext uri="{FF2B5EF4-FFF2-40B4-BE49-F238E27FC236}">
                <a16:creationId xmlns:a16="http://schemas.microsoft.com/office/drawing/2014/main" id="{F5FF694C-391B-85C3-EC2D-04B7B32629F8}"/>
              </a:ext>
            </a:extLst>
          </p:cNvPr>
          <p:cNvSpPr>
            <a:spLocks noGrp="1"/>
          </p:cNvSpPr>
          <p:nvPr>
            <p:ph idx="1"/>
          </p:nvPr>
        </p:nvSpPr>
        <p:spPr/>
        <p:txBody>
          <a:bodyPr/>
          <a:lstStyle/>
          <a:p>
            <a:endParaRPr lang="en-IN"/>
          </a:p>
        </p:txBody>
      </p:sp>
      <p:sp>
        <p:nvSpPr>
          <p:cNvPr id="22" name="Title 21">
            <a:extLst>
              <a:ext uri="{FF2B5EF4-FFF2-40B4-BE49-F238E27FC236}">
                <a16:creationId xmlns:a16="http://schemas.microsoft.com/office/drawing/2014/main" id="{A1A6E45C-32DE-66CE-3BF0-5CABF520076B}"/>
              </a:ext>
            </a:extLst>
          </p:cNvPr>
          <p:cNvSpPr>
            <a:spLocks noGrp="1"/>
          </p:cNvSpPr>
          <p:nvPr>
            <p:ph type="title"/>
          </p:nvPr>
        </p:nvSpPr>
        <p:spPr/>
        <p:txBody>
          <a:bodyPr/>
          <a:lstStyle/>
          <a:p>
            <a:r>
              <a:rPr lang="en-IN"/>
              <a:t>Property of gradient descent</a:t>
            </a:r>
          </a:p>
        </p:txBody>
      </p:sp>
    </p:spTree>
    <p:extLst>
      <p:ext uri="{BB962C8B-B14F-4D97-AF65-F5344CB8AC3E}">
        <p14:creationId xmlns:p14="http://schemas.microsoft.com/office/powerpoint/2010/main" val="2774161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92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92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9249"/>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47924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79250"/>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47924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79252"/>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479242"/>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500"/>
                                  </p:stCondLst>
                                  <p:childTnLst>
                                    <p:set>
                                      <p:cBhvr>
                                        <p:cTn id="34" dur="1" fill="hold">
                                          <p:stCondLst>
                                            <p:cond delay="0"/>
                                          </p:stCondLst>
                                        </p:cTn>
                                        <p:tgtEl>
                                          <p:spTgt spid="479246"/>
                                        </p:tgtEl>
                                        <p:attrNameLst>
                                          <p:attrName>style.visibility</p:attrName>
                                        </p:attrNameLst>
                                      </p:cBhvr>
                                      <p:to>
                                        <p:strVal val="visible"/>
                                      </p:to>
                                    </p:set>
                                  </p:childTnLst>
                                </p:cTn>
                              </p:par>
                            </p:childTnLst>
                          </p:cTn>
                        </p:par>
                        <p:par>
                          <p:cTn id="35" fill="hold">
                            <p:stCondLst>
                              <p:cond delay="500"/>
                            </p:stCondLst>
                            <p:childTnLst>
                              <p:par>
                                <p:cTn id="36" presetID="1" presetClass="entr" presetSubtype="0" fill="hold" grpId="0" nodeType="afterEffect">
                                  <p:stCondLst>
                                    <p:cond delay="0"/>
                                  </p:stCondLst>
                                  <p:childTnLst>
                                    <p:set>
                                      <p:cBhvr>
                                        <p:cTn id="37" dur="1" fill="hold">
                                          <p:stCondLst>
                                            <p:cond delay="0"/>
                                          </p:stCondLst>
                                        </p:cTn>
                                        <p:tgtEl>
                                          <p:spTgt spid="479243"/>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nodeType="afterEffect">
                                  <p:stCondLst>
                                    <p:cond delay="500"/>
                                  </p:stCondLst>
                                  <p:childTnLst>
                                    <p:set>
                                      <p:cBhvr>
                                        <p:cTn id="40" dur="1" fill="hold">
                                          <p:stCondLst>
                                            <p:cond delay="0"/>
                                          </p:stCondLst>
                                        </p:cTn>
                                        <p:tgtEl>
                                          <p:spTgt spid="479247"/>
                                        </p:tgtEl>
                                        <p:attrNameLst>
                                          <p:attrName>style.visibility</p:attrName>
                                        </p:attrNameLst>
                                      </p:cBhvr>
                                      <p:to>
                                        <p:strVal val="visible"/>
                                      </p:to>
                                    </p:set>
                                  </p:childTnLst>
                                </p:cTn>
                              </p:par>
                            </p:childTnLst>
                          </p:cTn>
                        </p:par>
                        <p:par>
                          <p:cTn id="41" fill="hold">
                            <p:stCondLst>
                              <p:cond delay="1000"/>
                            </p:stCondLst>
                            <p:childTnLst>
                              <p:par>
                                <p:cTn id="42" presetID="1" presetClass="entr" presetSubtype="0" fill="hold" grpId="0" nodeType="afterEffect">
                                  <p:stCondLst>
                                    <p:cond delay="0"/>
                                  </p:stCondLst>
                                  <p:childTnLst>
                                    <p:set>
                                      <p:cBhvr>
                                        <p:cTn id="43" dur="1" fill="hold">
                                          <p:stCondLst>
                                            <p:cond delay="0"/>
                                          </p:stCondLst>
                                        </p:cTn>
                                        <p:tgtEl>
                                          <p:spTgt spid="479244"/>
                                        </p:tgtEl>
                                        <p:attrNameLst>
                                          <p:attrName>style.visibility</p:attrName>
                                        </p:attrNameLst>
                                      </p:cBhvr>
                                      <p:to>
                                        <p:strVal val="visible"/>
                                      </p:to>
                                    </p:set>
                                  </p:childTnLst>
                                </p:cTn>
                              </p:par>
                            </p:childTnLst>
                          </p:cTn>
                        </p:par>
                        <p:par>
                          <p:cTn id="44" fill="hold">
                            <p:stCondLst>
                              <p:cond delay="1000"/>
                            </p:stCondLst>
                            <p:childTnLst>
                              <p:par>
                                <p:cTn id="45" presetID="1" presetClass="entr" presetSubtype="0" fill="hold" nodeType="afterEffect">
                                  <p:stCondLst>
                                    <p:cond delay="500"/>
                                  </p:stCondLst>
                                  <p:childTnLst>
                                    <p:set>
                                      <p:cBhvr>
                                        <p:cTn id="46" dur="1" fill="hold">
                                          <p:stCondLst>
                                            <p:cond delay="0"/>
                                          </p:stCondLst>
                                        </p:cTn>
                                        <p:tgtEl>
                                          <p:spTgt spid="479248"/>
                                        </p:tgtEl>
                                        <p:attrNameLst>
                                          <p:attrName>style.visibility</p:attrName>
                                        </p:attrNameLst>
                                      </p:cBhvr>
                                      <p:to>
                                        <p:strVal val="visible"/>
                                      </p:to>
                                    </p:set>
                                  </p:childTnLst>
                                </p:cTn>
                              </p:par>
                            </p:childTnLst>
                          </p:cTn>
                        </p:par>
                        <p:par>
                          <p:cTn id="47" fill="hold">
                            <p:stCondLst>
                              <p:cond delay="1500"/>
                            </p:stCondLst>
                            <p:childTnLst>
                              <p:par>
                                <p:cTn id="48" presetID="1" presetClass="entr" presetSubtype="0" fill="hold" grpId="0" nodeType="afterEffect">
                                  <p:stCondLst>
                                    <p:cond delay="0"/>
                                  </p:stCondLst>
                                  <p:childTnLst>
                                    <p:set>
                                      <p:cBhvr>
                                        <p:cTn id="49" dur="1" fill="hold">
                                          <p:stCondLst>
                                            <p:cond delay="0"/>
                                          </p:stCondLst>
                                        </p:cTn>
                                        <p:tgtEl>
                                          <p:spTgt spid="479245"/>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grpId="0" nodeType="afterEffect">
                                  <p:stCondLst>
                                    <p:cond delay="0"/>
                                  </p:stCondLst>
                                  <p:childTnLst>
                                    <p:set>
                                      <p:cBhvr>
                                        <p:cTn id="60" dur="1" fill="hold">
                                          <p:stCondLst>
                                            <p:cond delay="0"/>
                                          </p:stCondLst>
                                        </p:cTn>
                                        <p:tgtEl>
                                          <p:spTgt spid="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1"/>
                                        </p:tgtEl>
                                        <p:attrNameLst>
                                          <p:attrName>style.visibility</p:attrName>
                                        </p:attrNameLst>
                                      </p:cBhvr>
                                      <p:to>
                                        <p:strVal val="visible"/>
                                      </p:to>
                                    </p:set>
                                  </p:childTnLst>
                                </p:cTn>
                              </p:par>
                            </p:childTnLst>
                          </p:cTn>
                        </p:par>
                        <p:par>
                          <p:cTn id="65" fill="hold">
                            <p:stCondLst>
                              <p:cond delay="0"/>
                            </p:stCondLst>
                            <p:childTnLst>
                              <p:par>
                                <p:cTn id="66" presetID="1" presetClass="entr" presetSubtype="0" fill="hold" grpId="0" nodeType="afterEffect">
                                  <p:stCondLst>
                                    <p:cond delay="0"/>
                                  </p:stCondLst>
                                  <p:childTnLst>
                                    <p:set>
                                      <p:cBhvr>
                                        <p:cTn id="67" dur="1" fill="hold">
                                          <p:stCondLst>
                                            <p:cond delay="0"/>
                                          </p:stCondLst>
                                        </p:cTn>
                                        <p:tgtEl>
                                          <p:spTgt spid="8"/>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15"/>
                                        </p:tgtEl>
                                        <p:attrNameLst>
                                          <p:attrName>style.visibility</p:attrName>
                                        </p:attrNameLst>
                                      </p:cBhvr>
                                      <p:to>
                                        <p:strVal val="visible"/>
                                      </p:to>
                                    </p:set>
                                  </p:childTnLst>
                                </p:cTn>
                              </p:par>
                            </p:childTnLst>
                          </p:cTn>
                        </p:par>
                        <p:par>
                          <p:cTn id="72" fill="hold">
                            <p:stCondLst>
                              <p:cond delay="0"/>
                            </p:stCondLst>
                            <p:childTnLst>
                              <p:par>
                                <p:cTn id="73" presetID="1" presetClass="entr" presetSubtype="0" fill="hold" grpId="0" nodeType="afterEffect">
                                  <p:stCondLst>
                                    <p:cond delay="0"/>
                                  </p:stCondLst>
                                  <p:childTnLst>
                                    <p:set>
                                      <p:cBhvr>
                                        <p:cTn id="74" dur="1" fill="hold">
                                          <p:stCondLst>
                                            <p:cond delay="0"/>
                                          </p:stCondLst>
                                        </p:cTn>
                                        <p:tgtEl>
                                          <p:spTgt spid="9"/>
                                        </p:tgtEl>
                                        <p:attrNameLst>
                                          <p:attrName>style.visibility</p:attrName>
                                        </p:attrNameLst>
                                      </p:cBhvr>
                                      <p:to>
                                        <p:strVal val="visible"/>
                                      </p:to>
                                    </p:set>
                                  </p:childTnLst>
                                </p:cTn>
                              </p:par>
                            </p:childTnLst>
                          </p:cTn>
                        </p:par>
                        <p:par>
                          <p:cTn id="75" fill="hold">
                            <p:stCondLst>
                              <p:cond delay="0"/>
                            </p:stCondLst>
                            <p:childTnLst>
                              <p:par>
                                <p:cTn id="76" presetID="1" presetClass="entr" presetSubtype="0" fill="hold" nodeType="afterEffect">
                                  <p:stCondLst>
                                    <p:cond delay="500"/>
                                  </p:stCondLst>
                                  <p:childTnLst>
                                    <p:set>
                                      <p:cBhvr>
                                        <p:cTn id="77" dur="1" fill="hold">
                                          <p:stCondLst>
                                            <p:cond delay="0"/>
                                          </p:stCondLst>
                                        </p:cTn>
                                        <p:tgtEl>
                                          <p:spTgt spid="14"/>
                                        </p:tgtEl>
                                        <p:attrNameLst>
                                          <p:attrName>style.visibility</p:attrName>
                                        </p:attrNameLst>
                                      </p:cBhvr>
                                      <p:to>
                                        <p:strVal val="visible"/>
                                      </p:to>
                                    </p:set>
                                  </p:childTnLst>
                                </p:cTn>
                              </p:par>
                            </p:childTnLst>
                          </p:cTn>
                        </p:par>
                        <p:par>
                          <p:cTn id="78" fill="hold">
                            <p:stCondLst>
                              <p:cond delay="500"/>
                            </p:stCondLst>
                            <p:childTnLst>
                              <p:par>
                                <p:cTn id="79" presetID="1" presetClass="entr" presetSubtype="0" fill="hold" grpId="0" nodeType="afterEffect">
                                  <p:stCondLst>
                                    <p:cond delay="0"/>
                                  </p:stCondLst>
                                  <p:childTnLst>
                                    <p:set>
                                      <p:cBhvr>
                                        <p:cTn id="80" dur="1" fill="hold">
                                          <p:stCondLst>
                                            <p:cond delay="0"/>
                                          </p:stCondLst>
                                        </p:cTn>
                                        <p:tgtEl>
                                          <p:spTgt spid="10"/>
                                        </p:tgtEl>
                                        <p:attrNameLst>
                                          <p:attrName>style.visibility</p:attrName>
                                        </p:attrNameLst>
                                      </p:cBhvr>
                                      <p:to>
                                        <p:strVal val="visible"/>
                                      </p:to>
                                    </p:set>
                                  </p:childTnLst>
                                </p:cTn>
                              </p:par>
                            </p:childTnLst>
                          </p:cTn>
                        </p:par>
                        <p:par>
                          <p:cTn id="81" fill="hold">
                            <p:stCondLst>
                              <p:cond delay="500"/>
                            </p:stCondLst>
                            <p:childTnLst>
                              <p:par>
                                <p:cTn id="82" presetID="1" presetClass="entr" presetSubtype="0" fill="hold" nodeType="afterEffect">
                                  <p:stCondLst>
                                    <p:cond delay="500"/>
                                  </p:stCondLst>
                                  <p:childTnLst>
                                    <p:set>
                                      <p:cBhvr>
                                        <p:cTn id="83" dur="1" fill="hold">
                                          <p:stCondLst>
                                            <p:cond delay="0"/>
                                          </p:stCondLst>
                                        </p:cTn>
                                        <p:tgtEl>
                                          <p:spTgt spid="16"/>
                                        </p:tgtEl>
                                        <p:attrNameLst>
                                          <p:attrName>style.visibility</p:attrName>
                                        </p:attrNameLst>
                                      </p:cBhvr>
                                      <p:to>
                                        <p:strVal val="visible"/>
                                      </p:to>
                                    </p:set>
                                  </p:childTnLst>
                                </p:cTn>
                              </p:par>
                            </p:childTnLst>
                          </p:cTn>
                        </p:par>
                        <p:par>
                          <p:cTn id="84" fill="hold">
                            <p:stCondLst>
                              <p:cond delay="1000"/>
                            </p:stCondLst>
                            <p:childTnLst>
                              <p:par>
                                <p:cTn id="85" presetID="1" presetClass="entr" presetSubtype="0" fill="hold" grpId="0" nodeType="afterEffect">
                                  <p:stCondLst>
                                    <p:cond delay="0"/>
                                  </p:stCondLst>
                                  <p:childTnLst>
                                    <p:set>
                                      <p:cBhvr>
                                        <p:cTn id="86" dur="1" fill="hold">
                                          <p:stCondLst>
                                            <p:cond delay="0"/>
                                          </p:stCondLst>
                                        </p:cTn>
                                        <p:tgtEl>
                                          <p:spTgt spid="11"/>
                                        </p:tgtEl>
                                        <p:attrNameLst>
                                          <p:attrName>style.visibility</p:attrName>
                                        </p:attrNameLst>
                                      </p:cBhvr>
                                      <p:to>
                                        <p:strVal val="visible"/>
                                      </p:to>
                                    </p:set>
                                  </p:childTnLst>
                                </p:cTn>
                              </p:par>
                            </p:childTnLst>
                          </p:cTn>
                        </p:par>
                        <p:par>
                          <p:cTn id="87" fill="hold">
                            <p:stCondLst>
                              <p:cond delay="1000"/>
                            </p:stCondLst>
                            <p:childTnLst>
                              <p:par>
                                <p:cTn id="88" presetID="1" presetClass="entr" presetSubtype="0" fill="hold" nodeType="afterEffect">
                                  <p:stCondLst>
                                    <p:cond delay="500"/>
                                  </p:stCondLst>
                                  <p:childTnLst>
                                    <p:set>
                                      <p:cBhvr>
                                        <p:cTn id="89" dur="1" fill="hold">
                                          <p:stCondLst>
                                            <p:cond delay="0"/>
                                          </p:stCondLst>
                                        </p:cTn>
                                        <p:tgtEl>
                                          <p:spTgt spid="17"/>
                                        </p:tgtEl>
                                        <p:attrNameLst>
                                          <p:attrName>style.visibility</p:attrName>
                                        </p:attrNameLst>
                                      </p:cBhvr>
                                      <p:to>
                                        <p:strVal val="visible"/>
                                      </p:to>
                                    </p:set>
                                  </p:childTnLst>
                                </p:cTn>
                              </p:par>
                            </p:childTnLst>
                          </p:cTn>
                        </p:par>
                        <p:par>
                          <p:cTn id="90" fill="hold">
                            <p:stCondLst>
                              <p:cond delay="1500"/>
                            </p:stCondLst>
                            <p:childTnLst>
                              <p:par>
                                <p:cTn id="91" presetID="1" presetClass="entr" presetSubtype="0" fill="hold" grpId="0" nodeType="afterEffect">
                                  <p:stCondLst>
                                    <p:cond delay="0"/>
                                  </p:stCondLst>
                                  <p:childTnLst>
                                    <p:set>
                                      <p:cBhvr>
                                        <p:cTn id="92" dur="1" fill="hold">
                                          <p:stCondLst>
                                            <p:cond delay="0"/>
                                          </p:stCondLst>
                                        </p:cTn>
                                        <p:tgtEl>
                                          <p:spTgt spid="12"/>
                                        </p:tgtEl>
                                        <p:attrNameLst>
                                          <p:attrName>style.visibility</p:attrName>
                                        </p:attrNameLst>
                                      </p:cBhvr>
                                      <p:to>
                                        <p:strVal val="visible"/>
                                      </p:to>
                                    </p:set>
                                  </p:childTnLst>
                                </p:cTn>
                              </p:par>
                            </p:childTnLst>
                          </p:cTn>
                        </p:par>
                        <p:par>
                          <p:cTn id="93" fill="hold">
                            <p:stCondLst>
                              <p:cond delay="1500"/>
                            </p:stCondLst>
                            <p:childTnLst>
                              <p:par>
                                <p:cTn id="94" presetID="1" presetClass="entr" presetSubtype="0" fill="hold" nodeType="afterEffect">
                                  <p:stCondLst>
                                    <p:cond delay="500"/>
                                  </p:stCondLst>
                                  <p:childTnLst>
                                    <p:set>
                                      <p:cBhvr>
                                        <p:cTn id="95" dur="1" fill="hold">
                                          <p:stCondLst>
                                            <p:cond delay="0"/>
                                          </p:stCondLst>
                                        </p:cTn>
                                        <p:tgtEl>
                                          <p:spTgt spid="18"/>
                                        </p:tgtEl>
                                        <p:attrNameLst>
                                          <p:attrName>style.visibility</p:attrName>
                                        </p:attrNameLst>
                                      </p:cBhvr>
                                      <p:to>
                                        <p:strVal val="visible"/>
                                      </p:to>
                                    </p:set>
                                  </p:childTnLst>
                                </p:cTn>
                              </p:par>
                            </p:childTnLst>
                          </p:cTn>
                        </p:par>
                        <p:par>
                          <p:cTn id="96" fill="hold">
                            <p:stCondLst>
                              <p:cond delay="2000"/>
                            </p:stCondLst>
                            <p:childTnLst>
                              <p:par>
                                <p:cTn id="97" presetID="1" presetClass="entr" presetSubtype="0" fill="hold" grpId="0" nodeType="afterEffect">
                                  <p:stCondLst>
                                    <p:cond delay="0"/>
                                  </p:stCondLst>
                                  <p:childTnLst>
                                    <p:set>
                                      <p:cBhvr>
                                        <p:cTn id="9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39" grpId="0" animBg="1"/>
      <p:bldP spid="479240" grpId="0" animBg="1"/>
      <p:bldP spid="479241" grpId="0" animBg="1"/>
      <p:bldP spid="479242" grpId="0" animBg="1"/>
      <p:bldP spid="479243" grpId="0" animBg="1"/>
      <p:bldP spid="479244" grpId="0" animBg="1"/>
      <p:bldP spid="479245" grpId="0" animBg="1"/>
      <p:bldP spid="479249" grpId="0" animBg="1"/>
      <p:bldP spid="479250" grpId="0" animBg="1"/>
      <p:bldP spid="479251" grpId="0" animBg="1"/>
      <p:bldP spid="479252" grpId="0" animBg="1"/>
      <p:bldP spid="6" grpId="0" animBg="1"/>
      <p:bldP spid="7" grpId="0" animBg="1"/>
      <p:bldP spid="8" grpId="0" animBg="1"/>
      <p:bldP spid="9" grpId="0" animBg="1"/>
      <p:bldP spid="10" grpId="0" animBg="1"/>
      <p:bldP spid="11" grpId="0" animBg="1"/>
      <p:bldP spid="12" grpId="0" animBg="1"/>
      <p:bldP spid="13" grpId="0" animBg="1"/>
      <p:bldP spid="19" grpId="0" animBg="1"/>
      <p:bldP spid="2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710DA85-B864-E347-8EB2-FCE5135614B8}"/>
              </a:ext>
            </a:extLst>
          </p:cNvPr>
          <p:cNvPicPr>
            <a:picLocks noChangeAspect="1"/>
          </p:cNvPicPr>
          <p:nvPr/>
        </p:nvPicPr>
        <p:blipFill>
          <a:blip r:embed="rId3"/>
          <a:stretch>
            <a:fillRect/>
          </a:stretch>
        </p:blipFill>
        <p:spPr>
          <a:xfrm>
            <a:off x="4154427" y="304823"/>
            <a:ext cx="4902132" cy="2286000"/>
          </a:xfrm>
          <a:prstGeom prst="rect">
            <a:avLst/>
          </a:prstGeom>
        </p:spPr>
      </p:pic>
      <p:pic>
        <p:nvPicPr>
          <p:cNvPr id="7" name="Picture 6">
            <a:extLst>
              <a:ext uri="{FF2B5EF4-FFF2-40B4-BE49-F238E27FC236}">
                <a16:creationId xmlns:a16="http://schemas.microsoft.com/office/drawing/2014/main" id="{191C61A7-8BF1-72EA-6DE2-35975FD70817}"/>
              </a:ext>
            </a:extLst>
          </p:cNvPr>
          <p:cNvPicPr>
            <a:picLocks noChangeAspect="1"/>
          </p:cNvPicPr>
          <p:nvPr/>
        </p:nvPicPr>
        <p:blipFill>
          <a:blip r:embed="rId4"/>
          <a:stretch>
            <a:fillRect/>
          </a:stretch>
        </p:blipFill>
        <p:spPr>
          <a:xfrm>
            <a:off x="53961" y="438150"/>
            <a:ext cx="4100466" cy="2772900"/>
          </a:xfrm>
          <a:prstGeom prst="rect">
            <a:avLst/>
          </a:prstGeom>
        </p:spPr>
      </p:pic>
      <p:sp>
        <p:nvSpPr>
          <p:cNvPr id="2" name="TextBox 1">
            <a:extLst>
              <a:ext uri="{FF2B5EF4-FFF2-40B4-BE49-F238E27FC236}">
                <a16:creationId xmlns:a16="http://schemas.microsoft.com/office/drawing/2014/main" id="{DC3C1C68-8ABC-BA55-A8EE-605F8D46043E}"/>
              </a:ext>
            </a:extLst>
          </p:cNvPr>
          <p:cNvSpPr txBox="1"/>
          <p:nvPr/>
        </p:nvSpPr>
        <p:spPr>
          <a:xfrm>
            <a:off x="53961" y="0"/>
            <a:ext cx="4263860" cy="523220"/>
          </a:xfrm>
          <a:prstGeom prst="rect">
            <a:avLst/>
          </a:prstGeom>
          <a:noFill/>
        </p:spPr>
        <p:txBody>
          <a:bodyPr wrap="none" rtlCol="0">
            <a:spAutoFit/>
          </a:bodyPr>
          <a:lstStyle/>
          <a:p>
            <a:r>
              <a:rPr lang="en-US" sz="2800" b="1"/>
              <a:t>Gradient descent algorithm</a:t>
            </a:r>
          </a:p>
        </p:txBody>
      </p:sp>
      <p:pic>
        <p:nvPicPr>
          <p:cNvPr id="3" name="Picture 2">
            <a:extLst>
              <a:ext uri="{FF2B5EF4-FFF2-40B4-BE49-F238E27FC236}">
                <a16:creationId xmlns:a16="http://schemas.microsoft.com/office/drawing/2014/main" id="{BCAF8B47-2654-C34E-53F3-53571FA85EF3}"/>
              </a:ext>
            </a:extLst>
          </p:cNvPr>
          <p:cNvPicPr>
            <a:picLocks noChangeAspect="1"/>
          </p:cNvPicPr>
          <p:nvPr/>
        </p:nvPicPr>
        <p:blipFill>
          <a:blip r:embed="rId5"/>
          <a:stretch>
            <a:fillRect/>
          </a:stretch>
        </p:blipFill>
        <p:spPr>
          <a:xfrm>
            <a:off x="4989575" y="2724150"/>
            <a:ext cx="3624331" cy="2329380"/>
          </a:xfrm>
          <a:prstGeom prst="rect">
            <a:avLst/>
          </a:prstGeom>
        </p:spPr>
      </p:pic>
    </p:spTree>
    <p:extLst>
      <p:ext uri="{BB962C8B-B14F-4D97-AF65-F5344CB8AC3E}">
        <p14:creationId xmlns:p14="http://schemas.microsoft.com/office/powerpoint/2010/main" val="27968016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285750"/>
            <a:ext cx="4263860" cy="523220"/>
          </a:xfrm>
          <a:prstGeom prst="rect">
            <a:avLst/>
          </a:prstGeom>
          <a:noFill/>
        </p:spPr>
        <p:txBody>
          <a:bodyPr wrap="none" rtlCol="0">
            <a:spAutoFit/>
          </a:bodyPr>
          <a:lstStyle/>
          <a:p>
            <a:r>
              <a:rPr lang="en-US" sz="2800" b="1"/>
              <a:t>Gradient descent algorithm</a:t>
            </a:r>
          </a:p>
        </p:txBody>
      </p:sp>
      <p:cxnSp>
        <p:nvCxnSpPr>
          <p:cNvPr id="30" name="Straight Connector 29"/>
          <p:cNvCxnSpPr/>
          <p:nvPr/>
        </p:nvCxnSpPr>
        <p:spPr>
          <a:xfrm>
            <a:off x="609600" y="2800350"/>
            <a:ext cx="7696200" cy="0"/>
          </a:xfrm>
          <a:prstGeom prst="line">
            <a:avLst/>
          </a:prstGeom>
          <a:ln w="127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13465" y="2876550"/>
            <a:ext cx="3905621" cy="461665"/>
          </a:xfrm>
          <a:prstGeom prst="rect">
            <a:avLst/>
          </a:prstGeom>
          <a:noFill/>
        </p:spPr>
        <p:txBody>
          <a:bodyPr wrap="none" rtlCol="0">
            <a:spAutoFit/>
          </a:bodyPr>
          <a:lstStyle/>
          <a:p>
            <a:r>
              <a:rPr lang="en-US" sz="2400"/>
              <a:t>Correct: Simultaneous update</a:t>
            </a:r>
          </a:p>
        </p:txBody>
      </p:sp>
      <p:cxnSp>
        <p:nvCxnSpPr>
          <p:cNvPr id="39" name="Straight Connector 38"/>
          <p:cNvCxnSpPr/>
          <p:nvPr/>
        </p:nvCxnSpPr>
        <p:spPr>
          <a:xfrm>
            <a:off x="4457700" y="2876550"/>
            <a:ext cx="0" cy="1905000"/>
          </a:xfrm>
          <a:prstGeom prst="line">
            <a:avLst/>
          </a:prstGeom>
          <a:ln w="127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704465" y="2876550"/>
            <a:ext cx="1391535" cy="461665"/>
          </a:xfrm>
          <a:prstGeom prst="rect">
            <a:avLst/>
          </a:prstGeom>
          <a:noFill/>
        </p:spPr>
        <p:txBody>
          <a:bodyPr wrap="none" rtlCol="0">
            <a:spAutoFit/>
          </a:bodyPr>
          <a:lstStyle/>
          <a:p>
            <a:r>
              <a:rPr lang="en-US" sz="2400"/>
              <a:t>Incorrect:</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86A82673-3567-1731-709F-A4D6824D3ECB}"/>
                  </a:ext>
                </a:extLst>
              </p:cNvPr>
              <p:cNvSpPr txBox="1"/>
              <p:nvPr/>
            </p:nvSpPr>
            <p:spPr>
              <a:xfrm>
                <a:off x="685321" y="845187"/>
                <a:ext cx="3810000" cy="1917063"/>
              </a:xfrm>
              <a:prstGeom prst="rect">
                <a:avLst/>
              </a:prstGeom>
              <a:noFill/>
            </p:spPr>
            <p:txBody>
              <a:bodyPr wrap="square" rtlCol="0">
                <a:spAutoFit/>
              </a:bodyPr>
              <a:lstStyle/>
              <a:p>
                <a:r>
                  <a:rPr lang="en-IN" sz="2400"/>
                  <a:t> repeat until convergence {</a:t>
                </a:r>
              </a:p>
              <a:p>
                <a:r>
                  <a:rPr lang="en-IN" sz="2400"/>
                  <a:t>     b = b – </a:t>
                </a:r>
                <a:r>
                  <a:rPr lang="el-GR" sz="2400"/>
                  <a:t>α</a:t>
                </a:r>
                <a:r>
                  <a:rPr lang="en-IN" sz="2400"/>
                  <a:t> </a:t>
                </a:r>
                <a14:m>
                  <m:oMath xmlns:m="http://schemas.openxmlformats.org/officeDocument/2006/math">
                    <m:f>
                      <m:fPr>
                        <m:ctrlPr>
                          <a:rPr lang="en-IN" sz="2400" i="1" smtClean="0">
                            <a:latin typeface="Cambria Math" panose="02040503050406030204" pitchFamily="18" charset="0"/>
                          </a:rPr>
                        </m:ctrlPr>
                      </m:fPr>
                      <m:num>
                        <m:r>
                          <a:rPr lang="en-IN" sz="2400" i="1" smtClean="0">
                            <a:latin typeface="Cambria Math" panose="02040503050406030204" pitchFamily="18" charset="0"/>
                          </a:rPr>
                          <m:t>𝜕</m:t>
                        </m:r>
                      </m:num>
                      <m:den>
                        <m:r>
                          <a:rPr lang="en-IN" sz="2400" i="1" smtClean="0">
                            <a:latin typeface="Cambria Math" panose="02040503050406030204" pitchFamily="18" charset="0"/>
                          </a:rPr>
                          <m:t>𝜕</m:t>
                        </m:r>
                        <m:r>
                          <a:rPr lang="en-IN" sz="2400" b="0" i="1" smtClean="0">
                            <a:latin typeface="Cambria Math" panose="02040503050406030204" pitchFamily="18" charset="0"/>
                          </a:rPr>
                          <m:t>𝑏</m:t>
                        </m:r>
                      </m:den>
                    </m:f>
                    <m:r>
                      <a:rPr lang="en-IN" sz="2400" i="1">
                        <a:latin typeface="Cambria Math" panose="02040503050406030204" pitchFamily="18" charset="0"/>
                      </a:rPr>
                      <m:t>𝐽</m:t>
                    </m:r>
                    <m:r>
                      <a:rPr lang="en-IN" sz="2400" i="1">
                        <a:latin typeface="Cambria Math" panose="02040503050406030204" pitchFamily="18" charset="0"/>
                      </a:rPr>
                      <m:t>(</m:t>
                    </m:r>
                    <m:r>
                      <a:rPr lang="en-IN" sz="2400" i="1">
                        <a:latin typeface="Cambria Math" panose="02040503050406030204" pitchFamily="18" charset="0"/>
                      </a:rPr>
                      <m:t>𝑏</m:t>
                    </m:r>
                    <m:r>
                      <a:rPr lang="en-IN" sz="2400" i="1">
                        <a:latin typeface="Cambria Math" panose="02040503050406030204" pitchFamily="18" charset="0"/>
                      </a:rPr>
                      <m:t>,</m:t>
                    </m:r>
                    <m:r>
                      <a:rPr lang="en-IN" sz="2400" i="1">
                        <a:latin typeface="Cambria Math" panose="02040503050406030204" pitchFamily="18" charset="0"/>
                      </a:rPr>
                      <m:t>𝑤</m:t>
                    </m:r>
                    <m:r>
                      <a:rPr lang="en-IN" sz="2400" i="1">
                        <a:latin typeface="Cambria Math" panose="02040503050406030204" pitchFamily="18" charset="0"/>
                      </a:rPr>
                      <m:t>)</m:t>
                    </m:r>
                  </m:oMath>
                </a14:m>
                <a:endParaRPr lang="en-IN" sz="2400"/>
              </a:p>
              <a:p>
                <a:r>
                  <a:rPr lang="en-IN" sz="2400"/>
                  <a:t>     w = w – </a:t>
                </a:r>
                <a:r>
                  <a:rPr lang="el-GR" sz="2400"/>
                  <a:t>α</a:t>
                </a:r>
                <a:r>
                  <a:rPr lang="en-IN" sz="2400"/>
                  <a:t> </a:t>
                </a:r>
                <a14:m>
                  <m:oMath xmlns:m="http://schemas.openxmlformats.org/officeDocument/2006/math">
                    <m:f>
                      <m:fPr>
                        <m:ctrlPr>
                          <a:rPr lang="en-IN" sz="2400" i="1" smtClean="0">
                            <a:latin typeface="Cambria Math" panose="02040503050406030204" pitchFamily="18" charset="0"/>
                          </a:rPr>
                        </m:ctrlPr>
                      </m:fPr>
                      <m:num>
                        <m:r>
                          <a:rPr lang="en-IN" sz="2400" i="1" smtClean="0">
                            <a:latin typeface="Cambria Math" panose="02040503050406030204" pitchFamily="18" charset="0"/>
                          </a:rPr>
                          <m:t>𝜕</m:t>
                        </m:r>
                      </m:num>
                      <m:den>
                        <m:r>
                          <a:rPr lang="en-IN" sz="2400" i="1" smtClean="0">
                            <a:latin typeface="Cambria Math" panose="02040503050406030204" pitchFamily="18" charset="0"/>
                          </a:rPr>
                          <m:t>𝜕</m:t>
                        </m:r>
                        <m:r>
                          <a:rPr lang="en-IN" sz="2400" b="0" i="1" smtClean="0">
                            <a:latin typeface="Cambria Math" panose="02040503050406030204" pitchFamily="18" charset="0"/>
                          </a:rPr>
                          <m:t>𝑤</m:t>
                        </m:r>
                      </m:den>
                    </m:f>
                    <m:r>
                      <a:rPr lang="en-IN" sz="2400" i="1">
                        <a:latin typeface="Cambria Math" panose="02040503050406030204" pitchFamily="18" charset="0"/>
                      </a:rPr>
                      <m:t>𝐽</m:t>
                    </m:r>
                    <m:r>
                      <a:rPr lang="en-IN" sz="2400" i="1">
                        <a:latin typeface="Cambria Math" panose="02040503050406030204" pitchFamily="18" charset="0"/>
                      </a:rPr>
                      <m:t>(</m:t>
                    </m:r>
                    <m:r>
                      <a:rPr lang="en-IN" sz="2400" i="1">
                        <a:latin typeface="Cambria Math" panose="02040503050406030204" pitchFamily="18" charset="0"/>
                      </a:rPr>
                      <m:t>𝑏</m:t>
                    </m:r>
                    <m:r>
                      <a:rPr lang="en-IN" sz="2400" i="1">
                        <a:latin typeface="Cambria Math" panose="02040503050406030204" pitchFamily="18" charset="0"/>
                      </a:rPr>
                      <m:t>,</m:t>
                    </m:r>
                    <m:r>
                      <a:rPr lang="en-IN" sz="2400" i="1">
                        <a:latin typeface="Cambria Math" panose="02040503050406030204" pitchFamily="18" charset="0"/>
                      </a:rPr>
                      <m:t>𝑤</m:t>
                    </m:r>
                    <m:r>
                      <a:rPr lang="en-IN" sz="2400" i="1">
                        <a:latin typeface="Cambria Math" panose="02040503050406030204" pitchFamily="18" charset="0"/>
                      </a:rPr>
                      <m:t>)</m:t>
                    </m:r>
                  </m:oMath>
                </a14:m>
                <a:endParaRPr lang="en-IN" sz="2400"/>
              </a:p>
              <a:p>
                <a:r>
                  <a:rPr lang="en-IN" sz="2400"/>
                  <a:t>  }</a:t>
                </a:r>
              </a:p>
            </p:txBody>
          </p:sp>
        </mc:Choice>
        <mc:Fallback>
          <p:sp>
            <p:nvSpPr>
              <p:cNvPr id="4" name="TextBox 3">
                <a:extLst>
                  <a:ext uri="{FF2B5EF4-FFF2-40B4-BE49-F238E27FC236}">
                    <a16:creationId xmlns:a16="http://schemas.microsoft.com/office/drawing/2014/main" id="{86A82673-3567-1731-709F-A4D6824D3ECB}"/>
                  </a:ext>
                </a:extLst>
              </p:cNvPr>
              <p:cNvSpPr txBox="1">
                <a:spLocks noRot="1" noChangeAspect="1" noMove="1" noResize="1" noEditPoints="1" noAdjustHandles="1" noChangeArrowheads="1" noChangeShapeType="1" noTextEdit="1"/>
              </p:cNvSpPr>
              <p:nvPr/>
            </p:nvSpPr>
            <p:spPr>
              <a:xfrm>
                <a:off x="685321" y="845187"/>
                <a:ext cx="3810000" cy="1917063"/>
              </a:xfrm>
              <a:prstGeom prst="rect">
                <a:avLst/>
              </a:prstGeom>
              <a:blipFill>
                <a:blip r:embed="rId2"/>
                <a:stretch>
                  <a:fillRect l="-640" t="-2548" b="-636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F0C0A58-8A57-AADD-353B-9CDABBC19CB1}"/>
                  </a:ext>
                </a:extLst>
              </p:cNvPr>
              <p:cNvSpPr txBox="1"/>
              <p:nvPr/>
            </p:nvSpPr>
            <p:spPr>
              <a:xfrm>
                <a:off x="628393" y="3188507"/>
                <a:ext cx="3810000" cy="1613006"/>
              </a:xfrm>
              <a:prstGeom prst="rect">
                <a:avLst/>
              </a:prstGeom>
              <a:noFill/>
            </p:spPr>
            <p:txBody>
              <a:bodyPr wrap="square" rtlCol="0">
                <a:spAutoFit/>
              </a:bodyPr>
              <a:lstStyle/>
              <a:p>
                <a:r>
                  <a:rPr lang="en-IN" sz="2000"/>
                  <a:t> </a:t>
                </a:r>
                <a:r>
                  <a:rPr lang="en-IN" sz="2000" err="1">
                    <a:solidFill>
                      <a:srgbClr val="0000FF"/>
                    </a:solidFill>
                  </a:rPr>
                  <a:t>temp_b</a:t>
                </a:r>
                <a:r>
                  <a:rPr lang="en-IN" sz="2000"/>
                  <a:t> = b – </a:t>
                </a:r>
                <a:r>
                  <a:rPr lang="el-GR" sz="2000"/>
                  <a:t>α</a:t>
                </a:r>
                <a:r>
                  <a:rPr lang="en-IN" sz="2000"/>
                  <a:t> </a:t>
                </a:r>
                <a14:m>
                  <m:oMath xmlns:m="http://schemas.openxmlformats.org/officeDocument/2006/math">
                    <m:f>
                      <m:fPr>
                        <m:ctrlPr>
                          <a:rPr lang="en-IN" sz="2000" i="1" smtClean="0">
                            <a:latin typeface="Cambria Math" panose="02040503050406030204" pitchFamily="18" charset="0"/>
                          </a:rPr>
                        </m:ctrlPr>
                      </m:fPr>
                      <m:num>
                        <m:r>
                          <a:rPr lang="en-IN" sz="2000" i="1" smtClean="0">
                            <a:latin typeface="Cambria Math" panose="02040503050406030204" pitchFamily="18" charset="0"/>
                          </a:rPr>
                          <m:t>𝜕</m:t>
                        </m:r>
                      </m:num>
                      <m:den>
                        <m:r>
                          <a:rPr lang="en-IN" sz="2000" i="1" smtClean="0">
                            <a:latin typeface="Cambria Math" panose="02040503050406030204" pitchFamily="18" charset="0"/>
                          </a:rPr>
                          <m:t>𝜕</m:t>
                        </m:r>
                        <m:r>
                          <a:rPr lang="en-IN" sz="2000" b="0" i="1" smtClean="0">
                            <a:latin typeface="Cambria Math" panose="02040503050406030204" pitchFamily="18" charset="0"/>
                          </a:rPr>
                          <m:t>𝑏</m:t>
                        </m:r>
                      </m:den>
                    </m:f>
                    <m:r>
                      <a:rPr lang="en-IN" sz="2000" i="1">
                        <a:latin typeface="Cambria Math" panose="02040503050406030204" pitchFamily="18" charset="0"/>
                      </a:rPr>
                      <m:t>𝐽</m:t>
                    </m:r>
                    <m:r>
                      <a:rPr lang="en-IN" sz="2000" i="1">
                        <a:latin typeface="Cambria Math" panose="02040503050406030204" pitchFamily="18" charset="0"/>
                      </a:rPr>
                      <m:t>(</m:t>
                    </m:r>
                    <m:r>
                      <a:rPr lang="en-IN" sz="2000" i="1">
                        <a:latin typeface="Cambria Math" panose="02040503050406030204" pitchFamily="18" charset="0"/>
                      </a:rPr>
                      <m:t>𝑏</m:t>
                    </m:r>
                    <m:r>
                      <a:rPr lang="en-IN" sz="2000" i="1">
                        <a:latin typeface="Cambria Math" panose="02040503050406030204" pitchFamily="18" charset="0"/>
                      </a:rPr>
                      <m:t>,</m:t>
                    </m:r>
                    <m:r>
                      <a:rPr lang="en-IN" sz="2000" i="1">
                        <a:latin typeface="Cambria Math" panose="02040503050406030204" pitchFamily="18" charset="0"/>
                      </a:rPr>
                      <m:t>𝑤</m:t>
                    </m:r>
                    <m:r>
                      <a:rPr lang="en-IN" sz="2000" i="1">
                        <a:latin typeface="Cambria Math" panose="02040503050406030204" pitchFamily="18" charset="0"/>
                      </a:rPr>
                      <m:t>)</m:t>
                    </m:r>
                  </m:oMath>
                </a14:m>
                <a:endParaRPr lang="en-IN" sz="2000"/>
              </a:p>
              <a:p>
                <a:r>
                  <a:rPr lang="en-IN" sz="2000"/>
                  <a:t> </a:t>
                </a:r>
                <a:r>
                  <a:rPr lang="en-IN" sz="2000" err="1">
                    <a:solidFill>
                      <a:srgbClr val="0000FF"/>
                    </a:solidFill>
                  </a:rPr>
                  <a:t>temp_w</a:t>
                </a:r>
                <a:r>
                  <a:rPr lang="en-IN" sz="2000"/>
                  <a:t> = w – </a:t>
                </a:r>
                <a:r>
                  <a:rPr lang="el-GR" sz="2000"/>
                  <a:t>α</a:t>
                </a:r>
                <a:r>
                  <a:rPr lang="en-IN" sz="2000"/>
                  <a:t> </a:t>
                </a:r>
                <a14:m>
                  <m:oMath xmlns:m="http://schemas.openxmlformats.org/officeDocument/2006/math">
                    <m:f>
                      <m:fPr>
                        <m:ctrlPr>
                          <a:rPr lang="en-IN" sz="2000" i="1" smtClean="0">
                            <a:latin typeface="Cambria Math" panose="02040503050406030204" pitchFamily="18" charset="0"/>
                          </a:rPr>
                        </m:ctrlPr>
                      </m:fPr>
                      <m:num>
                        <m:r>
                          <a:rPr lang="en-IN" sz="2000" i="1" smtClean="0">
                            <a:latin typeface="Cambria Math" panose="02040503050406030204" pitchFamily="18" charset="0"/>
                          </a:rPr>
                          <m:t>𝜕</m:t>
                        </m:r>
                      </m:num>
                      <m:den>
                        <m:r>
                          <a:rPr lang="en-IN" sz="2000" i="1" smtClean="0">
                            <a:latin typeface="Cambria Math" panose="02040503050406030204" pitchFamily="18" charset="0"/>
                          </a:rPr>
                          <m:t>𝜕</m:t>
                        </m:r>
                        <m:r>
                          <a:rPr lang="en-IN" sz="2000" b="0" i="1" smtClean="0">
                            <a:latin typeface="Cambria Math" panose="02040503050406030204" pitchFamily="18" charset="0"/>
                          </a:rPr>
                          <m:t>𝑤</m:t>
                        </m:r>
                      </m:den>
                    </m:f>
                    <m:r>
                      <a:rPr lang="en-IN" sz="2000" i="1">
                        <a:latin typeface="Cambria Math" panose="02040503050406030204" pitchFamily="18" charset="0"/>
                      </a:rPr>
                      <m:t>𝐽</m:t>
                    </m:r>
                    <m:d>
                      <m:dPr>
                        <m:ctrlPr>
                          <a:rPr lang="en-IN" sz="2000" i="1">
                            <a:latin typeface="Cambria Math" panose="02040503050406030204" pitchFamily="18" charset="0"/>
                          </a:rPr>
                        </m:ctrlPr>
                      </m:dPr>
                      <m:e>
                        <m:r>
                          <a:rPr lang="en-IN" sz="2000" i="1">
                            <a:latin typeface="Cambria Math" panose="02040503050406030204" pitchFamily="18" charset="0"/>
                          </a:rPr>
                          <m:t>𝑏</m:t>
                        </m:r>
                        <m:r>
                          <a:rPr lang="en-IN" sz="2000" i="1">
                            <a:latin typeface="Cambria Math" panose="02040503050406030204" pitchFamily="18" charset="0"/>
                          </a:rPr>
                          <m:t>,</m:t>
                        </m:r>
                        <m:r>
                          <a:rPr lang="en-IN" sz="2000" i="1">
                            <a:latin typeface="Cambria Math" panose="02040503050406030204" pitchFamily="18" charset="0"/>
                          </a:rPr>
                          <m:t>𝑤</m:t>
                        </m:r>
                      </m:e>
                    </m:d>
                  </m:oMath>
                </a14:m>
                <a:endParaRPr lang="en-IN" sz="2000"/>
              </a:p>
              <a:p>
                <a:r>
                  <a:rPr lang="en-IN" sz="2000"/>
                  <a:t> b = </a:t>
                </a:r>
                <a:r>
                  <a:rPr lang="en-IN" sz="2000" err="1">
                    <a:solidFill>
                      <a:srgbClr val="0000FF"/>
                    </a:solidFill>
                  </a:rPr>
                  <a:t>temp_b</a:t>
                </a:r>
                <a:endParaRPr lang="en-IN" sz="2000">
                  <a:solidFill>
                    <a:srgbClr val="0000FF"/>
                  </a:solidFill>
                </a:endParaRPr>
              </a:p>
              <a:p>
                <a:r>
                  <a:rPr lang="en-IN" sz="2000"/>
                  <a:t> w = </a:t>
                </a:r>
                <a:r>
                  <a:rPr lang="en-IN" sz="2000" err="1">
                    <a:solidFill>
                      <a:srgbClr val="0000FF"/>
                    </a:solidFill>
                  </a:rPr>
                  <a:t>temp_w</a:t>
                </a:r>
                <a:endParaRPr lang="en-IN" sz="2000">
                  <a:solidFill>
                    <a:srgbClr val="0000FF"/>
                  </a:solidFill>
                </a:endParaRPr>
              </a:p>
            </p:txBody>
          </p:sp>
        </mc:Choice>
        <mc:Fallback>
          <p:sp>
            <p:nvSpPr>
              <p:cNvPr id="5" name="TextBox 4">
                <a:extLst>
                  <a:ext uri="{FF2B5EF4-FFF2-40B4-BE49-F238E27FC236}">
                    <a16:creationId xmlns:a16="http://schemas.microsoft.com/office/drawing/2014/main" id="{8F0C0A58-8A57-AADD-353B-9CDABBC19CB1}"/>
                  </a:ext>
                </a:extLst>
              </p:cNvPr>
              <p:cNvSpPr txBox="1">
                <a:spLocks noRot="1" noChangeAspect="1" noMove="1" noResize="1" noEditPoints="1" noAdjustHandles="1" noChangeArrowheads="1" noChangeShapeType="1" noTextEdit="1"/>
              </p:cNvSpPr>
              <p:nvPr/>
            </p:nvSpPr>
            <p:spPr>
              <a:xfrm>
                <a:off x="628393" y="3188507"/>
                <a:ext cx="3810000" cy="1613006"/>
              </a:xfrm>
              <a:prstGeom prst="rect">
                <a:avLst/>
              </a:prstGeom>
              <a:blipFill>
                <a:blip r:embed="rId3"/>
                <a:stretch>
                  <a:fillRect l="-160" b="-566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079FC8D-381B-D8FD-E568-75E23D639A4D}"/>
                  </a:ext>
                </a:extLst>
              </p:cNvPr>
              <p:cNvSpPr txBox="1"/>
              <p:nvPr/>
            </p:nvSpPr>
            <p:spPr>
              <a:xfrm>
                <a:off x="4792121" y="3203383"/>
                <a:ext cx="3810000" cy="1613006"/>
              </a:xfrm>
              <a:prstGeom prst="rect">
                <a:avLst/>
              </a:prstGeom>
              <a:noFill/>
            </p:spPr>
            <p:txBody>
              <a:bodyPr wrap="square" rtlCol="0">
                <a:spAutoFit/>
              </a:bodyPr>
              <a:lstStyle/>
              <a:p>
                <a:r>
                  <a:rPr lang="en-IN" sz="2000"/>
                  <a:t> </a:t>
                </a:r>
                <a:r>
                  <a:rPr lang="en-IN" sz="2000" err="1">
                    <a:solidFill>
                      <a:srgbClr val="0000FF"/>
                    </a:solidFill>
                  </a:rPr>
                  <a:t>temp_b</a:t>
                </a:r>
                <a:r>
                  <a:rPr lang="en-IN" sz="2000"/>
                  <a:t> = b – </a:t>
                </a:r>
                <a:r>
                  <a:rPr lang="el-GR" sz="2000"/>
                  <a:t>α</a:t>
                </a:r>
                <a:r>
                  <a:rPr lang="en-IN" sz="2000"/>
                  <a:t> </a:t>
                </a:r>
                <a14:m>
                  <m:oMath xmlns:m="http://schemas.openxmlformats.org/officeDocument/2006/math">
                    <m:f>
                      <m:fPr>
                        <m:ctrlPr>
                          <a:rPr lang="en-IN" sz="2000" i="1" smtClean="0">
                            <a:latin typeface="Cambria Math" panose="02040503050406030204" pitchFamily="18" charset="0"/>
                          </a:rPr>
                        </m:ctrlPr>
                      </m:fPr>
                      <m:num>
                        <m:r>
                          <a:rPr lang="en-IN" sz="2000" i="1" smtClean="0">
                            <a:latin typeface="Cambria Math" panose="02040503050406030204" pitchFamily="18" charset="0"/>
                          </a:rPr>
                          <m:t>𝜕</m:t>
                        </m:r>
                      </m:num>
                      <m:den>
                        <m:r>
                          <a:rPr lang="en-IN" sz="2000" i="1" smtClean="0">
                            <a:latin typeface="Cambria Math" panose="02040503050406030204" pitchFamily="18" charset="0"/>
                          </a:rPr>
                          <m:t>𝜕</m:t>
                        </m:r>
                        <m:r>
                          <a:rPr lang="en-IN" sz="2000" b="0" i="1" smtClean="0">
                            <a:latin typeface="Cambria Math" panose="02040503050406030204" pitchFamily="18" charset="0"/>
                          </a:rPr>
                          <m:t>𝑏</m:t>
                        </m:r>
                      </m:den>
                    </m:f>
                    <m:r>
                      <a:rPr lang="en-IN" sz="2000" i="1">
                        <a:latin typeface="Cambria Math" panose="02040503050406030204" pitchFamily="18" charset="0"/>
                      </a:rPr>
                      <m:t>𝐽</m:t>
                    </m:r>
                    <m:r>
                      <a:rPr lang="en-IN" sz="2000" i="1">
                        <a:latin typeface="Cambria Math" panose="02040503050406030204" pitchFamily="18" charset="0"/>
                      </a:rPr>
                      <m:t>(</m:t>
                    </m:r>
                    <m:r>
                      <a:rPr lang="en-IN" sz="2000" i="1">
                        <a:latin typeface="Cambria Math" panose="02040503050406030204" pitchFamily="18" charset="0"/>
                      </a:rPr>
                      <m:t>𝑏</m:t>
                    </m:r>
                    <m:r>
                      <a:rPr lang="en-IN" sz="2000" i="1">
                        <a:latin typeface="Cambria Math" panose="02040503050406030204" pitchFamily="18" charset="0"/>
                      </a:rPr>
                      <m:t>,</m:t>
                    </m:r>
                    <m:r>
                      <a:rPr lang="en-IN" sz="2000" i="1">
                        <a:latin typeface="Cambria Math" panose="02040503050406030204" pitchFamily="18" charset="0"/>
                      </a:rPr>
                      <m:t>𝑤</m:t>
                    </m:r>
                    <m:r>
                      <a:rPr lang="en-IN" sz="2000" i="1">
                        <a:latin typeface="Cambria Math" panose="02040503050406030204" pitchFamily="18" charset="0"/>
                      </a:rPr>
                      <m:t>)</m:t>
                    </m:r>
                  </m:oMath>
                </a14:m>
                <a:endParaRPr lang="en-IN" sz="2000"/>
              </a:p>
              <a:p>
                <a:r>
                  <a:rPr lang="en-IN" sz="2000"/>
                  <a:t> b = </a:t>
                </a:r>
                <a:r>
                  <a:rPr lang="en-IN" sz="2000" err="1">
                    <a:solidFill>
                      <a:srgbClr val="0000FF"/>
                    </a:solidFill>
                  </a:rPr>
                  <a:t>temp_b</a:t>
                </a:r>
                <a:endParaRPr lang="en-IN" sz="2000"/>
              </a:p>
              <a:p>
                <a:r>
                  <a:rPr lang="en-IN" sz="2000"/>
                  <a:t> </a:t>
                </a:r>
                <a:r>
                  <a:rPr lang="en-IN" sz="2000" err="1">
                    <a:solidFill>
                      <a:srgbClr val="0000FF"/>
                    </a:solidFill>
                  </a:rPr>
                  <a:t>temp_w</a:t>
                </a:r>
                <a:r>
                  <a:rPr lang="en-IN" sz="2000"/>
                  <a:t> = w – </a:t>
                </a:r>
                <a:r>
                  <a:rPr lang="el-GR" sz="2000"/>
                  <a:t>α</a:t>
                </a:r>
                <a:r>
                  <a:rPr lang="en-IN" sz="2000"/>
                  <a:t> </a:t>
                </a:r>
                <a14:m>
                  <m:oMath xmlns:m="http://schemas.openxmlformats.org/officeDocument/2006/math">
                    <m:f>
                      <m:fPr>
                        <m:ctrlPr>
                          <a:rPr lang="en-IN" sz="2000" i="1" smtClean="0">
                            <a:latin typeface="Cambria Math" panose="02040503050406030204" pitchFamily="18" charset="0"/>
                          </a:rPr>
                        </m:ctrlPr>
                      </m:fPr>
                      <m:num>
                        <m:r>
                          <a:rPr lang="en-IN" sz="2000" i="1" smtClean="0">
                            <a:latin typeface="Cambria Math" panose="02040503050406030204" pitchFamily="18" charset="0"/>
                          </a:rPr>
                          <m:t>𝜕</m:t>
                        </m:r>
                      </m:num>
                      <m:den>
                        <m:r>
                          <a:rPr lang="en-IN" sz="2000" i="1" smtClean="0">
                            <a:latin typeface="Cambria Math" panose="02040503050406030204" pitchFamily="18" charset="0"/>
                          </a:rPr>
                          <m:t>𝜕</m:t>
                        </m:r>
                        <m:r>
                          <a:rPr lang="en-IN" sz="2000" b="0" i="1" smtClean="0">
                            <a:latin typeface="Cambria Math" panose="02040503050406030204" pitchFamily="18" charset="0"/>
                          </a:rPr>
                          <m:t>𝑤</m:t>
                        </m:r>
                      </m:den>
                    </m:f>
                    <m:r>
                      <a:rPr lang="en-IN" sz="2000" i="1">
                        <a:latin typeface="Cambria Math" panose="02040503050406030204" pitchFamily="18" charset="0"/>
                      </a:rPr>
                      <m:t>𝐽</m:t>
                    </m:r>
                    <m:d>
                      <m:dPr>
                        <m:ctrlPr>
                          <a:rPr lang="en-IN" sz="2000" i="1">
                            <a:latin typeface="Cambria Math" panose="02040503050406030204" pitchFamily="18" charset="0"/>
                          </a:rPr>
                        </m:ctrlPr>
                      </m:dPr>
                      <m:e>
                        <m:r>
                          <a:rPr lang="en-IN" sz="2000" i="1">
                            <a:latin typeface="Cambria Math" panose="02040503050406030204" pitchFamily="18" charset="0"/>
                          </a:rPr>
                          <m:t>𝑏</m:t>
                        </m:r>
                        <m:r>
                          <a:rPr lang="en-IN" sz="2000" i="1">
                            <a:latin typeface="Cambria Math" panose="02040503050406030204" pitchFamily="18" charset="0"/>
                          </a:rPr>
                          <m:t>,</m:t>
                        </m:r>
                        <m:r>
                          <a:rPr lang="en-IN" sz="2000" i="1">
                            <a:latin typeface="Cambria Math" panose="02040503050406030204" pitchFamily="18" charset="0"/>
                          </a:rPr>
                          <m:t>𝑤</m:t>
                        </m:r>
                      </m:e>
                    </m:d>
                  </m:oMath>
                </a14:m>
                <a:endParaRPr lang="en-IN" sz="2000"/>
              </a:p>
              <a:p>
                <a:r>
                  <a:rPr lang="en-IN" sz="2000"/>
                  <a:t> w = </a:t>
                </a:r>
                <a:r>
                  <a:rPr lang="en-IN" sz="2000" err="1">
                    <a:solidFill>
                      <a:srgbClr val="0000FF"/>
                    </a:solidFill>
                  </a:rPr>
                  <a:t>temp_w</a:t>
                </a:r>
                <a:endParaRPr lang="en-IN" sz="2000">
                  <a:solidFill>
                    <a:srgbClr val="0000FF"/>
                  </a:solidFill>
                </a:endParaRPr>
              </a:p>
            </p:txBody>
          </p:sp>
        </mc:Choice>
        <mc:Fallback>
          <p:sp>
            <p:nvSpPr>
              <p:cNvPr id="9" name="TextBox 8">
                <a:extLst>
                  <a:ext uri="{FF2B5EF4-FFF2-40B4-BE49-F238E27FC236}">
                    <a16:creationId xmlns:a16="http://schemas.microsoft.com/office/drawing/2014/main" id="{2079FC8D-381B-D8FD-E568-75E23D639A4D}"/>
                  </a:ext>
                </a:extLst>
              </p:cNvPr>
              <p:cNvSpPr txBox="1">
                <a:spLocks noRot="1" noChangeAspect="1" noMove="1" noResize="1" noEditPoints="1" noAdjustHandles="1" noChangeArrowheads="1" noChangeShapeType="1" noTextEdit="1"/>
              </p:cNvSpPr>
              <p:nvPr/>
            </p:nvSpPr>
            <p:spPr>
              <a:xfrm>
                <a:off x="4792121" y="3203383"/>
                <a:ext cx="3810000" cy="1613006"/>
              </a:xfrm>
              <a:prstGeom prst="rect">
                <a:avLst/>
              </a:prstGeom>
              <a:blipFill>
                <a:blip r:embed="rId4"/>
                <a:stretch>
                  <a:fillRect l="-160" b="-5660"/>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9FEEDBBB-58F8-4755-DE5A-0C06A29297D2}"/>
              </a:ext>
            </a:extLst>
          </p:cNvPr>
          <p:cNvSpPr txBox="1"/>
          <p:nvPr/>
        </p:nvSpPr>
        <p:spPr>
          <a:xfrm>
            <a:off x="4799870" y="1435328"/>
            <a:ext cx="2820130" cy="461665"/>
          </a:xfrm>
          <a:prstGeom prst="rect">
            <a:avLst/>
          </a:prstGeom>
          <a:noFill/>
        </p:spPr>
        <p:txBody>
          <a:bodyPr wrap="square">
            <a:spAutoFit/>
          </a:bodyPr>
          <a:lstStyle/>
          <a:p>
            <a:r>
              <a:rPr lang="en-US" sz="2400"/>
              <a:t>Simultaneous update</a:t>
            </a:r>
            <a:endParaRPr lang="en-IN" sz="2400"/>
          </a:p>
        </p:txBody>
      </p:sp>
      <p:sp>
        <p:nvSpPr>
          <p:cNvPr id="12" name="Rectangle 11">
            <a:extLst>
              <a:ext uri="{FF2B5EF4-FFF2-40B4-BE49-F238E27FC236}">
                <a16:creationId xmlns:a16="http://schemas.microsoft.com/office/drawing/2014/main" id="{98FD1455-B9BC-CBAB-6448-CB63088161EE}"/>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61930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5943600" y="285750"/>
            <a:ext cx="0" cy="2170337"/>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5715000" y="2227487"/>
            <a:ext cx="2971800"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flipV="1">
            <a:off x="5943600" y="2687413"/>
            <a:ext cx="0" cy="2170337"/>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5715000" y="4629150"/>
            <a:ext cx="2971800"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09600" y="1502224"/>
            <a:ext cx="3886200" cy="725263"/>
          </a:xfrm>
          <a:prstGeom prst="rect">
            <a:avLst/>
          </a:prstGeom>
          <a:noFill/>
        </p:spPr>
        <p:txBody>
          <a:bodyPr wrap="square" rtlCol="0">
            <a:spAutoFit/>
          </a:bodyPr>
          <a:lstStyle/>
          <a:p>
            <a:r>
              <a:rPr lang="en-US" sz="2000"/>
              <a:t>If </a:t>
            </a:r>
            <a:r>
              <a:rPr lang="el-GR" sz="2000"/>
              <a:t>α</a:t>
            </a:r>
            <a:r>
              <a:rPr lang="en-US" sz="2000"/>
              <a:t> is too small, gradient descent can be slow.</a:t>
            </a:r>
          </a:p>
        </p:txBody>
      </p:sp>
      <p:sp>
        <p:nvSpPr>
          <p:cNvPr id="11" name="TextBox 10"/>
          <p:cNvSpPr txBox="1"/>
          <p:nvPr/>
        </p:nvSpPr>
        <p:spPr>
          <a:xfrm>
            <a:off x="609600" y="3257550"/>
            <a:ext cx="3886200" cy="1015663"/>
          </a:xfrm>
          <a:prstGeom prst="rect">
            <a:avLst/>
          </a:prstGeom>
          <a:noFill/>
        </p:spPr>
        <p:txBody>
          <a:bodyPr wrap="square" rtlCol="0">
            <a:spAutoFit/>
          </a:bodyPr>
          <a:lstStyle/>
          <a:p>
            <a:r>
              <a:rPr lang="en-US" sz="2000"/>
              <a:t>If </a:t>
            </a:r>
            <a:r>
              <a:rPr lang="el-GR" sz="2000"/>
              <a:t>α</a:t>
            </a:r>
            <a:r>
              <a:rPr lang="en-US" sz="2000"/>
              <a:t> is too large, gradient descent can overshoot the minimum. It may fail to converge, or even diverge.</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6F137083-A415-4F05-9071-F04B3047E04F}"/>
                  </a:ext>
                </a:extLst>
              </p:cNvPr>
              <p:cNvSpPr txBox="1"/>
              <p:nvPr/>
            </p:nvSpPr>
            <p:spPr>
              <a:xfrm>
                <a:off x="685800" y="819150"/>
                <a:ext cx="2438398" cy="544893"/>
              </a:xfrm>
              <a:prstGeom prst="rect">
                <a:avLst/>
              </a:prstGeom>
              <a:noFill/>
            </p:spPr>
            <p:txBody>
              <a:bodyPr wrap="square">
                <a:spAutoFit/>
              </a:bodyPr>
              <a:lstStyle/>
              <a:p>
                <a:r>
                  <a:rPr lang="en-IN" sz="2000"/>
                  <a:t>w = w – </a:t>
                </a:r>
                <a:r>
                  <a:rPr lang="el-GR" sz="2000"/>
                  <a:t>α</a:t>
                </a:r>
                <a:r>
                  <a:rPr lang="en-IN" sz="2000"/>
                  <a:t> </a:t>
                </a:r>
                <a14:m>
                  <m:oMath xmlns:m="http://schemas.openxmlformats.org/officeDocument/2006/math">
                    <m:f>
                      <m:fPr>
                        <m:ctrlPr>
                          <a:rPr lang="en-IN" sz="2000" i="1" smtClean="0">
                            <a:latin typeface="Cambria Math" panose="02040503050406030204" pitchFamily="18" charset="0"/>
                          </a:rPr>
                        </m:ctrlPr>
                      </m:fPr>
                      <m:num>
                        <m:r>
                          <a:rPr lang="en-IN" sz="2000" i="1" smtClean="0">
                            <a:latin typeface="Cambria Math" panose="02040503050406030204" pitchFamily="18" charset="0"/>
                          </a:rPr>
                          <m:t>𝜕</m:t>
                        </m:r>
                      </m:num>
                      <m:den>
                        <m:r>
                          <a:rPr lang="en-IN" sz="2000" i="1" smtClean="0">
                            <a:latin typeface="Cambria Math" panose="02040503050406030204" pitchFamily="18" charset="0"/>
                          </a:rPr>
                          <m:t>𝜕</m:t>
                        </m:r>
                        <m:r>
                          <a:rPr lang="en-IN" sz="2000" b="0" i="1" smtClean="0">
                            <a:latin typeface="Cambria Math" panose="02040503050406030204" pitchFamily="18" charset="0"/>
                          </a:rPr>
                          <m:t>𝑤</m:t>
                        </m:r>
                      </m:den>
                    </m:f>
                    <m:r>
                      <a:rPr lang="en-IN" sz="2000" i="1">
                        <a:latin typeface="Cambria Math" panose="02040503050406030204" pitchFamily="18" charset="0"/>
                      </a:rPr>
                      <m:t>𝐽</m:t>
                    </m:r>
                    <m:r>
                      <a:rPr lang="en-IN" sz="2000" i="1">
                        <a:latin typeface="Cambria Math" panose="02040503050406030204" pitchFamily="18" charset="0"/>
                      </a:rPr>
                      <m:t>(</m:t>
                    </m:r>
                    <m:r>
                      <a:rPr lang="en-IN" sz="2000" i="1">
                        <a:latin typeface="Cambria Math" panose="02040503050406030204" pitchFamily="18" charset="0"/>
                      </a:rPr>
                      <m:t>𝑤</m:t>
                    </m:r>
                    <m:r>
                      <a:rPr lang="en-IN" sz="2000" i="1">
                        <a:latin typeface="Cambria Math" panose="02040503050406030204" pitchFamily="18" charset="0"/>
                      </a:rPr>
                      <m:t>)</m:t>
                    </m:r>
                  </m:oMath>
                </a14:m>
                <a:endParaRPr lang="en-IN" sz="2000"/>
              </a:p>
            </p:txBody>
          </p:sp>
        </mc:Choice>
        <mc:Fallback>
          <p:sp>
            <p:nvSpPr>
              <p:cNvPr id="12" name="TextBox 11">
                <a:extLst>
                  <a:ext uri="{FF2B5EF4-FFF2-40B4-BE49-F238E27FC236}">
                    <a16:creationId xmlns:a16="http://schemas.microsoft.com/office/drawing/2014/main" id="{6F137083-A415-4F05-9071-F04B3047E04F}"/>
                  </a:ext>
                </a:extLst>
              </p:cNvPr>
              <p:cNvSpPr txBox="1">
                <a:spLocks noRot="1" noChangeAspect="1" noMove="1" noResize="1" noEditPoints="1" noAdjustHandles="1" noChangeArrowheads="1" noChangeShapeType="1" noTextEdit="1"/>
              </p:cNvSpPr>
              <p:nvPr/>
            </p:nvSpPr>
            <p:spPr>
              <a:xfrm>
                <a:off x="685800" y="819150"/>
                <a:ext cx="2438398" cy="544893"/>
              </a:xfrm>
              <a:prstGeom prst="rect">
                <a:avLst/>
              </a:prstGeom>
              <a:blipFill>
                <a:blip r:embed="rId2"/>
                <a:stretch>
                  <a:fillRect l="-2757" b="-6667"/>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8283AAA5-652D-9ADF-1A53-4A1DEB02F516}"/>
              </a:ext>
            </a:extLst>
          </p:cNvPr>
          <p:cNvSpPr txBox="1"/>
          <p:nvPr/>
        </p:nvSpPr>
        <p:spPr>
          <a:xfrm>
            <a:off x="7065753" y="2226618"/>
            <a:ext cx="439763" cy="461665"/>
          </a:xfrm>
          <a:prstGeom prst="rect">
            <a:avLst/>
          </a:prstGeom>
          <a:noFill/>
        </p:spPr>
        <p:txBody>
          <a:bodyPr wrap="square">
            <a:spAutoFit/>
          </a:bodyPr>
          <a:lstStyle/>
          <a:p>
            <a:r>
              <a:rPr lang="en-IN" sz="2400"/>
              <a:t>w</a:t>
            </a:r>
          </a:p>
        </p:txBody>
      </p:sp>
      <p:sp>
        <p:nvSpPr>
          <p:cNvPr id="15" name="TextBox 14">
            <a:extLst>
              <a:ext uri="{FF2B5EF4-FFF2-40B4-BE49-F238E27FC236}">
                <a16:creationId xmlns:a16="http://schemas.microsoft.com/office/drawing/2014/main" id="{82759E89-9282-BDAC-7B2A-654A8EBFBA62}"/>
              </a:ext>
            </a:extLst>
          </p:cNvPr>
          <p:cNvSpPr txBox="1"/>
          <p:nvPr/>
        </p:nvSpPr>
        <p:spPr>
          <a:xfrm>
            <a:off x="7128899" y="4626917"/>
            <a:ext cx="439763" cy="461665"/>
          </a:xfrm>
          <a:prstGeom prst="rect">
            <a:avLst/>
          </a:prstGeom>
          <a:noFill/>
        </p:spPr>
        <p:txBody>
          <a:bodyPr wrap="square">
            <a:spAutoFit/>
          </a:bodyPr>
          <a:lstStyle/>
          <a:p>
            <a:r>
              <a:rPr lang="en-IN" sz="2400"/>
              <a:t>w</a:t>
            </a:r>
          </a:p>
        </p:txBody>
      </p:sp>
      <p:sp>
        <p:nvSpPr>
          <p:cNvPr id="16" name="Rectangle 15">
            <a:extLst>
              <a:ext uri="{FF2B5EF4-FFF2-40B4-BE49-F238E27FC236}">
                <a16:creationId xmlns:a16="http://schemas.microsoft.com/office/drawing/2014/main" id="{F3C716DD-A3B5-7AA0-5B82-3F9D51651070}"/>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Picture 19">
            <a:extLst>
              <a:ext uri="{FF2B5EF4-FFF2-40B4-BE49-F238E27FC236}">
                <a16:creationId xmlns:a16="http://schemas.microsoft.com/office/drawing/2014/main" id="{438B0CE1-DECB-EB45-CF5B-F5402F01B838}"/>
              </a:ext>
            </a:extLst>
          </p:cNvPr>
          <p:cNvPicPr>
            <a:picLocks noChangeAspect="1"/>
          </p:cNvPicPr>
          <p:nvPr/>
        </p:nvPicPr>
        <p:blipFill rotWithShape="1">
          <a:blip r:embed="rId3"/>
          <a:srcRect t="49976"/>
          <a:stretch/>
        </p:blipFill>
        <p:spPr>
          <a:xfrm>
            <a:off x="5975011" y="447582"/>
            <a:ext cx="2359356" cy="1616335"/>
          </a:xfrm>
          <a:prstGeom prst="rect">
            <a:avLst/>
          </a:prstGeom>
        </p:spPr>
      </p:pic>
      <p:pic>
        <p:nvPicPr>
          <p:cNvPr id="21" name="Picture 20">
            <a:extLst>
              <a:ext uri="{FF2B5EF4-FFF2-40B4-BE49-F238E27FC236}">
                <a16:creationId xmlns:a16="http://schemas.microsoft.com/office/drawing/2014/main" id="{854FD30F-9907-3953-6023-4B236D4D7C2A}"/>
              </a:ext>
            </a:extLst>
          </p:cNvPr>
          <p:cNvPicPr>
            <a:picLocks noChangeAspect="1"/>
          </p:cNvPicPr>
          <p:nvPr/>
        </p:nvPicPr>
        <p:blipFill rotWithShape="1">
          <a:blip r:embed="rId3"/>
          <a:srcRect t="49976"/>
          <a:stretch/>
        </p:blipFill>
        <p:spPr>
          <a:xfrm>
            <a:off x="6063973" y="2916013"/>
            <a:ext cx="2359356" cy="1616335"/>
          </a:xfrm>
          <a:prstGeom prst="rect">
            <a:avLst/>
          </a:prstGeom>
        </p:spPr>
      </p:pic>
    </p:spTree>
    <p:extLst>
      <p:ext uri="{BB962C8B-B14F-4D97-AF65-F5344CB8AC3E}">
        <p14:creationId xmlns:p14="http://schemas.microsoft.com/office/powerpoint/2010/main" val="38462533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1453311" y="520510"/>
            <a:ext cx="0" cy="2475138"/>
          </a:xfrm>
          <a:prstGeom prst="line">
            <a:avLst/>
          </a:prstGeom>
          <a:ln w="1587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1224711" y="2767047"/>
            <a:ext cx="3886200" cy="0"/>
          </a:xfrm>
          <a:prstGeom prst="line">
            <a:avLst/>
          </a:prstGeom>
          <a:ln w="1587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sp>
        <p:nvSpPr>
          <p:cNvPr id="9" name="Freeform 8"/>
          <p:cNvSpPr/>
          <p:nvPr/>
        </p:nvSpPr>
        <p:spPr>
          <a:xfrm>
            <a:off x="1224711" y="729429"/>
            <a:ext cx="3681350" cy="1778433"/>
          </a:xfrm>
          <a:custGeom>
            <a:avLst/>
            <a:gdLst>
              <a:gd name="connsiteX0" fmla="*/ 0 w 3681350"/>
              <a:gd name="connsiteY0" fmla="*/ 757675 h 1784229"/>
              <a:gd name="connsiteX1" fmla="*/ 356259 w 3681350"/>
              <a:gd name="connsiteY1" fmla="*/ 401415 h 1784229"/>
              <a:gd name="connsiteX2" fmla="*/ 688768 w 3681350"/>
              <a:gd name="connsiteY2" fmla="*/ 698298 h 1784229"/>
              <a:gd name="connsiteX3" fmla="*/ 890649 w 3681350"/>
              <a:gd name="connsiteY3" fmla="*/ 1339565 h 1784229"/>
              <a:gd name="connsiteX4" fmla="*/ 1045028 w 3681350"/>
              <a:gd name="connsiteY4" fmla="*/ 1707700 h 1784229"/>
              <a:gd name="connsiteX5" fmla="*/ 1187532 w 3681350"/>
              <a:gd name="connsiteY5" fmla="*/ 1778952 h 1784229"/>
              <a:gd name="connsiteX6" fmla="*/ 1246909 w 3681350"/>
              <a:gd name="connsiteY6" fmla="*/ 1778952 h 1784229"/>
              <a:gd name="connsiteX7" fmla="*/ 1377537 w 3681350"/>
              <a:gd name="connsiteY7" fmla="*/ 1778952 h 1784229"/>
              <a:gd name="connsiteX8" fmla="*/ 1579418 w 3681350"/>
              <a:gd name="connsiteY8" fmla="*/ 1707700 h 1784229"/>
              <a:gd name="connsiteX9" fmla="*/ 1733797 w 3681350"/>
              <a:gd name="connsiteY9" fmla="*/ 1327690 h 1784229"/>
              <a:gd name="connsiteX10" fmla="*/ 1805049 w 3681350"/>
              <a:gd name="connsiteY10" fmla="*/ 971430 h 1784229"/>
              <a:gd name="connsiteX11" fmla="*/ 1911927 w 3681350"/>
              <a:gd name="connsiteY11" fmla="*/ 555794 h 1784229"/>
              <a:gd name="connsiteX12" fmla="*/ 1983179 w 3681350"/>
              <a:gd name="connsiteY12" fmla="*/ 401415 h 1784229"/>
              <a:gd name="connsiteX13" fmla="*/ 2066306 w 3681350"/>
              <a:gd name="connsiteY13" fmla="*/ 187659 h 1784229"/>
              <a:gd name="connsiteX14" fmla="*/ 2149433 w 3681350"/>
              <a:gd name="connsiteY14" fmla="*/ 92656 h 1784229"/>
              <a:gd name="connsiteX15" fmla="*/ 2244436 w 3681350"/>
              <a:gd name="connsiteY15" fmla="*/ 21404 h 1784229"/>
              <a:gd name="connsiteX16" fmla="*/ 2375065 w 3681350"/>
              <a:gd name="connsiteY16" fmla="*/ 21404 h 1784229"/>
              <a:gd name="connsiteX17" fmla="*/ 2576945 w 3681350"/>
              <a:gd name="connsiteY17" fmla="*/ 270786 h 1784229"/>
              <a:gd name="connsiteX18" fmla="*/ 2719449 w 3681350"/>
              <a:gd name="connsiteY18" fmla="*/ 1066433 h 1784229"/>
              <a:gd name="connsiteX19" fmla="*/ 2909454 w 3681350"/>
              <a:gd name="connsiteY19" fmla="*/ 1517695 h 1784229"/>
              <a:gd name="connsiteX20" fmla="*/ 3384467 w 3681350"/>
              <a:gd name="connsiteY20" fmla="*/ 1315815 h 1784229"/>
              <a:gd name="connsiteX21" fmla="*/ 3681350 w 3681350"/>
              <a:gd name="connsiteY21" fmla="*/ 508293 h 1784229"/>
              <a:gd name="connsiteX0" fmla="*/ 0 w 3681350"/>
              <a:gd name="connsiteY0" fmla="*/ 757675 h 1784229"/>
              <a:gd name="connsiteX1" fmla="*/ 356259 w 3681350"/>
              <a:gd name="connsiteY1" fmla="*/ 401415 h 1784229"/>
              <a:gd name="connsiteX2" fmla="*/ 688768 w 3681350"/>
              <a:gd name="connsiteY2" fmla="*/ 698298 h 1784229"/>
              <a:gd name="connsiteX3" fmla="*/ 890649 w 3681350"/>
              <a:gd name="connsiteY3" fmla="*/ 1339565 h 1784229"/>
              <a:gd name="connsiteX4" fmla="*/ 1187532 w 3681350"/>
              <a:gd name="connsiteY4" fmla="*/ 1778952 h 1784229"/>
              <a:gd name="connsiteX5" fmla="*/ 1246909 w 3681350"/>
              <a:gd name="connsiteY5" fmla="*/ 1778952 h 1784229"/>
              <a:gd name="connsiteX6" fmla="*/ 1377537 w 3681350"/>
              <a:gd name="connsiteY6" fmla="*/ 1778952 h 1784229"/>
              <a:gd name="connsiteX7" fmla="*/ 1579418 w 3681350"/>
              <a:gd name="connsiteY7" fmla="*/ 1707700 h 1784229"/>
              <a:gd name="connsiteX8" fmla="*/ 1733797 w 3681350"/>
              <a:gd name="connsiteY8" fmla="*/ 1327690 h 1784229"/>
              <a:gd name="connsiteX9" fmla="*/ 1805049 w 3681350"/>
              <a:gd name="connsiteY9" fmla="*/ 971430 h 1784229"/>
              <a:gd name="connsiteX10" fmla="*/ 1911927 w 3681350"/>
              <a:gd name="connsiteY10" fmla="*/ 555794 h 1784229"/>
              <a:gd name="connsiteX11" fmla="*/ 1983179 w 3681350"/>
              <a:gd name="connsiteY11" fmla="*/ 401415 h 1784229"/>
              <a:gd name="connsiteX12" fmla="*/ 2066306 w 3681350"/>
              <a:gd name="connsiteY12" fmla="*/ 187659 h 1784229"/>
              <a:gd name="connsiteX13" fmla="*/ 2149433 w 3681350"/>
              <a:gd name="connsiteY13" fmla="*/ 92656 h 1784229"/>
              <a:gd name="connsiteX14" fmla="*/ 2244436 w 3681350"/>
              <a:gd name="connsiteY14" fmla="*/ 21404 h 1784229"/>
              <a:gd name="connsiteX15" fmla="*/ 2375065 w 3681350"/>
              <a:gd name="connsiteY15" fmla="*/ 21404 h 1784229"/>
              <a:gd name="connsiteX16" fmla="*/ 2576945 w 3681350"/>
              <a:gd name="connsiteY16" fmla="*/ 270786 h 1784229"/>
              <a:gd name="connsiteX17" fmla="*/ 2719449 w 3681350"/>
              <a:gd name="connsiteY17" fmla="*/ 1066433 h 1784229"/>
              <a:gd name="connsiteX18" fmla="*/ 2909454 w 3681350"/>
              <a:gd name="connsiteY18" fmla="*/ 1517695 h 1784229"/>
              <a:gd name="connsiteX19" fmla="*/ 3384467 w 3681350"/>
              <a:gd name="connsiteY19" fmla="*/ 1315815 h 1784229"/>
              <a:gd name="connsiteX20" fmla="*/ 3681350 w 3681350"/>
              <a:gd name="connsiteY20" fmla="*/ 508293 h 1784229"/>
              <a:gd name="connsiteX0" fmla="*/ 0 w 3681350"/>
              <a:gd name="connsiteY0" fmla="*/ 757675 h 1814302"/>
              <a:gd name="connsiteX1" fmla="*/ 356259 w 3681350"/>
              <a:gd name="connsiteY1" fmla="*/ 401415 h 1814302"/>
              <a:gd name="connsiteX2" fmla="*/ 688768 w 3681350"/>
              <a:gd name="connsiteY2" fmla="*/ 698298 h 1814302"/>
              <a:gd name="connsiteX3" fmla="*/ 890649 w 3681350"/>
              <a:gd name="connsiteY3" fmla="*/ 1339565 h 1814302"/>
              <a:gd name="connsiteX4" fmla="*/ 1187532 w 3681350"/>
              <a:gd name="connsiteY4" fmla="*/ 1778952 h 1814302"/>
              <a:gd name="connsiteX5" fmla="*/ 1377537 w 3681350"/>
              <a:gd name="connsiteY5" fmla="*/ 1778952 h 1814302"/>
              <a:gd name="connsiteX6" fmla="*/ 1579418 w 3681350"/>
              <a:gd name="connsiteY6" fmla="*/ 1707700 h 1814302"/>
              <a:gd name="connsiteX7" fmla="*/ 1733797 w 3681350"/>
              <a:gd name="connsiteY7" fmla="*/ 1327690 h 1814302"/>
              <a:gd name="connsiteX8" fmla="*/ 1805049 w 3681350"/>
              <a:gd name="connsiteY8" fmla="*/ 971430 h 1814302"/>
              <a:gd name="connsiteX9" fmla="*/ 1911927 w 3681350"/>
              <a:gd name="connsiteY9" fmla="*/ 555794 h 1814302"/>
              <a:gd name="connsiteX10" fmla="*/ 1983179 w 3681350"/>
              <a:gd name="connsiteY10" fmla="*/ 401415 h 1814302"/>
              <a:gd name="connsiteX11" fmla="*/ 2066306 w 3681350"/>
              <a:gd name="connsiteY11" fmla="*/ 187659 h 1814302"/>
              <a:gd name="connsiteX12" fmla="*/ 2149433 w 3681350"/>
              <a:gd name="connsiteY12" fmla="*/ 92656 h 1814302"/>
              <a:gd name="connsiteX13" fmla="*/ 2244436 w 3681350"/>
              <a:gd name="connsiteY13" fmla="*/ 21404 h 1814302"/>
              <a:gd name="connsiteX14" fmla="*/ 2375065 w 3681350"/>
              <a:gd name="connsiteY14" fmla="*/ 21404 h 1814302"/>
              <a:gd name="connsiteX15" fmla="*/ 2576945 w 3681350"/>
              <a:gd name="connsiteY15" fmla="*/ 270786 h 1814302"/>
              <a:gd name="connsiteX16" fmla="*/ 2719449 w 3681350"/>
              <a:gd name="connsiteY16" fmla="*/ 1066433 h 1814302"/>
              <a:gd name="connsiteX17" fmla="*/ 2909454 w 3681350"/>
              <a:gd name="connsiteY17" fmla="*/ 1517695 h 1814302"/>
              <a:gd name="connsiteX18" fmla="*/ 3384467 w 3681350"/>
              <a:gd name="connsiteY18" fmla="*/ 1315815 h 1814302"/>
              <a:gd name="connsiteX19" fmla="*/ 3681350 w 3681350"/>
              <a:gd name="connsiteY19" fmla="*/ 508293 h 1814302"/>
              <a:gd name="connsiteX0" fmla="*/ 0 w 3681350"/>
              <a:gd name="connsiteY0" fmla="*/ 757675 h 1804839"/>
              <a:gd name="connsiteX1" fmla="*/ 356259 w 3681350"/>
              <a:gd name="connsiteY1" fmla="*/ 401415 h 1804839"/>
              <a:gd name="connsiteX2" fmla="*/ 688768 w 3681350"/>
              <a:gd name="connsiteY2" fmla="*/ 698298 h 1804839"/>
              <a:gd name="connsiteX3" fmla="*/ 890649 w 3681350"/>
              <a:gd name="connsiteY3" fmla="*/ 1339565 h 1804839"/>
              <a:gd name="connsiteX4" fmla="*/ 1187532 w 3681350"/>
              <a:gd name="connsiteY4" fmla="*/ 1778952 h 1804839"/>
              <a:gd name="connsiteX5" fmla="*/ 1579418 w 3681350"/>
              <a:gd name="connsiteY5" fmla="*/ 1707700 h 1804839"/>
              <a:gd name="connsiteX6" fmla="*/ 1733797 w 3681350"/>
              <a:gd name="connsiteY6" fmla="*/ 1327690 h 1804839"/>
              <a:gd name="connsiteX7" fmla="*/ 1805049 w 3681350"/>
              <a:gd name="connsiteY7" fmla="*/ 971430 h 1804839"/>
              <a:gd name="connsiteX8" fmla="*/ 1911927 w 3681350"/>
              <a:gd name="connsiteY8" fmla="*/ 555794 h 1804839"/>
              <a:gd name="connsiteX9" fmla="*/ 1983179 w 3681350"/>
              <a:gd name="connsiteY9" fmla="*/ 401415 h 1804839"/>
              <a:gd name="connsiteX10" fmla="*/ 2066306 w 3681350"/>
              <a:gd name="connsiteY10" fmla="*/ 187659 h 1804839"/>
              <a:gd name="connsiteX11" fmla="*/ 2149433 w 3681350"/>
              <a:gd name="connsiteY11" fmla="*/ 92656 h 1804839"/>
              <a:gd name="connsiteX12" fmla="*/ 2244436 w 3681350"/>
              <a:gd name="connsiteY12" fmla="*/ 21404 h 1804839"/>
              <a:gd name="connsiteX13" fmla="*/ 2375065 w 3681350"/>
              <a:gd name="connsiteY13" fmla="*/ 21404 h 1804839"/>
              <a:gd name="connsiteX14" fmla="*/ 2576945 w 3681350"/>
              <a:gd name="connsiteY14" fmla="*/ 270786 h 1804839"/>
              <a:gd name="connsiteX15" fmla="*/ 2719449 w 3681350"/>
              <a:gd name="connsiteY15" fmla="*/ 1066433 h 1804839"/>
              <a:gd name="connsiteX16" fmla="*/ 2909454 w 3681350"/>
              <a:gd name="connsiteY16" fmla="*/ 1517695 h 1804839"/>
              <a:gd name="connsiteX17" fmla="*/ 3384467 w 3681350"/>
              <a:gd name="connsiteY17" fmla="*/ 1315815 h 1804839"/>
              <a:gd name="connsiteX18" fmla="*/ 3681350 w 3681350"/>
              <a:gd name="connsiteY18" fmla="*/ 508293 h 1804839"/>
              <a:gd name="connsiteX0" fmla="*/ 0 w 3681350"/>
              <a:gd name="connsiteY0" fmla="*/ 757675 h 1778952"/>
              <a:gd name="connsiteX1" fmla="*/ 356259 w 3681350"/>
              <a:gd name="connsiteY1" fmla="*/ 401415 h 1778952"/>
              <a:gd name="connsiteX2" fmla="*/ 688768 w 3681350"/>
              <a:gd name="connsiteY2" fmla="*/ 698298 h 1778952"/>
              <a:gd name="connsiteX3" fmla="*/ 890649 w 3681350"/>
              <a:gd name="connsiteY3" fmla="*/ 1339565 h 1778952"/>
              <a:gd name="connsiteX4" fmla="*/ 1187532 w 3681350"/>
              <a:gd name="connsiteY4" fmla="*/ 1778952 h 1778952"/>
              <a:gd name="connsiteX5" fmla="*/ 1733797 w 3681350"/>
              <a:gd name="connsiteY5" fmla="*/ 1327690 h 1778952"/>
              <a:gd name="connsiteX6" fmla="*/ 1805049 w 3681350"/>
              <a:gd name="connsiteY6" fmla="*/ 971430 h 1778952"/>
              <a:gd name="connsiteX7" fmla="*/ 1911927 w 3681350"/>
              <a:gd name="connsiteY7" fmla="*/ 555794 h 1778952"/>
              <a:gd name="connsiteX8" fmla="*/ 1983179 w 3681350"/>
              <a:gd name="connsiteY8" fmla="*/ 401415 h 1778952"/>
              <a:gd name="connsiteX9" fmla="*/ 2066306 w 3681350"/>
              <a:gd name="connsiteY9" fmla="*/ 187659 h 1778952"/>
              <a:gd name="connsiteX10" fmla="*/ 2149433 w 3681350"/>
              <a:gd name="connsiteY10" fmla="*/ 92656 h 1778952"/>
              <a:gd name="connsiteX11" fmla="*/ 2244436 w 3681350"/>
              <a:gd name="connsiteY11" fmla="*/ 21404 h 1778952"/>
              <a:gd name="connsiteX12" fmla="*/ 2375065 w 3681350"/>
              <a:gd name="connsiteY12" fmla="*/ 21404 h 1778952"/>
              <a:gd name="connsiteX13" fmla="*/ 2576945 w 3681350"/>
              <a:gd name="connsiteY13" fmla="*/ 270786 h 1778952"/>
              <a:gd name="connsiteX14" fmla="*/ 2719449 w 3681350"/>
              <a:gd name="connsiteY14" fmla="*/ 1066433 h 1778952"/>
              <a:gd name="connsiteX15" fmla="*/ 2909454 w 3681350"/>
              <a:gd name="connsiteY15" fmla="*/ 1517695 h 1778952"/>
              <a:gd name="connsiteX16" fmla="*/ 3384467 w 3681350"/>
              <a:gd name="connsiteY16" fmla="*/ 1315815 h 1778952"/>
              <a:gd name="connsiteX17" fmla="*/ 3681350 w 3681350"/>
              <a:gd name="connsiteY17" fmla="*/ 508293 h 1778952"/>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56112 w 3681350"/>
              <a:gd name="connsiteY4" fmla="*/ 1790382 h 1790382"/>
              <a:gd name="connsiteX5" fmla="*/ 1733797 w 3681350"/>
              <a:gd name="connsiteY5" fmla="*/ 1327690 h 1790382"/>
              <a:gd name="connsiteX6" fmla="*/ 1805049 w 3681350"/>
              <a:gd name="connsiteY6" fmla="*/ 971430 h 1790382"/>
              <a:gd name="connsiteX7" fmla="*/ 1911927 w 3681350"/>
              <a:gd name="connsiteY7" fmla="*/ 555794 h 1790382"/>
              <a:gd name="connsiteX8" fmla="*/ 1983179 w 3681350"/>
              <a:gd name="connsiteY8" fmla="*/ 401415 h 1790382"/>
              <a:gd name="connsiteX9" fmla="*/ 2066306 w 3681350"/>
              <a:gd name="connsiteY9" fmla="*/ 187659 h 1790382"/>
              <a:gd name="connsiteX10" fmla="*/ 2149433 w 3681350"/>
              <a:gd name="connsiteY10" fmla="*/ 92656 h 1790382"/>
              <a:gd name="connsiteX11" fmla="*/ 2244436 w 3681350"/>
              <a:gd name="connsiteY11" fmla="*/ 21404 h 1790382"/>
              <a:gd name="connsiteX12" fmla="*/ 2375065 w 3681350"/>
              <a:gd name="connsiteY12" fmla="*/ 21404 h 1790382"/>
              <a:gd name="connsiteX13" fmla="*/ 2576945 w 3681350"/>
              <a:gd name="connsiteY13" fmla="*/ 270786 h 1790382"/>
              <a:gd name="connsiteX14" fmla="*/ 2719449 w 3681350"/>
              <a:gd name="connsiteY14" fmla="*/ 1066433 h 1790382"/>
              <a:gd name="connsiteX15" fmla="*/ 2909454 w 3681350"/>
              <a:gd name="connsiteY15" fmla="*/ 1517695 h 1790382"/>
              <a:gd name="connsiteX16" fmla="*/ 3384467 w 3681350"/>
              <a:gd name="connsiteY16" fmla="*/ 1315815 h 1790382"/>
              <a:gd name="connsiteX17" fmla="*/ 3681350 w 3681350"/>
              <a:gd name="connsiteY17" fmla="*/ 508293 h 1790382"/>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56112 w 3681350"/>
              <a:gd name="connsiteY4" fmla="*/ 1790382 h 1790382"/>
              <a:gd name="connsiteX5" fmla="*/ 1733797 w 3681350"/>
              <a:gd name="connsiteY5" fmla="*/ 1327690 h 1790382"/>
              <a:gd name="connsiteX6" fmla="*/ 1805049 w 3681350"/>
              <a:gd name="connsiteY6" fmla="*/ 971430 h 1790382"/>
              <a:gd name="connsiteX7" fmla="*/ 1911927 w 3681350"/>
              <a:gd name="connsiteY7" fmla="*/ 555794 h 1790382"/>
              <a:gd name="connsiteX8" fmla="*/ 1983179 w 3681350"/>
              <a:gd name="connsiteY8" fmla="*/ 401415 h 1790382"/>
              <a:gd name="connsiteX9" fmla="*/ 2066306 w 3681350"/>
              <a:gd name="connsiteY9" fmla="*/ 187659 h 1790382"/>
              <a:gd name="connsiteX10" fmla="*/ 2149433 w 3681350"/>
              <a:gd name="connsiteY10" fmla="*/ 92656 h 1790382"/>
              <a:gd name="connsiteX11" fmla="*/ 2244436 w 3681350"/>
              <a:gd name="connsiteY11" fmla="*/ 21404 h 1790382"/>
              <a:gd name="connsiteX12" fmla="*/ 2375065 w 3681350"/>
              <a:gd name="connsiteY12" fmla="*/ 21404 h 1790382"/>
              <a:gd name="connsiteX13" fmla="*/ 2576945 w 3681350"/>
              <a:gd name="connsiteY13" fmla="*/ 270786 h 1790382"/>
              <a:gd name="connsiteX14" fmla="*/ 2719449 w 3681350"/>
              <a:gd name="connsiteY14" fmla="*/ 1066433 h 1790382"/>
              <a:gd name="connsiteX15" fmla="*/ 2909454 w 3681350"/>
              <a:gd name="connsiteY15" fmla="*/ 1517695 h 1790382"/>
              <a:gd name="connsiteX16" fmla="*/ 3384467 w 3681350"/>
              <a:gd name="connsiteY16" fmla="*/ 1315815 h 1790382"/>
              <a:gd name="connsiteX17" fmla="*/ 3681350 w 3681350"/>
              <a:gd name="connsiteY17" fmla="*/ 508293 h 1790382"/>
              <a:gd name="connsiteX0" fmla="*/ 0 w 3681350"/>
              <a:gd name="connsiteY0" fmla="*/ 757675 h 1791207"/>
              <a:gd name="connsiteX1" fmla="*/ 356259 w 3681350"/>
              <a:gd name="connsiteY1" fmla="*/ 401415 h 1791207"/>
              <a:gd name="connsiteX2" fmla="*/ 688768 w 3681350"/>
              <a:gd name="connsiteY2" fmla="*/ 698298 h 1791207"/>
              <a:gd name="connsiteX3" fmla="*/ 890649 w 3681350"/>
              <a:gd name="connsiteY3" fmla="*/ 1339565 h 1791207"/>
              <a:gd name="connsiteX4" fmla="*/ 1256112 w 3681350"/>
              <a:gd name="connsiteY4" fmla="*/ 1790382 h 1791207"/>
              <a:gd name="connsiteX5" fmla="*/ 1733797 w 3681350"/>
              <a:gd name="connsiteY5" fmla="*/ 1327690 h 1791207"/>
              <a:gd name="connsiteX6" fmla="*/ 1805049 w 3681350"/>
              <a:gd name="connsiteY6" fmla="*/ 971430 h 1791207"/>
              <a:gd name="connsiteX7" fmla="*/ 1911927 w 3681350"/>
              <a:gd name="connsiteY7" fmla="*/ 555794 h 1791207"/>
              <a:gd name="connsiteX8" fmla="*/ 1983179 w 3681350"/>
              <a:gd name="connsiteY8" fmla="*/ 401415 h 1791207"/>
              <a:gd name="connsiteX9" fmla="*/ 2066306 w 3681350"/>
              <a:gd name="connsiteY9" fmla="*/ 187659 h 1791207"/>
              <a:gd name="connsiteX10" fmla="*/ 2149433 w 3681350"/>
              <a:gd name="connsiteY10" fmla="*/ 92656 h 1791207"/>
              <a:gd name="connsiteX11" fmla="*/ 2244436 w 3681350"/>
              <a:gd name="connsiteY11" fmla="*/ 21404 h 1791207"/>
              <a:gd name="connsiteX12" fmla="*/ 2375065 w 3681350"/>
              <a:gd name="connsiteY12" fmla="*/ 21404 h 1791207"/>
              <a:gd name="connsiteX13" fmla="*/ 2576945 w 3681350"/>
              <a:gd name="connsiteY13" fmla="*/ 270786 h 1791207"/>
              <a:gd name="connsiteX14" fmla="*/ 2719449 w 3681350"/>
              <a:gd name="connsiteY14" fmla="*/ 1066433 h 1791207"/>
              <a:gd name="connsiteX15" fmla="*/ 2909454 w 3681350"/>
              <a:gd name="connsiteY15" fmla="*/ 1517695 h 1791207"/>
              <a:gd name="connsiteX16" fmla="*/ 3384467 w 3681350"/>
              <a:gd name="connsiteY16" fmla="*/ 1315815 h 1791207"/>
              <a:gd name="connsiteX17" fmla="*/ 3681350 w 3681350"/>
              <a:gd name="connsiteY17" fmla="*/ 508293 h 1791207"/>
              <a:gd name="connsiteX0" fmla="*/ 0 w 3681350"/>
              <a:gd name="connsiteY0" fmla="*/ 757675 h 1791207"/>
              <a:gd name="connsiteX1" fmla="*/ 356259 w 3681350"/>
              <a:gd name="connsiteY1" fmla="*/ 401415 h 1791207"/>
              <a:gd name="connsiteX2" fmla="*/ 688768 w 3681350"/>
              <a:gd name="connsiteY2" fmla="*/ 698298 h 1791207"/>
              <a:gd name="connsiteX3" fmla="*/ 890649 w 3681350"/>
              <a:gd name="connsiteY3" fmla="*/ 1339565 h 1791207"/>
              <a:gd name="connsiteX4" fmla="*/ 1256112 w 3681350"/>
              <a:gd name="connsiteY4" fmla="*/ 1790382 h 1791207"/>
              <a:gd name="connsiteX5" fmla="*/ 1733797 w 3681350"/>
              <a:gd name="connsiteY5" fmla="*/ 1327690 h 1791207"/>
              <a:gd name="connsiteX6" fmla="*/ 1805049 w 3681350"/>
              <a:gd name="connsiteY6" fmla="*/ 971430 h 1791207"/>
              <a:gd name="connsiteX7" fmla="*/ 1911927 w 3681350"/>
              <a:gd name="connsiteY7" fmla="*/ 555794 h 1791207"/>
              <a:gd name="connsiteX8" fmla="*/ 1983179 w 3681350"/>
              <a:gd name="connsiteY8" fmla="*/ 401415 h 1791207"/>
              <a:gd name="connsiteX9" fmla="*/ 2066306 w 3681350"/>
              <a:gd name="connsiteY9" fmla="*/ 187659 h 1791207"/>
              <a:gd name="connsiteX10" fmla="*/ 2149433 w 3681350"/>
              <a:gd name="connsiteY10" fmla="*/ 92656 h 1791207"/>
              <a:gd name="connsiteX11" fmla="*/ 2244436 w 3681350"/>
              <a:gd name="connsiteY11" fmla="*/ 21404 h 1791207"/>
              <a:gd name="connsiteX12" fmla="*/ 2375065 w 3681350"/>
              <a:gd name="connsiteY12" fmla="*/ 21404 h 1791207"/>
              <a:gd name="connsiteX13" fmla="*/ 2576945 w 3681350"/>
              <a:gd name="connsiteY13" fmla="*/ 270786 h 1791207"/>
              <a:gd name="connsiteX14" fmla="*/ 2719449 w 3681350"/>
              <a:gd name="connsiteY14" fmla="*/ 1066433 h 1791207"/>
              <a:gd name="connsiteX15" fmla="*/ 2909454 w 3681350"/>
              <a:gd name="connsiteY15" fmla="*/ 1517695 h 1791207"/>
              <a:gd name="connsiteX16" fmla="*/ 3384467 w 3681350"/>
              <a:gd name="connsiteY16" fmla="*/ 1315815 h 1791207"/>
              <a:gd name="connsiteX17" fmla="*/ 3681350 w 3681350"/>
              <a:gd name="connsiteY17" fmla="*/ 508293 h 1791207"/>
              <a:gd name="connsiteX0" fmla="*/ 0 w 3681350"/>
              <a:gd name="connsiteY0" fmla="*/ 757675 h 1791207"/>
              <a:gd name="connsiteX1" fmla="*/ 356259 w 3681350"/>
              <a:gd name="connsiteY1" fmla="*/ 401415 h 1791207"/>
              <a:gd name="connsiteX2" fmla="*/ 688768 w 3681350"/>
              <a:gd name="connsiteY2" fmla="*/ 698298 h 1791207"/>
              <a:gd name="connsiteX3" fmla="*/ 890649 w 3681350"/>
              <a:gd name="connsiteY3" fmla="*/ 1339565 h 1791207"/>
              <a:gd name="connsiteX4" fmla="*/ 1336122 w 3681350"/>
              <a:gd name="connsiteY4" fmla="*/ 1790382 h 1791207"/>
              <a:gd name="connsiteX5" fmla="*/ 1733797 w 3681350"/>
              <a:gd name="connsiteY5" fmla="*/ 1327690 h 1791207"/>
              <a:gd name="connsiteX6" fmla="*/ 1805049 w 3681350"/>
              <a:gd name="connsiteY6" fmla="*/ 971430 h 1791207"/>
              <a:gd name="connsiteX7" fmla="*/ 1911927 w 3681350"/>
              <a:gd name="connsiteY7" fmla="*/ 555794 h 1791207"/>
              <a:gd name="connsiteX8" fmla="*/ 1983179 w 3681350"/>
              <a:gd name="connsiteY8" fmla="*/ 401415 h 1791207"/>
              <a:gd name="connsiteX9" fmla="*/ 2066306 w 3681350"/>
              <a:gd name="connsiteY9" fmla="*/ 187659 h 1791207"/>
              <a:gd name="connsiteX10" fmla="*/ 2149433 w 3681350"/>
              <a:gd name="connsiteY10" fmla="*/ 92656 h 1791207"/>
              <a:gd name="connsiteX11" fmla="*/ 2244436 w 3681350"/>
              <a:gd name="connsiteY11" fmla="*/ 21404 h 1791207"/>
              <a:gd name="connsiteX12" fmla="*/ 2375065 w 3681350"/>
              <a:gd name="connsiteY12" fmla="*/ 21404 h 1791207"/>
              <a:gd name="connsiteX13" fmla="*/ 2576945 w 3681350"/>
              <a:gd name="connsiteY13" fmla="*/ 270786 h 1791207"/>
              <a:gd name="connsiteX14" fmla="*/ 2719449 w 3681350"/>
              <a:gd name="connsiteY14" fmla="*/ 1066433 h 1791207"/>
              <a:gd name="connsiteX15" fmla="*/ 2909454 w 3681350"/>
              <a:gd name="connsiteY15" fmla="*/ 1517695 h 1791207"/>
              <a:gd name="connsiteX16" fmla="*/ 3384467 w 3681350"/>
              <a:gd name="connsiteY16" fmla="*/ 1315815 h 1791207"/>
              <a:gd name="connsiteX17" fmla="*/ 3681350 w 3681350"/>
              <a:gd name="connsiteY17" fmla="*/ 508293 h 1791207"/>
              <a:gd name="connsiteX0" fmla="*/ 0 w 3681350"/>
              <a:gd name="connsiteY0" fmla="*/ 757675 h 1791207"/>
              <a:gd name="connsiteX1" fmla="*/ 356259 w 3681350"/>
              <a:gd name="connsiteY1" fmla="*/ 401415 h 1791207"/>
              <a:gd name="connsiteX2" fmla="*/ 688768 w 3681350"/>
              <a:gd name="connsiteY2" fmla="*/ 698298 h 1791207"/>
              <a:gd name="connsiteX3" fmla="*/ 890649 w 3681350"/>
              <a:gd name="connsiteY3" fmla="*/ 1339565 h 1791207"/>
              <a:gd name="connsiteX4" fmla="*/ 1278972 w 3681350"/>
              <a:gd name="connsiteY4" fmla="*/ 1790382 h 1791207"/>
              <a:gd name="connsiteX5" fmla="*/ 1733797 w 3681350"/>
              <a:gd name="connsiteY5" fmla="*/ 1327690 h 1791207"/>
              <a:gd name="connsiteX6" fmla="*/ 1805049 w 3681350"/>
              <a:gd name="connsiteY6" fmla="*/ 971430 h 1791207"/>
              <a:gd name="connsiteX7" fmla="*/ 1911927 w 3681350"/>
              <a:gd name="connsiteY7" fmla="*/ 555794 h 1791207"/>
              <a:gd name="connsiteX8" fmla="*/ 1983179 w 3681350"/>
              <a:gd name="connsiteY8" fmla="*/ 401415 h 1791207"/>
              <a:gd name="connsiteX9" fmla="*/ 2066306 w 3681350"/>
              <a:gd name="connsiteY9" fmla="*/ 187659 h 1791207"/>
              <a:gd name="connsiteX10" fmla="*/ 2149433 w 3681350"/>
              <a:gd name="connsiteY10" fmla="*/ 92656 h 1791207"/>
              <a:gd name="connsiteX11" fmla="*/ 2244436 w 3681350"/>
              <a:gd name="connsiteY11" fmla="*/ 21404 h 1791207"/>
              <a:gd name="connsiteX12" fmla="*/ 2375065 w 3681350"/>
              <a:gd name="connsiteY12" fmla="*/ 21404 h 1791207"/>
              <a:gd name="connsiteX13" fmla="*/ 2576945 w 3681350"/>
              <a:gd name="connsiteY13" fmla="*/ 270786 h 1791207"/>
              <a:gd name="connsiteX14" fmla="*/ 2719449 w 3681350"/>
              <a:gd name="connsiteY14" fmla="*/ 1066433 h 1791207"/>
              <a:gd name="connsiteX15" fmla="*/ 2909454 w 3681350"/>
              <a:gd name="connsiteY15" fmla="*/ 1517695 h 1791207"/>
              <a:gd name="connsiteX16" fmla="*/ 3384467 w 3681350"/>
              <a:gd name="connsiteY16" fmla="*/ 1315815 h 1791207"/>
              <a:gd name="connsiteX17" fmla="*/ 3681350 w 3681350"/>
              <a:gd name="connsiteY17" fmla="*/ 508293 h 1791207"/>
              <a:gd name="connsiteX0" fmla="*/ 0 w 3681350"/>
              <a:gd name="connsiteY0" fmla="*/ 757675 h 1791207"/>
              <a:gd name="connsiteX1" fmla="*/ 356259 w 3681350"/>
              <a:gd name="connsiteY1" fmla="*/ 401415 h 1791207"/>
              <a:gd name="connsiteX2" fmla="*/ 688768 w 3681350"/>
              <a:gd name="connsiteY2" fmla="*/ 698298 h 1791207"/>
              <a:gd name="connsiteX3" fmla="*/ 890649 w 3681350"/>
              <a:gd name="connsiteY3" fmla="*/ 1339565 h 1791207"/>
              <a:gd name="connsiteX4" fmla="*/ 1278972 w 3681350"/>
              <a:gd name="connsiteY4" fmla="*/ 1790382 h 1791207"/>
              <a:gd name="connsiteX5" fmla="*/ 1733797 w 3681350"/>
              <a:gd name="connsiteY5" fmla="*/ 1327690 h 1791207"/>
              <a:gd name="connsiteX6" fmla="*/ 1805049 w 3681350"/>
              <a:gd name="connsiteY6" fmla="*/ 971430 h 1791207"/>
              <a:gd name="connsiteX7" fmla="*/ 1911927 w 3681350"/>
              <a:gd name="connsiteY7" fmla="*/ 555794 h 1791207"/>
              <a:gd name="connsiteX8" fmla="*/ 1983179 w 3681350"/>
              <a:gd name="connsiteY8" fmla="*/ 401415 h 1791207"/>
              <a:gd name="connsiteX9" fmla="*/ 2066306 w 3681350"/>
              <a:gd name="connsiteY9" fmla="*/ 187659 h 1791207"/>
              <a:gd name="connsiteX10" fmla="*/ 2149433 w 3681350"/>
              <a:gd name="connsiteY10" fmla="*/ 92656 h 1791207"/>
              <a:gd name="connsiteX11" fmla="*/ 2244436 w 3681350"/>
              <a:gd name="connsiteY11" fmla="*/ 21404 h 1791207"/>
              <a:gd name="connsiteX12" fmla="*/ 2375065 w 3681350"/>
              <a:gd name="connsiteY12" fmla="*/ 21404 h 1791207"/>
              <a:gd name="connsiteX13" fmla="*/ 2576945 w 3681350"/>
              <a:gd name="connsiteY13" fmla="*/ 270786 h 1791207"/>
              <a:gd name="connsiteX14" fmla="*/ 2719449 w 3681350"/>
              <a:gd name="connsiteY14" fmla="*/ 1066433 h 1791207"/>
              <a:gd name="connsiteX15" fmla="*/ 2909454 w 3681350"/>
              <a:gd name="connsiteY15" fmla="*/ 1517695 h 1791207"/>
              <a:gd name="connsiteX16" fmla="*/ 3384467 w 3681350"/>
              <a:gd name="connsiteY16" fmla="*/ 1315815 h 1791207"/>
              <a:gd name="connsiteX17" fmla="*/ 3681350 w 3681350"/>
              <a:gd name="connsiteY17" fmla="*/ 508293 h 1791207"/>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78972 w 3681350"/>
              <a:gd name="connsiteY4" fmla="*/ 1790382 h 1790382"/>
              <a:gd name="connsiteX5" fmla="*/ 1733797 w 3681350"/>
              <a:gd name="connsiteY5" fmla="*/ 1327690 h 1790382"/>
              <a:gd name="connsiteX6" fmla="*/ 1805049 w 3681350"/>
              <a:gd name="connsiteY6" fmla="*/ 971430 h 1790382"/>
              <a:gd name="connsiteX7" fmla="*/ 1911927 w 3681350"/>
              <a:gd name="connsiteY7" fmla="*/ 555794 h 1790382"/>
              <a:gd name="connsiteX8" fmla="*/ 1983179 w 3681350"/>
              <a:gd name="connsiteY8" fmla="*/ 401415 h 1790382"/>
              <a:gd name="connsiteX9" fmla="*/ 2066306 w 3681350"/>
              <a:gd name="connsiteY9" fmla="*/ 187659 h 1790382"/>
              <a:gd name="connsiteX10" fmla="*/ 2149433 w 3681350"/>
              <a:gd name="connsiteY10" fmla="*/ 92656 h 1790382"/>
              <a:gd name="connsiteX11" fmla="*/ 2244436 w 3681350"/>
              <a:gd name="connsiteY11" fmla="*/ 21404 h 1790382"/>
              <a:gd name="connsiteX12" fmla="*/ 2375065 w 3681350"/>
              <a:gd name="connsiteY12" fmla="*/ 21404 h 1790382"/>
              <a:gd name="connsiteX13" fmla="*/ 2576945 w 3681350"/>
              <a:gd name="connsiteY13" fmla="*/ 270786 h 1790382"/>
              <a:gd name="connsiteX14" fmla="*/ 2719449 w 3681350"/>
              <a:gd name="connsiteY14" fmla="*/ 1066433 h 1790382"/>
              <a:gd name="connsiteX15" fmla="*/ 2909454 w 3681350"/>
              <a:gd name="connsiteY15" fmla="*/ 1517695 h 1790382"/>
              <a:gd name="connsiteX16" fmla="*/ 3384467 w 3681350"/>
              <a:gd name="connsiteY16" fmla="*/ 1315815 h 1790382"/>
              <a:gd name="connsiteX17" fmla="*/ 3681350 w 3681350"/>
              <a:gd name="connsiteY17" fmla="*/ 508293 h 1790382"/>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78972 w 3681350"/>
              <a:gd name="connsiteY4" fmla="*/ 1790382 h 1790382"/>
              <a:gd name="connsiteX5" fmla="*/ 1733797 w 3681350"/>
              <a:gd name="connsiteY5" fmla="*/ 1327690 h 1790382"/>
              <a:gd name="connsiteX6" fmla="*/ 1805049 w 3681350"/>
              <a:gd name="connsiteY6" fmla="*/ 971430 h 1790382"/>
              <a:gd name="connsiteX7" fmla="*/ 1911927 w 3681350"/>
              <a:gd name="connsiteY7" fmla="*/ 555794 h 1790382"/>
              <a:gd name="connsiteX8" fmla="*/ 2066306 w 3681350"/>
              <a:gd name="connsiteY8" fmla="*/ 187659 h 1790382"/>
              <a:gd name="connsiteX9" fmla="*/ 2149433 w 3681350"/>
              <a:gd name="connsiteY9" fmla="*/ 92656 h 1790382"/>
              <a:gd name="connsiteX10" fmla="*/ 2244436 w 3681350"/>
              <a:gd name="connsiteY10" fmla="*/ 21404 h 1790382"/>
              <a:gd name="connsiteX11" fmla="*/ 2375065 w 3681350"/>
              <a:gd name="connsiteY11" fmla="*/ 21404 h 1790382"/>
              <a:gd name="connsiteX12" fmla="*/ 2576945 w 3681350"/>
              <a:gd name="connsiteY12" fmla="*/ 270786 h 1790382"/>
              <a:gd name="connsiteX13" fmla="*/ 2719449 w 3681350"/>
              <a:gd name="connsiteY13" fmla="*/ 1066433 h 1790382"/>
              <a:gd name="connsiteX14" fmla="*/ 2909454 w 3681350"/>
              <a:gd name="connsiteY14" fmla="*/ 1517695 h 1790382"/>
              <a:gd name="connsiteX15" fmla="*/ 3384467 w 3681350"/>
              <a:gd name="connsiteY15" fmla="*/ 1315815 h 1790382"/>
              <a:gd name="connsiteX16" fmla="*/ 3681350 w 3681350"/>
              <a:gd name="connsiteY16" fmla="*/ 508293 h 1790382"/>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78972 w 3681350"/>
              <a:gd name="connsiteY4" fmla="*/ 1790382 h 1790382"/>
              <a:gd name="connsiteX5" fmla="*/ 1733797 w 3681350"/>
              <a:gd name="connsiteY5" fmla="*/ 1327690 h 1790382"/>
              <a:gd name="connsiteX6" fmla="*/ 1805049 w 3681350"/>
              <a:gd name="connsiteY6" fmla="*/ 971430 h 1790382"/>
              <a:gd name="connsiteX7" fmla="*/ 2066306 w 3681350"/>
              <a:gd name="connsiteY7" fmla="*/ 187659 h 1790382"/>
              <a:gd name="connsiteX8" fmla="*/ 2149433 w 3681350"/>
              <a:gd name="connsiteY8" fmla="*/ 92656 h 1790382"/>
              <a:gd name="connsiteX9" fmla="*/ 2244436 w 3681350"/>
              <a:gd name="connsiteY9" fmla="*/ 21404 h 1790382"/>
              <a:gd name="connsiteX10" fmla="*/ 2375065 w 3681350"/>
              <a:gd name="connsiteY10" fmla="*/ 21404 h 1790382"/>
              <a:gd name="connsiteX11" fmla="*/ 2576945 w 3681350"/>
              <a:gd name="connsiteY11" fmla="*/ 270786 h 1790382"/>
              <a:gd name="connsiteX12" fmla="*/ 2719449 w 3681350"/>
              <a:gd name="connsiteY12" fmla="*/ 1066433 h 1790382"/>
              <a:gd name="connsiteX13" fmla="*/ 2909454 w 3681350"/>
              <a:gd name="connsiteY13" fmla="*/ 1517695 h 1790382"/>
              <a:gd name="connsiteX14" fmla="*/ 3384467 w 3681350"/>
              <a:gd name="connsiteY14" fmla="*/ 1315815 h 1790382"/>
              <a:gd name="connsiteX15" fmla="*/ 3681350 w 3681350"/>
              <a:gd name="connsiteY15" fmla="*/ 508293 h 1790382"/>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78972 w 3681350"/>
              <a:gd name="connsiteY4" fmla="*/ 1790382 h 1790382"/>
              <a:gd name="connsiteX5" fmla="*/ 1733797 w 3681350"/>
              <a:gd name="connsiteY5" fmla="*/ 1327690 h 1790382"/>
              <a:gd name="connsiteX6" fmla="*/ 1873629 w 3681350"/>
              <a:gd name="connsiteY6" fmla="*/ 834270 h 1790382"/>
              <a:gd name="connsiteX7" fmla="*/ 2066306 w 3681350"/>
              <a:gd name="connsiteY7" fmla="*/ 187659 h 1790382"/>
              <a:gd name="connsiteX8" fmla="*/ 2149433 w 3681350"/>
              <a:gd name="connsiteY8" fmla="*/ 92656 h 1790382"/>
              <a:gd name="connsiteX9" fmla="*/ 2244436 w 3681350"/>
              <a:gd name="connsiteY9" fmla="*/ 21404 h 1790382"/>
              <a:gd name="connsiteX10" fmla="*/ 2375065 w 3681350"/>
              <a:gd name="connsiteY10" fmla="*/ 21404 h 1790382"/>
              <a:gd name="connsiteX11" fmla="*/ 2576945 w 3681350"/>
              <a:gd name="connsiteY11" fmla="*/ 270786 h 1790382"/>
              <a:gd name="connsiteX12" fmla="*/ 2719449 w 3681350"/>
              <a:gd name="connsiteY12" fmla="*/ 1066433 h 1790382"/>
              <a:gd name="connsiteX13" fmla="*/ 2909454 w 3681350"/>
              <a:gd name="connsiteY13" fmla="*/ 1517695 h 1790382"/>
              <a:gd name="connsiteX14" fmla="*/ 3384467 w 3681350"/>
              <a:gd name="connsiteY14" fmla="*/ 1315815 h 1790382"/>
              <a:gd name="connsiteX15" fmla="*/ 3681350 w 3681350"/>
              <a:gd name="connsiteY15" fmla="*/ 508293 h 1790382"/>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78972 w 3681350"/>
              <a:gd name="connsiteY4" fmla="*/ 1790382 h 1790382"/>
              <a:gd name="connsiteX5" fmla="*/ 1733797 w 3681350"/>
              <a:gd name="connsiteY5" fmla="*/ 1327690 h 1790382"/>
              <a:gd name="connsiteX6" fmla="*/ 2066306 w 3681350"/>
              <a:gd name="connsiteY6" fmla="*/ 187659 h 1790382"/>
              <a:gd name="connsiteX7" fmla="*/ 2149433 w 3681350"/>
              <a:gd name="connsiteY7" fmla="*/ 92656 h 1790382"/>
              <a:gd name="connsiteX8" fmla="*/ 2244436 w 3681350"/>
              <a:gd name="connsiteY8" fmla="*/ 21404 h 1790382"/>
              <a:gd name="connsiteX9" fmla="*/ 2375065 w 3681350"/>
              <a:gd name="connsiteY9" fmla="*/ 21404 h 1790382"/>
              <a:gd name="connsiteX10" fmla="*/ 2576945 w 3681350"/>
              <a:gd name="connsiteY10" fmla="*/ 270786 h 1790382"/>
              <a:gd name="connsiteX11" fmla="*/ 2719449 w 3681350"/>
              <a:gd name="connsiteY11" fmla="*/ 1066433 h 1790382"/>
              <a:gd name="connsiteX12" fmla="*/ 2909454 w 3681350"/>
              <a:gd name="connsiteY12" fmla="*/ 1517695 h 1790382"/>
              <a:gd name="connsiteX13" fmla="*/ 3384467 w 3681350"/>
              <a:gd name="connsiteY13" fmla="*/ 1315815 h 1790382"/>
              <a:gd name="connsiteX14" fmla="*/ 3681350 w 3681350"/>
              <a:gd name="connsiteY14" fmla="*/ 508293 h 1790382"/>
              <a:gd name="connsiteX0" fmla="*/ 0 w 3681350"/>
              <a:gd name="connsiteY0" fmla="*/ 762503 h 1795210"/>
              <a:gd name="connsiteX1" fmla="*/ 356259 w 3681350"/>
              <a:gd name="connsiteY1" fmla="*/ 406243 h 1795210"/>
              <a:gd name="connsiteX2" fmla="*/ 688768 w 3681350"/>
              <a:gd name="connsiteY2" fmla="*/ 703126 h 1795210"/>
              <a:gd name="connsiteX3" fmla="*/ 890649 w 3681350"/>
              <a:gd name="connsiteY3" fmla="*/ 1344393 h 1795210"/>
              <a:gd name="connsiteX4" fmla="*/ 1278972 w 3681350"/>
              <a:gd name="connsiteY4" fmla="*/ 1795210 h 1795210"/>
              <a:gd name="connsiteX5" fmla="*/ 1733797 w 3681350"/>
              <a:gd name="connsiteY5" fmla="*/ 1332518 h 1795210"/>
              <a:gd name="connsiteX6" fmla="*/ 2066306 w 3681350"/>
              <a:gd name="connsiteY6" fmla="*/ 192487 h 1795210"/>
              <a:gd name="connsiteX7" fmla="*/ 2244436 w 3681350"/>
              <a:gd name="connsiteY7" fmla="*/ 26232 h 1795210"/>
              <a:gd name="connsiteX8" fmla="*/ 2375065 w 3681350"/>
              <a:gd name="connsiteY8" fmla="*/ 26232 h 1795210"/>
              <a:gd name="connsiteX9" fmla="*/ 2576945 w 3681350"/>
              <a:gd name="connsiteY9" fmla="*/ 275614 h 1795210"/>
              <a:gd name="connsiteX10" fmla="*/ 2719449 w 3681350"/>
              <a:gd name="connsiteY10" fmla="*/ 1071261 h 1795210"/>
              <a:gd name="connsiteX11" fmla="*/ 2909454 w 3681350"/>
              <a:gd name="connsiteY11" fmla="*/ 1522523 h 1795210"/>
              <a:gd name="connsiteX12" fmla="*/ 3384467 w 3681350"/>
              <a:gd name="connsiteY12" fmla="*/ 1320643 h 1795210"/>
              <a:gd name="connsiteX13" fmla="*/ 3681350 w 3681350"/>
              <a:gd name="connsiteY13" fmla="*/ 513121 h 1795210"/>
              <a:gd name="connsiteX0" fmla="*/ 0 w 3681350"/>
              <a:gd name="connsiteY0" fmla="*/ 842948 h 1875655"/>
              <a:gd name="connsiteX1" fmla="*/ 356259 w 3681350"/>
              <a:gd name="connsiteY1" fmla="*/ 486688 h 1875655"/>
              <a:gd name="connsiteX2" fmla="*/ 688768 w 3681350"/>
              <a:gd name="connsiteY2" fmla="*/ 783571 h 1875655"/>
              <a:gd name="connsiteX3" fmla="*/ 890649 w 3681350"/>
              <a:gd name="connsiteY3" fmla="*/ 1424838 h 1875655"/>
              <a:gd name="connsiteX4" fmla="*/ 1278972 w 3681350"/>
              <a:gd name="connsiteY4" fmla="*/ 1875655 h 1875655"/>
              <a:gd name="connsiteX5" fmla="*/ 1733797 w 3681350"/>
              <a:gd name="connsiteY5" fmla="*/ 1412963 h 1875655"/>
              <a:gd name="connsiteX6" fmla="*/ 2244436 w 3681350"/>
              <a:gd name="connsiteY6" fmla="*/ 106677 h 1875655"/>
              <a:gd name="connsiteX7" fmla="*/ 2375065 w 3681350"/>
              <a:gd name="connsiteY7" fmla="*/ 106677 h 1875655"/>
              <a:gd name="connsiteX8" fmla="*/ 2576945 w 3681350"/>
              <a:gd name="connsiteY8" fmla="*/ 356059 h 1875655"/>
              <a:gd name="connsiteX9" fmla="*/ 2719449 w 3681350"/>
              <a:gd name="connsiteY9" fmla="*/ 1151706 h 1875655"/>
              <a:gd name="connsiteX10" fmla="*/ 2909454 w 3681350"/>
              <a:gd name="connsiteY10" fmla="*/ 1602968 h 1875655"/>
              <a:gd name="connsiteX11" fmla="*/ 3384467 w 3681350"/>
              <a:gd name="connsiteY11" fmla="*/ 1401088 h 1875655"/>
              <a:gd name="connsiteX12" fmla="*/ 3681350 w 3681350"/>
              <a:gd name="connsiteY12" fmla="*/ 593566 h 1875655"/>
              <a:gd name="connsiteX0" fmla="*/ 0 w 3681350"/>
              <a:gd name="connsiteY0" fmla="*/ 796203 h 1828910"/>
              <a:gd name="connsiteX1" fmla="*/ 356259 w 3681350"/>
              <a:gd name="connsiteY1" fmla="*/ 439943 h 1828910"/>
              <a:gd name="connsiteX2" fmla="*/ 688768 w 3681350"/>
              <a:gd name="connsiteY2" fmla="*/ 736826 h 1828910"/>
              <a:gd name="connsiteX3" fmla="*/ 890649 w 3681350"/>
              <a:gd name="connsiteY3" fmla="*/ 1378093 h 1828910"/>
              <a:gd name="connsiteX4" fmla="*/ 1278972 w 3681350"/>
              <a:gd name="connsiteY4" fmla="*/ 1828910 h 1828910"/>
              <a:gd name="connsiteX5" fmla="*/ 1733797 w 3681350"/>
              <a:gd name="connsiteY5" fmla="*/ 1366218 h 1828910"/>
              <a:gd name="connsiteX6" fmla="*/ 2375065 w 3681350"/>
              <a:gd name="connsiteY6" fmla="*/ 59932 h 1828910"/>
              <a:gd name="connsiteX7" fmla="*/ 2576945 w 3681350"/>
              <a:gd name="connsiteY7" fmla="*/ 309314 h 1828910"/>
              <a:gd name="connsiteX8" fmla="*/ 2719449 w 3681350"/>
              <a:gd name="connsiteY8" fmla="*/ 1104961 h 1828910"/>
              <a:gd name="connsiteX9" fmla="*/ 2909454 w 3681350"/>
              <a:gd name="connsiteY9" fmla="*/ 1556223 h 1828910"/>
              <a:gd name="connsiteX10" fmla="*/ 3384467 w 3681350"/>
              <a:gd name="connsiteY10" fmla="*/ 1354343 h 1828910"/>
              <a:gd name="connsiteX11" fmla="*/ 3681350 w 3681350"/>
              <a:gd name="connsiteY11" fmla="*/ 546821 h 1828910"/>
              <a:gd name="connsiteX0" fmla="*/ 0 w 3681350"/>
              <a:gd name="connsiteY0" fmla="*/ 772905 h 1805612"/>
              <a:gd name="connsiteX1" fmla="*/ 356259 w 3681350"/>
              <a:gd name="connsiteY1" fmla="*/ 416645 h 1805612"/>
              <a:gd name="connsiteX2" fmla="*/ 688768 w 3681350"/>
              <a:gd name="connsiteY2" fmla="*/ 713528 h 1805612"/>
              <a:gd name="connsiteX3" fmla="*/ 890649 w 3681350"/>
              <a:gd name="connsiteY3" fmla="*/ 1354795 h 1805612"/>
              <a:gd name="connsiteX4" fmla="*/ 1278972 w 3681350"/>
              <a:gd name="connsiteY4" fmla="*/ 1805612 h 1805612"/>
              <a:gd name="connsiteX5" fmla="*/ 1733797 w 3681350"/>
              <a:gd name="connsiteY5" fmla="*/ 1342920 h 1805612"/>
              <a:gd name="connsiteX6" fmla="*/ 2375065 w 3681350"/>
              <a:gd name="connsiteY6" fmla="*/ 36634 h 1805612"/>
              <a:gd name="connsiteX7" fmla="*/ 2576945 w 3681350"/>
              <a:gd name="connsiteY7" fmla="*/ 286016 h 1805612"/>
              <a:gd name="connsiteX8" fmla="*/ 2719449 w 3681350"/>
              <a:gd name="connsiteY8" fmla="*/ 1081663 h 1805612"/>
              <a:gd name="connsiteX9" fmla="*/ 2909454 w 3681350"/>
              <a:gd name="connsiteY9" fmla="*/ 1532925 h 1805612"/>
              <a:gd name="connsiteX10" fmla="*/ 3384467 w 3681350"/>
              <a:gd name="connsiteY10" fmla="*/ 1331045 h 1805612"/>
              <a:gd name="connsiteX11" fmla="*/ 3681350 w 3681350"/>
              <a:gd name="connsiteY11" fmla="*/ 523523 h 1805612"/>
              <a:gd name="connsiteX0" fmla="*/ 0 w 3681350"/>
              <a:gd name="connsiteY0" fmla="*/ 736509 h 1769216"/>
              <a:gd name="connsiteX1" fmla="*/ 356259 w 3681350"/>
              <a:gd name="connsiteY1" fmla="*/ 380249 h 1769216"/>
              <a:gd name="connsiteX2" fmla="*/ 688768 w 3681350"/>
              <a:gd name="connsiteY2" fmla="*/ 677132 h 1769216"/>
              <a:gd name="connsiteX3" fmla="*/ 890649 w 3681350"/>
              <a:gd name="connsiteY3" fmla="*/ 1318399 h 1769216"/>
              <a:gd name="connsiteX4" fmla="*/ 1278972 w 3681350"/>
              <a:gd name="connsiteY4" fmla="*/ 1769216 h 1769216"/>
              <a:gd name="connsiteX5" fmla="*/ 1733797 w 3681350"/>
              <a:gd name="connsiteY5" fmla="*/ 1306524 h 1769216"/>
              <a:gd name="connsiteX6" fmla="*/ 2375065 w 3681350"/>
              <a:gd name="connsiteY6" fmla="*/ 238 h 1769216"/>
              <a:gd name="connsiteX7" fmla="*/ 2576945 w 3681350"/>
              <a:gd name="connsiteY7" fmla="*/ 249620 h 1769216"/>
              <a:gd name="connsiteX8" fmla="*/ 2719449 w 3681350"/>
              <a:gd name="connsiteY8" fmla="*/ 1045267 h 1769216"/>
              <a:gd name="connsiteX9" fmla="*/ 2909454 w 3681350"/>
              <a:gd name="connsiteY9" fmla="*/ 1496529 h 1769216"/>
              <a:gd name="connsiteX10" fmla="*/ 3384467 w 3681350"/>
              <a:gd name="connsiteY10" fmla="*/ 1294649 h 1769216"/>
              <a:gd name="connsiteX11" fmla="*/ 3681350 w 3681350"/>
              <a:gd name="connsiteY11" fmla="*/ 487127 h 1769216"/>
              <a:gd name="connsiteX0" fmla="*/ 0 w 3681350"/>
              <a:gd name="connsiteY0" fmla="*/ 737904 h 1770611"/>
              <a:gd name="connsiteX1" fmla="*/ 356259 w 3681350"/>
              <a:gd name="connsiteY1" fmla="*/ 381644 h 1770611"/>
              <a:gd name="connsiteX2" fmla="*/ 688768 w 3681350"/>
              <a:gd name="connsiteY2" fmla="*/ 678527 h 1770611"/>
              <a:gd name="connsiteX3" fmla="*/ 890649 w 3681350"/>
              <a:gd name="connsiteY3" fmla="*/ 1319794 h 1770611"/>
              <a:gd name="connsiteX4" fmla="*/ 1278972 w 3681350"/>
              <a:gd name="connsiteY4" fmla="*/ 1770611 h 1770611"/>
              <a:gd name="connsiteX5" fmla="*/ 1733797 w 3681350"/>
              <a:gd name="connsiteY5" fmla="*/ 1307919 h 1770611"/>
              <a:gd name="connsiteX6" fmla="*/ 2375065 w 3681350"/>
              <a:gd name="connsiteY6" fmla="*/ 1633 h 1770611"/>
              <a:gd name="connsiteX7" fmla="*/ 2719449 w 3681350"/>
              <a:gd name="connsiteY7" fmla="*/ 1046662 h 1770611"/>
              <a:gd name="connsiteX8" fmla="*/ 2909454 w 3681350"/>
              <a:gd name="connsiteY8" fmla="*/ 1497924 h 1770611"/>
              <a:gd name="connsiteX9" fmla="*/ 3384467 w 3681350"/>
              <a:gd name="connsiteY9" fmla="*/ 1296044 h 1770611"/>
              <a:gd name="connsiteX10" fmla="*/ 3681350 w 3681350"/>
              <a:gd name="connsiteY10" fmla="*/ 488522 h 1770611"/>
              <a:gd name="connsiteX0" fmla="*/ 0 w 3681350"/>
              <a:gd name="connsiteY0" fmla="*/ 737908 h 1770615"/>
              <a:gd name="connsiteX1" fmla="*/ 356259 w 3681350"/>
              <a:gd name="connsiteY1" fmla="*/ 381648 h 1770615"/>
              <a:gd name="connsiteX2" fmla="*/ 688768 w 3681350"/>
              <a:gd name="connsiteY2" fmla="*/ 678531 h 1770615"/>
              <a:gd name="connsiteX3" fmla="*/ 890649 w 3681350"/>
              <a:gd name="connsiteY3" fmla="*/ 1319798 h 1770615"/>
              <a:gd name="connsiteX4" fmla="*/ 1278972 w 3681350"/>
              <a:gd name="connsiteY4" fmla="*/ 1770615 h 1770615"/>
              <a:gd name="connsiteX5" fmla="*/ 1733797 w 3681350"/>
              <a:gd name="connsiteY5" fmla="*/ 1307923 h 1770615"/>
              <a:gd name="connsiteX6" fmla="*/ 2375065 w 3681350"/>
              <a:gd name="connsiteY6" fmla="*/ 1637 h 1770615"/>
              <a:gd name="connsiteX7" fmla="*/ 2719449 w 3681350"/>
              <a:gd name="connsiteY7" fmla="*/ 1046666 h 1770615"/>
              <a:gd name="connsiteX8" fmla="*/ 3000894 w 3681350"/>
              <a:gd name="connsiteY8" fmla="*/ 1509358 h 1770615"/>
              <a:gd name="connsiteX9" fmla="*/ 3384467 w 3681350"/>
              <a:gd name="connsiteY9" fmla="*/ 1296048 h 1770615"/>
              <a:gd name="connsiteX10" fmla="*/ 3681350 w 3681350"/>
              <a:gd name="connsiteY10" fmla="*/ 488526 h 1770615"/>
              <a:gd name="connsiteX0" fmla="*/ 0 w 3681350"/>
              <a:gd name="connsiteY0" fmla="*/ 737908 h 1770615"/>
              <a:gd name="connsiteX1" fmla="*/ 356259 w 3681350"/>
              <a:gd name="connsiteY1" fmla="*/ 381648 h 1770615"/>
              <a:gd name="connsiteX2" fmla="*/ 688768 w 3681350"/>
              <a:gd name="connsiteY2" fmla="*/ 678531 h 1770615"/>
              <a:gd name="connsiteX3" fmla="*/ 890649 w 3681350"/>
              <a:gd name="connsiteY3" fmla="*/ 1319798 h 1770615"/>
              <a:gd name="connsiteX4" fmla="*/ 1278972 w 3681350"/>
              <a:gd name="connsiteY4" fmla="*/ 1770615 h 1770615"/>
              <a:gd name="connsiteX5" fmla="*/ 1733797 w 3681350"/>
              <a:gd name="connsiteY5" fmla="*/ 1307923 h 1770615"/>
              <a:gd name="connsiteX6" fmla="*/ 2375065 w 3681350"/>
              <a:gd name="connsiteY6" fmla="*/ 1637 h 1770615"/>
              <a:gd name="connsiteX7" fmla="*/ 2719449 w 3681350"/>
              <a:gd name="connsiteY7" fmla="*/ 1046666 h 1770615"/>
              <a:gd name="connsiteX8" fmla="*/ 3000894 w 3681350"/>
              <a:gd name="connsiteY8" fmla="*/ 1509358 h 1770615"/>
              <a:gd name="connsiteX9" fmla="*/ 3384467 w 3681350"/>
              <a:gd name="connsiteY9" fmla="*/ 1296048 h 1770615"/>
              <a:gd name="connsiteX10" fmla="*/ 3681350 w 3681350"/>
              <a:gd name="connsiteY10" fmla="*/ 488526 h 1770615"/>
              <a:gd name="connsiteX0" fmla="*/ 0 w 3681350"/>
              <a:gd name="connsiteY0" fmla="*/ 746138 h 1778845"/>
              <a:gd name="connsiteX1" fmla="*/ 356259 w 3681350"/>
              <a:gd name="connsiteY1" fmla="*/ 389878 h 1778845"/>
              <a:gd name="connsiteX2" fmla="*/ 688768 w 3681350"/>
              <a:gd name="connsiteY2" fmla="*/ 686761 h 1778845"/>
              <a:gd name="connsiteX3" fmla="*/ 890649 w 3681350"/>
              <a:gd name="connsiteY3" fmla="*/ 1328028 h 1778845"/>
              <a:gd name="connsiteX4" fmla="*/ 1278972 w 3681350"/>
              <a:gd name="connsiteY4" fmla="*/ 1778845 h 1778845"/>
              <a:gd name="connsiteX5" fmla="*/ 1733797 w 3681350"/>
              <a:gd name="connsiteY5" fmla="*/ 1316153 h 1778845"/>
              <a:gd name="connsiteX6" fmla="*/ 2375065 w 3681350"/>
              <a:gd name="connsiteY6" fmla="*/ 9867 h 1778845"/>
              <a:gd name="connsiteX7" fmla="*/ 2662299 w 3681350"/>
              <a:gd name="connsiteY7" fmla="*/ 757716 h 1778845"/>
              <a:gd name="connsiteX8" fmla="*/ 3000894 w 3681350"/>
              <a:gd name="connsiteY8" fmla="*/ 1517588 h 1778845"/>
              <a:gd name="connsiteX9" fmla="*/ 3384467 w 3681350"/>
              <a:gd name="connsiteY9" fmla="*/ 1304278 h 1778845"/>
              <a:gd name="connsiteX10" fmla="*/ 3681350 w 3681350"/>
              <a:gd name="connsiteY10" fmla="*/ 496756 h 1778845"/>
              <a:gd name="connsiteX0" fmla="*/ 0 w 3681350"/>
              <a:gd name="connsiteY0" fmla="*/ 747440 h 1780147"/>
              <a:gd name="connsiteX1" fmla="*/ 356259 w 3681350"/>
              <a:gd name="connsiteY1" fmla="*/ 391180 h 1780147"/>
              <a:gd name="connsiteX2" fmla="*/ 688768 w 3681350"/>
              <a:gd name="connsiteY2" fmla="*/ 688063 h 1780147"/>
              <a:gd name="connsiteX3" fmla="*/ 890649 w 3681350"/>
              <a:gd name="connsiteY3" fmla="*/ 1329330 h 1780147"/>
              <a:gd name="connsiteX4" fmla="*/ 1278972 w 3681350"/>
              <a:gd name="connsiteY4" fmla="*/ 1780147 h 1780147"/>
              <a:gd name="connsiteX5" fmla="*/ 1733797 w 3681350"/>
              <a:gd name="connsiteY5" fmla="*/ 1317455 h 1780147"/>
              <a:gd name="connsiteX6" fmla="*/ 2375065 w 3681350"/>
              <a:gd name="connsiteY6" fmla="*/ 11169 h 1780147"/>
              <a:gd name="connsiteX7" fmla="*/ 2662299 w 3681350"/>
              <a:gd name="connsiteY7" fmla="*/ 759018 h 1780147"/>
              <a:gd name="connsiteX8" fmla="*/ 3000894 w 3681350"/>
              <a:gd name="connsiteY8" fmla="*/ 1518890 h 1780147"/>
              <a:gd name="connsiteX9" fmla="*/ 3384467 w 3681350"/>
              <a:gd name="connsiteY9" fmla="*/ 1305580 h 1780147"/>
              <a:gd name="connsiteX10" fmla="*/ 3681350 w 3681350"/>
              <a:gd name="connsiteY10" fmla="*/ 498058 h 1780147"/>
              <a:gd name="connsiteX0" fmla="*/ 0 w 3681350"/>
              <a:gd name="connsiteY0" fmla="*/ 747440 h 1780147"/>
              <a:gd name="connsiteX1" fmla="*/ 356259 w 3681350"/>
              <a:gd name="connsiteY1" fmla="*/ 391180 h 1780147"/>
              <a:gd name="connsiteX2" fmla="*/ 688768 w 3681350"/>
              <a:gd name="connsiteY2" fmla="*/ 688063 h 1780147"/>
              <a:gd name="connsiteX3" fmla="*/ 890649 w 3681350"/>
              <a:gd name="connsiteY3" fmla="*/ 1329330 h 1780147"/>
              <a:gd name="connsiteX4" fmla="*/ 1278972 w 3681350"/>
              <a:gd name="connsiteY4" fmla="*/ 1780147 h 1780147"/>
              <a:gd name="connsiteX5" fmla="*/ 1733797 w 3681350"/>
              <a:gd name="connsiteY5" fmla="*/ 1317455 h 1780147"/>
              <a:gd name="connsiteX6" fmla="*/ 2375065 w 3681350"/>
              <a:gd name="connsiteY6" fmla="*/ 11169 h 1780147"/>
              <a:gd name="connsiteX7" fmla="*/ 2662299 w 3681350"/>
              <a:gd name="connsiteY7" fmla="*/ 759018 h 1780147"/>
              <a:gd name="connsiteX8" fmla="*/ 3000894 w 3681350"/>
              <a:gd name="connsiteY8" fmla="*/ 1518890 h 1780147"/>
              <a:gd name="connsiteX9" fmla="*/ 3384467 w 3681350"/>
              <a:gd name="connsiteY9" fmla="*/ 1305580 h 1780147"/>
              <a:gd name="connsiteX10" fmla="*/ 3681350 w 3681350"/>
              <a:gd name="connsiteY10" fmla="*/ 498058 h 1780147"/>
              <a:gd name="connsiteX0" fmla="*/ 0 w 3681350"/>
              <a:gd name="connsiteY0" fmla="*/ 745726 h 1778433"/>
              <a:gd name="connsiteX1" fmla="*/ 356259 w 3681350"/>
              <a:gd name="connsiteY1" fmla="*/ 389466 h 1778433"/>
              <a:gd name="connsiteX2" fmla="*/ 688768 w 3681350"/>
              <a:gd name="connsiteY2" fmla="*/ 686349 h 1778433"/>
              <a:gd name="connsiteX3" fmla="*/ 890649 w 3681350"/>
              <a:gd name="connsiteY3" fmla="*/ 1327616 h 1778433"/>
              <a:gd name="connsiteX4" fmla="*/ 1278972 w 3681350"/>
              <a:gd name="connsiteY4" fmla="*/ 1778433 h 1778433"/>
              <a:gd name="connsiteX5" fmla="*/ 1733797 w 3681350"/>
              <a:gd name="connsiteY5" fmla="*/ 1315741 h 1778433"/>
              <a:gd name="connsiteX6" fmla="*/ 2375065 w 3681350"/>
              <a:gd name="connsiteY6" fmla="*/ 9455 h 1778433"/>
              <a:gd name="connsiteX7" fmla="*/ 2708019 w 3681350"/>
              <a:gd name="connsiteY7" fmla="*/ 791594 h 1778433"/>
              <a:gd name="connsiteX8" fmla="*/ 3000894 w 3681350"/>
              <a:gd name="connsiteY8" fmla="*/ 1517176 h 1778433"/>
              <a:gd name="connsiteX9" fmla="*/ 3384467 w 3681350"/>
              <a:gd name="connsiteY9" fmla="*/ 1303866 h 1778433"/>
              <a:gd name="connsiteX10" fmla="*/ 3681350 w 3681350"/>
              <a:gd name="connsiteY10" fmla="*/ 496344 h 1778433"/>
              <a:gd name="connsiteX0" fmla="*/ 0 w 3681350"/>
              <a:gd name="connsiteY0" fmla="*/ 745726 h 1778433"/>
              <a:gd name="connsiteX1" fmla="*/ 356259 w 3681350"/>
              <a:gd name="connsiteY1" fmla="*/ 389466 h 1778433"/>
              <a:gd name="connsiteX2" fmla="*/ 688768 w 3681350"/>
              <a:gd name="connsiteY2" fmla="*/ 686349 h 1778433"/>
              <a:gd name="connsiteX3" fmla="*/ 890649 w 3681350"/>
              <a:gd name="connsiteY3" fmla="*/ 1327616 h 1778433"/>
              <a:gd name="connsiteX4" fmla="*/ 1278972 w 3681350"/>
              <a:gd name="connsiteY4" fmla="*/ 1778433 h 1778433"/>
              <a:gd name="connsiteX5" fmla="*/ 1733797 w 3681350"/>
              <a:gd name="connsiteY5" fmla="*/ 1315741 h 1778433"/>
              <a:gd name="connsiteX6" fmla="*/ 2375065 w 3681350"/>
              <a:gd name="connsiteY6" fmla="*/ 9455 h 1778433"/>
              <a:gd name="connsiteX7" fmla="*/ 2708019 w 3681350"/>
              <a:gd name="connsiteY7" fmla="*/ 791594 h 1778433"/>
              <a:gd name="connsiteX8" fmla="*/ 3000894 w 3681350"/>
              <a:gd name="connsiteY8" fmla="*/ 1517176 h 1778433"/>
              <a:gd name="connsiteX9" fmla="*/ 3384467 w 3681350"/>
              <a:gd name="connsiteY9" fmla="*/ 1303866 h 1778433"/>
              <a:gd name="connsiteX10" fmla="*/ 3681350 w 3681350"/>
              <a:gd name="connsiteY10" fmla="*/ 496344 h 1778433"/>
              <a:gd name="connsiteX0" fmla="*/ 0 w 3681350"/>
              <a:gd name="connsiteY0" fmla="*/ 745726 h 1778433"/>
              <a:gd name="connsiteX1" fmla="*/ 356259 w 3681350"/>
              <a:gd name="connsiteY1" fmla="*/ 389466 h 1778433"/>
              <a:gd name="connsiteX2" fmla="*/ 890649 w 3681350"/>
              <a:gd name="connsiteY2" fmla="*/ 1327616 h 1778433"/>
              <a:gd name="connsiteX3" fmla="*/ 1278972 w 3681350"/>
              <a:gd name="connsiteY3" fmla="*/ 1778433 h 1778433"/>
              <a:gd name="connsiteX4" fmla="*/ 1733797 w 3681350"/>
              <a:gd name="connsiteY4" fmla="*/ 1315741 h 1778433"/>
              <a:gd name="connsiteX5" fmla="*/ 2375065 w 3681350"/>
              <a:gd name="connsiteY5" fmla="*/ 9455 h 1778433"/>
              <a:gd name="connsiteX6" fmla="*/ 2708019 w 3681350"/>
              <a:gd name="connsiteY6" fmla="*/ 791594 h 1778433"/>
              <a:gd name="connsiteX7" fmla="*/ 3000894 w 3681350"/>
              <a:gd name="connsiteY7" fmla="*/ 1517176 h 1778433"/>
              <a:gd name="connsiteX8" fmla="*/ 3384467 w 3681350"/>
              <a:gd name="connsiteY8" fmla="*/ 1303866 h 1778433"/>
              <a:gd name="connsiteX9" fmla="*/ 3681350 w 3681350"/>
              <a:gd name="connsiteY9" fmla="*/ 496344 h 1778433"/>
              <a:gd name="connsiteX0" fmla="*/ 0 w 3681350"/>
              <a:gd name="connsiteY0" fmla="*/ 745726 h 1778433"/>
              <a:gd name="connsiteX1" fmla="*/ 356259 w 3681350"/>
              <a:gd name="connsiteY1" fmla="*/ 389466 h 1778433"/>
              <a:gd name="connsiteX2" fmla="*/ 856359 w 3681350"/>
              <a:gd name="connsiteY2" fmla="*/ 1007576 h 1778433"/>
              <a:gd name="connsiteX3" fmla="*/ 1278972 w 3681350"/>
              <a:gd name="connsiteY3" fmla="*/ 1778433 h 1778433"/>
              <a:gd name="connsiteX4" fmla="*/ 1733797 w 3681350"/>
              <a:gd name="connsiteY4" fmla="*/ 1315741 h 1778433"/>
              <a:gd name="connsiteX5" fmla="*/ 2375065 w 3681350"/>
              <a:gd name="connsiteY5" fmla="*/ 9455 h 1778433"/>
              <a:gd name="connsiteX6" fmla="*/ 2708019 w 3681350"/>
              <a:gd name="connsiteY6" fmla="*/ 791594 h 1778433"/>
              <a:gd name="connsiteX7" fmla="*/ 3000894 w 3681350"/>
              <a:gd name="connsiteY7" fmla="*/ 1517176 h 1778433"/>
              <a:gd name="connsiteX8" fmla="*/ 3384467 w 3681350"/>
              <a:gd name="connsiteY8" fmla="*/ 1303866 h 1778433"/>
              <a:gd name="connsiteX9" fmla="*/ 3681350 w 3681350"/>
              <a:gd name="connsiteY9" fmla="*/ 496344 h 1778433"/>
              <a:gd name="connsiteX0" fmla="*/ 0 w 3681350"/>
              <a:gd name="connsiteY0" fmla="*/ 745726 h 1778433"/>
              <a:gd name="connsiteX1" fmla="*/ 356259 w 3681350"/>
              <a:gd name="connsiteY1" fmla="*/ 389466 h 1778433"/>
              <a:gd name="connsiteX2" fmla="*/ 856359 w 3681350"/>
              <a:gd name="connsiteY2" fmla="*/ 1007576 h 1778433"/>
              <a:gd name="connsiteX3" fmla="*/ 1278972 w 3681350"/>
              <a:gd name="connsiteY3" fmla="*/ 1778433 h 1778433"/>
              <a:gd name="connsiteX4" fmla="*/ 1733797 w 3681350"/>
              <a:gd name="connsiteY4" fmla="*/ 1315741 h 1778433"/>
              <a:gd name="connsiteX5" fmla="*/ 2375065 w 3681350"/>
              <a:gd name="connsiteY5" fmla="*/ 9455 h 1778433"/>
              <a:gd name="connsiteX6" fmla="*/ 2708019 w 3681350"/>
              <a:gd name="connsiteY6" fmla="*/ 791594 h 1778433"/>
              <a:gd name="connsiteX7" fmla="*/ 3000894 w 3681350"/>
              <a:gd name="connsiteY7" fmla="*/ 1517176 h 1778433"/>
              <a:gd name="connsiteX8" fmla="*/ 3384467 w 3681350"/>
              <a:gd name="connsiteY8" fmla="*/ 1303866 h 1778433"/>
              <a:gd name="connsiteX9" fmla="*/ 3681350 w 3681350"/>
              <a:gd name="connsiteY9" fmla="*/ 496344 h 1778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81350" h="1778433">
                <a:moveTo>
                  <a:pt x="0" y="745726"/>
                </a:moveTo>
                <a:cubicBezTo>
                  <a:pt x="120732" y="572544"/>
                  <a:pt x="213533" y="345824"/>
                  <a:pt x="356259" y="389466"/>
                </a:cubicBezTo>
                <a:cubicBezTo>
                  <a:pt x="498985" y="433108"/>
                  <a:pt x="702574" y="661782"/>
                  <a:pt x="856359" y="1007576"/>
                </a:cubicBezTo>
                <a:cubicBezTo>
                  <a:pt x="1010144" y="1353370"/>
                  <a:pt x="1048145" y="1762352"/>
                  <a:pt x="1278972" y="1778433"/>
                </a:cubicBezTo>
                <a:cubicBezTo>
                  <a:pt x="1522367" y="1753594"/>
                  <a:pt x="1551115" y="1610571"/>
                  <a:pt x="1733797" y="1315741"/>
                </a:cubicBezTo>
                <a:cubicBezTo>
                  <a:pt x="1916479" y="1020911"/>
                  <a:pt x="2212695" y="96813"/>
                  <a:pt x="2375065" y="9455"/>
                </a:cubicBezTo>
                <a:cubicBezTo>
                  <a:pt x="2537435" y="-77903"/>
                  <a:pt x="2603714" y="460297"/>
                  <a:pt x="2708019" y="791594"/>
                </a:cubicBezTo>
                <a:cubicBezTo>
                  <a:pt x="2812324" y="1122891"/>
                  <a:pt x="2888153" y="1431797"/>
                  <a:pt x="3000894" y="1517176"/>
                </a:cubicBezTo>
                <a:cubicBezTo>
                  <a:pt x="3113635" y="1602555"/>
                  <a:pt x="3255818" y="1472100"/>
                  <a:pt x="3384467" y="1303866"/>
                </a:cubicBezTo>
                <a:cubicBezTo>
                  <a:pt x="3513116" y="1135632"/>
                  <a:pt x="3597233" y="815988"/>
                  <a:pt x="3681350" y="496344"/>
                </a:cubicBezTo>
              </a:path>
            </a:pathLst>
          </a:custGeom>
          <a:ln w="381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5448792" y="2449928"/>
            <a:ext cx="1733936" cy="400110"/>
          </a:xfrm>
          <a:prstGeom prst="rect">
            <a:avLst/>
          </a:prstGeom>
          <a:noFill/>
        </p:spPr>
        <p:txBody>
          <a:bodyPr wrap="none" rtlCol="0">
            <a:spAutoFit/>
          </a:bodyPr>
          <a:lstStyle/>
          <a:p>
            <a:r>
              <a:rPr lang="en-US" sz="2000">
                <a:solidFill>
                  <a:srgbClr val="FF0000"/>
                </a:solidFill>
              </a:rPr>
              <a:t>at local optima</a:t>
            </a:r>
          </a:p>
        </p:txBody>
      </p:sp>
      <p:cxnSp>
        <p:nvCxnSpPr>
          <p:cNvPr id="18" name="Straight Arrow Connector 17"/>
          <p:cNvCxnSpPr/>
          <p:nvPr/>
        </p:nvCxnSpPr>
        <p:spPr>
          <a:xfrm flipH="1" flipV="1">
            <a:off x="4272711" y="2328852"/>
            <a:ext cx="838200" cy="232345"/>
          </a:xfrm>
          <a:prstGeom prst="straightConnector1">
            <a:avLst/>
          </a:prstGeom>
          <a:ln w="12700">
            <a:solidFill>
              <a:schemeClr val="accent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192231" y="2685095"/>
            <a:ext cx="1" cy="1857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143000" y="3306365"/>
            <a:ext cx="1922386" cy="400110"/>
          </a:xfrm>
          <a:prstGeom prst="rect">
            <a:avLst/>
          </a:prstGeom>
          <a:noFill/>
        </p:spPr>
        <p:txBody>
          <a:bodyPr wrap="none" rtlCol="0">
            <a:spAutoFit/>
          </a:bodyPr>
          <a:lstStyle/>
          <a:p>
            <a:r>
              <a:rPr lang="en-US" sz="2000">
                <a:solidFill>
                  <a:srgbClr val="FF0000"/>
                </a:solidFill>
              </a:rPr>
              <a:t>Current value of </a:t>
            </a:r>
          </a:p>
        </p:txBody>
      </p:sp>
      <p:cxnSp>
        <p:nvCxnSpPr>
          <p:cNvPr id="23" name="Straight Arrow Connector 22"/>
          <p:cNvCxnSpPr/>
          <p:nvPr/>
        </p:nvCxnSpPr>
        <p:spPr>
          <a:xfrm flipV="1">
            <a:off x="2520111" y="2870835"/>
            <a:ext cx="1524000" cy="435530"/>
          </a:xfrm>
          <a:prstGeom prst="straightConnector1">
            <a:avLst/>
          </a:prstGeom>
          <a:ln w="12700">
            <a:solidFill>
              <a:schemeClr val="accent2">
                <a:lumMod val="50000"/>
              </a:schemeClr>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A697FA66-DC7C-0286-332F-DA0719BE5749}"/>
                  </a:ext>
                </a:extLst>
              </p:cNvPr>
              <p:cNvSpPr txBox="1"/>
              <p:nvPr/>
            </p:nvSpPr>
            <p:spPr>
              <a:xfrm>
                <a:off x="5867400" y="3231181"/>
                <a:ext cx="2438398" cy="635367"/>
              </a:xfrm>
              <a:prstGeom prst="rect">
                <a:avLst/>
              </a:prstGeom>
              <a:noFill/>
            </p:spPr>
            <p:txBody>
              <a:bodyPr wrap="square">
                <a:spAutoFit/>
              </a:bodyPr>
              <a:lstStyle/>
              <a:p>
                <a:r>
                  <a:rPr lang="en-IN" sz="2400"/>
                  <a:t>w = w – </a:t>
                </a:r>
                <a:r>
                  <a:rPr lang="el-GR" sz="2400"/>
                  <a:t>α</a:t>
                </a:r>
                <a:r>
                  <a:rPr lang="en-IN" sz="2400"/>
                  <a:t> </a:t>
                </a:r>
                <a14:m>
                  <m:oMath xmlns:m="http://schemas.openxmlformats.org/officeDocument/2006/math">
                    <m:f>
                      <m:fPr>
                        <m:ctrlPr>
                          <a:rPr lang="en-IN" sz="2400" i="1" smtClean="0">
                            <a:latin typeface="Cambria Math" panose="02040503050406030204" pitchFamily="18" charset="0"/>
                          </a:rPr>
                        </m:ctrlPr>
                      </m:fPr>
                      <m:num>
                        <m:r>
                          <a:rPr lang="en-IN" sz="2400" i="1" smtClean="0">
                            <a:latin typeface="Cambria Math" panose="02040503050406030204" pitchFamily="18" charset="0"/>
                          </a:rPr>
                          <m:t>𝜕</m:t>
                        </m:r>
                      </m:num>
                      <m:den>
                        <m:r>
                          <a:rPr lang="en-IN" sz="2400" i="1" smtClean="0">
                            <a:latin typeface="Cambria Math" panose="02040503050406030204" pitchFamily="18" charset="0"/>
                          </a:rPr>
                          <m:t>𝜕</m:t>
                        </m:r>
                        <m:r>
                          <a:rPr lang="en-IN" sz="2400" b="0" i="1" smtClean="0">
                            <a:latin typeface="Cambria Math" panose="02040503050406030204" pitchFamily="18" charset="0"/>
                          </a:rPr>
                          <m:t>𝑤</m:t>
                        </m:r>
                      </m:den>
                    </m:f>
                    <m:r>
                      <a:rPr lang="en-IN" sz="2400" i="1">
                        <a:latin typeface="Cambria Math" panose="02040503050406030204" pitchFamily="18" charset="0"/>
                      </a:rPr>
                      <m:t>𝐽</m:t>
                    </m:r>
                    <m:r>
                      <a:rPr lang="en-IN" sz="2400" i="1">
                        <a:latin typeface="Cambria Math" panose="02040503050406030204" pitchFamily="18" charset="0"/>
                      </a:rPr>
                      <m:t>(</m:t>
                    </m:r>
                    <m:r>
                      <a:rPr lang="en-IN" sz="2400" i="1">
                        <a:latin typeface="Cambria Math" panose="02040503050406030204" pitchFamily="18" charset="0"/>
                      </a:rPr>
                      <m:t>𝑤</m:t>
                    </m:r>
                    <m:r>
                      <a:rPr lang="en-IN" sz="2400" i="1">
                        <a:latin typeface="Cambria Math" panose="02040503050406030204" pitchFamily="18" charset="0"/>
                      </a:rPr>
                      <m:t>)</m:t>
                    </m:r>
                  </m:oMath>
                </a14:m>
                <a:endParaRPr lang="en-IN" sz="2400"/>
              </a:p>
            </p:txBody>
          </p:sp>
        </mc:Choice>
        <mc:Fallback>
          <p:sp>
            <p:nvSpPr>
              <p:cNvPr id="5" name="TextBox 4">
                <a:extLst>
                  <a:ext uri="{FF2B5EF4-FFF2-40B4-BE49-F238E27FC236}">
                    <a16:creationId xmlns:a16="http://schemas.microsoft.com/office/drawing/2014/main" id="{A697FA66-DC7C-0286-332F-DA0719BE5749}"/>
                  </a:ext>
                </a:extLst>
              </p:cNvPr>
              <p:cNvSpPr txBox="1">
                <a:spLocks noRot="1" noChangeAspect="1" noMove="1" noResize="1" noEditPoints="1" noAdjustHandles="1" noChangeArrowheads="1" noChangeShapeType="1" noTextEdit="1"/>
              </p:cNvSpPr>
              <p:nvPr/>
            </p:nvSpPr>
            <p:spPr>
              <a:xfrm>
                <a:off x="5867400" y="3231181"/>
                <a:ext cx="2438398" cy="635367"/>
              </a:xfrm>
              <a:prstGeom prst="rect">
                <a:avLst/>
              </a:prstGeom>
              <a:blipFill>
                <a:blip r:embed="rId2"/>
                <a:stretch>
                  <a:fillRect l="-4010" b="-9615"/>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0B8E7866-5799-65FA-D3BC-ACBB3573CC19}"/>
              </a:ext>
            </a:extLst>
          </p:cNvPr>
          <p:cNvSpPr txBox="1"/>
          <p:nvPr/>
        </p:nvSpPr>
        <p:spPr>
          <a:xfrm>
            <a:off x="2927754" y="3306365"/>
            <a:ext cx="335980" cy="399745"/>
          </a:xfrm>
          <a:prstGeom prst="rect">
            <a:avLst/>
          </a:prstGeom>
          <a:noFill/>
        </p:spPr>
        <p:txBody>
          <a:bodyPr wrap="square">
            <a:spAutoFit/>
          </a:bodyPr>
          <a:lstStyle/>
          <a:p>
            <a:r>
              <a:rPr lang="en-IN" sz="2000">
                <a:solidFill>
                  <a:srgbClr val="FF0000"/>
                </a:solidFill>
              </a:rPr>
              <a:t>w</a:t>
            </a:r>
          </a:p>
        </p:txBody>
      </p:sp>
      <p:sp>
        <p:nvSpPr>
          <p:cNvPr id="12" name="TextBox 11">
            <a:extLst>
              <a:ext uri="{FF2B5EF4-FFF2-40B4-BE49-F238E27FC236}">
                <a16:creationId xmlns:a16="http://schemas.microsoft.com/office/drawing/2014/main" id="{2CE66E71-B53B-A5DF-3EF4-911CE47C1379}"/>
              </a:ext>
            </a:extLst>
          </p:cNvPr>
          <p:cNvSpPr txBox="1"/>
          <p:nvPr/>
        </p:nvSpPr>
        <p:spPr>
          <a:xfrm>
            <a:off x="5197410" y="2450111"/>
            <a:ext cx="335980" cy="399745"/>
          </a:xfrm>
          <a:prstGeom prst="rect">
            <a:avLst/>
          </a:prstGeom>
          <a:noFill/>
        </p:spPr>
        <p:txBody>
          <a:bodyPr wrap="square">
            <a:spAutoFit/>
          </a:bodyPr>
          <a:lstStyle/>
          <a:p>
            <a:r>
              <a:rPr lang="en-IN" sz="2000">
                <a:solidFill>
                  <a:srgbClr val="FF0000"/>
                </a:solidFill>
              </a:rPr>
              <a:t>w</a:t>
            </a:r>
          </a:p>
        </p:txBody>
      </p:sp>
      <p:sp>
        <p:nvSpPr>
          <p:cNvPr id="14" name="TextBox 13">
            <a:extLst>
              <a:ext uri="{FF2B5EF4-FFF2-40B4-BE49-F238E27FC236}">
                <a16:creationId xmlns:a16="http://schemas.microsoft.com/office/drawing/2014/main" id="{E72BF4F0-3B83-89C7-3584-B7FF80219A94}"/>
              </a:ext>
            </a:extLst>
          </p:cNvPr>
          <p:cNvSpPr txBox="1"/>
          <p:nvPr/>
        </p:nvSpPr>
        <p:spPr>
          <a:xfrm>
            <a:off x="4024241" y="2795775"/>
            <a:ext cx="335980" cy="399745"/>
          </a:xfrm>
          <a:prstGeom prst="rect">
            <a:avLst/>
          </a:prstGeom>
          <a:noFill/>
        </p:spPr>
        <p:txBody>
          <a:bodyPr wrap="square">
            <a:spAutoFit/>
          </a:bodyPr>
          <a:lstStyle/>
          <a:p>
            <a:r>
              <a:rPr lang="en-IN" sz="2000"/>
              <a:t>w</a:t>
            </a:r>
          </a:p>
        </p:txBody>
      </p:sp>
      <p:sp>
        <p:nvSpPr>
          <p:cNvPr id="15" name="Rectangle 14">
            <a:extLst>
              <a:ext uri="{FF2B5EF4-FFF2-40B4-BE49-F238E27FC236}">
                <a16:creationId xmlns:a16="http://schemas.microsoft.com/office/drawing/2014/main" id="{B2BBDB11-C4F5-A5CB-A3B7-7C5E46FC48A4}"/>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543880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33350"/>
            <a:ext cx="7162800" cy="954107"/>
          </a:xfrm>
          <a:prstGeom prst="rect">
            <a:avLst/>
          </a:prstGeom>
          <a:noFill/>
        </p:spPr>
        <p:txBody>
          <a:bodyPr wrap="square" rtlCol="0">
            <a:spAutoFit/>
          </a:bodyPr>
          <a:lstStyle/>
          <a:p>
            <a:r>
              <a:rPr lang="en-US" sz="2800"/>
              <a:t>Gradient descent can converge to a local minimum, even with the learning rate </a:t>
            </a:r>
            <a:r>
              <a:rPr lang="el-GR" sz="2800"/>
              <a:t>α</a:t>
            </a:r>
            <a:r>
              <a:rPr lang="en-US" sz="2800"/>
              <a:t> fixed.</a:t>
            </a:r>
          </a:p>
        </p:txBody>
      </p:sp>
      <p:sp>
        <p:nvSpPr>
          <p:cNvPr id="4" name="TextBox 3"/>
          <p:cNvSpPr txBox="1"/>
          <p:nvPr/>
        </p:nvSpPr>
        <p:spPr>
          <a:xfrm>
            <a:off x="440410" y="2332494"/>
            <a:ext cx="4040506" cy="2677656"/>
          </a:xfrm>
          <a:prstGeom prst="rect">
            <a:avLst/>
          </a:prstGeom>
          <a:noFill/>
        </p:spPr>
        <p:txBody>
          <a:bodyPr wrap="square" rtlCol="0">
            <a:spAutoFit/>
          </a:bodyPr>
          <a:lstStyle/>
          <a:p>
            <a:r>
              <a:rPr lang="en-US" sz="2800"/>
              <a:t>As we approach a local minimum, gradient descent will automatically take smaller steps. So, no need to decrease </a:t>
            </a:r>
            <a:r>
              <a:rPr lang="el-GR" sz="2800"/>
              <a:t>α</a:t>
            </a:r>
            <a:r>
              <a:rPr lang="en-US" sz="2800"/>
              <a:t> over time. </a:t>
            </a:r>
          </a:p>
        </p:txBody>
      </p:sp>
      <p:cxnSp>
        <p:nvCxnSpPr>
          <p:cNvPr id="5" name="Straight Connector 4"/>
          <p:cNvCxnSpPr/>
          <p:nvPr/>
        </p:nvCxnSpPr>
        <p:spPr>
          <a:xfrm flipV="1">
            <a:off x="5037582" y="1417851"/>
            <a:ext cx="0" cy="2966991"/>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4861504" y="4156241"/>
            <a:ext cx="3658764"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FD074899-F17C-181B-B578-C9A19CD3377E}"/>
                  </a:ext>
                </a:extLst>
              </p:cNvPr>
              <p:cNvSpPr txBox="1"/>
              <p:nvPr/>
            </p:nvSpPr>
            <p:spPr>
              <a:xfrm>
                <a:off x="901408" y="1357744"/>
                <a:ext cx="2438398" cy="635367"/>
              </a:xfrm>
              <a:prstGeom prst="rect">
                <a:avLst/>
              </a:prstGeom>
              <a:noFill/>
            </p:spPr>
            <p:txBody>
              <a:bodyPr wrap="square">
                <a:spAutoFit/>
              </a:bodyPr>
              <a:lstStyle/>
              <a:p>
                <a:r>
                  <a:rPr lang="en-IN" sz="2400"/>
                  <a:t>w = w – </a:t>
                </a:r>
                <a:r>
                  <a:rPr lang="el-GR" sz="2400"/>
                  <a:t>α</a:t>
                </a:r>
                <a:r>
                  <a:rPr lang="en-IN" sz="2400"/>
                  <a:t> </a:t>
                </a:r>
                <a14:m>
                  <m:oMath xmlns:m="http://schemas.openxmlformats.org/officeDocument/2006/math">
                    <m:f>
                      <m:fPr>
                        <m:ctrlPr>
                          <a:rPr lang="en-IN" sz="2400" i="1" smtClean="0">
                            <a:latin typeface="Cambria Math" panose="02040503050406030204" pitchFamily="18" charset="0"/>
                          </a:rPr>
                        </m:ctrlPr>
                      </m:fPr>
                      <m:num>
                        <m:r>
                          <a:rPr lang="en-IN" sz="2400" i="1" smtClean="0">
                            <a:latin typeface="Cambria Math" panose="02040503050406030204" pitchFamily="18" charset="0"/>
                          </a:rPr>
                          <m:t>𝜕</m:t>
                        </m:r>
                      </m:num>
                      <m:den>
                        <m:r>
                          <a:rPr lang="en-IN" sz="2400" i="1" smtClean="0">
                            <a:latin typeface="Cambria Math" panose="02040503050406030204" pitchFamily="18" charset="0"/>
                          </a:rPr>
                          <m:t>𝜕</m:t>
                        </m:r>
                        <m:r>
                          <a:rPr lang="en-IN" sz="2400" b="0" i="1" smtClean="0">
                            <a:latin typeface="Cambria Math" panose="02040503050406030204" pitchFamily="18" charset="0"/>
                          </a:rPr>
                          <m:t>𝑤</m:t>
                        </m:r>
                      </m:den>
                    </m:f>
                    <m:r>
                      <a:rPr lang="en-IN" sz="2400" i="1">
                        <a:latin typeface="Cambria Math" panose="02040503050406030204" pitchFamily="18" charset="0"/>
                      </a:rPr>
                      <m:t>𝐽</m:t>
                    </m:r>
                    <m:r>
                      <a:rPr lang="en-IN" sz="2400" i="1">
                        <a:latin typeface="Cambria Math" panose="02040503050406030204" pitchFamily="18" charset="0"/>
                      </a:rPr>
                      <m:t>(</m:t>
                    </m:r>
                    <m:r>
                      <a:rPr lang="en-IN" sz="2400" i="1">
                        <a:latin typeface="Cambria Math" panose="02040503050406030204" pitchFamily="18" charset="0"/>
                      </a:rPr>
                      <m:t>𝑤</m:t>
                    </m:r>
                    <m:r>
                      <a:rPr lang="en-IN" sz="2400" i="1">
                        <a:latin typeface="Cambria Math" panose="02040503050406030204" pitchFamily="18" charset="0"/>
                      </a:rPr>
                      <m:t>)</m:t>
                    </m:r>
                  </m:oMath>
                </a14:m>
                <a:endParaRPr lang="en-IN" sz="2400"/>
              </a:p>
            </p:txBody>
          </p:sp>
        </mc:Choice>
        <mc:Fallback>
          <p:sp>
            <p:nvSpPr>
              <p:cNvPr id="9" name="TextBox 8">
                <a:extLst>
                  <a:ext uri="{FF2B5EF4-FFF2-40B4-BE49-F238E27FC236}">
                    <a16:creationId xmlns:a16="http://schemas.microsoft.com/office/drawing/2014/main" id="{FD074899-F17C-181B-B578-C9A19CD3377E}"/>
                  </a:ext>
                </a:extLst>
              </p:cNvPr>
              <p:cNvSpPr txBox="1">
                <a:spLocks noRot="1" noChangeAspect="1" noMove="1" noResize="1" noEditPoints="1" noAdjustHandles="1" noChangeArrowheads="1" noChangeShapeType="1" noTextEdit="1"/>
              </p:cNvSpPr>
              <p:nvPr/>
            </p:nvSpPr>
            <p:spPr>
              <a:xfrm>
                <a:off x="901408" y="1357744"/>
                <a:ext cx="2438398" cy="635367"/>
              </a:xfrm>
              <a:prstGeom prst="rect">
                <a:avLst/>
              </a:prstGeom>
              <a:blipFill>
                <a:blip r:embed="rId2"/>
                <a:stretch>
                  <a:fillRect l="-4000" b="-961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0EBCC37A-F8CC-9035-4DDB-8008D7E29B0E}"/>
                  </a:ext>
                </a:extLst>
              </p:cNvPr>
              <p:cNvSpPr txBox="1"/>
              <p:nvPr/>
            </p:nvSpPr>
            <p:spPr>
              <a:xfrm>
                <a:off x="4344155" y="2532014"/>
                <a:ext cx="83744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𝐽</m:t>
                      </m:r>
                      <m:r>
                        <a:rPr lang="en-IN" sz="1800" i="1" smtClean="0">
                          <a:latin typeface="Cambria Math" panose="02040503050406030204" pitchFamily="18" charset="0"/>
                        </a:rPr>
                        <m:t>(</m:t>
                      </m:r>
                      <m:r>
                        <a:rPr lang="en-IN" sz="1800" i="1" smtClean="0">
                          <a:latin typeface="Cambria Math" panose="02040503050406030204" pitchFamily="18" charset="0"/>
                        </a:rPr>
                        <m:t>𝑤</m:t>
                      </m:r>
                      <m:r>
                        <a:rPr lang="en-IN" sz="1800" i="1" smtClean="0">
                          <a:latin typeface="Cambria Math" panose="02040503050406030204" pitchFamily="18" charset="0"/>
                        </a:rPr>
                        <m:t>)</m:t>
                      </m:r>
                    </m:oMath>
                  </m:oMathPara>
                </a14:m>
                <a:endParaRPr lang="en-IN"/>
              </a:p>
            </p:txBody>
          </p:sp>
        </mc:Choice>
        <mc:Fallback>
          <p:sp>
            <p:nvSpPr>
              <p:cNvPr id="11" name="TextBox 10">
                <a:extLst>
                  <a:ext uri="{FF2B5EF4-FFF2-40B4-BE49-F238E27FC236}">
                    <a16:creationId xmlns:a16="http://schemas.microsoft.com/office/drawing/2014/main" id="{0EBCC37A-F8CC-9035-4DDB-8008D7E29B0E}"/>
                  </a:ext>
                </a:extLst>
              </p:cNvPr>
              <p:cNvSpPr txBox="1">
                <a:spLocks noRot="1" noChangeAspect="1" noMove="1" noResize="1" noEditPoints="1" noAdjustHandles="1" noChangeArrowheads="1" noChangeShapeType="1" noTextEdit="1"/>
              </p:cNvSpPr>
              <p:nvPr/>
            </p:nvSpPr>
            <p:spPr>
              <a:xfrm>
                <a:off x="4344155" y="2532014"/>
                <a:ext cx="837445" cy="369332"/>
              </a:xfrm>
              <a:prstGeom prst="rect">
                <a:avLst/>
              </a:prstGeom>
              <a:blipFill>
                <a:blip r:embed="rId3"/>
                <a:stretch>
                  <a:fillRect b="-1311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7279FBC1-8174-35C7-9D01-EAEFF931B66C}"/>
                  </a:ext>
                </a:extLst>
              </p:cNvPr>
              <p:cNvSpPr txBox="1"/>
              <p:nvPr/>
            </p:nvSpPr>
            <p:spPr>
              <a:xfrm>
                <a:off x="6566148" y="4200176"/>
                <a:ext cx="43330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𝑤</m:t>
                      </m:r>
                    </m:oMath>
                  </m:oMathPara>
                </a14:m>
                <a:endParaRPr lang="en-IN"/>
              </a:p>
            </p:txBody>
          </p:sp>
        </mc:Choice>
        <mc:Fallback>
          <p:sp>
            <p:nvSpPr>
              <p:cNvPr id="13" name="TextBox 12">
                <a:extLst>
                  <a:ext uri="{FF2B5EF4-FFF2-40B4-BE49-F238E27FC236}">
                    <a16:creationId xmlns:a16="http://schemas.microsoft.com/office/drawing/2014/main" id="{7279FBC1-8174-35C7-9D01-EAEFF931B66C}"/>
                  </a:ext>
                </a:extLst>
              </p:cNvPr>
              <p:cNvSpPr txBox="1">
                <a:spLocks noRot="1" noChangeAspect="1" noMove="1" noResize="1" noEditPoints="1" noAdjustHandles="1" noChangeArrowheads="1" noChangeShapeType="1" noTextEdit="1"/>
              </p:cNvSpPr>
              <p:nvPr/>
            </p:nvSpPr>
            <p:spPr>
              <a:xfrm>
                <a:off x="6566148" y="4200176"/>
                <a:ext cx="433305" cy="369332"/>
              </a:xfrm>
              <a:prstGeom prst="rect">
                <a:avLst/>
              </a:prstGeom>
              <a:blipFill>
                <a:blip r:embed="rId4"/>
                <a:stretch>
                  <a:fillRect/>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7D9F0B21-D50A-4E61-C5E9-3477F5A524EB}"/>
              </a:ext>
            </a:extLst>
          </p:cNvPr>
          <p:cNvSpPr/>
          <p:nvPr/>
        </p:nvSpPr>
        <p:spPr>
          <a:xfrm>
            <a:off x="8423329" y="4919904"/>
            <a:ext cx="685800" cy="180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327D760B-C119-704A-DAC1-3D66AA063465}"/>
              </a:ext>
            </a:extLst>
          </p:cNvPr>
          <p:cNvPicPr>
            <a:picLocks noChangeAspect="1"/>
          </p:cNvPicPr>
          <p:nvPr/>
        </p:nvPicPr>
        <p:blipFill rotWithShape="1">
          <a:blip r:embed="rId5"/>
          <a:srcRect t="49976"/>
          <a:stretch/>
        </p:blipFill>
        <p:spPr>
          <a:xfrm>
            <a:off x="5105402" y="1657350"/>
            <a:ext cx="2971796" cy="2270285"/>
          </a:xfrm>
          <a:prstGeom prst="rect">
            <a:avLst/>
          </a:prstGeom>
        </p:spPr>
      </p:pic>
    </p:spTree>
    <p:extLst>
      <p:ext uri="{BB962C8B-B14F-4D97-AF65-F5344CB8AC3E}">
        <p14:creationId xmlns:p14="http://schemas.microsoft.com/office/powerpoint/2010/main" val="3720814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BAB50-FA71-DB06-C911-A432C5614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9521D-2E34-C271-675B-8CC070129B10}"/>
              </a:ext>
            </a:extLst>
          </p:cNvPr>
          <p:cNvSpPr>
            <a:spLocks noGrp="1"/>
          </p:cNvSpPr>
          <p:nvPr>
            <p:ph type="title"/>
          </p:nvPr>
        </p:nvSpPr>
        <p:spPr>
          <a:xfrm>
            <a:off x="628650" y="0"/>
            <a:ext cx="7886700" cy="514350"/>
          </a:xfrm>
        </p:spPr>
        <p:txBody>
          <a:bodyPr>
            <a:normAutofit fontScale="90000"/>
          </a:bodyPr>
          <a:lstStyle/>
          <a:p>
            <a:r>
              <a:rPr lang="en-IN" sz="3200" b="1" i="0">
                <a:latin typeface="Source Serif Pro"/>
                <a:ea typeface="Source Serif Pro"/>
                <a:cs typeface="Source Serif Pro"/>
                <a:sym typeface="Source Serif Pro"/>
              </a:rPr>
              <a:t>Benefits of Regression Analysis</a:t>
            </a:r>
            <a:endParaRPr lang="en-IN"/>
          </a:p>
        </p:txBody>
      </p:sp>
      <p:grpSp>
        <p:nvGrpSpPr>
          <p:cNvPr id="4" name="Google Shape;638;p80">
            <a:extLst>
              <a:ext uri="{FF2B5EF4-FFF2-40B4-BE49-F238E27FC236}">
                <a16:creationId xmlns:a16="http://schemas.microsoft.com/office/drawing/2014/main" id="{E73D6C90-7550-04A7-1166-5E7AAB5AE0A1}"/>
              </a:ext>
            </a:extLst>
          </p:cNvPr>
          <p:cNvGrpSpPr/>
          <p:nvPr/>
        </p:nvGrpSpPr>
        <p:grpSpPr>
          <a:xfrm>
            <a:off x="381000" y="1269441"/>
            <a:ext cx="8077200" cy="3182774"/>
            <a:chOff x="0" y="117638"/>
            <a:chExt cx="10515600" cy="4116061"/>
          </a:xfrm>
          <a:solidFill>
            <a:schemeClr val="bg1"/>
          </a:solidFill>
        </p:grpSpPr>
        <p:sp>
          <p:nvSpPr>
            <p:cNvPr id="5" name="Google Shape;639;p80">
              <a:extLst>
                <a:ext uri="{FF2B5EF4-FFF2-40B4-BE49-F238E27FC236}">
                  <a16:creationId xmlns:a16="http://schemas.microsoft.com/office/drawing/2014/main" id="{E81DED28-8A63-4403-54C6-CA169316ECAC}"/>
                </a:ext>
              </a:extLst>
            </p:cNvPr>
            <p:cNvSpPr/>
            <p:nvPr/>
          </p:nvSpPr>
          <p:spPr>
            <a:xfrm>
              <a:off x="0" y="117638"/>
              <a:ext cx="10515600" cy="623610"/>
            </a:xfrm>
            <a:prstGeom prst="roundRect">
              <a:avLst>
                <a:gd name="adj" fmla="val 16667"/>
              </a:avLst>
            </a:prstGeom>
            <a:gr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285750" lvl="0" indent="-285750" algn="l" rtl="0">
                <a:spcBef>
                  <a:spcPts val="0"/>
                </a:spcBef>
                <a:spcAft>
                  <a:spcPts val="0"/>
                </a:spcAft>
                <a:buClr>
                  <a:schemeClr val="tx1"/>
                </a:buClr>
                <a:buFont typeface="Arial" panose="020B0604020202020204" pitchFamily="34" charset="0"/>
                <a:buChar char="•"/>
              </a:pPr>
              <a:endParaRPr>
                <a:latin typeface="Bookman Old Style" panose="02050604050505020204" pitchFamily="18" charset="0"/>
              </a:endParaRPr>
            </a:p>
          </p:txBody>
        </p:sp>
        <p:sp>
          <p:nvSpPr>
            <p:cNvPr id="7" name="Google Shape;641;p80">
              <a:extLst>
                <a:ext uri="{FF2B5EF4-FFF2-40B4-BE49-F238E27FC236}">
                  <a16:creationId xmlns:a16="http://schemas.microsoft.com/office/drawing/2014/main" id="{61E673CE-0020-9718-7D7D-43C92EF5E441}"/>
                </a:ext>
              </a:extLst>
            </p:cNvPr>
            <p:cNvSpPr/>
            <p:nvPr/>
          </p:nvSpPr>
          <p:spPr>
            <a:xfrm>
              <a:off x="0" y="816129"/>
              <a:ext cx="10515600" cy="623610"/>
            </a:xfrm>
            <a:prstGeom prst="roundRect">
              <a:avLst>
                <a:gd name="adj" fmla="val 16667"/>
              </a:avLst>
            </a:prstGeom>
            <a:gr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285750" lvl="0" indent="-285750" algn="l" rtl="0">
                <a:spcBef>
                  <a:spcPts val="0"/>
                </a:spcBef>
                <a:spcAft>
                  <a:spcPts val="0"/>
                </a:spcAft>
                <a:buClr>
                  <a:schemeClr val="tx1"/>
                </a:buClr>
                <a:buFont typeface="Arial" panose="020B0604020202020204" pitchFamily="34" charset="0"/>
                <a:buChar char="•"/>
              </a:pPr>
              <a:endParaRPr>
                <a:latin typeface="Bookman Old Style" panose="02050604050505020204" pitchFamily="18" charset="0"/>
              </a:endParaRPr>
            </a:p>
          </p:txBody>
        </p:sp>
        <p:sp>
          <p:nvSpPr>
            <p:cNvPr id="9" name="Google Shape;643;p80">
              <a:extLst>
                <a:ext uri="{FF2B5EF4-FFF2-40B4-BE49-F238E27FC236}">
                  <a16:creationId xmlns:a16="http://schemas.microsoft.com/office/drawing/2014/main" id="{FFE8A44A-9225-D8B3-422F-303B0BF053E0}"/>
                </a:ext>
              </a:extLst>
            </p:cNvPr>
            <p:cNvSpPr/>
            <p:nvPr/>
          </p:nvSpPr>
          <p:spPr>
            <a:xfrm>
              <a:off x="0" y="1514619"/>
              <a:ext cx="10515600" cy="623610"/>
            </a:xfrm>
            <a:prstGeom prst="roundRect">
              <a:avLst>
                <a:gd name="adj" fmla="val 16667"/>
              </a:avLst>
            </a:prstGeom>
            <a:gr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285750" lvl="0" indent="-285750" algn="l" rtl="0">
                <a:spcBef>
                  <a:spcPts val="0"/>
                </a:spcBef>
                <a:spcAft>
                  <a:spcPts val="0"/>
                </a:spcAft>
                <a:buClr>
                  <a:schemeClr val="tx1"/>
                </a:buClr>
                <a:buFont typeface="Arial" panose="020B0604020202020204" pitchFamily="34" charset="0"/>
                <a:buChar char="•"/>
              </a:pPr>
              <a:endParaRPr>
                <a:latin typeface="Bookman Old Style" panose="02050604050505020204" pitchFamily="18" charset="0"/>
              </a:endParaRPr>
            </a:p>
          </p:txBody>
        </p:sp>
        <p:sp>
          <p:nvSpPr>
            <p:cNvPr id="11" name="Google Shape;645;p80">
              <a:extLst>
                <a:ext uri="{FF2B5EF4-FFF2-40B4-BE49-F238E27FC236}">
                  <a16:creationId xmlns:a16="http://schemas.microsoft.com/office/drawing/2014/main" id="{5CB4D3CB-AF9E-14DD-4C9A-BD4B4D992195}"/>
                </a:ext>
              </a:extLst>
            </p:cNvPr>
            <p:cNvSpPr/>
            <p:nvPr/>
          </p:nvSpPr>
          <p:spPr>
            <a:xfrm>
              <a:off x="0" y="2213109"/>
              <a:ext cx="10515600" cy="623610"/>
            </a:xfrm>
            <a:prstGeom prst="roundRect">
              <a:avLst>
                <a:gd name="adj" fmla="val 16667"/>
              </a:avLst>
            </a:prstGeom>
            <a:gr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285750" lvl="0" indent="-285750" algn="l" rtl="0">
                <a:spcBef>
                  <a:spcPts val="0"/>
                </a:spcBef>
                <a:spcAft>
                  <a:spcPts val="0"/>
                </a:spcAft>
                <a:buClr>
                  <a:schemeClr val="tx1"/>
                </a:buClr>
                <a:buFont typeface="Arial" panose="020B0604020202020204" pitchFamily="34" charset="0"/>
                <a:buChar char="•"/>
              </a:pPr>
              <a:endParaRPr>
                <a:latin typeface="Bookman Old Style" panose="02050604050505020204" pitchFamily="18" charset="0"/>
              </a:endParaRPr>
            </a:p>
          </p:txBody>
        </p:sp>
        <p:sp>
          <p:nvSpPr>
            <p:cNvPr id="13" name="Google Shape;647;p80">
              <a:extLst>
                <a:ext uri="{FF2B5EF4-FFF2-40B4-BE49-F238E27FC236}">
                  <a16:creationId xmlns:a16="http://schemas.microsoft.com/office/drawing/2014/main" id="{6436894A-2625-4E57-7065-A91ECB9F7959}"/>
                </a:ext>
              </a:extLst>
            </p:cNvPr>
            <p:cNvSpPr/>
            <p:nvPr/>
          </p:nvSpPr>
          <p:spPr>
            <a:xfrm>
              <a:off x="0" y="2911599"/>
              <a:ext cx="10515600" cy="623610"/>
            </a:xfrm>
            <a:prstGeom prst="roundRect">
              <a:avLst>
                <a:gd name="adj" fmla="val 16667"/>
              </a:avLst>
            </a:prstGeom>
            <a:gr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285750" lvl="0" indent="-285750" algn="l" rtl="0">
                <a:spcBef>
                  <a:spcPts val="0"/>
                </a:spcBef>
                <a:spcAft>
                  <a:spcPts val="0"/>
                </a:spcAft>
                <a:buClr>
                  <a:schemeClr val="tx1"/>
                </a:buClr>
                <a:buFont typeface="Arial" panose="020B0604020202020204" pitchFamily="34" charset="0"/>
                <a:buChar char="•"/>
              </a:pPr>
              <a:endParaRPr>
                <a:latin typeface="Bookman Old Style" panose="02050604050505020204" pitchFamily="18" charset="0"/>
              </a:endParaRPr>
            </a:p>
          </p:txBody>
        </p:sp>
        <p:sp>
          <p:nvSpPr>
            <p:cNvPr id="15" name="Google Shape;649;p80">
              <a:extLst>
                <a:ext uri="{FF2B5EF4-FFF2-40B4-BE49-F238E27FC236}">
                  <a16:creationId xmlns:a16="http://schemas.microsoft.com/office/drawing/2014/main" id="{AC5E0E37-D2D7-7F9F-FC32-6A57DF124E19}"/>
                </a:ext>
              </a:extLst>
            </p:cNvPr>
            <p:cNvSpPr/>
            <p:nvPr/>
          </p:nvSpPr>
          <p:spPr>
            <a:xfrm>
              <a:off x="0" y="3610089"/>
              <a:ext cx="10515600" cy="623610"/>
            </a:xfrm>
            <a:prstGeom prst="roundRect">
              <a:avLst>
                <a:gd name="adj" fmla="val 16667"/>
              </a:avLst>
            </a:prstGeom>
            <a:gr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285750" lvl="0" indent="-285750" algn="l" rtl="0">
                <a:spcBef>
                  <a:spcPts val="0"/>
                </a:spcBef>
                <a:spcAft>
                  <a:spcPts val="0"/>
                </a:spcAft>
                <a:buClr>
                  <a:schemeClr val="tx1"/>
                </a:buClr>
                <a:buFont typeface="Arial" panose="020B0604020202020204" pitchFamily="34" charset="0"/>
                <a:buChar char="•"/>
              </a:pPr>
              <a:endParaRPr>
                <a:latin typeface="Bookman Old Style" panose="02050604050505020204" pitchFamily="18" charset="0"/>
              </a:endParaRPr>
            </a:p>
          </p:txBody>
        </p:sp>
      </p:grpSp>
      <p:sp>
        <p:nvSpPr>
          <p:cNvPr id="17" name="TextBox 16">
            <a:extLst>
              <a:ext uri="{FF2B5EF4-FFF2-40B4-BE49-F238E27FC236}">
                <a16:creationId xmlns:a16="http://schemas.microsoft.com/office/drawing/2014/main" id="{4D497DCC-A9B5-B38F-CA69-11546FDD06D4}"/>
              </a:ext>
            </a:extLst>
          </p:cNvPr>
          <p:cNvSpPr txBox="1"/>
          <p:nvPr/>
        </p:nvSpPr>
        <p:spPr>
          <a:xfrm>
            <a:off x="171450" y="514350"/>
            <a:ext cx="8801100" cy="4401205"/>
          </a:xfrm>
          <a:prstGeom prst="rect">
            <a:avLst/>
          </a:prstGeom>
          <a:noFill/>
        </p:spPr>
        <p:txBody>
          <a:bodyPr wrap="square">
            <a:spAutoFit/>
          </a:bodyPr>
          <a:lstStyle/>
          <a:p>
            <a:pPr marL="342900" lvl="0" indent="-342900" algn="just">
              <a:buFont typeface="Arial" panose="020B0604020202020204" pitchFamily="34" charset="0"/>
              <a:buChar char="•"/>
            </a:pPr>
            <a:r>
              <a:rPr lang="en-IN" sz="2000">
                <a:latin typeface="Book Antiqua" panose="02040602050305030304" pitchFamily="18" charset="0"/>
              </a:rPr>
              <a:t>Establishes a functional relationship between one dependent variable and one or more independent variables. </a:t>
            </a:r>
          </a:p>
          <a:p>
            <a:pPr marL="342900" lvl="0" indent="-342900" algn="just">
              <a:buFont typeface="Arial" panose="020B0604020202020204" pitchFamily="34" charset="0"/>
              <a:buChar char="•"/>
            </a:pPr>
            <a:r>
              <a:rPr lang="en-IN" sz="2000">
                <a:latin typeface="Book Antiqua" panose="02040602050305030304" pitchFamily="18" charset="0"/>
              </a:rPr>
              <a:t>Predicts and forecasts future values based on historical data. </a:t>
            </a:r>
          </a:p>
          <a:p>
            <a:pPr marL="342900" indent="-342900" algn="just">
              <a:buFont typeface="Arial" panose="020B0604020202020204" pitchFamily="34" charset="0"/>
              <a:buChar char="•"/>
            </a:pPr>
            <a:r>
              <a:rPr lang="en-IN" sz="2000">
                <a:latin typeface="Book Antiqua" panose="02040602050305030304" pitchFamily="18" charset="0"/>
              </a:rPr>
              <a:t>Identifies the effect of independent variables on the dependent variable: Identifies significant factors influencing the target variable. </a:t>
            </a:r>
          </a:p>
          <a:p>
            <a:pPr marL="342900" lvl="0" indent="-342900" algn="just">
              <a:buFont typeface="Arial" panose="020B0604020202020204" pitchFamily="34" charset="0"/>
              <a:buChar char="•"/>
            </a:pPr>
            <a:r>
              <a:rPr lang="en-IN" sz="2000">
                <a:latin typeface="Book Antiqua" panose="02040602050305030304" pitchFamily="18" charset="0"/>
              </a:rPr>
              <a:t>Supports data-driven decision making in business, healthcare, finance, and engineering. </a:t>
            </a:r>
          </a:p>
          <a:p>
            <a:pPr marL="342900" lvl="0" indent="-342900" algn="just">
              <a:buFont typeface="Arial" panose="020B0604020202020204" pitchFamily="34" charset="0"/>
              <a:buChar char="•"/>
            </a:pPr>
            <a:r>
              <a:rPr lang="en-IN" sz="2000">
                <a:latin typeface="Book Antiqua" panose="02040602050305030304" pitchFamily="18" charset="0"/>
              </a:rPr>
              <a:t>Measures the strength and direction of relationships between variables. </a:t>
            </a:r>
          </a:p>
          <a:p>
            <a:pPr marL="342900" lvl="0" indent="-342900" algn="just">
              <a:buFont typeface="Arial" panose="020B0604020202020204" pitchFamily="34" charset="0"/>
              <a:buChar char="•"/>
            </a:pPr>
            <a:r>
              <a:rPr lang="en-IN" sz="2000">
                <a:latin typeface="Book Antiqua" panose="02040602050305030304" pitchFamily="18" charset="0"/>
              </a:rPr>
              <a:t>Improves planning and resource allocation by identifying trends and patterns. </a:t>
            </a:r>
          </a:p>
          <a:p>
            <a:pPr marL="342900" lvl="0" indent="-342900" algn="just">
              <a:buFont typeface="Arial" panose="020B0604020202020204" pitchFamily="34" charset="0"/>
              <a:buChar char="•"/>
            </a:pPr>
            <a:r>
              <a:rPr lang="en-IN" sz="2000">
                <a:latin typeface="Book Antiqua" panose="02040602050305030304" pitchFamily="18" charset="0"/>
              </a:rPr>
              <a:t>Helps evaluate model performance by analysing prediction errors (e.g., MSE, RMSE, MAE) and improving the model. </a:t>
            </a:r>
          </a:p>
          <a:p>
            <a:pPr marL="342900" lvl="0" indent="-342900" algn="just">
              <a:buFont typeface="Arial" panose="020B0604020202020204" pitchFamily="34" charset="0"/>
              <a:buChar char="•"/>
            </a:pPr>
            <a:r>
              <a:rPr lang="en-IN" sz="2000">
                <a:latin typeface="Book Antiqua" panose="02040602050305030304" pitchFamily="18" charset="0"/>
              </a:rPr>
              <a:t>Discovers trends and opportunities for business growth and optimisation.</a:t>
            </a:r>
          </a:p>
        </p:txBody>
      </p:sp>
    </p:spTree>
    <p:extLst>
      <p:ext uri="{BB962C8B-B14F-4D97-AF65-F5344CB8AC3E}">
        <p14:creationId xmlns:p14="http://schemas.microsoft.com/office/powerpoint/2010/main" val="12990591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CB72C-8389-21C5-78DA-C9B8B1AA6D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882195-ED88-DDF5-37E8-3779ABE6818E}"/>
              </a:ext>
            </a:extLst>
          </p:cNvPr>
          <p:cNvSpPr>
            <a:spLocks noGrp="1"/>
          </p:cNvSpPr>
          <p:nvPr>
            <p:ph type="title"/>
          </p:nvPr>
        </p:nvSpPr>
        <p:spPr>
          <a:xfrm>
            <a:off x="568569" y="53578"/>
            <a:ext cx="7886700" cy="765572"/>
          </a:xfrm>
        </p:spPr>
        <p:txBody>
          <a:bodyPr/>
          <a:lstStyle/>
          <a:p>
            <a:r>
              <a:rPr lang="en-IN" sz="3200" b="1" i="0">
                <a:latin typeface="Source Serif Pro"/>
                <a:ea typeface="Source Serif Pro"/>
                <a:cs typeface="Source Serif Pro"/>
                <a:sym typeface="Source Serif Pro"/>
              </a:rPr>
              <a:t>Limitations of Regression Analysis </a:t>
            </a:r>
            <a:endParaRPr lang="en-IN"/>
          </a:p>
        </p:txBody>
      </p:sp>
      <p:sp>
        <p:nvSpPr>
          <p:cNvPr id="3" name="Text Placeholder 2">
            <a:extLst>
              <a:ext uri="{FF2B5EF4-FFF2-40B4-BE49-F238E27FC236}">
                <a16:creationId xmlns:a16="http://schemas.microsoft.com/office/drawing/2014/main" id="{5CF7766E-CCA8-C3BB-ABB3-4FD64C86ABEE}"/>
              </a:ext>
            </a:extLst>
          </p:cNvPr>
          <p:cNvSpPr>
            <a:spLocks noGrp="1"/>
          </p:cNvSpPr>
          <p:nvPr>
            <p:ph type="body" idx="1"/>
          </p:nvPr>
        </p:nvSpPr>
        <p:spPr>
          <a:xfrm>
            <a:off x="228600" y="971550"/>
            <a:ext cx="8382000" cy="3886200"/>
          </a:xfrm>
        </p:spPr>
        <p:txBody>
          <a:bodyPr>
            <a:normAutofit/>
          </a:bodyPr>
          <a:lstStyle/>
          <a:p>
            <a:pPr lvl="0" algn="just"/>
            <a:r>
              <a:rPr lang="en-IN" sz="2400"/>
              <a:t>Assumes a linear and stable relationship between variables. </a:t>
            </a:r>
          </a:p>
          <a:p>
            <a:pPr lvl="0" algn="just"/>
            <a:r>
              <a:rPr lang="en-IN" sz="2400"/>
              <a:t>Sensitive to outliers and noisy data. </a:t>
            </a:r>
          </a:p>
          <a:p>
            <a:pPr lvl="0" algn="just"/>
            <a:r>
              <a:rPr lang="en-IN" sz="2400"/>
              <a:t>Requires statistical assumptions to be satisfied. </a:t>
            </a:r>
          </a:p>
          <a:p>
            <a:pPr lvl="0" algn="just"/>
            <a:r>
              <a:rPr lang="en-IN" sz="2400"/>
              <a:t>Does not imply causation. </a:t>
            </a:r>
          </a:p>
          <a:p>
            <a:pPr lvl="0" algn="just"/>
            <a:r>
              <a:rPr lang="en-IN" sz="2400"/>
              <a:t>Standard linear regression cannot predict categorical outcomes. </a:t>
            </a:r>
          </a:p>
          <a:p>
            <a:pPr lvl="0" algn="just"/>
            <a:r>
              <a:rPr lang="en-IN" sz="2400"/>
              <a:t>Prediction accuracy depends on data quality and feature selection.</a:t>
            </a:r>
          </a:p>
          <a:p>
            <a:pPr marL="432000" algn="just"/>
            <a:endParaRPr lang="en-US" sz="2400"/>
          </a:p>
          <a:p>
            <a:pPr marL="432000" algn="just"/>
            <a:endParaRPr lang="en-US" sz="2400"/>
          </a:p>
          <a:p>
            <a:pPr marL="432000" algn="just"/>
            <a:endParaRPr lang="en-IN" sz="2400"/>
          </a:p>
        </p:txBody>
      </p:sp>
    </p:spTree>
    <p:extLst>
      <p:ext uri="{BB962C8B-B14F-4D97-AF65-F5344CB8AC3E}">
        <p14:creationId xmlns:p14="http://schemas.microsoft.com/office/powerpoint/2010/main" val="26237393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VIOUS_ACTIVE_SLIDE" val="593"/>
</p:tagLst>
</file>

<file path=ppt/tags/tag2.xml><?xml version="1.0" encoding="utf-8"?>
<p:tagLst xmlns:a="http://schemas.openxmlformats.org/drawingml/2006/main" xmlns:r="http://schemas.openxmlformats.org/officeDocument/2006/relationships" xmlns:p="http://schemas.openxmlformats.org/presentationml/2006/main">
  <p:tag name="IGUANATEXSIZE" val="24"/>
  <p:tag name="LATEXADDIN" val="\documentclass{article}&#10;\usepackage{amsmath}&#10;\usepackage{color}&#10;\pagestyle{empty}&#10;\begin{document}&#10;&#10;$&#10;J(\theta_1)&#10;$&#10;% \delta_i^{(l)} = \left(\sum_j W_{ji}^{(l)} \delta_j^{(l+1)}\right) f'(z_i^{(l)})&#10;&#10;&#10;&#10;\end{document}"/>
</p:tagLst>
</file>

<file path=ppt/tags/tag3.xml><?xml version="1.0" encoding="utf-8"?>
<p:tagLst xmlns:a="http://schemas.openxmlformats.org/drawingml/2006/main" xmlns:r="http://schemas.openxmlformats.org/officeDocument/2006/relationships" xmlns:p="http://schemas.openxmlformats.org/presentationml/2006/main">
  <p:tag name="IGUANATEXSIZE" val="24"/>
  <p:tag name="LATEXADDIN" val="\documentclass{article}&#10;\usepackage{amsmath}&#10;\usepackage{color}&#10;\pagestyle{empty}&#10;\begin{document}&#10;&#10;$&#10;\theta_1&#10;$&#10;% \delta_i^{(l)} = \left(\sum_j W_{ji}^{(l)} \delta_j^{(l+1)}\right) f'(z_i^{(l)})&#10;&#10;&#10;&#10;\end{document}"/>
</p:tagLst>
</file>

<file path=ppt/theme/theme1.xml><?xml version="1.0" encoding="utf-8"?>
<a:theme xmlns:a="http://schemas.openxmlformats.org/drawingml/2006/main" name="1_Lect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F455403A244C844826B21F6E390126F" ma:contentTypeVersion="3" ma:contentTypeDescription="Create a new document." ma:contentTypeScope="" ma:versionID="7fbb4b53e152e6d76ee280997ec5b35d">
  <xsd:schema xmlns:xsd="http://www.w3.org/2001/XMLSchema" xmlns:xs="http://www.w3.org/2001/XMLSchema" xmlns:p="http://schemas.microsoft.com/office/2006/metadata/properties" xmlns:ns2="a77c890a-8b4b-4fa9-b3cb-8d4d1ee30786" targetNamespace="http://schemas.microsoft.com/office/2006/metadata/properties" ma:root="true" ma:fieldsID="29aa713a711771577e31e938be75d0d8" ns2:_="">
    <xsd:import namespace="a77c890a-8b4b-4fa9-b3cb-8d4d1ee3078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7c890a-8b4b-4fa9-b3cb-8d4d1ee307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DCC2FF9-6E1E-462B-A669-34026672C5B7}">
  <ds:schemaRefs>
    <ds:schemaRef ds:uri="2639db57-25c1-4f65-bd5b-b8808369bb33"/>
    <ds:schemaRef ds:uri="d0d77eca-fb09-4c91-a0cf-c85fba2eb38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D5D280A-347F-4E9E-A8D4-1F30A2AFA653}">
  <ds:schemaRefs>
    <ds:schemaRef ds:uri="a77c890a-8b4b-4fa9-b3cb-8d4d1ee3078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AD7E7E0-D4E9-44A0-B956-FCAB516A3CA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Lecture</Template>
  <Application>Microsoft Office PowerPoint</Application>
  <PresentationFormat>On-screen Show (16:9)</PresentationFormat>
  <Slides>63</Slides>
  <Notes>13</Notes>
  <HiddenSlides>0</HiddenSlides>
  <ScaleCrop>false</ScaleCrop>
  <HeadingPairs>
    <vt:vector size="4" baseType="variant">
      <vt:variant>
        <vt:lpstr>Theme</vt:lpstr>
      </vt:variant>
      <vt:variant>
        <vt:i4>4</vt:i4>
      </vt:variant>
      <vt:variant>
        <vt:lpstr>Slide Titles</vt:lpstr>
      </vt:variant>
      <vt:variant>
        <vt:i4>63</vt:i4>
      </vt:variant>
    </vt:vector>
  </HeadingPairs>
  <TitlesOfParts>
    <vt:vector size="67" baseType="lpstr">
      <vt:lpstr>1_Lecture</vt:lpstr>
      <vt:lpstr>Custom Design</vt:lpstr>
      <vt:lpstr>2_Office Theme</vt:lpstr>
      <vt:lpstr>3_Office Theme</vt:lpstr>
      <vt:lpstr>Regression</vt:lpstr>
      <vt:lpstr>Syllabus</vt:lpstr>
      <vt:lpstr>Regression</vt:lpstr>
      <vt:lpstr>Which of the following is a regression task?ch of the following is a regression task? </vt:lpstr>
      <vt:lpstr>PowerPoint Presentation</vt:lpstr>
      <vt:lpstr>Some fits to the data : which is the best?</vt:lpstr>
      <vt:lpstr>Types of regression models</vt:lpstr>
      <vt:lpstr>Types of regression models</vt:lpstr>
      <vt:lpstr>PowerPoint Presentation</vt:lpstr>
      <vt:lpstr>PowerPoint Presentation</vt:lpstr>
      <vt:lpstr>PowerPoint Presentation</vt:lpstr>
      <vt:lpstr>Assumptions about the error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vt:lpstr>
      <vt:lpstr>PowerPoint Presentation</vt:lpstr>
      <vt:lpstr>PowerPoint Presentation</vt:lpstr>
      <vt:lpstr>PowerPoint Presentation</vt:lpstr>
      <vt:lpstr>Important points about LR</vt:lpstr>
      <vt:lpstr>Advantages And Disadvantages of LR </vt:lpstr>
      <vt:lpstr>Advantages And Disadvantages of LR </vt:lpstr>
      <vt:lpstr>Advantages and Disadvantages of LR </vt:lpstr>
      <vt:lpstr>Multiple linear regression</vt:lpstr>
      <vt:lpstr>Multiple linear regression model</vt:lpstr>
      <vt:lpstr>Regression Model</vt:lpstr>
      <vt:lpstr>Multiple linear regression model</vt:lpstr>
      <vt:lpstr>Cost Function</vt:lpstr>
      <vt:lpstr>PowerPoint Presentation</vt:lpstr>
      <vt:lpstr>Gradient descent/delta rule/LMS 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Property of gradient descent</vt:lpstr>
      <vt:lpstr>PowerPoint Presentation</vt:lpstr>
      <vt:lpstr>PowerPoint Presentation</vt:lpstr>
      <vt:lpstr>PowerPoint Presentation</vt:lpstr>
      <vt:lpstr>PowerPoint Presentation</vt:lpstr>
      <vt:lpstr>PowerPoint Presentation</vt:lpstr>
      <vt:lpstr>Benefits of Regression Analysis</vt:lpstr>
      <vt:lpstr>Limitations of Regression Analysis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Programming</dc:title>
  <dc:creator>MRR</dc:creator>
  <cp:revision>1</cp:revision>
  <dcterms:created xsi:type="dcterms:W3CDTF">2010-07-08T21:59:02Z</dcterms:created>
  <dcterms:modified xsi:type="dcterms:W3CDTF">2026-08-31T15:10:10Z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0x0101009F455403A244C844826B21F6E390126F</vt:lpwstr>
  </property>
</Properties>
</file>