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8" r:id="rId3"/>
    <p:sldId id="259" r:id="rId4"/>
    <p:sldId id="260" r:id="rId5"/>
    <p:sldId id="261" r:id="rId6"/>
    <p:sldId id="282" r:id="rId7"/>
    <p:sldId id="262" r:id="rId8"/>
    <p:sldId id="263" r:id="rId9"/>
    <p:sldId id="264" r:id="rId10"/>
    <p:sldId id="283" r:id="rId11"/>
    <p:sldId id="265" r:id="rId12"/>
    <p:sldId id="266" r:id="rId13"/>
    <p:sldId id="267" r:id="rId14"/>
    <p:sldId id="268" r:id="rId15"/>
    <p:sldId id="269" r:id="rId16"/>
    <p:sldId id="270" r:id="rId17"/>
    <p:sldId id="271" r:id="rId18"/>
    <p:sldId id="285" r:id="rId19"/>
    <p:sldId id="272" r:id="rId20"/>
    <p:sldId id="273" r:id="rId21"/>
    <p:sldId id="274" r:id="rId22"/>
    <p:sldId id="286" r:id="rId23"/>
    <p:sldId id="275" r:id="rId24"/>
    <p:sldId id="276" r:id="rId25"/>
    <p:sldId id="277" r:id="rId26"/>
    <p:sldId id="288"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1B2A49"/>
                </a:solidFill>
                <a:latin typeface="Arial"/>
              </a:defRPr>
            </a:pPr>
            <a:r>
              <a:rPr lang="en-IN" sz="1200" b="0" i="0" u="none" strike="noStrike">
                <a:solidFill>
                  <a:srgbClr val="1B2A49"/>
                </a:solidFill>
                <a:latin typeface="Arial"/>
              </a:rPr>
              <a:t>Overlap score per sense</a:t>
            </a:r>
          </a:p>
        </c:rich>
      </c:tx>
      <c:overlay val="0"/>
    </c:title>
    <c:autoTitleDeleted val="0"/>
    <c:plotArea>
      <c:layout/>
      <c:barChart>
        <c:barDir val="col"/>
        <c:grouping val="clustered"/>
        <c:varyColors val="0"/>
        <c:ser>
          <c:idx val="0"/>
          <c:order val="0"/>
          <c:tx>
            <c:strRef>
              <c:f>Sheet1!$B$1</c:f>
              <c:strCache>
                <c:ptCount val="1"/>
                <c:pt idx="0">
                  <c:v>bank 1 (financial)</c:v>
                </c:pt>
              </c:strCache>
            </c:strRef>
          </c:tx>
          <c:spPr>
            <a:solidFill>
              <a:srgbClr val="1F8A7D"/>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Text 1</c:v>
                </c:pt>
                <c:pt idx="1">
                  <c:v>Text 2</c:v>
                </c:pt>
              </c:strCache>
            </c:strRef>
          </c:cat>
          <c:val>
            <c:numRef>
              <c:f>Sheet1!$B$2:$B$3</c:f>
              <c:numCache>
                <c:formatCode>General</c:formatCode>
                <c:ptCount val="2"/>
                <c:pt idx="0">
                  <c:v>2</c:v>
                </c:pt>
                <c:pt idx="1">
                  <c:v>0</c:v>
                </c:pt>
              </c:numCache>
            </c:numRef>
          </c:val>
          <c:extLst>
            <c:ext xmlns:c16="http://schemas.microsoft.com/office/drawing/2014/chart" uri="{C3380CC4-5D6E-409C-BE32-E72D297353CC}">
              <c16:uniqueId val="{00000000-86CF-D142-A039-0E51EF2F6054}"/>
            </c:ext>
          </c:extLst>
        </c:ser>
        <c:ser>
          <c:idx val="1"/>
          <c:order val="1"/>
          <c:tx>
            <c:strRef>
              <c:f>Sheet1!$C$1</c:f>
              <c:strCache>
                <c:ptCount val="1"/>
                <c:pt idx="0">
                  <c:v>bank 2 (slope)</c:v>
                </c:pt>
              </c:strCache>
            </c:strRef>
          </c:tx>
          <c:spPr>
            <a:solidFill>
              <a:srgbClr val="D9503A"/>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Text 1</c:v>
                </c:pt>
                <c:pt idx="1">
                  <c:v>Text 2</c:v>
                </c:pt>
              </c:strCache>
            </c:strRef>
          </c:cat>
          <c:val>
            <c:numRef>
              <c:f>Sheet1!$C$2:$C$3</c:f>
              <c:numCache>
                <c:formatCode>General</c:formatCode>
                <c:ptCount val="2"/>
                <c:pt idx="0">
                  <c:v>0</c:v>
                </c:pt>
                <c:pt idx="1">
                  <c:v>1</c:v>
                </c:pt>
              </c:numCache>
            </c:numRef>
          </c:val>
          <c:extLst>
            <c:ext xmlns:c16="http://schemas.microsoft.com/office/drawing/2014/chart" uri="{C3380CC4-5D6E-409C-BE32-E72D297353CC}">
              <c16:uniqueId val="{00000001-86CF-D142-A039-0E51EF2F605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62E"/>
                </a:solidFill>
                <a:latin typeface="Arial"/>
              </a:defRPr>
            </a:pPr>
            <a:endParaRPr lang="en-US"/>
          </a:p>
        </c:txPr>
        <c:crossAx val="2094734552"/>
        <c:crosses val="autoZero"/>
        <c:auto val="1"/>
        <c:lblAlgn val="ctr"/>
        <c:lblOffset val="100"/>
        <c:noMultiLvlLbl val="1"/>
      </c:catAx>
      <c:valAx>
        <c:axId val="2094734552"/>
        <c:scaling>
          <c:orientation val="minMax"/>
          <c:max val="3"/>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05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100" b="0" i="0" u="none" strike="noStrike">
                <a:solidFill>
                  <a:srgbClr val="1B2A49"/>
                </a:solidFill>
                <a:latin typeface="Arial"/>
              </a:defRPr>
            </a:pPr>
            <a:r>
              <a:rPr lang="en-IN" sz="1100" b="0" i="0" u="none" strike="noStrike">
                <a:solidFill>
                  <a:srgbClr val="1B2A49"/>
                </a:solidFill>
                <a:latin typeface="Arial"/>
              </a:rPr>
              <a:t>| Signature ∩ C |</a:t>
            </a:r>
          </a:p>
        </c:rich>
      </c:tx>
      <c:overlay val="0"/>
    </c:title>
    <c:autoTitleDeleted val="0"/>
    <c:plotArea>
      <c:layout/>
      <c:barChart>
        <c:barDir val="col"/>
        <c:grouping val="clustered"/>
        <c:varyColors val="0"/>
        <c:ser>
          <c:idx val="0"/>
          <c:order val="0"/>
          <c:tx>
            <c:strRef>
              <c:f>Sheet1!$B$1</c:f>
              <c:strCache>
                <c:ptCount val="1"/>
                <c:pt idx="0">
                  <c:v>score</c:v>
                </c:pt>
              </c:strCache>
            </c:strRef>
          </c:tx>
          <c:spPr>
            <a:solidFill>
              <a:srgbClr val="1F8A7D"/>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S1</c:v>
                </c:pt>
                <c:pt idx="1">
                  <c:v>S2</c:v>
                </c:pt>
                <c:pt idx="2">
                  <c:v>S3</c:v>
                </c:pt>
                <c:pt idx="3">
                  <c:v>S4</c:v>
                </c:pt>
              </c:strCache>
            </c:strRef>
          </c:cat>
          <c:val>
            <c:numRef>
              <c:f>Sheet1!$B$2:$B$5</c:f>
              <c:numCache>
                <c:formatCode>General</c:formatCode>
                <c:ptCount val="4"/>
                <c:pt idx="0">
                  <c:v>3</c:v>
                </c:pt>
                <c:pt idx="1">
                  <c:v>0</c:v>
                </c:pt>
                <c:pt idx="2">
                  <c:v>0</c:v>
                </c:pt>
                <c:pt idx="3">
                  <c:v>0</c:v>
                </c:pt>
              </c:numCache>
            </c:numRef>
          </c:val>
          <c:extLst>
            <c:ext xmlns:c16="http://schemas.microsoft.com/office/drawing/2014/chart" uri="{C3380CC4-5D6E-409C-BE32-E72D297353CC}">
              <c16:uniqueId val="{00000000-6796-1A45-8B32-BF9077FD47D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62E"/>
                </a:solidFill>
                <a:latin typeface="Arial"/>
              </a:defRPr>
            </a:pPr>
            <a:endParaRPr lang="en-US"/>
          </a:p>
        </c:txPr>
        <c:crossAx val="2094734552"/>
        <c:crosses val="autoZero"/>
        <c:auto val="1"/>
        <c:lblAlgn val="ctr"/>
        <c:lblOffset val="100"/>
        <c:noMultiLvlLbl val="1"/>
      </c:catAx>
      <c:valAx>
        <c:axId val="2094734552"/>
        <c:scaling>
          <c:orientation val="minMax"/>
          <c:max val="4"/>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Arial"/>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4478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follow the story of the Lesk algorithm in the same order as the reference article: the 1983 idea, the ambiguity problem, the solution, then the worked sums, then dictionary dependence, applications, limitations, extensions and legacy. Students already know what WSD 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the scene. In the early 1980s parsers and syntactic analysis worked, but a basic gap remained: words with several meanings. Michael Lesk at Bell Laboratories saw that humans resolve this through context while machines had no systematic method. Machine-readable dictionaries were just appearing, but having definitions is not the same as knowing which one applies. The algorithm was developed around 1983 and published in 1986. Its significance: it replaced hand-coded linguistic rules with a simple statistical property of language itself, foreshadowing the data-driven turn in NLP.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Polysemy: one word, several distinct meanings. A human reads the bank sentence instantly because guarantee, deposits and losses all evoke finance. That immediacy hides a real cognitive achievement. WordNet 3.0 lists ten noun senses of bank (checked with NLTK); some dictionaries list a dozen or more, including a turning aircraft and a billiards shot.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older approaches. Hand-written rules such as 'bank near money means financial' were brittle, labour-intensive and could not scale; clues can also sit sentences away or emerge from several words together. Selectional restrictions and syntactic filters remove impossible readings, but 'The bank issued new bonds' is grammatical under both senses. The practical damage showed up in MT, IR, text-to-speech and QA. What was needed was a positive method that picks the most plausible sense from the evidence.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elegant solution. Lesk saw dictionary definitions as semantic fingerprints: each sense is described with its own distinctive vocabulary because lexicographers write definitions to tell meanings apart. So compare the words in each definition with the words around the target in real text. The best-fitting definition wins.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vocabulary small: target, senses, glosses, context. In a Lesk problem you mainly need those four. Overlap and score are the counting words. Then the resource: Lesk is called knowledge-based or dictionary-based because it uses information already available in a dictionary or lexical database such as WordNet, which groups words with similar meanings and gives definitions and example sentences. Basic Lesk does not first train a model on thousands of labelled sentences.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in four steps with a formula. In the article's version the window is perhaps five or ten words on either side; in exam sums we usually take the whole sentence. The example: context words deposits, guarantee, losses. If the financial gloss mentions deposits and money, it scores at least 1; the riverbank gloss shares nothing and scores 0. Cost is roughly linear in the number of candidate senses times the context size.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flavours. Simplified Lesk (Kilgarriff and Rosenzweig 2000) compares the target's sense glosses with the context words directly and handles one word at a time. Original Lesk compares the target's glosses with the glosses of the senses of neighbouring words, which allows joint disambiguation of several ambiguous words by choosing sense combinations with mutual overlap. Pine cone: pine1 and cone3 share evergreen and tree, so the score is 2 and every other pair is 0. Original is richer but expensive; simplified is cheaper and in evaluations did better.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rules. Most lost marks come from inconsistent counting. Walk through one short sentence: tokenise, drop stop words, drop the target, lemmatise, and treat the result as a set. Then the four rules on the right: same pipeline on both sides; sets not bags; strict greater-than means the first sense examined wins a tie; if nothing overlaps, back off to the most frequent sense. In WordNet 3.0 the first noun sense of bank is the slope sense.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counts as a match. Use these rules unless the question says otherwise: ignore common words, usually ignore the target word, compare meaningful words, and treat deposit and deposits as the same only if stemming or lemmatisation is allowed. If the question does not mention it, exact matching is the safest rule, and say which rule you used. Why drop the and a? They create false matches. The worked case: financial gloss {institution, accepts, deposits, handles, money} versus context {went, deposit, money}. Exact matching gives 1; lemmatised gives 2. Same winner, different margin.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article's own walk-through, and it is deliberately instructive because it fails. The definitions are hypothetical. After removing 'I', 'by', 'the' and the target, the context is sat, fishing. Neither definition shares an exact word with it, so both score 0 and simplified Lesk has no evidence. A human sees the link: fishing goes with water, rivers and streams. The full Lesk idea, looking at the definition of fishing as well, brings in words like catch, fish, water, sport, angling, which sit semantically close to watercourse, river and stream, but they are still not identical strings. Sparse overlap shows up on day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 the basic sum, from the sentences in the course notes. Signatures come from the lecture slide (lemmatised, stop-word free). Rules: simplified Lesk, stop words out, target out, lemmatise. Text 1: remove i, to, the, to, my and the target; lemmatise went to go. Context is go, deposit, money. bank-1 shares deposit and money, score 2. bank-2 shares nothing, score 0. Let students compute it before you reveal.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2: remove the, was, of and the target; lemmatise fishes to fish; context is river, full, dead, fish. bank-2 shares river, score 1; bank-1 scores 0. A single shared word is enough because the rival has no evidence at all. Takeaways: state whether lemmatisation is on (exact match gives 1 versus 0 on Text 1, same winner, thinner margin); exclude the target; and NLTK's built-in lesk() is gloss-only with no stop list, so on the textbook long sentence it returns bank.n.05 through the words 'in' and 'future'.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 the advanced sum. Real WordNet 3.0 noun senses of plant with tagged counts from NLTK. The lecture slide shows the same four senses with SemCor counts 338, 207, 2, 0 and the last two in the opposite order; numbering differs across WordNet versions, so use sense names. S1 is the most frequent sense. Sentence: The company built a large plant to manufacture electric cars.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Context: drop the, a, to and the target plant; lemmatise built to build and cars to car. Signatures: gloss plus examples, same preprocessing, target and its form planted removed. Overlaps: S1 shares build, large, manufacture, so 3; the others 0. S1 wins uniquely. Note car versus automobile: exact matching misses the synonym, which is the lexical gap in action.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the Corpus Lesk idea. A shared word is not always equally informative: large is everywhere, manufacture is rare. IDF is log of N over df. The numbers are ASSUMED for the exercise: N = 1000, natural log. Only use IDF in an exam when document frequencies are given. The winner does not change, but the evidence is weighted: manufacture carries about half the total and is worth 2.3 times large.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A sentence whose right answer is the living plant. Context is just water. Every score is zero, so the algorithm returns its default, the most frequent sense S1, which is WRONG. The cause is the knowledge problem the article describes: WordNet gives S2 a one-line gloss and no example, so water is nowhere in its signature. Fixes: Corpus Lesk adds labelled sentences, Extended Lesk adds related glosses, or use a supervised or embedding-based model.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Improving Lesk, simply. The basic problem: dictionary definitions can be very short, so there may be no matching word even when the meaning is right. Corpus Lesk gives each meaning more information: the definition, example sentences and sentences from a labelled training corpus, combined into a larger description. Basic Lesk is dictionary information; Corpus Lesk is dictionary information plus labelled examples. IDF-weighted Lesk: a common word is less useful than a rare, specific one. IDF is log N over df; the score is the sum of IDF values of the matching words. Example: N 1000, machine in 50 documents gives 2.996, production in 100 documents gives 2.303, total about 5.30. Do not use IDF in a normal question unless IDF values or document frequencies are given. Extended or adapted Lesk uses WordNet relationships: is-a, part and whole, related concepts. Expand the information, get more possible matches, better chance of disambiguation. Some versions give extra weight to matching phrases.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 scoring variations. The original simply counted shared words. Refinements: weight by rarity (IDF), square the overlap or score n-word phrases as n squared so multi-word matches count more, accept morphological variants (fishing, fish, fisher), and use WordNet relations so synonyms and hypernyms count as partial matches. These all attack the same weakness: definitions are short, so exact overlap is sparse. Cost: only string matching and counting, linear in senses times context size; a thousand-word document in seconds on 1980s hardware, unlike parsing or inference-heavy semantics.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Dictionary dependency: effectiveness hinged entirely on the dictionary. Verbose definitions with many content words give more surface for overlap, terse ones give little. Very fine-grained sense divisions fragment overlap across similar senses. A financial dictionary excels on finance text and fails on general language; a children's dictionary lacks technical vocabulary. Resources made for human readers are awkward for machines. Link to our sum: WordNet's plant.n.02 had a six-word signature and no example, which is why 'He watered the plant' failed.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Machine translation used Lesk-style disambiguation as a preprocessing step. Information retrieval matched senses instead of word forms, for example Java the language versus the island versus coffee. Text understanding systems built better representations. Linguists used it to pre-tag corpora, then corrected by hand, creating training data for supervised methods. When WordNet appeared (George Miller and colleagues at Princeton), Lesk adapted to WordNet glosses became the standard baseline for automatic sense tagging. It also became a classroom staple: students could code a working WSD system in one assignment.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Easy to understand, easy to calculate by hand, no large labelled training dataset for basic Lesk, understandable evidence because we can show exactly which words matched, easy to implement, can use resources such as WordNet, and a useful simple baseline. Then the single biggest caution: no match does not always mean no relation. Two words can be closely related yet use different vocabulary in their definitions, as with fishing and river.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Sparse overlap: glosses are short, about twenty to fifty words, so context and definition often share nothing even when the sense is obvious. Lexical gap: exact surface matching, so vehicle versus car and fishing versus fish fail, and hypernymy and meronymy are invisible. Short contexts like a two-word query, 'java performance', give ties or unstable results from one coincidental word. Closely related senses have heavily overlapping glosses. Figurative language and idioms, such as 'break the bank', are not dictionary senses at all. Underneath: the knowledge acquisition bottleneck, since each improvement needs richer hand-built lexical resources.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Extensions and descendants. Extended Lesk (Banerjee and Pedersen, 2002 and 2003) adds the glosses of related WordNet synsets and scores phrases n squared. Corpus and IDF variants weight overlaps by rarity and add sense-labelled sentences. Syntactic variants weight words by their role: for a verb, its subject and object matter more than random neighbours, at the price of needing a parser. In the 2010s embedding-based methods replaced exact match by cosine similarity, so car and vehicle now count as close. BERT-based WSD is essentially a learned, contextual Lesk. The article reports that modern systems beat classic Lesk variants by twenty to thirty accuracy points.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Lesk is obsolete as a competitive system but foundational as an idea. Distributional semantics, summarised by Firth as knowing a word by the company it keeps, formalises the Lesk intuition. Word2Vec and GloVe learn what Lesk counted by hand. Lesk also marked the step from hand-written rules to data-driven methods, even though it still used a hand-built dictionary. In BERT, bank in 'I sat by the bank fishing' and in 'The bank approved my loan' get different vectors: context shaping meaning. Lesk survives as a baseline and diagnostic: cases where it fails, such as short contexts, rare senses and figurative language, are also hard for neural models. The four lessons on the right.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checklist for any Lesk numerical question. Ten steps. The answer should look like a small score table: Sense 1, matching words, score; Sense 2, matching words, score; highest score, selected sense. The quick exam example: 'The fisherman sat on the bank near the river.' Context after removing common words and the target: fisherman, sat, near, river. Sense 1, financial institution that accepts deposits: overlap none, score 0. Sense 2, sloping land beside a river: overlap river, score 1. So bank means land beside a river.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9BB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9BB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a:effectLst/>
      </p:bgPr>
    </p:bg>
    <p:spTree>
      <p:nvGrpSpPr>
        <p:cNvPr id="1" name=""/>
        <p:cNvGrpSpPr/>
        <p:nvPr/>
      </p:nvGrpSpPr>
      <p:grpSpPr>
        <a:xfrm>
          <a:off x="0" y="0"/>
          <a:ext cx="0" cy="0"/>
          <a:chOff x="0" y="0"/>
          <a:chExt cx="0" cy="0"/>
        </a:xfrm>
      </p:grpSpPr>
      <p:sp>
        <p:nvSpPr>
          <p:cNvPr id="3" name="a0_fade_0_0"/>
          <p:cNvSpPr txBox="1"/>
          <p:nvPr/>
        </p:nvSpPr>
        <p:spPr>
          <a:xfrm>
            <a:off x="548640" y="640080"/>
            <a:ext cx="4572000" cy="274320"/>
          </a:xfrm>
          <a:prstGeom prst="rect">
            <a:avLst/>
          </a:prstGeom>
          <a:noFill/>
          <a:ln/>
        </p:spPr>
        <p:txBody>
          <a:bodyPr wrap="square" lIns="0" tIns="0" rIns="0" bIns="0" rtlCol="0" anchor="t"/>
          <a:lstStyle/>
          <a:p>
            <a:pPr marL="0" indent="0">
              <a:buNone/>
            </a:pPr>
            <a:r>
              <a:rPr lang="en-US" sz="1200" b="1" kern="0" spc="300" dirty="0">
                <a:solidFill>
                  <a:srgbClr val="F4A300"/>
                </a:solidFill>
                <a:latin typeface="Calibri" pitchFamily="34" charset="0"/>
                <a:ea typeface="Calibri" pitchFamily="34" charset="-122"/>
                <a:cs typeface="Calibri" pitchFamily="34" charset="-120"/>
              </a:rPr>
              <a:t>WORD SENSE DISAMBIGUATION</a:t>
            </a:r>
            <a:endParaRPr lang="en-US" sz="1200" dirty="0"/>
          </a:p>
        </p:txBody>
      </p:sp>
      <p:sp>
        <p:nvSpPr>
          <p:cNvPr id="4" name="a0_wipe_300_1"/>
          <p:cNvSpPr txBox="1"/>
          <p:nvPr/>
        </p:nvSpPr>
        <p:spPr>
          <a:xfrm>
            <a:off x="548640" y="1005840"/>
            <a:ext cx="4754880" cy="1737360"/>
          </a:xfrm>
          <a:prstGeom prst="rect">
            <a:avLst/>
          </a:prstGeom>
          <a:noFill/>
          <a:ln/>
        </p:spPr>
        <p:txBody>
          <a:bodyPr wrap="square" lIns="0" tIns="0" rIns="0" bIns="0" rtlCol="0" anchor="t"/>
          <a:lstStyle/>
          <a:p>
            <a:pPr marL="0" indent="0">
              <a:buNone/>
            </a:pPr>
            <a:r>
              <a:rPr lang="en-US" sz="5200" b="1" dirty="0">
                <a:solidFill>
                  <a:srgbClr val="FFFFFF"/>
                </a:solidFill>
                <a:latin typeface="Cambria" pitchFamily="34" charset="0"/>
                <a:ea typeface="Cambria" pitchFamily="34" charset="-122"/>
                <a:cs typeface="Cambria" pitchFamily="34" charset="-120"/>
              </a:rPr>
              <a:t>The Lesk</a:t>
            </a:r>
            <a:endParaRPr lang="en-US" sz="5200" dirty="0"/>
          </a:p>
          <a:p>
            <a:pPr marL="0" indent="0">
              <a:buNone/>
            </a:pPr>
            <a:r>
              <a:rPr lang="en-US" sz="5200" b="1" dirty="0">
                <a:solidFill>
                  <a:srgbClr val="FFFFFF"/>
                </a:solidFill>
                <a:latin typeface="Cambria" pitchFamily="34" charset="0"/>
                <a:ea typeface="Cambria" pitchFamily="34" charset="-122"/>
                <a:cs typeface="Cambria" pitchFamily="34" charset="-120"/>
              </a:rPr>
              <a:t>Algorithm</a:t>
            </a:r>
            <a:endParaRPr lang="en-US" sz="5200" dirty="0"/>
          </a:p>
        </p:txBody>
      </p:sp>
      <p:sp>
        <p:nvSpPr>
          <p:cNvPr id="5" name="a0_fade_900_2"/>
          <p:cNvSpPr txBox="1"/>
          <p:nvPr/>
        </p:nvSpPr>
        <p:spPr>
          <a:xfrm>
            <a:off x="548640" y="2880360"/>
            <a:ext cx="4572000" cy="1005840"/>
          </a:xfrm>
          <a:prstGeom prst="rect">
            <a:avLst/>
          </a:prstGeom>
          <a:noFill/>
          <a:ln/>
        </p:spPr>
        <p:txBody>
          <a:bodyPr wrap="square" lIns="0" tIns="0" rIns="0" bIns="0" rtlCol="0" anchor="t"/>
          <a:lstStyle/>
          <a:p>
            <a:pPr marL="0" indent="0">
              <a:buNone/>
            </a:pPr>
            <a:r>
              <a:rPr lang="en-US" sz="1500" dirty="0">
                <a:solidFill>
                  <a:srgbClr val="CADCFC"/>
                </a:solidFill>
                <a:latin typeface="Calibri" pitchFamily="34" charset="0"/>
                <a:ea typeface="Calibri" pitchFamily="34" charset="-122"/>
                <a:cs typeface="Calibri" pitchFamily="34" charset="-120"/>
              </a:rPr>
              <a:t>From Bell Labs in 1983 to modern language AI: how counting shared words between a dictionary definition and its context picks the right meaning</a:t>
            </a:r>
            <a:endParaRPr lang="en-US" sz="1500" dirty="0"/>
          </a:p>
        </p:txBody>
      </p:sp>
      <p:sp>
        <p:nvSpPr>
          <p:cNvPr id="6" name="a0_fade_1400_3"/>
          <p:cNvSpPr txBox="1"/>
          <p:nvPr/>
        </p:nvSpPr>
        <p:spPr>
          <a:xfrm>
            <a:off x="548640" y="4297680"/>
            <a:ext cx="6400800" cy="274320"/>
          </a:xfrm>
          <a:prstGeom prst="rect">
            <a:avLst/>
          </a:prstGeom>
          <a:noFill/>
          <a:ln/>
        </p:spPr>
        <p:txBody>
          <a:bodyPr wrap="square" lIns="0" tIns="0" rIns="0" bIns="0" rtlCol="0" anchor="t"/>
          <a:lstStyle/>
          <a:p>
            <a:pPr marL="0" indent="0">
              <a:buNone/>
            </a:pPr>
            <a:r>
              <a:rPr lang="en-US" sz="1100" dirty="0">
                <a:solidFill>
                  <a:srgbClr val="8E9BB8"/>
                </a:solidFill>
                <a:latin typeface="Calibri" pitchFamily="34" charset="0"/>
                <a:ea typeface="Calibri" pitchFamily="34" charset="-122"/>
                <a:cs typeface="Calibri" pitchFamily="34" charset="-120"/>
              </a:rPr>
              <a:t>Story  ·  Method  ·  Two worked sums  ·  Limits  ·  Extensions  ·  Legacy</a:t>
            </a:r>
            <a:endParaRPr lang="en-US" sz="1100" dirty="0"/>
          </a:p>
        </p:txBody>
      </p:sp>
      <p:sp>
        <p:nvSpPr>
          <p:cNvPr id="7" name="a0_zoom_600_4"/>
          <p:cNvSpPr/>
          <p:nvPr/>
        </p:nvSpPr>
        <p:spPr>
          <a:xfrm>
            <a:off x="6446520" y="2011680"/>
            <a:ext cx="1371600" cy="548640"/>
          </a:xfrm>
          <a:prstGeom prst="roundRect">
            <a:avLst>
              <a:gd name="adj" fmla="val 20000"/>
            </a:avLst>
          </a:prstGeom>
          <a:solidFill>
            <a:srgbClr val="F4A300"/>
          </a:solidFill>
          <a:ln/>
        </p:spPr>
        <p:txBody>
          <a:bodyPr wrap="square" lIns="0" tIns="0" rIns="0" bIns="0" rtlCol="0" anchor="ctr"/>
          <a:lstStyle/>
          <a:p>
            <a:pPr marL="0" indent="0" algn="ctr">
              <a:buNone/>
            </a:pPr>
            <a:r>
              <a:rPr lang="en-US" sz="2200" b="1" dirty="0">
                <a:solidFill>
                  <a:srgbClr val="22262E"/>
                </a:solidFill>
                <a:latin typeface="Calibri" pitchFamily="34" charset="0"/>
                <a:ea typeface="Calibri" pitchFamily="34" charset="-122"/>
                <a:cs typeface="Calibri" pitchFamily="34" charset="-120"/>
              </a:rPr>
              <a:t>bank</a:t>
            </a:r>
            <a:endParaRPr lang="en-US" sz="2200" dirty="0"/>
          </a:p>
        </p:txBody>
      </p:sp>
      <p:sp>
        <p:nvSpPr>
          <p:cNvPr id="8" name="a0_fade_1100_5"/>
          <p:cNvSpPr/>
          <p:nvPr/>
        </p:nvSpPr>
        <p:spPr>
          <a:xfrm>
            <a:off x="6400800" y="1417320"/>
            <a:ext cx="731520" cy="594360"/>
          </a:xfrm>
          <a:prstGeom prst="line">
            <a:avLst/>
          </a:prstGeom>
          <a:noFill/>
          <a:ln w="19050">
            <a:solidFill>
              <a:srgbClr val="8E9BB8"/>
            </a:solidFill>
            <a:prstDash val="solid"/>
          </a:ln>
        </p:spPr>
      </p:sp>
      <p:sp>
        <p:nvSpPr>
          <p:cNvPr id="9" name="a0_fade_1100_6"/>
          <p:cNvSpPr/>
          <p:nvPr/>
        </p:nvSpPr>
        <p:spPr>
          <a:xfrm flipV="1">
            <a:off x="6400800" y="2560320"/>
            <a:ext cx="731520" cy="594360"/>
          </a:xfrm>
          <a:prstGeom prst="line">
            <a:avLst/>
          </a:prstGeom>
          <a:noFill/>
          <a:ln w="19050">
            <a:solidFill>
              <a:srgbClr val="8E9BB8"/>
            </a:solidFill>
            <a:prstDash val="solid"/>
          </a:ln>
        </p:spPr>
      </p:sp>
      <p:sp>
        <p:nvSpPr>
          <p:cNvPr id="10" name="a0_fly_1300_7"/>
          <p:cNvSpPr/>
          <p:nvPr/>
        </p:nvSpPr>
        <p:spPr>
          <a:xfrm>
            <a:off x="5577840" y="1051560"/>
            <a:ext cx="2550810" cy="365760"/>
          </a:xfrm>
          <a:prstGeom prst="roundRect">
            <a:avLst>
              <a:gd name="adj" fmla="val 30000"/>
            </a:avLst>
          </a:prstGeom>
          <a:solidFill>
            <a:srgbClr val="1F8A7D"/>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financial institution</a:t>
            </a:r>
            <a:endParaRPr lang="en-US" sz="1200" dirty="0"/>
          </a:p>
        </p:txBody>
      </p:sp>
      <p:sp>
        <p:nvSpPr>
          <p:cNvPr id="11" name="a0_fade_1600_8"/>
          <p:cNvSpPr/>
          <p:nvPr/>
        </p:nvSpPr>
        <p:spPr>
          <a:xfrm>
            <a:off x="5486400" y="658368"/>
            <a:ext cx="869960" cy="292608"/>
          </a:xfrm>
          <a:prstGeom prst="roundRect">
            <a:avLst>
              <a:gd name="adj" fmla="val 37500"/>
            </a:avLst>
          </a:prstGeom>
          <a:solidFill>
            <a:srgbClr val="27385F"/>
          </a:solid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deposit</a:t>
            </a:r>
            <a:endParaRPr lang="en-US" sz="1100" dirty="0"/>
          </a:p>
        </p:txBody>
      </p:sp>
      <p:sp>
        <p:nvSpPr>
          <p:cNvPr id="12" name="a0_fade_1750_9"/>
          <p:cNvSpPr/>
          <p:nvPr/>
        </p:nvSpPr>
        <p:spPr>
          <a:xfrm>
            <a:off x="6355080" y="658368"/>
            <a:ext cx="705002" cy="292608"/>
          </a:xfrm>
          <a:prstGeom prst="roundRect">
            <a:avLst>
              <a:gd name="adj" fmla="val 37500"/>
            </a:avLst>
          </a:prstGeom>
          <a:solidFill>
            <a:srgbClr val="27385F"/>
          </a:solid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money</a:t>
            </a:r>
            <a:endParaRPr lang="en-US" sz="1100" dirty="0"/>
          </a:p>
        </p:txBody>
      </p:sp>
      <p:sp>
        <p:nvSpPr>
          <p:cNvPr id="13" name="a0_fly_1300_10"/>
          <p:cNvSpPr/>
          <p:nvPr/>
        </p:nvSpPr>
        <p:spPr>
          <a:xfrm>
            <a:off x="6035040" y="3154680"/>
            <a:ext cx="1583009" cy="365760"/>
          </a:xfrm>
          <a:prstGeom prst="roundRect">
            <a:avLst>
              <a:gd name="adj" fmla="val 30000"/>
            </a:avLst>
          </a:prstGeom>
          <a:solidFill>
            <a:srgbClr val="D9503A"/>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sloping land</a:t>
            </a:r>
            <a:endParaRPr lang="en-US" sz="1200" dirty="0"/>
          </a:p>
        </p:txBody>
      </p:sp>
      <p:sp>
        <p:nvSpPr>
          <p:cNvPr id="14" name="a0_fade_1600_11"/>
          <p:cNvSpPr/>
          <p:nvPr/>
        </p:nvSpPr>
        <p:spPr>
          <a:xfrm>
            <a:off x="6035040" y="3611880"/>
            <a:ext cx="705002" cy="292608"/>
          </a:xfrm>
          <a:prstGeom prst="roundRect">
            <a:avLst>
              <a:gd name="adj" fmla="val 37500"/>
            </a:avLst>
          </a:prstGeom>
          <a:solidFill>
            <a:srgbClr val="27385F"/>
          </a:solid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river</a:t>
            </a:r>
            <a:endParaRPr lang="en-US" sz="1100" dirty="0"/>
          </a:p>
        </p:txBody>
      </p:sp>
      <p:sp>
        <p:nvSpPr>
          <p:cNvPr id="15" name="a0_fade_1750_12"/>
          <p:cNvSpPr/>
          <p:nvPr/>
        </p:nvSpPr>
        <p:spPr>
          <a:xfrm>
            <a:off x="6766560" y="3611880"/>
            <a:ext cx="705002" cy="292608"/>
          </a:xfrm>
          <a:prstGeom prst="roundRect">
            <a:avLst>
              <a:gd name="adj" fmla="val 37500"/>
            </a:avLst>
          </a:prstGeom>
          <a:solidFill>
            <a:srgbClr val="27385F"/>
          </a:solid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water</a:t>
            </a:r>
            <a:endParaRPr lang="en-US" sz="1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22" presetClass="entr" presetSubtype="8" fill="hold" grpId="0"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53" presetClass="entr" presetSubtype="16" fill="hold" grpId="0" nodeType="withEffect">
                                  <p:stCondLst>
                                    <p:cond delay="6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10"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11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110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2" presetClass="entr" presetSubtype="4" fill="hold" grpId="0" nodeType="withEffect">
                                  <p:stCondLst>
                                    <p:cond delay="13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130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140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160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160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175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grpId="0" nodeType="withEffect">
                                  <p:stCondLst>
                                    <p:cond delay="175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1 · THE STORY</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1983: a dictionary becomes a disambiguation tool</a:t>
            </a:r>
            <a:endParaRPr lang="en-US" sz="2800" dirty="0"/>
          </a:p>
        </p:txBody>
      </p:sp>
      <p:sp>
        <p:nvSpPr>
          <p:cNvPr id="5" name="a1_wipe_0_38"/>
          <p:cNvSpPr/>
          <p:nvPr/>
        </p:nvSpPr>
        <p:spPr>
          <a:xfrm>
            <a:off x="457200" y="1188720"/>
            <a:ext cx="2606040" cy="1737360"/>
          </a:xfrm>
          <a:prstGeom prst="roundRect">
            <a:avLst>
              <a:gd name="adj" fmla="val 6316"/>
            </a:avLst>
          </a:prstGeom>
          <a:solidFill>
            <a:srgbClr val="FDE6E1"/>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The gap</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Parsers could build syntactic structures, yet could not tell whether “bank” meant a financial institution or a river edge, or whether “interest” meant curiosity or a rate.</a:t>
            </a:r>
            <a:endParaRPr lang="en-US" sz="1200" dirty="0"/>
          </a:p>
        </p:txBody>
      </p:sp>
      <p:sp>
        <p:nvSpPr>
          <p:cNvPr id="6" name="a1_wipe_250_39"/>
          <p:cNvSpPr/>
          <p:nvPr/>
        </p:nvSpPr>
        <p:spPr>
          <a:xfrm>
            <a:off x="3246120" y="1188720"/>
            <a:ext cx="2606040" cy="1737360"/>
          </a:xfrm>
          <a:prstGeom prst="roundRect">
            <a:avLst>
              <a:gd name="adj" fmla="val 6316"/>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The person</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Michael Lesk, Bell Laboratories, Murray Hill, New Jersey. Humans resolve ambiguity effortlessly through context; machines had no systematic method.</a:t>
            </a:r>
            <a:endParaRPr lang="en-US" sz="1200" dirty="0"/>
          </a:p>
        </p:txBody>
      </p:sp>
      <p:sp>
        <p:nvSpPr>
          <p:cNvPr id="7" name="a1_wipe_500_40"/>
          <p:cNvSpPr/>
          <p:nvPr/>
        </p:nvSpPr>
        <p:spPr>
          <a:xfrm>
            <a:off x="6035040" y="1188720"/>
            <a:ext cx="2651760" cy="1737360"/>
          </a:xfrm>
          <a:prstGeom prst="roundRect">
            <a:avLst>
              <a:gd name="adj" fmla="val 6316"/>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The insight</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Words around an ambiguous term are clues, and the clues can be found by comparing the context with dictionary definitions. No hand-written rules.</a:t>
            </a:r>
            <a:endParaRPr lang="en-US" sz="1200" dirty="0"/>
          </a:p>
        </p:txBody>
      </p:sp>
      <p:sp>
        <p:nvSpPr>
          <p:cNvPr id="8" name="a2_wipe_0_41"/>
          <p:cNvSpPr/>
          <p:nvPr/>
        </p:nvSpPr>
        <p:spPr>
          <a:xfrm>
            <a:off x="822960" y="3429000"/>
            <a:ext cx="7498080" cy="0"/>
          </a:xfrm>
          <a:prstGeom prst="line">
            <a:avLst/>
          </a:prstGeom>
          <a:noFill/>
          <a:ln w="31750">
            <a:solidFill>
              <a:srgbClr val="C9D0DC"/>
            </a:solidFill>
            <a:prstDash val="solid"/>
          </a:ln>
        </p:spPr>
      </p:sp>
      <p:sp>
        <p:nvSpPr>
          <p:cNvPr id="9" name="a2_zoom_200_42"/>
          <p:cNvSpPr/>
          <p:nvPr/>
        </p:nvSpPr>
        <p:spPr>
          <a:xfrm>
            <a:off x="777240" y="3310128"/>
            <a:ext cx="237744" cy="237744"/>
          </a:xfrm>
          <a:prstGeom prst="ellipse">
            <a:avLst/>
          </a:prstGeom>
          <a:solidFill>
            <a:srgbClr val="1F8A7D"/>
          </a:solidFill>
          <a:ln w="25400">
            <a:solidFill>
              <a:srgbClr val="FFFFFF"/>
            </a:solidFill>
          </a:ln>
        </p:spPr>
        <p:txBody>
          <a:bodyPr wrap="square" rtlCol="0" anchor="ctr"/>
          <a:lstStyle/>
          <a:p>
            <a:pPr marL="0" indent="0">
              <a:buNone/>
            </a:pPr>
            <a:endParaRPr lang="en-US" dirty="0"/>
          </a:p>
        </p:txBody>
      </p:sp>
      <p:sp>
        <p:nvSpPr>
          <p:cNvPr id="10" name="a2_fade_300_43"/>
          <p:cNvSpPr txBox="1"/>
          <p:nvPr/>
        </p:nvSpPr>
        <p:spPr>
          <a:xfrm>
            <a:off x="457200" y="3639312"/>
            <a:ext cx="1965960" cy="274320"/>
          </a:xfrm>
          <a:prstGeom prst="rect">
            <a:avLst/>
          </a:prstGeom>
          <a:noFill/>
          <a:ln/>
        </p:spPr>
        <p:txBody>
          <a:bodyPr wrap="square" lIns="0" tIns="0" rIns="0" bIns="0" rtlCol="0" anchor="t"/>
          <a:lstStyle/>
          <a:p>
            <a:pPr marL="0" indent="0">
              <a:buNone/>
            </a:pPr>
            <a:r>
              <a:rPr lang="en-US" sz="1400" b="1" dirty="0">
                <a:solidFill>
                  <a:srgbClr val="1B2A49"/>
                </a:solidFill>
                <a:latin typeface="Cambria" pitchFamily="34" charset="0"/>
                <a:ea typeface="Cambria" pitchFamily="34" charset="-122"/>
                <a:cs typeface="Cambria" pitchFamily="34" charset="-120"/>
              </a:rPr>
              <a:t>Early 1980s</a:t>
            </a:r>
            <a:endParaRPr lang="en-US" sz="1400" dirty="0"/>
          </a:p>
        </p:txBody>
      </p:sp>
      <p:sp>
        <p:nvSpPr>
          <p:cNvPr id="11" name="a2_fade_300_44"/>
          <p:cNvSpPr txBox="1"/>
          <p:nvPr/>
        </p:nvSpPr>
        <p:spPr>
          <a:xfrm>
            <a:off x="457200" y="3931920"/>
            <a:ext cx="1965960" cy="548640"/>
          </a:xfrm>
          <a:prstGeom prst="rect">
            <a:avLst/>
          </a:prstGeom>
          <a:noFill/>
          <a:ln/>
        </p:spPr>
        <p:txBody>
          <a:bodyPr wrap="square" lIns="0" tIns="0" rIns="0" bIns="0" rtlCol="0" anchor="t"/>
          <a:lstStyle/>
          <a:p>
            <a:pPr marL="0" indent="0">
              <a:buNone/>
            </a:pPr>
            <a:r>
              <a:rPr lang="en-US" sz="1150" dirty="0">
                <a:solidFill>
                  <a:srgbClr val="5B6577"/>
                </a:solidFill>
                <a:latin typeface="Calibri" pitchFamily="34" charset="0"/>
                <a:ea typeface="Calibri" pitchFamily="34" charset="-122"/>
                <a:cs typeface="Calibri" pitchFamily="34" charset="-120"/>
              </a:rPr>
              <a:t>machine-readable dictionaries emerge</a:t>
            </a:r>
            <a:endParaRPr lang="en-US" sz="1150" dirty="0"/>
          </a:p>
        </p:txBody>
      </p:sp>
      <p:sp>
        <p:nvSpPr>
          <p:cNvPr id="12" name="a2_zoom_450_45"/>
          <p:cNvSpPr/>
          <p:nvPr/>
        </p:nvSpPr>
        <p:spPr>
          <a:xfrm>
            <a:off x="2862072" y="3310128"/>
            <a:ext cx="237744" cy="237744"/>
          </a:xfrm>
          <a:prstGeom prst="ellipse">
            <a:avLst/>
          </a:prstGeom>
          <a:solidFill>
            <a:srgbClr val="F4A300"/>
          </a:solidFill>
          <a:ln w="25400">
            <a:solidFill>
              <a:srgbClr val="FFFFFF"/>
            </a:solidFill>
          </a:ln>
        </p:spPr>
        <p:txBody>
          <a:bodyPr wrap="square" rtlCol="0" anchor="ctr"/>
          <a:lstStyle/>
          <a:p>
            <a:pPr marL="0" indent="0">
              <a:buNone/>
            </a:pPr>
            <a:endParaRPr lang="en-US" dirty="0"/>
          </a:p>
        </p:txBody>
      </p:sp>
      <p:sp>
        <p:nvSpPr>
          <p:cNvPr id="13" name="a2_fade_550_46"/>
          <p:cNvSpPr txBox="1"/>
          <p:nvPr/>
        </p:nvSpPr>
        <p:spPr>
          <a:xfrm>
            <a:off x="2542032" y="3639312"/>
            <a:ext cx="1965960" cy="274320"/>
          </a:xfrm>
          <a:prstGeom prst="rect">
            <a:avLst/>
          </a:prstGeom>
          <a:noFill/>
          <a:ln/>
        </p:spPr>
        <p:txBody>
          <a:bodyPr wrap="square" lIns="0" tIns="0" rIns="0" bIns="0" rtlCol="0" anchor="t"/>
          <a:lstStyle/>
          <a:p>
            <a:pPr marL="0" indent="0">
              <a:buNone/>
            </a:pPr>
            <a:r>
              <a:rPr lang="en-US" sz="1400" b="1" dirty="0">
                <a:solidFill>
                  <a:srgbClr val="1B2A49"/>
                </a:solidFill>
                <a:latin typeface="Cambria" pitchFamily="34" charset="0"/>
                <a:ea typeface="Cambria" pitchFamily="34" charset="-122"/>
                <a:cs typeface="Cambria" pitchFamily="34" charset="-120"/>
              </a:rPr>
              <a:t>c. 1983</a:t>
            </a:r>
            <a:endParaRPr lang="en-US" sz="1400" dirty="0"/>
          </a:p>
        </p:txBody>
      </p:sp>
      <p:sp>
        <p:nvSpPr>
          <p:cNvPr id="14" name="a2_fade_550_47"/>
          <p:cNvSpPr txBox="1"/>
          <p:nvPr/>
        </p:nvSpPr>
        <p:spPr>
          <a:xfrm>
            <a:off x="2542032" y="3931920"/>
            <a:ext cx="1965960" cy="548640"/>
          </a:xfrm>
          <a:prstGeom prst="rect">
            <a:avLst/>
          </a:prstGeom>
          <a:noFill/>
          <a:ln/>
        </p:spPr>
        <p:txBody>
          <a:bodyPr wrap="square" lIns="0" tIns="0" rIns="0" bIns="0" rtlCol="0" anchor="t"/>
          <a:lstStyle/>
          <a:p>
            <a:pPr marL="0" indent="0">
              <a:buNone/>
            </a:pPr>
            <a:r>
              <a:rPr lang="en-US" sz="1150" dirty="0">
                <a:solidFill>
                  <a:srgbClr val="5B6577"/>
                </a:solidFill>
                <a:latin typeface="Calibri" pitchFamily="34" charset="0"/>
                <a:ea typeface="Calibri" pitchFamily="34" charset="-122"/>
                <a:cs typeface="Calibri" pitchFamily="34" charset="-120"/>
              </a:rPr>
              <a:t>algorithm developed at Bell Labs</a:t>
            </a:r>
            <a:endParaRPr lang="en-US" sz="1150" dirty="0"/>
          </a:p>
        </p:txBody>
      </p:sp>
      <p:sp>
        <p:nvSpPr>
          <p:cNvPr id="15" name="a2_zoom_700_48"/>
          <p:cNvSpPr/>
          <p:nvPr/>
        </p:nvSpPr>
        <p:spPr>
          <a:xfrm>
            <a:off x="4946904" y="3310128"/>
            <a:ext cx="237744" cy="237744"/>
          </a:xfrm>
          <a:prstGeom prst="ellipse">
            <a:avLst/>
          </a:prstGeom>
          <a:solidFill>
            <a:srgbClr val="1F8A7D"/>
          </a:solidFill>
          <a:ln w="25400">
            <a:solidFill>
              <a:srgbClr val="FFFFFF"/>
            </a:solidFill>
          </a:ln>
        </p:spPr>
        <p:txBody>
          <a:bodyPr wrap="square" rtlCol="0" anchor="ctr"/>
          <a:lstStyle/>
          <a:p>
            <a:pPr marL="0" indent="0">
              <a:buNone/>
            </a:pPr>
            <a:endParaRPr lang="en-US" dirty="0"/>
          </a:p>
        </p:txBody>
      </p:sp>
      <p:sp>
        <p:nvSpPr>
          <p:cNvPr id="16" name="a2_fade_800_49"/>
          <p:cNvSpPr txBox="1"/>
          <p:nvPr/>
        </p:nvSpPr>
        <p:spPr>
          <a:xfrm>
            <a:off x="4626864" y="3639312"/>
            <a:ext cx="1965960" cy="274320"/>
          </a:xfrm>
          <a:prstGeom prst="rect">
            <a:avLst/>
          </a:prstGeom>
          <a:noFill/>
          <a:ln/>
        </p:spPr>
        <p:txBody>
          <a:bodyPr wrap="square" lIns="0" tIns="0" rIns="0" bIns="0" rtlCol="0" anchor="t"/>
          <a:lstStyle/>
          <a:p>
            <a:pPr marL="0" indent="0">
              <a:buNone/>
            </a:pPr>
            <a:r>
              <a:rPr lang="en-US" sz="1400" b="1" dirty="0">
                <a:solidFill>
                  <a:srgbClr val="1B2A49"/>
                </a:solidFill>
                <a:latin typeface="Cambria" pitchFamily="34" charset="0"/>
                <a:ea typeface="Cambria" pitchFamily="34" charset="-122"/>
                <a:cs typeface="Cambria" pitchFamily="34" charset="-120"/>
              </a:rPr>
              <a:t>1986</a:t>
            </a:r>
            <a:endParaRPr lang="en-US" sz="1400" dirty="0"/>
          </a:p>
        </p:txBody>
      </p:sp>
      <p:sp>
        <p:nvSpPr>
          <p:cNvPr id="17" name="a2_fade_800_50"/>
          <p:cNvSpPr txBox="1"/>
          <p:nvPr/>
        </p:nvSpPr>
        <p:spPr>
          <a:xfrm>
            <a:off x="4626864" y="3931920"/>
            <a:ext cx="1965960" cy="548640"/>
          </a:xfrm>
          <a:prstGeom prst="rect">
            <a:avLst/>
          </a:prstGeom>
          <a:noFill/>
          <a:ln/>
        </p:spPr>
        <p:txBody>
          <a:bodyPr wrap="square" lIns="0" tIns="0" rIns="0" bIns="0" rtlCol="0" anchor="t"/>
          <a:lstStyle/>
          <a:p>
            <a:pPr marL="0" indent="0">
              <a:buNone/>
            </a:pPr>
            <a:r>
              <a:rPr lang="en-US" sz="1150" dirty="0">
                <a:solidFill>
                  <a:srgbClr val="5B6577"/>
                </a:solidFill>
                <a:latin typeface="Calibri" pitchFamily="34" charset="0"/>
                <a:ea typeface="Calibri" pitchFamily="34" charset="-122"/>
                <a:cs typeface="Calibri" pitchFamily="34" charset="-120"/>
              </a:rPr>
              <a:t>published at SIGDOC: “pine cone vs ice cream cone”</a:t>
            </a:r>
            <a:endParaRPr lang="en-US" sz="1150" dirty="0"/>
          </a:p>
        </p:txBody>
      </p:sp>
      <p:sp>
        <p:nvSpPr>
          <p:cNvPr id="18" name="a2_zoom_950_51"/>
          <p:cNvSpPr/>
          <p:nvPr/>
        </p:nvSpPr>
        <p:spPr>
          <a:xfrm>
            <a:off x="7031736" y="3310128"/>
            <a:ext cx="237744" cy="237744"/>
          </a:xfrm>
          <a:prstGeom prst="ellipse">
            <a:avLst/>
          </a:prstGeom>
          <a:solidFill>
            <a:srgbClr val="1F8A7D"/>
          </a:solidFill>
          <a:ln w="25400">
            <a:solidFill>
              <a:srgbClr val="FFFFFF"/>
            </a:solidFill>
          </a:ln>
        </p:spPr>
        <p:txBody>
          <a:bodyPr wrap="square" rtlCol="0" anchor="ctr"/>
          <a:lstStyle/>
          <a:p>
            <a:pPr marL="0" indent="0">
              <a:buNone/>
            </a:pPr>
            <a:endParaRPr lang="en-US" dirty="0"/>
          </a:p>
        </p:txBody>
      </p:sp>
      <p:sp>
        <p:nvSpPr>
          <p:cNvPr id="19" name="a2_fade_1050_52"/>
          <p:cNvSpPr txBox="1"/>
          <p:nvPr/>
        </p:nvSpPr>
        <p:spPr>
          <a:xfrm>
            <a:off x="6711696" y="3639312"/>
            <a:ext cx="1965960" cy="274320"/>
          </a:xfrm>
          <a:prstGeom prst="rect">
            <a:avLst/>
          </a:prstGeom>
          <a:noFill/>
          <a:ln/>
        </p:spPr>
        <p:txBody>
          <a:bodyPr wrap="square" lIns="0" tIns="0" rIns="0" bIns="0" rtlCol="0" anchor="t"/>
          <a:lstStyle/>
          <a:p>
            <a:pPr marL="0" indent="0">
              <a:buNone/>
            </a:pPr>
            <a:r>
              <a:rPr lang="en-US" sz="1400" b="1" dirty="0">
                <a:solidFill>
                  <a:srgbClr val="1B2A49"/>
                </a:solidFill>
                <a:latin typeface="Cambria" pitchFamily="34" charset="0"/>
                <a:ea typeface="Cambria" pitchFamily="34" charset="-122"/>
                <a:cs typeface="Cambria" pitchFamily="34" charset="-120"/>
              </a:rPr>
              <a:t>Today</a:t>
            </a:r>
            <a:endParaRPr lang="en-US" sz="1400" dirty="0"/>
          </a:p>
        </p:txBody>
      </p:sp>
      <p:sp>
        <p:nvSpPr>
          <p:cNvPr id="20" name="a2_fade_1050_53"/>
          <p:cNvSpPr txBox="1"/>
          <p:nvPr/>
        </p:nvSpPr>
        <p:spPr>
          <a:xfrm>
            <a:off x="6711696" y="3931920"/>
            <a:ext cx="1965960" cy="548640"/>
          </a:xfrm>
          <a:prstGeom prst="rect">
            <a:avLst/>
          </a:prstGeom>
          <a:noFill/>
          <a:ln/>
        </p:spPr>
        <p:txBody>
          <a:bodyPr wrap="square" lIns="0" tIns="0" rIns="0" bIns="0" rtlCol="0" anchor="t"/>
          <a:lstStyle/>
          <a:p>
            <a:pPr marL="0" indent="0">
              <a:buNone/>
            </a:pPr>
            <a:r>
              <a:rPr lang="en-US" sz="1150" dirty="0">
                <a:solidFill>
                  <a:srgbClr val="5B6577"/>
                </a:solidFill>
                <a:latin typeface="Calibri" pitchFamily="34" charset="0"/>
                <a:ea typeface="Calibri" pitchFamily="34" charset="-122"/>
                <a:cs typeface="Calibri" pitchFamily="34" charset="-120"/>
              </a:rPr>
              <a:t>still a baseline and a teaching tool</a:t>
            </a:r>
            <a:endParaRPr lang="en-US" sz="1150" dirty="0"/>
          </a:p>
        </p:txBody>
      </p:sp>
      <p:sp>
        <p:nvSpPr>
          <p:cNvPr id="21" name="Text 18"/>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53" presetClass="entr" presetSubtype="16" fill="hold" grpId="0" nodeType="withEffect">
                                  <p:stCondLst>
                                    <p:cond delay="20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ppt_w</p:attrName>
                                        </p:attrNameLst>
                                      </p:cBhvr>
                                      <p:tavLst>
                                        <p:tav tm="0">
                                          <p:val>
                                            <p:fltVal val="0"/>
                                          </p:val>
                                        </p:tav>
                                        <p:tav tm="100000">
                                          <p:val>
                                            <p:strVal val="#ppt_w"/>
                                          </p:val>
                                        </p:tav>
                                      </p:tavLst>
                                    </p:anim>
                                    <p:anim calcmode="lin" valueType="num">
                                      <p:cBhvr additive="base">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10" presetClass="entr" presetSubtype="0" fill="hold" grpId="0" nodeType="withEffect">
                                  <p:stCondLst>
                                    <p:cond delay="3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53" presetClass="entr" presetSubtype="16" fill="hold" grpId="0" nodeType="withEffect">
                                  <p:stCondLst>
                                    <p:cond delay="45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ppt_w</p:attrName>
                                        </p:attrNameLst>
                                      </p:cBhvr>
                                      <p:tavLst>
                                        <p:tav tm="0">
                                          <p:val>
                                            <p:fltVal val="0"/>
                                          </p:val>
                                        </p:tav>
                                        <p:tav tm="100000">
                                          <p:val>
                                            <p:strVal val="#ppt_w"/>
                                          </p:val>
                                        </p:tav>
                                      </p:tavLst>
                                    </p:anim>
                                    <p:anim calcmode="lin" valueType="num">
                                      <p:cBhvr additive="base">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10" presetClass="entr" presetSubtype="0" fill="hold" grpId="0" nodeType="withEffect">
                                  <p:stCondLst>
                                    <p:cond delay="5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55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53" presetClass="entr" presetSubtype="16" fill="hold" grpId="0" nodeType="withEffect">
                                  <p:stCondLst>
                                    <p:cond delay="70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ppt_w</p:attrName>
                                        </p:attrNameLst>
                                      </p:cBhvr>
                                      <p:tavLst>
                                        <p:tav tm="0">
                                          <p:val>
                                            <p:fltVal val="0"/>
                                          </p:val>
                                        </p:tav>
                                        <p:tav tm="100000">
                                          <p:val>
                                            <p:strVal val="#ppt_w"/>
                                          </p:val>
                                        </p:tav>
                                      </p:tavLst>
                                    </p:anim>
                                    <p:anim calcmode="lin" valueType="num">
                                      <p:cBhvr additive="base">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par>
                                <p:cTn id="46" presetID="10" presetClass="entr" presetSubtype="0" fill="hold" grpId="0" nodeType="withEffect">
                                  <p:stCondLst>
                                    <p:cond delay="8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8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53" presetClass="entr" presetSubtype="16" fill="hold" grpId="0" nodeType="withEffect">
                                  <p:stCondLst>
                                    <p:cond delay="95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ppt_w</p:attrName>
                                        </p:attrNameLst>
                                      </p:cBhvr>
                                      <p:tavLst>
                                        <p:tav tm="0">
                                          <p:val>
                                            <p:fltVal val="0"/>
                                          </p:val>
                                        </p:tav>
                                        <p:tav tm="100000">
                                          <p:val>
                                            <p:strVal val="#ppt_w"/>
                                          </p:val>
                                        </p:tav>
                                      </p:tavLst>
                                    </p:anim>
                                    <p:anim calcmode="lin" valueType="num">
                                      <p:cBhvr additive="base">
                                        <p:cTn id="55" dur="500" fill="hold"/>
                                        <p:tgtEl>
                                          <p:spTgt spid="18"/>
                                        </p:tgtEl>
                                        <p:attrNameLst>
                                          <p:attrName>ppt_h</p:attrName>
                                        </p:attrNameLst>
                                      </p:cBhvr>
                                      <p:tavLst>
                                        <p:tav tm="0">
                                          <p:val>
                                            <p:fltVal val="0"/>
                                          </p:val>
                                        </p:tav>
                                        <p:tav tm="100000">
                                          <p:val>
                                            <p:strVal val="#ppt_h"/>
                                          </p:val>
                                        </p:tav>
                                      </p:tavLst>
                                    </p:anim>
                                    <p:animEffect transition="in" filter="fade">
                                      <p:cBhvr>
                                        <p:cTn id="56" dur="500"/>
                                        <p:tgtEl>
                                          <p:spTgt spid="18"/>
                                        </p:tgtEl>
                                      </p:cBhvr>
                                    </p:animEffect>
                                  </p:childTnLst>
                                </p:cTn>
                              </p:par>
                              <p:par>
                                <p:cTn id="57" presetID="10" presetClass="entr" presetSubtype="0" fill="hold" grpId="0" nodeType="withEffect">
                                  <p:stCondLst>
                                    <p:cond delay="105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105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1 · THE PROBLEM</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The ambiguity problem: polysemy</a:t>
            </a:r>
            <a:endParaRPr lang="en-US" sz="2800" dirty="0"/>
          </a:p>
        </p:txBody>
      </p:sp>
      <p:sp>
        <p:nvSpPr>
          <p:cNvPr id="5" name="a1_fade_0_54"/>
          <p:cNvSpPr/>
          <p:nvPr/>
        </p:nvSpPr>
        <p:spPr>
          <a:xfrm>
            <a:off x="457200" y="1188720"/>
            <a:ext cx="8229600" cy="731520"/>
          </a:xfrm>
          <a:prstGeom prst="roundRect">
            <a:avLst>
              <a:gd name="adj" fmla="val 15000"/>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r>
              <a:rPr lang="en-US" sz="1800" dirty="0">
                <a:solidFill>
                  <a:srgbClr val="22262E"/>
                </a:solidFill>
                <a:latin typeface="Calibri" pitchFamily="34" charset="0"/>
                <a:ea typeface="Calibri" pitchFamily="34" charset="-122"/>
                <a:cs typeface="Calibri" pitchFamily="34" charset="-120"/>
              </a:rPr>
              <a:t>The bank can </a:t>
            </a:r>
            <a:r>
              <a:rPr lang="en-US" sz="1800" b="1" dirty="0">
                <a:solidFill>
                  <a:srgbClr val="22262E"/>
                </a:solidFill>
                <a:highlight>
                  <a:srgbClr val="FFD970"/>
                </a:highlight>
                <a:latin typeface="Calibri" pitchFamily="34" charset="0"/>
                <a:ea typeface="Calibri" pitchFamily="34" charset="-122"/>
                <a:cs typeface="Calibri" pitchFamily="34" charset="-120"/>
              </a:rPr>
              <a:t>guarantee</a:t>
            </a:r>
            <a:r>
              <a:rPr lang="en-US" sz="1800" dirty="0">
                <a:solidFill>
                  <a:srgbClr val="22262E"/>
                </a:solidFill>
                <a:latin typeface="Calibri" pitchFamily="34" charset="0"/>
                <a:ea typeface="Calibri" pitchFamily="34" charset="-122"/>
                <a:cs typeface="Calibri" pitchFamily="34" charset="-120"/>
              </a:rPr>
              <a:t> </a:t>
            </a:r>
            <a:r>
              <a:rPr lang="en-US" sz="1800" b="1" dirty="0">
                <a:solidFill>
                  <a:srgbClr val="22262E"/>
                </a:solidFill>
                <a:highlight>
                  <a:srgbClr val="FFD970"/>
                </a:highlight>
                <a:latin typeface="Calibri" pitchFamily="34" charset="0"/>
                <a:ea typeface="Calibri" pitchFamily="34" charset="-122"/>
                <a:cs typeface="Calibri" pitchFamily="34" charset="-120"/>
              </a:rPr>
              <a:t>deposits</a:t>
            </a:r>
            <a:r>
              <a:rPr lang="en-US" sz="1800" dirty="0">
                <a:solidFill>
                  <a:srgbClr val="22262E"/>
                </a:solidFill>
                <a:latin typeface="Calibri" pitchFamily="34" charset="0"/>
                <a:ea typeface="Calibri" pitchFamily="34" charset="-122"/>
                <a:cs typeface="Calibri" pitchFamily="34" charset="-120"/>
              </a:rPr>
              <a:t> will eventually cover all </a:t>
            </a:r>
            <a:r>
              <a:rPr lang="en-US" sz="1800" b="1" dirty="0">
                <a:solidFill>
                  <a:srgbClr val="22262E"/>
                </a:solidFill>
                <a:highlight>
                  <a:srgbClr val="FFD970"/>
                </a:highlight>
                <a:latin typeface="Calibri" pitchFamily="34" charset="0"/>
                <a:ea typeface="Calibri" pitchFamily="34" charset="-122"/>
                <a:cs typeface="Calibri" pitchFamily="34" charset="-120"/>
              </a:rPr>
              <a:t>losses</a:t>
            </a:r>
            <a:r>
              <a:rPr lang="en-US" sz="1800" dirty="0">
                <a:solidFill>
                  <a:srgbClr val="22262E"/>
                </a:solidFill>
                <a:latin typeface="Calibri" pitchFamily="34" charset="0"/>
                <a:ea typeface="Calibri" pitchFamily="34" charset="-122"/>
                <a:cs typeface="Calibri" pitchFamily="34" charset="-120"/>
              </a:rPr>
              <a:t>.</a:t>
            </a:r>
            <a:endParaRPr lang="en-US" sz="1800" dirty="0"/>
          </a:p>
        </p:txBody>
      </p:sp>
      <p:sp>
        <p:nvSpPr>
          <p:cNvPr id="6" name="a1_fade_300_55"/>
          <p:cNvSpPr txBox="1"/>
          <p:nvPr/>
        </p:nvSpPr>
        <p:spPr>
          <a:xfrm>
            <a:off x="457200" y="2011680"/>
            <a:ext cx="8229600" cy="274320"/>
          </a:xfrm>
          <a:prstGeom prst="rect">
            <a:avLst/>
          </a:prstGeom>
          <a:noFill/>
          <a:ln/>
        </p:spPr>
        <p:txBody>
          <a:bodyPr wrap="square" lIns="0" tIns="0" rIns="0" bIns="0" rtlCol="0" anchor="t"/>
          <a:lstStyle/>
          <a:p>
            <a:pPr marL="0" indent="0">
              <a:buNone/>
            </a:pPr>
            <a:r>
              <a:rPr lang="en-US" sz="1250" i="1" dirty="0">
                <a:solidFill>
                  <a:srgbClr val="5B6577"/>
                </a:solidFill>
                <a:latin typeface="Calibri" pitchFamily="34" charset="0"/>
                <a:ea typeface="Calibri" pitchFamily="34" charset="-122"/>
                <a:cs typeface="Calibri" pitchFamily="34" charset="-120"/>
              </a:rPr>
              <a:t>A reader picks “financial institution” at once, because three cue words point to finance.</a:t>
            </a:r>
            <a:endParaRPr lang="en-US" sz="1250" dirty="0"/>
          </a:p>
        </p:txBody>
      </p:sp>
      <p:sp>
        <p:nvSpPr>
          <p:cNvPr id="7" name="a2_fade_0_56"/>
          <p:cNvSpPr txBox="1"/>
          <p:nvPr/>
        </p:nvSpPr>
        <p:spPr>
          <a:xfrm>
            <a:off x="457200" y="2468880"/>
            <a:ext cx="3657600" cy="274320"/>
          </a:xfrm>
          <a:prstGeom prst="rect">
            <a:avLst/>
          </a:prstGeom>
          <a:noFill/>
          <a:ln/>
        </p:spPr>
        <p:txBody>
          <a:bodyPr wrap="square" lIns="0" tIns="0" rIns="0" bIns="0" rtlCol="0" anchor="t"/>
          <a:lstStyle/>
          <a:p>
            <a:pPr marL="0" indent="0">
              <a:buNone/>
            </a:pPr>
            <a:r>
              <a:rPr lang="en-US" sz="1500" b="1" dirty="0">
                <a:solidFill>
                  <a:srgbClr val="1F8A7D"/>
                </a:solidFill>
                <a:latin typeface="Cambria" pitchFamily="34" charset="0"/>
                <a:ea typeface="Cambria" pitchFamily="34" charset="-122"/>
                <a:cs typeface="Cambria" pitchFamily="34" charset="-120"/>
              </a:rPr>
              <a:t>One word, many senses</a:t>
            </a:r>
            <a:endParaRPr lang="en-US" sz="1500" dirty="0"/>
          </a:p>
        </p:txBody>
      </p:sp>
      <p:sp>
        <p:nvSpPr>
          <p:cNvPr id="8" name="a2_fly_0_57"/>
          <p:cNvSpPr/>
          <p:nvPr/>
        </p:nvSpPr>
        <p:spPr>
          <a:xfrm>
            <a:off x="457200" y="2788920"/>
            <a:ext cx="1005840" cy="365760"/>
          </a:xfrm>
          <a:prstGeom prst="roundRect">
            <a:avLst>
              <a:gd name="adj" fmla="val 30000"/>
            </a:avLst>
          </a:prstGeom>
          <a:solidFill>
            <a:srgbClr val="1B2A49"/>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bank</a:t>
            </a:r>
            <a:endParaRPr lang="en-US" sz="1300" dirty="0"/>
          </a:p>
        </p:txBody>
      </p:sp>
      <p:sp>
        <p:nvSpPr>
          <p:cNvPr id="9" name="a2_fade_100_58"/>
          <p:cNvSpPr txBox="1"/>
          <p:nvPr/>
        </p:nvSpPr>
        <p:spPr>
          <a:xfrm>
            <a:off x="1600200" y="2807208"/>
            <a:ext cx="3840480" cy="329184"/>
          </a:xfrm>
          <a:prstGeom prst="rect">
            <a:avLst/>
          </a:prstGeom>
          <a:noFill/>
          <a:ln/>
        </p:spPr>
        <p:txBody>
          <a:bodyPr wrap="square" lIns="0" tIns="0" rIns="0" bIns="0" rtlCol="0" anchor="ctr"/>
          <a:lstStyle/>
          <a:p>
            <a:pPr marL="0" indent="0">
              <a:buNone/>
            </a:pPr>
            <a:r>
              <a:rPr lang="en-US" sz="1250" dirty="0">
                <a:solidFill>
                  <a:srgbClr val="22262E"/>
                </a:solidFill>
                <a:latin typeface="Calibri" pitchFamily="34" charset="0"/>
                <a:ea typeface="Calibri" pitchFamily="34" charset="-122"/>
                <a:cs typeface="Calibri" pitchFamily="34" charset="-120"/>
              </a:rPr>
              <a:t>financial institution · river edge · aircraft turn · pool shot</a:t>
            </a:r>
            <a:endParaRPr lang="en-US" sz="1250" dirty="0"/>
          </a:p>
        </p:txBody>
      </p:sp>
      <p:sp>
        <p:nvSpPr>
          <p:cNvPr id="10" name="a2_fly_200_59"/>
          <p:cNvSpPr/>
          <p:nvPr/>
        </p:nvSpPr>
        <p:spPr>
          <a:xfrm>
            <a:off x="457200" y="3246120"/>
            <a:ext cx="1005840" cy="365760"/>
          </a:xfrm>
          <a:prstGeom prst="roundRect">
            <a:avLst>
              <a:gd name="adj" fmla="val 30000"/>
            </a:avLst>
          </a:prstGeom>
          <a:solidFill>
            <a:srgbClr val="1B2A49"/>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interest</a:t>
            </a:r>
            <a:endParaRPr lang="en-US" sz="1300" dirty="0"/>
          </a:p>
        </p:txBody>
      </p:sp>
      <p:sp>
        <p:nvSpPr>
          <p:cNvPr id="11" name="a2_fade_300_60"/>
          <p:cNvSpPr txBox="1"/>
          <p:nvPr/>
        </p:nvSpPr>
        <p:spPr>
          <a:xfrm>
            <a:off x="1600200" y="3264408"/>
            <a:ext cx="3840480" cy="329184"/>
          </a:xfrm>
          <a:prstGeom prst="rect">
            <a:avLst/>
          </a:prstGeom>
          <a:noFill/>
          <a:ln/>
        </p:spPr>
        <p:txBody>
          <a:bodyPr wrap="square" lIns="0" tIns="0" rIns="0" bIns="0" rtlCol="0" anchor="ctr"/>
          <a:lstStyle/>
          <a:p>
            <a:pPr marL="0" indent="0">
              <a:buNone/>
            </a:pPr>
            <a:r>
              <a:rPr lang="en-US" sz="1250" dirty="0">
                <a:solidFill>
                  <a:srgbClr val="22262E"/>
                </a:solidFill>
                <a:latin typeface="Calibri" pitchFamily="34" charset="0"/>
                <a:ea typeface="Calibri" pitchFamily="34" charset="-122"/>
                <a:cs typeface="Calibri" pitchFamily="34" charset="-120"/>
              </a:rPr>
              <a:t>curiosity · percentage rate</a:t>
            </a:r>
            <a:endParaRPr lang="en-US" sz="1250" dirty="0"/>
          </a:p>
        </p:txBody>
      </p:sp>
      <p:sp>
        <p:nvSpPr>
          <p:cNvPr id="12" name="a2_fly_400_61"/>
          <p:cNvSpPr/>
          <p:nvPr/>
        </p:nvSpPr>
        <p:spPr>
          <a:xfrm>
            <a:off x="457200" y="3703320"/>
            <a:ext cx="1005840" cy="365760"/>
          </a:xfrm>
          <a:prstGeom prst="roundRect">
            <a:avLst>
              <a:gd name="adj" fmla="val 30000"/>
            </a:avLst>
          </a:prstGeom>
          <a:solidFill>
            <a:srgbClr val="1B2A49"/>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lead</a:t>
            </a:r>
            <a:endParaRPr lang="en-US" sz="1300" dirty="0"/>
          </a:p>
        </p:txBody>
      </p:sp>
      <p:sp>
        <p:nvSpPr>
          <p:cNvPr id="13" name="a2_fade_500_62"/>
          <p:cNvSpPr txBox="1"/>
          <p:nvPr/>
        </p:nvSpPr>
        <p:spPr>
          <a:xfrm>
            <a:off x="1600200" y="3721608"/>
            <a:ext cx="3840480" cy="329184"/>
          </a:xfrm>
          <a:prstGeom prst="rect">
            <a:avLst/>
          </a:prstGeom>
          <a:noFill/>
          <a:ln/>
        </p:spPr>
        <p:txBody>
          <a:bodyPr wrap="square" lIns="0" tIns="0" rIns="0" bIns="0" rtlCol="0" anchor="ctr"/>
          <a:lstStyle/>
          <a:p>
            <a:pPr marL="0" indent="0">
              <a:buNone/>
            </a:pPr>
            <a:r>
              <a:rPr lang="en-US" sz="1250" dirty="0">
                <a:solidFill>
                  <a:srgbClr val="22262E"/>
                </a:solidFill>
                <a:latin typeface="Calibri" pitchFamily="34" charset="0"/>
                <a:ea typeface="Calibri" pitchFamily="34" charset="-122"/>
                <a:cs typeface="Calibri" pitchFamily="34" charset="-120"/>
              </a:rPr>
              <a:t>to guide · the metal (two pronunciations)</a:t>
            </a:r>
            <a:endParaRPr lang="en-US" sz="1250" dirty="0"/>
          </a:p>
        </p:txBody>
      </p:sp>
      <p:sp>
        <p:nvSpPr>
          <p:cNvPr id="14" name="a2_fly_600_63"/>
          <p:cNvSpPr/>
          <p:nvPr/>
        </p:nvSpPr>
        <p:spPr>
          <a:xfrm>
            <a:off x="457200" y="4160520"/>
            <a:ext cx="1005840" cy="365760"/>
          </a:xfrm>
          <a:prstGeom prst="roundRect">
            <a:avLst>
              <a:gd name="adj" fmla="val 30000"/>
            </a:avLst>
          </a:prstGeom>
          <a:solidFill>
            <a:srgbClr val="1B2A49"/>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Java</a:t>
            </a:r>
            <a:endParaRPr lang="en-US" sz="1300" dirty="0"/>
          </a:p>
        </p:txBody>
      </p:sp>
      <p:sp>
        <p:nvSpPr>
          <p:cNvPr id="15" name="a2_fade_700_64"/>
          <p:cNvSpPr txBox="1"/>
          <p:nvPr/>
        </p:nvSpPr>
        <p:spPr>
          <a:xfrm>
            <a:off x="1600200" y="4178808"/>
            <a:ext cx="3840480" cy="329184"/>
          </a:xfrm>
          <a:prstGeom prst="rect">
            <a:avLst/>
          </a:prstGeom>
          <a:noFill/>
          <a:ln/>
        </p:spPr>
        <p:txBody>
          <a:bodyPr wrap="square" lIns="0" tIns="0" rIns="0" bIns="0" rtlCol="0" anchor="ctr"/>
          <a:lstStyle/>
          <a:p>
            <a:pPr marL="0" indent="0">
              <a:buNone/>
            </a:pPr>
            <a:r>
              <a:rPr lang="en-US" sz="1250" dirty="0">
                <a:solidFill>
                  <a:srgbClr val="22262E"/>
                </a:solidFill>
                <a:latin typeface="Calibri" pitchFamily="34" charset="0"/>
                <a:ea typeface="Calibri" pitchFamily="34" charset="-122"/>
                <a:cs typeface="Calibri" pitchFamily="34" charset="-120"/>
              </a:rPr>
              <a:t>language · island · coffee</a:t>
            </a:r>
            <a:endParaRPr lang="en-US" sz="1250" dirty="0"/>
          </a:p>
        </p:txBody>
      </p:sp>
      <p:sp>
        <p:nvSpPr>
          <p:cNvPr id="16" name="a3_wipe_0_65"/>
          <p:cNvSpPr/>
          <p:nvPr/>
        </p:nvSpPr>
        <p:spPr>
          <a:xfrm>
            <a:off x="5669280" y="2468880"/>
            <a:ext cx="3017520" cy="2011680"/>
          </a:xfrm>
          <a:prstGeom prst="roundRect">
            <a:avLst>
              <a:gd name="adj" fmla="val 5455"/>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How big is it?</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WordNet 3.0 lists 10 noun senses of “bank”; some dictionaries give a dozen or more. English has hundreds of thousands of polysemous words, and ambiguity is the most pervasive obstacle to machine understanding.</a:t>
            </a:r>
            <a:endParaRPr lang="en-US" sz="1200" dirty="0"/>
          </a:p>
        </p:txBody>
      </p:sp>
      <p:sp>
        <p:nvSpPr>
          <p:cNvPr id="17" name="Text 14"/>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10" presetClass="entr" presetSubtype="0" fill="hold" grpId="0" nodeType="withEffect">
                                  <p:stCondLst>
                                    <p:cond delay="1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2" presetClass="entr" presetSubtype="4" fill="hold" grpId="0" nodeType="withEffect">
                                  <p:stCondLst>
                                    <p:cond delay="20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10" presetClass="entr" presetSubtype="0" fill="hold" grpId="0" nodeType="withEffect">
                                  <p:stCondLst>
                                    <p:cond delay="30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2" presetClass="entr" presetSubtype="4" fill="hold" grpId="0" nodeType="withEffect">
                                  <p:stCondLst>
                                    <p:cond delay="40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ppt_x"/>
                                          </p:val>
                                        </p:tav>
                                        <p:tav tm="100000">
                                          <p:val>
                                            <p:strVal val="#ppt_x"/>
                                          </p:val>
                                        </p:tav>
                                      </p:tavLst>
                                    </p:anim>
                                    <p:anim calcmode="lin" valueType="num">
                                      <p:cBhvr additive="base">
                                        <p:cTn id="33" dur="500" fill="hold"/>
                                        <p:tgtEl>
                                          <p:spTgt spid="12"/>
                                        </p:tgtEl>
                                        <p:attrNameLst>
                                          <p:attrName>ppt_y</p:attrName>
                                        </p:attrNameLst>
                                      </p:cBhvr>
                                      <p:tavLst>
                                        <p:tav tm="0">
                                          <p:val>
                                            <p:strVal val="1+#ppt_h/2"/>
                                          </p:val>
                                        </p:tav>
                                        <p:tav tm="100000">
                                          <p:val>
                                            <p:strVal val="#ppt_y"/>
                                          </p:val>
                                        </p:tav>
                                      </p:tavLst>
                                    </p:anim>
                                  </p:childTnLst>
                                </p:cTn>
                              </p:par>
                              <p:par>
                                <p:cTn id="34" presetID="10" presetClass="entr" presetSubtype="0" fill="hold" grpId="0" nodeType="withEffect">
                                  <p:stCondLst>
                                    <p:cond delay="5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2" presetClass="entr" presetSubtype="4" fill="hold" grpId="0" nodeType="withEffect">
                                  <p:stCondLst>
                                    <p:cond delay="60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10" presetClass="entr" presetSubtype="0" fill="hold" grpId="0" nodeType="withEffect">
                                  <p:stCondLst>
                                    <p:cond delay="7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1 · THE PROBLEM</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Why earlier approaches fell short</a:t>
            </a:r>
            <a:endParaRPr lang="en-US" sz="2800" dirty="0"/>
          </a:p>
        </p:txBody>
      </p:sp>
      <p:sp>
        <p:nvSpPr>
          <p:cNvPr id="5" name="a1_wipe_0_66"/>
          <p:cNvSpPr/>
          <p:nvPr/>
        </p:nvSpPr>
        <p:spPr>
          <a:xfrm>
            <a:off x="457200" y="1188720"/>
            <a:ext cx="4023360" cy="1417320"/>
          </a:xfrm>
          <a:prstGeom prst="roundRect">
            <a:avLst>
              <a:gd name="adj" fmla="val 7742"/>
            </a:avLst>
          </a:prstGeom>
          <a:solidFill>
            <a:srgbClr val="FDE6E1"/>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Hand-written rules</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“If bank is near money, choose finance.” Brittle and labour-intensive; hundreds of thousands of polysemous words cannot each get rules. Clues may be sentences away or arise from several words together.</a:t>
            </a:r>
            <a:endParaRPr lang="en-US" sz="1200" dirty="0"/>
          </a:p>
        </p:txBody>
      </p:sp>
      <p:sp>
        <p:nvSpPr>
          <p:cNvPr id="6" name="a1_wipe_300_67"/>
          <p:cNvSpPr/>
          <p:nvPr/>
        </p:nvSpPr>
        <p:spPr>
          <a:xfrm>
            <a:off x="457200" y="2743200"/>
            <a:ext cx="4023360" cy="1417320"/>
          </a:xfrm>
          <a:prstGeom prst="roundRect">
            <a:avLst>
              <a:gd name="adj" fmla="val 7742"/>
            </a:avLst>
          </a:prstGeom>
          <a:solidFill>
            <a:srgbClr val="FDE6E1"/>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Syntactic / selectional filters</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Rule out impossible readings (“eat” wants an edible object). But “The bank issued new bonds” is grammatical for both senses, so nothing is filtered.</a:t>
            </a:r>
            <a:endParaRPr lang="en-US" sz="1200" dirty="0"/>
          </a:p>
        </p:txBody>
      </p:sp>
      <p:sp>
        <p:nvSpPr>
          <p:cNvPr id="7" name="a2_fade_0_68"/>
          <p:cNvSpPr txBox="1"/>
          <p:nvPr/>
        </p:nvSpPr>
        <p:spPr>
          <a:xfrm>
            <a:off x="4754880" y="1143000"/>
            <a:ext cx="3931920" cy="274320"/>
          </a:xfrm>
          <a:prstGeom prst="rect">
            <a:avLst/>
          </a:prstGeom>
          <a:noFill/>
          <a:ln/>
        </p:spPr>
        <p:txBody>
          <a:bodyPr wrap="square" lIns="0" tIns="0" rIns="0" bIns="0" rtlCol="0" anchor="t"/>
          <a:lstStyle/>
          <a:p>
            <a:pPr marL="0" indent="0">
              <a:buNone/>
            </a:pPr>
            <a:r>
              <a:rPr lang="en-US" sz="1500" b="1" dirty="0">
                <a:solidFill>
                  <a:srgbClr val="1F8A7D"/>
                </a:solidFill>
                <a:latin typeface="Cambria" pitchFamily="34" charset="0"/>
                <a:ea typeface="Cambria" pitchFamily="34" charset="-122"/>
                <a:cs typeface="Cambria" pitchFamily="34" charset="-120"/>
              </a:rPr>
              <a:t>What wrong senses broke</a:t>
            </a:r>
            <a:endParaRPr lang="en-US" sz="1500" dirty="0"/>
          </a:p>
        </p:txBody>
      </p:sp>
      <p:sp>
        <p:nvSpPr>
          <p:cNvPr id="8" name="a2_fly_0_69"/>
          <p:cNvSpPr/>
          <p:nvPr/>
        </p:nvSpPr>
        <p:spPr>
          <a:xfrm>
            <a:off x="4754880" y="1508760"/>
            <a:ext cx="3931920" cy="566928"/>
          </a:xfrm>
          <a:prstGeom prst="roundRect">
            <a:avLst>
              <a:gd name="adj" fmla="val 19355"/>
            </a:avLst>
          </a:prstGeom>
          <a:solidFill>
            <a:srgbClr val="F2F4F8"/>
          </a:solidFill>
          <a:ln/>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Machine translation</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wrong word sense, wrong translation</a:t>
            </a:r>
            <a:endParaRPr lang="en-US" sz="1150" dirty="0"/>
          </a:p>
        </p:txBody>
      </p:sp>
      <p:sp>
        <p:nvSpPr>
          <p:cNvPr id="9" name="a2_fly_200_70"/>
          <p:cNvSpPr/>
          <p:nvPr/>
        </p:nvSpPr>
        <p:spPr>
          <a:xfrm>
            <a:off x="4754880" y="2148840"/>
            <a:ext cx="3931920" cy="566928"/>
          </a:xfrm>
          <a:prstGeom prst="roundRect">
            <a:avLst>
              <a:gd name="adj" fmla="val 19355"/>
            </a:avLst>
          </a:prstGeom>
          <a:solidFill>
            <a:srgbClr val="F2F4F8"/>
          </a:solidFill>
          <a:ln/>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Information retrieval</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irrelevant documents returned</a:t>
            </a:r>
            <a:endParaRPr lang="en-US" sz="1150" dirty="0"/>
          </a:p>
        </p:txBody>
      </p:sp>
      <p:sp>
        <p:nvSpPr>
          <p:cNvPr id="10" name="a2_fly_400_71"/>
          <p:cNvSpPr/>
          <p:nvPr/>
        </p:nvSpPr>
        <p:spPr>
          <a:xfrm>
            <a:off x="4754880" y="2788920"/>
            <a:ext cx="3931920" cy="566928"/>
          </a:xfrm>
          <a:prstGeom prst="roundRect">
            <a:avLst>
              <a:gd name="adj" fmla="val 19355"/>
            </a:avLst>
          </a:prstGeom>
          <a:solidFill>
            <a:srgbClr val="F2F4F8"/>
          </a:solidFill>
          <a:ln/>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Text-to-speech</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wrong pronunciation of heteronyms (lead)</a:t>
            </a:r>
            <a:endParaRPr lang="en-US" sz="1150" dirty="0"/>
          </a:p>
        </p:txBody>
      </p:sp>
      <p:sp>
        <p:nvSpPr>
          <p:cNvPr id="11" name="a2_fly_600_72"/>
          <p:cNvSpPr/>
          <p:nvPr/>
        </p:nvSpPr>
        <p:spPr>
          <a:xfrm>
            <a:off x="4754880" y="3429000"/>
            <a:ext cx="3931920" cy="566928"/>
          </a:xfrm>
          <a:prstGeom prst="roundRect">
            <a:avLst>
              <a:gd name="adj" fmla="val 19355"/>
            </a:avLst>
          </a:prstGeom>
          <a:solidFill>
            <a:srgbClr val="F2F4F8"/>
          </a:solidFill>
          <a:ln/>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Question answering</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nonsensical answers from misread words</a:t>
            </a:r>
            <a:endParaRPr lang="en-US" sz="1150" dirty="0"/>
          </a:p>
        </p:txBody>
      </p:sp>
      <p:sp>
        <p:nvSpPr>
          <p:cNvPr id="12" name="a3_zoom_0_73"/>
          <p:cNvSpPr/>
          <p:nvPr/>
        </p:nvSpPr>
        <p:spPr>
          <a:xfrm>
            <a:off x="457200" y="4297680"/>
            <a:ext cx="8229600" cy="457200"/>
          </a:xfrm>
          <a:prstGeom prst="roundRect">
            <a:avLst>
              <a:gd name="adj" fmla="val 24000"/>
            </a:avLst>
          </a:prstGeom>
          <a:solidFill>
            <a:srgbClr val="1B2A49"/>
          </a:solidFill>
          <a:ln/>
        </p:spPr>
        <p:txBody>
          <a:bodyPr wrap="square" lIns="76810" tIns="128016" rIns="128016" bIns="7681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Needed: a </a:t>
            </a:r>
            <a:r>
              <a:rPr lang="en-US" sz="1300" b="1" dirty="0">
                <a:solidFill>
                  <a:srgbClr val="FFFFFF"/>
                </a:solidFill>
                <a:latin typeface="Calibri" pitchFamily="34" charset="0"/>
                <a:ea typeface="Calibri" pitchFamily="34" charset="-122"/>
                <a:cs typeface="Calibri" pitchFamily="34" charset="-120"/>
              </a:rPr>
              <a:t>positive</a:t>
            </a:r>
            <a:r>
              <a:rPr lang="en-US" sz="1300" dirty="0">
                <a:solidFill>
                  <a:srgbClr val="FFFFFF"/>
                </a:solidFill>
                <a:latin typeface="Calibri" pitchFamily="34" charset="0"/>
                <a:ea typeface="Calibri" pitchFamily="34" charset="-122"/>
                <a:cs typeface="Calibri" pitchFamily="34" charset="-120"/>
              </a:rPr>
              <a:t> method that picks the most plausible sense from the full contextual evidence.</a:t>
            </a:r>
            <a:endParaRPr lang="en-US" sz="1300"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20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4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60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ppt_w</p:attrName>
                                        </p:attrNameLst>
                                      </p:cBhvr>
                                      <p:tavLst>
                                        <p:tav tm="0">
                                          <p:val>
                                            <p:fltVal val="0"/>
                                          </p:val>
                                        </p:tav>
                                        <p:tav tm="100000">
                                          <p:val>
                                            <p:strVal val="#ppt_w"/>
                                          </p:val>
                                        </p:tav>
                                      </p:tavLst>
                                    </p:anim>
                                    <p:anim calcmode="lin" valueType="num">
                                      <p:cBhvr additive="base">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B2A49"/>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F4A300"/>
                </a:solidFill>
                <a:latin typeface="Calibri" pitchFamily="34" charset="0"/>
                <a:ea typeface="Calibri" pitchFamily="34" charset="-122"/>
                <a:cs typeface="Calibri" pitchFamily="34" charset="-120"/>
              </a:rPr>
              <a:t>PART 2 · THE SOLUTION</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Dictionary definitions are semantic fingerprints</a:t>
            </a:r>
            <a:endParaRPr lang="en-US" sz="2600" dirty="0"/>
          </a:p>
        </p:txBody>
      </p:sp>
      <p:sp>
        <p:nvSpPr>
          <p:cNvPr id="5" name="a1_wipe_0_74"/>
          <p:cNvSpPr/>
          <p:nvPr/>
        </p:nvSpPr>
        <p:spPr>
          <a:xfrm>
            <a:off x="457200" y="1188720"/>
            <a:ext cx="4023360" cy="2011680"/>
          </a:xfrm>
          <a:prstGeom prst="roundRect">
            <a:avLst>
              <a:gd name="adj" fmla="val 5455"/>
            </a:avLst>
          </a:prstGeom>
          <a:solidFill>
            <a:srgbClr val="27385F"/>
          </a:solidFill>
          <a:ln/>
        </p:spPr>
        <p:txBody>
          <a:bodyPr wrap="square" lIns="76810" tIns="128016" rIns="128016" bIns="76810" rtlCol="0" anchor="ctr"/>
          <a:lstStyle/>
          <a:p>
            <a:pPr marL="0" indent="0" algn="l">
              <a:buNone/>
            </a:pPr>
            <a:endParaRPr lang="en-US" sz="1300" dirty="0"/>
          </a:p>
        </p:txBody>
      </p:sp>
      <p:sp>
        <p:nvSpPr>
          <p:cNvPr id="6" name="a1_fade_150_75"/>
          <p:cNvSpPr txBox="1"/>
          <p:nvPr/>
        </p:nvSpPr>
        <p:spPr>
          <a:xfrm>
            <a:off x="640080" y="1280160"/>
            <a:ext cx="3657600" cy="320040"/>
          </a:xfrm>
          <a:prstGeom prst="rect">
            <a:avLst/>
          </a:prstGeom>
          <a:noFill/>
          <a:ln/>
        </p:spPr>
        <p:txBody>
          <a:bodyPr wrap="square" lIns="0" tIns="0" rIns="0" bIns="0" rtlCol="0" anchor="t"/>
          <a:lstStyle/>
          <a:p>
            <a:pPr marL="0" indent="0">
              <a:buNone/>
            </a:pPr>
            <a:r>
              <a:rPr lang="en-US" sz="1600" b="1" dirty="0">
                <a:solidFill>
                  <a:srgbClr val="7FD6CB"/>
                </a:solidFill>
                <a:latin typeface="Cambria" pitchFamily="34" charset="0"/>
                <a:ea typeface="Cambria" pitchFamily="34" charset="-122"/>
                <a:cs typeface="Cambria" pitchFamily="34" charset="-120"/>
              </a:rPr>
              <a:t>bank  (financial)</a:t>
            </a:r>
            <a:endParaRPr lang="en-US" sz="1600" dirty="0"/>
          </a:p>
        </p:txBody>
      </p:sp>
      <p:sp>
        <p:nvSpPr>
          <p:cNvPr id="7" name="a1_zoom_300_76"/>
          <p:cNvSpPr/>
          <p:nvPr/>
        </p:nvSpPr>
        <p:spPr>
          <a:xfrm>
            <a:off x="640080" y="1737360"/>
            <a:ext cx="723748" cy="299593"/>
          </a:xfrm>
          <a:prstGeom prst="roundRect">
            <a:avLst>
              <a:gd name="adj" fmla="val 36626"/>
            </a:avLst>
          </a:prstGeom>
          <a:solidFill>
            <a:srgbClr val="1F8A7D"/>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money</a:t>
            </a:r>
            <a:endParaRPr lang="en-US" sz="1150" dirty="0"/>
          </a:p>
        </p:txBody>
      </p:sp>
      <p:sp>
        <p:nvSpPr>
          <p:cNvPr id="8" name="a1_zoom_450_77"/>
          <p:cNvSpPr/>
          <p:nvPr/>
        </p:nvSpPr>
        <p:spPr>
          <a:xfrm>
            <a:off x="1409548" y="1737360"/>
            <a:ext cx="896203" cy="299593"/>
          </a:xfrm>
          <a:prstGeom prst="roundRect">
            <a:avLst>
              <a:gd name="adj" fmla="val 36626"/>
            </a:avLst>
          </a:prstGeom>
          <a:solidFill>
            <a:srgbClr val="1F8A7D"/>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account</a:t>
            </a:r>
            <a:endParaRPr lang="en-US" sz="1150" dirty="0"/>
          </a:p>
        </p:txBody>
      </p:sp>
      <p:sp>
        <p:nvSpPr>
          <p:cNvPr id="9" name="a1_zoom_600_78"/>
          <p:cNvSpPr/>
          <p:nvPr/>
        </p:nvSpPr>
        <p:spPr>
          <a:xfrm>
            <a:off x="2351471" y="1737360"/>
            <a:ext cx="896203" cy="299593"/>
          </a:xfrm>
          <a:prstGeom prst="roundRect">
            <a:avLst>
              <a:gd name="adj" fmla="val 36626"/>
            </a:avLst>
          </a:prstGeom>
          <a:solidFill>
            <a:srgbClr val="1F8A7D"/>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deposit</a:t>
            </a:r>
            <a:endParaRPr lang="en-US" sz="1150" dirty="0"/>
          </a:p>
        </p:txBody>
      </p:sp>
      <p:sp>
        <p:nvSpPr>
          <p:cNvPr id="10" name="a1_zoom_750_79"/>
          <p:cNvSpPr/>
          <p:nvPr/>
        </p:nvSpPr>
        <p:spPr>
          <a:xfrm>
            <a:off x="3293394" y="1737360"/>
            <a:ext cx="637520" cy="299593"/>
          </a:xfrm>
          <a:prstGeom prst="roundRect">
            <a:avLst>
              <a:gd name="adj" fmla="val 36626"/>
            </a:avLst>
          </a:prstGeom>
          <a:solidFill>
            <a:srgbClr val="1F8A7D"/>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loan</a:t>
            </a:r>
            <a:endParaRPr lang="en-US" sz="1150" dirty="0"/>
          </a:p>
        </p:txBody>
      </p:sp>
      <p:sp>
        <p:nvSpPr>
          <p:cNvPr id="11" name="a1_zoom_900_80"/>
          <p:cNvSpPr/>
          <p:nvPr/>
        </p:nvSpPr>
        <p:spPr>
          <a:xfrm>
            <a:off x="640080" y="2100961"/>
            <a:ext cx="809976" cy="299593"/>
          </a:xfrm>
          <a:prstGeom prst="roundRect">
            <a:avLst>
              <a:gd name="adj" fmla="val 36626"/>
            </a:avLst>
          </a:prstGeom>
          <a:solidFill>
            <a:srgbClr val="1F8A7D"/>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credit</a:t>
            </a:r>
            <a:endParaRPr lang="en-US" sz="1150" dirty="0"/>
          </a:p>
        </p:txBody>
      </p:sp>
      <p:sp>
        <p:nvSpPr>
          <p:cNvPr id="12" name="a1_fade_900_81"/>
          <p:cNvSpPr txBox="1"/>
          <p:nvPr/>
        </p:nvSpPr>
        <p:spPr>
          <a:xfrm>
            <a:off x="640080" y="2651760"/>
            <a:ext cx="3657600" cy="5029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Fingerprint words a lexicographer uses to define the money sense.</a:t>
            </a:r>
            <a:endParaRPr lang="en-US" sz="1200" dirty="0"/>
          </a:p>
        </p:txBody>
      </p:sp>
      <p:sp>
        <p:nvSpPr>
          <p:cNvPr id="13" name="a1_wipe_250_82"/>
          <p:cNvSpPr/>
          <p:nvPr/>
        </p:nvSpPr>
        <p:spPr>
          <a:xfrm>
            <a:off x="4663440" y="1188720"/>
            <a:ext cx="4023360" cy="2011680"/>
          </a:xfrm>
          <a:prstGeom prst="roundRect">
            <a:avLst>
              <a:gd name="adj" fmla="val 5455"/>
            </a:avLst>
          </a:prstGeom>
          <a:solidFill>
            <a:srgbClr val="27385F"/>
          </a:solidFill>
          <a:ln/>
        </p:spPr>
        <p:txBody>
          <a:bodyPr wrap="square" lIns="76810" tIns="128016" rIns="128016" bIns="76810" rtlCol="0" anchor="ctr"/>
          <a:lstStyle/>
          <a:p>
            <a:pPr marL="0" indent="0" algn="l">
              <a:buNone/>
            </a:pPr>
            <a:endParaRPr lang="en-US" sz="1300" dirty="0"/>
          </a:p>
        </p:txBody>
      </p:sp>
      <p:sp>
        <p:nvSpPr>
          <p:cNvPr id="14" name="a1_fade_400_83"/>
          <p:cNvSpPr txBox="1"/>
          <p:nvPr/>
        </p:nvSpPr>
        <p:spPr>
          <a:xfrm>
            <a:off x="4846320" y="1280160"/>
            <a:ext cx="3657600" cy="320040"/>
          </a:xfrm>
          <a:prstGeom prst="rect">
            <a:avLst/>
          </a:prstGeom>
          <a:noFill/>
          <a:ln/>
        </p:spPr>
        <p:txBody>
          <a:bodyPr wrap="square" lIns="0" tIns="0" rIns="0" bIns="0" rtlCol="0" anchor="t"/>
          <a:lstStyle/>
          <a:p>
            <a:pPr marL="0" indent="0">
              <a:buNone/>
            </a:pPr>
            <a:r>
              <a:rPr lang="en-US" sz="1600" b="1" dirty="0">
                <a:solidFill>
                  <a:srgbClr val="F0A090"/>
                </a:solidFill>
                <a:latin typeface="Cambria" pitchFamily="34" charset="0"/>
                <a:ea typeface="Cambria" pitchFamily="34" charset="-122"/>
                <a:cs typeface="Cambria" pitchFamily="34" charset="-120"/>
              </a:rPr>
              <a:t>bank  (riverbank)</a:t>
            </a:r>
            <a:endParaRPr lang="en-US" sz="1600" dirty="0"/>
          </a:p>
        </p:txBody>
      </p:sp>
      <p:sp>
        <p:nvSpPr>
          <p:cNvPr id="15" name="a1_zoom_550_84"/>
          <p:cNvSpPr/>
          <p:nvPr/>
        </p:nvSpPr>
        <p:spPr>
          <a:xfrm>
            <a:off x="4846320" y="1737360"/>
            <a:ext cx="723748" cy="299593"/>
          </a:xfrm>
          <a:prstGeom prst="roundRect">
            <a:avLst>
              <a:gd name="adj" fmla="val 36626"/>
            </a:avLst>
          </a:prstGeom>
          <a:solidFill>
            <a:srgbClr val="D9503A"/>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river</a:t>
            </a:r>
            <a:endParaRPr lang="en-US" sz="1150" dirty="0"/>
          </a:p>
        </p:txBody>
      </p:sp>
      <p:sp>
        <p:nvSpPr>
          <p:cNvPr id="16" name="a1_zoom_700_85"/>
          <p:cNvSpPr/>
          <p:nvPr/>
        </p:nvSpPr>
        <p:spPr>
          <a:xfrm>
            <a:off x="5615788" y="1737360"/>
            <a:ext cx="637520" cy="299593"/>
          </a:xfrm>
          <a:prstGeom prst="roundRect">
            <a:avLst>
              <a:gd name="adj" fmla="val 36626"/>
            </a:avLst>
          </a:prstGeom>
          <a:solidFill>
            <a:srgbClr val="D9503A"/>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edge</a:t>
            </a:r>
            <a:endParaRPr lang="en-US" sz="1150" dirty="0"/>
          </a:p>
        </p:txBody>
      </p:sp>
      <p:sp>
        <p:nvSpPr>
          <p:cNvPr id="17" name="a1_zoom_850_86"/>
          <p:cNvSpPr/>
          <p:nvPr/>
        </p:nvSpPr>
        <p:spPr>
          <a:xfrm>
            <a:off x="6299027" y="1737360"/>
            <a:ext cx="723748" cy="299593"/>
          </a:xfrm>
          <a:prstGeom prst="roundRect">
            <a:avLst>
              <a:gd name="adj" fmla="val 36626"/>
            </a:avLst>
          </a:prstGeom>
          <a:solidFill>
            <a:srgbClr val="D9503A"/>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shore</a:t>
            </a:r>
            <a:endParaRPr lang="en-US" sz="1150" dirty="0"/>
          </a:p>
        </p:txBody>
      </p:sp>
      <p:sp>
        <p:nvSpPr>
          <p:cNvPr id="18" name="a1_zoom_1000_87"/>
          <p:cNvSpPr/>
          <p:nvPr/>
        </p:nvSpPr>
        <p:spPr>
          <a:xfrm>
            <a:off x="7068495" y="1737360"/>
            <a:ext cx="723748" cy="299593"/>
          </a:xfrm>
          <a:prstGeom prst="roundRect">
            <a:avLst>
              <a:gd name="adj" fmla="val 36626"/>
            </a:avLst>
          </a:prstGeom>
          <a:solidFill>
            <a:srgbClr val="D9503A"/>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water</a:t>
            </a:r>
            <a:endParaRPr lang="en-US" sz="1150" dirty="0"/>
          </a:p>
        </p:txBody>
      </p:sp>
      <p:sp>
        <p:nvSpPr>
          <p:cNvPr id="19" name="a1_zoom_1150_88"/>
          <p:cNvSpPr/>
          <p:nvPr/>
        </p:nvSpPr>
        <p:spPr>
          <a:xfrm>
            <a:off x="4846320" y="2100961"/>
            <a:ext cx="723748" cy="299593"/>
          </a:xfrm>
          <a:prstGeom prst="roundRect">
            <a:avLst>
              <a:gd name="adj" fmla="val 36626"/>
            </a:avLst>
          </a:prstGeom>
          <a:solidFill>
            <a:srgbClr val="D9503A"/>
          </a:solidFill>
          <a:ln/>
        </p:spPr>
        <p:txBody>
          <a:bodyPr wrap="square" lIns="0" tIns="0" rIns="0" bIns="0" rtlCol="0" anchor="ctr"/>
          <a:lstStyle/>
          <a:p>
            <a:pPr marL="0" indent="0" algn="ctr">
              <a:buNone/>
            </a:pPr>
            <a:r>
              <a:rPr lang="en-US" sz="1150" dirty="0">
                <a:solidFill>
                  <a:srgbClr val="22262E"/>
                </a:solidFill>
                <a:latin typeface="Calibri" pitchFamily="34" charset="0"/>
                <a:ea typeface="Calibri" pitchFamily="34" charset="-122"/>
                <a:cs typeface="Calibri" pitchFamily="34" charset="-120"/>
              </a:rPr>
              <a:t>slope</a:t>
            </a:r>
            <a:endParaRPr lang="en-US" sz="1150" dirty="0"/>
          </a:p>
        </p:txBody>
      </p:sp>
      <p:sp>
        <p:nvSpPr>
          <p:cNvPr id="20" name="a1_fade_1100_89"/>
          <p:cNvSpPr txBox="1"/>
          <p:nvPr/>
        </p:nvSpPr>
        <p:spPr>
          <a:xfrm>
            <a:off x="4846320" y="2651760"/>
            <a:ext cx="3657600" cy="5029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Fingerprint words for the slope-beside-water sense.</a:t>
            </a:r>
            <a:endParaRPr lang="en-US" sz="1200" dirty="0"/>
          </a:p>
        </p:txBody>
      </p:sp>
      <p:sp>
        <p:nvSpPr>
          <p:cNvPr id="21" name="a2_zoom_0_90"/>
          <p:cNvSpPr/>
          <p:nvPr/>
        </p:nvSpPr>
        <p:spPr>
          <a:xfrm>
            <a:off x="457200" y="3429000"/>
            <a:ext cx="8229600" cy="640080"/>
          </a:xfrm>
          <a:prstGeom prst="roundRect">
            <a:avLst>
              <a:gd name="adj" fmla="val 17143"/>
            </a:avLst>
          </a:prstGeom>
          <a:solidFill>
            <a:srgbClr val="F4A300"/>
          </a:solidFill>
          <a:ln/>
        </p:spPr>
        <p:txBody>
          <a:bodyPr wrap="square" lIns="76810" tIns="128016" rIns="128016" bIns="76810" rtlCol="0" anchor="ctr"/>
          <a:lstStyle/>
          <a:p>
            <a:pPr marL="0" indent="0" algn="l">
              <a:buNone/>
            </a:pPr>
            <a:r>
              <a:rPr lang="en-US" sz="1400" b="1" dirty="0">
                <a:solidFill>
                  <a:srgbClr val="22262E"/>
                </a:solidFill>
                <a:latin typeface="Calibri" pitchFamily="34" charset="0"/>
                <a:ea typeface="Calibri" pitchFamily="34" charset="-122"/>
                <a:cs typeface="Calibri" pitchFamily="34" charset="-120"/>
              </a:rPr>
              <a:t>The move:</a:t>
            </a:r>
            <a:r>
              <a:rPr lang="en-US" sz="1400" dirty="0">
                <a:solidFill>
                  <a:srgbClr val="22262E"/>
                </a:solidFill>
                <a:latin typeface="Calibri" pitchFamily="34" charset="0"/>
                <a:ea typeface="Calibri" pitchFamily="34" charset="-122"/>
                <a:cs typeface="Calibri" pitchFamily="34" charset="-120"/>
              </a:rPr>
              <a:t> compare each fingerprint with the words surrounding the target in the actual text. The sense whose fingerprint fits best is the answer.</a:t>
            </a:r>
            <a:endParaRPr lang="en-US" sz="1400" dirty="0"/>
          </a:p>
        </p:txBody>
      </p:sp>
      <p:sp>
        <p:nvSpPr>
          <p:cNvPr id="22" name="a3_fade_0_91"/>
          <p:cNvSpPr/>
          <p:nvPr/>
        </p:nvSpPr>
        <p:spPr>
          <a:xfrm>
            <a:off x="457200" y="4160520"/>
            <a:ext cx="8229600" cy="457200"/>
          </a:xfrm>
          <a:prstGeom prst="roundRect">
            <a:avLst>
              <a:gd name="adj" fmla="val 24000"/>
            </a:avLst>
          </a:prstGeom>
          <a:solidFill>
            <a:srgbClr val="27385F"/>
          </a:solidFill>
          <a:ln/>
        </p:spPr>
        <p:txBody>
          <a:bodyPr wrap="square" lIns="76810" tIns="128016" rIns="128016" bIns="7681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Definitions were written for humans, but they double as machine-readable evidence: an existing resource used in a new way.</a:t>
            </a:r>
            <a:endParaRPr lang="en-US" sz="1250" dirty="0"/>
          </a:p>
        </p:txBody>
      </p:sp>
      <p:sp>
        <p:nvSpPr>
          <p:cNvPr id="23" name="Text 20"/>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9BB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53" presetClass="entr" presetSubtype="16"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ppt_w</p:attrName>
                                        </p:attrNameLst>
                                      </p:cBhvr>
                                      <p:tavLst>
                                        <p:tav tm="0">
                                          <p:val>
                                            <p:fltVal val="0"/>
                                          </p:val>
                                        </p:tav>
                                        <p:tav tm="100000">
                                          <p:val>
                                            <p:strVal val="#ppt_w"/>
                                          </p:val>
                                        </p:tav>
                                      </p:tavLst>
                                    </p:anim>
                                    <p:anim calcmode="lin" valueType="num">
                                      <p:cBhvr additive="base">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par>
                                <p:cTn id="19" presetID="10" presetClass="entr" presetSubtype="0" fill="hold" grpId="0" nodeType="withEffect">
                                  <p:stCondLst>
                                    <p:cond delay="40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53" presetClass="entr" presetSubtype="16" fill="hold" grpId="0" nodeType="withEffect">
                                  <p:stCondLst>
                                    <p:cond delay="45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fltVal val="0"/>
                                          </p:val>
                                        </p:tav>
                                        <p:tav tm="100000">
                                          <p:val>
                                            <p:strVal val="#ppt_w"/>
                                          </p:val>
                                        </p:tav>
                                      </p:tavLst>
                                    </p:anim>
                                    <p:anim calcmode="lin" valueType="num">
                                      <p:cBhvr additive="base">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par>
                                <p:cTn id="27" presetID="53" presetClass="entr" presetSubtype="16" fill="hold" grpId="0" nodeType="withEffect">
                                  <p:stCondLst>
                                    <p:cond delay="55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ppt_w</p:attrName>
                                        </p:attrNameLst>
                                      </p:cBhvr>
                                      <p:tavLst>
                                        <p:tav tm="0">
                                          <p:val>
                                            <p:fltVal val="0"/>
                                          </p:val>
                                        </p:tav>
                                        <p:tav tm="100000">
                                          <p:val>
                                            <p:strVal val="#ppt_w"/>
                                          </p:val>
                                        </p:tav>
                                      </p:tavLst>
                                    </p:anim>
                                    <p:anim calcmode="lin" valueType="num">
                                      <p:cBhvr additive="base">
                                        <p:cTn id="30" dur="500" fill="hold"/>
                                        <p:tgtEl>
                                          <p:spTgt spid="15"/>
                                        </p:tgtEl>
                                        <p:attrNameLst>
                                          <p:attrName>ppt_h</p:attrName>
                                        </p:attrNameLst>
                                      </p:cBhvr>
                                      <p:tavLst>
                                        <p:tav tm="0">
                                          <p:val>
                                            <p:fltVal val="0"/>
                                          </p:val>
                                        </p:tav>
                                        <p:tav tm="100000">
                                          <p:val>
                                            <p:strVal val="#ppt_h"/>
                                          </p:val>
                                        </p:tav>
                                      </p:tavLst>
                                    </p:anim>
                                    <p:animEffect transition="in" filter="fade">
                                      <p:cBhvr>
                                        <p:cTn id="31" dur="500"/>
                                        <p:tgtEl>
                                          <p:spTgt spid="15"/>
                                        </p:tgtEl>
                                      </p:cBhvr>
                                    </p:animEffect>
                                  </p:childTnLst>
                                </p:cTn>
                              </p:par>
                              <p:par>
                                <p:cTn id="32" presetID="53" presetClass="entr" presetSubtype="16" fill="hold" grpId="0" nodeType="withEffect">
                                  <p:stCondLst>
                                    <p:cond delay="60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fltVal val="0"/>
                                          </p:val>
                                        </p:tav>
                                        <p:tav tm="100000">
                                          <p:val>
                                            <p:strVal val="#ppt_w"/>
                                          </p:val>
                                        </p:tav>
                                      </p:tavLst>
                                    </p:anim>
                                    <p:anim calcmode="lin" valueType="num">
                                      <p:cBhvr additive="base">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53" presetClass="entr" presetSubtype="16" fill="hold" grpId="0" nodeType="withEffect">
                                  <p:stCondLst>
                                    <p:cond delay="70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ppt_w</p:attrName>
                                        </p:attrNameLst>
                                      </p:cBhvr>
                                      <p:tavLst>
                                        <p:tav tm="0">
                                          <p:val>
                                            <p:fltVal val="0"/>
                                          </p:val>
                                        </p:tav>
                                        <p:tav tm="100000">
                                          <p:val>
                                            <p:strVal val="#ppt_w"/>
                                          </p:val>
                                        </p:tav>
                                      </p:tavLst>
                                    </p:anim>
                                    <p:anim calcmode="lin" valueType="num">
                                      <p:cBhvr additive="base">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grpId="0" nodeType="withEffect">
                                  <p:stCondLst>
                                    <p:cond delay="75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ppt_w</p:attrName>
                                        </p:attrNameLst>
                                      </p:cBhvr>
                                      <p:tavLst>
                                        <p:tav tm="0">
                                          <p:val>
                                            <p:fltVal val="0"/>
                                          </p:val>
                                        </p:tav>
                                        <p:tav tm="100000">
                                          <p:val>
                                            <p:strVal val="#ppt_w"/>
                                          </p:val>
                                        </p:tav>
                                      </p:tavLst>
                                    </p:anim>
                                    <p:anim calcmode="lin" valueType="num">
                                      <p:cBhvr additive="base">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85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ppt_w</p:attrName>
                                        </p:attrNameLst>
                                      </p:cBhvr>
                                      <p:tavLst>
                                        <p:tav tm="0">
                                          <p:val>
                                            <p:fltVal val="0"/>
                                          </p:val>
                                        </p:tav>
                                        <p:tav tm="100000">
                                          <p:val>
                                            <p:strVal val="#ppt_w"/>
                                          </p:val>
                                        </p:tav>
                                      </p:tavLst>
                                    </p:anim>
                                    <p:anim calcmode="lin" valueType="num">
                                      <p:cBhvr additive="base">
                                        <p:cTn id="50" dur="500" fill="hold"/>
                                        <p:tgtEl>
                                          <p:spTgt spid="17"/>
                                        </p:tgtEl>
                                        <p:attrNameLst>
                                          <p:attrName>ppt_h</p:attrName>
                                        </p:attrNameLst>
                                      </p:cBhvr>
                                      <p:tavLst>
                                        <p:tav tm="0">
                                          <p:val>
                                            <p:fltVal val="0"/>
                                          </p:val>
                                        </p:tav>
                                        <p:tav tm="100000">
                                          <p:val>
                                            <p:strVal val="#ppt_h"/>
                                          </p:val>
                                        </p:tav>
                                      </p:tavLst>
                                    </p:anim>
                                    <p:animEffect transition="in" filter="fade">
                                      <p:cBhvr>
                                        <p:cTn id="51" dur="500"/>
                                        <p:tgtEl>
                                          <p:spTgt spid="17"/>
                                        </p:tgtEl>
                                      </p:cBhvr>
                                    </p:animEffect>
                                  </p:childTnLst>
                                </p:cTn>
                              </p:par>
                              <p:par>
                                <p:cTn id="52" presetID="53" presetClass="entr" presetSubtype="16" fill="hold" grpId="0" nodeType="withEffect">
                                  <p:stCondLst>
                                    <p:cond delay="90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500" fill="hold"/>
                                        <p:tgtEl>
                                          <p:spTgt spid="11"/>
                                        </p:tgtEl>
                                        <p:attrNameLst>
                                          <p:attrName>ppt_w</p:attrName>
                                        </p:attrNameLst>
                                      </p:cBhvr>
                                      <p:tavLst>
                                        <p:tav tm="0">
                                          <p:val>
                                            <p:fltVal val="0"/>
                                          </p:val>
                                        </p:tav>
                                        <p:tav tm="100000">
                                          <p:val>
                                            <p:strVal val="#ppt_w"/>
                                          </p:val>
                                        </p:tav>
                                      </p:tavLst>
                                    </p:anim>
                                    <p:anim calcmode="lin" valueType="num">
                                      <p:cBhvr additive="base">
                                        <p:cTn id="55" dur="500" fill="hold"/>
                                        <p:tgtEl>
                                          <p:spTgt spid="11"/>
                                        </p:tgtEl>
                                        <p:attrNameLst>
                                          <p:attrName>ppt_h</p:attrName>
                                        </p:attrNameLst>
                                      </p:cBhvr>
                                      <p:tavLst>
                                        <p:tav tm="0">
                                          <p:val>
                                            <p:fltVal val="0"/>
                                          </p:val>
                                        </p:tav>
                                        <p:tav tm="100000">
                                          <p:val>
                                            <p:strVal val="#ppt_h"/>
                                          </p:val>
                                        </p:tav>
                                      </p:tavLst>
                                    </p:anim>
                                    <p:animEffect transition="in" filter="fade">
                                      <p:cBhvr>
                                        <p:cTn id="56" dur="500"/>
                                        <p:tgtEl>
                                          <p:spTgt spid="11"/>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53" presetClass="entr" presetSubtype="16" fill="hold" grpId="0" nodeType="withEffect">
                                  <p:stCondLst>
                                    <p:cond delay="100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ppt_w</p:attrName>
                                        </p:attrNameLst>
                                      </p:cBhvr>
                                      <p:tavLst>
                                        <p:tav tm="0">
                                          <p:val>
                                            <p:fltVal val="0"/>
                                          </p:val>
                                        </p:tav>
                                        <p:tav tm="100000">
                                          <p:val>
                                            <p:strVal val="#ppt_w"/>
                                          </p:val>
                                        </p:tav>
                                      </p:tavLst>
                                    </p:anim>
                                    <p:anim calcmode="lin" valueType="num">
                                      <p:cBhvr additive="base">
                                        <p:cTn id="63" dur="500" fill="hold"/>
                                        <p:tgtEl>
                                          <p:spTgt spid="18"/>
                                        </p:tgtEl>
                                        <p:attrNameLst>
                                          <p:attrName>ppt_h</p:attrName>
                                        </p:attrNameLst>
                                      </p:cBhvr>
                                      <p:tavLst>
                                        <p:tav tm="0">
                                          <p:val>
                                            <p:fltVal val="0"/>
                                          </p:val>
                                        </p:tav>
                                        <p:tav tm="100000">
                                          <p:val>
                                            <p:strVal val="#ppt_h"/>
                                          </p:val>
                                        </p:tav>
                                      </p:tavLst>
                                    </p:anim>
                                    <p:animEffect transition="in" filter="fade">
                                      <p:cBhvr>
                                        <p:cTn id="64" dur="500"/>
                                        <p:tgtEl>
                                          <p:spTgt spid="18"/>
                                        </p:tgtEl>
                                      </p:cBhvr>
                                    </p:animEffect>
                                  </p:childTnLst>
                                </p:cTn>
                              </p:par>
                              <p:par>
                                <p:cTn id="65" presetID="10" presetClass="entr" presetSubtype="0" fill="hold" grpId="0" nodeType="withEffect">
                                  <p:stCondLst>
                                    <p:cond delay="11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par>
                                <p:cTn id="68" presetID="53" presetClass="entr" presetSubtype="16" fill="hold" grpId="0" nodeType="withEffect">
                                  <p:stCondLst>
                                    <p:cond delay="115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ppt_w</p:attrName>
                                        </p:attrNameLst>
                                      </p:cBhvr>
                                      <p:tavLst>
                                        <p:tav tm="0">
                                          <p:val>
                                            <p:fltVal val="0"/>
                                          </p:val>
                                        </p:tav>
                                        <p:tav tm="100000">
                                          <p:val>
                                            <p:strVal val="#ppt_w"/>
                                          </p:val>
                                        </p:tav>
                                      </p:tavLst>
                                    </p:anim>
                                    <p:anim calcmode="lin" valueType="num">
                                      <p:cBhvr additive="base">
                                        <p:cTn id="71" dur="500" fill="hold"/>
                                        <p:tgtEl>
                                          <p:spTgt spid="19"/>
                                        </p:tgtEl>
                                        <p:attrNameLst>
                                          <p:attrName>ppt_h</p:attrName>
                                        </p:attrNameLst>
                                      </p:cBhvr>
                                      <p:tavLst>
                                        <p:tav tm="0">
                                          <p:val>
                                            <p:fltVal val="0"/>
                                          </p:val>
                                        </p:tav>
                                        <p:tav tm="100000">
                                          <p:val>
                                            <p:strVal val="#ppt_h"/>
                                          </p:val>
                                        </p:tav>
                                      </p:tavLst>
                                    </p:anim>
                                    <p:animEffect transition="in" filter="fade">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ppt_w</p:attrName>
                                        </p:attrNameLst>
                                      </p:cBhvr>
                                      <p:tavLst>
                                        <p:tav tm="0">
                                          <p:val>
                                            <p:fltVal val="0"/>
                                          </p:val>
                                        </p:tav>
                                        <p:tav tm="100000">
                                          <p:val>
                                            <p:strVal val="#ppt_w"/>
                                          </p:val>
                                        </p:tav>
                                      </p:tavLst>
                                    </p:anim>
                                    <p:anim calcmode="lin" valueType="num">
                                      <p:cBhvr additive="base">
                                        <p:cTn id="78" dur="500" fill="hold"/>
                                        <p:tgtEl>
                                          <p:spTgt spid="21"/>
                                        </p:tgtEl>
                                        <p:attrNameLst>
                                          <p:attrName>ppt_h</p:attrName>
                                        </p:attrNameLst>
                                      </p:cBhvr>
                                      <p:tavLst>
                                        <p:tav tm="0">
                                          <p:val>
                                            <p:fltVal val="0"/>
                                          </p:val>
                                        </p:tav>
                                        <p:tav tm="100000">
                                          <p:val>
                                            <p:strVal val="#ppt_h"/>
                                          </p:val>
                                        </p:tav>
                                      </p:tavLst>
                                    </p:anim>
                                    <p:animEffect transition="in" filter="fade">
                                      <p:cBhvr>
                                        <p:cTn id="79" dur="500"/>
                                        <p:tgtEl>
                                          <p:spTgt spid="2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2 · THE SOLUTION</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Key terms and where the meanings come from</a:t>
            </a:r>
            <a:endParaRPr lang="en-US" sz="2800" dirty="0"/>
          </a:p>
        </p:txBody>
      </p:sp>
      <p:sp>
        <p:nvSpPr>
          <p:cNvPr id="5" name="a1_wipe_0_327"/>
          <p:cNvSpPr/>
          <p:nvPr/>
        </p:nvSpPr>
        <p:spPr>
          <a:xfrm>
            <a:off x="457200" y="1097280"/>
            <a:ext cx="8229600" cy="457200"/>
          </a:xfrm>
          <a:prstGeom prst="roundRect">
            <a:avLst>
              <a:gd name="adj" fmla="val 24000"/>
            </a:avLst>
          </a:prstGeom>
          <a:solidFill>
            <a:srgbClr val="1B2A49"/>
          </a:solidFill>
          <a:ln/>
        </p:spPr>
        <p:txBody>
          <a:bodyPr wrap="square" lIns="76810" tIns="128016" rIns="128016" bIns="7681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In a Lesk problem you mainly need:   </a:t>
            </a:r>
            <a:r>
              <a:rPr lang="en-US" sz="1400" b="1" dirty="0">
                <a:solidFill>
                  <a:srgbClr val="FFFFFF"/>
                </a:solidFill>
                <a:latin typeface="Calibri" pitchFamily="34" charset="0"/>
                <a:ea typeface="Calibri" pitchFamily="34" charset="-122"/>
                <a:cs typeface="Calibri" pitchFamily="34" charset="-120"/>
              </a:rPr>
              <a:t>TARGET  +  SENSES  +  GLOSSES  +  CONTEXT</a:t>
            </a:r>
            <a:endParaRPr lang="en-US" sz="1400" dirty="0"/>
          </a:p>
        </p:txBody>
      </p:sp>
      <p:sp>
        <p:nvSpPr>
          <p:cNvPr id="6" name="a2_fade_0_328"/>
          <p:cNvSpPr/>
          <p:nvPr/>
        </p:nvSpPr>
        <p:spPr>
          <a:xfrm>
            <a:off x="457200" y="1691640"/>
            <a:ext cx="2606040" cy="896112"/>
          </a:xfrm>
          <a:prstGeom prst="roundRect">
            <a:avLst>
              <a:gd name="adj" fmla="val 12245"/>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Target word</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The word whose meaning we need.</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Example: bank</a:t>
            </a:r>
            <a:endParaRPr lang="en-US" sz="1150" dirty="0"/>
          </a:p>
        </p:txBody>
      </p:sp>
      <p:sp>
        <p:nvSpPr>
          <p:cNvPr id="7" name="a2_fade_150_329"/>
          <p:cNvSpPr/>
          <p:nvPr/>
        </p:nvSpPr>
        <p:spPr>
          <a:xfrm>
            <a:off x="3246120" y="1691640"/>
            <a:ext cx="2606040" cy="896112"/>
          </a:xfrm>
          <a:prstGeom prst="roundRect">
            <a:avLst>
              <a:gd name="adj" fmla="val 12245"/>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Sense</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One possible meaning of the word.</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Example: financial bank</a:t>
            </a:r>
            <a:endParaRPr lang="en-US" sz="1150" dirty="0"/>
          </a:p>
        </p:txBody>
      </p:sp>
      <p:sp>
        <p:nvSpPr>
          <p:cNvPr id="8" name="a2_fade_300_330"/>
          <p:cNvSpPr/>
          <p:nvPr/>
        </p:nvSpPr>
        <p:spPr>
          <a:xfrm>
            <a:off x="6035040" y="1691640"/>
            <a:ext cx="2606040" cy="896112"/>
          </a:xfrm>
          <a:prstGeom prst="roundRect">
            <a:avLst>
              <a:gd name="adj" fmla="val 12245"/>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Gloss</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The dictionary definition of a sense.</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Example: “accepts deposits…”</a:t>
            </a:r>
            <a:endParaRPr lang="en-US" sz="1150" dirty="0"/>
          </a:p>
        </p:txBody>
      </p:sp>
      <p:sp>
        <p:nvSpPr>
          <p:cNvPr id="9" name="a2_fade_450_331"/>
          <p:cNvSpPr/>
          <p:nvPr/>
        </p:nvSpPr>
        <p:spPr>
          <a:xfrm>
            <a:off x="457200" y="2697480"/>
            <a:ext cx="2606040" cy="896112"/>
          </a:xfrm>
          <a:prstGeom prst="roundRect">
            <a:avLst>
              <a:gd name="adj" fmla="val 12245"/>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Context</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The words around the target.</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Example: deposit, money</a:t>
            </a:r>
            <a:endParaRPr lang="en-US" sz="1150" dirty="0"/>
          </a:p>
        </p:txBody>
      </p:sp>
      <p:sp>
        <p:nvSpPr>
          <p:cNvPr id="10" name="a2_fade_600_332"/>
          <p:cNvSpPr/>
          <p:nvPr/>
        </p:nvSpPr>
        <p:spPr>
          <a:xfrm>
            <a:off x="3246120" y="2697480"/>
            <a:ext cx="2606040" cy="896112"/>
          </a:xfrm>
          <a:prstGeom prst="roundRect">
            <a:avLst>
              <a:gd name="adj" fmla="val 12245"/>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Overlap</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Words common to both sets.</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Example: money</a:t>
            </a:r>
            <a:endParaRPr lang="en-US" sz="1150" dirty="0"/>
          </a:p>
        </p:txBody>
      </p:sp>
      <p:sp>
        <p:nvSpPr>
          <p:cNvPr id="11" name="a2_fade_750_333"/>
          <p:cNvSpPr/>
          <p:nvPr/>
        </p:nvSpPr>
        <p:spPr>
          <a:xfrm>
            <a:off x="6035040" y="2697480"/>
            <a:ext cx="2606040" cy="896112"/>
          </a:xfrm>
          <a:prstGeom prst="roundRect">
            <a:avLst>
              <a:gd name="adj" fmla="val 12245"/>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Score</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The number of overlaps.</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Example: 2</a:t>
            </a:r>
            <a:endParaRPr lang="en-US" sz="1150" dirty="0"/>
          </a:p>
        </p:txBody>
      </p:sp>
      <p:sp>
        <p:nvSpPr>
          <p:cNvPr id="12" name="a3_wipe_0_334"/>
          <p:cNvSpPr/>
          <p:nvPr/>
        </p:nvSpPr>
        <p:spPr>
          <a:xfrm>
            <a:off x="457200" y="3749040"/>
            <a:ext cx="8229600" cy="822960"/>
          </a:xfrm>
          <a:prstGeom prst="roundRect">
            <a:avLst>
              <a:gd name="adj" fmla="val 13333"/>
            </a:avLst>
          </a:prstGeom>
          <a:solidFill>
            <a:srgbClr val="E2F3F0"/>
          </a:solidFill>
          <a:ln/>
        </p:spPr>
        <p:txBody>
          <a:bodyPr wrap="square" lIns="76810" tIns="128016" rIns="128016" bIns="76810" rtlCol="0" anchor="ctr"/>
          <a:lstStyle/>
          <a:p>
            <a:pPr marL="0" indent="0" algn="l">
              <a:buNone/>
            </a:pPr>
            <a:r>
              <a:rPr lang="en-US" sz="1250" b="1" dirty="0">
                <a:solidFill>
                  <a:srgbClr val="22262E"/>
                </a:solidFill>
                <a:latin typeface="Calibri" pitchFamily="34" charset="0"/>
                <a:ea typeface="Calibri" pitchFamily="34" charset="-122"/>
                <a:cs typeface="Calibri" pitchFamily="34" charset="-120"/>
              </a:rPr>
              <a:t>Where do the senses come from?</a:t>
            </a:r>
            <a:r>
              <a:rPr lang="en-US" sz="1250" dirty="0">
                <a:solidFill>
                  <a:srgbClr val="22262E"/>
                </a:solidFill>
                <a:latin typeface="Calibri" pitchFamily="34" charset="0"/>
                <a:ea typeface="Calibri" pitchFamily="34" charset="-122"/>
                <a:cs typeface="Calibri" pitchFamily="34" charset="-120"/>
              </a:rPr>
              <a:t> Lesk is </a:t>
            </a:r>
            <a:r>
              <a:rPr lang="en-US" sz="1250" b="1" dirty="0">
                <a:solidFill>
                  <a:srgbClr val="22262E"/>
                </a:solidFill>
                <a:latin typeface="Calibri" pitchFamily="34" charset="0"/>
                <a:ea typeface="Calibri" pitchFamily="34" charset="-122"/>
                <a:cs typeface="Calibri" pitchFamily="34" charset="-120"/>
              </a:rPr>
              <a:t>knowledge-based (dictionary-based)</a:t>
            </a:r>
            <a:r>
              <a:rPr lang="en-US" sz="1250" dirty="0">
                <a:solidFill>
                  <a:srgbClr val="22262E"/>
                </a:solidFill>
                <a:latin typeface="Calibri" pitchFamily="34" charset="0"/>
                <a:ea typeface="Calibri" pitchFamily="34" charset="-122"/>
                <a:cs typeface="Calibri" pitchFamily="34" charset="-120"/>
              </a:rPr>
              <a:t>: it uses a dictionary or a lexical database such as </a:t>
            </a:r>
            <a:r>
              <a:rPr lang="en-US" sz="1250" b="1" dirty="0">
                <a:solidFill>
                  <a:srgbClr val="22262E"/>
                </a:solidFill>
                <a:latin typeface="Calibri" pitchFamily="34" charset="0"/>
                <a:ea typeface="Calibri" pitchFamily="34" charset="-122"/>
                <a:cs typeface="Calibri" pitchFamily="34" charset="-120"/>
              </a:rPr>
              <a:t>WordNet</a:t>
            </a:r>
            <a:r>
              <a:rPr lang="en-US" sz="1250" dirty="0">
                <a:solidFill>
                  <a:srgbClr val="22262E"/>
                </a:solidFill>
                <a:latin typeface="Calibri" pitchFamily="34" charset="0"/>
                <a:ea typeface="Calibri" pitchFamily="34" charset="-122"/>
                <a:cs typeface="Calibri" pitchFamily="34" charset="-120"/>
              </a:rPr>
              <a:t>, which groups words with similar meanings and gives definitions and example sentences. Basic Lesk does </a:t>
            </a:r>
            <a:r>
              <a:rPr lang="en-US" sz="1250" b="1" dirty="0">
                <a:solidFill>
                  <a:srgbClr val="22262E"/>
                </a:solidFill>
                <a:latin typeface="Calibri" pitchFamily="34" charset="0"/>
                <a:ea typeface="Calibri" pitchFamily="34" charset="-122"/>
                <a:cs typeface="Calibri" pitchFamily="34" charset="-120"/>
              </a:rPr>
              <a:t>not</a:t>
            </a:r>
            <a:r>
              <a:rPr lang="en-US" sz="1250" dirty="0">
                <a:solidFill>
                  <a:srgbClr val="22262E"/>
                </a:solidFill>
                <a:latin typeface="Calibri" pitchFamily="34" charset="0"/>
                <a:ea typeface="Calibri" pitchFamily="34" charset="-122"/>
                <a:cs typeface="Calibri" pitchFamily="34" charset="-120"/>
              </a:rPr>
              <a:t> train a model on thousands of labelled sentences.</a:t>
            </a:r>
            <a:endParaRPr lang="en-US" sz="1250" dirty="0"/>
          </a:p>
        </p:txBody>
      </p:sp>
      <p:sp>
        <p:nvSpPr>
          <p:cNvPr id="13" name="Text 10"/>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1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4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6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7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2 · THE SOLUTION</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The procedure: four steps and one formula</a:t>
            </a:r>
            <a:endParaRPr lang="en-US" sz="2800" dirty="0"/>
          </a:p>
        </p:txBody>
      </p:sp>
      <p:sp>
        <p:nvSpPr>
          <p:cNvPr id="5" name="a1_wipe_0_92"/>
          <p:cNvSpPr/>
          <p:nvPr/>
        </p:nvSpPr>
        <p:spPr>
          <a:xfrm>
            <a:off x="457200" y="1188720"/>
            <a:ext cx="1938528" cy="1600200"/>
          </a:xfrm>
          <a:prstGeom prst="roundRect">
            <a:avLst>
              <a:gd name="adj" fmla="val 6857"/>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6" name="a1_fade_100_93"/>
          <p:cNvSpPr txBox="1"/>
          <p:nvPr/>
        </p:nvSpPr>
        <p:spPr>
          <a:xfrm>
            <a:off x="594360" y="1261872"/>
            <a:ext cx="457200" cy="457200"/>
          </a:xfrm>
          <a:prstGeom prst="rect">
            <a:avLst/>
          </a:prstGeom>
          <a:noFill/>
          <a:ln/>
        </p:spPr>
        <p:txBody>
          <a:bodyPr wrap="square" lIns="0" tIns="0" rIns="0" bIns="0" rtlCol="0" anchor="t"/>
          <a:lstStyle/>
          <a:p>
            <a:pPr marL="0" indent="0">
              <a:buNone/>
            </a:pPr>
            <a:r>
              <a:rPr lang="en-US" sz="2600" b="1" dirty="0">
                <a:solidFill>
                  <a:srgbClr val="1F8A7D"/>
                </a:solidFill>
                <a:latin typeface="Cambria" pitchFamily="34" charset="0"/>
                <a:ea typeface="Cambria" pitchFamily="34" charset="-122"/>
                <a:cs typeface="Cambria" pitchFamily="34" charset="-120"/>
              </a:rPr>
              <a:t>1</a:t>
            </a:r>
            <a:endParaRPr lang="en-US" sz="2600" dirty="0"/>
          </a:p>
        </p:txBody>
      </p:sp>
      <p:sp>
        <p:nvSpPr>
          <p:cNvPr id="7" name="a1_fade_100_94"/>
          <p:cNvSpPr txBox="1"/>
          <p:nvPr/>
        </p:nvSpPr>
        <p:spPr>
          <a:xfrm>
            <a:off x="594360" y="1737360"/>
            <a:ext cx="1691640" cy="274320"/>
          </a:xfrm>
          <a:prstGeom prst="rect">
            <a:avLst/>
          </a:prstGeom>
          <a:noFill/>
          <a:ln/>
        </p:spPr>
        <p:txBody>
          <a:bodyPr wrap="square" lIns="0" tIns="0" rIns="0" bIns="0" rtlCol="0" anchor="t"/>
          <a:lstStyle/>
          <a:p>
            <a:pPr marL="0" indent="0">
              <a:buNone/>
            </a:pPr>
            <a:r>
              <a:rPr lang="en-US" sz="1500" b="1" dirty="0">
                <a:solidFill>
                  <a:srgbClr val="1B2A49"/>
                </a:solidFill>
                <a:latin typeface="Calibri" pitchFamily="34" charset="0"/>
                <a:ea typeface="Calibri" pitchFamily="34" charset="-122"/>
                <a:cs typeface="Calibri" pitchFamily="34" charset="-120"/>
              </a:rPr>
              <a:t>Retrieve</a:t>
            </a:r>
            <a:endParaRPr lang="en-US" sz="1500" dirty="0"/>
          </a:p>
        </p:txBody>
      </p:sp>
      <p:sp>
        <p:nvSpPr>
          <p:cNvPr id="8" name="a1_fade_100_95"/>
          <p:cNvSpPr txBox="1"/>
          <p:nvPr/>
        </p:nvSpPr>
        <p:spPr>
          <a:xfrm>
            <a:off x="594360" y="2057400"/>
            <a:ext cx="1691640" cy="731520"/>
          </a:xfrm>
          <a:prstGeom prst="rect">
            <a:avLst/>
          </a:prstGeom>
          <a:noFill/>
          <a:ln/>
        </p:spPr>
        <p:txBody>
          <a:bodyPr wrap="square" lIns="0" tIns="0" rIns="0" bIns="0" rtlCol="0" anchor="t"/>
          <a:lstStyle/>
          <a:p>
            <a:pPr marL="0" indent="0">
              <a:buNone/>
            </a:pPr>
            <a:r>
              <a:rPr lang="en-US" sz="1150" dirty="0">
                <a:solidFill>
                  <a:srgbClr val="22262E"/>
                </a:solidFill>
                <a:latin typeface="Calibri" pitchFamily="34" charset="0"/>
                <a:ea typeface="Calibri" pitchFamily="34" charset="-122"/>
                <a:cs typeface="Calibri" pitchFamily="34" charset="-120"/>
              </a:rPr>
              <a:t>all dictionary senses (glosses) of the target word</a:t>
            </a:r>
            <a:endParaRPr lang="en-US" sz="1150" dirty="0"/>
          </a:p>
        </p:txBody>
      </p:sp>
      <p:sp>
        <p:nvSpPr>
          <p:cNvPr id="9" name="a2_wipe_0_96"/>
          <p:cNvSpPr/>
          <p:nvPr/>
        </p:nvSpPr>
        <p:spPr>
          <a:xfrm>
            <a:off x="2542032" y="1188720"/>
            <a:ext cx="1938528" cy="1600200"/>
          </a:xfrm>
          <a:prstGeom prst="roundRect">
            <a:avLst>
              <a:gd name="adj" fmla="val 6857"/>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10" name="a2_fade_100_97"/>
          <p:cNvSpPr txBox="1"/>
          <p:nvPr/>
        </p:nvSpPr>
        <p:spPr>
          <a:xfrm>
            <a:off x="2679192" y="1261872"/>
            <a:ext cx="457200" cy="457200"/>
          </a:xfrm>
          <a:prstGeom prst="rect">
            <a:avLst/>
          </a:prstGeom>
          <a:noFill/>
          <a:ln/>
        </p:spPr>
        <p:txBody>
          <a:bodyPr wrap="square" lIns="0" tIns="0" rIns="0" bIns="0" rtlCol="0" anchor="t"/>
          <a:lstStyle/>
          <a:p>
            <a:pPr marL="0" indent="0">
              <a:buNone/>
            </a:pPr>
            <a:r>
              <a:rPr lang="en-US" sz="2600" b="1" dirty="0">
                <a:solidFill>
                  <a:srgbClr val="1F8A7D"/>
                </a:solidFill>
                <a:latin typeface="Cambria" pitchFamily="34" charset="0"/>
                <a:ea typeface="Cambria" pitchFamily="34" charset="-122"/>
                <a:cs typeface="Cambria" pitchFamily="34" charset="-120"/>
              </a:rPr>
              <a:t>2</a:t>
            </a:r>
            <a:endParaRPr lang="en-US" sz="2600" dirty="0"/>
          </a:p>
        </p:txBody>
      </p:sp>
      <p:sp>
        <p:nvSpPr>
          <p:cNvPr id="11" name="a2_fade_100_98"/>
          <p:cNvSpPr txBox="1"/>
          <p:nvPr/>
        </p:nvSpPr>
        <p:spPr>
          <a:xfrm>
            <a:off x="2679192" y="1737360"/>
            <a:ext cx="1691640" cy="274320"/>
          </a:xfrm>
          <a:prstGeom prst="rect">
            <a:avLst/>
          </a:prstGeom>
          <a:noFill/>
          <a:ln/>
        </p:spPr>
        <p:txBody>
          <a:bodyPr wrap="square" lIns="0" tIns="0" rIns="0" bIns="0" rtlCol="0" anchor="t"/>
          <a:lstStyle/>
          <a:p>
            <a:pPr marL="0" indent="0">
              <a:buNone/>
            </a:pPr>
            <a:r>
              <a:rPr lang="en-US" sz="1500" b="1" dirty="0">
                <a:solidFill>
                  <a:srgbClr val="1B2A49"/>
                </a:solidFill>
                <a:latin typeface="Calibri" pitchFamily="34" charset="0"/>
                <a:ea typeface="Calibri" pitchFamily="34" charset="-122"/>
                <a:cs typeface="Calibri" pitchFamily="34" charset="-120"/>
              </a:rPr>
              <a:t>Collect</a:t>
            </a:r>
            <a:endParaRPr lang="en-US" sz="1500" dirty="0"/>
          </a:p>
        </p:txBody>
      </p:sp>
      <p:sp>
        <p:nvSpPr>
          <p:cNvPr id="12" name="a2_fade_100_99"/>
          <p:cNvSpPr txBox="1"/>
          <p:nvPr/>
        </p:nvSpPr>
        <p:spPr>
          <a:xfrm>
            <a:off x="2679192" y="2057400"/>
            <a:ext cx="1691640" cy="731520"/>
          </a:xfrm>
          <a:prstGeom prst="rect">
            <a:avLst/>
          </a:prstGeom>
          <a:noFill/>
          <a:ln/>
        </p:spPr>
        <p:txBody>
          <a:bodyPr wrap="square" lIns="0" tIns="0" rIns="0" bIns="0" rtlCol="0" anchor="t"/>
          <a:lstStyle/>
          <a:p>
            <a:pPr marL="0" indent="0">
              <a:buNone/>
            </a:pPr>
            <a:r>
              <a:rPr lang="en-US" sz="1150" dirty="0">
                <a:solidFill>
                  <a:srgbClr val="22262E"/>
                </a:solidFill>
                <a:latin typeface="Calibri" pitchFamily="34" charset="0"/>
                <a:ea typeface="Calibri" pitchFamily="34" charset="-122"/>
                <a:cs typeface="Calibri" pitchFamily="34" charset="-120"/>
              </a:rPr>
              <a:t>the context: a window of words around the target (about 5–10 each side) or the sentence</a:t>
            </a:r>
            <a:endParaRPr lang="en-US" sz="1150" dirty="0"/>
          </a:p>
        </p:txBody>
      </p:sp>
      <p:sp>
        <p:nvSpPr>
          <p:cNvPr id="13" name="a3_wipe_0_100"/>
          <p:cNvSpPr/>
          <p:nvPr/>
        </p:nvSpPr>
        <p:spPr>
          <a:xfrm>
            <a:off x="4626864" y="1188720"/>
            <a:ext cx="1938528" cy="1600200"/>
          </a:xfrm>
          <a:prstGeom prst="roundRect">
            <a:avLst>
              <a:gd name="adj" fmla="val 6857"/>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14" name="a3_fade_100_101"/>
          <p:cNvSpPr txBox="1"/>
          <p:nvPr/>
        </p:nvSpPr>
        <p:spPr>
          <a:xfrm>
            <a:off x="4764024" y="1261872"/>
            <a:ext cx="457200" cy="457200"/>
          </a:xfrm>
          <a:prstGeom prst="rect">
            <a:avLst/>
          </a:prstGeom>
          <a:noFill/>
          <a:ln/>
        </p:spPr>
        <p:txBody>
          <a:bodyPr wrap="square" lIns="0" tIns="0" rIns="0" bIns="0" rtlCol="0" anchor="t"/>
          <a:lstStyle/>
          <a:p>
            <a:pPr marL="0" indent="0">
              <a:buNone/>
            </a:pPr>
            <a:r>
              <a:rPr lang="en-US" sz="2600" b="1" dirty="0">
                <a:solidFill>
                  <a:srgbClr val="8A5A00"/>
                </a:solidFill>
                <a:latin typeface="Cambria" pitchFamily="34" charset="0"/>
                <a:ea typeface="Cambria" pitchFamily="34" charset="-122"/>
                <a:cs typeface="Cambria" pitchFamily="34" charset="-120"/>
              </a:rPr>
              <a:t>3</a:t>
            </a:r>
            <a:endParaRPr lang="en-US" sz="2600" dirty="0"/>
          </a:p>
        </p:txBody>
      </p:sp>
      <p:sp>
        <p:nvSpPr>
          <p:cNvPr id="15" name="a3_fade_100_102"/>
          <p:cNvSpPr txBox="1"/>
          <p:nvPr/>
        </p:nvSpPr>
        <p:spPr>
          <a:xfrm>
            <a:off x="4764024" y="1737360"/>
            <a:ext cx="1691640" cy="274320"/>
          </a:xfrm>
          <a:prstGeom prst="rect">
            <a:avLst/>
          </a:prstGeom>
          <a:noFill/>
          <a:ln/>
        </p:spPr>
        <p:txBody>
          <a:bodyPr wrap="square" lIns="0" tIns="0" rIns="0" bIns="0" rtlCol="0" anchor="t"/>
          <a:lstStyle/>
          <a:p>
            <a:pPr marL="0" indent="0">
              <a:buNone/>
            </a:pPr>
            <a:r>
              <a:rPr lang="en-US" sz="1500" b="1" dirty="0">
                <a:solidFill>
                  <a:srgbClr val="1B2A49"/>
                </a:solidFill>
                <a:latin typeface="Calibri" pitchFamily="34" charset="0"/>
                <a:ea typeface="Calibri" pitchFamily="34" charset="-122"/>
                <a:cs typeface="Calibri" pitchFamily="34" charset="-120"/>
              </a:rPr>
              <a:t>Overlap</a:t>
            </a:r>
            <a:endParaRPr lang="en-US" sz="1500" dirty="0"/>
          </a:p>
        </p:txBody>
      </p:sp>
      <p:sp>
        <p:nvSpPr>
          <p:cNvPr id="16" name="a3_fade_100_103"/>
          <p:cNvSpPr txBox="1"/>
          <p:nvPr/>
        </p:nvSpPr>
        <p:spPr>
          <a:xfrm>
            <a:off x="4764024" y="2057400"/>
            <a:ext cx="1691640" cy="731520"/>
          </a:xfrm>
          <a:prstGeom prst="rect">
            <a:avLst/>
          </a:prstGeom>
          <a:noFill/>
          <a:ln/>
        </p:spPr>
        <p:txBody>
          <a:bodyPr wrap="square" lIns="0" tIns="0" rIns="0" bIns="0" rtlCol="0" anchor="t"/>
          <a:lstStyle/>
          <a:p>
            <a:pPr marL="0" indent="0">
              <a:buNone/>
            </a:pPr>
            <a:r>
              <a:rPr lang="en-US" sz="1150" dirty="0">
                <a:solidFill>
                  <a:srgbClr val="22262E"/>
                </a:solidFill>
                <a:latin typeface="Calibri" pitchFamily="34" charset="0"/>
                <a:ea typeface="Calibri" pitchFamily="34" charset="-122"/>
                <a:cs typeface="Calibri" pitchFamily="34" charset="-120"/>
              </a:rPr>
              <a:t>for each sense count the words shared by its definition and the context</a:t>
            </a:r>
            <a:endParaRPr lang="en-US" sz="1150" dirty="0"/>
          </a:p>
        </p:txBody>
      </p:sp>
      <p:sp>
        <p:nvSpPr>
          <p:cNvPr id="17" name="a4_wipe_0_104"/>
          <p:cNvSpPr/>
          <p:nvPr/>
        </p:nvSpPr>
        <p:spPr>
          <a:xfrm>
            <a:off x="6711696" y="1188720"/>
            <a:ext cx="1938528" cy="1600200"/>
          </a:xfrm>
          <a:prstGeom prst="roundRect">
            <a:avLst>
              <a:gd name="adj" fmla="val 6857"/>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18" name="a4_fade_100_105"/>
          <p:cNvSpPr txBox="1"/>
          <p:nvPr/>
        </p:nvSpPr>
        <p:spPr>
          <a:xfrm>
            <a:off x="6848856" y="1261872"/>
            <a:ext cx="457200" cy="457200"/>
          </a:xfrm>
          <a:prstGeom prst="rect">
            <a:avLst/>
          </a:prstGeom>
          <a:noFill/>
          <a:ln/>
        </p:spPr>
        <p:txBody>
          <a:bodyPr wrap="square" lIns="0" tIns="0" rIns="0" bIns="0" rtlCol="0" anchor="t"/>
          <a:lstStyle/>
          <a:p>
            <a:pPr marL="0" indent="0">
              <a:buNone/>
            </a:pPr>
            <a:r>
              <a:rPr lang="en-US" sz="2600" b="1" dirty="0">
                <a:solidFill>
                  <a:srgbClr val="1F8A7D"/>
                </a:solidFill>
                <a:latin typeface="Cambria" pitchFamily="34" charset="0"/>
                <a:ea typeface="Cambria" pitchFamily="34" charset="-122"/>
                <a:cs typeface="Cambria" pitchFamily="34" charset="-120"/>
              </a:rPr>
              <a:t>4</a:t>
            </a:r>
            <a:endParaRPr lang="en-US" sz="2600" dirty="0"/>
          </a:p>
        </p:txBody>
      </p:sp>
      <p:sp>
        <p:nvSpPr>
          <p:cNvPr id="19" name="a4_fade_100_106"/>
          <p:cNvSpPr txBox="1"/>
          <p:nvPr/>
        </p:nvSpPr>
        <p:spPr>
          <a:xfrm>
            <a:off x="6848856" y="1737360"/>
            <a:ext cx="1691640" cy="274320"/>
          </a:xfrm>
          <a:prstGeom prst="rect">
            <a:avLst/>
          </a:prstGeom>
          <a:noFill/>
          <a:ln/>
        </p:spPr>
        <p:txBody>
          <a:bodyPr wrap="square" lIns="0" tIns="0" rIns="0" bIns="0" rtlCol="0" anchor="t"/>
          <a:lstStyle/>
          <a:p>
            <a:pPr marL="0" indent="0">
              <a:buNone/>
            </a:pPr>
            <a:r>
              <a:rPr lang="en-US" sz="1500" b="1" dirty="0">
                <a:solidFill>
                  <a:srgbClr val="1B2A49"/>
                </a:solidFill>
                <a:latin typeface="Calibri" pitchFamily="34" charset="0"/>
                <a:ea typeface="Calibri" pitchFamily="34" charset="-122"/>
                <a:cs typeface="Calibri" pitchFamily="34" charset="-120"/>
              </a:rPr>
              <a:t>Choose</a:t>
            </a:r>
            <a:endParaRPr lang="en-US" sz="1500" dirty="0"/>
          </a:p>
        </p:txBody>
      </p:sp>
      <p:sp>
        <p:nvSpPr>
          <p:cNvPr id="20" name="a4_fade_100_107"/>
          <p:cNvSpPr txBox="1"/>
          <p:nvPr/>
        </p:nvSpPr>
        <p:spPr>
          <a:xfrm>
            <a:off x="6848856" y="2057400"/>
            <a:ext cx="1691640" cy="731520"/>
          </a:xfrm>
          <a:prstGeom prst="rect">
            <a:avLst/>
          </a:prstGeom>
          <a:noFill/>
          <a:ln/>
        </p:spPr>
        <p:txBody>
          <a:bodyPr wrap="square" lIns="0" tIns="0" rIns="0" bIns="0" rtlCol="0" anchor="t"/>
          <a:lstStyle/>
          <a:p>
            <a:pPr marL="0" indent="0">
              <a:buNone/>
            </a:pPr>
            <a:r>
              <a:rPr lang="en-US" sz="1150" dirty="0">
                <a:solidFill>
                  <a:srgbClr val="22262E"/>
                </a:solidFill>
                <a:latin typeface="Calibri" pitchFamily="34" charset="0"/>
                <a:ea typeface="Calibri" pitchFamily="34" charset="-122"/>
                <a:cs typeface="Calibri" pitchFamily="34" charset="-120"/>
              </a:rPr>
              <a:t>the sense with the maximum overlap</a:t>
            </a:r>
            <a:endParaRPr lang="en-US" sz="1150" dirty="0"/>
          </a:p>
        </p:txBody>
      </p:sp>
      <p:sp>
        <p:nvSpPr>
          <p:cNvPr id="21" name="a5_zoom_0_108"/>
          <p:cNvSpPr/>
          <p:nvPr/>
        </p:nvSpPr>
        <p:spPr>
          <a:xfrm>
            <a:off x="457200" y="2971800"/>
            <a:ext cx="8229600" cy="640080"/>
          </a:xfrm>
          <a:prstGeom prst="roundRect">
            <a:avLst>
              <a:gd name="adj" fmla="val 17143"/>
            </a:avLst>
          </a:prstGeom>
          <a:solidFill>
            <a:srgbClr val="1B2A49"/>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Score(s, C) = | Signature(s) ∩ C |      s* = argmax Score(s, C)</a:t>
            </a:r>
            <a:endParaRPr lang="en-US" sz="2000" dirty="0"/>
          </a:p>
        </p:txBody>
      </p:sp>
      <p:sp>
        <p:nvSpPr>
          <p:cNvPr id="22" name="a6_fade_0_109"/>
          <p:cNvSpPr/>
          <p:nvPr/>
        </p:nvSpPr>
        <p:spPr>
          <a:xfrm>
            <a:off x="457200" y="3794760"/>
            <a:ext cx="8229600" cy="731520"/>
          </a:xfrm>
          <a:prstGeom prst="roundRect">
            <a:avLst>
              <a:gd name="adj" fmla="val 15000"/>
            </a:avLst>
          </a:prstGeom>
          <a:solidFill>
            <a:srgbClr val="E2F3F0"/>
          </a:solidFill>
          <a:ln/>
        </p:spPr>
        <p:txBody>
          <a:bodyPr wrap="square" lIns="76810" tIns="128016" rIns="128016" bIns="76810" rtlCol="0" anchor="ctr"/>
          <a:lstStyle/>
          <a:p>
            <a:pPr marL="0" indent="0" algn="l">
              <a:buNone/>
            </a:pPr>
            <a:r>
              <a:rPr lang="en-US" sz="1250" b="1" dirty="0">
                <a:solidFill>
                  <a:srgbClr val="22262E"/>
                </a:solidFill>
                <a:latin typeface="Calibri" pitchFamily="34" charset="0"/>
                <a:ea typeface="Calibri" pitchFamily="34" charset="-122"/>
                <a:cs typeface="Calibri" pitchFamily="34" charset="-120"/>
              </a:rPr>
              <a:t>Example.</a:t>
            </a:r>
            <a:r>
              <a:rPr lang="en-US" sz="1250" dirty="0">
                <a:solidFill>
                  <a:srgbClr val="22262E"/>
                </a:solidFill>
                <a:latin typeface="Calibri" pitchFamily="34" charset="0"/>
                <a:ea typeface="Calibri" pitchFamily="34" charset="-122"/>
                <a:cs typeface="Calibri" pitchFamily="34" charset="-120"/>
              </a:rPr>
              <a:t> Context {deposits, guarantee, losses}. Financial gloss shares </a:t>
            </a:r>
            <a:r>
              <a:rPr lang="en-US" sz="1250" b="1" dirty="0">
                <a:solidFill>
                  <a:srgbClr val="22262E"/>
                </a:solidFill>
                <a:latin typeface="Calibri" pitchFamily="34" charset="0"/>
                <a:ea typeface="Calibri" pitchFamily="34" charset="-122"/>
                <a:cs typeface="Calibri" pitchFamily="34" charset="-120"/>
              </a:rPr>
              <a:t>deposits</a:t>
            </a:r>
            <a:r>
              <a:rPr lang="en-US" sz="1250" dirty="0">
                <a:solidFill>
                  <a:srgbClr val="22262E"/>
                </a:solidFill>
                <a:latin typeface="Calibri" pitchFamily="34" charset="0"/>
                <a:ea typeface="Calibri" pitchFamily="34" charset="-122"/>
                <a:cs typeface="Calibri" pitchFamily="34" charset="-120"/>
              </a:rPr>
              <a:t> → score ≥ 1. Riverbank gloss shares nothing → 0. Financial sense wins. Cost grows only linearly with senses × context size.</a:t>
            </a:r>
            <a:endParaRPr lang="en-US" sz="1250" dirty="0"/>
          </a:p>
        </p:txBody>
      </p:sp>
      <p:sp>
        <p:nvSpPr>
          <p:cNvPr id="23" name="Text 20"/>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par>
                                <p:cTn id="22" presetID="10" presetClass="entr" presetSubtype="0" fill="hold" grpId="0" nodeType="withEffect">
                                  <p:stCondLst>
                                    <p:cond delay="1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1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1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10" presetClass="entr" presetSubtype="0" fill="hold" grpId="0" nodeType="withEffect">
                                  <p:stCondLst>
                                    <p:cond delay="1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1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10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0" presetID="10" presetClass="entr" presetSubtype="0" fill="hold" grpId="0" nodeType="withEffect">
                                  <p:stCondLst>
                                    <p:cond delay="1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1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10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ppt_w</p:attrName>
                                        </p:attrNameLst>
                                      </p:cBhvr>
                                      <p:tavLst>
                                        <p:tav tm="0">
                                          <p:val>
                                            <p:fltVal val="0"/>
                                          </p:val>
                                        </p:tav>
                                        <p:tav tm="100000">
                                          <p:val>
                                            <p:strVal val="#ppt_w"/>
                                          </p:val>
                                        </p:tav>
                                      </p:tavLst>
                                    </p:anim>
                                    <p:anim calcmode="lin" valueType="num">
                                      <p:cBhvr additive="base">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2 · THE SOLUTION</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Simplified vs Original Lesk</a:t>
            </a:r>
            <a:endParaRPr lang="en-US" sz="2800" dirty="0"/>
          </a:p>
        </p:txBody>
      </p:sp>
      <p:sp>
        <p:nvSpPr>
          <p:cNvPr id="5" name="a1_wipe_0_110"/>
          <p:cNvSpPr/>
          <p:nvPr/>
        </p:nvSpPr>
        <p:spPr>
          <a:xfrm>
            <a:off x="457200" y="1188720"/>
            <a:ext cx="4023360" cy="1600200"/>
          </a:xfrm>
          <a:prstGeom prst="roundRect">
            <a:avLst>
              <a:gd name="adj" fmla="val 6857"/>
            </a:avLst>
          </a:prstGeom>
          <a:solidFill>
            <a:srgbClr val="E2F3F0"/>
          </a:solidFill>
          <a:ln w="12700">
            <a:solidFill>
              <a:srgbClr val="1F8A7D"/>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Simplified Lesk  (Kilgarriff &amp; Rosenzweig, 2000)</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Target sense glosses vs the </a:t>
            </a:r>
            <a:endParaRPr lang="en-US" sz="1200" dirty="0"/>
          </a:p>
          <a:p>
            <a:pPr marL="0" indent="0" algn="l">
              <a:buNone/>
            </a:pPr>
            <a:r>
              <a:rPr lang="en-US" sz="1200" b="1" dirty="0">
                <a:solidFill>
                  <a:srgbClr val="22262E"/>
                </a:solidFill>
                <a:latin typeface="Calibri" pitchFamily="34" charset="0"/>
                <a:ea typeface="Calibri" pitchFamily="34" charset="-122"/>
                <a:cs typeface="Calibri" pitchFamily="34" charset="-120"/>
              </a:rPr>
              <a:t>context words</a:t>
            </a:r>
            <a:r>
              <a:rPr lang="en-US" sz="1200" dirty="0">
                <a:solidFill>
                  <a:srgbClr val="22262E"/>
                </a:solidFill>
                <a:latin typeface="Calibri" pitchFamily="34" charset="0"/>
                <a:ea typeface="Calibri" pitchFamily="34" charset="-122"/>
                <a:cs typeface="Calibri" pitchFamily="34" charset="-120"/>
              </a:rPr>
              <a:t>.</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One target word at a time; cheap and easy to compute by hand.</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The version used in classroom and exam sums.</a:t>
            </a:r>
            <a:endParaRPr lang="en-US" sz="1200" dirty="0"/>
          </a:p>
        </p:txBody>
      </p:sp>
      <p:sp>
        <p:nvSpPr>
          <p:cNvPr id="6" name="a1_wipe_300_111"/>
          <p:cNvSpPr/>
          <p:nvPr/>
        </p:nvSpPr>
        <p:spPr>
          <a:xfrm>
            <a:off x="4663440" y="1188720"/>
            <a:ext cx="4023360" cy="1600200"/>
          </a:xfrm>
          <a:prstGeom prst="roundRect">
            <a:avLst>
              <a:gd name="adj" fmla="val 6857"/>
            </a:avLst>
          </a:prstGeom>
          <a:solidFill>
            <a:srgbClr val="FFF0C7"/>
          </a:solidFill>
          <a:ln w="12700">
            <a:solidFill>
              <a:srgbClr val="F4A30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Original Lesk  (Lesk, 1986)</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Target sense glosses vs the </a:t>
            </a:r>
            <a:endParaRPr lang="en-US" sz="1200" dirty="0"/>
          </a:p>
          <a:p>
            <a:pPr marL="0" indent="0" algn="l">
              <a:buNone/>
            </a:pPr>
            <a:r>
              <a:rPr lang="en-US" sz="1200" b="1" dirty="0">
                <a:solidFill>
                  <a:srgbClr val="22262E"/>
                </a:solidFill>
                <a:latin typeface="Calibri" pitchFamily="34" charset="0"/>
                <a:ea typeface="Calibri" pitchFamily="34" charset="-122"/>
                <a:cs typeface="Calibri" pitchFamily="34" charset="-120"/>
              </a:rPr>
              <a:t>glosses of the neighbours' senses</a:t>
            </a:r>
            <a:r>
              <a:rPr lang="en-US" sz="1200" dirty="0">
                <a:solidFill>
                  <a:srgbClr val="22262E"/>
                </a:solidFill>
                <a:latin typeface="Calibri" pitchFamily="34" charset="0"/>
                <a:ea typeface="Calibri" pitchFamily="34" charset="-122"/>
                <a:cs typeface="Calibri" pitchFamily="34" charset="-120"/>
              </a:rPr>
              <a:t>.</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Can disambiguate several words jointly, choosing the sense combination with the most shared vocabulary.</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Richer evidence, higher cost.</a:t>
            </a:r>
            <a:endParaRPr lang="en-US" sz="1200" dirty="0"/>
          </a:p>
        </p:txBody>
      </p:sp>
      <p:sp>
        <p:nvSpPr>
          <p:cNvPr id="7" name="a2_fade_0_112"/>
          <p:cNvSpPr txBox="1"/>
          <p:nvPr/>
        </p:nvSpPr>
        <p:spPr>
          <a:xfrm>
            <a:off x="457200" y="2926080"/>
            <a:ext cx="4572000" cy="274320"/>
          </a:xfrm>
          <a:prstGeom prst="rect">
            <a:avLst/>
          </a:prstGeom>
          <a:noFill/>
          <a:ln/>
        </p:spPr>
        <p:txBody>
          <a:bodyPr wrap="square" lIns="0" tIns="0" rIns="0" bIns="0" rtlCol="0" anchor="t"/>
          <a:lstStyle/>
          <a:p>
            <a:pPr marL="0" indent="0">
              <a:buNone/>
            </a:pPr>
            <a:r>
              <a:rPr lang="en-US" sz="1400" b="1" dirty="0">
                <a:solidFill>
                  <a:srgbClr val="1B2A49"/>
                </a:solidFill>
                <a:latin typeface="Cambria" pitchFamily="34" charset="0"/>
                <a:ea typeface="Cambria" pitchFamily="34" charset="-122"/>
                <a:cs typeface="Cambria" pitchFamily="34" charset="-120"/>
              </a:rPr>
              <a:t>Lesk's own example: “pine cone”</a:t>
            </a:r>
            <a:endParaRPr lang="en-US" sz="1400" dirty="0"/>
          </a:p>
        </p:txBody>
      </p:sp>
      <p:sp>
        <p:nvSpPr>
          <p:cNvPr id="8" name="a2_wipe_100_113"/>
          <p:cNvSpPr/>
          <p:nvPr/>
        </p:nvSpPr>
        <p:spPr>
          <a:xfrm>
            <a:off x="457200" y="3246120"/>
            <a:ext cx="4023360" cy="548640"/>
          </a:xfrm>
          <a:prstGeom prst="roundRect">
            <a:avLst>
              <a:gd name="adj" fmla="val 20000"/>
            </a:avLst>
          </a:prstGeom>
          <a:solidFill>
            <a:srgbClr val="F2F4F8"/>
          </a:solidFill>
          <a:ln/>
        </p:spPr>
        <p:txBody>
          <a:bodyPr wrap="square" lIns="76810" tIns="128016" rIns="128016" bIns="76810" rtlCol="0" anchor="ctr"/>
          <a:lstStyle/>
          <a:p>
            <a:pPr marL="0" indent="0" algn="l">
              <a:buNone/>
            </a:pPr>
            <a:r>
              <a:rPr lang="en-US" sz="1150" b="1" dirty="0">
                <a:solidFill>
                  <a:srgbClr val="22262E"/>
                </a:solidFill>
                <a:latin typeface="Calibri" pitchFamily="34" charset="0"/>
                <a:ea typeface="Calibri" pitchFamily="34" charset="-122"/>
                <a:cs typeface="Calibri" pitchFamily="34" charset="-120"/>
              </a:rPr>
              <a:t>pine 1</a:t>
            </a:r>
            <a:r>
              <a:rPr lang="en-US" sz="1150" dirty="0">
                <a:solidFill>
                  <a:srgbClr val="22262E"/>
                </a:solidFill>
                <a:latin typeface="Calibri" pitchFamily="34" charset="0"/>
                <a:ea typeface="Calibri" pitchFamily="34" charset="-122"/>
                <a:cs typeface="Calibri" pitchFamily="34" charset="-120"/>
              </a:rPr>
              <a:t>  kinds of </a:t>
            </a:r>
            <a:r>
              <a:rPr lang="en-US" sz="1150" b="1" dirty="0">
                <a:solidFill>
                  <a:srgbClr val="22262E"/>
                </a:solidFill>
                <a:highlight>
                  <a:srgbClr val="FFD970"/>
                </a:highlight>
                <a:latin typeface="Calibri" pitchFamily="34" charset="0"/>
                <a:ea typeface="Calibri" pitchFamily="34" charset="-122"/>
                <a:cs typeface="Calibri" pitchFamily="34" charset="-120"/>
              </a:rPr>
              <a:t>evergreen tree</a:t>
            </a:r>
            <a:r>
              <a:rPr lang="en-US" sz="1150" dirty="0">
                <a:solidFill>
                  <a:srgbClr val="22262E"/>
                </a:solidFill>
                <a:latin typeface="Calibri" pitchFamily="34" charset="0"/>
                <a:ea typeface="Calibri" pitchFamily="34" charset="-122"/>
                <a:cs typeface="Calibri" pitchFamily="34" charset="-120"/>
              </a:rPr>
              <a:t> with needle-shaped leaves</a:t>
            </a:r>
            <a:endParaRPr lang="en-US" sz="1150" dirty="0"/>
          </a:p>
        </p:txBody>
      </p:sp>
      <p:sp>
        <p:nvSpPr>
          <p:cNvPr id="9" name="a2_wipe_300_114"/>
          <p:cNvSpPr/>
          <p:nvPr/>
        </p:nvSpPr>
        <p:spPr>
          <a:xfrm>
            <a:off x="457200" y="3886200"/>
            <a:ext cx="4023360" cy="457200"/>
          </a:xfrm>
          <a:prstGeom prst="roundRect">
            <a:avLst>
              <a:gd name="adj" fmla="val 24000"/>
            </a:avLst>
          </a:prstGeom>
          <a:solidFill>
            <a:srgbClr val="F2F4F8"/>
          </a:solidFill>
          <a:ln/>
        </p:spPr>
        <p:txBody>
          <a:bodyPr wrap="square" lIns="76810" tIns="128016" rIns="128016" bIns="76810" rtlCol="0" anchor="ctr"/>
          <a:lstStyle/>
          <a:p>
            <a:pPr marL="0" indent="0" algn="l">
              <a:buNone/>
            </a:pPr>
            <a:r>
              <a:rPr lang="en-US" sz="1150" b="1" dirty="0">
                <a:solidFill>
                  <a:srgbClr val="22262E"/>
                </a:solidFill>
                <a:latin typeface="Calibri" pitchFamily="34" charset="0"/>
                <a:ea typeface="Calibri" pitchFamily="34" charset="-122"/>
                <a:cs typeface="Calibri" pitchFamily="34" charset="-120"/>
              </a:rPr>
              <a:t>cone 3</a:t>
            </a:r>
            <a:r>
              <a:rPr lang="en-US" sz="1150" dirty="0">
                <a:solidFill>
                  <a:srgbClr val="22262E"/>
                </a:solidFill>
                <a:latin typeface="Calibri" pitchFamily="34" charset="0"/>
                <a:ea typeface="Calibri" pitchFamily="34" charset="-122"/>
                <a:cs typeface="Calibri" pitchFamily="34" charset="-120"/>
              </a:rPr>
              <a:t>  fruit of certain </a:t>
            </a:r>
            <a:r>
              <a:rPr lang="en-US" sz="1150" b="1" dirty="0">
                <a:solidFill>
                  <a:srgbClr val="22262E"/>
                </a:solidFill>
                <a:highlight>
                  <a:srgbClr val="FFD970"/>
                </a:highlight>
                <a:latin typeface="Calibri" pitchFamily="34" charset="0"/>
                <a:ea typeface="Calibri" pitchFamily="34" charset="-122"/>
                <a:cs typeface="Calibri" pitchFamily="34" charset="-120"/>
              </a:rPr>
              <a:t>evergreen trees</a:t>
            </a:r>
            <a:endParaRPr lang="en-US" sz="1150" dirty="0"/>
          </a:p>
        </p:txBody>
      </p:sp>
      <p:sp>
        <p:nvSpPr>
          <p:cNvPr id="10" name="a3_zoom_0_115"/>
          <p:cNvSpPr/>
          <p:nvPr/>
        </p:nvSpPr>
        <p:spPr>
          <a:xfrm>
            <a:off x="4663440" y="3246120"/>
            <a:ext cx="4023360" cy="1097280"/>
          </a:xfrm>
          <a:prstGeom prst="roundRect">
            <a:avLst>
              <a:gd name="adj" fmla="val 10000"/>
            </a:avLst>
          </a:prstGeom>
          <a:solidFill>
            <a:srgbClr val="F4A300"/>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r>
              <a:rPr lang="en-US" sz="1300" dirty="0">
                <a:solidFill>
                  <a:srgbClr val="22262E"/>
                </a:solidFill>
                <a:latin typeface="Calibri" pitchFamily="34" charset="0"/>
                <a:ea typeface="Calibri" pitchFamily="34" charset="-122"/>
                <a:cs typeface="Calibri" pitchFamily="34" charset="-120"/>
              </a:rPr>
              <a:t>pine 1 ∩ cone 3 = {evergreen, tree} = </a:t>
            </a:r>
            <a:r>
              <a:rPr lang="en-US" sz="1300" b="1" dirty="0">
                <a:solidFill>
                  <a:srgbClr val="22262E"/>
                </a:solidFill>
                <a:latin typeface="Calibri" pitchFamily="34" charset="0"/>
                <a:ea typeface="Calibri" pitchFamily="34" charset="-122"/>
                <a:cs typeface="Calibri" pitchFamily="34" charset="-120"/>
              </a:rPr>
              <a:t>2</a:t>
            </a:r>
            <a:endParaRPr lang="en-US" sz="1300" dirty="0"/>
          </a:p>
          <a:p>
            <a:pPr marL="0" indent="0" algn="l">
              <a:buNone/>
            </a:pPr>
            <a:r>
              <a:rPr lang="en-US" sz="1300" dirty="0">
                <a:solidFill>
                  <a:srgbClr val="22262E"/>
                </a:solidFill>
                <a:latin typeface="Calibri" pitchFamily="34" charset="0"/>
                <a:ea typeface="Calibri" pitchFamily="34" charset="-122"/>
                <a:cs typeface="Calibri" pitchFamily="34" charset="-120"/>
              </a:rPr>
              <a:t>every other pair of senses = 0</a:t>
            </a:r>
            <a:endParaRPr lang="en-US" sz="1300" dirty="0"/>
          </a:p>
          <a:p>
            <a:pPr marL="0" indent="0" algn="l">
              <a:buNone/>
            </a:pPr>
            <a:r>
              <a:rPr lang="en-US" sz="1300" dirty="0">
                <a:solidFill>
                  <a:srgbClr val="22262E"/>
                </a:solidFill>
                <a:latin typeface="Calibri" pitchFamily="34" charset="0"/>
                <a:ea typeface="Calibri" pitchFamily="34" charset="-122"/>
                <a:cs typeface="Calibri" pitchFamily="34" charset="-120"/>
              </a:rPr>
              <a:t>→ a cone from an evergreen tree, not an ice-cream cone</a:t>
            </a:r>
            <a:endParaRPr lang="en-US" sz="1300" dirty="0"/>
          </a:p>
        </p:txBody>
      </p:sp>
      <p:sp>
        <p:nvSpPr>
          <p:cNvPr id="11" name="Text 8"/>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22" presetClass="entr" presetSubtype="8" fill="hold" grpId="0" nodeType="withEffect">
                                  <p:stCondLst>
                                    <p:cond delay="10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ppt_w</p:attrName>
                                        </p:attrNameLst>
                                      </p:cBhvr>
                                      <p:tavLst>
                                        <p:tav tm="0">
                                          <p:val>
                                            <p:fltVal val="0"/>
                                          </p:val>
                                        </p:tav>
                                        <p:tav tm="100000">
                                          <p:val>
                                            <p:strVal val="#ppt_w"/>
                                          </p:val>
                                        </p:tav>
                                      </p:tavLst>
                                    </p:anim>
                                    <p:anim calcmode="lin" valueType="num">
                                      <p:cBhvr additive="base">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2 · THE SOLUTION</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Counting rules: preprocess, then count</a:t>
            </a:r>
            <a:endParaRPr lang="en-US" sz="2800" dirty="0"/>
          </a:p>
        </p:txBody>
      </p:sp>
      <p:sp>
        <p:nvSpPr>
          <p:cNvPr id="5" name="a0_fade_0_116"/>
          <p:cNvSpPr txBox="1"/>
          <p:nvPr/>
        </p:nvSpPr>
        <p:spPr>
          <a:xfrm>
            <a:off x="457200" y="1143000"/>
            <a:ext cx="5120640" cy="320040"/>
          </a:xfrm>
          <a:prstGeom prst="rect">
            <a:avLst/>
          </a:prstGeom>
          <a:noFill/>
          <a:ln/>
        </p:spPr>
        <p:txBody>
          <a:bodyPr wrap="square" lIns="0" tIns="0" rIns="0" bIns="0" rtlCol="0" anchor="t"/>
          <a:lstStyle/>
          <a:p>
            <a:pPr marL="0" indent="0">
              <a:buNone/>
            </a:pPr>
            <a:r>
              <a:rPr lang="en-US" sz="1400" b="1" dirty="0">
                <a:solidFill>
                  <a:srgbClr val="1B2A49"/>
                </a:solidFill>
                <a:latin typeface="Calibri" pitchFamily="34" charset="0"/>
                <a:ea typeface="Calibri" pitchFamily="34" charset="-122"/>
                <a:cs typeface="Calibri" pitchFamily="34" charset="-120"/>
              </a:rPr>
              <a:t>“She deposited money at the bank.”  (target: bank)</a:t>
            </a:r>
            <a:endParaRPr lang="en-US" sz="1400" dirty="0"/>
          </a:p>
        </p:txBody>
      </p:sp>
      <p:sp>
        <p:nvSpPr>
          <p:cNvPr id="6" name="a1_wipe_0_117"/>
          <p:cNvSpPr/>
          <p:nvPr/>
        </p:nvSpPr>
        <p:spPr>
          <a:xfrm>
            <a:off x="457200" y="1600200"/>
            <a:ext cx="1554480" cy="457200"/>
          </a:xfrm>
          <a:prstGeom prst="roundRect">
            <a:avLst>
              <a:gd name="adj" fmla="val 24000"/>
            </a:avLst>
          </a:prstGeom>
          <a:solidFill>
            <a:srgbClr val="1B2A49"/>
          </a:solidFill>
          <a:ln/>
        </p:spPr>
        <p:txBody>
          <a:bodyPr wrap="square" lIns="76810" tIns="128016" rIns="128016" bIns="7681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Tokenise</a:t>
            </a:r>
            <a:endParaRPr lang="en-US" sz="1200" dirty="0"/>
          </a:p>
        </p:txBody>
      </p:sp>
      <p:sp>
        <p:nvSpPr>
          <p:cNvPr id="7" name="a1_fade_200_118"/>
          <p:cNvSpPr/>
          <p:nvPr/>
        </p:nvSpPr>
        <p:spPr>
          <a:xfrm>
            <a:off x="2057400" y="1673352"/>
            <a:ext cx="528798"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she</a:t>
            </a:r>
            <a:endParaRPr lang="en-US" sz="1050" dirty="0"/>
          </a:p>
        </p:txBody>
      </p:sp>
      <p:sp>
        <p:nvSpPr>
          <p:cNvPr id="8" name="a1_fade_260_119"/>
          <p:cNvSpPr/>
          <p:nvPr/>
        </p:nvSpPr>
        <p:spPr>
          <a:xfrm>
            <a:off x="2622774" y="1673352"/>
            <a:ext cx="100117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deposited</a:t>
            </a:r>
            <a:endParaRPr lang="en-US" sz="1050" dirty="0"/>
          </a:p>
        </p:txBody>
      </p:sp>
      <p:sp>
        <p:nvSpPr>
          <p:cNvPr id="9" name="a1_fade_320_120"/>
          <p:cNvSpPr/>
          <p:nvPr/>
        </p:nvSpPr>
        <p:spPr>
          <a:xfrm>
            <a:off x="3660526" y="1673352"/>
            <a:ext cx="68625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money</a:t>
            </a:r>
            <a:endParaRPr lang="en-US" sz="1050" dirty="0"/>
          </a:p>
        </p:txBody>
      </p:sp>
      <p:sp>
        <p:nvSpPr>
          <p:cNvPr id="10" name="a1_fade_380_121"/>
          <p:cNvSpPr/>
          <p:nvPr/>
        </p:nvSpPr>
        <p:spPr>
          <a:xfrm>
            <a:off x="4383359" y="1673352"/>
            <a:ext cx="450068"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at</a:t>
            </a:r>
            <a:endParaRPr lang="en-US" sz="1050" dirty="0"/>
          </a:p>
        </p:txBody>
      </p:sp>
      <p:sp>
        <p:nvSpPr>
          <p:cNvPr id="11" name="a1_fade_440_122"/>
          <p:cNvSpPr/>
          <p:nvPr/>
        </p:nvSpPr>
        <p:spPr>
          <a:xfrm>
            <a:off x="4870003" y="1673352"/>
            <a:ext cx="528798"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the</a:t>
            </a:r>
            <a:endParaRPr lang="en-US" sz="1050" dirty="0"/>
          </a:p>
        </p:txBody>
      </p:sp>
      <p:sp>
        <p:nvSpPr>
          <p:cNvPr id="12" name="a1_fade_500_123"/>
          <p:cNvSpPr/>
          <p:nvPr/>
        </p:nvSpPr>
        <p:spPr>
          <a:xfrm>
            <a:off x="5435376" y="1673352"/>
            <a:ext cx="60752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bank</a:t>
            </a:r>
            <a:endParaRPr lang="en-US" sz="1050" dirty="0"/>
          </a:p>
        </p:txBody>
      </p:sp>
      <p:sp>
        <p:nvSpPr>
          <p:cNvPr id="13" name="a2_wipe_0_124"/>
          <p:cNvSpPr/>
          <p:nvPr/>
        </p:nvSpPr>
        <p:spPr>
          <a:xfrm>
            <a:off x="457200" y="2167128"/>
            <a:ext cx="1554480" cy="457200"/>
          </a:xfrm>
          <a:prstGeom prst="roundRect">
            <a:avLst>
              <a:gd name="adj" fmla="val 24000"/>
            </a:avLst>
          </a:prstGeom>
          <a:solidFill>
            <a:srgbClr val="1B2A49"/>
          </a:solidFill>
          <a:ln/>
        </p:spPr>
        <p:txBody>
          <a:bodyPr wrap="square" lIns="76810" tIns="128016" rIns="128016" bIns="7681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Drop stop words</a:t>
            </a:r>
            <a:endParaRPr lang="en-US" sz="1200" dirty="0"/>
          </a:p>
        </p:txBody>
      </p:sp>
      <p:sp>
        <p:nvSpPr>
          <p:cNvPr id="14" name="a2_fade_200_125"/>
          <p:cNvSpPr/>
          <p:nvPr/>
        </p:nvSpPr>
        <p:spPr>
          <a:xfrm>
            <a:off x="2057400" y="2240280"/>
            <a:ext cx="100117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deposited</a:t>
            </a:r>
            <a:endParaRPr lang="en-US" sz="1050" dirty="0"/>
          </a:p>
        </p:txBody>
      </p:sp>
      <p:sp>
        <p:nvSpPr>
          <p:cNvPr id="15" name="a2_fade_260_126"/>
          <p:cNvSpPr/>
          <p:nvPr/>
        </p:nvSpPr>
        <p:spPr>
          <a:xfrm>
            <a:off x="3095153" y="2240280"/>
            <a:ext cx="68625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money</a:t>
            </a:r>
            <a:endParaRPr lang="en-US" sz="1050" dirty="0"/>
          </a:p>
        </p:txBody>
      </p:sp>
      <p:sp>
        <p:nvSpPr>
          <p:cNvPr id="16" name="a2_fade_320_127"/>
          <p:cNvSpPr/>
          <p:nvPr/>
        </p:nvSpPr>
        <p:spPr>
          <a:xfrm>
            <a:off x="3817986" y="2240280"/>
            <a:ext cx="60752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bank</a:t>
            </a:r>
            <a:endParaRPr lang="en-US" sz="1050" dirty="0"/>
          </a:p>
        </p:txBody>
      </p:sp>
      <p:sp>
        <p:nvSpPr>
          <p:cNvPr id="17" name="a3_wipe_0_128"/>
          <p:cNvSpPr/>
          <p:nvPr/>
        </p:nvSpPr>
        <p:spPr>
          <a:xfrm>
            <a:off x="457200" y="2734056"/>
            <a:ext cx="1554480" cy="457200"/>
          </a:xfrm>
          <a:prstGeom prst="roundRect">
            <a:avLst>
              <a:gd name="adj" fmla="val 24000"/>
            </a:avLst>
          </a:prstGeom>
          <a:solidFill>
            <a:srgbClr val="1B2A49"/>
          </a:solidFill>
          <a:ln/>
        </p:spPr>
        <p:txBody>
          <a:bodyPr wrap="square" lIns="76810" tIns="128016" rIns="128016" bIns="7681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Drop the target</a:t>
            </a:r>
            <a:endParaRPr lang="en-US" sz="1200" dirty="0"/>
          </a:p>
        </p:txBody>
      </p:sp>
      <p:sp>
        <p:nvSpPr>
          <p:cNvPr id="18" name="a3_fade_200_129"/>
          <p:cNvSpPr/>
          <p:nvPr/>
        </p:nvSpPr>
        <p:spPr>
          <a:xfrm>
            <a:off x="2057400" y="2807208"/>
            <a:ext cx="100117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deposited</a:t>
            </a:r>
            <a:endParaRPr lang="en-US" sz="1050" dirty="0"/>
          </a:p>
        </p:txBody>
      </p:sp>
      <p:sp>
        <p:nvSpPr>
          <p:cNvPr id="19" name="a3_fade_260_130"/>
          <p:cNvSpPr/>
          <p:nvPr/>
        </p:nvSpPr>
        <p:spPr>
          <a:xfrm>
            <a:off x="3095153" y="2807208"/>
            <a:ext cx="68625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money</a:t>
            </a:r>
            <a:endParaRPr lang="en-US" sz="1050" dirty="0"/>
          </a:p>
        </p:txBody>
      </p:sp>
      <p:sp>
        <p:nvSpPr>
          <p:cNvPr id="20" name="a4_wipe_0_131"/>
          <p:cNvSpPr/>
          <p:nvPr/>
        </p:nvSpPr>
        <p:spPr>
          <a:xfrm>
            <a:off x="457200" y="3300984"/>
            <a:ext cx="1554480" cy="457200"/>
          </a:xfrm>
          <a:prstGeom prst="roundRect">
            <a:avLst>
              <a:gd name="adj" fmla="val 24000"/>
            </a:avLst>
          </a:prstGeom>
          <a:solidFill>
            <a:srgbClr val="1B2A49"/>
          </a:solidFill>
          <a:ln/>
        </p:spPr>
        <p:txBody>
          <a:bodyPr wrap="square" lIns="76810" tIns="128016" rIns="128016" bIns="7681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Lemmatise</a:t>
            </a:r>
            <a:endParaRPr lang="en-US" sz="1200" dirty="0"/>
          </a:p>
        </p:txBody>
      </p:sp>
      <p:sp>
        <p:nvSpPr>
          <p:cNvPr id="21" name="a4_fade_200_132"/>
          <p:cNvSpPr/>
          <p:nvPr/>
        </p:nvSpPr>
        <p:spPr>
          <a:xfrm>
            <a:off x="2057400" y="3374136"/>
            <a:ext cx="951250" cy="283083"/>
          </a:xfrm>
          <a:prstGeom prst="roundRect">
            <a:avLst>
              <a:gd name="adj" fmla="val 38762"/>
            </a:avLst>
          </a:prstGeom>
          <a:solidFill>
            <a:srgbClr val="E2F3F0"/>
          </a:solidFill>
          <a:ln/>
        </p:spPr>
        <p:txBody>
          <a:bodyPr wrap="square" lIns="0" tIns="0" rIns="0" bIns="0" rtlCol="0" anchor="ctr"/>
          <a:lstStyle/>
          <a:p>
            <a:pPr marL="0" indent="0" algn="ctr">
              <a:buNone/>
            </a:pPr>
            <a:r>
              <a:rPr lang="en-US" sz="1050" b="1" dirty="0">
                <a:solidFill>
                  <a:srgbClr val="22262E"/>
                </a:solidFill>
                <a:latin typeface="Calibri" pitchFamily="34" charset="0"/>
                <a:ea typeface="Calibri" pitchFamily="34" charset="-122"/>
                <a:cs typeface="Calibri" pitchFamily="34" charset="-120"/>
              </a:rPr>
              <a:t>deposit</a:t>
            </a:r>
            <a:endParaRPr lang="en-US" sz="1050" dirty="0"/>
          </a:p>
        </p:txBody>
      </p:sp>
      <p:sp>
        <p:nvSpPr>
          <p:cNvPr id="22" name="a4_fade_260_133"/>
          <p:cNvSpPr/>
          <p:nvPr/>
        </p:nvSpPr>
        <p:spPr>
          <a:xfrm>
            <a:off x="3045226" y="3374136"/>
            <a:ext cx="686257" cy="283083"/>
          </a:xfrm>
          <a:prstGeom prst="roundRect">
            <a:avLst>
              <a:gd name="adj" fmla="val 38762"/>
            </a:avLst>
          </a:prstGeom>
          <a:solidFill>
            <a:srgbClr val="E6EAF2"/>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money</a:t>
            </a:r>
            <a:endParaRPr lang="en-US" sz="1050" dirty="0"/>
          </a:p>
        </p:txBody>
      </p:sp>
      <p:sp>
        <p:nvSpPr>
          <p:cNvPr id="23" name="a5_wipe_0_134"/>
          <p:cNvSpPr/>
          <p:nvPr/>
        </p:nvSpPr>
        <p:spPr>
          <a:xfrm>
            <a:off x="457200" y="3867912"/>
            <a:ext cx="1554480" cy="457200"/>
          </a:xfrm>
          <a:prstGeom prst="roundRect">
            <a:avLst>
              <a:gd name="adj" fmla="val 24000"/>
            </a:avLst>
          </a:prstGeom>
          <a:solidFill>
            <a:srgbClr val="F4A300"/>
          </a:solidFill>
          <a:ln/>
        </p:spPr>
        <p:txBody>
          <a:bodyPr wrap="square" lIns="76810" tIns="128016" rIns="128016" bIns="76810" rtlCol="0" anchor="ctr"/>
          <a:lstStyle/>
          <a:p>
            <a:pPr marL="0" indent="0" algn="l">
              <a:buNone/>
            </a:pPr>
            <a:r>
              <a:rPr lang="en-US" sz="1200" b="1" dirty="0">
                <a:solidFill>
                  <a:srgbClr val="22262E"/>
                </a:solidFill>
                <a:latin typeface="Calibri" pitchFamily="34" charset="0"/>
                <a:ea typeface="Calibri" pitchFamily="34" charset="-122"/>
                <a:cs typeface="Calibri" pitchFamily="34" charset="-120"/>
              </a:rPr>
              <a:t>Context set C</a:t>
            </a:r>
            <a:endParaRPr lang="en-US" sz="1200" dirty="0"/>
          </a:p>
        </p:txBody>
      </p:sp>
      <p:sp>
        <p:nvSpPr>
          <p:cNvPr id="24" name="a5_fade_200_135"/>
          <p:cNvSpPr/>
          <p:nvPr/>
        </p:nvSpPr>
        <p:spPr>
          <a:xfrm>
            <a:off x="2057400" y="3941064"/>
            <a:ext cx="1709745" cy="283083"/>
          </a:xfrm>
          <a:prstGeom prst="roundRect">
            <a:avLst>
              <a:gd name="adj" fmla="val 38762"/>
            </a:avLst>
          </a:prstGeom>
          <a:solidFill>
            <a:srgbClr val="FFF0C7"/>
          </a:solidFill>
          <a:ln/>
        </p:spPr>
        <p:txBody>
          <a:bodyPr wrap="square" lIns="0" tIns="0" rIns="0" bIns="0" rtlCol="0" anchor="ctr"/>
          <a:lstStyle/>
          <a:p>
            <a:pPr marL="0" indent="0" algn="ctr">
              <a:buNone/>
            </a:pPr>
            <a:r>
              <a:rPr lang="en-US" sz="1050" dirty="0">
                <a:solidFill>
                  <a:srgbClr val="22262E"/>
                </a:solidFill>
                <a:latin typeface="Calibri" pitchFamily="34" charset="0"/>
                <a:ea typeface="Calibri" pitchFamily="34" charset="-122"/>
                <a:cs typeface="Calibri" pitchFamily="34" charset="-120"/>
              </a:rPr>
              <a:t>{ deposit, money }</a:t>
            </a:r>
            <a:endParaRPr lang="en-US" sz="1050" dirty="0"/>
          </a:p>
        </p:txBody>
      </p:sp>
      <p:sp>
        <p:nvSpPr>
          <p:cNvPr id="25" name="a6_fly_0_136"/>
          <p:cNvSpPr/>
          <p:nvPr/>
        </p:nvSpPr>
        <p:spPr>
          <a:xfrm>
            <a:off x="6172200" y="1143000"/>
            <a:ext cx="2514600" cy="777240"/>
          </a:xfrm>
          <a:prstGeom prst="roundRect">
            <a:avLst>
              <a:gd name="adj" fmla="val 14118"/>
            </a:avLst>
          </a:prstGeom>
          <a:solidFill>
            <a:srgbClr val="E2F3F0"/>
          </a:solidFill>
          <a:ln/>
        </p:spPr>
        <p:txBody>
          <a:bodyPr wrap="square" lIns="76810" tIns="128016" rIns="128016" bIns="76810" rtlCol="0" anchor="t"/>
          <a:lstStyle/>
          <a:p>
            <a:pPr marL="0" indent="0" algn="l">
              <a:buNone/>
            </a:pPr>
            <a:r>
              <a:rPr lang="en-US" sz="1050" b="1" dirty="0">
                <a:solidFill>
                  <a:srgbClr val="22262E"/>
                </a:solidFill>
                <a:latin typeface="Calibri" pitchFamily="34" charset="0"/>
                <a:ea typeface="Calibri" pitchFamily="34" charset="-122"/>
                <a:cs typeface="Calibri" pitchFamily="34" charset="-120"/>
              </a:rPr>
              <a:t>Same pipeline both sides</a:t>
            </a:r>
            <a:endParaRPr lang="en-US" sz="1050" dirty="0"/>
          </a:p>
          <a:p>
            <a:pPr marL="0" indent="0" algn="l">
              <a:buNone/>
            </a:pPr>
            <a:r>
              <a:rPr lang="en-US" sz="1050" dirty="0">
                <a:solidFill>
                  <a:srgbClr val="22262E"/>
                </a:solidFill>
                <a:latin typeface="Calibri" pitchFamily="34" charset="0"/>
                <a:ea typeface="Calibri" pitchFamily="34" charset="-122"/>
                <a:cs typeface="Calibri" pitchFamily="34" charset="-120"/>
              </a:rPr>
              <a:t>Lemmatise the context? Lemmatise the signatures too.</a:t>
            </a:r>
            <a:endParaRPr lang="en-US" sz="1050" dirty="0"/>
          </a:p>
        </p:txBody>
      </p:sp>
      <p:sp>
        <p:nvSpPr>
          <p:cNvPr id="26" name="a6_fly_200_137"/>
          <p:cNvSpPr/>
          <p:nvPr/>
        </p:nvSpPr>
        <p:spPr>
          <a:xfrm>
            <a:off x="6172200" y="2011680"/>
            <a:ext cx="2514600" cy="777240"/>
          </a:xfrm>
          <a:prstGeom prst="roundRect">
            <a:avLst>
              <a:gd name="adj" fmla="val 14118"/>
            </a:avLst>
          </a:prstGeom>
          <a:solidFill>
            <a:srgbClr val="E2F3F0"/>
          </a:solidFill>
          <a:ln/>
        </p:spPr>
        <p:txBody>
          <a:bodyPr wrap="square" lIns="76810" tIns="128016" rIns="128016" bIns="76810" rtlCol="0" anchor="t"/>
          <a:lstStyle/>
          <a:p>
            <a:pPr marL="0" indent="0" algn="l">
              <a:buNone/>
            </a:pPr>
            <a:r>
              <a:rPr lang="en-US" sz="1050" b="1" dirty="0">
                <a:solidFill>
                  <a:srgbClr val="22262E"/>
                </a:solidFill>
                <a:latin typeface="Calibri" pitchFamily="34" charset="0"/>
                <a:ea typeface="Calibri" pitchFamily="34" charset="-122"/>
                <a:cs typeface="Calibri" pitchFamily="34" charset="-120"/>
              </a:rPr>
              <a:t>Sets, not bags</a:t>
            </a:r>
            <a:endParaRPr lang="en-US" sz="1050" dirty="0"/>
          </a:p>
          <a:p>
            <a:pPr marL="0" indent="0" algn="l">
              <a:buNone/>
            </a:pPr>
            <a:r>
              <a:rPr lang="en-US" sz="1050" dirty="0">
                <a:solidFill>
                  <a:srgbClr val="22262E"/>
                </a:solidFill>
                <a:latin typeface="Calibri" pitchFamily="34" charset="0"/>
                <a:ea typeface="Calibri" pitchFamily="34" charset="-122"/>
                <a:cs typeface="Calibri" pitchFamily="34" charset="-120"/>
              </a:rPr>
              <a:t>A repeated word counts once. The target is excluded.</a:t>
            </a:r>
            <a:endParaRPr lang="en-US" sz="1050" dirty="0"/>
          </a:p>
        </p:txBody>
      </p:sp>
      <p:sp>
        <p:nvSpPr>
          <p:cNvPr id="27" name="a6_fly_400_138"/>
          <p:cNvSpPr/>
          <p:nvPr/>
        </p:nvSpPr>
        <p:spPr>
          <a:xfrm>
            <a:off x="6172200" y="2880360"/>
            <a:ext cx="2514600" cy="777240"/>
          </a:xfrm>
          <a:prstGeom prst="roundRect">
            <a:avLst>
              <a:gd name="adj" fmla="val 14118"/>
            </a:avLst>
          </a:prstGeom>
          <a:solidFill>
            <a:srgbClr val="FFF0C7"/>
          </a:solidFill>
          <a:ln/>
        </p:spPr>
        <p:txBody>
          <a:bodyPr wrap="square" lIns="76810" tIns="128016" rIns="128016" bIns="76810" rtlCol="0" anchor="t"/>
          <a:lstStyle/>
          <a:p>
            <a:pPr marL="0" indent="0" algn="l">
              <a:buNone/>
            </a:pPr>
            <a:r>
              <a:rPr lang="en-US" sz="1050" b="1" dirty="0">
                <a:solidFill>
                  <a:srgbClr val="22262E"/>
                </a:solidFill>
                <a:latin typeface="Calibri" pitchFamily="34" charset="0"/>
                <a:ea typeface="Calibri" pitchFamily="34" charset="-122"/>
                <a:cs typeface="Calibri" pitchFamily="34" charset="-120"/>
              </a:rPr>
              <a:t>Ties</a:t>
            </a:r>
            <a:endParaRPr lang="en-US" sz="1050" dirty="0"/>
          </a:p>
          <a:p>
            <a:pPr marL="0" indent="0" algn="l">
              <a:buNone/>
            </a:pPr>
            <a:r>
              <a:rPr lang="en-US" sz="1050" dirty="0">
                <a:solidFill>
                  <a:srgbClr val="22262E"/>
                </a:solidFill>
                <a:latin typeface="Calibri" pitchFamily="34" charset="0"/>
                <a:ea typeface="Calibri" pitchFamily="34" charset="-122"/>
                <a:cs typeface="Calibri" pitchFamily="34" charset="-120"/>
              </a:rPr>
              <a:t>Strict "&gt;": first sense examined wins (WordNet order = frequency).</a:t>
            </a:r>
            <a:endParaRPr lang="en-US" sz="1050" dirty="0"/>
          </a:p>
        </p:txBody>
      </p:sp>
      <p:sp>
        <p:nvSpPr>
          <p:cNvPr id="28" name="a6_fly_600_139"/>
          <p:cNvSpPr/>
          <p:nvPr/>
        </p:nvSpPr>
        <p:spPr>
          <a:xfrm>
            <a:off x="6172200" y="3749040"/>
            <a:ext cx="2514600" cy="777240"/>
          </a:xfrm>
          <a:prstGeom prst="roundRect">
            <a:avLst>
              <a:gd name="adj" fmla="val 14118"/>
            </a:avLst>
          </a:prstGeom>
          <a:solidFill>
            <a:srgbClr val="FFF0C7"/>
          </a:solidFill>
          <a:ln/>
        </p:spPr>
        <p:txBody>
          <a:bodyPr wrap="square" lIns="76810" tIns="128016" rIns="128016" bIns="76810" rtlCol="0" anchor="t"/>
          <a:lstStyle/>
          <a:p>
            <a:pPr marL="0" indent="0" algn="l">
              <a:buNone/>
            </a:pPr>
            <a:r>
              <a:rPr lang="en-US" sz="1050" b="1" dirty="0">
                <a:solidFill>
                  <a:srgbClr val="22262E"/>
                </a:solidFill>
                <a:latin typeface="Calibri" pitchFamily="34" charset="0"/>
                <a:ea typeface="Calibri" pitchFamily="34" charset="-122"/>
                <a:cs typeface="Calibri" pitchFamily="34" charset="-120"/>
              </a:rPr>
              <a:t>No overlap at all</a:t>
            </a:r>
            <a:endParaRPr lang="en-US" sz="1050" dirty="0"/>
          </a:p>
          <a:p>
            <a:pPr marL="0" indent="0" algn="l">
              <a:buNone/>
            </a:pPr>
            <a:r>
              <a:rPr lang="en-US" sz="1050" dirty="0">
                <a:solidFill>
                  <a:srgbClr val="22262E"/>
                </a:solidFill>
                <a:latin typeface="Calibri" pitchFamily="34" charset="0"/>
                <a:ea typeface="Calibri" pitchFamily="34" charset="-122"/>
                <a:cs typeface="Calibri" pitchFamily="34" charset="-120"/>
              </a:rPr>
              <a:t>Back off to the most frequent sense (may be wrong).</a:t>
            </a:r>
            <a:endParaRPr lang="en-US" sz="1050" dirty="0"/>
          </a:p>
        </p:txBody>
      </p:sp>
      <p:sp>
        <p:nvSpPr>
          <p:cNvPr id="29" name="Text 26"/>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26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32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38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44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5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10" presetClass="entr" presetSubtype="0" fill="hold" grpId="0" nodeType="withEffect">
                                  <p:stCondLst>
                                    <p:cond delay="2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26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32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500"/>
                                        <p:tgtEl>
                                          <p:spTgt spid="17"/>
                                        </p:tgtEl>
                                      </p:cBhvr>
                                    </p:animEffect>
                                  </p:childTnLst>
                                </p:cTn>
                              </p:par>
                              <p:par>
                                <p:cTn id="50" presetID="10" presetClass="entr" presetSubtype="0" fill="hold" grpId="0" nodeType="withEffect">
                                  <p:stCondLst>
                                    <p:cond delay="2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26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500"/>
                                        <p:tgtEl>
                                          <p:spTgt spid="20"/>
                                        </p:tgtEl>
                                      </p:cBhvr>
                                    </p:animEffect>
                                  </p:childTnLst>
                                </p:cTn>
                              </p:par>
                              <p:par>
                                <p:cTn id="61" presetID="10" presetClass="entr" presetSubtype="0" fill="hold" grpId="0" nodeType="withEffect">
                                  <p:stCondLst>
                                    <p:cond delay="20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26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ipe(left)">
                                      <p:cBhvr>
                                        <p:cTn id="71" dur="500"/>
                                        <p:tgtEl>
                                          <p:spTgt spid="23"/>
                                        </p:tgtEl>
                                      </p:cBhvr>
                                    </p:animEffect>
                                  </p:childTnLst>
                                </p:cTn>
                              </p:par>
                              <p:par>
                                <p:cTn id="72" presetID="10" presetClass="entr" presetSubtype="0" fill="hold" grpId="0" nodeType="withEffect">
                                  <p:stCondLst>
                                    <p:cond delay="20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20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40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60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2 · THE SOLUTION</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What counts as a match?</a:t>
            </a:r>
            <a:endParaRPr lang="en-US" sz="2800" dirty="0"/>
          </a:p>
        </p:txBody>
      </p:sp>
      <p:sp>
        <p:nvSpPr>
          <p:cNvPr id="5" name="a1_wipe_0_335"/>
          <p:cNvSpPr/>
          <p:nvPr/>
        </p:nvSpPr>
        <p:spPr>
          <a:xfrm>
            <a:off x="457200" y="1143000"/>
            <a:ext cx="4114800" cy="603504"/>
          </a:xfrm>
          <a:prstGeom prst="roundRect">
            <a:avLst>
              <a:gd name="adj" fmla="val 18182"/>
            </a:avLst>
          </a:prstGeom>
          <a:solidFill>
            <a:srgbClr val="F2F4F8"/>
          </a:solidFill>
          <a:ln/>
        </p:spPr>
        <p:txBody>
          <a:bodyPr wrap="square" lIns="76810" tIns="128016" rIns="128016" bIns="76810" rtlCol="0" anchor="ctr"/>
          <a:lstStyle/>
          <a:p>
            <a:pPr marL="0" indent="0" algn="l">
              <a:buNone/>
            </a:pPr>
            <a:r>
              <a:rPr lang="en-US" sz="1150" b="1" dirty="0">
                <a:solidFill>
                  <a:srgbClr val="22262E"/>
                </a:solidFill>
                <a:latin typeface="Calibri" pitchFamily="34" charset="0"/>
                <a:ea typeface="Calibri" pitchFamily="34" charset="-122"/>
                <a:cs typeface="Calibri" pitchFamily="34" charset="-120"/>
              </a:rPr>
              <a:t>1.  Ignore common words</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the, a, an, is, of, and, to, in</a:t>
            </a:r>
            <a:endParaRPr lang="en-US" sz="1150" dirty="0"/>
          </a:p>
        </p:txBody>
      </p:sp>
      <p:sp>
        <p:nvSpPr>
          <p:cNvPr id="6" name="a1_wipe_200_336"/>
          <p:cNvSpPr/>
          <p:nvPr/>
        </p:nvSpPr>
        <p:spPr>
          <a:xfrm>
            <a:off x="457200" y="1819656"/>
            <a:ext cx="4114800" cy="603504"/>
          </a:xfrm>
          <a:prstGeom prst="roundRect">
            <a:avLst>
              <a:gd name="adj" fmla="val 18182"/>
            </a:avLst>
          </a:prstGeom>
          <a:solidFill>
            <a:srgbClr val="F2F4F8"/>
          </a:solidFill>
          <a:ln/>
        </p:spPr>
        <p:txBody>
          <a:bodyPr wrap="square" lIns="76810" tIns="128016" rIns="128016" bIns="76810" rtlCol="0" anchor="ctr"/>
          <a:lstStyle/>
          <a:p>
            <a:pPr marL="0" indent="0" algn="l">
              <a:buNone/>
            </a:pPr>
            <a:r>
              <a:rPr lang="en-US" sz="1150" b="1" dirty="0">
                <a:solidFill>
                  <a:srgbClr val="22262E"/>
                </a:solidFill>
                <a:latin typeface="Calibri" pitchFamily="34" charset="0"/>
                <a:ea typeface="Calibri" pitchFamily="34" charset="-122"/>
                <a:cs typeface="Calibri" pitchFamily="34" charset="-120"/>
              </a:rPr>
              <a:t>2.  Ignore the target word</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“bank” appearing in the sentence earns no point</a:t>
            </a:r>
            <a:endParaRPr lang="en-US" sz="1150" dirty="0"/>
          </a:p>
        </p:txBody>
      </p:sp>
      <p:sp>
        <p:nvSpPr>
          <p:cNvPr id="7" name="a1_wipe_400_337"/>
          <p:cNvSpPr/>
          <p:nvPr/>
        </p:nvSpPr>
        <p:spPr>
          <a:xfrm>
            <a:off x="457200" y="2496312"/>
            <a:ext cx="4114800" cy="603504"/>
          </a:xfrm>
          <a:prstGeom prst="roundRect">
            <a:avLst>
              <a:gd name="adj" fmla="val 18182"/>
            </a:avLst>
          </a:prstGeom>
          <a:solidFill>
            <a:srgbClr val="F2F4F8"/>
          </a:solidFill>
          <a:ln/>
        </p:spPr>
        <p:txBody>
          <a:bodyPr wrap="square" lIns="76810" tIns="128016" rIns="128016" bIns="76810" rtlCol="0" anchor="ctr"/>
          <a:lstStyle/>
          <a:p>
            <a:pPr marL="0" indent="0" algn="l">
              <a:buNone/>
            </a:pPr>
            <a:r>
              <a:rPr lang="en-US" sz="1150" b="1" dirty="0">
                <a:solidFill>
                  <a:srgbClr val="22262E"/>
                </a:solidFill>
                <a:latin typeface="Calibri" pitchFamily="34" charset="0"/>
                <a:ea typeface="Calibri" pitchFamily="34" charset="-122"/>
                <a:cs typeface="Calibri" pitchFamily="34" charset="-120"/>
              </a:rPr>
              <a:t>3.  Compare meaningful words</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money, deposit, river, machine, tree …</a:t>
            </a:r>
            <a:endParaRPr lang="en-US" sz="1150" dirty="0"/>
          </a:p>
        </p:txBody>
      </p:sp>
      <p:sp>
        <p:nvSpPr>
          <p:cNvPr id="8" name="a1_wipe_600_338"/>
          <p:cNvSpPr/>
          <p:nvPr/>
        </p:nvSpPr>
        <p:spPr>
          <a:xfrm>
            <a:off x="457200" y="3172968"/>
            <a:ext cx="4114800" cy="603504"/>
          </a:xfrm>
          <a:prstGeom prst="roundRect">
            <a:avLst>
              <a:gd name="adj" fmla="val 18182"/>
            </a:avLst>
          </a:prstGeom>
          <a:solidFill>
            <a:srgbClr val="F2F4F8"/>
          </a:solidFill>
          <a:ln/>
        </p:spPr>
        <p:txBody>
          <a:bodyPr wrap="square" lIns="76810" tIns="128016" rIns="128016" bIns="76810" rtlCol="0" anchor="ctr"/>
          <a:lstStyle/>
          <a:p>
            <a:pPr marL="0" indent="0" algn="l">
              <a:buNone/>
            </a:pPr>
            <a:r>
              <a:rPr lang="en-US" sz="1150" b="1" dirty="0">
                <a:solidFill>
                  <a:srgbClr val="22262E"/>
                </a:solidFill>
                <a:latin typeface="Calibri" pitchFamily="34" charset="0"/>
                <a:ea typeface="Calibri" pitchFamily="34" charset="-122"/>
                <a:cs typeface="Calibri" pitchFamily="34" charset="-120"/>
              </a:rPr>
              <a:t>4.  Stemming / lemmatisation allowed?</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then deposit ↔ deposits counts as a match</a:t>
            </a:r>
            <a:endParaRPr lang="en-US" sz="1150" dirty="0"/>
          </a:p>
        </p:txBody>
      </p:sp>
      <p:sp>
        <p:nvSpPr>
          <p:cNvPr id="9" name="a1_wipe_800_339"/>
          <p:cNvSpPr/>
          <p:nvPr/>
        </p:nvSpPr>
        <p:spPr>
          <a:xfrm>
            <a:off x="457200" y="3849624"/>
            <a:ext cx="4114800" cy="603504"/>
          </a:xfrm>
          <a:prstGeom prst="roundRect">
            <a:avLst>
              <a:gd name="adj" fmla="val 18182"/>
            </a:avLst>
          </a:prstGeom>
          <a:solidFill>
            <a:srgbClr val="FFF0C7"/>
          </a:solidFill>
          <a:ln/>
        </p:spPr>
        <p:txBody>
          <a:bodyPr wrap="square" lIns="76810" tIns="128016" rIns="128016" bIns="76810" rtlCol="0" anchor="ctr"/>
          <a:lstStyle/>
          <a:p>
            <a:pPr marL="0" indent="0" algn="l">
              <a:buNone/>
            </a:pPr>
            <a:r>
              <a:rPr lang="en-US" sz="1150" b="1" dirty="0">
                <a:solidFill>
                  <a:srgbClr val="22262E"/>
                </a:solidFill>
                <a:latin typeface="Calibri" pitchFamily="34" charset="0"/>
                <a:ea typeface="Calibri" pitchFamily="34" charset="-122"/>
                <a:cs typeface="Calibri" pitchFamily="34" charset="-120"/>
              </a:rPr>
              <a:t>5.  Not mentioned?</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Exact matching is safest. State your rule.</a:t>
            </a:r>
            <a:endParaRPr lang="en-US" sz="1150" dirty="0"/>
          </a:p>
        </p:txBody>
      </p:sp>
      <p:sp>
        <p:nvSpPr>
          <p:cNvPr id="10" name="a2_fade_0_340"/>
          <p:cNvSpPr/>
          <p:nvPr/>
        </p:nvSpPr>
        <p:spPr>
          <a:xfrm>
            <a:off x="4754880" y="1143000"/>
            <a:ext cx="3931920" cy="1325880"/>
          </a:xfrm>
          <a:prstGeom prst="roundRect">
            <a:avLst>
              <a:gd name="adj" fmla="val 8276"/>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Why drop “the, a, and”?</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Grammar words create false matches without telling us anything about meaning. The words that matter are content words: money, deposit, river, machine, production, tree, evergreen.</a:t>
            </a:r>
            <a:endParaRPr lang="en-US" sz="1150" dirty="0"/>
          </a:p>
        </p:txBody>
      </p:sp>
      <p:sp>
        <p:nvSpPr>
          <p:cNvPr id="11" name="a3_fade_0_341"/>
          <p:cNvSpPr/>
          <p:nvPr/>
        </p:nvSpPr>
        <p:spPr>
          <a:xfrm>
            <a:off x="4754880" y="2606040"/>
            <a:ext cx="3931920" cy="777240"/>
          </a:xfrm>
          <a:prstGeom prst="roundRect">
            <a:avLst>
              <a:gd name="adj" fmla="val 14118"/>
            </a:avLst>
          </a:prstGeom>
          <a:solidFill>
            <a:srgbClr val="F2F4F8"/>
          </a:solidFill>
          <a:ln/>
        </p:spPr>
        <p:txBody>
          <a:bodyPr wrap="square" lIns="76810" tIns="128016" rIns="128016" bIns="76810" rtlCol="0" anchor="t"/>
          <a:lstStyle/>
          <a:p>
            <a:pPr marL="0" indent="0" algn="l">
              <a:buNone/>
            </a:pPr>
            <a:r>
              <a:rPr lang="en-US" sz="1100" b="1" dirty="0">
                <a:solidFill>
                  <a:srgbClr val="22262E"/>
                </a:solidFill>
                <a:latin typeface="Calibri" pitchFamily="34" charset="0"/>
                <a:ea typeface="Calibri" pitchFamily="34" charset="-122"/>
                <a:cs typeface="Calibri" pitchFamily="34" charset="-120"/>
              </a:rPr>
              <a:t>Same example, two rules</a:t>
            </a:r>
            <a:endParaRPr lang="en-US" sz="1100" dirty="0"/>
          </a:p>
          <a:p>
            <a:pPr marL="0" indent="0" algn="l">
              <a:buNone/>
            </a:pPr>
            <a:r>
              <a:rPr lang="en-US" sz="1100" dirty="0">
                <a:solidFill>
                  <a:srgbClr val="22262E"/>
                </a:solidFill>
                <a:latin typeface="Calibri" pitchFamily="34" charset="0"/>
                <a:ea typeface="Calibri" pitchFamily="34" charset="-122"/>
                <a:cs typeface="Calibri" pitchFamily="34" charset="-120"/>
              </a:rPr>
              <a:t>Gloss {institution, accepts, deposits, handles, money} vs context {went, deposit, money}</a:t>
            </a:r>
            <a:endParaRPr lang="en-US" sz="1100" dirty="0"/>
          </a:p>
        </p:txBody>
      </p:sp>
      <p:sp>
        <p:nvSpPr>
          <p:cNvPr id="12" name="a3_wipe_200_342"/>
          <p:cNvSpPr/>
          <p:nvPr/>
        </p:nvSpPr>
        <p:spPr>
          <a:xfrm>
            <a:off x="4754880" y="3474720"/>
            <a:ext cx="1874520" cy="1005840"/>
          </a:xfrm>
          <a:prstGeom prst="roundRect">
            <a:avLst>
              <a:gd name="adj" fmla="val 10909"/>
            </a:avLst>
          </a:prstGeom>
          <a:solidFill>
            <a:srgbClr val="FDE6E1"/>
          </a:solidFill>
          <a:ln/>
        </p:spPr>
        <p:txBody>
          <a:bodyPr wrap="square" lIns="76810" tIns="128016" rIns="128016" bIns="76810" rtlCol="0" anchor="ctr"/>
          <a:lstStyle/>
          <a:p>
            <a:pPr marL="0" indent="0" algn="l">
              <a:buNone/>
            </a:pPr>
            <a:r>
              <a:rPr lang="en-US" sz="1200" b="1" dirty="0">
                <a:solidFill>
                  <a:srgbClr val="22262E"/>
                </a:solidFill>
                <a:latin typeface="Calibri" pitchFamily="34" charset="0"/>
                <a:ea typeface="Calibri" pitchFamily="34" charset="-122"/>
                <a:cs typeface="Calibri" pitchFamily="34" charset="-120"/>
              </a:rPr>
              <a:t>Exact match</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{money}</a:t>
            </a:r>
            <a:endParaRPr lang="en-US" sz="1200" dirty="0"/>
          </a:p>
        </p:txBody>
      </p:sp>
      <p:sp>
        <p:nvSpPr>
          <p:cNvPr id="13" name="a3_zoom_400_343"/>
          <p:cNvSpPr/>
          <p:nvPr/>
        </p:nvSpPr>
        <p:spPr>
          <a:xfrm>
            <a:off x="6035040" y="3749040"/>
            <a:ext cx="457200" cy="457200"/>
          </a:xfrm>
          <a:prstGeom prst="ellipse">
            <a:avLst/>
          </a:prstGeom>
          <a:solidFill>
            <a:srgbClr val="C9D0DC"/>
          </a:solidFill>
          <a:ln/>
        </p:spPr>
        <p:txBody>
          <a:bodyPr wrap="square" lIns="0" tIns="0" rIns="0" bIns="0" rtlCol="0" anchor="ctr"/>
          <a:lstStyle/>
          <a:p>
            <a:pPr marL="0" indent="0" algn="ctr">
              <a:buNone/>
            </a:pPr>
            <a:r>
              <a:rPr lang="en-US" sz="2000" b="1" dirty="0">
                <a:solidFill>
                  <a:srgbClr val="22262E"/>
                </a:solidFill>
                <a:latin typeface="Cambria" pitchFamily="34" charset="0"/>
                <a:ea typeface="Cambria" pitchFamily="34" charset="-122"/>
                <a:cs typeface="Cambria" pitchFamily="34" charset="-120"/>
              </a:rPr>
              <a:t>1</a:t>
            </a:r>
            <a:endParaRPr lang="en-US" sz="2000" dirty="0"/>
          </a:p>
        </p:txBody>
      </p:sp>
      <p:sp>
        <p:nvSpPr>
          <p:cNvPr id="14" name="a3_wipe_400_344"/>
          <p:cNvSpPr/>
          <p:nvPr/>
        </p:nvSpPr>
        <p:spPr>
          <a:xfrm>
            <a:off x="6812280" y="3474720"/>
            <a:ext cx="1874520" cy="1005840"/>
          </a:xfrm>
          <a:prstGeom prst="roundRect">
            <a:avLst>
              <a:gd name="adj" fmla="val 10909"/>
            </a:avLst>
          </a:prstGeom>
          <a:solidFill>
            <a:srgbClr val="E2F3F0"/>
          </a:solidFill>
          <a:ln/>
        </p:spPr>
        <p:txBody>
          <a:bodyPr wrap="square" lIns="76810" tIns="128016" rIns="128016" bIns="76810" rtlCol="0" anchor="ctr"/>
          <a:lstStyle/>
          <a:p>
            <a:pPr marL="0" indent="0" algn="l">
              <a:buNone/>
            </a:pPr>
            <a:r>
              <a:rPr lang="en-US" sz="1200" b="1" dirty="0">
                <a:solidFill>
                  <a:srgbClr val="22262E"/>
                </a:solidFill>
                <a:latin typeface="Calibri" pitchFamily="34" charset="0"/>
                <a:ea typeface="Calibri" pitchFamily="34" charset="-122"/>
                <a:cs typeface="Calibri" pitchFamily="34" charset="-120"/>
              </a:rPr>
              <a:t>Lemmatised</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{deposit, money}</a:t>
            </a:r>
            <a:endParaRPr lang="en-US" sz="1200" dirty="0"/>
          </a:p>
        </p:txBody>
      </p:sp>
      <p:sp>
        <p:nvSpPr>
          <p:cNvPr id="15" name="a3_zoom_600_345"/>
          <p:cNvSpPr/>
          <p:nvPr/>
        </p:nvSpPr>
        <p:spPr>
          <a:xfrm>
            <a:off x="8092440" y="3749040"/>
            <a:ext cx="457200" cy="457200"/>
          </a:xfrm>
          <a:prstGeom prst="ellipse">
            <a:avLst/>
          </a:prstGeom>
          <a:solidFill>
            <a:srgbClr val="F4A300"/>
          </a:solidFill>
          <a:ln/>
        </p:spPr>
        <p:txBody>
          <a:bodyPr wrap="square" lIns="0" tIns="0" rIns="0" bIns="0" rtlCol="0" anchor="ctr"/>
          <a:lstStyle/>
          <a:p>
            <a:pPr marL="0" indent="0" algn="ctr">
              <a:buNone/>
            </a:pPr>
            <a:r>
              <a:rPr lang="en-US" sz="2000" b="1" dirty="0">
                <a:solidFill>
                  <a:srgbClr val="22262E"/>
                </a:solidFill>
                <a:latin typeface="Cambria" pitchFamily="34" charset="0"/>
                <a:ea typeface="Cambria" pitchFamily="34" charset="-122"/>
                <a:cs typeface="Cambria" pitchFamily="34" charset="-120"/>
              </a:rPr>
              <a:t>2</a:t>
            </a:r>
            <a:endParaRPr lang="en-US" sz="2000" dirty="0"/>
          </a:p>
        </p:txBody>
      </p:sp>
      <p:sp>
        <p:nvSpPr>
          <p:cNvPr id="16" name="Text 13"/>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40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60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8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22" presetClass="entr" presetSubtype="8" fill="hold" grpId="0" nodeType="withEffect">
                                  <p:stCondLst>
                                    <p:cond delay="20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par>
                                <p:cTn id="33" presetID="53" presetClass="entr" presetSubtype="16" fill="hold" grpId="0" nodeType="withEffect">
                                  <p:stCondLst>
                                    <p:cond delay="40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ppt_w</p:attrName>
                                        </p:attrNameLst>
                                      </p:cBhvr>
                                      <p:tavLst>
                                        <p:tav tm="0">
                                          <p:val>
                                            <p:fltVal val="0"/>
                                          </p:val>
                                        </p:tav>
                                        <p:tav tm="100000">
                                          <p:val>
                                            <p:strVal val="#ppt_w"/>
                                          </p:val>
                                        </p:tav>
                                      </p:tavLst>
                                    </p:anim>
                                    <p:anim calcmode="lin" valueType="num">
                                      <p:cBhvr additive="base">
                                        <p:cTn id="36" dur="500" fill="hold"/>
                                        <p:tgtEl>
                                          <p:spTgt spid="13"/>
                                        </p:tgtEl>
                                        <p:attrNameLst>
                                          <p:attrName>ppt_h</p:attrName>
                                        </p:attrNameLst>
                                      </p:cBhvr>
                                      <p:tavLst>
                                        <p:tav tm="0">
                                          <p:val>
                                            <p:fltVal val="0"/>
                                          </p:val>
                                        </p:tav>
                                        <p:tav tm="100000">
                                          <p:val>
                                            <p:strVal val="#ppt_h"/>
                                          </p:val>
                                        </p:tav>
                                      </p:tavLst>
                                    </p:anim>
                                    <p:animEffect transition="in" filter="fade">
                                      <p:cBhvr>
                                        <p:cTn id="37" dur="500"/>
                                        <p:tgtEl>
                                          <p:spTgt spid="13"/>
                                        </p:tgtEl>
                                      </p:cBhvr>
                                    </p:animEffect>
                                  </p:childTnLst>
                                </p:cTn>
                              </p:par>
                              <p:par>
                                <p:cTn id="38" presetID="22" presetClass="entr" presetSubtype="8" fill="hold" grpId="0" nodeType="withEffect">
                                  <p:stCondLst>
                                    <p:cond delay="40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par>
                                <p:cTn id="41" presetID="53" presetClass="entr" presetSubtype="16" fill="hold" grpId="0" nodeType="withEffect">
                                  <p:stCondLst>
                                    <p:cond delay="60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ppt_w</p:attrName>
                                        </p:attrNameLst>
                                      </p:cBhvr>
                                      <p:tavLst>
                                        <p:tav tm="0">
                                          <p:val>
                                            <p:fltVal val="0"/>
                                          </p:val>
                                        </p:tav>
                                        <p:tav tm="100000">
                                          <p:val>
                                            <p:strVal val="#ppt_w"/>
                                          </p:val>
                                        </p:tav>
                                      </p:tavLst>
                                    </p:anim>
                                    <p:anim calcmode="lin" valueType="num">
                                      <p:cBhvr additive="base">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2 · WALK-THROUGH</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Walk-through: “I sat by the bank fishing”</a:t>
            </a:r>
            <a:endParaRPr lang="en-US" sz="2800" dirty="0"/>
          </a:p>
        </p:txBody>
      </p:sp>
      <p:sp>
        <p:nvSpPr>
          <p:cNvPr id="5" name="a1_wipe_0_140"/>
          <p:cNvSpPr/>
          <p:nvPr/>
        </p:nvSpPr>
        <p:spPr>
          <a:xfrm>
            <a:off x="457200" y="1143000"/>
            <a:ext cx="4023360" cy="1051560"/>
          </a:xfrm>
          <a:prstGeom prst="roundRect">
            <a:avLst>
              <a:gd name="adj" fmla="val 10435"/>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bank (financial)  — hypothetical gloss</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An institution for receiving, lending and safeguarding money and facilitating financial transactions.</a:t>
            </a:r>
            <a:endParaRPr lang="en-US" sz="1150" dirty="0"/>
          </a:p>
        </p:txBody>
      </p:sp>
      <p:sp>
        <p:nvSpPr>
          <p:cNvPr id="6" name="a1_wipe_250_141"/>
          <p:cNvSpPr/>
          <p:nvPr/>
        </p:nvSpPr>
        <p:spPr>
          <a:xfrm>
            <a:off x="457200" y="2286000"/>
            <a:ext cx="4023360" cy="914400"/>
          </a:xfrm>
          <a:prstGeom prst="roundRect">
            <a:avLst>
              <a:gd name="adj" fmla="val 12000"/>
            </a:avLst>
          </a:prstGeom>
          <a:solidFill>
            <a:srgbClr val="FDE6E1"/>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bank (riverbank)  — hypothetical gloss</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The sloping margin of a watercourse, such as a river or stream.</a:t>
            </a:r>
            <a:endParaRPr lang="en-US" sz="1150" dirty="0"/>
          </a:p>
        </p:txBody>
      </p:sp>
      <p:sp>
        <p:nvSpPr>
          <p:cNvPr id="7" name="a2_fade_0_142"/>
          <p:cNvSpPr txBox="1"/>
          <p:nvPr/>
        </p:nvSpPr>
        <p:spPr>
          <a:xfrm>
            <a:off x="457200" y="3383280"/>
            <a:ext cx="1097280" cy="365760"/>
          </a:xfrm>
          <a:prstGeom prst="rect">
            <a:avLst/>
          </a:prstGeom>
          <a:noFill/>
          <a:ln/>
        </p:spPr>
        <p:txBody>
          <a:bodyPr wrap="square" lIns="0" tIns="0" rIns="0" bIns="0" rtlCol="0" anchor="ctr"/>
          <a:lstStyle/>
          <a:p>
            <a:pPr marL="0" indent="0">
              <a:buNone/>
            </a:pPr>
            <a:r>
              <a:rPr lang="en-US" sz="1400" b="1" dirty="0">
                <a:solidFill>
                  <a:srgbClr val="1B2A49"/>
                </a:solidFill>
                <a:latin typeface="Cambria" pitchFamily="34" charset="0"/>
                <a:ea typeface="Cambria" pitchFamily="34" charset="-122"/>
                <a:cs typeface="Cambria" pitchFamily="34" charset="-120"/>
              </a:rPr>
              <a:t>Context C</a:t>
            </a:r>
            <a:endParaRPr lang="en-US" sz="1400" dirty="0"/>
          </a:p>
        </p:txBody>
      </p:sp>
      <p:sp>
        <p:nvSpPr>
          <p:cNvPr id="8" name="a2_zoom_100_143"/>
          <p:cNvSpPr/>
          <p:nvPr/>
        </p:nvSpPr>
        <p:spPr>
          <a:xfrm>
            <a:off x="1554480" y="3410712"/>
            <a:ext cx="607527" cy="340868"/>
          </a:xfrm>
          <a:prstGeom prst="roundRect">
            <a:avLst>
              <a:gd name="adj" fmla="val 32191"/>
            </a:avLst>
          </a:prstGeom>
          <a:solidFill>
            <a:srgbClr val="E6EAF2"/>
          </a:solidFill>
          <a:ln/>
        </p:spPr>
        <p:txBody>
          <a:bodyPr wrap="square" lIns="0" tIns="0" rIns="0" bIns="0" rtlCol="0" anchor="ctr"/>
          <a:lstStyle/>
          <a:p>
            <a:pPr marL="0" indent="0" algn="ctr">
              <a:buNone/>
            </a:pPr>
            <a:r>
              <a:rPr lang="en-US" sz="1400" dirty="0">
                <a:solidFill>
                  <a:srgbClr val="22262E"/>
                </a:solidFill>
                <a:latin typeface="Calibri" pitchFamily="34" charset="0"/>
                <a:ea typeface="Calibri" pitchFamily="34" charset="-122"/>
                <a:cs typeface="Calibri" pitchFamily="34" charset="-120"/>
              </a:rPr>
              <a:t>sit</a:t>
            </a:r>
            <a:endParaRPr lang="en-US" sz="1400" dirty="0"/>
          </a:p>
        </p:txBody>
      </p:sp>
      <p:sp>
        <p:nvSpPr>
          <p:cNvPr id="9" name="a2_zoom_250_144"/>
          <p:cNvSpPr/>
          <p:nvPr/>
        </p:nvSpPr>
        <p:spPr>
          <a:xfrm>
            <a:off x="2226015" y="3410712"/>
            <a:ext cx="712500" cy="340868"/>
          </a:xfrm>
          <a:prstGeom prst="roundRect">
            <a:avLst>
              <a:gd name="adj" fmla="val 32191"/>
            </a:avLst>
          </a:prstGeom>
          <a:solidFill>
            <a:srgbClr val="E6EAF2"/>
          </a:solidFill>
          <a:ln/>
        </p:spPr>
        <p:txBody>
          <a:bodyPr wrap="square" lIns="0" tIns="0" rIns="0" bIns="0" rtlCol="0" anchor="ctr"/>
          <a:lstStyle/>
          <a:p>
            <a:pPr marL="0" indent="0" algn="ctr">
              <a:buNone/>
            </a:pPr>
            <a:r>
              <a:rPr lang="en-US" sz="1400" dirty="0">
                <a:solidFill>
                  <a:srgbClr val="22262E"/>
                </a:solidFill>
                <a:latin typeface="Calibri" pitchFamily="34" charset="0"/>
                <a:ea typeface="Calibri" pitchFamily="34" charset="-122"/>
                <a:cs typeface="Calibri" pitchFamily="34" charset="-120"/>
              </a:rPr>
              <a:t>fish</a:t>
            </a:r>
            <a:endParaRPr lang="en-US" sz="1400" dirty="0"/>
          </a:p>
        </p:txBody>
      </p:sp>
      <p:sp>
        <p:nvSpPr>
          <p:cNvPr id="10" name="a2_fade_400_145"/>
          <p:cNvSpPr txBox="1"/>
          <p:nvPr/>
        </p:nvSpPr>
        <p:spPr>
          <a:xfrm>
            <a:off x="3017520" y="3401568"/>
            <a:ext cx="1463040" cy="411480"/>
          </a:xfrm>
          <a:prstGeom prst="rect">
            <a:avLst/>
          </a:prstGeom>
          <a:noFill/>
          <a:ln/>
        </p:spPr>
        <p:txBody>
          <a:bodyPr wrap="square" lIns="0" tIns="0" rIns="0" bIns="0" rtlCol="0" anchor="t"/>
          <a:lstStyle/>
          <a:p>
            <a:pPr marL="0" indent="0">
              <a:buNone/>
            </a:pPr>
            <a:r>
              <a:rPr lang="en-US" sz="900" i="1" dirty="0">
                <a:solidFill>
                  <a:srgbClr val="5B6577"/>
                </a:solidFill>
                <a:latin typeface="Calibri" pitchFamily="34" charset="0"/>
                <a:ea typeface="Calibri" pitchFamily="34" charset="-122"/>
                <a:cs typeface="Calibri" pitchFamily="34" charset="-120"/>
              </a:rPr>
              <a:t>removed: i, by, the, bank</a:t>
            </a:r>
            <a:endParaRPr lang="en-US" sz="900" dirty="0"/>
          </a:p>
          <a:p>
            <a:pPr marL="0" indent="0">
              <a:buNone/>
            </a:pPr>
            <a:r>
              <a:rPr lang="en-US" sz="900" i="1" dirty="0">
                <a:solidFill>
                  <a:srgbClr val="5B6577"/>
                </a:solidFill>
                <a:latin typeface="Calibri" pitchFamily="34" charset="0"/>
                <a:ea typeface="Calibri" pitchFamily="34" charset="-122"/>
                <a:cs typeface="Calibri" pitchFamily="34" charset="-120"/>
              </a:rPr>
              <a:t>sat → sit, fishing → fish</a:t>
            </a:r>
            <a:endParaRPr lang="en-US" sz="900" dirty="0"/>
          </a:p>
        </p:txBody>
      </p:sp>
      <p:sp>
        <p:nvSpPr>
          <p:cNvPr id="11" name="a2_zoom_600_146"/>
          <p:cNvSpPr/>
          <p:nvPr/>
        </p:nvSpPr>
        <p:spPr>
          <a:xfrm>
            <a:off x="457200" y="3931920"/>
            <a:ext cx="4023360" cy="548640"/>
          </a:xfrm>
          <a:prstGeom prst="roundRect">
            <a:avLst>
              <a:gd name="adj" fmla="val 20000"/>
            </a:avLst>
          </a:prstGeom>
          <a:solidFill>
            <a:srgbClr val="D9503A"/>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financial: </a:t>
            </a:r>
            <a:r>
              <a:rPr lang="en-US" sz="1400" b="1" dirty="0">
                <a:solidFill>
                  <a:srgbClr val="FFFFFF"/>
                </a:solidFill>
                <a:latin typeface="Calibri" pitchFamily="34" charset="0"/>
                <a:ea typeface="Calibri" pitchFamily="34" charset="-122"/>
                <a:cs typeface="Calibri" pitchFamily="34" charset="-120"/>
              </a:rPr>
              <a:t>0</a:t>
            </a:r>
            <a:r>
              <a:rPr lang="en-US" sz="1400" dirty="0">
                <a:solidFill>
                  <a:srgbClr val="FFFFFF"/>
                </a:solidFill>
                <a:latin typeface="Calibri" pitchFamily="34" charset="0"/>
                <a:ea typeface="Calibri" pitchFamily="34" charset="-122"/>
                <a:cs typeface="Calibri" pitchFamily="34" charset="-120"/>
              </a:rPr>
              <a:t>      riverbank: </a:t>
            </a:r>
            <a:r>
              <a:rPr lang="en-US" sz="1400" b="1" dirty="0">
                <a:solidFill>
                  <a:srgbClr val="FFFFFF"/>
                </a:solidFill>
                <a:latin typeface="Calibri" pitchFamily="34" charset="0"/>
                <a:ea typeface="Calibri" pitchFamily="34" charset="-122"/>
                <a:cs typeface="Calibri" pitchFamily="34" charset="-120"/>
              </a:rPr>
              <a:t>0</a:t>
            </a:r>
            <a:r>
              <a:rPr lang="en-US" sz="1400" dirty="0">
                <a:solidFill>
                  <a:srgbClr val="FFFFFF"/>
                </a:solidFill>
                <a:latin typeface="Calibri" pitchFamily="34" charset="0"/>
                <a:ea typeface="Calibri" pitchFamily="34" charset="-122"/>
                <a:cs typeface="Calibri" pitchFamily="34" charset="-120"/>
              </a:rPr>
              <a:t>      → tie, no evidence</a:t>
            </a:r>
            <a:endParaRPr lang="en-US" sz="1400" dirty="0"/>
          </a:p>
        </p:txBody>
      </p:sp>
      <p:sp>
        <p:nvSpPr>
          <p:cNvPr id="12" name="a3_wipe_0_147"/>
          <p:cNvSpPr/>
          <p:nvPr/>
        </p:nvSpPr>
        <p:spPr>
          <a:xfrm>
            <a:off x="4663440" y="1143000"/>
            <a:ext cx="4023360" cy="2011680"/>
          </a:xfrm>
          <a:prstGeom prst="roundRect">
            <a:avLst>
              <a:gd name="adj" fmla="val 5455"/>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What the fuller Lesk adds</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Look up the definition of </a:t>
            </a:r>
            <a:endParaRPr lang="en-US" sz="1200" dirty="0"/>
          </a:p>
          <a:p>
            <a:pPr marL="0" indent="0" algn="l">
              <a:buNone/>
            </a:pPr>
            <a:r>
              <a:rPr lang="en-US" sz="1200" b="1" dirty="0">
                <a:solidFill>
                  <a:srgbClr val="22262E"/>
                </a:solidFill>
                <a:latin typeface="Calibri" pitchFamily="34" charset="0"/>
                <a:ea typeface="Calibri" pitchFamily="34" charset="-122"/>
                <a:cs typeface="Calibri" pitchFamily="34" charset="-120"/>
              </a:rPr>
              <a:t>fishing</a:t>
            </a:r>
            <a:r>
              <a:rPr lang="en-US" sz="1200" dirty="0">
                <a:solidFill>
                  <a:srgbClr val="22262E"/>
                </a:solidFill>
                <a:latin typeface="Calibri" pitchFamily="34" charset="0"/>
                <a:ea typeface="Calibri" pitchFamily="34" charset="-122"/>
                <a:cs typeface="Calibri" pitchFamily="34" charset="-120"/>
              </a:rPr>
              <a:t>: catch, fish, water, sport, angling.</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Riverbank gloss: watercourse, river, stream.</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The two clusters are about the same domain (water), but </a:t>
            </a:r>
            <a:endParaRPr lang="en-US" sz="1200" dirty="0"/>
          </a:p>
          <a:p>
            <a:pPr marL="0" indent="0" algn="l">
              <a:buNone/>
            </a:pPr>
            <a:r>
              <a:rPr lang="en-US" sz="1200" b="1" dirty="0">
                <a:solidFill>
                  <a:srgbClr val="22262E"/>
                </a:solidFill>
                <a:latin typeface="Calibri" pitchFamily="34" charset="0"/>
                <a:ea typeface="Calibri" pitchFamily="34" charset="-122"/>
                <a:cs typeface="Calibri" pitchFamily="34" charset="-120"/>
              </a:rPr>
              <a:t>no word is identical</a:t>
            </a:r>
            <a:r>
              <a:rPr lang="en-US" sz="1200" dirty="0">
                <a:solidFill>
                  <a:srgbClr val="22262E"/>
                </a:solidFill>
                <a:latin typeface="Calibri" pitchFamily="34" charset="0"/>
                <a:ea typeface="Calibri" pitchFamily="34" charset="-122"/>
                <a:cs typeface="Calibri" pitchFamily="34" charset="-120"/>
              </a:rPr>
              <a:t>.</a:t>
            </a:r>
            <a:endParaRPr lang="en-US" sz="1200" dirty="0"/>
          </a:p>
        </p:txBody>
      </p:sp>
      <p:sp>
        <p:nvSpPr>
          <p:cNvPr id="13" name="a4_zoom_0_148"/>
          <p:cNvSpPr/>
          <p:nvPr/>
        </p:nvSpPr>
        <p:spPr>
          <a:xfrm>
            <a:off x="4663440" y="3291840"/>
            <a:ext cx="4023360" cy="1188720"/>
          </a:xfrm>
          <a:prstGeom prst="roundRect">
            <a:avLst>
              <a:gd name="adj" fmla="val 9231"/>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The lesson</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A human links fishing to a river instantly. Exact string overlap cannot. This sparse-overlap gap is the reason for every extension later in the lesson.</a:t>
            </a:r>
            <a:endParaRPr lang="en-US" sz="1200" dirty="0"/>
          </a:p>
        </p:txBody>
      </p:sp>
      <p:sp>
        <p:nvSpPr>
          <p:cNvPr id="14" name="Text 11"/>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53" presetClass="entr" presetSubtype="16" fill="hold" grpId="0" nodeType="withEffect">
                                  <p:stCondLst>
                                    <p:cond delay="1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53" presetClass="entr" presetSubtype="16" fill="hold" grpId="0" nodeType="withEffect">
                                  <p:stCondLst>
                                    <p:cond delay="2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ppt_w</p:attrName>
                                        </p:attrNameLst>
                                      </p:cBhvr>
                                      <p:tavLst>
                                        <p:tav tm="0">
                                          <p:val>
                                            <p:fltVal val="0"/>
                                          </p:val>
                                        </p:tav>
                                        <p:tav tm="100000">
                                          <p:val>
                                            <p:strVal val="#ppt_w"/>
                                          </p:val>
                                        </p:tav>
                                      </p:tavLst>
                                    </p:anim>
                                    <p:anim calcmode="lin" valueType="num">
                                      <p:cBhvr additive="base">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par>
                                <p:cTn id="26" presetID="10" presetClass="entr" presetSubtype="0" fill="hold" grpId="0" nodeType="withEffect">
                                  <p:stCondLst>
                                    <p:cond delay="4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53" presetClass="entr" presetSubtype="16" fill="hold" grpId="0" nodeType="withEffect">
                                  <p:stCondLst>
                                    <p:cond delay="6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ppt_w</p:attrName>
                                        </p:attrNameLst>
                                      </p:cBhvr>
                                      <p:tavLst>
                                        <p:tav tm="0">
                                          <p:val>
                                            <p:fltVal val="0"/>
                                          </p:val>
                                        </p:tav>
                                        <p:tav tm="100000">
                                          <p:val>
                                            <p:strVal val="#ppt_w"/>
                                          </p:val>
                                        </p:tav>
                                      </p:tavLst>
                                    </p:anim>
                                    <p:anim calcmode="lin" valueType="num">
                                      <p:cBhvr additive="base">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ppt_w</p:attrName>
                                        </p:attrNameLst>
                                      </p:cBhvr>
                                      <p:tavLst>
                                        <p:tav tm="0">
                                          <p:val>
                                            <p:fltVal val="0"/>
                                          </p:val>
                                        </p:tav>
                                        <p:tav tm="100000">
                                          <p:val>
                                            <p:strVal val="#ppt_w"/>
                                          </p:val>
                                        </p:tav>
                                      </p:tavLst>
                                    </p:anim>
                                    <p:anim calcmode="lin" valueType="num">
                                      <p:cBhvr additive="base">
                                        <p:cTn id="44" dur="500" fill="hold"/>
                                        <p:tgtEl>
                                          <p:spTgt spid="13"/>
                                        </p:tgtEl>
                                        <p:attrNameLst>
                                          <p:attrName>ppt_h</p:attrName>
                                        </p:attrNameLst>
                                      </p:cBhvr>
                                      <p:tavLst>
                                        <p:tav tm="0">
                                          <p:val>
                                            <p:fltVal val="0"/>
                                          </p:val>
                                        </p:tav>
                                        <p:tav tm="100000">
                                          <p:val>
                                            <p:strVal val="#ppt_h"/>
                                          </p:val>
                                        </p:tav>
                                      </p:tavLst>
                                    </p:anim>
                                    <p:animEffect transition="in" filter="fade">
                                      <p:cBhvr>
                                        <p:cTn id="4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3 · WORKED SUM 1 (BASIC)</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Sum 1: “bank” in Text 1</a:t>
            </a:r>
            <a:endParaRPr lang="en-US" sz="2800" dirty="0"/>
          </a:p>
        </p:txBody>
      </p:sp>
      <p:sp>
        <p:nvSpPr>
          <p:cNvPr id="5" name="a1_wipe_0_149"/>
          <p:cNvSpPr/>
          <p:nvPr/>
        </p:nvSpPr>
        <p:spPr>
          <a:xfrm>
            <a:off x="457200" y="1143000"/>
            <a:ext cx="4023360" cy="1005840"/>
          </a:xfrm>
          <a:prstGeom prst="roundRect">
            <a:avLst>
              <a:gd name="adj" fmla="val 10909"/>
            </a:avLst>
          </a:prstGeom>
          <a:solidFill>
            <a:srgbClr val="E2F3F0"/>
          </a:solidFill>
          <a:ln/>
        </p:spPr>
        <p:txBody>
          <a:bodyPr wrap="square" lIns="76810" tIns="128016" rIns="128016" bIns="76810" rtlCol="0" anchor="t"/>
          <a:lstStyle/>
          <a:p>
            <a:pPr marL="0" indent="0" algn="l">
              <a:buNone/>
            </a:pPr>
            <a:r>
              <a:rPr lang="en-US" sz="1050" b="1" dirty="0">
                <a:solidFill>
                  <a:srgbClr val="22262E"/>
                </a:solidFill>
                <a:latin typeface="Calibri" pitchFamily="34" charset="0"/>
                <a:ea typeface="Calibri" pitchFamily="34" charset="-122"/>
                <a:cs typeface="Calibri" pitchFamily="34" charset="-120"/>
              </a:rPr>
              <a:t>bank 1 (financial)</a:t>
            </a:r>
            <a:endParaRPr lang="en-US" sz="1050" dirty="0"/>
          </a:p>
          <a:p>
            <a:pPr marL="0" indent="0" algn="l">
              <a:buNone/>
            </a:pPr>
            <a:r>
              <a:rPr lang="en-US" sz="1050" dirty="0">
                <a:solidFill>
                  <a:srgbClr val="22262E"/>
                </a:solidFill>
                <a:latin typeface="Calibri" pitchFamily="34" charset="0"/>
                <a:ea typeface="Calibri" pitchFamily="34" charset="-122"/>
                <a:cs typeface="Calibri" pitchFamily="34" charset="-120"/>
              </a:rPr>
              <a:t>{financial, institution, accept, deposit, channel, money, lend, activity, cash, check, hold, mortgage, home}</a:t>
            </a:r>
            <a:endParaRPr lang="en-US" sz="1050" dirty="0"/>
          </a:p>
        </p:txBody>
      </p:sp>
      <p:sp>
        <p:nvSpPr>
          <p:cNvPr id="6" name="a1_wipe_250_150"/>
          <p:cNvSpPr/>
          <p:nvPr/>
        </p:nvSpPr>
        <p:spPr>
          <a:xfrm>
            <a:off x="4663440" y="1143000"/>
            <a:ext cx="4023360" cy="1005840"/>
          </a:xfrm>
          <a:prstGeom prst="roundRect">
            <a:avLst>
              <a:gd name="adj" fmla="val 10909"/>
            </a:avLst>
          </a:prstGeom>
          <a:solidFill>
            <a:srgbClr val="FDE6E1"/>
          </a:solidFill>
          <a:ln/>
        </p:spPr>
        <p:txBody>
          <a:bodyPr wrap="square" lIns="76810" tIns="128016" rIns="128016" bIns="76810" rtlCol="0" anchor="t"/>
          <a:lstStyle/>
          <a:p>
            <a:pPr marL="0" indent="0" algn="l">
              <a:buNone/>
            </a:pPr>
            <a:r>
              <a:rPr lang="en-US" sz="1050" b="1" dirty="0">
                <a:solidFill>
                  <a:srgbClr val="22262E"/>
                </a:solidFill>
                <a:latin typeface="Calibri" pitchFamily="34" charset="0"/>
                <a:ea typeface="Calibri" pitchFamily="34" charset="-122"/>
                <a:cs typeface="Calibri" pitchFamily="34" charset="-120"/>
              </a:rPr>
              <a:t>bank 2 (slope)</a:t>
            </a:r>
            <a:endParaRPr lang="en-US" sz="1050" dirty="0"/>
          </a:p>
          <a:p>
            <a:pPr marL="0" indent="0" algn="l">
              <a:buNone/>
            </a:pPr>
            <a:r>
              <a:rPr lang="en-US" sz="1050" dirty="0">
                <a:solidFill>
                  <a:srgbClr val="22262E"/>
                </a:solidFill>
                <a:latin typeface="Calibri" pitchFamily="34" charset="0"/>
                <a:ea typeface="Calibri" pitchFamily="34" charset="-122"/>
                <a:cs typeface="Calibri" pitchFamily="34" charset="-120"/>
              </a:rPr>
              <a:t>{slope, land, body, water, pull, canoe, sit, river, watch, current}</a:t>
            </a:r>
            <a:endParaRPr lang="en-US" sz="1050" dirty="0"/>
          </a:p>
        </p:txBody>
      </p:sp>
      <p:sp>
        <p:nvSpPr>
          <p:cNvPr id="7" name="a2_fade_0_151"/>
          <p:cNvSpPr txBox="1"/>
          <p:nvPr/>
        </p:nvSpPr>
        <p:spPr>
          <a:xfrm>
            <a:off x="457200" y="2286000"/>
            <a:ext cx="8229600" cy="274320"/>
          </a:xfrm>
          <a:prstGeom prst="rect">
            <a:avLst/>
          </a:prstGeom>
          <a:noFill/>
          <a:ln/>
        </p:spPr>
        <p:txBody>
          <a:bodyPr wrap="square" lIns="0" tIns="0" rIns="0" bIns="0" rtlCol="0" anchor="t"/>
          <a:lstStyle/>
          <a:p>
            <a:pPr marL="0" indent="0">
              <a:buNone/>
            </a:pPr>
            <a:r>
              <a:rPr lang="en-US" sz="1400" b="1" dirty="0">
                <a:solidFill>
                  <a:srgbClr val="1B2A49"/>
                </a:solidFill>
                <a:latin typeface="Calibri" pitchFamily="34" charset="0"/>
                <a:ea typeface="Calibri" pitchFamily="34" charset="-122"/>
                <a:cs typeface="Calibri" pitchFamily="34" charset="-120"/>
              </a:rPr>
              <a:t>Text 1:  “I went to the bank to deposit my money.”</a:t>
            </a:r>
            <a:endParaRPr lang="en-US" sz="1400" dirty="0"/>
          </a:p>
        </p:txBody>
      </p:sp>
      <p:sp>
        <p:nvSpPr>
          <p:cNvPr id="8" name="a2_fade_200_152"/>
          <p:cNvSpPr txBox="1"/>
          <p:nvPr/>
        </p:nvSpPr>
        <p:spPr>
          <a:xfrm>
            <a:off x="457200" y="2633472"/>
            <a:ext cx="1097280" cy="365760"/>
          </a:xfrm>
          <a:prstGeom prst="rect">
            <a:avLst/>
          </a:prstGeom>
          <a:noFill/>
          <a:ln/>
        </p:spPr>
        <p:txBody>
          <a:bodyPr wrap="square" lIns="0" tIns="0" rIns="0" bIns="0" rtlCol="0" anchor="ctr"/>
          <a:lstStyle/>
          <a:p>
            <a:pPr marL="0" indent="0">
              <a:buNone/>
            </a:pPr>
            <a:r>
              <a:rPr lang="en-US" sz="1400" b="1" dirty="0">
                <a:solidFill>
                  <a:srgbClr val="1B2A49"/>
                </a:solidFill>
                <a:latin typeface="Cambria" pitchFamily="34" charset="0"/>
                <a:ea typeface="Cambria" pitchFamily="34" charset="-122"/>
                <a:cs typeface="Cambria" pitchFamily="34" charset="-120"/>
              </a:rPr>
              <a:t>Context C</a:t>
            </a:r>
            <a:endParaRPr lang="en-US" sz="1400" dirty="0"/>
          </a:p>
        </p:txBody>
      </p:sp>
      <p:sp>
        <p:nvSpPr>
          <p:cNvPr id="9" name="a2_zoom_300_153"/>
          <p:cNvSpPr/>
          <p:nvPr/>
        </p:nvSpPr>
        <p:spPr>
          <a:xfrm>
            <a:off x="1554480" y="2670048"/>
            <a:ext cx="502554" cy="340868"/>
          </a:xfrm>
          <a:prstGeom prst="roundRect">
            <a:avLst>
              <a:gd name="adj" fmla="val 32191"/>
            </a:avLst>
          </a:prstGeom>
          <a:solidFill>
            <a:srgbClr val="E6EAF2"/>
          </a:solidFill>
          <a:ln/>
        </p:spPr>
        <p:txBody>
          <a:bodyPr wrap="square" lIns="0" tIns="0" rIns="0" bIns="0" rtlCol="0" anchor="ctr"/>
          <a:lstStyle/>
          <a:p>
            <a:pPr marL="0" indent="0" algn="ctr">
              <a:buNone/>
            </a:pPr>
            <a:r>
              <a:rPr lang="en-US" sz="1400" dirty="0">
                <a:solidFill>
                  <a:srgbClr val="22262E"/>
                </a:solidFill>
                <a:latin typeface="Calibri" pitchFamily="34" charset="0"/>
                <a:ea typeface="Calibri" pitchFamily="34" charset="-122"/>
                <a:cs typeface="Calibri" pitchFamily="34" charset="-120"/>
              </a:rPr>
              <a:t>go</a:t>
            </a:r>
            <a:endParaRPr lang="en-US" sz="1400" dirty="0"/>
          </a:p>
        </p:txBody>
      </p:sp>
      <p:sp>
        <p:nvSpPr>
          <p:cNvPr id="10" name="a2_zoom_450_154"/>
          <p:cNvSpPr/>
          <p:nvPr/>
        </p:nvSpPr>
        <p:spPr>
          <a:xfrm>
            <a:off x="2121042" y="2670048"/>
            <a:ext cx="1170798" cy="340868"/>
          </a:xfrm>
          <a:prstGeom prst="roundRect">
            <a:avLst>
              <a:gd name="adj" fmla="val 32191"/>
            </a:avLst>
          </a:prstGeom>
          <a:solidFill>
            <a:srgbClr val="F4A300"/>
          </a:solidFill>
          <a:ln/>
        </p:spPr>
        <p:txBody>
          <a:bodyPr wrap="square" lIns="0" tIns="0" rIns="0" bIns="0" rtlCol="0" anchor="ctr"/>
          <a:lstStyle/>
          <a:p>
            <a:pPr marL="0" indent="0" algn="ctr">
              <a:buNone/>
            </a:pPr>
            <a:r>
              <a:rPr lang="en-US" sz="1400" b="1" dirty="0">
                <a:solidFill>
                  <a:srgbClr val="22262E"/>
                </a:solidFill>
                <a:latin typeface="Calibri" pitchFamily="34" charset="0"/>
                <a:ea typeface="Calibri" pitchFamily="34" charset="-122"/>
                <a:cs typeface="Calibri" pitchFamily="34" charset="-120"/>
              </a:rPr>
              <a:t>deposit</a:t>
            </a:r>
            <a:endParaRPr lang="en-US" sz="1400" dirty="0"/>
          </a:p>
        </p:txBody>
      </p:sp>
      <p:sp>
        <p:nvSpPr>
          <p:cNvPr id="11" name="a2_zoom_600_155"/>
          <p:cNvSpPr/>
          <p:nvPr/>
        </p:nvSpPr>
        <p:spPr>
          <a:xfrm>
            <a:off x="3355848" y="2670048"/>
            <a:ext cx="919886" cy="340868"/>
          </a:xfrm>
          <a:prstGeom prst="roundRect">
            <a:avLst>
              <a:gd name="adj" fmla="val 32191"/>
            </a:avLst>
          </a:prstGeom>
          <a:solidFill>
            <a:srgbClr val="F4A300"/>
          </a:solidFill>
          <a:ln/>
        </p:spPr>
        <p:txBody>
          <a:bodyPr wrap="square" lIns="0" tIns="0" rIns="0" bIns="0" rtlCol="0" anchor="ctr"/>
          <a:lstStyle/>
          <a:p>
            <a:pPr marL="0" indent="0" algn="ctr">
              <a:buNone/>
            </a:pPr>
            <a:r>
              <a:rPr lang="en-US" sz="1400" b="1" dirty="0">
                <a:solidFill>
                  <a:srgbClr val="22262E"/>
                </a:solidFill>
                <a:latin typeface="Calibri" pitchFamily="34" charset="0"/>
                <a:ea typeface="Calibri" pitchFamily="34" charset="-122"/>
                <a:cs typeface="Calibri" pitchFamily="34" charset="-120"/>
              </a:rPr>
              <a:t>money</a:t>
            </a:r>
            <a:endParaRPr lang="en-US" sz="1400" dirty="0"/>
          </a:p>
        </p:txBody>
      </p:sp>
      <p:sp>
        <p:nvSpPr>
          <p:cNvPr id="12" name="a2_fade_700_156"/>
          <p:cNvSpPr txBox="1"/>
          <p:nvPr/>
        </p:nvSpPr>
        <p:spPr>
          <a:xfrm>
            <a:off x="4297680" y="2724912"/>
            <a:ext cx="4389120" cy="274320"/>
          </a:xfrm>
          <a:prstGeom prst="rect">
            <a:avLst/>
          </a:prstGeom>
          <a:noFill/>
          <a:ln/>
        </p:spPr>
        <p:txBody>
          <a:bodyPr wrap="square" lIns="0" tIns="0" rIns="0" bIns="0" rtlCol="0" anchor="t"/>
          <a:lstStyle/>
          <a:p>
            <a:pPr marL="0" indent="0">
              <a:buNone/>
            </a:pPr>
            <a:r>
              <a:rPr lang="en-US" sz="1050" i="1" dirty="0">
                <a:solidFill>
                  <a:srgbClr val="5B6577"/>
                </a:solidFill>
                <a:latin typeface="Calibri" pitchFamily="34" charset="0"/>
                <a:ea typeface="Calibri" pitchFamily="34" charset="-122"/>
                <a:cs typeface="Calibri" pitchFamily="34" charset="-120"/>
              </a:rPr>
              <a:t>removed: i, to, the, to, my, bank   ·   went → go</a:t>
            </a:r>
            <a:endParaRPr lang="en-US" sz="1050" dirty="0"/>
          </a:p>
        </p:txBody>
      </p:sp>
      <p:sp>
        <p:nvSpPr>
          <p:cNvPr id="13" name="a3_wipe_0_157"/>
          <p:cNvSpPr/>
          <p:nvPr/>
        </p:nvSpPr>
        <p:spPr>
          <a:xfrm>
            <a:off x="457200" y="3154680"/>
            <a:ext cx="4023360" cy="640080"/>
          </a:xfrm>
          <a:prstGeom prst="roundRect">
            <a:avLst>
              <a:gd name="adj" fmla="val 17143"/>
            </a:avLst>
          </a:prstGeom>
          <a:solidFill>
            <a:srgbClr val="E2F3F0"/>
          </a:solidFill>
          <a:ln/>
        </p:spPr>
        <p:txBody>
          <a:bodyPr wrap="square" lIns="76810" tIns="128016" rIns="128016" bIns="76810" rtlCol="0" anchor="ctr"/>
          <a:lstStyle/>
          <a:p>
            <a:pPr marL="0" indent="0" algn="l">
              <a:buNone/>
            </a:pPr>
            <a:r>
              <a:rPr lang="en-US" sz="1300" b="1" dirty="0">
                <a:solidFill>
                  <a:srgbClr val="22262E"/>
                </a:solidFill>
                <a:latin typeface="Calibri" pitchFamily="34" charset="0"/>
                <a:ea typeface="Calibri" pitchFamily="34" charset="-122"/>
                <a:cs typeface="Calibri" pitchFamily="34" charset="-120"/>
              </a:rPr>
              <a:t>bank 1</a:t>
            </a:r>
            <a:r>
              <a:rPr lang="en-US" sz="1300" dirty="0">
                <a:solidFill>
                  <a:srgbClr val="22262E"/>
                </a:solidFill>
                <a:latin typeface="Calibri" pitchFamily="34" charset="0"/>
                <a:ea typeface="Calibri" pitchFamily="34" charset="-122"/>
                <a:cs typeface="Calibri" pitchFamily="34" charset="-120"/>
              </a:rPr>
              <a:t>  signature ∩ C = {</a:t>
            </a:r>
            <a:r>
              <a:rPr lang="en-US" sz="1300" b="1" dirty="0">
                <a:solidFill>
                  <a:srgbClr val="22262E"/>
                </a:solidFill>
                <a:highlight>
                  <a:srgbClr val="FFD970"/>
                </a:highlight>
                <a:latin typeface="Calibri" pitchFamily="34" charset="0"/>
                <a:ea typeface="Calibri" pitchFamily="34" charset="-122"/>
                <a:cs typeface="Calibri" pitchFamily="34" charset="-120"/>
              </a:rPr>
              <a:t>deposit</a:t>
            </a:r>
            <a:r>
              <a:rPr lang="en-US" sz="1300" dirty="0">
                <a:solidFill>
                  <a:srgbClr val="22262E"/>
                </a:solidFill>
                <a:latin typeface="Calibri" pitchFamily="34" charset="0"/>
                <a:ea typeface="Calibri" pitchFamily="34" charset="-122"/>
                <a:cs typeface="Calibri" pitchFamily="34" charset="-120"/>
              </a:rPr>
              <a:t>, </a:t>
            </a:r>
            <a:r>
              <a:rPr lang="en-US" sz="1300" b="1" dirty="0">
                <a:solidFill>
                  <a:srgbClr val="22262E"/>
                </a:solidFill>
                <a:highlight>
                  <a:srgbClr val="FFD970"/>
                </a:highlight>
                <a:latin typeface="Calibri" pitchFamily="34" charset="0"/>
                <a:ea typeface="Calibri" pitchFamily="34" charset="-122"/>
                <a:cs typeface="Calibri" pitchFamily="34" charset="-120"/>
              </a:rPr>
              <a:t>money</a:t>
            </a:r>
            <a:r>
              <a:rPr lang="en-US" sz="1300" dirty="0">
                <a:solidFill>
                  <a:srgbClr val="22262E"/>
                </a:solidFill>
                <a:latin typeface="Calibri" pitchFamily="34" charset="0"/>
                <a:ea typeface="Calibri" pitchFamily="34" charset="-122"/>
                <a:cs typeface="Calibri" pitchFamily="34" charset="-120"/>
              </a:rPr>
              <a:t>}</a:t>
            </a:r>
            <a:endParaRPr lang="en-US" sz="1300" dirty="0"/>
          </a:p>
        </p:txBody>
      </p:sp>
      <p:sp>
        <p:nvSpPr>
          <p:cNvPr id="14" name="a3_zoom_300_158"/>
          <p:cNvSpPr/>
          <p:nvPr/>
        </p:nvSpPr>
        <p:spPr>
          <a:xfrm>
            <a:off x="3886200" y="3218688"/>
            <a:ext cx="502920" cy="502920"/>
          </a:xfrm>
          <a:prstGeom prst="ellipse">
            <a:avLst/>
          </a:prstGeom>
          <a:solidFill>
            <a:srgbClr val="F4A300"/>
          </a:solidFill>
          <a:ln/>
        </p:spPr>
        <p:txBody>
          <a:bodyPr wrap="square" lIns="0" tIns="0" rIns="0" bIns="0" rtlCol="0" anchor="ctr"/>
          <a:lstStyle/>
          <a:p>
            <a:pPr marL="0" indent="0" algn="ctr">
              <a:buNone/>
            </a:pPr>
            <a:r>
              <a:rPr lang="en-US" sz="2000" b="1" dirty="0">
                <a:solidFill>
                  <a:srgbClr val="22262E"/>
                </a:solidFill>
                <a:latin typeface="Cambria" pitchFamily="34" charset="0"/>
                <a:ea typeface="Cambria" pitchFamily="34" charset="-122"/>
                <a:cs typeface="Cambria" pitchFamily="34" charset="-120"/>
              </a:rPr>
              <a:t>2</a:t>
            </a:r>
            <a:endParaRPr lang="en-US" sz="2000" dirty="0"/>
          </a:p>
        </p:txBody>
      </p:sp>
      <p:sp>
        <p:nvSpPr>
          <p:cNvPr id="15" name="a4_wipe_0_159"/>
          <p:cNvSpPr/>
          <p:nvPr/>
        </p:nvSpPr>
        <p:spPr>
          <a:xfrm>
            <a:off x="4663440" y="3154680"/>
            <a:ext cx="4023360" cy="640080"/>
          </a:xfrm>
          <a:prstGeom prst="roundRect">
            <a:avLst>
              <a:gd name="adj" fmla="val 17143"/>
            </a:avLst>
          </a:prstGeom>
          <a:solidFill>
            <a:srgbClr val="FDE6E1"/>
          </a:solidFill>
          <a:ln/>
        </p:spPr>
        <p:txBody>
          <a:bodyPr wrap="square" lIns="76810" tIns="128016" rIns="128016" bIns="76810" rtlCol="0" anchor="ctr"/>
          <a:lstStyle/>
          <a:p>
            <a:pPr marL="0" indent="0" algn="l">
              <a:buNone/>
            </a:pPr>
            <a:r>
              <a:rPr lang="en-US" sz="1300" b="1" dirty="0">
                <a:solidFill>
                  <a:srgbClr val="22262E"/>
                </a:solidFill>
                <a:latin typeface="Calibri" pitchFamily="34" charset="0"/>
                <a:ea typeface="Calibri" pitchFamily="34" charset="-122"/>
                <a:cs typeface="Calibri" pitchFamily="34" charset="-120"/>
              </a:rPr>
              <a:t>bank 2</a:t>
            </a:r>
            <a:r>
              <a:rPr lang="en-US" sz="1300" dirty="0">
                <a:solidFill>
                  <a:srgbClr val="22262E"/>
                </a:solidFill>
                <a:latin typeface="Calibri" pitchFamily="34" charset="0"/>
                <a:ea typeface="Calibri" pitchFamily="34" charset="-122"/>
                <a:cs typeface="Calibri" pitchFamily="34" charset="-120"/>
              </a:rPr>
              <a:t>  signature ∩ C = ∅</a:t>
            </a:r>
            <a:endParaRPr lang="en-US" sz="1300" dirty="0"/>
          </a:p>
        </p:txBody>
      </p:sp>
      <p:sp>
        <p:nvSpPr>
          <p:cNvPr id="16" name="a4_zoom_300_160"/>
          <p:cNvSpPr/>
          <p:nvPr/>
        </p:nvSpPr>
        <p:spPr>
          <a:xfrm>
            <a:off x="8092440" y="3218688"/>
            <a:ext cx="502920" cy="502920"/>
          </a:xfrm>
          <a:prstGeom prst="ellipse">
            <a:avLst/>
          </a:prstGeom>
          <a:solidFill>
            <a:srgbClr val="C9D0DC"/>
          </a:solidFill>
          <a:ln/>
        </p:spPr>
        <p:txBody>
          <a:bodyPr wrap="square" lIns="0" tIns="0" rIns="0" bIns="0" rtlCol="0" anchor="ctr"/>
          <a:lstStyle/>
          <a:p>
            <a:pPr marL="0" indent="0" algn="ctr">
              <a:buNone/>
            </a:pPr>
            <a:r>
              <a:rPr lang="en-US" sz="2000" b="1" dirty="0">
                <a:solidFill>
                  <a:srgbClr val="22262E"/>
                </a:solidFill>
                <a:latin typeface="Cambria" pitchFamily="34" charset="0"/>
                <a:ea typeface="Cambria" pitchFamily="34" charset="-122"/>
                <a:cs typeface="Cambria" pitchFamily="34" charset="-120"/>
              </a:rPr>
              <a:t>0</a:t>
            </a:r>
            <a:endParaRPr lang="en-US" sz="2000" dirty="0"/>
          </a:p>
        </p:txBody>
      </p:sp>
      <p:sp>
        <p:nvSpPr>
          <p:cNvPr id="17" name="a5_zoom_0_161"/>
          <p:cNvSpPr/>
          <p:nvPr/>
        </p:nvSpPr>
        <p:spPr>
          <a:xfrm>
            <a:off x="457200" y="3931920"/>
            <a:ext cx="8229600" cy="594360"/>
          </a:xfrm>
          <a:prstGeom prst="roundRect">
            <a:avLst>
              <a:gd name="adj" fmla="val 18462"/>
            </a:avLst>
          </a:prstGeom>
          <a:solidFill>
            <a:srgbClr val="1B2A49"/>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2 &gt; 0   →   bank = </a:t>
            </a:r>
            <a:r>
              <a:rPr lang="en-US" sz="1800" b="1" dirty="0">
                <a:solidFill>
                  <a:srgbClr val="FFFFFF"/>
                </a:solidFill>
                <a:latin typeface="Calibri" pitchFamily="34" charset="0"/>
                <a:ea typeface="Calibri" pitchFamily="34" charset="-122"/>
                <a:cs typeface="Calibri" pitchFamily="34" charset="-120"/>
              </a:rPr>
              <a:t>bank 1, the financial institution</a:t>
            </a:r>
            <a:endParaRPr lang="en-US" sz="1800" dirty="0"/>
          </a:p>
        </p:txBody>
      </p:sp>
      <p:sp>
        <p:nvSpPr>
          <p:cNvPr id="18" name="Text 15"/>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53" presetClass="entr" presetSubtype="16" fill="hold" grpId="0" nodeType="withEffect">
                                  <p:stCondLst>
                                    <p:cond delay="30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ppt_w</p:attrName>
                                        </p:attrNameLst>
                                      </p:cBhvr>
                                      <p:tavLst>
                                        <p:tav tm="0">
                                          <p:val>
                                            <p:fltVal val="0"/>
                                          </p:val>
                                        </p:tav>
                                        <p:tav tm="100000">
                                          <p:val>
                                            <p:strVal val="#ppt_w"/>
                                          </p:val>
                                        </p:tav>
                                      </p:tavLst>
                                    </p:anim>
                                    <p:anim calcmode="lin" valueType="num">
                                      <p:cBhvr additive="base">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53" presetClass="entr" presetSubtype="16" fill="hold" grpId="0" nodeType="withEffect">
                                  <p:stCondLst>
                                    <p:cond delay="45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ppt_w</p:attrName>
                                        </p:attrNameLst>
                                      </p:cBhvr>
                                      <p:tavLst>
                                        <p:tav tm="0">
                                          <p:val>
                                            <p:fltVal val="0"/>
                                          </p:val>
                                        </p:tav>
                                        <p:tav tm="100000">
                                          <p:val>
                                            <p:strVal val="#ppt_w"/>
                                          </p:val>
                                        </p:tav>
                                      </p:tavLst>
                                    </p:anim>
                                    <p:anim calcmode="lin" valueType="num">
                                      <p:cBhvr additive="base">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par>
                                <p:cTn id="29" presetID="53" presetClass="entr" presetSubtype="16" fill="hold" grpId="0" nodeType="withEffect">
                                  <p:stCondLst>
                                    <p:cond delay="6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ppt_w</p:attrName>
                                        </p:attrNameLst>
                                      </p:cBhvr>
                                      <p:tavLst>
                                        <p:tav tm="0">
                                          <p:val>
                                            <p:fltVal val="0"/>
                                          </p:val>
                                        </p:tav>
                                        <p:tav tm="100000">
                                          <p:val>
                                            <p:strVal val="#ppt_w"/>
                                          </p:val>
                                        </p:tav>
                                      </p:tavLst>
                                    </p:anim>
                                    <p:anim calcmode="lin" valueType="num">
                                      <p:cBhvr additive="base">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10" presetClass="entr" presetSubtype="0" fill="hold" grpId="0" nodeType="withEffect">
                                  <p:stCondLst>
                                    <p:cond delay="7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par>
                                <p:cTn id="42" presetID="53" presetClass="entr" presetSubtype="16" fill="hold" grpId="0" nodeType="withEffect">
                                  <p:stCondLst>
                                    <p:cond delay="3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ppt_w</p:attrName>
                                        </p:attrNameLst>
                                      </p:cBhvr>
                                      <p:tavLst>
                                        <p:tav tm="0">
                                          <p:val>
                                            <p:fltVal val="0"/>
                                          </p:val>
                                        </p:tav>
                                        <p:tav tm="100000">
                                          <p:val>
                                            <p:strVal val="#ppt_w"/>
                                          </p:val>
                                        </p:tav>
                                      </p:tavLst>
                                    </p:anim>
                                    <p:anim calcmode="lin" valueType="num">
                                      <p:cBhvr additive="base">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par>
                                <p:cTn id="52" presetID="53" presetClass="entr" presetSubtype="16" fill="hold" grpId="0" nodeType="withEffect">
                                  <p:stCondLst>
                                    <p:cond delay="3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ppt_w</p:attrName>
                                        </p:attrNameLst>
                                      </p:cBhvr>
                                      <p:tavLst>
                                        <p:tav tm="0">
                                          <p:val>
                                            <p:fltVal val="0"/>
                                          </p:val>
                                        </p:tav>
                                        <p:tav tm="100000">
                                          <p:val>
                                            <p:strVal val="#ppt_w"/>
                                          </p:val>
                                        </p:tav>
                                      </p:tavLst>
                                    </p:anim>
                                    <p:anim calcmode="lin" valueType="num">
                                      <p:cBhvr additive="base">
                                        <p:cTn id="55" dur="500" fill="hold"/>
                                        <p:tgtEl>
                                          <p:spTgt spid="16"/>
                                        </p:tgtEl>
                                        <p:attrNameLst>
                                          <p:attrName>ppt_h</p:attrName>
                                        </p:attrNameLst>
                                      </p:cBhvr>
                                      <p:tavLst>
                                        <p:tav tm="0">
                                          <p:val>
                                            <p:fltVal val="0"/>
                                          </p:val>
                                        </p:tav>
                                        <p:tav tm="100000">
                                          <p:val>
                                            <p:strVal val="#ppt_h"/>
                                          </p:val>
                                        </p:tav>
                                      </p:tavLst>
                                    </p:anim>
                                    <p:animEffect transition="in" filter="fade">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ppt_w</p:attrName>
                                        </p:attrNameLst>
                                      </p:cBhvr>
                                      <p:tavLst>
                                        <p:tav tm="0">
                                          <p:val>
                                            <p:fltVal val="0"/>
                                          </p:val>
                                        </p:tav>
                                        <p:tav tm="100000">
                                          <p:val>
                                            <p:strVal val="#ppt_w"/>
                                          </p:val>
                                        </p:tav>
                                      </p:tavLst>
                                    </p:anim>
                                    <p:anim calcmode="lin" valueType="num">
                                      <p:cBhvr additive="base">
                                        <p:cTn id="62" dur="500" fill="hold"/>
                                        <p:tgtEl>
                                          <p:spTgt spid="17"/>
                                        </p:tgtEl>
                                        <p:attrNameLst>
                                          <p:attrName>ppt_h</p:attrName>
                                        </p:attrNameLst>
                                      </p:cBhvr>
                                      <p:tavLst>
                                        <p:tav tm="0">
                                          <p:val>
                                            <p:fltVal val="0"/>
                                          </p:val>
                                        </p:tav>
                                        <p:tav tm="100000">
                                          <p:val>
                                            <p:strVal val="#ppt_h"/>
                                          </p:val>
                                        </p:tav>
                                      </p:tavLst>
                                    </p:anim>
                                    <p:animEffect transition="in" filter="fade">
                                      <p:cBhvr>
                                        <p:cTn id="6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3 · WORKED SUM 1 (BASIC)</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Sum 1: Text 2 and the scorecard</a:t>
            </a:r>
            <a:endParaRPr lang="en-US" sz="2800" dirty="0"/>
          </a:p>
        </p:txBody>
      </p:sp>
      <p:sp>
        <p:nvSpPr>
          <p:cNvPr id="5" name="a1_fade_0_162"/>
          <p:cNvSpPr txBox="1"/>
          <p:nvPr/>
        </p:nvSpPr>
        <p:spPr>
          <a:xfrm>
            <a:off x="457200" y="1143000"/>
            <a:ext cx="4389120" cy="274320"/>
          </a:xfrm>
          <a:prstGeom prst="rect">
            <a:avLst/>
          </a:prstGeom>
          <a:noFill/>
          <a:ln/>
        </p:spPr>
        <p:txBody>
          <a:bodyPr wrap="square" lIns="0" tIns="0" rIns="0" bIns="0" rtlCol="0" anchor="t"/>
          <a:lstStyle/>
          <a:p>
            <a:pPr marL="0" indent="0">
              <a:buNone/>
            </a:pPr>
            <a:r>
              <a:rPr lang="en-US" sz="1300" b="1" dirty="0">
                <a:solidFill>
                  <a:srgbClr val="1B2A49"/>
                </a:solidFill>
                <a:latin typeface="Calibri" pitchFamily="34" charset="0"/>
                <a:ea typeface="Calibri" pitchFamily="34" charset="-122"/>
                <a:cs typeface="Calibri" pitchFamily="34" charset="-120"/>
              </a:rPr>
              <a:t>Text 2:  “The river bank was full of dead fishes.”</a:t>
            </a:r>
            <a:endParaRPr lang="en-US" sz="1300" dirty="0"/>
          </a:p>
        </p:txBody>
      </p:sp>
      <p:sp>
        <p:nvSpPr>
          <p:cNvPr id="6" name="a1_fade_200_163"/>
          <p:cNvSpPr txBox="1"/>
          <p:nvPr/>
        </p:nvSpPr>
        <p:spPr>
          <a:xfrm>
            <a:off x="457200" y="1508760"/>
            <a:ext cx="1097280" cy="365760"/>
          </a:xfrm>
          <a:prstGeom prst="rect">
            <a:avLst/>
          </a:prstGeom>
          <a:noFill/>
          <a:ln/>
        </p:spPr>
        <p:txBody>
          <a:bodyPr wrap="square" lIns="0" tIns="0" rIns="0" bIns="0" rtlCol="0" anchor="ctr"/>
          <a:lstStyle/>
          <a:p>
            <a:pPr marL="0" indent="0">
              <a:buNone/>
            </a:pPr>
            <a:r>
              <a:rPr lang="en-US" sz="1400" b="1" dirty="0">
                <a:solidFill>
                  <a:srgbClr val="1B2A49"/>
                </a:solidFill>
                <a:latin typeface="Cambria" pitchFamily="34" charset="0"/>
                <a:ea typeface="Cambria" pitchFamily="34" charset="-122"/>
                <a:cs typeface="Cambria" pitchFamily="34" charset="-120"/>
              </a:rPr>
              <a:t>Context C</a:t>
            </a:r>
            <a:endParaRPr lang="en-US" sz="1400" dirty="0"/>
          </a:p>
        </p:txBody>
      </p:sp>
      <p:sp>
        <p:nvSpPr>
          <p:cNvPr id="7" name="a1_zoom_300_164"/>
          <p:cNvSpPr/>
          <p:nvPr/>
        </p:nvSpPr>
        <p:spPr>
          <a:xfrm>
            <a:off x="1554480" y="1536192"/>
            <a:ext cx="875081" cy="324358"/>
          </a:xfrm>
          <a:prstGeom prst="roundRect">
            <a:avLst>
              <a:gd name="adj" fmla="val 33829"/>
            </a:avLst>
          </a:prstGeom>
          <a:solidFill>
            <a:srgbClr val="F4A300"/>
          </a:solidFill>
          <a:ln/>
        </p:spPr>
        <p:txBody>
          <a:bodyPr wrap="square" lIns="0" tIns="0" rIns="0" bIns="0" rtlCol="0" anchor="ctr"/>
          <a:lstStyle/>
          <a:p>
            <a:pPr marL="0" indent="0" algn="ctr">
              <a:buNone/>
            </a:pPr>
            <a:r>
              <a:rPr lang="en-US" sz="1300" b="1" dirty="0">
                <a:solidFill>
                  <a:srgbClr val="22262E"/>
                </a:solidFill>
                <a:latin typeface="Calibri" pitchFamily="34" charset="0"/>
                <a:ea typeface="Calibri" pitchFamily="34" charset="-122"/>
                <a:cs typeface="Calibri" pitchFamily="34" charset="-120"/>
              </a:rPr>
              <a:t>river</a:t>
            </a:r>
            <a:endParaRPr lang="en-US" sz="1300" dirty="0"/>
          </a:p>
        </p:txBody>
      </p:sp>
      <p:sp>
        <p:nvSpPr>
          <p:cNvPr id="8" name="a1_zoom_420_165"/>
          <p:cNvSpPr/>
          <p:nvPr/>
        </p:nvSpPr>
        <p:spPr>
          <a:xfrm>
            <a:off x="2493569" y="1536192"/>
            <a:ext cx="682508" cy="324358"/>
          </a:xfrm>
          <a:prstGeom prst="roundRect">
            <a:avLst>
              <a:gd name="adj" fmla="val 33829"/>
            </a:avLst>
          </a:prstGeom>
          <a:solidFill>
            <a:srgbClr val="E6EAF2"/>
          </a:solidFill>
          <a:ln/>
        </p:spPr>
        <p:txBody>
          <a:bodyPr wrap="square" lIns="0" tIns="0" rIns="0" bIns="0" rtlCol="0" anchor="ctr"/>
          <a:lstStyle/>
          <a:p>
            <a:pPr marL="0" indent="0" algn="ctr">
              <a:buNone/>
            </a:pPr>
            <a:r>
              <a:rPr lang="en-US" sz="1300" dirty="0">
                <a:solidFill>
                  <a:srgbClr val="22262E"/>
                </a:solidFill>
                <a:latin typeface="Calibri" pitchFamily="34" charset="0"/>
                <a:ea typeface="Calibri" pitchFamily="34" charset="-122"/>
                <a:cs typeface="Calibri" pitchFamily="34" charset="-120"/>
              </a:rPr>
              <a:t>full</a:t>
            </a:r>
            <a:endParaRPr lang="en-US" sz="1300" dirty="0"/>
          </a:p>
        </p:txBody>
      </p:sp>
      <p:sp>
        <p:nvSpPr>
          <p:cNvPr id="9" name="a1_zoom_540_166"/>
          <p:cNvSpPr/>
          <p:nvPr/>
        </p:nvSpPr>
        <p:spPr>
          <a:xfrm>
            <a:off x="3240085" y="1536192"/>
            <a:ext cx="682508" cy="324358"/>
          </a:xfrm>
          <a:prstGeom prst="roundRect">
            <a:avLst>
              <a:gd name="adj" fmla="val 33829"/>
            </a:avLst>
          </a:prstGeom>
          <a:solidFill>
            <a:srgbClr val="E6EAF2"/>
          </a:solidFill>
          <a:ln/>
        </p:spPr>
        <p:txBody>
          <a:bodyPr wrap="square" lIns="0" tIns="0" rIns="0" bIns="0" rtlCol="0" anchor="ctr"/>
          <a:lstStyle/>
          <a:p>
            <a:pPr marL="0" indent="0" algn="ctr">
              <a:buNone/>
            </a:pPr>
            <a:r>
              <a:rPr lang="en-US" sz="1300" dirty="0">
                <a:solidFill>
                  <a:srgbClr val="22262E"/>
                </a:solidFill>
                <a:latin typeface="Calibri" pitchFamily="34" charset="0"/>
                <a:ea typeface="Calibri" pitchFamily="34" charset="-122"/>
                <a:cs typeface="Calibri" pitchFamily="34" charset="-120"/>
              </a:rPr>
              <a:t>dead</a:t>
            </a:r>
            <a:endParaRPr lang="en-US" sz="1300" dirty="0"/>
          </a:p>
        </p:txBody>
      </p:sp>
      <p:sp>
        <p:nvSpPr>
          <p:cNvPr id="10" name="a1_zoom_660_167"/>
          <p:cNvSpPr/>
          <p:nvPr/>
        </p:nvSpPr>
        <p:spPr>
          <a:xfrm>
            <a:off x="3986601" y="1536192"/>
            <a:ext cx="682508" cy="324358"/>
          </a:xfrm>
          <a:prstGeom prst="roundRect">
            <a:avLst>
              <a:gd name="adj" fmla="val 33829"/>
            </a:avLst>
          </a:prstGeom>
          <a:solidFill>
            <a:srgbClr val="E6EAF2"/>
          </a:solidFill>
          <a:ln/>
        </p:spPr>
        <p:txBody>
          <a:bodyPr wrap="square" lIns="0" tIns="0" rIns="0" bIns="0" rtlCol="0" anchor="ctr"/>
          <a:lstStyle/>
          <a:p>
            <a:pPr marL="0" indent="0" algn="ctr">
              <a:buNone/>
            </a:pPr>
            <a:r>
              <a:rPr lang="en-US" sz="1300" dirty="0">
                <a:solidFill>
                  <a:srgbClr val="22262E"/>
                </a:solidFill>
                <a:latin typeface="Calibri" pitchFamily="34" charset="0"/>
                <a:ea typeface="Calibri" pitchFamily="34" charset="-122"/>
                <a:cs typeface="Calibri" pitchFamily="34" charset="-120"/>
              </a:rPr>
              <a:t>fish</a:t>
            </a:r>
            <a:endParaRPr lang="en-US" sz="1300" dirty="0"/>
          </a:p>
        </p:txBody>
      </p:sp>
      <p:sp>
        <p:nvSpPr>
          <p:cNvPr id="11" name="a2_wipe_0_168"/>
          <p:cNvSpPr/>
          <p:nvPr/>
        </p:nvSpPr>
        <p:spPr>
          <a:xfrm>
            <a:off x="457200" y="2103120"/>
            <a:ext cx="4206240" cy="566928"/>
          </a:xfrm>
          <a:prstGeom prst="roundRect">
            <a:avLst>
              <a:gd name="adj" fmla="val 19355"/>
            </a:avLst>
          </a:prstGeom>
          <a:solidFill>
            <a:srgbClr val="E2F3F0"/>
          </a:solidFill>
          <a:ln/>
        </p:spPr>
        <p:txBody>
          <a:bodyPr wrap="square" lIns="76810" tIns="128016" rIns="128016" bIns="76810" rtlCol="0" anchor="ctr"/>
          <a:lstStyle/>
          <a:p>
            <a:pPr marL="0" indent="0" algn="l">
              <a:buNone/>
            </a:pPr>
            <a:r>
              <a:rPr lang="en-US" sz="1300" dirty="0">
                <a:solidFill>
                  <a:srgbClr val="22262E"/>
                </a:solidFill>
                <a:latin typeface="Calibri" pitchFamily="34" charset="0"/>
                <a:ea typeface="Calibri" pitchFamily="34" charset="-122"/>
                <a:cs typeface="Calibri" pitchFamily="34" charset="-120"/>
              </a:rPr>
              <a:t>bank 1: signature ∩ C = ∅  →  </a:t>
            </a:r>
            <a:r>
              <a:rPr lang="en-US" sz="1300" b="1" dirty="0">
                <a:solidFill>
                  <a:srgbClr val="22262E"/>
                </a:solidFill>
                <a:latin typeface="Calibri" pitchFamily="34" charset="0"/>
                <a:ea typeface="Calibri" pitchFamily="34" charset="-122"/>
                <a:cs typeface="Calibri" pitchFamily="34" charset="-120"/>
              </a:rPr>
              <a:t>0</a:t>
            </a:r>
            <a:endParaRPr lang="en-US" sz="1300" dirty="0"/>
          </a:p>
        </p:txBody>
      </p:sp>
      <p:sp>
        <p:nvSpPr>
          <p:cNvPr id="12" name="a2_wipe_250_169"/>
          <p:cNvSpPr/>
          <p:nvPr/>
        </p:nvSpPr>
        <p:spPr>
          <a:xfrm>
            <a:off x="457200" y="2788920"/>
            <a:ext cx="4206240" cy="566928"/>
          </a:xfrm>
          <a:prstGeom prst="roundRect">
            <a:avLst>
              <a:gd name="adj" fmla="val 19355"/>
            </a:avLst>
          </a:prstGeom>
          <a:solidFill>
            <a:srgbClr val="FDE6E1"/>
          </a:solidFill>
          <a:ln/>
        </p:spPr>
        <p:txBody>
          <a:bodyPr wrap="square" lIns="76810" tIns="128016" rIns="128016" bIns="76810" rtlCol="0" anchor="ctr"/>
          <a:lstStyle/>
          <a:p>
            <a:pPr marL="0" indent="0" algn="l">
              <a:buNone/>
            </a:pPr>
            <a:r>
              <a:rPr lang="en-US" sz="1300" dirty="0">
                <a:solidFill>
                  <a:srgbClr val="22262E"/>
                </a:solidFill>
                <a:latin typeface="Calibri" pitchFamily="34" charset="0"/>
                <a:ea typeface="Calibri" pitchFamily="34" charset="-122"/>
                <a:cs typeface="Calibri" pitchFamily="34" charset="-120"/>
              </a:rPr>
              <a:t>bank 2: signature ∩ C = {</a:t>
            </a:r>
            <a:r>
              <a:rPr lang="en-US" sz="1300" b="1" dirty="0">
                <a:solidFill>
                  <a:srgbClr val="22262E"/>
                </a:solidFill>
                <a:highlight>
                  <a:srgbClr val="FFD970"/>
                </a:highlight>
                <a:latin typeface="Calibri" pitchFamily="34" charset="0"/>
                <a:ea typeface="Calibri" pitchFamily="34" charset="-122"/>
                <a:cs typeface="Calibri" pitchFamily="34" charset="-120"/>
              </a:rPr>
              <a:t>river</a:t>
            </a:r>
            <a:r>
              <a:rPr lang="en-US" sz="1300" dirty="0">
                <a:solidFill>
                  <a:srgbClr val="22262E"/>
                </a:solidFill>
                <a:latin typeface="Calibri" pitchFamily="34" charset="0"/>
                <a:ea typeface="Calibri" pitchFamily="34" charset="-122"/>
                <a:cs typeface="Calibri" pitchFamily="34" charset="-120"/>
              </a:rPr>
              <a:t>}  →  </a:t>
            </a:r>
            <a:r>
              <a:rPr lang="en-US" sz="1300" b="1" dirty="0">
                <a:solidFill>
                  <a:srgbClr val="22262E"/>
                </a:solidFill>
                <a:latin typeface="Calibri" pitchFamily="34" charset="0"/>
                <a:ea typeface="Calibri" pitchFamily="34" charset="-122"/>
                <a:cs typeface="Calibri" pitchFamily="34" charset="-120"/>
              </a:rPr>
              <a:t>1</a:t>
            </a:r>
            <a:endParaRPr lang="en-US" sz="1300" dirty="0"/>
          </a:p>
        </p:txBody>
      </p:sp>
      <p:sp>
        <p:nvSpPr>
          <p:cNvPr id="13" name="a3_zoom_0_170"/>
          <p:cNvSpPr/>
          <p:nvPr/>
        </p:nvSpPr>
        <p:spPr>
          <a:xfrm>
            <a:off x="457200" y="3474720"/>
            <a:ext cx="4206240" cy="548640"/>
          </a:xfrm>
          <a:prstGeom prst="roundRect">
            <a:avLst>
              <a:gd name="adj" fmla="val 20000"/>
            </a:avLst>
          </a:prstGeom>
          <a:solidFill>
            <a:srgbClr val="1B2A49"/>
          </a:solidFill>
          <a:ln/>
        </p:spPr>
        <p:txBody>
          <a:bodyPr wrap="square" lIns="76810" tIns="128016" rIns="128016" bIns="7681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 &gt; 0  →  </a:t>
            </a:r>
            <a:r>
              <a:rPr lang="en-US" sz="1400" b="1" dirty="0">
                <a:solidFill>
                  <a:srgbClr val="FFFFFF"/>
                </a:solidFill>
                <a:latin typeface="Calibri" pitchFamily="34" charset="0"/>
                <a:ea typeface="Calibri" pitchFamily="34" charset="-122"/>
                <a:cs typeface="Calibri" pitchFamily="34" charset="-120"/>
              </a:rPr>
              <a:t>bank 2</a:t>
            </a:r>
            <a:r>
              <a:rPr lang="en-US" sz="1400" dirty="0">
                <a:solidFill>
                  <a:srgbClr val="FFFFFF"/>
                </a:solidFill>
                <a:latin typeface="Calibri" pitchFamily="34" charset="0"/>
                <a:ea typeface="Calibri" pitchFamily="34" charset="-122"/>
                <a:cs typeface="Calibri" pitchFamily="34" charset="-120"/>
              </a:rPr>
              <a:t> (slope beside water)</a:t>
            </a:r>
            <a:endParaRPr lang="en-US" sz="1400" dirty="0"/>
          </a:p>
        </p:txBody>
      </p:sp>
      <p:graphicFrame>
        <p:nvGraphicFramePr>
          <p:cNvPr id="14" name="Chart 0"/>
          <p:cNvGraphicFramePr/>
          <p:nvPr/>
        </p:nvGraphicFramePr>
        <p:xfrm>
          <a:off x="4937760" y="1097280"/>
          <a:ext cx="37490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5" name="a4_fade_0_171"/>
          <p:cNvSpPr/>
          <p:nvPr/>
        </p:nvSpPr>
        <p:spPr>
          <a:xfrm>
            <a:off x="457200" y="4206240"/>
            <a:ext cx="8229600" cy="548640"/>
          </a:xfrm>
          <a:prstGeom prst="roundRect">
            <a:avLst>
              <a:gd name="adj" fmla="val 20000"/>
            </a:avLst>
          </a:prstGeom>
          <a:solidFill>
            <a:srgbClr val="FFF0C7"/>
          </a:solidFill>
          <a:ln/>
        </p:spPr>
        <p:txBody>
          <a:bodyPr wrap="square" lIns="76810" tIns="128016" rIns="128016" bIns="76810" rtlCol="0" anchor="ctr"/>
          <a:lstStyle/>
          <a:p>
            <a:pPr marL="0" indent="0" algn="l">
              <a:buNone/>
            </a:pPr>
            <a:r>
              <a:rPr lang="en-US" sz="1100" b="1" dirty="0">
                <a:solidFill>
                  <a:srgbClr val="22262E"/>
                </a:solidFill>
                <a:latin typeface="Calibri" pitchFamily="34" charset="0"/>
                <a:ea typeface="Calibri" pitchFamily="34" charset="-122"/>
                <a:cs typeface="Calibri" pitchFamily="34" charset="-120"/>
              </a:rPr>
              <a:t>Checks:</a:t>
            </a:r>
            <a:r>
              <a:rPr lang="en-US" sz="1100" dirty="0">
                <a:solidFill>
                  <a:srgbClr val="22262E"/>
                </a:solidFill>
                <a:latin typeface="Calibri" pitchFamily="34" charset="0"/>
                <a:ea typeface="Calibri" pitchFamily="34" charset="-122"/>
                <a:cs typeface="Calibri" pitchFamily="34" charset="-120"/>
              </a:rPr>
              <a:t>  state if lemmatisation is on (exact match gives 1 vs 0 on Text 1)  ·  exclude the target  ·  NLTK lesk() has no stop list: on the textbook sentence it picks bank.n.05</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53" presetClass="entr" presetSubtype="16" fill="hold" grpId="0" nodeType="withEffect">
                                  <p:stCondLst>
                                    <p:cond delay="30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ppt_w</p:attrName>
                                        </p:attrNameLst>
                                      </p:cBhvr>
                                      <p:tavLst>
                                        <p:tav tm="0">
                                          <p:val>
                                            <p:fltVal val="0"/>
                                          </p:val>
                                        </p:tav>
                                        <p:tav tm="100000">
                                          <p:val>
                                            <p:strVal val="#ppt_w"/>
                                          </p:val>
                                        </p:tav>
                                      </p:tavLst>
                                    </p:anim>
                                    <p:anim calcmode="lin" valueType="num">
                                      <p:cBhvr additive="base">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par>
                                <p:cTn id="16" presetID="53" presetClass="entr" presetSubtype="16" fill="hold" grpId="0" nodeType="withEffect">
                                  <p:stCondLst>
                                    <p:cond delay="42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53" presetClass="entr" presetSubtype="16" fill="hold" grpId="0" nodeType="withEffect">
                                  <p:stCondLst>
                                    <p:cond delay="54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ppt_w</p:attrName>
                                        </p:attrNameLst>
                                      </p:cBhvr>
                                      <p:tavLst>
                                        <p:tav tm="0">
                                          <p:val>
                                            <p:fltVal val="0"/>
                                          </p:val>
                                        </p:tav>
                                        <p:tav tm="100000">
                                          <p:val>
                                            <p:strVal val="#ppt_w"/>
                                          </p:val>
                                        </p:tav>
                                      </p:tavLst>
                                    </p:anim>
                                    <p:anim calcmode="lin" valueType="num">
                                      <p:cBhvr additive="base">
                                        <p:cTn id="24" dur="500" fill="hold"/>
                                        <p:tgtEl>
                                          <p:spTgt spid="9"/>
                                        </p:tgtEl>
                                        <p:attrNameLst>
                                          <p:attrName>ppt_h</p:attrName>
                                        </p:attrNameLst>
                                      </p:cBhvr>
                                      <p:tavLst>
                                        <p:tav tm="0">
                                          <p:val>
                                            <p:fltVal val="0"/>
                                          </p:val>
                                        </p:tav>
                                        <p:tav tm="100000">
                                          <p:val>
                                            <p:strVal val="#ppt_h"/>
                                          </p:val>
                                        </p:tav>
                                      </p:tavLst>
                                    </p:anim>
                                    <p:animEffect transition="in" filter="fade">
                                      <p:cBhvr>
                                        <p:cTn id="25" dur="500"/>
                                        <p:tgtEl>
                                          <p:spTgt spid="9"/>
                                        </p:tgtEl>
                                      </p:cBhvr>
                                    </p:animEffect>
                                  </p:childTnLst>
                                </p:cTn>
                              </p:par>
                              <p:par>
                                <p:cTn id="26" presetID="53" presetClass="entr" presetSubtype="16" fill="hold" grpId="0" nodeType="withEffect">
                                  <p:stCondLst>
                                    <p:cond delay="66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ppt_w</p:attrName>
                                        </p:attrNameLst>
                                      </p:cBhvr>
                                      <p:tavLst>
                                        <p:tav tm="0">
                                          <p:val>
                                            <p:fltVal val="0"/>
                                          </p:val>
                                        </p:tav>
                                        <p:tav tm="100000">
                                          <p:val>
                                            <p:strVal val="#ppt_w"/>
                                          </p:val>
                                        </p:tav>
                                      </p:tavLst>
                                    </p:anim>
                                    <p:anim calcmode="lin" valueType="num">
                                      <p:cBhvr additive="base">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par>
                                <p:cTn id="36" presetID="22" presetClass="entr" presetSubtype="8" fill="hold" grpId="0" nodeType="withEffect">
                                  <p:stCondLst>
                                    <p:cond delay="25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ppt_w</p:attrName>
                                        </p:attrNameLst>
                                      </p:cBhvr>
                                      <p:tavLst>
                                        <p:tav tm="0">
                                          <p:val>
                                            <p:fltVal val="0"/>
                                          </p:val>
                                        </p:tav>
                                        <p:tav tm="100000">
                                          <p:val>
                                            <p:strVal val="#ppt_w"/>
                                          </p:val>
                                        </p:tav>
                                      </p:tavLst>
                                    </p:anim>
                                    <p:anim calcmode="lin" valueType="num">
                                      <p:cBhvr additive="base">
                                        <p:cTn id="44" dur="500" fill="hold"/>
                                        <p:tgtEl>
                                          <p:spTgt spid="13"/>
                                        </p:tgtEl>
                                        <p:attrNameLst>
                                          <p:attrName>ppt_h</p:attrName>
                                        </p:attrNameLst>
                                      </p:cBhvr>
                                      <p:tavLst>
                                        <p:tav tm="0">
                                          <p:val>
                                            <p:fltVal val="0"/>
                                          </p:val>
                                        </p:tav>
                                        <p:tav tm="100000">
                                          <p:val>
                                            <p:strVal val="#ppt_h"/>
                                          </p:val>
                                        </p:tav>
                                      </p:tavLst>
                                    </p:anim>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B2A49"/>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F4A300"/>
                </a:solidFill>
                <a:latin typeface="Calibri" pitchFamily="34" charset="0"/>
                <a:ea typeface="Calibri" pitchFamily="34" charset="-122"/>
                <a:cs typeface="Calibri" pitchFamily="34" charset="-120"/>
              </a:rPr>
              <a:t>PART 3 · WORKED SUM 2 (ADVANCED)</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Sum 2: four senses of “plant” (WordNet 3.0)</a:t>
            </a:r>
            <a:endParaRPr lang="en-US" sz="2500" dirty="0"/>
          </a:p>
        </p:txBody>
      </p:sp>
      <p:sp>
        <p:nvSpPr>
          <p:cNvPr id="5" name="a1_fade_0_172"/>
          <p:cNvSpPr txBox="1"/>
          <p:nvPr/>
        </p:nvSpPr>
        <p:spPr>
          <a:xfrm>
            <a:off x="7818120" y="1024128"/>
            <a:ext cx="914400" cy="228600"/>
          </a:xfrm>
          <a:prstGeom prst="rect">
            <a:avLst/>
          </a:prstGeom>
          <a:noFill/>
          <a:ln/>
        </p:spPr>
        <p:txBody>
          <a:bodyPr wrap="square" lIns="0" tIns="0" rIns="0" bIns="0" rtlCol="0" anchor="t"/>
          <a:lstStyle/>
          <a:p>
            <a:pPr marL="0" indent="0" algn="ctr">
              <a:buNone/>
            </a:pPr>
            <a:r>
              <a:rPr lang="en-US" sz="950" dirty="0">
                <a:solidFill>
                  <a:srgbClr val="8E9BB8"/>
                </a:solidFill>
                <a:latin typeface="Calibri" pitchFamily="34" charset="0"/>
                <a:ea typeface="Calibri" pitchFamily="34" charset="-122"/>
                <a:cs typeface="Calibri" pitchFamily="34" charset="-120"/>
              </a:rPr>
              <a:t>tagged count</a:t>
            </a:r>
            <a:endParaRPr lang="en-US" sz="950" dirty="0"/>
          </a:p>
        </p:txBody>
      </p:sp>
      <p:sp>
        <p:nvSpPr>
          <p:cNvPr id="6" name="a1_wipe_0_173"/>
          <p:cNvSpPr/>
          <p:nvPr/>
        </p:nvSpPr>
        <p:spPr>
          <a:xfrm>
            <a:off x="457200" y="1280160"/>
            <a:ext cx="8229600" cy="621792"/>
          </a:xfrm>
          <a:prstGeom prst="roundRect">
            <a:avLst>
              <a:gd name="adj" fmla="val 17647"/>
            </a:avLst>
          </a:prstGeom>
          <a:solidFill>
            <a:srgbClr val="3B4F7E"/>
          </a:solidFill>
          <a:ln/>
        </p:spPr>
        <p:txBody>
          <a:bodyPr wrap="square" lIns="76810" tIns="128016" rIns="128016" bIns="76810" rtlCol="0" anchor="ctr"/>
          <a:lstStyle/>
          <a:p>
            <a:pPr marL="0" indent="0" algn="l">
              <a:buNone/>
            </a:pPr>
            <a:endParaRPr lang="en-US" sz="1300" dirty="0"/>
          </a:p>
        </p:txBody>
      </p:sp>
      <p:sp>
        <p:nvSpPr>
          <p:cNvPr id="7" name="a1_fade_100_174"/>
          <p:cNvSpPr txBox="1"/>
          <p:nvPr/>
        </p:nvSpPr>
        <p:spPr>
          <a:xfrm>
            <a:off x="594360" y="1335024"/>
            <a:ext cx="1828800" cy="512064"/>
          </a:xfrm>
          <a:prstGeom prst="rect">
            <a:avLst/>
          </a:prstGeom>
          <a:noFill/>
          <a:ln/>
        </p:spPr>
        <p:txBody>
          <a:bodyPr wrap="square" lIns="0" tIns="0" rIns="0" bIns="0" rtlCol="0" anchor="ctr"/>
          <a:lstStyle/>
          <a:p>
            <a:pPr marL="0" indent="0">
              <a:buNone/>
            </a:pPr>
            <a:r>
              <a:rPr lang="en-US" sz="1250" b="1" dirty="0">
                <a:solidFill>
                  <a:srgbClr val="F4A300"/>
                </a:solidFill>
                <a:latin typeface="Calibri" pitchFamily="34" charset="0"/>
                <a:ea typeface="Calibri" pitchFamily="34" charset="-122"/>
                <a:cs typeface="Calibri" pitchFamily="34" charset="-120"/>
              </a:rPr>
              <a:t>S1  industrial plant</a:t>
            </a:r>
            <a:endParaRPr lang="en-US" sz="1250" dirty="0"/>
          </a:p>
        </p:txBody>
      </p:sp>
      <p:sp>
        <p:nvSpPr>
          <p:cNvPr id="8" name="a1_fade_100_175"/>
          <p:cNvSpPr txBox="1"/>
          <p:nvPr/>
        </p:nvSpPr>
        <p:spPr>
          <a:xfrm>
            <a:off x="2468880" y="1335024"/>
            <a:ext cx="2743200" cy="512064"/>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buildings for carrying on industrial labor</a:t>
            </a:r>
            <a:endParaRPr lang="en-US" sz="1050" dirty="0"/>
          </a:p>
        </p:txBody>
      </p:sp>
      <p:sp>
        <p:nvSpPr>
          <p:cNvPr id="9" name="a1_fade_100_176"/>
          <p:cNvSpPr txBox="1"/>
          <p:nvPr/>
        </p:nvSpPr>
        <p:spPr>
          <a:xfrm>
            <a:off x="5303520" y="1335024"/>
            <a:ext cx="2377440" cy="512064"/>
          </a:xfrm>
          <a:prstGeom prst="rect">
            <a:avLst/>
          </a:prstGeom>
          <a:noFill/>
          <a:ln/>
        </p:spPr>
        <p:txBody>
          <a:bodyPr wrap="square" lIns="0" tIns="0" rIns="0" bIns="0" rtlCol="0" anchor="ctr"/>
          <a:lstStyle/>
          <a:p>
            <a:pPr marL="0" indent="0">
              <a:buNone/>
            </a:pPr>
            <a:r>
              <a:rPr lang="en-US" sz="1050" i="1" dirty="0">
                <a:solidFill>
                  <a:srgbClr val="AEBBD6"/>
                </a:solidFill>
                <a:latin typeface="Calibri" pitchFamily="34" charset="0"/>
                <a:ea typeface="Calibri" pitchFamily="34" charset="-122"/>
                <a:cs typeface="Calibri" pitchFamily="34" charset="-120"/>
              </a:rPr>
              <a:t>“they built a large plant to manufacture automobiles”</a:t>
            </a:r>
            <a:endParaRPr lang="en-US" sz="1050" dirty="0"/>
          </a:p>
        </p:txBody>
      </p:sp>
      <p:sp>
        <p:nvSpPr>
          <p:cNvPr id="10" name="a1_fade_100_177"/>
          <p:cNvSpPr txBox="1"/>
          <p:nvPr/>
        </p:nvSpPr>
        <p:spPr>
          <a:xfrm>
            <a:off x="7818120" y="1335024"/>
            <a:ext cx="914400" cy="512064"/>
          </a:xfrm>
          <a:prstGeom prst="rect">
            <a:avLst/>
          </a:prstGeom>
          <a:noFill/>
          <a:ln/>
        </p:spPr>
        <p:txBody>
          <a:bodyPr wrap="square" lIns="0" tIns="0" rIns="0" bIns="0" rtlCol="0" anchor="ctr"/>
          <a:lstStyle/>
          <a:p>
            <a:pPr marL="0" indent="0" algn="ctr">
              <a:buNone/>
            </a:pPr>
            <a:r>
              <a:rPr lang="en-US" sz="1600" b="1" dirty="0">
                <a:solidFill>
                  <a:srgbClr val="F4A300"/>
                </a:solidFill>
                <a:latin typeface="Calibri" pitchFamily="34" charset="0"/>
                <a:ea typeface="Calibri" pitchFamily="34" charset="-122"/>
                <a:cs typeface="Calibri" pitchFamily="34" charset="-120"/>
              </a:rPr>
              <a:t>63</a:t>
            </a:r>
            <a:endParaRPr lang="en-US" sz="1600" dirty="0"/>
          </a:p>
        </p:txBody>
      </p:sp>
      <p:sp>
        <p:nvSpPr>
          <p:cNvPr id="11" name="a1_wipe_200_178"/>
          <p:cNvSpPr/>
          <p:nvPr/>
        </p:nvSpPr>
        <p:spPr>
          <a:xfrm>
            <a:off x="457200" y="1993392"/>
            <a:ext cx="8229600" cy="621792"/>
          </a:xfrm>
          <a:prstGeom prst="roundRect">
            <a:avLst>
              <a:gd name="adj" fmla="val 17647"/>
            </a:avLst>
          </a:prstGeom>
          <a:solidFill>
            <a:srgbClr val="27385F"/>
          </a:solidFill>
          <a:ln/>
        </p:spPr>
        <p:txBody>
          <a:bodyPr wrap="square" lIns="76810" tIns="128016" rIns="128016" bIns="76810" rtlCol="0" anchor="ctr"/>
          <a:lstStyle/>
          <a:p>
            <a:pPr marL="0" indent="0" algn="l">
              <a:buNone/>
            </a:pPr>
            <a:endParaRPr lang="en-US" sz="1300" dirty="0"/>
          </a:p>
        </p:txBody>
      </p:sp>
      <p:sp>
        <p:nvSpPr>
          <p:cNvPr id="12" name="a1_fade_300_179"/>
          <p:cNvSpPr txBox="1"/>
          <p:nvPr/>
        </p:nvSpPr>
        <p:spPr>
          <a:xfrm>
            <a:off x="594360" y="2048256"/>
            <a:ext cx="182880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S2  living plant</a:t>
            </a:r>
            <a:endParaRPr lang="en-US" sz="1250" dirty="0"/>
          </a:p>
        </p:txBody>
      </p:sp>
      <p:sp>
        <p:nvSpPr>
          <p:cNvPr id="13" name="a1_fade_300_180"/>
          <p:cNvSpPr txBox="1"/>
          <p:nvPr/>
        </p:nvSpPr>
        <p:spPr>
          <a:xfrm>
            <a:off x="2468880" y="2048256"/>
            <a:ext cx="2743200" cy="512064"/>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(botany) a living organism lacking the power of locomotion</a:t>
            </a:r>
            <a:endParaRPr lang="en-US" sz="1050" dirty="0"/>
          </a:p>
        </p:txBody>
      </p:sp>
      <p:sp>
        <p:nvSpPr>
          <p:cNvPr id="14" name="a1_fade_300_181"/>
          <p:cNvSpPr txBox="1"/>
          <p:nvPr/>
        </p:nvSpPr>
        <p:spPr>
          <a:xfrm>
            <a:off x="5303520" y="2048256"/>
            <a:ext cx="2377440" cy="512064"/>
          </a:xfrm>
          <a:prstGeom prst="rect">
            <a:avLst/>
          </a:prstGeom>
          <a:noFill/>
          <a:ln/>
        </p:spPr>
        <p:txBody>
          <a:bodyPr wrap="square" lIns="0" tIns="0" rIns="0" bIns="0" rtlCol="0" anchor="ctr"/>
          <a:lstStyle/>
          <a:p>
            <a:pPr marL="0" indent="0">
              <a:buNone/>
            </a:pPr>
            <a:r>
              <a:rPr lang="en-US" sz="1050" i="1" dirty="0">
                <a:solidFill>
                  <a:srgbClr val="AEBBD6"/>
                </a:solidFill>
                <a:latin typeface="Calibri" pitchFamily="34" charset="0"/>
                <a:ea typeface="Calibri" pitchFamily="34" charset="-122"/>
                <a:cs typeface="Calibri" pitchFamily="34" charset="-120"/>
              </a:rPr>
              <a:t>none in WordNet</a:t>
            </a:r>
            <a:endParaRPr lang="en-US" sz="1050" dirty="0"/>
          </a:p>
        </p:txBody>
      </p:sp>
      <p:sp>
        <p:nvSpPr>
          <p:cNvPr id="15" name="a1_fade_300_182"/>
          <p:cNvSpPr txBox="1"/>
          <p:nvPr/>
        </p:nvSpPr>
        <p:spPr>
          <a:xfrm>
            <a:off x="7818120" y="2048256"/>
            <a:ext cx="914400" cy="512064"/>
          </a:xfrm>
          <a:prstGeom prst="rect">
            <a:avLst/>
          </a:prstGeom>
          <a:noFill/>
          <a:ln/>
        </p:spPr>
        <p:txBody>
          <a:bodyPr wrap="square" lIns="0" tIns="0" rIns="0" bIns="0" rtlCol="0" anchor="ctr"/>
          <a:lstStyle/>
          <a:p>
            <a:pPr marL="0" indent="0" algn="ctr">
              <a:buNone/>
            </a:pPr>
            <a:r>
              <a:rPr lang="en-US" sz="1600" b="1" dirty="0">
                <a:solidFill>
                  <a:srgbClr val="F4A300"/>
                </a:solidFill>
                <a:latin typeface="Calibri" pitchFamily="34" charset="0"/>
                <a:ea typeface="Calibri" pitchFamily="34" charset="-122"/>
                <a:cs typeface="Calibri" pitchFamily="34" charset="-120"/>
              </a:rPr>
              <a:t>37</a:t>
            </a:r>
            <a:endParaRPr lang="en-US" sz="1600" dirty="0"/>
          </a:p>
        </p:txBody>
      </p:sp>
      <p:sp>
        <p:nvSpPr>
          <p:cNvPr id="16" name="a1_wipe_400_183"/>
          <p:cNvSpPr/>
          <p:nvPr/>
        </p:nvSpPr>
        <p:spPr>
          <a:xfrm>
            <a:off x="457200" y="2706624"/>
            <a:ext cx="8229600" cy="621792"/>
          </a:xfrm>
          <a:prstGeom prst="roundRect">
            <a:avLst>
              <a:gd name="adj" fmla="val 17647"/>
            </a:avLst>
          </a:prstGeom>
          <a:solidFill>
            <a:srgbClr val="27385F"/>
          </a:solidFill>
          <a:ln/>
        </p:spPr>
        <p:txBody>
          <a:bodyPr wrap="square" lIns="76810" tIns="128016" rIns="128016" bIns="76810" rtlCol="0" anchor="ctr"/>
          <a:lstStyle/>
          <a:p>
            <a:pPr marL="0" indent="0" algn="l">
              <a:buNone/>
            </a:pPr>
            <a:endParaRPr lang="en-US" sz="1300" dirty="0"/>
          </a:p>
        </p:txBody>
      </p:sp>
      <p:sp>
        <p:nvSpPr>
          <p:cNvPr id="17" name="a1_fade_500_184"/>
          <p:cNvSpPr txBox="1"/>
          <p:nvPr/>
        </p:nvSpPr>
        <p:spPr>
          <a:xfrm>
            <a:off x="594360" y="2761488"/>
            <a:ext cx="182880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S3  actor in audience</a:t>
            </a:r>
            <a:endParaRPr lang="en-US" sz="1250" dirty="0"/>
          </a:p>
        </p:txBody>
      </p:sp>
      <p:sp>
        <p:nvSpPr>
          <p:cNvPr id="18" name="a1_fade_500_185"/>
          <p:cNvSpPr txBox="1"/>
          <p:nvPr/>
        </p:nvSpPr>
        <p:spPr>
          <a:xfrm>
            <a:off x="2468880" y="2761488"/>
            <a:ext cx="2743200" cy="512064"/>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an actor situated in the audience whose acting is rehearsed but seems spontaneous</a:t>
            </a:r>
            <a:endParaRPr lang="en-US" sz="1050" dirty="0"/>
          </a:p>
        </p:txBody>
      </p:sp>
      <p:sp>
        <p:nvSpPr>
          <p:cNvPr id="19" name="a1_fade_500_186"/>
          <p:cNvSpPr txBox="1"/>
          <p:nvPr/>
        </p:nvSpPr>
        <p:spPr>
          <a:xfrm>
            <a:off x="5303520" y="2761488"/>
            <a:ext cx="2377440" cy="512064"/>
          </a:xfrm>
          <a:prstGeom prst="rect">
            <a:avLst/>
          </a:prstGeom>
          <a:noFill/>
          <a:ln/>
        </p:spPr>
        <p:txBody>
          <a:bodyPr wrap="square" lIns="0" tIns="0" rIns="0" bIns="0" rtlCol="0" anchor="ctr"/>
          <a:lstStyle/>
          <a:p>
            <a:pPr marL="0" indent="0">
              <a:buNone/>
            </a:pPr>
            <a:r>
              <a:rPr lang="en-US" sz="1050" i="1" dirty="0">
                <a:solidFill>
                  <a:srgbClr val="AEBBD6"/>
                </a:solidFill>
                <a:latin typeface="Calibri" pitchFamily="34" charset="0"/>
                <a:ea typeface="Calibri" pitchFamily="34" charset="-122"/>
                <a:cs typeface="Calibri" pitchFamily="34" charset="-120"/>
              </a:rPr>
              <a:t>none in WordNet</a:t>
            </a:r>
            <a:endParaRPr lang="en-US" sz="1050" dirty="0"/>
          </a:p>
        </p:txBody>
      </p:sp>
      <p:sp>
        <p:nvSpPr>
          <p:cNvPr id="20" name="a1_fade_500_187"/>
          <p:cNvSpPr txBox="1"/>
          <p:nvPr/>
        </p:nvSpPr>
        <p:spPr>
          <a:xfrm>
            <a:off x="7818120" y="2761488"/>
            <a:ext cx="914400" cy="512064"/>
          </a:xfrm>
          <a:prstGeom prst="rect">
            <a:avLst/>
          </a:prstGeom>
          <a:noFill/>
          <a:ln/>
        </p:spPr>
        <p:txBody>
          <a:bodyPr wrap="square" lIns="0" tIns="0" rIns="0" bIns="0" rtlCol="0" anchor="ctr"/>
          <a:lstStyle/>
          <a:p>
            <a:pPr marL="0" indent="0" algn="ctr">
              <a:buNone/>
            </a:pPr>
            <a:r>
              <a:rPr lang="en-US" sz="1600" b="1" dirty="0">
                <a:solidFill>
                  <a:srgbClr val="F4A300"/>
                </a:solidFill>
                <a:latin typeface="Calibri" pitchFamily="34" charset="0"/>
                <a:ea typeface="Calibri" pitchFamily="34" charset="-122"/>
                <a:cs typeface="Calibri" pitchFamily="34" charset="-120"/>
              </a:rPr>
              <a:t>0</a:t>
            </a:r>
            <a:endParaRPr lang="en-US" sz="1600" dirty="0"/>
          </a:p>
        </p:txBody>
      </p:sp>
      <p:sp>
        <p:nvSpPr>
          <p:cNvPr id="21" name="a1_wipe_600_188"/>
          <p:cNvSpPr/>
          <p:nvPr/>
        </p:nvSpPr>
        <p:spPr>
          <a:xfrm>
            <a:off x="457200" y="3419856"/>
            <a:ext cx="8229600" cy="621792"/>
          </a:xfrm>
          <a:prstGeom prst="roundRect">
            <a:avLst>
              <a:gd name="adj" fmla="val 17647"/>
            </a:avLst>
          </a:prstGeom>
          <a:solidFill>
            <a:srgbClr val="27385F"/>
          </a:solidFill>
          <a:ln/>
        </p:spPr>
        <p:txBody>
          <a:bodyPr wrap="square" lIns="76810" tIns="128016" rIns="128016" bIns="76810" rtlCol="0" anchor="ctr"/>
          <a:lstStyle/>
          <a:p>
            <a:pPr marL="0" indent="0" algn="l">
              <a:buNone/>
            </a:pPr>
            <a:endParaRPr lang="en-US" sz="1300" dirty="0"/>
          </a:p>
        </p:txBody>
      </p:sp>
      <p:sp>
        <p:nvSpPr>
          <p:cNvPr id="22" name="a1_fade_700_189"/>
          <p:cNvSpPr txBox="1"/>
          <p:nvPr/>
        </p:nvSpPr>
        <p:spPr>
          <a:xfrm>
            <a:off x="594360" y="3474720"/>
            <a:ext cx="182880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S4  secret plant</a:t>
            </a:r>
            <a:endParaRPr lang="en-US" sz="1250" dirty="0"/>
          </a:p>
        </p:txBody>
      </p:sp>
      <p:sp>
        <p:nvSpPr>
          <p:cNvPr id="23" name="a1_fade_700_190"/>
          <p:cNvSpPr txBox="1"/>
          <p:nvPr/>
        </p:nvSpPr>
        <p:spPr>
          <a:xfrm>
            <a:off x="2468880" y="3474720"/>
            <a:ext cx="2743200" cy="512064"/>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something planted secretly for discovery by another</a:t>
            </a:r>
            <a:endParaRPr lang="en-US" sz="1050" dirty="0"/>
          </a:p>
        </p:txBody>
      </p:sp>
      <p:sp>
        <p:nvSpPr>
          <p:cNvPr id="24" name="a1_fade_700_191"/>
          <p:cNvSpPr txBox="1"/>
          <p:nvPr/>
        </p:nvSpPr>
        <p:spPr>
          <a:xfrm>
            <a:off x="5303520" y="3474720"/>
            <a:ext cx="2377440" cy="512064"/>
          </a:xfrm>
          <a:prstGeom prst="rect">
            <a:avLst/>
          </a:prstGeom>
          <a:noFill/>
          <a:ln/>
        </p:spPr>
        <p:txBody>
          <a:bodyPr wrap="square" lIns="0" tIns="0" rIns="0" bIns="0" rtlCol="0" anchor="ctr"/>
          <a:lstStyle/>
          <a:p>
            <a:pPr marL="0" indent="0">
              <a:buNone/>
            </a:pPr>
            <a:r>
              <a:rPr lang="en-US" sz="1050" i="1" dirty="0">
                <a:solidFill>
                  <a:srgbClr val="AEBBD6"/>
                </a:solidFill>
                <a:latin typeface="Calibri" pitchFamily="34" charset="0"/>
                <a:ea typeface="Calibri" pitchFamily="34" charset="-122"/>
                <a:cs typeface="Calibri" pitchFamily="34" charset="-120"/>
              </a:rPr>
              <a:t>“the police used a plant to trick the thieves”</a:t>
            </a:r>
            <a:endParaRPr lang="en-US" sz="1050" dirty="0"/>
          </a:p>
        </p:txBody>
      </p:sp>
      <p:sp>
        <p:nvSpPr>
          <p:cNvPr id="25" name="a1_fade_700_192"/>
          <p:cNvSpPr txBox="1"/>
          <p:nvPr/>
        </p:nvSpPr>
        <p:spPr>
          <a:xfrm>
            <a:off x="7818120" y="3474720"/>
            <a:ext cx="914400" cy="512064"/>
          </a:xfrm>
          <a:prstGeom prst="rect">
            <a:avLst/>
          </a:prstGeom>
          <a:noFill/>
          <a:ln/>
        </p:spPr>
        <p:txBody>
          <a:bodyPr wrap="square" lIns="0" tIns="0" rIns="0" bIns="0" rtlCol="0" anchor="ctr"/>
          <a:lstStyle/>
          <a:p>
            <a:pPr marL="0" indent="0" algn="ctr">
              <a:buNone/>
            </a:pPr>
            <a:r>
              <a:rPr lang="en-US" sz="1600" b="1" dirty="0">
                <a:solidFill>
                  <a:srgbClr val="F4A300"/>
                </a:solidFill>
                <a:latin typeface="Calibri" pitchFamily="34" charset="0"/>
                <a:ea typeface="Calibri" pitchFamily="34" charset="-122"/>
                <a:cs typeface="Calibri" pitchFamily="34" charset="-120"/>
              </a:rPr>
              <a:t>0</a:t>
            </a:r>
            <a:endParaRPr lang="en-US" sz="1600" dirty="0"/>
          </a:p>
        </p:txBody>
      </p:sp>
      <p:sp>
        <p:nvSpPr>
          <p:cNvPr id="26" name="a2_zoom_0_193"/>
          <p:cNvSpPr/>
          <p:nvPr/>
        </p:nvSpPr>
        <p:spPr>
          <a:xfrm>
            <a:off x="457200" y="4160520"/>
            <a:ext cx="8229600" cy="502920"/>
          </a:xfrm>
          <a:prstGeom prst="roundRect">
            <a:avLst>
              <a:gd name="adj" fmla="val 21818"/>
            </a:avLst>
          </a:prstGeom>
          <a:solidFill>
            <a:srgbClr val="F4A300"/>
          </a:solidFill>
          <a:ln/>
        </p:spPr>
        <p:txBody>
          <a:bodyPr wrap="square" lIns="76810" tIns="128016" rIns="128016" bIns="76810" rtlCol="0" anchor="ctr"/>
          <a:lstStyle/>
          <a:p>
            <a:pPr marL="0" indent="0" algn="ctr">
              <a:buNone/>
            </a:pPr>
            <a:r>
              <a:rPr lang="en-US" sz="1500" b="1" dirty="0">
                <a:solidFill>
                  <a:srgbClr val="22262E"/>
                </a:solidFill>
                <a:latin typeface="Calibri" pitchFamily="34" charset="0"/>
                <a:ea typeface="Calibri" pitchFamily="34" charset="-122"/>
                <a:cs typeface="Calibri" pitchFamily="34" charset="-120"/>
              </a:rPr>
              <a:t>Sentence:  “The company built a large plant to manufacture electric cars.”</a:t>
            </a:r>
            <a:endParaRPr lang="en-US" sz="1500" dirty="0"/>
          </a:p>
        </p:txBody>
      </p:sp>
      <p:sp>
        <p:nvSpPr>
          <p:cNvPr id="27" name="Text 24"/>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9BB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22" presetClass="entr" presetSubtype="8" fill="hold" grpId="0" nodeType="withEffect">
                                  <p:stCondLst>
                                    <p:cond delay="20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0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22" presetClass="entr" presetSubtype="8" fill="hold" grpId="0" nodeType="withEffect">
                                  <p:stCondLst>
                                    <p:cond delay="40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22" presetClass="entr" presetSubtype="8" fill="hold" grpId="0" nodeType="withEffect">
                                  <p:stCondLst>
                                    <p:cond delay="60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par>
                                <p:cTn id="56" presetID="10" presetClass="entr" presetSubtype="0" fill="hold" grpId="0" nodeType="withEffect">
                                  <p:stCondLst>
                                    <p:cond delay="7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0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7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7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 calcmode="lin" valueType="num">
                                      <p:cBhvr additive="base">
                                        <p:cTn id="72" dur="500" fill="hold"/>
                                        <p:tgtEl>
                                          <p:spTgt spid="26"/>
                                        </p:tgtEl>
                                        <p:attrNameLst>
                                          <p:attrName>ppt_w</p:attrName>
                                        </p:attrNameLst>
                                      </p:cBhvr>
                                      <p:tavLst>
                                        <p:tav tm="0">
                                          <p:val>
                                            <p:fltVal val="0"/>
                                          </p:val>
                                        </p:tav>
                                        <p:tav tm="100000">
                                          <p:val>
                                            <p:strVal val="#ppt_w"/>
                                          </p:val>
                                        </p:tav>
                                      </p:tavLst>
                                    </p:anim>
                                    <p:anim calcmode="lin" valueType="num">
                                      <p:cBhvr additive="base">
                                        <p:cTn id="73" dur="500" fill="hold"/>
                                        <p:tgtEl>
                                          <p:spTgt spid="26"/>
                                        </p:tgtEl>
                                        <p:attrNameLst>
                                          <p:attrName>ppt_h</p:attrName>
                                        </p:attrNameLst>
                                      </p:cBhvr>
                                      <p:tavLst>
                                        <p:tav tm="0">
                                          <p:val>
                                            <p:fltVal val="0"/>
                                          </p:val>
                                        </p:tav>
                                        <p:tav tm="100000">
                                          <p:val>
                                            <p:strVal val="#ppt_h"/>
                                          </p:val>
                                        </p:tav>
                                      </p:tavLst>
                                    </p:anim>
                                    <p:animEffect transition="in" filter="fade">
                                      <p:cBhvr>
                                        <p:cTn id="7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3 · WORKED SUM 2 (ADVANCED)</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Sum 2A: context, signatures, scores</a:t>
            </a:r>
            <a:endParaRPr lang="en-US" sz="2800" dirty="0"/>
          </a:p>
        </p:txBody>
      </p:sp>
      <p:sp>
        <p:nvSpPr>
          <p:cNvPr id="5" name="a1_fade_0_194"/>
          <p:cNvSpPr txBox="1"/>
          <p:nvPr/>
        </p:nvSpPr>
        <p:spPr>
          <a:xfrm>
            <a:off x="457200" y="1143000"/>
            <a:ext cx="1188720" cy="365760"/>
          </a:xfrm>
          <a:prstGeom prst="rect">
            <a:avLst/>
          </a:prstGeom>
          <a:noFill/>
          <a:ln/>
        </p:spPr>
        <p:txBody>
          <a:bodyPr wrap="square" lIns="0" tIns="0" rIns="0" bIns="0" rtlCol="0" anchor="ctr"/>
          <a:lstStyle/>
          <a:p>
            <a:pPr marL="0" indent="0">
              <a:buNone/>
            </a:pPr>
            <a:r>
              <a:rPr lang="en-US" sz="1400" b="1" dirty="0">
                <a:solidFill>
                  <a:srgbClr val="1B2A49"/>
                </a:solidFill>
                <a:latin typeface="Cambria" pitchFamily="34" charset="0"/>
                <a:ea typeface="Cambria" pitchFamily="34" charset="-122"/>
                <a:cs typeface="Cambria" pitchFamily="34" charset="-120"/>
              </a:rPr>
              <a:t>Context C</a:t>
            </a:r>
            <a:endParaRPr lang="en-US" sz="1400" dirty="0"/>
          </a:p>
        </p:txBody>
      </p:sp>
      <p:sp>
        <p:nvSpPr>
          <p:cNvPr id="6" name="a1_zoom_100_195"/>
          <p:cNvSpPr/>
          <p:nvPr/>
        </p:nvSpPr>
        <p:spPr>
          <a:xfrm>
            <a:off x="1645920" y="1170432"/>
            <a:ext cx="948690" cy="316103"/>
          </a:xfrm>
          <a:prstGeom prst="roundRect">
            <a:avLst>
              <a:gd name="adj" fmla="val 34713"/>
            </a:avLst>
          </a:prstGeom>
          <a:solidFill>
            <a:srgbClr val="E6EAF2"/>
          </a:solidFill>
          <a:ln/>
        </p:spPr>
        <p:txBody>
          <a:bodyPr wrap="square" lIns="0" tIns="0" rIns="0" bIns="0" rtlCol="0" anchor="ctr"/>
          <a:lstStyle/>
          <a:p>
            <a:pPr marL="0" indent="0" algn="ctr">
              <a:buNone/>
            </a:pPr>
            <a:r>
              <a:rPr lang="en-US" sz="1250" dirty="0">
                <a:solidFill>
                  <a:srgbClr val="22262E"/>
                </a:solidFill>
                <a:latin typeface="Calibri" pitchFamily="34" charset="0"/>
                <a:ea typeface="Calibri" pitchFamily="34" charset="-122"/>
                <a:cs typeface="Calibri" pitchFamily="34" charset="-120"/>
              </a:rPr>
              <a:t>company</a:t>
            </a:r>
            <a:endParaRPr lang="en-US" sz="1250" dirty="0"/>
          </a:p>
        </p:txBody>
      </p:sp>
      <p:sp>
        <p:nvSpPr>
          <p:cNvPr id="7" name="a1_zoom_220_196"/>
          <p:cNvSpPr/>
          <p:nvPr/>
        </p:nvSpPr>
        <p:spPr>
          <a:xfrm>
            <a:off x="2658618" y="1170432"/>
            <a:ext cx="852678" cy="316103"/>
          </a:xfrm>
          <a:prstGeom prst="roundRect">
            <a:avLst>
              <a:gd name="adj" fmla="val 34713"/>
            </a:avLst>
          </a:prstGeom>
          <a:solidFill>
            <a:srgbClr val="F4A300"/>
          </a:solidFill>
          <a:ln/>
        </p:spPr>
        <p:txBody>
          <a:bodyPr wrap="square" lIns="0" tIns="0" rIns="0" bIns="0" rtlCol="0" anchor="ctr"/>
          <a:lstStyle/>
          <a:p>
            <a:pPr marL="0" indent="0" algn="ctr">
              <a:buNone/>
            </a:pPr>
            <a:r>
              <a:rPr lang="en-US" sz="1250" b="1" dirty="0">
                <a:solidFill>
                  <a:srgbClr val="22262E"/>
                </a:solidFill>
                <a:latin typeface="Calibri" pitchFamily="34" charset="0"/>
                <a:ea typeface="Calibri" pitchFamily="34" charset="-122"/>
                <a:cs typeface="Calibri" pitchFamily="34" charset="-120"/>
              </a:rPr>
              <a:t>build</a:t>
            </a:r>
            <a:endParaRPr lang="en-US" sz="1250" dirty="0"/>
          </a:p>
        </p:txBody>
      </p:sp>
      <p:sp>
        <p:nvSpPr>
          <p:cNvPr id="8" name="a1_zoom_340_197"/>
          <p:cNvSpPr/>
          <p:nvPr/>
        </p:nvSpPr>
        <p:spPr>
          <a:xfrm>
            <a:off x="3575304" y="1170432"/>
            <a:ext cx="852678" cy="316103"/>
          </a:xfrm>
          <a:prstGeom prst="roundRect">
            <a:avLst>
              <a:gd name="adj" fmla="val 34713"/>
            </a:avLst>
          </a:prstGeom>
          <a:solidFill>
            <a:srgbClr val="F4A300"/>
          </a:solidFill>
          <a:ln/>
        </p:spPr>
        <p:txBody>
          <a:bodyPr wrap="square" lIns="0" tIns="0" rIns="0" bIns="0" rtlCol="0" anchor="ctr"/>
          <a:lstStyle/>
          <a:p>
            <a:pPr marL="0" indent="0" algn="ctr">
              <a:buNone/>
            </a:pPr>
            <a:r>
              <a:rPr lang="en-US" sz="1250" b="1" dirty="0">
                <a:solidFill>
                  <a:srgbClr val="22262E"/>
                </a:solidFill>
                <a:latin typeface="Calibri" pitchFamily="34" charset="0"/>
                <a:ea typeface="Calibri" pitchFamily="34" charset="-122"/>
                <a:cs typeface="Calibri" pitchFamily="34" charset="-120"/>
              </a:rPr>
              <a:t>large</a:t>
            </a:r>
            <a:endParaRPr lang="en-US" sz="1250" dirty="0"/>
          </a:p>
        </p:txBody>
      </p:sp>
      <p:sp>
        <p:nvSpPr>
          <p:cNvPr id="9" name="a1_zoom_460_198"/>
          <p:cNvSpPr/>
          <p:nvPr/>
        </p:nvSpPr>
        <p:spPr>
          <a:xfrm>
            <a:off x="4491990" y="1170432"/>
            <a:ext cx="1524762" cy="316103"/>
          </a:xfrm>
          <a:prstGeom prst="roundRect">
            <a:avLst>
              <a:gd name="adj" fmla="val 34713"/>
            </a:avLst>
          </a:prstGeom>
          <a:solidFill>
            <a:srgbClr val="F4A300"/>
          </a:solidFill>
          <a:ln/>
        </p:spPr>
        <p:txBody>
          <a:bodyPr wrap="square" lIns="0" tIns="0" rIns="0" bIns="0" rtlCol="0" anchor="ctr"/>
          <a:lstStyle/>
          <a:p>
            <a:pPr marL="0" indent="0" algn="ctr">
              <a:buNone/>
            </a:pPr>
            <a:r>
              <a:rPr lang="en-US" sz="1250" b="1" dirty="0">
                <a:solidFill>
                  <a:srgbClr val="22262E"/>
                </a:solidFill>
                <a:latin typeface="Calibri" pitchFamily="34" charset="0"/>
                <a:ea typeface="Calibri" pitchFamily="34" charset="-122"/>
                <a:cs typeface="Calibri" pitchFamily="34" charset="-120"/>
              </a:rPr>
              <a:t>manufacture</a:t>
            </a:r>
            <a:endParaRPr lang="en-US" sz="1250" dirty="0"/>
          </a:p>
        </p:txBody>
      </p:sp>
      <p:sp>
        <p:nvSpPr>
          <p:cNvPr id="10" name="a1_zoom_580_199"/>
          <p:cNvSpPr/>
          <p:nvPr/>
        </p:nvSpPr>
        <p:spPr>
          <a:xfrm>
            <a:off x="6080760" y="1170432"/>
            <a:ext cx="1042416" cy="316103"/>
          </a:xfrm>
          <a:prstGeom prst="roundRect">
            <a:avLst>
              <a:gd name="adj" fmla="val 34713"/>
            </a:avLst>
          </a:prstGeom>
          <a:solidFill>
            <a:srgbClr val="E6EAF2"/>
          </a:solidFill>
          <a:ln/>
        </p:spPr>
        <p:txBody>
          <a:bodyPr wrap="square" lIns="0" tIns="0" rIns="0" bIns="0" rtlCol="0" anchor="ctr"/>
          <a:lstStyle/>
          <a:p>
            <a:pPr marL="0" indent="0" algn="ctr">
              <a:buNone/>
            </a:pPr>
            <a:r>
              <a:rPr lang="en-US" sz="1250" dirty="0">
                <a:solidFill>
                  <a:srgbClr val="22262E"/>
                </a:solidFill>
                <a:latin typeface="Calibri" pitchFamily="34" charset="0"/>
                <a:ea typeface="Calibri" pitchFamily="34" charset="-122"/>
                <a:cs typeface="Calibri" pitchFamily="34" charset="-120"/>
              </a:rPr>
              <a:t>electric</a:t>
            </a:r>
            <a:endParaRPr lang="en-US" sz="1250" dirty="0"/>
          </a:p>
        </p:txBody>
      </p:sp>
      <p:sp>
        <p:nvSpPr>
          <p:cNvPr id="11" name="a1_zoom_700_200"/>
          <p:cNvSpPr/>
          <p:nvPr/>
        </p:nvSpPr>
        <p:spPr>
          <a:xfrm>
            <a:off x="7187184" y="1170432"/>
            <a:ext cx="573786" cy="316103"/>
          </a:xfrm>
          <a:prstGeom prst="roundRect">
            <a:avLst>
              <a:gd name="adj" fmla="val 34713"/>
            </a:avLst>
          </a:prstGeom>
          <a:solidFill>
            <a:srgbClr val="E6EAF2"/>
          </a:solidFill>
          <a:ln/>
        </p:spPr>
        <p:txBody>
          <a:bodyPr wrap="square" lIns="0" tIns="0" rIns="0" bIns="0" rtlCol="0" anchor="ctr"/>
          <a:lstStyle/>
          <a:p>
            <a:pPr marL="0" indent="0" algn="ctr">
              <a:buNone/>
            </a:pPr>
            <a:r>
              <a:rPr lang="en-US" sz="1250" dirty="0">
                <a:solidFill>
                  <a:srgbClr val="22262E"/>
                </a:solidFill>
                <a:latin typeface="Calibri" pitchFamily="34" charset="0"/>
                <a:ea typeface="Calibri" pitchFamily="34" charset="-122"/>
                <a:cs typeface="Calibri" pitchFamily="34" charset="-120"/>
              </a:rPr>
              <a:t>car</a:t>
            </a:r>
            <a:endParaRPr lang="en-US" sz="1250" dirty="0"/>
          </a:p>
        </p:txBody>
      </p:sp>
      <p:sp>
        <p:nvSpPr>
          <p:cNvPr id="12" name="a1_fade_800_201"/>
          <p:cNvSpPr txBox="1"/>
          <p:nvPr/>
        </p:nvSpPr>
        <p:spPr>
          <a:xfrm>
            <a:off x="457200" y="1572768"/>
            <a:ext cx="8229600" cy="256032"/>
          </a:xfrm>
          <a:prstGeom prst="rect">
            <a:avLst/>
          </a:prstGeom>
          <a:noFill/>
          <a:ln/>
        </p:spPr>
        <p:txBody>
          <a:bodyPr wrap="square" lIns="0" tIns="0" rIns="0" bIns="0" rtlCol="0" anchor="t"/>
          <a:lstStyle/>
          <a:p>
            <a:pPr marL="0" indent="0">
              <a:buNone/>
            </a:pPr>
            <a:r>
              <a:rPr lang="en-US" sz="1050" i="1" dirty="0">
                <a:solidFill>
                  <a:srgbClr val="5B6577"/>
                </a:solidFill>
                <a:latin typeface="Calibri" pitchFamily="34" charset="0"/>
                <a:ea typeface="Calibri" pitchFamily="34" charset="-122"/>
                <a:cs typeface="Calibri" pitchFamily="34" charset="-120"/>
              </a:rPr>
              <a:t>removed: the, a, to, plant   ·   built → build, cars → car</a:t>
            </a:r>
            <a:endParaRPr lang="en-US" sz="1050" dirty="0"/>
          </a:p>
        </p:txBody>
      </p:sp>
      <p:sp>
        <p:nvSpPr>
          <p:cNvPr id="13" name="a2_wipe_0_202"/>
          <p:cNvSpPr/>
          <p:nvPr/>
        </p:nvSpPr>
        <p:spPr>
          <a:xfrm>
            <a:off x="457200" y="1920240"/>
            <a:ext cx="5120640" cy="512064"/>
          </a:xfrm>
          <a:prstGeom prst="roundRect">
            <a:avLst>
              <a:gd name="adj" fmla="val 21429"/>
            </a:avLst>
          </a:prstGeom>
          <a:solidFill>
            <a:srgbClr val="FFF0C7"/>
          </a:solidFill>
          <a:ln/>
        </p:spPr>
        <p:txBody>
          <a:bodyPr wrap="square" lIns="76810" tIns="128016" rIns="128016" bIns="76810" rtlCol="0" anchor="ctr"/>
          <a:lstStyle/>
          <a:p>
            <a:pPr marL="0" indent="0" algn="l">
              <a:buNone/>
            </a:pPr>
            <a:r>
              <a:rPr lang="en-US" sz="1100" b="1" dirty="0">
                <a:solidFill>
                  <a:srgbClr val="22262E"/>
                </a:solidFill>
                <a:latin typeface="Calibri" pitchFamily="34" charset="0"/>
                <a:ea typeface="Calibri" pitchFamily="34" charset="-122"/>
                <a:cs typeface="Calibri" pitchFamily="34" charset="-120"/>
              </a:rPr>
              <a:t>S1</a:t>
            </a:r>
            <a:r>
              <a:rPr lang="en-US" sz="1100" dirty="0">
                <a:solidFill>
                  <a:srgbClr val="22262E"/>
                </a:solidFill>
                <a:latin typeface="Calibri" pitchFamily="34" charset="0"/>
                <a:ea typeface="Calibri" pitchFamily="34" charset="-122"/>
                <a:cs typeface="Calibri" pitchFamily="34" charset="-120"/>
              </a:rPr>
              <a:t>  {building, carry, industrial, labor, </a:t>
            </a:r>
            <a:r>
              <a:rPr lang="en-US" sz="1100" b="1" dirty="0">
                <a:solidFill>
                  <a:srgbClr val="22262E"/>
                </a:solidFill>
                <a:highlight>
                  <a:srgbClr val="FFD970"/>
                </a:highlight>
                <a:latin typeface="Calibri" pitchFamily="34" charset="0"/>
                <a:ea typeface="Calibri" pitchFamily="34" charset="-122"/>
                <a:cs typeface="Calibri" pitchFamily="34" charset="-120"/>
              </a:rPr>
              <a:t>build</a:t>
            </a:r>
            <a:r>
              <a:rPr lang="en-US" sz="1100" dirty="0">
                <a:solidFill>
                  <a:srgbClr val="22262E"/>
                </a:solidFill>
                <a:latin typeface="Calibri" pitchFamily="34" charset="0"/>
                <a:ea typeface="Calibri" pitchFamily="34" charset="-122"/>
                <a:cs typeface="Calibri" pitchFamily="34" charset="-120"/>
              </a:rPr>
              <a:t>, </a:t>
            </a:r>
            <a:r>
              <a:rPr lang="en-US" sz="1100" b="1" dirty="0">
                <a:solidFill>
                  <a:srgbClr val="22262E"/>
                </a:solidFill>
                <a:highlight>
                  <a:srgbClr val="FFD970"/>
                </a:highlight>
                <a:latin typeface="Calibri" pitchFamily="34" charset="0"/>
                <a:ea typeface="Calibri" pitchFamily="34" charset="-122"/>
                <a:cs typeface="Calibri" pitchFamily="34" charset="-120"/>
              </a:rPr>
              <a:t>large</a:t>
            </a:r>
            <a:r>
              <a:rPr lang="en-US" sz="1100" dirty="0">
                <a:solidFill>
                  <a:srgbClr val="22262E"/>
                </a:solidFill>
                <a:latin typeface="Calibri" pitchFamily="34" charset="0"/>
                <a:ea typeface="Calibri" pitchFamily="34" charset="-122"/>
                <a:cs typeface="Calibri" pitchFamily="34" charset="-120"/>
              </a:rPr>
              <a:t>, </a:t>
            </a:r>
            <a:r>
              <a:rPr lang="en-US" sz="1100" b="1" dirty="0">
                <a:solidFill>
                  <a:srgbClr val="22262E"/>
                </a:solidFill>
                <a:highlight>
                  <a:srgbClr val="FFD970"/>
                </a:highlight>
                <a:latin typeface="Calibri" pitchFamily="34" charset="0"/>
                <a:ea typeface="Calibri" pitchFamily="34" charset="-122"/>
                <a:cs typeface="Calibri" pitchFamily="34" charset="-120"/>
              </a:rPr>
              <a:t>manufacture</a:t>
            </a:r>
            <a:r>
              <a:rPr lang="en-US" sz="1100" dirty="0">
                <a:solidFill>
                  <a:srgbClr val="22262E"/>
                </a:solidFill>
                <a:latin typeface="Calibri" pitchFamily="34" charset="0"/>
                <a:ea typeface="Calibri" pitchFamily="34" charset="-122"/>
                <a:cs typeface="Calibri" pitchFamily="34" charset="-120"/>
              </a:rPr>
              <a:t>, automobile}</a:t>
            </a:r>
            <a:endParaRPr lang="en-US" sz="1100" dirty="0"/>
          </a:p>
        </p:txBody>
      </p:sp>
      <p:sp>
        <p:nvSpPr>
          <p:cNvPr id="14" name="a2_wipe_250_203"/>
          <p:cNvSpPr/>
          <p:nvPr/>
        </p:nvSpPr>
        <p:spPr>
          <a:xfrm>
            <a:off x="457200" y="2523744"/>
            <a:ext cx="5120640" cy="512064"/>
          </a:xfrm>
          <a:prstGeom prst="roundRect">
            <a:avLst>
              <a:gd name="adj" fmla="val 21429"/>
            </a:avLst>
          </a:prstGeom>
          <a:solidFill>
            <a:srgbClr val="F2F4F8"/>
          </a:solidFill>
          <a:ln/>
        </p:spPr>
        <p:txBody>
          <a:bodyPr wrap="square" lIns="76810" tIns="128016" rIns="128016" bIns="76810" rtlCol="0" anchor="ctr"/>
          <a:lstStyle/>
          <a:p>
            <a:pPr marL="0" indent="0" algn="l">
              <a:buNone/>
            </a:pPr>
            <a:r>
              <a:rPr lang="en-US" sz="1100" b="1" dirty="0">
                <a:solidFill>
                  <a:srgbClr val="22262E"/>
                </a:solidFill>
                <a:latin typeface="Calibri" pitchFamily="34" charset="0"/>
                <a:ea typeface="Calibri" pitchFamily="34" charset="-122"/>
                <a:cs typeface="Calibri" pitchFamily="34" charset="-120"/>
              </a:rPr>
              <a:t>S2</a:t>
            </a:r>
            <a:r>
              <a:rPr lang="en-US" sz="1100" dirty="0">
                <a:solidFill>
                  <a:srgbClr val="22262E"/>
                </a:solidFill>
                <a:latin typeface="Calibri" pitchFamily="34" charset="0"/>
                <a:ea typeface="Calibri" pitchFamily="34" charset="-122"/>
                <a:cs typeface="Calibri" pitchFamily="34" charset="-120"/>
              </a:rPr>
              <a:t>  {botany, living, organism, lack, power, locomotion}</a:t>
            </a:r>
            <a:endParaRPr lang="en-US" sz="1100" dirty="0"/>
          </a:p>
        </p:txBody>
      </p:sp>
      <p:sp>
        <p:nvSpPr>
          <p:cNvPr id="15" name="a2_wipe_500_204"/>
          <p:cNvSpPr/>
          <p:nvPr/>
        </p:nvSpPr>
        <p:spPr>
          <a:xfrm>
            <a:off x="457200" y="3127248"/>
            <a:ext cx="5120640" cy="512064"/>
          </a:xfrm>
          <a:prstGeom prst="roundRect">
            <a:avLst>
              <a:gd name="adj" fmla="val 21429"/>
            </a:avLst>
          </a:prstGeom>
          <a:solidFill>
            <a:srgbClr val="F2F4F8"/>
          </a:solidFill>
          <a:ln/>
        </p:spPr>
        <p:txBody>
          <a:bodyPr wrap="square" lIns="76810" tIns="128016" rIns="128016" bIns="76810" rtlCol="0" anchor="ctr"/>
          <a:lstStyle/>
          <a:p>
            <a:pPr marL="0" indent="0" algn="l">
              <a:buNone/>
            </a:pPr>
            <a:r>
              <a:rPr lang="en-US" sz="1100" b="1" dirty="0">
                <a:solidFill>
                  <a:srgbClr val="22262E"/>
                </a:solidFill>
                <a:latin typeface="Calibri" pitchFamily="34" charset="0"/>
                <a:ea typeface="Calibri" pitchFamily="34" charset="-122"/>
                <a:cs typeface="Calibri" pitchFamily="34" charset="-120"/>
              </a:rPr>
              <a:t>S3</a:t>
            </a:r>
            <a:r>
              <a:rPr lang="en-US" sz="1100" dirty="0">
                <a:solidFill>
                  <a:srgbClr val="22262E"/>
                </a:solidFill>
                <a:latin typeface="Calibri" pitchFamily="34" charset="0"/>
                <a:ea typeface="Calibri" pitchFamily="34" charset="-122"/>
                <a:cs typeface="Calibri" pitchFamily="34" charset="-120"/>
              </a:rPr>
              <a:t>  {actor, situate, audience, act, rehearse, seem, spontaneous}</a:t>
            </a:r>
            <a:endParaRPr lang="en-US" sz="1100" dirty="0"/>
          </a:p>
        </p:txBody>
      </p:sp>
      <p:sp>
        <p:nvSpPr>
          <p:cNvPr id="16" name="a2_wipe_750_205"/>
          <p:cNvSpPr/>
          <p:nvPr/>
        </p:nvSpPr>
        <p:spPr>
          <a:xfrm>
            <a:off x="457200" y="3730752"/>
            <a:ext cx="5120640" cy="512064"/>
          </a:xfrm>
          <a:prstGeom prst="roundRect">
            <a:avLst>
              <a:gd name="adj" fmla="val 21429"/>
            </a:avLst>
          </a:prstGeom>
          <a:solidFill>
            <a:srgbClr val="F2F4F8"/>
          </a:solidFill>
          <a:ln/>
        </p:spPr>
        <p:txBody>
          <a:bodyPr wrap="square" lIns="76810" tIns="128016" rIns="128016" bIns="76810" rtlCol="0" anchor="ctr"/>
          <a:lstStyle/>
          <a:p>
            <a:pPr marL="0" indent="0" algn="l">
              <a:buNone/>
            </a:pPr>
            <a:r>
              <a:rPr lang="en-US" sz="1100" b="1" dirty="0">
                <a:solidFill>
                  <a:srgbClr val="22262E"/>
                </a:solidFill>
                <a:latin typeface="Calibri" pitchFamily="34" charset="0"/>
                <a:ea typeface="Calibri" pitchFamily="34" charset="-122"/>
                <a:cs typeface="Calibri" pitchFamily="34" charset="-120"/>
              </a:rPr>
              <a:t>S4</a:t>
            </a:r>
            <a:r>
              <a:rPr lang="en-US" sz="1100" dirty="0">
                <a:solidFill>
                  <a:srgbClr val="22262E"/>
                </a:solidFill>
                <a:latin typeface="Calibri" pitchFamily="34" charset="0"/>
                <a:ea typeface="Calibri" pitchFamily="34" charset="-122"/>
                <a:cs typeface="Calibri" pitchFamily="34" charset="-120"/>
              </a:rPr>
              <a:t>  {secretly, discovery, police, use, trick, thief, claim, evidence}</a:t>
            </a:r>
            <a:endParaRPr lang="en-US" sz="1100" dirty="0"/>
          </a:p>
        </p:txBody>
      </p:sp>
      <p:graphicFrame>
        <p:nvGraphicFramePr>
          <p:cNvPr id="17" name="Chart 0"/>
          <p:cNvGraphicFramePr/>
          <p:nvPr/>
        </p:nvGraphicFramePr>
        <p:xfrm>
          <a:off x="5760720" y="1783080"/>
          <a:ext cx="292608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18" name="a3_zoom_0_206"/>
          <p:cNvSpPr/>
          <p:nvPr/>
        </p:nvSpPr>
        <p:spPr>
          <a:xfrm>
            <a:off x="457200" y="4389120"/>
            <a:ext cx="8229600" cy="457200"/>
          </a:xfrm>
          <a:prstGeom prst="roundRect">
            <a:avLst>
              <a:gd name="adj" fmla="val 24000"/>
            </a:avLst>
          </a:prstGeom>
          <a:solidFill>
            <a:srgbClr val="F4A300"/>
          </a:solidFill>
          <a:ln/>
        </p:spPr>
        <p:txBody>
          <a:bodyPr wrap="square" lIns="76810" tIns="128016" rIns="128016" bIns="76810" rtlCol="0" anchor="ctr"/>
          <a:lstStyle/>
          <a:p>
            <a:pPr marL="0" indent="0" algn="l">
              <a:buNone/>
            </a:pPr>
            <a:r>
              <a:rPr lang="en-US" sz="1200" dirty="0">
                <a:solidFill>
                  <a:srgbClr val="22262E"/>
                </a:solidFill>
                <a:latin typeface="Calibri" pitchFamily="34" charset="0"/>
                <a:ea typeface="Calibri" pitchFamily="34" charset="-122"/>
                <a:cs typeface="Calibri" pitchFamily="34" charset="-120"/>
              </a:rPr>
              <a:t>Winner S1 (3).  Note car ≠ automobile: exact matching misses the synonym, yet build, large, manufacture still carry the decision.</a:t>
            </a:r>
            <a:endParaRPr lang="en-US" sz="12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53" presetClass="entr" presetSubtype="16"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ppt_w</p:attrName>
                                        </p:attrNameLst>
                                      </p:cBhvr>
                                      <p:tavLst>
                                        <p:tav tm="0">
                                          <p:val>
                                            <p:fltVal val="0"/>
                                          </p:val>
                                        </p:tav>
                                        <p:tav tm="100000">
                                          <p:val>
                                            <p:strVal val="#ppt_w"/>
                                          </p:val>
                                        </p:tav>
                                      </p:tavLst>
                                    </p:anim>
                                    <p:anim calcmode="lin" valueType="num">
                                      <p:cBhvr additive="base">
                                        <p:cTn id="11" dur="500" fill="hold"/>
                                        <p:tgtEl>
                                          <p:spTgt spid="6"/>
                                        </p:tgtEl>
                                        <p:attrNameLst>
                                          <p:attrName>ppt_h</p:attrName>
                                        </p:attrNameLst>
                                      </p:cBhvr>
                                      <p:tavLst>
                                        <p:tav tm="0">
                                          <p:val>
                                            <p:fltVal val="0"/>
                                          </p:val>
                                        </p:tav>
                                        <p:tav tm="100000">
                                          <p:val>
                                            <p:strVal val="#ppt_h"/>
                                          </p:val>
                                        </p:tav>
                                      </p:tavLst>
                                    </p:anim>
                                    <p:animEffect transition="in" filter="fade">
                                      <p:cBhvr>
                                        <p:cTn id="12" dur="500"/>
                                        <p:tgtEl>
                                          <p:spTgt spid="6"/>
                                        </p:tgtEl>
                                      </p:cBhvr>
                                    </p:animEffect>
                                  </p:childTnLst>
                                </p:cTn>
                              </p:par>
                              <p:par>
                                <p:cTn id="13" presetID="53" presetClass="entr" presetSubtype="16" fill="hold" grpId="0" nodeType="withEffect">
                                  <p:stCondLst>
                                    <p:cond delay="22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ppt_w</p:attrName>
                                        </p:attrNameLst>
                                      </p:cBhvr>
                                      <p:tavLst>
                                        <p:tav tm="0">
                                          <p:val>
                                            <p:fltVal val="0"/>
                                          </p:val>
                                        </p:tav>
                                        <p:tav tm="100000">
                                          <p:val>
                                            <p:strVal val="#ppt_w"/>
                                          </p:val>
                                        </p:tav>
                                      </p:tavLst>
                                    </p:anim>
                                    <p:anim calcmode="lin" valueType="num">
                                      <p:cBhvr additive="base">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34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ppt_w</p:attrName>
                                        </p:attrNameLst>
                                      </p:cBhvr>
                                      <p:tavLst>
                                        <p:tav tm="0">
                                          <p:val>
                                            <p:fltVal val="0"/>
                                          </p:val>
                                        </p:tav>
                                        <p:tav tm="100000">
                                          <p:val>
                                            <p:strVal val="#ppt_w"/>
                                          </p:val>
                                        </p:tav>
                                      </p:tavLst>
                                    </p:anim>
                                    <p:anim calcmode="lin" valueType="num">
                                      <p:cBhvr additive="base">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46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ppt_w</p:attrName>
                                        </p:attrNameLst>
                                      </p:cBhvr>
                                      <p:tavLst>
                                        <p:tav tm="0">
                                          <p:val>
                                            <p:fltVal val="0"/>
                                          </p:val>
                                        </p:tav>
                                        <p:tav tm="100000">
                                          <p:val>
                                            <p:strVal val="#ppt_w"/>
                                          </p:val>
                                        </p:tav>
                                      </p:tavLst>
                                    </p:anim>
                                    <p:anim calcmode="lin" valueType="num">
                                      <p:cBhvr additive="base">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53" presetClass="entr" presetSubtype="16" fill="hold" grpId="0" nodeType="withEffect">
                                  <p:stCondLst>
                                    <p:cond delay="58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ppt_w</p:attrName>
                                        </p:attrNameLst>
                                      </p:cBhvr>
                                      <p:tavLst>
                                        <p:tav tm="0">
                                          <p:val>
                                            <p:fltVal val="0"/>
                                          </p:val>
                                        </p:tav>
                                        <p:tav tm="100000">
                                          <p:val>
                                            <p:strVal val="#ppt_w"/>
                                          </p:val>
                                        </p:tav>
                                      </p:tavLst>
                                    </p:anim>
                                    <p:anim calcmode="lin" valueType="num">
                                      <p:cBhvr additive="base">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par>
                                <p:cTn id="33" presetID="53" presetClass="entr" presetSubtype="16" fill="hold" grpId="0" nodeType="withEffect">
                                  <p:stCondLst>
                                    <p:cond delay="70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ppt_w</p:attrName>
                                        </p:attrNameLst>
                                      </p:cBhvr>
                                      <p:tavLst>
                                        <p:tav tm="0">
                                          <p:val>
                                            <p:fltVal val="0"/>
                                          </p:val>
                                        </p:tav>
                                        <p:tav tm="100000">
                                          <p:val>
                                            <p:strVal val="#ppt_w"/>
                                          </p:val>
                                        </p:tav>
                                      </p:tavLst>
                                    </p:anim>
                                    <p:anim calcmode="lin" valueType="num">
                                      <p:cBhvr additive="base">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par>
                                <p:cTn id="38" presetID="10" presetClass="entr" presetSubtype="0" fill="hold" grpId="0" nodeType="withEffect">
                                  <p:stCondLst>
                                    <p:cond delay="8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par>
                                <p:cTn id="46" presetID="22" presetClass="entr" presetSubtype="8" fill="hold" grpId="0" nodeType="withEffect">
                                  <p:stCondLst>
                                    <p:cond delay="25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par>
                                <p:cTn id="49" presetID="22" presetClass="entr" presetSubtype="8" fill="hold" grpId="0" nodeType="withEffect">
                                  <p:stCondLst>
                                    <p:cond delay="50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par>
                                <p:cTn id="52" presetID="22" presetClass="entr" presetSubtype="8" fill="hold" grpId="0" nodeType="withEffect">
                                  <p:stCondLst>
                                    <p:cond delay="75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ppt_w</p:attrName>
                                        </p:attrNameLst>
                                      </p:cBhvr>
                                      <p:tavLst>
                                        <p:tav tm="0">
                                          <p:val>
                                            <p:fltVal val="0"/>
                                          </p:val>
                                        </p:tav>
                                        <p:tav tm="100000">
                                          <p:val>
                                            <p:strVal val="#ppt_w"/>
                                          </p:val>
                                        </p:tav>
                                      </p:tavLst>
                                    </p:anim>
                                    <p:anim calcmode="lin" valueType="num">
                                      <p:cBhvr additive="base">
                                        <p:cTn id="60" dur="500" fill="hold"/>
                                        <p:tgtEl>
                                          <p:spTgt spid="18"/>
                                        </p:tgtEl>
                                        <p:attrNameLst>
                                          <p:attrName>ppt_h</p:attrName>
                                        </p:attrNameLst>
                                      </p:cBhvr>
                                      <p:tavLst>
                                        <p:tav tm="0">
                                          <p:val>
                                            <p:fltVal val="0"/>
                                          </p:val>
                                        </p:tav>
                                        <p:tav tm="100000">
                                          <p:val>
                                            <p:strVal val="#ppt_h"/>
                                          </p:val>
                                        </p:tav>
                                      </p:tavLst>
                                    </p:anim>
                                    <p:animEffect transition="in" filter="fade">
                                      <p:cBhvr>
                                        <p:cTn id="6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2A49"/>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F4A300"/>
                </a:solidFill>
                <a:latin typeface="Calibri" pitchFamily="34" charset="0"/>
                <a:ea typeface="Calibri" pitchFamily="34" charset="-122"/>
                <a:cs typeface="Calibri" pitchFamily="34" charset="-120"/>
              </a:rPr>
              <a:t>PART 3 · WORKED SUM 2 (ADVANCED)</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Sum 2B: weight overlaps by IDF</a:t>
            </a:r>
            <a:endParaRPr lang="en-US" sz="2800" dirty="0"/>
          </a:p>
        </p:txBody>
      </p:sp>
      <p:sp>
        <p:nvSpPr>
          <p:cNvPr id="5" name="a1_zoom_0_207"/>
          <p:cNvSpPr/>
          <p:nvPr/>
        </p:nvSpPr>
        <p:spPr>
          <a:xfrm>
            <a:off x="457200" y="1143000"/>
            <a:ext cx="8229600" cy="640080"/>
          </a:xfrm>
          <a:prstGeom prst="roundRect">
            <a:avLst>
              <a:gd name="adj" fmla="val 17143"/>
            </a:avLst>
          </a:prstGeom>
          <a:solidFill>
            <a:srgbClr val="FFFFFF"/>
          </a:solidFill>
          <a:ln/>
        </p:spPr>
        <p:txBody>
          <a:bodyPr wrap="square" lIns="76810" tIns="128016" rIns="128016" bIns="76810" rtlCol="0" anchor="ctr"/>
          <a:lstStyle/>
          <a:p>
            <a:pPr marL="0" indent="0" algn="ctr">
              <a:buNone/>
            </a:pPr>
            <a:r>
              <a:rPr lang="en-US" sz="2000" b="1" dirty="0">
                <a:solidFill>
                  <a:srgbClr val="1B2A49"/>
                </a:solidFill>
                <a:latin typeface="Cambria" pitchFamily="34" charset="0"/>
                <a:ea typeface="Cambria" pitchFamily="34" charset="-122"/>
                <a:cs typeface="Cambria" pitchFamily="34" charset="-120"/>
              </a:rPr>
              <a:t>idf(w) = log( N / df(w) )      Score = Σ idf(w) over shared words</a:t>
            </a:r>
            <a:endParaRPr lang="en-US" sz="2000" dirty="0"/>
          </a:p>
        </p:txBody>
      </p:sp>
      <p:sp>
        <p:nvSpPr>
          <p:cNvPr id="6" name="a2_fade_0_208"/>
          <p:cNvSpPr txBox="1"/>
          <p:nvPr/>
        </p:nvSpPr>
        <p:spPr>
          <a:xfrm>
            <a:off x="731520" y="1938528"/>
            <a:ext cx="2286000" cy="274320"/>
          </a:xfrm>
          <a:prstGeom prst="rect">
            <a:avLst/>
          </a:prstGeom>
          <a:noFill/>
          <a:ln/>
        </p:spPr>
        <p:txBody>
          <a:bodyPr wrap="square" lIns="0" tIns="0" rIns="0" bIns="0" rtlCol="0" anchor="t"/>
          <a:lstStyle/>
          <a:p>
            <a:pPr marL="0" indent="0">
              <a:buNone/>
            </a:pPr>
            <a:r>
              <a:rPr lang="en-US" sz="1100" b="1" dirty="0">
                <a:solidFill>
                  <a:srgbClr val="8E9BB8"/>
                </a:solidFill>
                <a:latin typeface="Calibri" pitchFamily="34" charset="0"/>
                <a:ea typeface="Calibri" pitchFamily="34" charset="-122"/>
                <a:cs typeface="Calibri" pitchFamily="34" charset="-120"/>
              </a:rPr>
              <a:t>word</a:t>
            </a:r>
            <a:endParaRPr lang="en-US" sz="1100" dirty="0"/>
          </a:p>
        </p:txBody>
      </p:sp>
      <p:sp>
        <p:nvSpPr>
          <p:cNvPr id="7" name="a2_fade_0_209"/>
          <p:cNvSpPr txBox="1"/>
          <p:nvPr/>
        </p:nvSpPr>
        <p:spPr>
          <a:xfrm>
            <a:off x="3017520" y="1938528"/>
            <a:ext cx="1828800" cy="274320"/>
          </a:xfrm>
          <a:prstGeom prst="rect">
            <a:avLst/>
          </a:prstGeom>
          <a:noFill/>
          <a:ln/>
        </p:spPr>
        <p:txBody>
          <a:bodyPr wrap="square" lIns="0" tIns="0" rIns="0" bIns="0" rtlCol="0" anchor="t"/>
          <a:lstStyle/>
          <a:p>
            <a:pPr marL="0" indent="0">
              <a:buNone/>
            </a:pPr>
            <a:r>
              <a:rPr lang="en-US" sz="1100" b="1" dirty="0">
                <a:solidFill>
                  <a:srgbClr val="8E9BB8"/>
                </a:solidFill>
                <a:latin typeface="Calibri" pitchFamily="34" charset="0"/>
                <a:ea typeface="Calibri" pitchFamily="34" charset="-122"/>
                <a:cs typeface="Calibri" pitchFamily="34" charset="-120"/>
              </a:rPr>
              <a:t>df (N = 1000)</a:t>
            </a:r>
            <a:endParaRPr lang="en-US" sz="1100" dirty="0"/>
          </a:p>
        </p:txBody>
      </p:sp>
      <p:sp>
        <p:nvSpPr>
          <p:cNvPr id="8" name="a2_fade_0_210"/>
          <p:cNvSpPr txBox="1"/>
          <p:nvPr/>
        </p:nvSpPr>
        <p:spPr>
          <a:xfrm>
            <a:off x="5029200" y="1938528"/>
            <a:ext cx="1371600" cy="274320"/>
          </a:xfrm>
          <a:prstGeom prst="rect">
            <a:avLst/>
          </a:prstGeom>
          <a:noFill/>
          <a:ln/>
        </p:spPr>
        <p:txBody>
          <a:bodyPr wrap="square" lIns="0" tIns="0" rIns="0" bIns="0" rtlCol="0" anchor="t"/>
          <a:lstStyle/>
          <a:p>
            <a:pPr marL="0" indent="0">
              <a:buNone/>
            </a:pPr>
            <a:r>
              <a:rPr lang="en-US" sz="1100" b="1" dirty="0">
                <a:solidFill>
                  <a:srgbClr val="8E9BB8"/>
                </a:solidFill>
                <a:latin typeface="Calibri" pitchFamily="34" charset="0"/>
                <a:ea typeface="Calibri" pitchFamily="34" charset="-122"/>
                <a:cs typeface="Calibri" pitchFamily="34" charset="-120"/>
              </a:rPr>
              <a:t>idf</a:t>
            </a:r>
            <a:endParaRPr lang="en-US" sz="1100" dirty="0"/>
          </a:p>
        </p:txBody>
      </p:sp>
      <p:sp>
        <p:nvSpPr>
          <p:cNvPr id="9" name="a2_wipe_0_211"/>
          <p:cNvSpPr/>
          <p:nvPr/>
        </p:nvSpPr>
        <p:spPr>
          <a:xfrm>
            <a:off x="457200" y="2240280"/>
            <a:ext cx="5669280" cy="438912"/>
          </a:xfrm>
          <a:prstGeom prst="roundRect">
            <a:avLst>
              <a:gd name="adj" fmla="val 25000"/>
            </a:avLst>
          </a:prstGeom>
          <a:solidFill>
            <a:srgbClr val="27385F"/>
          </a:solidFill>
          <a:ln/>
        </p:spPr>
        <p:txBody>
          <a:bodyPr wrap="square" lIns="76810" tIns="128016" rIns="128016" bIns="76810" rtlCol="0" anchor="ctr"/>
          <a:lstStyle/>
          <a:p>
            <a:pPr marL="0" indent="0" algn="l">
              <a:buNone/>
            </a:pPr>
            <a:endParaRPr lang="en-US" sz="1300" dirty="0"/>
          </a:p>
        </p:txBody>
      </p:sp>
      <p:sp>
        <p:nvSpPr>
          <p:cNvPr id="10" name="a2_fade_100_212"/>
          <p:cNvSpPr txBox="1"/>
          <p:nvPr/>
        </p:nvSpPr>
        <p:spPr>
          <a:xfrm>
            <a:off x="731520" y="2276856"/>
            <a:ext cx="219456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p:txBody>
      </p:sp>
      <p:sp>
        <p:nvSpPr>
          <p:cNvPr id="11" name="a2_fade_100_213"/>
          <p:cNvSpPr txBox="1"/>
          <p:nvPr/>
        </p:nvSpPr>
        <p:spPr>
          <a:xfrm>
            <a:off x="3017520" y="2276856"/>
            <a:ext cx="164592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120</a:t>
            </a:r>
            <a:endParaRPr lang="en-US" sz="1500" dirty="0"/>
          </a:p>
        </p:txBody>
      </p:sp>
      <p:sp>
        <p:nvSpPr>
          <p:cNvPr id="12" name="a2_fade_100_214"/>
          <p:cNvSpPr txBox="1"/>
          <p:nvPr/>
        </p:nvSpPr>
        <p:spPr>
          <a:xfrm>
            <a:off x="4937760" y="2276856"/>
            <a:ext cx="1188720" cy="36576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ln(8.33) = 2.120</a:t>
            </a:r>
            <a:endParaRPr lang="en-US" sz="1250" dirty="0"/>
          </a:p>
        </p:txBody>
      </p:sp>
      <p:sp>
        <p:nvSpPr>
          <p:cNvPr id="13" name="a2_wipe_250_215"/>
          <p:cNvSpPr/>
          <p:nvPr/>
        </p:nvSpPr>
        <p:spPr>
          <a:xfrm>
            <a:off x="457200" y="2770632"/>
            <a:ext cx="5669280" cy="438912"/>
          </a:xfrm>
          <a:prstGeom prst="roundRect">
            <a:avLst>
              <a:gd name="adj" fmla="val 25000"/>
            </a:avLst>
          </a:prstGeom>
          <a:solidFill>
            <a:srgbClr val="27385F"/>
          </a:solidFill>
          <a:ln/>
        </p:spPr>
        <p:txBody>
          <a:bodyPr wrap="square" lIns="76810" tIns="128016" rIns="128016" bIns="76810" rtlCol="0" anchor="ctr"/>
          <a:lstStyle/>
          <a:p>
            <a:pPr marL="0" indent="0" algn="l">
              <a:buNone/>
            </a:pPr>
            <a:endParaRPr lang="en-US" sz="1300" dirty="0"/>
          </a:p>
        </p:txBody>
      </p:sp>
      <p:sp>
        <p:nvSpPr>
          <p:cNvPr id="14" name="a2_fade_350_216"/>
          <p:cNvSpPr txBox="1"/>
          <p:nvPr/>
        </p:nvSpPr>
        <p:spPr>
          <a:xfrm>
            <a:off x="731520" y="2807208"/>
            <a:ext cx="219456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large</a:t>
            </a:r>
            <a:endParaRPr lang="en-US" sz="1500" dirty="0"/>
          </a:p>
        </p:txBody>
      </p:sp>
      <p:sp>
        <p:nvSpPr>
          <p:cNvPr id="15" name="a2_fade_350_217"/>
          <p:cNvSpPr txBox="1"/>
          <p:nvPr/>
        </p:nvSpPr>
        <p:spPr>
          <a:xfrm>
            <a:off x="3017520" y="2807208"/>
            <a:ext cx="164592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200</a:t>
            </a:r>
            <a:endParaRPr lang="en-US" sz="1500" dirty="0"/>
          </a:p>
        </p:txBody>
      </p:sp>
      <p:sp>
        <p:nvSpPr>
          <p:cNvPr id="16" name="a2_fade_350_218"/>
          <p:cNvSpPr txBox="1"/>
          <p:nvPr/>
        </p:nvSpPr>
        <p:spPr>
          <a:xfrm>
            <a:off x="4937760" y="2807208"/>
            <a:ext cx="1188720" cy="36576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ln(5) = 1.609</a:t>
            </a:r>
            <a:endParaRPr lang="en-US" sz="1250" dirty="0"/>
          </a:p>
        </p:txBody>
      </p:sp>
      <p:sp>
        <p:nvSpPr>
          <p:cNvPr id="17" name="a2_wipe_500_219"/>
          <p:cNvSpPr/>
          <p:nvPr/>
        </p:nvSpPr>
        <p:spPr>
          <a:xfrm>
            <a:off x="457200" y="3300984"/>
            <a:ext cx="5669280" cy="438912"/>
          </a:xfrm>
          <a:prstGeom prst="roundRect">
            <a:avLst>
              <a:gd name="adj" fmla="val 25000"/>
            </a:avLst>
          </a:prstGeom>
          <a:solidFill>
            <a:srgbClr val="27385F"/>
          </a:solidFill>
          <a:ln/>
        </p:spPr>
        <p:txBody>
          <a:bodyPr wrap="square" lIns="76810" tIns="128016" rIns="128016" bIns="76810" rtlCol="0" anchor="ctr"/>
          <a:lstStyle/>
          <a:p>
            <a:pPr marL="0" indent="0" algn="l">
              <a:buNone/>
            </a:pPr>
            <a:endParaRPr lang="en-US" sz="1300" dirty="0"/>
          </a:p>
        </p:txBody>
      </p:sp>
      <p:sp>
        <p:nvSpPr>
          <p:cNvPr id="18" name="a2_fade_600_220"/>
          <p:cNvSpPr txBox="1"/>
          <p:nvPr/>
        </p:nvSpPr>
        <p:spPr>
          <a:xfrm>
            <a:off x="731520" y="3337560"/>
            <a:ext cx="2194560" cy="365760"/>
          </a:xfrm>
          <a:prstGeom prst="rect">
            <a:avLst/>
          </a:prstGeom>
          <a:noFill/>
          <a:ln/>
        </p:spPr>
        <p:txBody>
          <a:bodyPr wrap="square" lIns="0" tIns="0" rIns="0" bIns="0" rtlCol="0" anchor="ctr"/>
          <a:lstStyle/>
          <a:p>
            <a:pPr marL="0" indent="0">
              <a:buNone/>
            </a:pPr>
            <a:r>
              <a:rPr lang="en-US" sz="1500" b="1" dirty="0">
                <a:solidFill>
                  <a:srgbClr val="F4A300"/>
                </a:solidFill>
                <a:latin typeface="Calibri" pitchFamily="34" charset="0"/>
                <a:ea typeface="Calibri" pitchFamily="34" charset="-122"/>
                <a:cs typeface="Calibri" pitchFamily="34" charset="-120"/>
              </a:rPr>
              <a:t>manufacture</a:t>
            </a:r>
            <a:endParaRPr lang="en-US" sz="1500" dirty="0"/>
          </a:p>
        </p:txBody>
      </p:sp>
      <p:sp>
        <p:nvSpPr>
          <p:cNvPr id="19" name="a2_fade_600_221"/>
          <p:cNvSpPr txBox="1"/>
          <p:nvPr/>
        </p:nvSpPr>
        <p:spPr>
          <a:xfrm>
            <a:off x="3017520" y="3337560"/>
            <a:ext cx="164592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25</a:t>
            </a:r>
            <a:endParaRPr lang="en-US" sz="1500" dirty="0"/>
          </a:p>
        </p:txBody>
      </p:sp>
      <p:sp>
        <p:nvSpPr>
          <p:cNvPr id="20" name="a2_fade_600_222"/>
          <p:cNvSpPr txBox="1"/>
          <p:nvPr/>
        </p:nvSpPr>
        <p:spPr>
          <a:xfrm>
            <a:off x="4937760" y="3337560"/>
            <a:ext cx="1188720" cy="36576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ln(40) = 3.689</a:t>
            </a:r>
            <a:endParaRPr lang="en-US" sz="1250" dirty="0"/>
          </a:p>
        </p:txBody>
      </p:sp>
      <p:sp>
        <p:nvSpPr>
          <p:cNvPr id="21" name="a3_zoom_0_223"/>
          <p:cNvSpPr/>
          <p:nvPr/>
        </p:nvSpPr>
        <p:spPr>
          <a:xfrm>
            <a:off x="457200" y="3931920"/>
            <a:ext cx="5669280" cy="548640"/>
          </a:xfrm>
          <a:prstGeom prst="roundRect">
            <a:avLst>
              <a:gd name="adj" fmla="val 20000"/>
            </a:avLst>
          </a:prstGeom>
          <a:solidFill>
            <a:srgbClr val="F4A300"/>
          </a:solidFill>
          <a:ln/>
        </p:spPr>
        <p:txBody>
          <a:bodyPr wrap="square" lIns="76810" tIns="128016" rIns="128016" bIns="76810" rtlCol="0" anchor="ctr"/>
          <a:lstStyle/>
          <a:p>
            <a:pPr marL="0" indent="0" algn="ctr">
              <a:buNone/>
            </a:pPr>
            <a:r>
              <a:rPr lang="en-US" sz="1400" dirty="0">
                <a:solidFill>
                  <a:srgbClr val="22262E"/>
                </a:solidFill>
                <a:latin typeface="Calibri" pitchFamily="34" charset="0"/>
                <a:ea typeface="Calibri" pitchFamily="34" charset="-122"/>
                <a:cs typeface="Calibri" pitchFamily="34" charset="-120"/>
              </a:rPr>
              <a:t>Score(S1) ≈ 2.120 + 1.609 + 3.689 = </a:t>
            </a:r>
            <a:r>
              <a:rPr lang="en-US" sz="1400" b="1" dirty="0">
                <a:solidFill>
                  <a:srgbClr val="22262E"/>
                </a:solidFill>
                <a:latin typeface="Calibri" pitchFamily="34" charset="0"/>
                <a:ea typeface="Calibri" pitchFamily="34" charset="-122"/>
                <a:cs typeface="Calibri" pitchFamily="34" charset="-120"/>
              </a:rPr>
              <a:t>7.42</a:t>
            </a:r>
            <a:r>
              <a:rPr lang="en-US" sz="1400" dirty="0">
                <a:solidFill>
                  <a:srgbClr val="22262E"/>
                </a:solidFill>
                <a:latin typeface="Calibri" pitchFamily="34" charset="0"/>
                <a:ea typeface="Calibri" pitchFamily="34" charset="-122"/>
                <a:cs typeface="Calibri" pitchFamily="34" charset="-120"/>
              </a:rPr>
              <a:t>   (S2 = S3 = S4 = 0)</a:t>
            </a:r>
            <a:endParaRPr lang="en-US" sz="1400" dirty="0"/>
          </a:p>
        </p:txBody>
      </p:sp>
      <p:sp>
        <p:nvSpPr>
          <p:cNvPr id="22" name="a4_fly_0_224"/>
          <p:cNvSpPr/>
          <p:nvPr/>
        </p:nvSpPr>
        <p:spPr>
          <a:xfrm>
            <a:off x="6400800" y="2240280"/>
            <a:ext cx="2286000" cy="2240280"/>
          </a:xfrm>
          <a:prstGeom prst="roundRect">
            <a:avLst>
              <a:gd name="adj" fmla="val 4898"/>
            </a:avLst>
          </a:prstGeom>
          <a:solidFill>
            <a:srgbClr val="1F8A7D"/>
          </a:solidFill>
          <a:ln/>
        </p:spPr>
        <p:txBody>
          <a:bodyPr wrap="square" lIns="76810" tIns="128016" rIns="128016" bIns="76810"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manufacture</a:t>
            </a:r>
            <a:r>
              <a:rPr lang="en-US" sz="1200" dirty="0">
                <a:solidFill>
                  <a:srgbClr val="FFFFFF"/>
                </a:solidFill>
                <a:latin typeface="Calibri" pitchFamily="34" charset="0"/>
                <a:ea typeface="Calibri" pitchFamily="34" charset="-122"/>
                <a:cs typeface="Calibri" pitchFamily="34" charset="-120"/>
              </a:rPr>
              <a:t> is worth </a:t>
            </a:r>
            <a:r>
              <a:rPr lang="en-US" sz="1200" b="1" dirty="0">
                <a:solidFill>
                  <a:srgbClr val="FFFFFF"/>
                </a:solidFill>
                <a:latin typeface="Calibri" pitchFamily="34" charset="0"/>
                <a:ea typeface="Calibri" pitchFamily="34" charset="-122"/>
                <a:cs typeface="Calibri" pitchFamily="34" charset="-120"/>
              </a:rPr>
              <a:t>2.3×</a:t>
            </a:r>
            <a:r>
              <a:rPr lang="en-US" sz="1200" dirty="0">
                <a:solidFill>
                  <a:srgbClr val="FFFFFF"/>
                </a:solidFill>
                <a:latin typeface="Calibri" pitchFamily="34" charset="0"/>
                <a:ea typeface="Calibri" pitchFamily="34" charset="-122"/>
                <a:cs typeface="Calibri" pitchFamily="34" charset="-120"/>
              </a:rPr>
              <a:t> large.</a:t>
            </a:r>
            <a:endParaRPr lang="en-US" sz="1200" dirty="0"/>
          </a:p>
          <a:p>
            <a:pPr marL="0" indent="0" algn="l">
              <a:buNone/>
            </a:pP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Why IDF: common words get small weights, a finer stop list.</a:t>
            </a:r>
            <a:endParaRPr lang="en-US" sz="1200" dirty="0"/>
          </a:p>
          <a:p>
            <a:pPr marL="0" indent="0" algn="l">
              <a:buNone/>
            </a:pP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DF values here are assumed.</a:t>
            </a:r>
            <a:endParaRPr lang="en-US" sz="1200" dirty="0"/>
          </a:p>
        </p:txBody>
      </p:sp>
      <p:sp>
        <p:nvSpPr>
          <p:cNvPr id="23" name="Text 20"/>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9BB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ppt_w</p:attrName>
                                        </p:attrNameLst>
                                      </p:cBhvr>
                                      <p:tavLst>
                                        <p:tav tm="0">
                                          <p:val>
                                            <p:fltVal val="0"/>
                                          </p:val>
                                        </p:tav>
                                        <p:tav tm="100000">
                                          <p:val>
                                            <p:strVal val="#ppt_w"/>
                                          </p:val>
                                        </p:tav>
                                      </p:tavLst>
                                    </p:anim>
                                    <p:anim calcmode="lin" valueType="num">
                                      <p:cBhvr additive="base">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10" presetClass="entr" presetSubtype="0" fill="hold" grpId="0" nodeType="withEffect">
                                  <p:stCondLst>
                                    <p:cond delay="1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10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1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22" presetClass="entr" presetSubtype="8" fill="hold" grpId="0" nodeType="withEffect">
                                  <p:stCondLst>
                                    <p:cond delay="25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10" presetClass="entr" presetSubtype="0" fill="hold" grpId="0" nodeType="withEffect">
                                  <p:stCondLst>
                                    <p:cond delay="3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3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3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22" presetClass="entr" presetSubtype="8" fill="hold" grpId="0" nodeType="withEffect">
                                  <p:stCondLst>
                                    <p:cond delay="50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par>
                                <p:cTn id="48" presetID="10" presetClass="entr" presetSubtype="0" fill="hold" grpId="0" nodeType="withEffect">
                                  <p:stCondLst>
                                    <p:cond delay="60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60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60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ppt_w</p:attrName>
                                        </p:attrNameLst>
                                      </p:cBhvr>
                                      <p:tavLst>
                                        <p:tav tm="0">
                                          <p:val>
                                            <p:fltVal val="0"/>
                                          </p:val>
                                        </p:tav>
                                        <p:tav tm="100000">
                                          <p:val>
                                            <p:strVal val="#ppt_w"/>
                                          </p:val>
                                        </p:tav>
                                      </p:tavLst>
                                    </p:anim>
                                    <p:anim calcmode="lin" valueType="num">
                                      <p:cBhvr additive="base">
                                        <p:cTn id="62" dur="500" fill="hold"/>
                                        <p:tgtEl>
                                          <p:spTgt spid="21"/>
                                        </p:tgtEl>
                                        <p:attrNameLst>
                                          <p:attrName>ppt_h</p:attrName>
                                        </p:attrNameLst>
                                      </p:cBhvr>
                                      <p:tavLst>
                                        <p:tav tm="0">
                                          <p:val>
                                            <p:fltVal val="0"/>
                                          </p:val>
                                        </p:tav>
                                        <p:tav tm="100000">
                                          <p:val>
                                            <p:strVal val="#ppt_h"/>
                                          </p:val>
                                        </p:tav>
                                      </p:tavLst>
                                    </p:anim>
                                    <p:animEffect transition="in" filter="fad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base">
                                        <p:cTn id="68" dur="500" fill="hold"/>
                                        <p:tgtEl>
                                          <p:spTgt spid="22"/>
                                        </p:tgtEl>
                                        <p:attrNameLst>
                                          <p:attrName>ppt_x</p:attrName>
                                        </p:attrNameLst>
                                      </p:cBhvr>
                                      <p:tavLst>
                                        <p:tav tm="0">
                                          <p:val>
                                            <p:strVal val="#ppt_x"/>
                                          </p:val>
                                        </p:tav>
                                        <p:tav tm="100000">
                                          <p:val>
                                            <p:strVal val="#ppt_x"/>
                                          </p:val>
                                        </p:tav>
                                      </p:tavLst>
                                    </p:anim>
                                    <p:anim calcmode="lin" valueType="num">
                                      <p:cBhvr additive="base">
                                        <p:cTn id="6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3 · WORKED SUM 2 (ADVANCED)</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Sum 2C: when simplified Lesk fails</a:t>
            </a:r>
            <a:endParaRPr lang="en-US" sz="2800" dirty="0"/>
          </a:p>
        </p:txBody>
      </p:sp>
      <p:sp>
        <p:nvSpPr>
          <p:cNvPr id="5" name="a1_fade_0_225"/>
          <p:cNvSpPr/>
          <p:nvPr/>
        </p:nvSpPr>
        <p:spPr>
          <a:xfrm>
            <a:off x="457200" y="1188720"/>
            <a:ext cx="8229600" cy="548640"/>
          </a:xfrm>
          <a:prstGeom prst="roundRect">
            <a:avLst>
              <a:gd name="adj" fmla="val 20000"/>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ctr">
              <a:buNone/>
            </a:pPr>
            <a:r>
              <a:rPr lang="en-US" sz="1800" dirty="0">
                <a:solidFill>
                  <a:srgbClr val="22262E"/>
                </a:solidFill>
                <a:latin typeface="Calibri" pitchFamily="34" charset="0"/>
                <a:ea typeface="Calibri" pitchFamily="34" charset="-122"/>
                <a:cs typeface="Calibri" pitchFamily="34" charset="-120"/>
              </a:rPr>
              <a:t>“He watered the plant.”      C = { water }</a:t>
            </a:r>
            <a:endParaRPr lang="en-US" sz="1800" dirty="0"/>
          </a:p>
        </p:txBody>
      </p:sp>
      <p:sp>
        <p:nvSpPr>
          <p:cNvPr id="6" name="a1_zoom_300_226"/>
          <p:cNvSpPr/>
          <p:nvPr/>
        </p:nvSpPr>
        <p:spPr>
          <a:xfrm>
            <a:off x="457200" y="1920240"/>
            <a:ext cx="1938528" cy="502920"/>
          </a:xfrm>
          <a:prstGeom prst="roundRect">
            <a:avLst>
              <a:gd name="adj" fmla="val 21818"/>
            </a:avLst>
          </a:prstGeom>
          <a:solidFill>
            <a:srgbClr val="C9D0DC"/>
          </a:solidFill>
          <a:ln/>
        </p:spPr>
        <p:txBody>
          <a:bodyPr wrap="square" lIns="76810" tIns="128016" rIns="128016" bIns="76810" rtlCol="0" anchor="ctr"/>
          <a:lstStyle/>
          <a:p>
            <a:pPr marL="0" indent="0" algn="ctr">
              <a:buNone/>
            </a:pPr>
            <a:r>
              <a:rPr lang="en-US" sz="1400" b="1" dirty="0">
                <a:solidFill>
                  <a:srgbClr val="22262E"/>
                </a:solidFill>
                <a:latin typeface="Calibri" pitchFamily="34" charset="0"/>
                <a:ea typeface="Calibri" pitchFamily="34" charset="-122"/>
                <a:cs typeface="Calibri" pitchFamily="34" charset="-120"/>
              </a:rPr>
              <a:t>S1</a:t>
            </a:r>
            <a:r>
              <a:rPr lang="en-US" sz="1400" dirty="0">
                <a:solidFill>
                  <a:srgbClr val="22262E"/>
                </a:solidFill>
                <a:latin typeface="Calibri" pitchFamily="34" charset="0"/>
                <a:ea typeface="Calibri" pitchFamily="34" charset="-122"/>
                <a:cs typeface="Calibri" pitchFamily="34" charset="-120"/>
              </a:rPr>
              <a:t>   overlap = </a:t>
            </a: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7" name="a1_zoom_500_227"/>
          <p:cNvSpPr/>
          <p:nvPr/>
        </p:nvSpPr>
        <p:spPr>
          <a:xfrm>
            <a:off x="2542032" y="1920240"/>
            <a:ext cx="1938528" cy="502920"/>
          </a:xfrm>
          <a:prstGeom prst="roundRect">
            <a:avLst>
              <a:gd name="adj" fmla="val 21818"/>
            </a:avLst>
          </a:prstGeom>
          <a:solidFill>
            <a:srgbClr val="C9D0DC"/>
          </a:solidFill>
          <a:ln/>
        </p:spPr>
        <p:txBody>
          <a:bodyPr wrap="square" lIns="76810" tIns="128016" rIns="128016" bIns="76810" rtlCol="0" anchor="ctr"/>
          <a:lstStyle/>
          <a:p>
            <a:pPr marL="0" indent="0" algn="ctr">
              <a:buNone/>
            </a:pPr>
            <a:r>
              <a:rPr lang="en-US" sz="1400" b="1" dirty="0">
                <a:solidFill>
                  <a:srgbClr val="22262E"/>
                </a:solidFill>
                <a:latin typeface="Calibri" pitchFamily="34" charset="0"/>
                <a:ea typeface="Calibri" pitchFamily="34" charset="-122"/>
                <a:cs typeface="Calibri" pitchFamily="34" charset="-120"/>
              </a:rPr>
              <a:t>S2</a:t>
            </a:r>
            <a:r>
              <a:rPr lang="en-US" sz="1400" dirty="0">
                <a:solidFill>
                  <a:srgbClr val="22262E"/>
                </a:solidFill>
                <a:latin typeface="Calibri" pitchFamily="34" charset="0"/>
                <a:ea typeface="Calibri" pitchFamily="34" charset="-122"/>
                <a:cs typeface="Calibri" pitchFamily="34" charset="-120"/>
              </a:rPr>
              <a:t>   overlap = </a:t>
            </a: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8" name="a1_zoom_700_228"/>
          <p:cNvSpPr/>
          <p:nvPr/>
        </p:nvSpPr>
        <p:spPr>
          <a:xfrm>
            <a:off x="4626864" y="1920240"/>
            <a:ext cx="1938528" cy="502920"/>
          </a:xfrm>
          <a:prstGeom prst="roundRect">
            <a:avLst>
              <a:gd name="adj" fmla="val 21818"/>
            </a:avLst>
          </a:prstGeom>
          <a:solidFill>
            <a:srgbClr val="C9D0DC"/>
          </a:solidFill>
          <a:ln/>
        </p:spPr>
        <p:txBody>
          <a:bodyPr wrap="square" lIns="76810" tIns="128016" rIns="128016" bIns="76810" rtlCol="0" anchor="ctr"/>
          <a:lstStyle/>
          <a:p>
            <a:pPr marL="0" indent="0" algn="ctr">
              <a:buNone/>
            </a:pPr>
            <a:r>
              <a:rPr lang="en-US" sz="1400" b="1" dirty="0">
                <a:solidFill>
                  <a:srgbClr val="22262E"/>
                </a:solidFill>
                <a:latin typeface="Calibri" pitchFamily="34" charset="0"/>
                <a:ea typeface="Calibri" pitchFamily="34" charset="-122"/>
                <a:cs typeface="Calibri" pitchFamily="34" charset="-120"/>
              </a:rPr>
              <a:t>S3</a:t>
            </a:r>
            <a:r>
              <a:rPr lang="en-US" sz="1400" dirty="0">
                <a:solidFill>
                  <a:srgbClr val="22262E"/>
                </a:solidFill>
                <a:latin typeface="Calibri" pitchFamily="34" charset="0"/>
                <a:ea typeface="Calibri" pitchFamily="34" charset="-122"/>
                <a:cs typeface="Calibri" pitchFamily="34" charset="-120"/>
              </a:rPr>
              <a:t>   overlap = </a:t>
            </a: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9" name="a1_zoom_900_229"/>
          <p:cNvSpPr/>
          <p:nvPr/>
        </p:nvSpPr>
        <p:spPr>
          <a:xfrm>
            <a:off x="6711696" y="1920240"/>
            <a:ext cx="1938528" cy="502920"/>
          </a:xfrm>
          <a:prstGeom prst="roundRect">
            <a:avLst>
              <a:gd name="adj" fmla="val 21818"/>
            </a:avLst>
          </a:prstGeom>
          <a:solidFill>
            <a:srgbClr val="C9D0DC"/>
          </a:solidFill>
          <a:ln/>
        </p:spPr>
        <p:txBody>
          <a:bodyPr wrap="square" lIns="76810" tIns="128016" rIns="128016" bIns="76810" rtlCol="0" anchor="ctr"/>
          <a:lstStyle/>
          <a:p>
            <a:pPr marL="0" indent="0" algn="ctr">
              <a:buNone/>
            </a:pPr>
            <a:r>
              <a:rPr lang="en-US" sz="1400" b="1" dirty="0">
                <a:solidFill>
                  <a:srgbClr val="22262E"/>
                </a:solidFill>
                <a:latin typeface="Calibri" pitchFamily="34" charset="0"/>
                <a:ea typeface="Calibri" pitchFamily="34" charset="-122"/>
                <a:cs typeface="Calibri" pitchFamily="34" charset="-120"/>
              </a:rPr>
              <a:t>S4</a:t>
            </a:r>
            <a:r>
              <a:rPr lang="en-US" sz="1400" dirty="0">
                <a:solidFill>
                  <a:srgbClr val="22262E"/>
                </a:solidFill>
                <a:latin typeface="Calibri" pitchFamily="34" charset="0"/>
                <a:ea typeface="Calibri" pitchFamily="34" charset="-122"/>
                <a:cs typeface="Calibri" pitchFamily="34" charset="-120"/>
              </a:rPr>
              <a:t>   overlap = </a:t>
            </a:r>
            <a:r>
              <a:rPr lang="en-US" sz="1400" b="1" dirty="0">
                <a:solidFill>
                  <a:srgbClr val="22262E"/>
                </a:solidFill>
                <a:latin typeface="Calibri" pitchFamily="34" charset="0"/>
                <a:ea typeface="Calibri" pitchFamily="34" charset="-122"/>
                <a:cs typeface="Calibri" pitchFamily="34" charset="-120"/>
              </a:rPr>
              <a:t>0</a:t>
            </a:r>
            <a:endParaRPr lang="en-US" sz="1400" dirty="0"/>
          </a:p>
        </p:txBody>
      </p:sp>
      <p:sp>
        <p:nvSpPr>
          <p:cNvPr id="10" name="a2_zoom_0_230"/>
          <p:cNvSpPr/>
          <p:nvPr/>
        </p:nvSpPr>
        <p:spPr>
          <a:xfrm>
            <a:off x="457200" y="2606040"/>
            <a:ext cx="8229600" cy="685800"/>
          </a:xfrm>
          <a:prstGeom prst="roundRect">
            <a:avLst>
              <a:gd name="adj" fmla="val 16000"/>
            </a:avLst>
          </a:prstGeom>
          <a:solidFill>
            <a:srgbClr val="D9503A"/>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All scores 0  →  back-off to the most frequent sense </a:t>
            </a:r>
            <a:r>
              <a:rPr lang="en-US" sz="1800" b="1" dirty="0">
                <a:solidFill>
                  <a:srgbClr val="FFFFFF"/>
                </a:solidFill>
                <a:latin typeface="Calibri" pitchFamily="34" charset="0"/>
                <a:ea typeface="Calibri" pitchFamily="34" charset="-122"/>
                <a:cs typeface="Calibri" pitchFamily="34" charset="-120"/>
              </a:rPr>
              <a:t>S1 (industrial)</a:t>
            </a:r>
            <a:r>
              <a:rPr lang="en-US" sz="1800" dirty="0">
                <a:solidFill>
                  <a:srgbClr val="FFFFFF"/>
                </a:solidFill>
                <a:latin typeface="Calibri" pitchFamily="34" charset="0"/>
                <a:ea typeface="Calibri" pitchFamily="34" charset="-122"/>
                <a:cs typeface="Calibri" pitchFamily="34" charset="-120"/>
              </a:rPr>
              <a:t>   ✗ WRONG</a:t>
            </a:r>
            <a:endParaRPr lang="en-US" sz="1800" dirty="0"/>
          </a:p>
        </p:txBody>
      </p:sp>
      <p:sp>
        <p:nvSpPr>
          <p:cNvPr id="11" name="a2_fade_400_231"/>
          <p:cNvSpPr txBox="1"/>
          <p:nvPr/>
        </p:nvSpPr>
        <p:spPr>
          <a:xfrm>
            <a:off x="457200" y="3401568"/>
            <a:ext cx="8229600" cy="365760"/>
          </a:xfrm>
          <a:prstGeom prst="rect">
            <a:avLst/>
          </a:prstGeom>
          <a:noFill/>
          <a:ln/>
        </p:spPr>
        <p:txBody>
          <a:bodyPr wrap="square" lIns="0" tIns="0" rIns="0" bIns="0" rtlCol="0" anchor="t"/>
          <a:lstStyle/>
          <a:p>
            <a:pPr marL="0" indent="0">
              <a:buNone/>
            </a:pPr>
            <a:r>
              <a:rPr lang="en-US" sz="1250" i="1" dirty="0">
                <a:solidFill>
                  <a:srgbClr val="5B6577"/>
                </a:solidFill>
                <a:latin typeface="Calibri" pitchFamily="34" charset="0"/>
                <a:ea typeface="Calibri" pitchFamily="34" charset="-122"/>
                <a:cs typeface="Calibri" pitchFamily="34" charset="-120"/>
              </a:rPr>
              <a:t>Why: WordNet gives S2 a one-line gloss and no example, so “water” is nowhere in its signature. This is the dictionary-quality problem in action.</a:t>
            </a:r>
            <a:endParaRPr lang="en-US" sz="1250" dirty="0"/>
          </a:p>
        </p:txBody>
      </p:sp>
      <p:sp>
        <p:nvSpPr>
          <p:cNvPr id="12" name="a3_fly_0_232"/>
          <p:cNvSpPr/>
          <p:nvPr/>
        </p:nvSpPr>
        <p:spPr>
          <a:xfrm>
            <a:off x="457200" y="3840480"/>
            <a:ext cx="2606040" cy="777240"/>
          </a:xfrm>
          <a:prstGeom prst="roundRect">
            <a:avLst>
              <a:gd name="adj" fmla="val 14118"/>
            </a:avLst>
          </a:prstGeom>
          <a:solidFill>
            <a:srgbClr val="E2F3F0"/>
          </a:solidFill>
          <a:ln/>
        </p:spPr>
        <p:txBody>
          <a:bodyPr wrap="square" lIns="76810" tIns="128016" rIns="128016" bIns="76810" rtlCol="0" anchor="ctr"/>
          <a:lstStyle/>
          <a:p>
            <a:pPr marL="0" indent="0" algn="l">
              <a:buNone/>
            </a:pPr>
            <a:r>
              <a:rPr lang="en-US" sz="1200" b="1" dirty="0">
                <a:solidFill>
                  <a:srgbClr val="22262E"/>
                </a:solidFill>
                <a:latin typeface="Calibri" pitchFamily="34" charset="0"/>
                <a:ea typeface="Calibri" pitchFamily="34" charset="-122"/>
                <a:cs typeface="Calibri" pitchFamily="34" charset="-120"/>
              </a:rPr>
              <a:t>Corpus Lesk</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add labelled sentences about living plants</a:t>
            </a:r>
            <a:endParaRPr lang="en-US" sz="1200" dirty="0"/>
          </a:p>
        </p:txBody>
      </p:sp>
      <p:sp>
        <p:nvSpPr>
          <p:cNvPr id="13" name="a3_fly_250_233"/>
          <p:cNvSpPr/>
          <p:nvPr/>
        </p:nvSpPr>
        <p:spPr>
          <a:xfrm>
            <a:off x="3246120" y="3840480"/>
            <a:ext cx="2606040" cy="777240"/>
          </a:xfrm>
          <a:prstGeom prst="roundRect">
            <a:avLst>
              <a:gd name="adj" fmla="val 14118"/>
            </a:avLst>
          </a:prstGeom>
          <a:solidFill>
            <a:srgbClr val="E2F3F0"/>
          </a:solidFill>
          <a:ln/>
        </p:spPr>
        <p:txBody>
          <a:bodyPr wrap="square" lIns="76810" tIns="128016" rIns="128016" bIns="76810" rtlCol="0" anchor="ctr"/>
          <a:lstStyle/>
          <a:p>
            <a:pPr marL="0" indent="0" algn="l">
              <a:buNone/>
            </a:pPr>
            <a:r>
              <a:rPr lang="en-US" sz="1200" b="1" dirty="0">
                <a:solidFill>
                  <a:srgbClr val="22262E"/>
                </a:solidFill>
                <a:latin typeface="Calibri" pitchFamily="34" charset="0"/>
                <a:ea typeface="Calibri" pitchFamily="34" charset="-122"/>
                <a:cs typeface="Calibri" pitchFamily="34" charset="-120"/>
              </a:rPr>
              <a:t>Extended Lesk</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add glosses of related synsets</a:t>
            </a:r>
            <a:endParaRPr lang="en-US" sz="1200" dirty="0"/>
          </a:p>
        </p:txBody>
      </p:sp>
      <p:sp>
        <p:nvSpPr>
          <p:cNvPr id="14" name="a3_fly_500_234"/>
          <p:cNvSpPr/>
          <p:nvPr/>
        </p:nvSpPr>
        <p:spPr>
          <a:xfrm>
            <a:off x="6035040" y="3840480"/>
            <a:ext cx="2606040" cy="777240"/>
          </a:xfrm>
          <a:prstGeom prst="roundRect">
            <a:avLst>
              <a:gd name="adj" fmla="val 14118"/>
            </a:avLst>
          </a:prstGeom>
          <a:solidFill>
            <a:srgbClr val="E2F3F0"/>
          </a:solidFill>
          <a:ln/>
        </p:spPr>
        <p:txBody>
          <a:bodyPr wrap="square" lIns="76810" tIns="128016" rIns="128016" bIns="76810" rtlCol="0" anchor="ctr"/>
          <a:lstStyle/>
          <a:p>
            <a:pPr marL="0" indent="0" algn="l">
              <a:buNone/>
            </a:pPr>
            <a:r>
              <a:rPr lang="en-US" sz="1200" b="1" dirty="0">
                <a:solidFill>
                  <a:srgbClr val="22262E"/>
                </a:solidFill>
                <a:latin typeface="Calibri" pitchFamily="34" charset="0"/>
                <a:ea typeface="Calibri" pitchFamily="34" charset="-122"/>
                <a:cs typeface="Calibri" pitchFamily="34" charset="-120"/>
              </a:rPr>
              <a:t>Beyond Lesk</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supervised or embedding-based models</a:t>
            </a:r>
            <a:endParaRPr lang="en-US" sz="1200" dirty="0"/>
          </a:p>
        </p:txBody>
      </p:sp>
      <p:sp>
        <p:nvSpPr>
          <p:cNvPr id="15" name="Text 12"/>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53" presetClass="entr" presetSubtype="16" fill="hold" grpId="0"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ppt_w</p:attrName>
                                        </p:attrNameLst>
                                      </p:cBhvr>
                                      <p:tavLst>
                                        <p:tav tm="0">
                                          <p:val>
                                            <p:fltVal val="0"/>
                                          </p:val>
                                        </p:tav>
                                        <p:tav tm="100000">
                                          <p:val>
                                            <p:strVal val="#ppt_w"/>
                                          </p:val>
                                        </p:tav>
                                      </p:tavLst>
                                    </p:anim>
                                    <p:anim calcmode="lin" valueType="num">
                                      <p:cBhvr additive="base">
                                        <p:cTn id="11" dur="500" fill="hold"/>
                                        <p:tgtEl>
                                          <p:spTgt spid="6"/>
                                        </p:tgtEl>
                                        <p:attrNameLst>
                                          <p:attrName>ppt_h</p:attrName>
                                        </p:attrNameLst>
                                      </p:cBhvr>
                                      <p:tavLst>
                                        <p:tav tm="0">
                                          <p:val>
                                            <p:fltVal val="0"/>
                                          </p:val>
                                        </p:tav>
                                        <p:tav tm="100000">
                                          <p:val>
                                            <p:strVal val="#ppt_h"/>
                                          </p:val>
                                        </p:tav>
                                      </p:tavLst>
                                    </p:anim>
                                    <p:animEffect transition="in" filter="fade">
                                      <p:cBhvr>
                                        <p:cTn id="12" dur="500"/>
                                        <p:tgtEl>
                                          <p:spTgt spid="6"/>
                                        </p:tgtEl>
                                      </p:cBhvr>
                                    </p:animEffect>
                                  </p:childTnLst>
                                </p:cTn>
                              </p:par>
                              <p:par>
                                <p:cTn id="13" presetID="53" presetClass="entr" presetSubtype="16" fill="hold" grpId="0"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ppt_w</p:attrName>
                                        </p:attrNameLst>
                                      </p:cBhvr>
                                      <p:tavLst>
                                        <p:tav tm="0">
                                          <p:val>
                                            <p:fltVal val="0"/>
                                          </p:val>
                                        </p:tav>
                                        <p:tav tm="100000">
                                          <p:val>
                                            <p:strVal val="#ppt_w"/>
                                          </p:val>
                                        </p:tav>
                                      </p:tavLst>
                                    </p:anim>
                                    <p:anim calcmode="lin" valueType="num">
                                      <p:cBhvr additive="base">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7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ppt_w</p:attrName>
                                        </p:attrNameLst>
                                      </p:cBhvr>
                                      <p:tavLst>
                                        <p:tav tm="0">
                                          <p:val>
                                            <p:fltVal val="0"/>
                                          </p:val>
                                        </p:tav>
                                        <p:tav tm="100000">
                                          <p:val>
                                            <p:strVal val="#ppt_w"/>
                                          </p:val>
                                        </p:tav>
                                      </p:tavLst>
                                    </p:anim>
                                    <p:anim calcmode="lin" valueType="num">
                                      <p:cBhvr additive="base">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90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ppt_w</p:attrName>
                                        </p:attrNameLst>
                                      </p:cBhvr>
                                      <p:tavLst>
                                        <p:tav tm="0">
                                          <p:val>
                                            <p:fltVal val="0"/>
                                          </p:val>
                                        </p:tav>
                                        <p:tav tm="100000">
                                          <p:val>
                                            <p:strVal val="#ppt_w"/>
                                          </p:val>
                                        </p:tav>
                                      </p:tavLst>
                                    </p:anim>
                                    <p:anim calcmode="lin" valueType="num">
                                      <p:cBhvr additive="base">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ppt_w</p:attrName>
                                        </p:attrNameLst>
                                      </p:cBhvr>
                                      <p:tavLst>
                                        <p:tav tm="0">
                                          <p:val>
                                            <p:fltVal val="0"/>
                                          </p:val>
                                        </p:tav>
                                        <p:tav tm="100000">
                                          <p:val>
                                            <p:strVal val="#ppt_w"/>
                                          </p:val>
                                        </p:tav>
                                      </p:tavLst>
                                    </p:anim>
                                    <p:anim calcmode="lin" valueType="num">
                                      <p:cBhvr additive="base">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10" presetClass="entr" presetSubtype="0" fill="hold" grpId="0" nodeType="withEffect">
                                  <p:stCondLst>
                                    <p:cond delay="4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50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30">
    <p:bg>
      <p:bgPr>
        <a:solidFill>
          <a:srgbClr val="1B2A49"/>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F4A300"/>
                </a:solidFill>
                <a:latin typeface="Calibri" pitchFamily="34" charset="0"/>
                <a:ea typeface="Calibri" pitchFamily="34" charset="-122"/>
                <a:cs typeface="Calibri" pitchFamily="34" charset="-120"/>
              </a:rPr>
              <a:t>PART 4 · STRENGTHS &amp; LIMITS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Improving Lesk: Corpus, IDF and Extended</a:t>
            </a:r>
            <a:endParaRPr lang="en-US" sz="2600" dirty="0"/>
          </a:p>
        </p:txBody>
      </p:sp>
      <p:sp>
        <p:nvSpPr>
          <p:cNvPr id="5" name="a1_wipe_0_361"/>
          <p:cNvSpPr/>
          <p:nvPr/>
        </p:nvSpPr>
        <p:spPr>
          <a:xfrm>
            <a:off x="457200" y="1097280"/>
            <a:ext cx="8229600" cy="457200"/>
          </a:xfrm>
          <a:prstGeom prst="roundRect">
            <a:avLst>
              <a:gd name="adj" fmla="val 24000"/>
            </a:avLst>
          </a:prstGeom>
          <a:solidFill>
            <a:srgbClr val="D9503A"/>
          </a:solidFill>
          <a:ln/>
        </p:spPr>
        <p:txBody>
          <a:bodyPr wrap="square" lIns="76810" tIns="128016" rIns="128016" bIns="7681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problem:</a:t>
            </a:r>
            <a:r>
              <a:rPr lang="en-US" sz="1300" dirty="0">
                <a:solidFill>
                  <a:srgbClr val="FFFFFF"/>
                </a:solidFill>
                <a:latin typeface="Calibri" pitchFamily="34" charset="0"/>
                <a:ea typeface="Calibri" pitchFamily="34" charset="-122"/>
                <a:cs typeface="Calibri" pitchFamily="34" charset="-120"/>
              </a:rPr>
              <a:t> a definition can be very short, so there may be no match even when the meaning is correct.</a:t>
            </a:r>
            <a:endParaRPr lang="en-US" sz="1300" dirty="0"/>
          </a:p>
        </p:txBody>
      </p:sp>
      <p:sp>
        <p:nvSpPr>
          <p:cNvPr id="6" name="a2_wipe_0_362"/>
          <p:cNvSpPr/>
          <p:nvPr/>
        </p:nvSpPr>
        <p:spPr>
          <a:xfrm>
            <a:off x="457200" y="1691640"/>
            <a:ext cx="2606040" cy="2880360"/>
          </a:xfrm>
          <a:prstGeom prst="roundRect">
            <a:avLst>
              <a:gd name="adj" fmla="val 4211"/>
            </a:avLst>
          </a:prstGeom>
          <a:solidFill>
            <a:srgbClr val="27385F"/>
          </a:solidFill>
          <a:ln/>
        </p:spPr>
        <p:txBody>
          <a:bodyPr wrap="square" lIns="76810" tIns="128016" rIns="128016" bIns="76810" rtlCol="0" anchor="ctr"/>
          <a:lstStyle/>
          <a:p>
            <a:pPr marL="0" indent="0" algn="l">
              <a:buNone/>
            </a:pPr>
            <a:endParaRPr lang="en-US" sz="1300" dirty="0"/>
          </a:p>
        </p:txBody>
      </p:sp>
      <p:sp>
        <p:nvSpPr>
          <p:cNvPr id="7" name="a2_fade_100_363"/>
          <p:cNvSpPr txBox="1"/>
          <p:nvPr/>
        </p:nvSpPr>
        <p:spPr>
          <a:xfrm>
            <a:off x="640080" y="1801368"/>
            <a:ext cx="2286000" cy="320040"/>
          </a:xfrm>
          <a:prstGeom prst="rect">
            <a:avLst/>
          </a:prstGeom>
          <a:noFill/>
          <a:ln/>
        </p:spPr>
        <p:txBody>
          <a:bodyPr wrap="square" lIns="0" tIns="0" rIns="0" bIns="0" rtlCol="0" anchor="t"/>
          <a:lstStyle/>
          <a:p>
            <a:pPr marL="0" indent="0">
              <a:buNone/>
            </a:pPr>
            <a:r>
              <a:rPr lang="en-US" sz="1500" b="1" dirty="0">
                <a:solidFill>
                  <a:srgbClr val="F4A300"/>
                </a:solidFill>
                <a:latin typeface="Cambria" pitchFamily="34" charset="0"/>
                <a:ea typeface="Cambria" pitchFamily="34" charset="-122"/>
                <a:cs typeface="Cambria" pitchFamily="34" charset="-120"/>
              </a:rPr>
              <a:t>Corpus Lesk</a:t>
            </a:r>
            <a:endParaRPr lang="en-US" sz="1500" dirty="0"/>
          </a:p>
        </p:txBody>
      </p:sp>
      <p:sp>
        <p:nvSpPr>
          <p:cNvPr id="8" name="a2_fade_100_364"/>
          <p:cNvSpPr txBox="1"/>
          <p:nvPr/>
        </p:nvSpPr>
        <p:spPr>
          <a:xfrm>
            <a:off x="640080" y="2194560"/>
            <a:ext cx="2286000" cy="23317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More information per sense:</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 dictionary definition</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 example sentences</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 sentences from a labelled corpus</a:t>
            </a:r>
            <a:endParaRPr lang="en-US" sz="1200" dirty="0"/>
          </a:p>
          <a:p>
            <a:pPr marL="0" indent="0">
              <a:buNone/>
            </a:pP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Basic = dictionary information.</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Corpus = dictionary + labelled examples.</a:t>
            </a:r>
            <a:endParaRPr lang="en-US" sz="1200" dirty="0"/>
          </a:p>
        </p:txBody>
      </p:sp>
      <p:sp>
        <p:nvSpPr>
          <p:cNvPr id="9" name="a2_wipe_300_365"/>
          <p:cNvSpPr/>
          <p:nvPr/>
        </p:nvSpPr>
        <p:spPr>
          <a:xfrm>
            <a:off x="3246120" y="1691640"/>
            <a:ext cx="2606040" cy="2880360"/>
          </a:xfrm>
          <a:prstGeom prst="roundRect">
            <a:avLst>
              <a:gd name="adj" fmla="val 4211"/>
            </a:avLst>
          </a:prstGeom>
          <a:solidFill>
            <a:srgbClr val="27385F"/>
          </a:solidFill>
          <a:ln/>
        </p:spPr>
        <p:txBody>
          <a:bodyPr wrap="square" lIns="76810" tIns="128016" rIns="128016" bIns="76810" rtlCol="0" anchor="ctr"/>
          <a:lstStyle/>
          <a:p>
            <a:pPr marL="0" indent="0" algn="l">
              <a:buNone/>
            </a:pPr>
            <a:endParaRPr lang="en-US" sz="1300" dirty="0"/>
          </a:p>
        </p:txBody>
      </p:sp>
      <p:sp>
        <p:nvSpPr>
          <p:cNvPr id="10" name="a2_fade_400_366"/>
          <p:cNvSpPr txBox="1"/>
          <p:nvPr/>
        </p:nvSpPr>
        <p:spPr>
          <a:xfrm>
            <a:off x="3429000" y="1801368"/>
            <a:ext cx="2286000" cy="320040"/>
          </a:xfrm>
          <a:prstGeom prst="rect">
            <a:avLst/>
          </a:prstGeom>
          <a:noFill/>
          <a:ln/>
        </p:spPr>
        <p:txBody>
          <a:bodyPr wrap="square" lIns="0" tIns="0" rIns="0" bIns="0" rtlCol="0" anchor="t"/>
          <a:lstStyle/>
          <a:p>
            <a:pPr marL="0" indent="0">
              <a:buNone/>
            </a:pPr>
            <a:r>
              <a:rPr lang="en-US" sz="1500" b="1" dirty="0">
                <a:solidFill>
                  <a:srgbClr val="F4A300"/>
                </a:solidFill>
                <a:latin typeface="Cambria" pitchFamily="34" charset="0"/>
                <a:ea typeface="Cambria" pitchFamily="34" charset="-122"/>
                <a:cs typeface="Cambria" pitchFamily="34" charset="-120"/>
              </a:rPr>
              <a:t>IDF-weighted Lesk</a:t>
            </a:r>
            <a:endParaRPr lang="en-US" sz="1500" dirty="0"/>
          </a:p>
        </p:txBody>
      </p:sp>
      <p:sp>
        <p:nvSpPr>
          <p:cNvPr id="11" name="a2_fade_400_367"/>
          <p:cNvSpPr txBox="1"/>
          <p:nvPr/>
        </p:nvSpPr>
        <p:spPr>
          <a:xfrm>
            <a:off x="3429000" y="2194560"/>
            <a:ext cx="2286000" cy="23317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Rare, useful word → more weight; common word → less.</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IDF(w) = log(N / df)</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Score = sum of IDF of matches</a:t>
            </a:r>
            <a:endParaRPr lang="en-US" sz="1200" dirty="0"/>
          </a:p>
          <a:p>
            <a:pPr marL="0" indent="0">
              <a:buNone/>
            </a:pP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N = 1000: machine (df 50) → 2.996; production (df 100) → 2.303; both → ≈ 5.30.</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Only use it if df or IDF is given.</a:t>
            </a:r>
            <a:endParaRPr lang="en-US" sz="1200" dirty="0"/>
          </a:p>
        </p:txBody>
      </p:sp>
      <p:sp>
        <p:nvSpPr>
          <p:cNvPr id="12" name="a2_wipe_600_368"/>
          <p:cNvSpPr/>
          <p:nvPr/>
        </p:nvSpPr>
        <p:spPr>
          <a:xfrm>
            <a:off x="6035040" y="1691640"/>
            <a:ext cx="2606040" cy="2880360"/>
          </a:xfrm>
          <a:prstGeom prst="roundRect">
            <a:avLst>
              <a:gd name="adj" fmla="val 4211"/>
            </a:avLst>
          </a:prstGeom>
          <a:solidFill>
            <a:srgbClr val="27385F"/>
          </a:solidFill>
          <a:ln/>
        </p:spPr>
        <p:txBody>
          <a:bodyPr wrap="square" lIns="76810" tIns="128016" rIns="128016" bIns="76810" rtlCol="0" anchor="ctr"/>
          <a:lstStyle/>
          <a:p>
            <a:pPr marL="0" indent="0" algn="l">
              <a:buNone/>
            </a:pPr>
            <a:endParaRPr lang="en-US" sz="1300" dirty="0"/>
          </a:p>
        </p:txBody>
      </p:sp>
      <p:sp>
        <p:nvSpPr>
          <p:cNvPr id="13" name="a2_fade_700_369"/>
          <p:cNvSpPr txBox="1"/>
          <p:nvPr/>
        </p:nvSpPr>
        <p:spPr>
          <a:xfrm>
            <a:off x="6217920" y="1801368"/>
            <a:ext cx="2286000" cy="320040"/>
          </a:xfrm>
          <a:prstGeom prst="rect">
            <a:avLst/>
          </a:prstGeom>
          <a:noFill/>
          <a:ln/>
        </p:spPr>
        <p:txBody>
          <a:bodyPr wrap="square" lIns="0" tIns="0" rIns="0" bIns="0" rtlCol="0" anchor="t"/>
          <a:lstStyle/>
          <a:p>
            <a:pPr marL="0" indent="0">
              <a:buNone/>
            </a:pPr>
            <a:r>
              <a:rPr lang="en-US" sz="1500" b="1" dirty="0">
                <a:solidFill>
                  <a:srgbClr val="F4A300"/>
                </a:solidFill>
                <a:latin typeface="Cambria" pitchFamily="34" charset="0"/>
                <a:ea typeface="Cambria" pitchFamily="34" charset="-122"/>
                <a:cs typeface="Cambria" pitchFamily="34" charset="-120"/>
              </a:rPr>
              <a:t>Extended / Adapted Lesk</a:t>
            </a:r>
            <a:endParaRPr lang="en-US" sz="1500" dirty="0"/>
          </a:p>
        </p:txBody>
      </p:sp>
      <p:sp>
        <p:nvSpPr>
          <p:cNvPr id="14" name="a2_fade_700_370"/>
          <p:cNvSpPr txBox="1"/>
          <p:nvPr/>
        </p:nvSpPr>
        <p:spPr>
          <a:xfrm>
            <a:off x="6217920" y="2194560"/>
            <a:ext cx="2286000" cy="23317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Use more of WordNet:</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 is-a relations</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 part / whole relations</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 related concepts</a:t>
            </a:r>
            <a:endParaRPr lang="en-US" sz="1200" dirty="0"/>
          </a:p>
          <a:p>
            <a:pPr marL="0" indent="0">
              <a:buNone/>
            </a:pP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Short definition → expand the information → more possible matches. Some versions weight matching phrases higher.</a:t>
            </a:r>
            <a:endParaRPr lang="en-US" sz="1200" dirty="0"/>
          </a:p>
        </p:txBody>
      </p:sp>
      <p:sp>
        <p:nvSpPr>
          <p:cNvPr id="15" name="Text 12"/>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9BB8"/>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10" presetClass="entr" presetSubtype="0" fill="hold" grpId="0" nodeType="withEffect">
                                  <p:stCondLst>
                                    <p:cond delay="1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par>
                                <p:cTn id="22" presetID="10" presetClass="entr" presetSubtype="0" fill="hold" grpId="0" nodeType="withEffect">
                                  <p:stCondLst>
                                    <p:cond delay="4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4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22" presetClass="entr" presetSubtype="8" fill="hold" grpId="0" nodeType="withEffect">
                                  <p:stCondLst>
                                    <p:cond delay="60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par>
                                <p:cTn id="31" presetID="10" presetClass="entr" presetSubtype="0" fill="hold" grpId="0" nodeType="withEffect">
                                  <p:stCondLst>
                                    <p:cond delay="70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70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4 · STRENGTHS &amp; LIMITS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Overlap scoring variations and cost</a:t>
            </a:r>
            <a:endParaRPr lang="en-US" sz="2800" dirty="0"/>
          </a:p>
        </p:txBody>
      </p:sp>
      <p:sp>
        <p:nvSpPr>
          <p:cNvPr id="5" name="a1_fade_0_235"/>
          <p:cNvSpPr/>
          <p:nvPr/>
        </p:nvSpPr>
        <p:spPr>
          <a:xfrm>
            <a:off x="457200" y="1188720"/>
            <a:ext cx="4023360" cy="1097280"/>
          </a:xfrm>
          <a:prstGeom prst="roundRect">
            <a:avLst>
              <a:gd name="adj" fmla="val 10000"/>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Frequency / IDF weighting</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Rare, distinctive words count more than common ones. idf = log(N / df). “institution” outweighs “the”.</a:t>
            </a:r>
            <a:endParaRPr lang="en-US" sz="1350" dirty="0"/>
          </a:p>
        </p:txBody>
      </p:sp>
      <p:sp>
        <p:nvSpPr>
          <p:cNvPr id="6" name="a1_fade_180_236"/>
          <p:cNvSpPr/>
          <p:nvPr/>
        </p:nvSpPr>
        <p:spPr>
          <a:xfrm>
            <a:off x="4663440" y="1188720"/>
            <a:ext cx="4023360" cy="1097280"/>
          </a:xfrm>
          <a:prstGeom prst="roundRect">
            <a:avLst>
              <a:gd name="adj" fmla="val 10000"/>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Squared / phrase scoring</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An n-word shared phrase scores n², so “body of water” (9) beats three unrelated single matches (3).</a:t>
            </a:r>
            <a:endParaRPr lang="en-US" sz="1350" dirty="0"/>
          </a:p>
        </p:txBody>
      </p:sp>
      <p:sp>
        <p:nvSpPr>
          <p:cNvPr id="7" name="a1_fade_360_237"/>
          <p:cNvSpPr/>
          <p:nvPr/>
        </p:nvSpPr>
        <p:spPr>
          <a:xfrm>
            <a:off x="457200" y="2423160"/>
            <a:ext cx="4023360" cy="1097280"/>
          </a:xfrm>
          <a:prstGeom prst="roundRect">
            <a:avLst>
              <a:gd name="adj" fmla="val 10000"/>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Morphological variants</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Match fishing / fish / fisher through lemmatising or stemming, applied to both sides.</a:t>
            </a:r>
            <a:endParaRPr lang="en-US" sz="1350" dirty="0"/>
          </a:p>
        </p:txBody>
      </p:sp>
      <p:sp>
        <p:nvSpPr>
          <p:cNvPr id="8" name="a1_fade_540_238"/>
          <p:cNvSpPr/>
          <p:nvPr/>
        </p:nvSpPr>
        <p:spPr>
          <a:xfrm>
            <a:off x="4663440" y="2423160"/>
            <a:ext cx="4023360" cy="1097280"/>
          </a:xfrm>
          <a:prstGeom prst="roundRect">
            <a:avLst>
              <a:gd name="adj" fmla="val 10000"/>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Semantic relations</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Use WordNet synonyms and hypernyms as partial matches, widening the exact-string gap.</a:t>
            </a:r>
            <a:endParaRPr lang="en-US" sz="1350" dirty="0"/>
          </a:p>
        </p:txBody>
      </p:sp>
      <p:sp>
        <p:nvSpPr>
          <p:cNvPr id="9" name="a2_wipe_0_239"/>
          <p:cNvSpPr/>
          <p:nvPr/>
        </p:nvSpPr>
        <p:spPr>
          <a:xfrm>
            <a:off x="457200" y="3840480"/>
            <a:ext cx="8229600" cy="777240"/>
          </a:xfrm>
          <a:prstGeom prst="roundRect">
            <a:avLst>
              <a:gd name="adj" fmla="val 14118"/>
            </a:avLst>
          </a:prstGeom>
          <a:solidFill>
            <a:srgbClr val="1B2A49"/>
          </a:solidFill>
          <a:ln/>
        </p:spPr>
        <p:txBody>
          <a:bodyPr wrap="square" lIns="76810" tIns="128016" rIns="128016" bIns="7681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Computational profile</a:t>
            </a:r>
            <a:endParaRPr lang="en-US" sz="1250" dirty="0"/>
          </a:p>
          <a:p>
            <a:pPr marL="0" indent="0" algn="l">
              <a:buNone/>
            </a:pPr>
            <a:r>
              <a:rPr lang="en-US" sz="1250" dirty="0">
                <a:solidFill>
                  <a:srgbClr val="FFFFFF"/>
                </a:solidFill>
                <a:latin typeface="Calibri" pitchFamily="34" charset="0"/>
                <a:ea typeface="Calibri" pitchFamily="34" charset="-122"/>
                <a:cs typeface="Calibri" pitchFamily="34" charset="-120"/>
              </a:rPr>
              <a:t>Only string matching and counting; cost grows linearly with senses × context size. A 1,000-word document ran in seconds on 1980s hardware, far cheaper than parsing or inference.</a:t>
            </a:r>
            <a:endParaRPr lang="en-US" sz="1250" dirty="0"/>
          </a:p>
        </p:txBody>
      </p:sp>
      <p:sp>
        <p:nvSpPr>
          <p:cNvPr id="10" name="Text 7"/>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54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4 · STRENGTHS &amp; LIMITS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The dictionary dependency</a:t>
            </a:r>
            <a:endParaRPr lang="en-US" sz="2800" dirty="0"/>
          </a:p>
        </p:txBody>
      </p:sp>
      <p:sp>
        <p:nvSpPr>
          <p:cNvPr id="5" name="a1_fade_0_240"/>
          <p:cNvSpPr/>
          <p:nvPr/>
        </p:nvSpPr>
        <p:spPr>
          <a:xfrm>
            <a:off x="457200" y="1188720"/>
            <a:ext cx="2606040" cy="1828800"/>
          </a:xfrm>
          <a:prstGeom prst="roundRect">
            <a:avLst>
              <a:gd name="adj" fmla="val 6000"/>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Verbose vs terse glosses</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Rich definitions with many content words give overlap something to match; terse ones leave almost no surface form.</a:t>
            </a:r>
            <a:endParaRPr lang="en-US" sz="1350" dirty="0"/>
          </a:p>
        </p:txBody>
      </p:sp>
      <p:sp>
        <p:nvSpPr>
          <p:cNvPr id="6" name="a1_fade_180_241"/>
          <p:cNvSpPr/>
          <p:nvPr/>
        </p:nvSpPr>
        <p:spPr>
          <a:xfrm>
            <a:off x="3246120" y="1188720"/>
            <a:ext cx="2606040" cy="1828800"/>
          </a:xfrm>
          <a:prstGeom prst="roundRect">
            <a:avLst>
              <a:gd name="adj" fmla="val 6000"/>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Granularity of senses</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Very fine sense splits (a bank as building vs institution) fragment overlap across near-duplicate definitions.</a:t>
            </a:r>
            <a:endParaRPr lang="en-US" sz="1350" dirty="0"/>
          </a:p>
        </p:txBody>
      </p:sp>
      <p:sp>
        <p:nvSpPr>
          <p:cNvPr id="7" name="a1_fade_360_242"/>
          <p:cNvSpPr/>
          <p:nvPr/>
        </p:nvSpPr>
        <p:spPr>
          <a:xfrm>
            <a:off x="6035040" y="1188720"/>
            <a:ext cx="2606040" cy="1828800"/>
          </a:xfrm>
          <a:prstGeom prst="roundRect">
            <a:avLst>
              <a:gd name="adj" fmla="val 6000"/>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Domain fit</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A financial dictionary excels on finance text but fails on general language; a children's dictionary lacks technical terms.</a:t>
            </a:r>
            <a:endParaRPr lang="en-US" sz="1350" dirty="0"/>
          </a:p>
        </p:txBody>
      </p:sp>
      <p:sp>
        <p:nvSpPr>
          <p:cNvPr id="8" name="a2_wipe_0_243"/>
          <p:cNvSpPr/>
          <p:nvPr/>
        </p:nvSpPr>
        <p:spPr>
          <a:xfrm>
            <a:off x="457200" y="3200400"/>
            <a:ext cx="4023360" cy="1325880"/>
          </a:xfrm>
          <a:prstGeom prst="roundRect">
            <a:avLst>
              <a:gd name="adj" fmla="val 8276"/>
            </a:avLst>
          </a:prstGeom>
          <a:solidFill>
            <a:srgbClr val="FFF0C7"/>
          </a:solidFill>
          <a:ln/>
        </p:spPr>
        <p:txBody>
          <a:bodyPr wrap="square" lIns="76810" tIns="128016" rIns="128016" bIns="76810" rtlCol="0" anchor="t"/>
          <a:lstStyle/>
          <a:p>
            <a:pPr marL="0" indent="0" algn="l">
              <a:buNone/>
            </a:pPr>
            <a:r>
              <a:rPr lang="en-US" sz="1250" b="1" dirty="0">
                <a:solidFill>
                  <a:srgbClr val="22262E"/>
                </a:solidFill>
                <a:latin typeface="Calibri" pitchFamily="34" charset="0"/>
                <a:ea typeface="Calibri" pitchFamily="34" charset="-122"/>
                <a:cs typeface="Calibri" pitchFamily="34" charset="-120"/>
              </a:rPr>
              <a:t>Resources for humans, evidence for machines.</a:t>
            </a:r>
            <a:r>
              <a:rPr lang="en-US" sz="1250" dirty="0">
                <a:solidFill>
                  <a:srgbClr val="22262E"/>
                </a:solidFill>
                <a:latin typeface="Calibri" pitchFamily="34" charset="0"/>
                <a:ea typeface="Calibri" pitchFamily="34" charset="-122"/>
                <a:cs typeface="Calibri" pitchFamily="34" charset="-120"/>
              </a:rPr>
              <a:t> Dictionaries were never designed for computation, yet specialised machine-oriented resources lacked their coverage and nuance. Tension: generality vs specificity.</a:t>
            </a:r>
            <a:endParaRPr lang="en-US" sz="1250" dirty="0"/>
          </a:p>
        </p:txBody>
      </p:sp>
      <p:sp>
        <p:nvSpPr>
          <p:cNvPr id="9" name="a3_wipe_0_244"/>
          <p:cNvSpPr/>
          <p:nvPr/>
        </p:nvSpPr>
        <p:spPr>
          <a:xfrm>
            <a:off x="4663440" y="3200400"/>
            <a:ext cx="4023360" cy="1325880"/>
          </a:xfrm>
          <a:prstGeom prst="roundRect">
            <a:avLst>
              <a:gd name="adj" fmla="val 8276"/>
            </a:avLst>
          </a:prstGeom>
          <a:solidFill>
            <a:srgbClr val="FDE6E1"/>
          </a:solidFill>
          <a:ln/>
        </p:spPr>
        <p:txBody>
          <a:bodyPr wrap="square" lIns="76810" tIns="128016" rIns="128016" bIns="76810" rtlCol="0" anchor="t"/>
          <a:lstStyle/>
          <a:p>
            <a:pPr marL="0" indent="0" algn="l">
              <a:buNone/>
            </a:pPr>
            <a:r>
              <a:rPr lang="en-US" sz="1250" b="1" dirty="0">
                <a:solidFill>
                  <a:srgbClr val="22262E"/>
                </a:solidFill>
                <a:latin typeface="Calibri" pitchFamily="34" charset="0"/>
                <a:ea typeface="Calibri" pitchFamily="34" charset="-122"/>
                <a:cs typeface="Calibri" pitchFamily="34" charset="-120"/>
              </a:rPr>
              <a:t>Seen in our own sum.</a:t>
            </a:r>
            <a:r>
              <a:rPr lang="en-US" sz="1250" dirty="0">
                <a:solidFill>
                  <a:srgbClr val="22262E"/>
                </a:solidFill>
                <a:latin typeface="Calibri" pitchFamily="34" charset="0"/>
                <a:ea typeface="Calibri" pitchFamily="34" charset="-122"/>
                <a:cs typeface="Calibri" pitchFamily="34" charset="-120"/>
              </a:rPr>
              <a:t> WordNet’s plant.n.02 has a 6-word signature and no example, so “He watered the plant.” scored 0 on every sense and backed off to the wrong default.</a:t>
            </a:r>
            <a:endParaRPr lang="en-US" sz="1250" dirty="0"/>
          </a:p>
        </p:txBody>
      </p:sp>
      <p:sp>
        <p:nvSpPr>
          <p:cNvPr id="10" name="Text 7"/>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4 · STRENGTHS &amp; LIMITS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Applications and real-world impact</a:t>
            </a:r>
            <a:endParaRPr lang="en-US" sz="2800" dirty="0"/>
          </a:p>
        </p:txBody>
      </p:sp>
      <p:sp>
        <p:nvSpPr>
          <p:cNvPr id="5" name="a1_fade_0_245"/>
          <p:cNvSpPr/>
          <p:nvPr/>
        </p:nvSpPr>
        <p:spPr>
          <a:xfrm>
            <a:off x="457200" y="1188720"/>
            <a:ext cx="2606040"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Machine translation</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Resolve source-language ambiguity before translating; helpful where one source word maps to several translations.</a:t>
            </a:r>
            <a:endParaRPr lang="en-US" sz="1350" dirty="0"/>
          </a:p>
        </p:txBody>
      </p:sp>
      <p:sp>
        <p:nvSpPr>
          <p:cNvPr id="6" name="a1_fade_180_246"/>
          <p:cNvSpPr/>
          <p:nvPr/>
        </p:nvSpPr>
        <p:spPr>
          <a:xfrm>
            <a:off x="3246120" y="1188720"/>
            <a:ext cx="2606040" cy="1554480"/>
          </a:xfrm>
          <a:prstGeom prst="roundRect">
            <a:avLst>
              <a:gd name="adj" fmla="val 7059"/>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Information retrieval</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Match senses, not spellings: “Java” the language vs the island vs coffee, cutting irrelevant hits.</a:t>
            </a:r>
            <a:endParaRPr lang="en-US" sz="1350" dirty="0"/>
          </a:p>
        </p:txBody>
      </p:sp>
      <p:sp>
        <p:nvSpPr>
          <p:cNvPr id="7" name="a1_fade_360_247"/>
          <p:cNvSpPr/>
          <p:nvPr/>
        </p:nvSpPr>
        <p:spPr>
          <a:xfrm>
            <a:off x="6035040" y="1188720"/>
            <a:ext cx="2606040"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Text understanding</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Link entities, extract relations and categorise: a news story on banks is about finance, not geography.</a:t>
            </a:r>
            <a:endParaRPr lang="en-US" sz="1350" dirty="0"/>
          </a:p>
        </p:txBody>
      </p:sp>
      <p:sp>
        <p:nvSpPr>
          <p:cNvPr id="8" name="a1_fade_540_248"/>
          <p:cNvSpPr/>
          <p:nvPr/>
        </p:nvSpPr>
        <p:spPr>
          <a:xfrm>
            <a:off x="457200" y="2926080"/>
            <a:ext cx="2606040" cy="1554480"/>
          </a:xfrm>
          <a:prstGeom prst="roundRect">
            <a:avLst>
              <a:gd name="adj" fmla="val 7059"/>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Sense-tagging corpora</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Auto-tag, then correct by hand: annotated data later used to train supervised WSD.</a:t>
            </a:r>
            <a:endParaRPr lang="en-US" sz="1350" dirty="0"/>
          </a:p>
        </p:txBody>
      </p:sp>
      <p:sp>
        <p:nvSpPr>
          <p:cNvPr id="9" name="a1_fade_720_249"/>
          <p:cNvSpPr/>
          <p:nvPr/>
        </p:nvSpPr>
        <p:spPr>
          <a:xfrm>
            <a:off x="3246120" y="2926080"/>
            <a:ext cx="2606040"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WordNet baseline</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Adapted to WordNet glosses and relations (Miller et al., Princeton): the standard baseline for sense tagging.</a:t>
            </a:r>
            <a:endParaRPr lang="en-US" sz="1350" dirty="0"/>
          </a:p>
        </p:txBody>
      </p:sp>
      <p:sp>
        <p:nvSpPr>
          <p:cNvPr id="10" name="a1_fade_900_250"/>
          <p:cNvSpPr/>
          <p:nvPr/>
        </p:nvSpPr>
        <p:spPr>
          <a:xfrm>
            <a:off x="6035040" y="2926080"/>
            <a:ext cx="2606040" cy="1554480"/>
          </a:xfrm>
          <a:prstGeom prst="roundRect">
            <a:avLst>
              <a:gd name="adj" fmla="val 7059"/>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Teaching tool</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Simple enough to code in one assignment; trained a generation of NLP researchers.</a:t>
            </a:r>
            <a:endParaRPr lang="en-US" sz="1350" dirty="0"/>
          </a:p>
        </p:txBody>
      </p:sp>
      <p:sp>
        <p:nvSpPr>
          <p:cNvPr id="11" name="Text 8"/>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54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7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4 · STRENGTHS &amp; LIMITS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Advantages of Lesk</a:t>
            </a:r>
            <a:endParaRPr lang="en-US" sz="2800" dirty="0"/>
          </a:p>
        </p:txBody>
      </p:sp>
      <p:sp>
        <p:nvSpPr>
          <p:cNvPr id="5" name="a1_fade_0_371"/>
          <p:cNvSpPr/>
          <p:nvPr/>
        </p:nvSpPr>
        <p:spPr>
          <a:xfrm>
            <a:off x="457200" y="1188720"/>
            <a:ext cx="1938528"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400" b="1" dirty="0">
                <a:solidFill>
                  <a:srgbClr val="22262E"/>
                </a:solidFill>
                <a:latin typeface="Calibri" pitchFamily="34" charset="0"/>
                <a:ea typeface="Calibri" pitchFamily="34" charset="-122"/>
                <a:cs typeface="Calibri" pitchFamily="34" charset="-120"/>
              </a:rPr>
              <a:t>Easy to understand</a:t>
            </a:r>
            <a:endParaRPr lang="en-US" sz="1400" dirty="0"/>
          </a:p>
          <a:p>
            <a:pPr marL="0" indent="0" algn="l">
              <a:buNone/>
            </a:pPr>
            <a:r>
              <a:rPr lang="en-US" sz="1400" dirty="0">
                <a:solidFill>
                  <a:srgbClr val="22262E"/>
                </a:solidFill>
                <a:latin typeface="Calibri" pitchFamily="34" charset="0"/>
                <a:ea typeface="Calibri" pitchFamily="34" charset="-122"/>
                <a:cs typeface="Calibri" pitchFamily="34" charset="-120"/>
              </a:rPr>
              <a:t>one idea: count matching words</a:t>
            </a:r>
            <a:endParaRPr lang="en-US" sz="1400" dirty="0"/>
          </a:p>
        </p:txBody>
      </p:sp>
      <p:sp>
        <p:nvSpPr>
          <p:cNvPr id="6" name="a1_fade_200_372"/>
          <p:cNvSpPr/>
          <p:nvPr/>
        </p:nvSpPr>
        <p:spPr>
          <a:xfrm>
            <a:off x="2542032" y="1188720"/>
            <a:ext cx="1938528"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400" b="1" dirty="0">
                <a:solidFill>
                  <a:srgbClr val="22262E"/>
                </a:solidFill>
                <a:latin typeface="Calibri" pitchFamily="34" charset="0"/>
                <a:ea typeface="Calibri" pitchFamily="34" charset="-122"/>
                <a:cs typeface="Calibri" pitchFamily="34" charset="-120"/>
              </a:rPr>
              <a:t>Easy by hand</a:t>
            </a:r>
            <a:endParaRPr lang="en-US" sz="1400" dirty="0"/>
          </a:p>
          <a:p>
            <a:pPr marL="0" indent="0" algn="l">
              <a:buNone/>
            </a:pPr>
            <a:r>
              <a:rPr lang="en-US" sz="1400" dirty="0">
                <a:solidFill>
                  <a:srgbClr val="22262E"/>
                </a:solidFill>
                <a:latin typeface="Calibri" pitchFamily="34" charset="0"/>
                <a:ea typeface="Calibri" pitchFamily="34" charset="-122"/>
                <a:cs typeface="Calibri" pitchFamily="34" charset="-120"/>
              </a:rPr>
              <a:t>exam sums need only a pencil</a:t>
            </a:r>
            <a:endParaRPr lang="en-US" sz="1400" dirty="0"/>
          </a:p>
        </p:txBody>
      </p:sp>
      <p:sp>
        <p:nvSpPr>
          <p:cNvPr id="7" name="a1_fade_400_373"/>
          <p:cNvSpPr/>
          <p:nvPr/>
        </p:nvSpPr>
        <p:spPr>
          <a:xfrm>
            <a:off x="4626864" y="1188720"/>
            <a:ext cx="1938528"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400" b="1" dirty="0">
                <a:solidFill>
                  <a:srgbClr val="22262E"/>
                </a:solidFill>
                <a:latin typeface="Calibri" pitchFamily="34" charset="0"/>
                <a:ea typeface="Calibri" pitchFamily="34" charset="-122"/>
                <a:cs typeface="Calibri" pitchFamily="34" charset="-120"/>
              </a:rPr>
              <a:t>No big labelled set</a:t>
            </a:r>
            <a:endParaRPr lang="en-US" sz="1400" dirty="0"/>
          </a:p>
          <a:p>
            <a:pPr marL="0" indent="0" algn="l">
              <a:buNone/>
            </a:pPr>
            <a:r>
              <a:rPr lang="en-US" sz="1400" dirty="0">
                <a:solidFill>
                  <a:srgbClr val="22262E"/>
                </a:solidFill>
                <a:latin typeface="Calibri" pitchFamily="34" charset="0"/>
                <a:ea typeface="Calibri" pitchFamily="34" charset="-122"/>
                <a:cs typeface="Calibri" pitchFamily="34" charset="-120"/>
              </a:rPr>
              <a:t>basic Lesk needs no training data</a:t>
            </a:r>
            <a:endParaRPr lang="en-US" sz="1400" dirty="0"/>
          </a:p>
        </p:txBody>
      </p:sp>
      <p:sp>
        <p:nvSpPr>
          <p:cNvPr id="8" name="a1_fade_600_374"/>
          <p:cNvSpPr/>
          <p:nvPr/>
        </p:nvSpPr>
        <p:spPr>
          <a:xfrm>
            <a:off x="6711696" y="1188720"/>
            <a:ext cx="1938528"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400" b="1" dirty="0">
                <a:solidFill>
                  <a:srgbClr val="22262E"/>
                </a:solidFill>
                <a:latin typeface="Calibri" pitchFamily="34" charset="0"/>
                <a:ea typeface="Calibri" pitchFamily="34" charset="-122"/>
                <a:cs typeface="Calibri" pitchFamily="34" charset="-120"/>
              </a:rPr>
              <a:t>Explainable</a:t>
            </a:r>
            <a:endParaRPr lang="en-US" sz="1400" dirty="0"/>
          </a:p>
          <a:p>
            <a:pPr marL="0" indent="0" algn="l">
              <a:buNone/>
            </a:pPr>
            <a:r>
              <a:rPr lang="en-US" sz="1400" dirty="0">
                <a:solidFill>
                  <a:srgbClr val="22262E"/>
                </a:solidFill>
                <a:latin typeface="Calibri" pitchFamily="34" charset="0"/>
                <a:ea typeface="Calibri" pitchFamily="34" charset="-122"/>
                <a:cs typeface="Calibri" pitchFamily="34" charset="-120"/>
              </a:rPr>
              <a:t>we can show exactly which words matched</a:t>
            </a:r>
            <a:endParaRPr lang="en-US" sz="1400" dirty="0"/>
          </a:p>
        </p:txBody>
      </p:sp>
      <p:sp>
        <p:nvSpPr>
          <p:cNvPr id="9" name="a1_fade_800_375"/>
          <p:cNvSpPr/>
          <p:nvPr/>
        </p:nvSpPr>
        <p:spPr>
          <a:xfrm>
            <a:off x="457200" y="2926080"/>
            <a:ext cx="1938528"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400" b="1" dirty="0">
                <a:solidFill>
                  <a:srgbClr val="22262E"/>
                </a:solidFill>
                <a:latin typeface="Calibri" pitchFamily="34" charset="0"/>
                <a:ea typeface="Calibri" pitchFamily="34" charset="-122"/>
                <a:cs typeface="Calibri" pitchFamily="34" charset="-120"/>
              </a:rPr>
              <a:t>Easy to implement</a:t>
            </a:r>
            <a:endParaRPr lang="en-US" sz="1400" dirty="0"/>
          </a:p>
          <a:p>
            <a:pPr marL="0" indent="0" algn="l">
              <a:buNone/>
            </a:pPr>
            <a:r>
              <a:rPr lang="en-US" sz="1400" dirty="0">
                <a:solidFill>
                  <a:srgbClr val="22262E"/>
                </a:solidFill>
                <a:latin typeface="Calibri" pitchFamily="34" charset="0"/>
                <a:ea typeface="Calibri" pitchFamily="34" charset="-122"/>
                <a:cs typeface="Calibri" pitchFamily="34" charset="-120"/>
              </a:rPr>
              <a:t>a few lines of code</a:t>
            </a:r>
            <a:endParaRPr lang="en-US" sz="1400" dirty="0"/>
          </a:p>
        </p:txBody>
      </p:sp>
      <p:sp>
        <p:nvSpPr>
          <p:cNvPr id="10" name="a1_fade_1000_376"/>
          <p:cNvSpPr/>
          <p:nvPr/>
        </p:nvSpPr>
        <p:spPr>
          <a:xfrm>
            <a:off x="2542032" y="2926080"/>
            <a:ext cx="1938528"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400" b="1" dirty="0">
                <a:solidFill>
                  <a:srgbClr val="22262E"/>
                </a:solidFill>
                <a:latin typeface="Calibri" pitchFamily="34" charset="0"/>
                <a:ea typeface="Calibri" pitchFamily="34" charset="-122"/>
                <a:cs typeface="Calibri" pitchFamily="34" charset="-120"/>
              </a:rPr>
              <a:t>Uses WordNet</a:t>
            </a:r>
            <a:endParaRPr lang="en-US" sz="1400" dirty="0"/>
          </a:p>
          <a:p>
            <a:pPr marL="0" indent="0" algn="l">
              <a:buNone/>
            </a:pPr>
            <a:r>
              <a:rPr lang="en-US" sz="1400" dirty="0">
                <a:solidFill>
                  <a:srgbClr val="22262E"/>
                </a:solidFill>
                <a:latin typeface="Calibri" pitchFamily="34" charset="0"/>
                <a:ea typeface="Calibri" pitchFamily="34" charset="-122"/>
                <a:cs typeface="Calibri" pitchFamily="34" charset="-120"/>
              </a:rPr>
              <a:t>plugs into existing lexical resources</a:t>
            </a:r>
            <a:endParaRPr lang="en-US" sz="1400" dirty="0"/>
          </a:p>
        </p:txBody>
      </p:sp>
      <p:sp>
        <p:nvSpPr>
          <p:cNvPr id="11" name="a1_fade_1200_377"/>
          <p:cNvSpPr/>
          <p:nvPr/>
        </p:nvSpPr>
        <p:spPr>
          <a:xfrm>
            <a:off x="4626864" y="2926080"/>
            <a:ext cx="1938528" cy="1554480"/>
          </a:xfrm>
          <a:prstGeom prst="roundRect">
            <a:avLst>
              <a:gd name="adj" fmla="val 705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400" b="1" dirty="0">
                <a:solidFill>
                  <a:srgbClr val="22262E"/>
                </a:solidFill>
                <a:latin typeface="Calibri" pitchFamily="34" charset="0"/>
                <a:ea typeface="Calibri" pitchFamily="34" charset="-122"/>
                <a:cs typeface="Calibri" pitchFamily="34" charset="-120"/>
              </a:rPr>
              <a:t>Good baseline</a:t>
            </a:r>
            <a:endParaRPr lang="en-US" sz="1400" dirty="0"/>
          </a:p>
          <a:p>
            <a:pPr marL="0" indent="0" algn="l">
              <a:buNone/>
            </a:pPr>
            <a:r>
              <a:rPr lang="en-US" sz="1400" dirty="0">
                <a:solidFill>
                  <a:srgbClr val="22262E"/>
                </a:solidFill>
                <a:latin typeface="Calibri" pitchFamily="34" charset="0"/>
                <a:ea typeface="Calibri" pitchFamily="34" charset="-122"/>
                <a:cs typeface="Calibri" pitchFamily="34" charset="-120"/>
              </a:rPr>
              <a:t>a simple reference for WSD systems</a:t>
            </a:r>
            <a:endParaRPr lang="en-US" sz="1400" dirty="0"/>
          </a:p>
        </p:txBody>
      </p:sp>
      <p:sp>
        <p:nvSpPr>
          <p:cNvPr id="13" name="Text 10"/>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4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6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8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2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4 · STRENGTHS &amp; LIMITS</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Limitations and challenges</a:t>
            </a:r>
            <a:endParaRPr lang="en-US" sz="2800" dirty="0"/>
          </a:p>
        </p:txBody>
      </p:sp>
      <p:sp>
        <p:nvSpPr>
          <p:cNvPr id="5" name="a1_fade_0_251"/>
          <p:cNvSpPr/>
          <p:nvPr/>
        </p:nvSpPr>
        <p:spPr>
          <a:xfrm>
            <a:off x="457200" y="1188720"/>
            <a:ext cx="2606040" cy="1554480"/>
          </a:xfrm>
          <a:prstGeom prst="roundRect">
            <a:avLst>
              <a:gd name="adj" fmla="val 7059"/>
            </a:avLst>
          </a:prstGeom>
          <a:solidFill>
            <a:srgbClr val="FDE6E1"/>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Sparse overlap</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Glosses hold only about 20–50 words; related context may share none of them.</a:t>
            </a:r>
            <a:endParaRPr lang="en-US" sz="1350" dirty="0"/>
          </a:p>
        </p:txBody>
      </p:sp>
      <p:sp>
        <p:nvSpPr>
          <p:cNvPr id="6" name="a1_fade_180_252"/>
          <p:cNvSpPr/>
          <p:nvPr/>
        </p:nvSpPr>
        <p:spPr>
          <a:xfrm>
            <a:off x="3246120" y="1188720"/>
            <a:ext cx="2606040" cy="1554480"/>
          </a:xfrm>
          <a:prstGeom prst="roundRect">
            <a:avLst>
              <a:gd name="adj" fmla="val 7059"/>
            </a:avLst>
          </a:prstGeom>
          <a:solidFill>
            <a:srgbClr val="FDE6E1"/>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Lexical gap</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Exact strings only: vehicle ≠ car, fishing ≠ fish; hypernyms and parts go unseen.</a:t>
            </a:r>
            <a:endParaRPr lang="en-US" sz="1350" dirty="0"/>
          </a:p>
        </p:txBody>
      </p:sp>
      <p:sp>
        <p:nvSpPr>
          <p:cNvPr id="7" name="a1_fade_360_253"/>
          <p:cNvSpPr/>
          <p:nvPr/>
        </p:nvSpPr>
        <p:spPr>
          <a:xfrm>
            <a:off x="6035040" y="1188720"/>
            <a:ext cx="2606040" cy="1554480"/>
          </a:xfrm>
          <a:prstGeom prst="roundRect">
            <a:avLst>
              <a:gd name="adj" fmla="val 7059"/>
            </a:avLst>
          </a:prstGeom>
          <a:solidFill>
            <a:srgbClr val="FDE6E1"/>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Short contexts</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A query such as “java performance” gives ties or one lucky match.</a:t>
            </a:r>
            <a:endParaRPr lang="en-US" sz="1350" dirty="0"/>
          </a:p>
        </p:txBody>
      </p:sp>
      <p:sp>
        <p:nvSpPr>
          <p:cNvPr id="8" name="a1_fade_540_254"/>
          <p:cNvSpPr/>
          <p:nvPr/>
        </p:nvSpPr>
        <p:spPr>
          <a:xfrm>
            <a:off x="457200" y="2926080"/>
            <a:ext cx="2606040" cy="1554480"/>
          </a:xfrm>
          <a:prstGeom prst="roundRect">
            <a:avLst>
              <a:gd name="adj" fmla="val 7059"/>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Close senses</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Bank-as-building vs bank-as-institution, chicken animal vs meat: nearly identical glosses.</a:t>
            </a:r>
            <a:endParaRPr lang="en-US" sz="1350" dirty="0"/>
          </a:p>
        </p:txBody>
      </p:sp>
      <p:sp>
        <p:nvSpPr>
          <p:cNvPr id="9" name="a1_fade_720_255"/>
          <p:cNvSpPr/>
          <p:nvPr/>
        </p:nvSpPr>
        <p:spPr>
          <a:xfrm>
            <a:off x="3246120" y="2926080"/>
            <a:ext cx="2606040" cy="1554480"/>
          </a:xfrm>
          <a:prstGeom prst="roundRect">
            <a:avLst>
              <a:gd name="adj" fmla="val 7059"/>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Figurative language</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“Break the bank” or “a bank of information” are not plain dictionary senses.</a:t>
            </a:r>
            <a:endParaRPr lang="en-US" sz="1350" dirty="0"/>
          </a:p>
        </p:txBody>
      </p:sp>
      <p:sp>
        <p:nvSpPr>
          <p:cNvPr id="10" name="a1_fade_900_256"/>
          <p:cNvSpPr/>
          <p:nvPr/>
        </p:nvSpPr>
        <p:spPr>
          <a:xfrm>
            <a:off x="6035040" y="2926080"/>
            <a:ext cx="2606040" cy="1554480"/>
          </a:xfrm>
          <a:prstGeom prst="roundRect">
            <a:avLst>
              <a:gd name="adj" fmla="val 7059"/>
            </a:avLst>
          </a:prstGeom>
          <a:solidFill>
            <a:srgbClr val="FFF0C7"/>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350" b="1" dirty="0">
                <a:solidFill>
                  <a:srgbClr val="22262E"/>
                </a:solidFill>
                <a:latin typeface="Calibri" pitchFamily="34" charset="0"/>
                <a:ea typeface="Calibri" pitchFamily="34" charset="-122"/>
                <a:cs typeface="Calibri" pitchFamily="34" charset="-120"/>
              </a:rPr>
              <a:t>Knowledge bottleneck</a:t>
            </a:r>
            <a:endParaRPr lang="en-US" sz="1350" dirty="0"/>
          </a:p>
          <a:p>
            <a:pPr marL="0" indent="0" algn="l">
              <a:buNone/>
            </a:pPr>
            <a:r>
              <a:rPr lang="en-US" sz="1350" dirty="0">
                <a:solidFill>
                  <a:srgbClr val="22262E"/>
                </a:solidFill>
                <a:latin typeface="Calibri" pitchFamily="34" charset="0"/>
                <a:ea typeface="Calibri" pitchFamily="34" charset="-122"/>
                <a:cs typeface="Calibri" pitchFamily="34" charset="-120"/>
              </a:rPr>
              <a:t>Better results demand richer, hand-built lexical resources (definitions, examples, relations).</a:t>
            </a:r>
            <a:endParaRPr lang="en-US" sz="1350" dirty="0"/>
          </a:p>
        </p:txBody>
      </p:sp>
      <p:sp>
        <p:nvSpPr>
          <p:cNvPr id="11" name="Text 8"/>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54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7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1B2A49"/>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F4A300"/>
                </a:solidFill>
                <a:latin typeface="Calibri" pitchFamily="34" charset="0"/>
                <a:ea typeface="Calibri" pitchFamily="34" charset="-122"/>
                <a:cs typeface="Calibri" pitchFamily="34" charset="-120"/>
              </a:rPr>
              <a:t>PART 5 · BEYOND LESK</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Extensions and descendants</a:t>
            </a:r>
            <a:endParaRPr lang="en-US" sz="2800" dirty="0"/>
          </a:p>
        </p:txBody>
      </p:sp>
      <p:sp>
        <p:nvSpPr>
          <p:cNvPr id="5" name="a1_wipe_0_257"/>
          <p:cNvSpPr/>
          <p:nvPr/>
        </p:nvSpPr>
        <p:spPr>
          <a:xfrm>
            <a:off x="457200" y="1188720"/>
            <a:ext cx="1938528" cy="2651760"/>
          </a:xfrm>
          <a:prstGeom prst="roundRect">
            <a:avLst>
              <a:gd name="adj" fmla="val 5660"/>
            </a:avLst>
          </a:prstGeom>
          <a:solidFill>
            <a:srgbClr val="27385F"/>
          </a:solidFill>
          <a:ln/>
        </p:spPr>
        <p:txBody>
          <a:bodyPr wrap="square" lIns="76810" tIns="128016" rIns="128016" bIns="76810" rtlCol="0" anchor="ctr"/>
          <a:lstStyle/>
          <a:p>
            <a:pPr marL="0" indent="0" algn="l">
              <a:buNone/>
            </a:pPr>
            <a:endParaRPr lang="en-US" sz="1300" dirty="0"/>
          </a:p>
        </p:txBody>
      </p:sp>
      <p:sp>
        <p:nvSpPr>
          <p:cNvPr id="6" name="a1_fade_100_258"/>
          <p:cNvSpPr txBox="1"/>
          <p:nvPr/>
        </p:nvSpPr>
        <p:spPr>
          <a:xfrm>
            <a:off x="594360" y="1298448"/>
            <a:ext cx="1691640" cy="320040"/>
          </a:xfrm>
          <a:prstGeom prst="rect">
            <a:avLst/>
          </a:prstGeom>
          <a:noFill/>
          <a:ln/>
        </p:spPr>
        <p:txBody>
          <a:bodyPr wrap="square" lIns="0" tIns="0" rIns="0" bIns="0" rtlCol="0" anchor="t"/>
          <a:lstStyle/>
          <a:p>
            <a:pPr marL="0" indent="0">
              <a:buNone/>
            </a:pPr>
            <a:r>
              <a:rPr lang="en-US" sz="1800" b="1" dirty="0">
                <a:solidFill>
                  <a:srgbClr val="F4A300"/>
                </a:solidFill>
                <a:latin typeface="Cambria" pitchFamily="34" charset="0"/>
                <a:ea typeface="Cambria" pitchFamily="34" charset="-122"/>
                <a:cs typeface="Cambria" pitchFamily="34" charset="-120"/>
              </a:rPr>
              <a:t>2002–03</a:t>
            </a:r>
            <a:endParaRPr lang="en-US" sz="1800" dirty="0"/>
          </a:p>
        </p:txBody>
      </p:sp>
      <p:sp>
        <p:nvSpPr>
          <p:cNvPr id="7" name="a1_fade_100_259"/>
          <p:cNvSpPr txBox="1"/>
          <p:nvPr/>
        </p:nvSpPr>
        <p:spPr>
          <a:xfrm>
            <a:off x="594360" y="1691640"/>
            <a:ext cx="1691640" cy="5486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Extended / Adapted Lesk</a:t>
            </a:r>
            <a:endParaRPr lang="en-US" sz="1350" dirty="0"/>
          </a:p>
        </p:txBody>
      </p:sp>
      <p:sp>
        <p:nvSpPr>
          <p:cNvPr id="8" name="a1_fade_100_260"/>
          <p:cNvSpPr txBox="1"/>
          <p:nvPr/>
        </p:nvSpPr>
        <p:spPr>
          <a:xfrm>
            <a:off x="594360" y="2331720"/>
            <a:ext cx="1691640" cy="14630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Add glosses of related WordNet synsets (hypernyms, hyponyms, parts); phrase overlaps score n².</a:t>
            </a:r>
            <a:endParaRPr lang="en-US" sz="1250" dirty="0"/>
          </a:p>
        </p:txBody>
      </p:sp>
      <p:sp>
        <p:nvSpPr>
          <p:cNvPr id="9" name="a1_fade_300_261"/>
          <p:cNvSpPr/>
          <p:nvPr/>
        </p:nvSpPr>
        <p:spPr>
          <a:xfrm>
            <a:off x="2404872" y="2286000"/>
            <a:ext cx="128016" cy="274320"/>
          </a:xfrm>
          <a:prstGeom prst="rightArrow">
            <a:avLst/>
          </a:prstGeom>
          <a:solidFill>
            <a:srgbClr val="1F8A7D"/>
          </a:solidFill>
          <a:ln/>
        </p:spPr>
      </p:sp>
      <p:sp>
        <p:nvSpPr>
          <p:cNvPr id="10" name="a1_wipe_300_262"/>
          <p:cNvSpPr/>
          <p:nvPr/>
        </p:nvSpPr>
        <p:spPr>
          <a:xfrm>
            <a:off x="2542032" y="1188720"/>
            <a:ext cx="1938528" cy="2651760"/>
          </a:xfrm>
          <a:prstGeom prst="roundRect">
            <a:avLst>
              <a:gd name="adj" fmla="val 5660"/>
            </a:avLst>
          </a:prstGeom>
          <a:solidFill>
            <a:srgbClr val="27385F"/>
          </a:solidFill>
          <a:ln/>
        </p:spPr>
        <p:txBody>
          <a:bodyPr wrap="square" lIns="76810" tIns="128016" rIns="128016" bIns="76810" rtlCol="0" anchor="ctr"/>
          <a:lstStyle/>
          <a:p>
            <a:pPr marL="0" indent="0" algn="l">
              <a:buNone/>
            </a:pPr>
            <a:endParaRPr lang="en-US" sz="1300" dirty="0"/>
          </a:p>
        </p:txBody>
      </p:sp>
      <p:sp>
        <p:nvSpPr>
          <p:cNvPr id="11" name="a1_fade_400_263"/>
          <p:cNvSpPr txBox="1"/>
          <p:nvPr/>
        </p:nvSpPr>
        <p:spPr>
          <a:xfrm>
            <a:off x="2679192" y="1298448"/>
            <a:ext cx="1691640" cy="320040"/>
          </a:xfrm>
          <a:prstGeom prst="rect">
            <a:avLst/>
          </a:prstGeom>
          <a:noFill/>
          <a:ln/>
        </p:spPr>
        <p:txBody>
          <a:bodyPr wrap="square" lIns="0" tIns="0" rIns="0" bIns="0" rtlCol="0" anchor="t"/>
          <a:lstStyle/>
          <a:p>
            <a:pPr marL="0" indent="0">
              <a:buNone/>
            </a:pPr>
            <a:r>
              <a:rPr lang="en-US" sz="1800" b="1" dirty="0">
                <a:solidFill>
                  <a:srgbClr val="F4A300"/>
                </a:solidFill>
                <a:latin typeface="Cambria" pitchFamily="34" charset="0"/>
                <a:ea typeface="Cambria" pitchFamily="34" charset="-122"/>
                <a:cs typeface="Cambria" pitchFamily="34" charset="-120"/>
              </a:rPr>
              <a:t>Corpus era</a:t>
            </a:r>
            <a:endParaRPr lang="en-US" sz="1800" dirty="0"/>
          </a:p>
        </p:txBody>
      </p:sp>
      <p:sp>
        <p:nvSpPr>
          <p:cNvPr id="12" name="a1_fade_400_264"/>
          <p:cNvSpPr txBox="1"/>
          <p:nvPr/>
        </p:nvSpPr>
        <p:spPr>
          <a:xfrm>
            <a:off x="2679192" y="1691640"/>
            <a:ext cx="1691640" cy="5486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IDF and corpus weighting</a:t>
            </a:r>
            <a:endParaRPr lang="en-US" sz="1350" dirty="0"/>
          </a:p>
        </p:txBody>
      </p:sp>
      <p:sp>
        <p:nvSpPr>
          <p:cNvPr id="13" name="a1_fade_400_265"/>
          <p:cNvSpPr txBox="1"/>
          <p:nvPr/>
        </p:nvSpPr>
        <p:spPr>
          <a:xfrm>
            <a:off x="2679192" y="2331720"/>
            <a:ext cx="1691640" cy="14630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Weight overlaps by rarity; add sense-labelled sentences to each signature.</a:t>
            </a:r>
            <a:endParaRPr lang="en-US" sz="1250" dirty="0"/>
          </a:p>
        </p:txBody>
      </p:sp>
      <p:sp>
        <p:nvSpPr>
          <p:cNvPr id="14" name="a1_fade_600_266"/>
          <p:cNvSpPr/>
          <p:nvPr/>
        </p:nvSpPr>
        <p:spPr>
          <a:xfrm>
            <a:off x="4489704" y="2286000"/>
            <a:ext cx="128016" cy="274320"/>
          </a:xfrm>
          <a:prstGeom prst="rightArrow">
            <a:avLst/>
          </a:prstGeom>
          <a:solidFill>
            <a:srgbClr val="1F8A7D"/>
          </a:solidFill>
          <a:ln/>
        </p:spPr>
      </p:sp>
      <p:sp>
        <p:nvSpPr>
          <p:cNvPr id="15" name="a1_wipe_600_267"/>
          <p:cNvSpPr/>
          <p:nvPr/>
        </p:nvSpPr>
        <p:spPr>
          <a:xfrm>
            <a:off x="4626864" y="1188720"/>
            <a:ext cx="1938528" cy="2651760"/>
          </a:xfrm>
          <a:prstGeom prst="roundRect">
            <a:avLst>
              <a:gd name="adj" fmla="val 5660"/>
            </a:avLst>
          </a:prstGeom>
          <a:solidFill>
            <a:srgbClr val="27385F"/>
          </a:solidFill>
          <a:ln/>
        </p:spPr>
        <p:txBody>
          <a:bodyPr wrap="square" lIns="76810" tIns="128016" rIns="128016" bIns="76810" rtlCol="0" anchor="ctr"/>
          <a:lstStyle/>
          <a:p>
            <a:pPr marL="0" indent="0" algn="l">
              <a:buNone/>
            </a:pPr>
            <a:endParaRPr lang="en-US" sz="1300" dirty="0"/>
          </a:p>
        </p:txBody>
      </p:sp>
      <p:sp>
        <p:nvSpPr>
          <p:cNvPr id="16" name="a1_fade_700_268"/>
          <p:cNvSpPr txBox="1"/>
          <p:nvPr/>
        </p:nvSpPr>
        <p:spPr>
          <a:xfrm>
            <a:off x="4764024" y="1298448"/>
            <a:ext cx="1691640" cy="320040"/>
          </a:xfrm>
          <a:prstGeom prst="rect">
            <a:avLst/>
          </a:prstGeom>
          <a:noFill/>
          <a:ln/>
        </p:spPr>
        <p:txBody>
          <a:bodyPr wrap="square" lIns="0" tIns="0" rIns="0" bIns="0" rtlCol="0" anchor="t"/>
          <a:lstStyle/>
          <a:p>
            <a:pPr marL="0" indent="0">
              <a:buNone/>
            </a:pPr>
            <a:r>
              <a:rPr lang="en-US" sz="1800" b="1" dirty="0">
                <a:solidFill>
                  <a:srgbClr val="F4A300"/>
                </a:solidFill>
                <a:latin typeface="Cambria" pitchFamily="34" charset="0"/>
                <a:ea typeface="Cambria" pitchFamily="34" charset="-122"/>
                <a:cs typeface="Cambria" pitchFamily="34" charset="-120"/>
              </a:rPr>
              <a:t>Syntax-aware</a:t>
            </a:r>
            <a:endParaRPr lang="en-US" sz="1800" dirty="0"/>
          </a:p>
        </p:txBody>
      </p:sp>
      <p:sp>
        <p:nvSpPr>
          <p:cNvPr id="17" name="a1_fade_700_269"/>
          <p:cNvSpPr txBox="1"/>
          <p:nvPr/>
        </p:nvSpPr>
        <p:spPr>
          <a:xfrm>
            <a:off x="4764024" y="1691640"/>
            <a:ext cx="1691640" cy="5486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Roles and selectional preferences</a:t>
            </a:r>
            <a:endParaRPr lang="en-US" sz="1350" dirty="0"/>
          </a:p>
        </p:txBody>
      </p:sp>
      <p:sp>
        <p:nvSpPr>
          <p:cNvPr id="18" name="a1_fade_700_270"/>
          <p:cNvSpPr txBox="1"/>
          <p:nvPr/>
        </p:nvSpPr>
        <p:spPr>
          <a:xfrm>
            <a:off x="4764024" y="2331720"/>
            <a:ext cx="1691640" cy="14630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A verb's subject and object count more than distant words; needs a parser.</a:t>
            </a:r>
            <a:endParaRPr lang="en-US" sz="1250" dirty="0"/>
          </a:p>
        </p:txBody>
      </p:sp>
      <p:sp>
        <p:nvSpPr>
          <p:cNvPr id="19" name="a1_fade_900_271"/>
          <p:cNvSpPr/>
          <p:nvPr/>
        </p:nvSpPr>
        <p:spPr>
          <a:xfrm>
            <a:off x="6574536" y="2286000"/>
            <a:ext cx="128016" cy="274320"/>
          </a:xfrm>
          <a:prstGeom prst="rightArrow">
            <a:avLst/>
          </a:prstGeom>
          <a:solidFill>
            <a:srgbClr val="1F8A7D"/>
          </a:solidFill>
          <a:ln/>
        </p:spPr>
      </p:sp>
      <p:sp>
        <p:nvSpPr>
          <p:cNvPr id="20" name="a1_wipe_900_272"/>
          <p:cNvSpPr/>
          <p:nvPr/>
        </p:nvSpPr>
        <p:spPr>
          <a:xfrm>
            <a:off x="6711696" y="1188720"/>
            <a:ext cx="1938528" cy="2651760"/>
          </a:xfrm>
          <a:prstGeom prst="roundRect">
            <a:avLst>
              <a:gd name="adj" fmla="val 5660"/>
            </a:avLst>
          </a:prstGeom>
          <a:solidFill>
            <a:srgbClr val="27385F"/>
          </a:solidFill>
          <a:ln/>
        </p:spPr>
        <p:txBody>
          <a:bodyPr wrap="square" lIns="76810" tIns="128016" rIns="128016" bIns="76810" rtlCol="0" anchor="ctr"/>
          <a:lstStyle/>
          <a:p>
            <a:pPr marL="0" indent="0" algn="l">
              <a:buNone/>
            </a:pPr>
            <a:endParaRPr lang="en-US" sz="1300" dirty="0"/>
          </a:p>
        </p:txBody>
      </p:sp>
      <p:sp>
        <p:nvSpPr>
          <p:cNvPr id="21" name="a1_fade_1000_273"/>
          <p:cNvSpPr txBox="1"/>
          <p:nvPr/>
        </p:nvSpPr>
        <p:spPr>
          <a:xfrm>
            <a:off x="6848856" y="1298448"/>
            <a:ext cx="1691640" cy="320040"/>
          </a:xfrm>
          <a:prstGeom prst="rect">
            <a:avLst/>
          </a:prstGeom>
          <a:noFill/>
          <a:ln/>
        </p:spPr>
        <p:txBody>
          <a:bodyPr wrap="square" lIns="0" tIns="0" rIns="0" bIns="0" rtlCol="0" anchor="t"/>
          <a:lstStyle/>
          <a:p>
            <a:pPr marL="0" indent="0">
              <a:buNone/>
            </a:pPr>
            <a:r>
              <a:rPr lang="en-US" sz="1800" b="1" dirty="0">
                <a:solidFill>
                  <a:srgbClr val="F4A300"/>
                </a:solidFill>
                <a:latin typeface="Cambria" pitchFamily="34" charset="0"/>
                <a:ea typeface="Cambria" pitchFamily="34" charset="-122"/>
                <a:cs typeface="Cambria" pitchFamily="34" charset="-120"/>
              </a:rPr>
              <a:t>2010s</a:t>
            </a:r>
            <a:endParaRPr lang="en-US" sz="1800" dirty="0"/>
          </a:p>
        </p:txBody>
      </p:sp>
      <p:sp>
        <p:nvSpPr>
          <p:cNvPr id="22" name="a1_fade_1000_274"/>
          <p:cNvSpPr txBox="1"/>
          <p:nvPr/>
        </p:nvSpPr>
        <p:spPr>
          <a:xfrm>
            <a:off x="6848856" y="1691640"/>
            <a:ext cx="1691640" cy="5486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Embedding-based methods</a:t>
            </a:r>
            <a:endParaRPr lang="en-US" sz="1350" dirty="0"/>
          </a:p>
        </p:txBody>
      </p:sp>
      <p:sp>
        <p:nvSpPr>
          <p:cNvPr id="23" name="a1_fade_1000_275"/>
          <p:cNvSpPr txBox="1"/>
          <p:nvPr/>
        </p:nvSpPr>
        <p:spPr>
          <a:xfrm>
            <a:off x="6848856" y="2331720"/>
            <a:ext cx="1691640" cy="14630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Cosine similarity replaces exact match; BERT-style WSD is a learned, contextual Lesk.</a:t>
            </a:r>
            <a:endParaRPr lang="en-US" sz="1250" dirty="0"/>
          </a:p>
        </p:txBody>
      </p:sp>
      <p:sp>
        <p:nvSpPr>
          <p:cNvPr id="24" name="a2_zoom_0_276"/>
          <p:cNvSpPr/>
          <p:nvPr/>
        </p:nvSpPr>
        <p:spPr>
          <a:xfrm>
            <a:off x="457200" y="4023360"/>
            <a:ext cx="8229600" cy="640080"/>
          </a:xfrm>
          <a:prstGeom prst="roundRect">
            <a:avLst>
              <a:gd name="adj" fmla="val 17143"/>
            </a:avLst>
          </a:prstGeom>
          <a:solidFill>
            <a:srgbClr val="1F8A7D"/>
          </a:solidFill>
          <a:ln/>
        </p:spPr>
        <p:txBody>
          <a:bodyPr wrap="square" lIns="76810" tIns="128016" rIns="128016" bIns="76810"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Per the reference article, modern supervised and neural WSD scores roughly </a:t>
            </a:r>
            <a:r>
              <a:rPr lang="en-US" sz="1300" b="1" dirty="0">
                <a:solidFill>
                  <a:srgbClr val="FFFFFF"/>
                </a:solidFill>
                <a:latin typeface="Calibri" pitchFamily="34" charset="0"/>
                <a:ea typeface="Calibri" pitchFamily="34" charset="-122"/>
                <a:cs typeface="Calibri" pitchFamily="34" charset="-120"/>
              </a:rPr>
              <a:t>20–30 accuracy points higher</a:t>
            </a:r>
            <a:r>
              <a:rPr lang="en-US" sz="1300" dirty="0">
                <a:solidFill>
                  <a:srgbClr val="FFFFFF"/>
                </a:solidFill>
                <a:latin typeface="Calibri" pitchFamily="34" charset="0"/>
                <a:ea typeface="Calibri" pitchFamily="34" charset="-122"/>
                <a:cs typeface="Calibri" pitchFamily="34" charset="-120"/>
              </a:rPr>
              <a:t> than classic Lesk variants, but Lesk’s core intuition survives in all of them.</a:t>
            </a:r>
            <a:endParaRPr lang="en-US" sz="1300" dirty="0"/>
          </a:p>
        </p:txBody>
      </p:sp>
      <p:sp>
        <p:nvSpPr>
          <p:cNvPr id="25" name="Text 22"/>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E9BB8"/>
                </a:solidFill>
                <a:latin typeface="Calibri" pitchFamily="34" charset="0"/>
                <a:ea typeface="Calibri" pitchFamily="34" charset="-122"/>
                <a:cs typeface="Calibri" pitchFamily="34" charset="-120"/>
              </a:rPr>
              <a:t>Lesk Algorithm · Word Sense Disambiguation</a:t>
            </a:r>
            <a:endParaRPr lang="en-US" sz="900" dirty="0"/>
          </a:p>
        </p:txBody>
      </p:sp>
      <p:sp>
        <p:nvSpPr>
          <p:cNvPr id="2"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9BB8"/>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2" presetClass="entr" presetSubtype="8" fill="hold" grpId="0" nodeType="withEffect">
                                  <p:stCondLst>
                                    <p:cond delay="30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4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60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22" presetClass="entr" presetSubtype="8" fill="hold" grpId="0" nodeType="withEffect">
                                  <p:stCondLst>
                                    <p:cond delay="60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10" presetClass="entr" presetSubtype="0" fill="hold" grpId="0" nodeType="withEffect">
                                  <p:stCondLst>
                                    <p:cond delay="7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7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70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90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22" presetClass="entr" presetSubtype="8" fill="hold" grpId="0" nodeType="withEffect">
                                  <p:stCondLst>
                                    <p:cond delay="90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10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00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ppt_w</p:attrName>
                                        </p:attrNameLst>
                                      </p:cBhvr>
                                      <p:tavLst>
                                        <p:tav tm="0">
                                          <p:val>
                                            <p:fltVal val="0"/>
                                          </p:val>
                                        </p:tav>
                                        <p:tav tm="100000">
                                          <p:val>
                                            <p:strVal val="#ppt_w"/>
                                          </p:val>
                                        </p:tav>
                                      </p:tavLst>
                                    </p:anim>
                                    <p:anim calcmode="lin" valueType="num">
                                      <p:cBhvr additive="base">
                                        <p:cTn id="67" dur="500" fill="hold"/>
                                        <p:tgtEl>
                                          <p:spTgt spid="24"/>
                                        </p:tgtEl>
                                        <p:attrNameLst>
                                          <p:attrName>ppt_h</p:attrName>
                                        </p:attrNameLst>
                                      </p:cBhvr>
                                      <p:tavLst>
                                        <p:tav tm="0">
                                          <p:val>
                                            <p:fltVal val="0"/>
                                          </p:val>
                                        </p:tav>
                                        <p:tav tm="100000">
                                          <p:val>
                                            <p:strVal val="#ppt_h"/>
                                          </p:val>
                                        </p:tav>
                                      </p:tavLst>
                                    </p:anim>
                                    <p:animEffect transition="in" filter="fade">
                                      <p:cBhvr>
                                        <p:cTn id="6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5 · BEYOND LESK</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Legacy in modern language AI</a:t>
            </a:r>
            <a:endParaRPr lang="en-US" sz="2800" dirty="0"/>
          </a:p>
        </p:txBody>
      </p:sp>
      <p:sp>
        <p:nvSpPr>
          <p:cNvPr id="5" name="a1_wipe_0_277"/>
          <p:cNvSpPr/>
          <p:nvPr/>
        </p:nvSpPr>
        <p:spPr>
          <a:xfrm>
            <a:off x="457200" y="1188720"/>
            <a:ext cx="4023360" cy="1051560"/>
          </a:xfrm>
          <a:prstGeom prst="roundRect">
            <a:avLst>
              <a:gd name="adj" fmla="val 10435"/>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Distributional semantics</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“You shall know a word by the company it keeps” (Firth). Word2Vec and GloVe learn the contextual overlap Lesk counted by hand.</a:t>
            </a:r>
            <a:endParaRPr lang="en-US" sz="1200" dirty="0"/>
          </a:p>
        </p:txBody>
      </p:sp>
      <p:sp>
        <p:nvSpPr>
          <p:cNvPr id="6" name="a1_wipe_250_278"/>
          <p:cNvSpPr/>
          <p:nvPr/>
        </p:nvSpPr>
        <p:spPr>
          <a:xfrm>
            <a:off x="457200" y="2331720"/>
            <a:ext cx="4023360" cy="1143000"/>
          </a:xfrm>
          <a:prstGeom prst="roundRect">
            <a:avLst>
              <a:gd name="adj" fmla="val 9600"/>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Transformers</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BERT gives “bank” different vectors in “sat by the bank fishing” and “the bank approved my loan”: context shapes meaning, learned at scale.</a:t>
            </a:r>
            <a:endParaRPr lang="en-US" sz="1200" dirty="0"/>
          </a:p>
        </p:txBody>
      </p:sp>
      <p:sp>
        <p:nvSpPr>
          <p:cNvPr id="7" name="a1_wipe_500_279"/>
          <p:cNvSpPr/>
          <p:nvPr/>
        </p:nvSpPr>
        <p:spPr>
          <a:xfrm>
            <a:off x="457200" y="3566160"/>
            <a:ext cx="4023360" cy="1005840"/>
          </a:xfrm>
          <a:prstGeom prst="roundRect">
            <a:avLst>
              <a:gd name="adj" fmla="val 10909"/>
            </a:avLst>
          </a:prstGeom>
          <a:solidFill>
            <a:srgbClr val="E2F3F0"/>
          </a:solidFill>
          <a:ln/>
          <a:effectLst>
            <a:outerShdw blurRad="76200" dist="25400" dir="5400000" algn="bl" rotWithShape="0">
              <a:srgbClr val="000000">
                <a:alpha val="14000"/>
              </a:srgbClr>
            </a:outerShdw>
          </a:effectLst>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Baseline &amp; diagnostic</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Where Lesk fails (short context, rare senses, figurative use) is hard for neural models too. Still the first WSD method taught.</a:t>
            </a:r>
            <a:endParaRPr lang="en-US" sz="1200" dirty="0"/>
          </a:p>
        </p:txBody>
      </p:sp>
      <p:sp>
        <p:nvSpPr>
          <p:cNvPr id="8" name="a2_fade_0_280"/>
          <p:cNvSpPr txBox="1"/>
          <p:nvPr/>
        </p:nvSpPr>
        <p:spPr>
          <a:xfrm>
            <a:off x="4754880" y="1143000"/>
            <a:ext cx="3931920" cy="274320"/>
          </a:xfrm>
          <a:prstGeom prst="rect">
            <a:avLst/>
          </a:prstGeom>
          <a:noFill/>
          <a:ln/>
        </p:spPr>
        <p:txBody>
          <a:bodyPr wrap="square" lIns="0" tIns="0" rIns="0" bIns="0" rtlCol="0" anchor="t"/>
          <a:lstStyle/>
          <a:p>
            <a:pPr marL="0" indent="0">
              <a:buNone/>
            </a:pPr>
            <a:r>
              <a:rPr lang="en-US" sz="1500" b="1" dirty="0">
                <a:solidFill>
                  <a:srgbClr val="1B2A49"/>
                </a:solidFill>
                <a:latin typeface="Cambria" pitchFamily="34" charset="0"/>
                <a:ea typeface="Cambria" pitchFamily="34" charset="-122"/>
                <a:cs typeface="Cambria" pitchFamily="34" charset="-120"/>
              </a:rPr>
              <a:t>Four broader lessons</a:t>
            </a:r>
            <a:endParaRPr lang="en-US" sz="1500" dirty="0"/>
          </a:p>
        </p:txBody>
      </p:sp>
      <p:sp>
        <p:nvSpPr>
          <p:cNvPr id="9" name="a2_zoom_0_281"/>
          <p:cNvSpPr/>
          <p:nvPr/>
        </p:nvSpPr>
        <p:spPr>
          <a:xfrm>
            <a:off x="4754880" y="1581912"/>
            <a:ext cx="457200" cy="457200"/>
          </a:xfrm>
          <a:prstGeom prst="ellipse">
            <a:avLst/>
          </a:prstGeom>
          <a:solidFill>
            <a:srgbClr val="F4A300"/>
          </a:solidFill>
          <a:ln/>
        </p:spPr>
        <p:txBody>
          <a:bodyPr wrap="square" lIns="0" tIns="0" rIns="0" bIns="0" rtlCol="0" anchor="ctr"/>
          <a:lstStyle/>
          <a:p>
            <a:pPr marL="0" indent="0" algn="ctr">
              <a:buNone/>
            </a:pPr>
            <a:r>
              <a:rPr lang="en-US" sz="1600" b="1" dirty="0">
                <a:solidFill>
                  <a:srgbClr val="22262E"/>
                </a:solidFill>
                <a:latin typeface="Cambria" pitchFamily="34" charset="0"/>
                <a:ea typeface="Cambria" pitchFamily="34" charset="-122"/>
                <a:cs typeface="Cambria" pitchFamily="34" charset="-120"/>
              </a:rPr>
              <a:t>1</a:t>
            </a:r>
            <a:endParaRPr lang="en-US" sz="1600" dirty="0"/>
          </a:p>
        </p:txBody>
      </p:sp>
      <p:sp>
        <p:nvSpPr>
          <p:cNvPr id="10" name="a2_wipe_100_282"/>
          <p:cNvSpPr/>
          <p:nvPr/>
        </p:nvSpPr>
        <p:spPr>
          <a:xfrm>
            <a:off x="5349240" y="1508760"/>
            <a:ext cx="3337560" cy="640080"/>
          </a:xfrm>
          <a:prstGeom prst="roundRect">
            <a:avLst>
              <a:gd name="adj" fmla="val 17143"/>
            </a:avLst>
          </a:prstGeom>
          <a:solidFill>
            <a:srgbClr val="F2F4F8"/>
          </a:solidFill>
          <a:ln/>
        </p:spPr>
        <p:txBody>
          <a:bodyPr wrap="square" lIns="76810" tIns="128016" rIns="128016" bIns="76810" rtlCol="0" anchor="ctr"/>
          <a:lstStyle/>
          <a:p>
            <a:pPr marL="0" indent="0" algn="l">
              <a:buNone/>
            </a:pPr>
            <a:r>
              <a:rPr lang="en-US" sz="1250" b="1" dirty="0">
                <a:solidFill>
                  <a:srgbClr val="22262E"/>
                </a:solidFill>
                <a:latin typeface="Calibri" pitchFamily="34" charset="0"/>
                <a:ea typeface="Calibri" pitchFamily="34" charset="-122"/>
                <a:cs typeface="Calibri" pitchFamily="34" charset="-120"/>
              </a:rPr>
              <a:t>Simple metrics can work</a:t>
            </a:r>
            <a:endParaRPr lang="en-US" sz="1250" dirty="0"/>
          </a:p>
          <a:p>
            <a:pPr marL="0" indent="0" algn="l">
              <a:buNone/>
            </a:pPr>
            <a:r>
              <a:rPr lang="en-US" sz="1250" dirty="0">
                <a:solidFill>
                  <a:srgbClr val="22262E"/>
                </a:solidFill>
                <a:latin typeface="Calibri" pitchFamily="34" charset="0"/>
                <a:ea typeface="Calibri" pitchFamily="34" charset="-122"/>
                <a:cs typeface="Calibri" pitchFamily="34" charset="-120"/>
              </a:rPr>
              <a:t>count what matches</a:t>
            </a:r>
            <a:endParaRPr lang="en-US" sz="1250" dirty="0"/>
          </a:p>
        </p:txBody>
      </p:sp>
      <p:sp>
        <p:nvSpPr>
          <p:cNvPr id="11" name="a2_zoom_250_283"/>
          <p:cNvSpPr/>
          <p:nvPr/>
        </p:nvSpPr>
        <p:spPr>
          <a:xfrm>
            <a:off x="4754880" y="2350008"/>
            <a:ext cx="457200" cy="457200"/>
          </a:xfrm>
          <a:prstGeom prst="ellipse">
            <a:avLst/>
          </a:prstGeom>
          <a:solidFill>
            <a:srgbClr val="F4A300"/>
          </a:solidFill>
          <a:ln/>
        </p:spPr>
        <p:txBody>
          <a:bodyPr wrap="square" lIns="0" tIns="0" rIns="0" bIns="0" rtlCol="0" anchor="ctr"/>
          <a:lstStyle/>
          <a:p>
            <a:pPr marL="0" indent="0" algn="ctr">
              <a:buNone/>
            </a:pPr>
            <a:r>
              <a:rPr lang="en-US" sz="1600" b="1" dirty="0">
                <a:solidFill>
                  <a:srgbClr val="22262E"/>
                </a:solidFill>
                <a:latin typeface="Cambria" pitchFamily="34" charset="0"/>
                <a:ea typeface="Cambria" pitchFamily="34" charset="-122"/>
                <a:cs typeface="Cambria" pitchFamily="34" charset="-120"/>
              </a:rPr>
              <a:t>2</a:t>
            </a:r>
            <a:endParaRPr lang="en-US" sz="1600" dirty="0"/>
          </a:p>
        </p:txBody>
      </p:sp>
      <p:sp>
        <p:nvSpPr>
          <p:cNvPr id="12" name="a2_wipe_350_284"/>
          <p:cNvSpPr/>
          <p:nvPr/>
        </p:nvSpPr>
        <p:spPr>
          <a:xfrm>
            <a:off x="5349240" y="2276856"/>
            <a:ext cx="3337560" cy="640080"/>
          </a:xfrm>
          <a:prstGeom prst="roundRect">
            <a:avLst>
              <a:gd name="adj" fmla="val 17143"/>
            </a:avLst>
          </a:prstGeom>
          <a:solidFill>
            <a:srgbClr val="F2F4F8"/>
          </a:solidFill>
          <a:ln/>
        </p:spPr>
        <p:txBody>
          <a:bodyPr wrap="square" lIns="76810" tIns="128016" rIns="128016" bIns="76810" rtlCol="0" anchor="ctr"/>
          <a:lstStyle/>
          <a:p>
            <a:pPr marL="0" indent="0" algn="l">
              <a:buNone/>
            </a:pPr>
            <a:r>
              <a:rPr lang="en-US" sz="1250" b="1" dirty="0">
                <a:solidFill>
                  <a:srgbClr val="22262E"/>
                </a:solidFill>
                <a:latin typeface="Calibri" pitchFamily="34" charset="0"/>
                <a:ea typeface="Calibri" pitchFamily="34" charset="-122"/>
                <a:cs typeface="Calibri" pitchFamily="34" charset="-120"/>
              </a:rPr>
              <a:t>Context is central</a:t>
            </a:r>
            <a:endParaRPr lang="en-US" sz="1250" dirty="0"/>
          </a:p>
          <a:p>
            <a:pPr marL="0" indent="0" algn="l">
              <a:buNone/>
            </a:pPr>
            <a:r>
              <a:rPr lang="en-US" sz="1250" dirty="0">
                <a:solidFill>
                  <a:srgbClr val="22262E"/>
                </a:solidFill>
                <a:latin typeface="Calibri" pitchFamily="34" charset="0"/>
                <a:ea typeface="Calibri" pitchFamily="34" charset="-122"/>
                <a:cs typeface="Calibri" pitchFamily="34" charset="-120"/>
              </a:rPr>
              <a:t>to every later advance</a:t>
            </a:r>
            <a:endParaRPr lang="en-US" sz="1250" dirty="0"/>
          </a:p>
        </p:txBody>
      </p:sp>
      <p:sp>
        <p:nvSpPr>
          <p:cNvPr id="13" name="a2_zoom_500_285"/>
          <p:cNvSpPr/>
          <p:nvPr/>
        </p:nvSpPr>
        <p:spPr>
          <a:xfrm>
            <a:off x="4754880" y="3118104"/>
            <a:ext cx="457200" cy="457200"/>
          </a:xfrm>
          <a:prstGeom prst="ellipse">
            <a:avLst/>
          </a:prstGeom>
          <a:solidFill>
            <a:srgbClr val="F4A300"/>
          </a:solidFill>
          <a:ln/>
        </p:spPr>
        <p:txBody>
          <a:bodyPr wrap="square" lIns="0" tIns="0" rIns="0" bIns="0" rtlCol="0" anchor="ctr"/>
          <a:lstStyle/>
          <a:p>
            <a:pPr marL="0" indent="0" algn="ctr">
              <a:buNone/>
            </a:pPr>
            <a:r>
              <a:rPr lang="en-US" sz="1600" b="1" dirty="0">
                <a:solidFill>
                  <a:srgbClr val="22262E"/>
                </a:solidFill>
                <a:latin typeface="Cambria" pitchFamily="34" charset="0"/>
                <a:ea typeface="Cambria" pitchFamily="34" charset="-122"/>
                <a:cs typeface="Cambria" pitchFamily="34" charset="-120"/>
              </a:rPr>
              <a:t>3</a:t>
            </a:r>
            <a:endParaRPr lang="en-US" sz="1600" dirty="0"/>
          </a:p>
        </p:txBody>
      </p:sp>
      <p:sp>
        <p:nvSpPr>
          <p:cNvPr id="14" name="a2_wipe_600_286"/>
          <p:cNvSpPr/>
          <p:nvPr/>
        </p:nvSpPr>
        <p:spPr>
          <a:xfrm>
            <a:off x="5349240" y="3044952"/>
            <a:ext cx="3337560" cy="640080"/>
          </a:xfrm>
          <a:prstGeom prst="roundRect">
            <a:avLst>
              <a:gd name="adj" fmla="val 17143"/>
            </a:avLst>
          </a:prstGeom>
          <a:solidFill>
            <a:srgbClr val="F2F4F8"/>
          </a:solidFill>
          <a:ln/>
        </p:spPr>
        <p:txBody>
          <a:bodyPr wrap="square" lIns="76810" tIns="128016" rIns="128016" bIns="76810" rtlCol="0" anchor="ctr"/>
          <a:lstStyle/>
          <a:p>
            <a:pPr marL="0" indent="0" algn="l">
              <a:buNone/>
            </a:pPr>
            <a:r>
              <a:rPr lang="en-US" sz="1250" b="1" dirty="0">
                <a:solidFill>
                  <a:srgbClr val="22262E"/>
                </a:solidFill>
                <a:latin typeface="Calibri" pitchFamily="34" charset="0"/>
                <a:ea typeface="Calibri" pitchFamily="34" charset="-122"/>
                <a:cs typeface="Calibri" pitchFamily="34" charset="-120"/>
              </a:rPr>
              <a:t>Reuse resources</a:t>
            </a:r>
            <a:endParaRPr lang="en-US" sz="1250" dirty="0"/>
          </a:p>
          <a:p>
            <a:pPr marL="0" indent="0" algn="l">
              <a:buNone/>
            </a:pPr>
            <a:r>
              <a:rPr lang="en-US" sz="1250" dirty="0">
                <a:solidFill>
                  <a:srgbClr val="22262E"/>
                </a:solidFill>
                <a:latin typeface="Calibri" pitchFamily="34" charset="0"/>
                <a:ea typeface="Calibri" pitchFamily="34" charset="-122"/>
                <a:cs typeface="Calibri" pitchFamily="34" charset="-120"/>
              </a:rPr>
              <a:t>dictionaries became data</a:t>
            </a:r>
            <a:endParaRPr lang="en-US" sz="1250" dirty="0"/>
          </a:p>
        </p:txBody>
      </p:sp>
      <p:sp>
        <p:nvSpPr>
          <p:cNvPr id="15" name="a2_zoom_750_287"/>
          <p:cNvSpPr/>
          <p:nvPr/>
        </p:nvSpPr>
        <p:spPr>
          <a:xfrm>
            <a:off x="4754880" y="3886200"/>
            <a:ext cx="457200" cy="457200"/>
          </a:xfrm>
          <a:prstGeom prst="ellipse">
            <a:avLst/>
          </a:prstGeom>
          <a:solidFill>
            <a:srgbClr val="F4A300"/>
          </a:solidFill>
          <a:ln/>
        </p:spPr>
        <p:txBody>
          <a:bodyPr wrap="square" lIns="0" tIns="0" rIns="0" bIns="0" rtlCol="0" anchor="ctr"/>
          <a:lstStyle/>
          <a:p>
            <a:pPr marL="0" indent="0" algn="ctr">
              <a:buNone/>
            </a:pPr>
            <a:r>
              <a:rPr lang="en-US" sz="1600" b="1" dirty="0">
                <a:solidFill>
                  <a:srgbClr val="22262E"/>
                </a:solidFill>
                <a:latin typeface="Cambria" pitchFamily="34" charset="0"/>
                <a:ea typeface="Cambria" pitchFamily="34" charset="-122"/>
                <a:cs typeface="Cambria" pitchFamily="34" charset="-120"/>
              </a:rPr>
              <a:t>4</a:t>
            </a:r>
            <a:endParaRPr lang="en-US" sz="1600" dirty="0"/>
          </a:p>
        </p:txBody>
      </p:sp>
      <p:sp>
        <p:nvSpPr>
          <p:cNvPr id="16" name="a2_wipe_850_288"/>
          <p:cNvSpPr/>
          <p:nvPr/>
        </p:nvSpPr>
        <p:spPr>
          <a:xfrm>
            <a:off x="5349240" y="3813048"/>
            <a:ext cx="3337560" cy="640080"/>
          </a:xfrm>
          <a:prstGeom prst="roundRect">
            <a:avLst>
              <a:gd name="adj" fmla="val 17143"/>
            </a:avLst>
          </a:prstGeom>
          <a:solidFill>
            <a:srgbClr val="F2F4F8"/>
          </a:solidFill>
          <a:ln/>
        </p:spPr>
        <p:txBody>
          <a:bodyPr wrap="square" lIns="76810" tIns="128016" rIns="128016" bIns="76810" rtlCol="0" anchor="ctr"/>
          <a:lstStyle/>
          <a:p>
            <a:pPr marL="0" indent="0" algn="l">
              <a:buNone/>
            </a:pPr>
            <a:r>
              <a:rPr lang="en-US" sz="1250" b="1" dirty="0">
                <a:solidFill>
                  <a:srgbClr val="22262E"/>
                </a:solidFill>
                <a:latin typeface="Calibri" pitchFamily="34" charset="0"/>
                <a:ea typeface="Calibri" pitchFamily="34" charset="-122"/>
                <a:cs typeface="Calibri" pitchFamily="34" charset="-120"/>
              </a:rPr>
              <a:t>Failures teach</a:t>
            </a:r>
            <a:endParaRPr lang="en-US" sz="1250" dirty="0"/>
          </a:p>
          <a:p>
            <a:pPr marL="0" indent="0" algn="l">
              <a:buNone/>
            </a:pPr>
            <a:r>
              <a:rPr lang="en-US" sz="1250" dirty="0">
                <a:solidFill>
                  <a:srgbClr val="22262E"/>
                </a:solidFill>
                <a:latin typeface="Calibri" pitchFamily="34" charset="0"/>
                <a:ea typeface="Calibri" pitchFamily="34" charset="-122"/>
                <a:cs typeface="Calibri" pitchFamily="34" charset="-120"/>
              </a:rPr>
              <a:t>limits pointed to embeddings</a:t>
            </a:r>
            <a:endParaRPr lang="en-US" sz="1250" dirty="0"/>
          </a:p>
        </p:txBody>
      </p:sp>
      <p:sp>
        <p:nvSpPr>
          <p:cNvPr id="17" name="Text 14"/>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ppt_w</p:attrName>
                                        </p:attrNameLst>
                                      </p:cBhvr>
                                      <p:tavLst>
                                        <p:tav tm="0">
                                          <p:val>
                                            <p:fltVal val="0"/>
                                          </p:val>
                                        </p:tav>
                                        <p:tav tm="100000">
                                          <p:val>
                                            <p:strVal val="#ppt_w"/>
                                          </p:val>
                                        </p:tav>
                                      </p:tavLst>
                                    </p:anim>
                                    <p:anim calcmode="lin" valueType="num">
                                      <p:cBhvr additive="base">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22" presetClass="entr" presetSubtype="8" fill="hold" grpId="0" nodeType="withEffect">
                                  <p:stCondLst>
                                    <p:cond delay="10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53" presetClass="entr" presetSubtype="16" fill="hold" grpId="0" nodeType="withEffect">
                                  <p:stCondLst>
                                    <p:cond delay="25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ppt_w</p:attrName>
                                        </p:attrNameLst>
                                      </p:cBhvr>
                                      <p:tavLst>
                                        <p:tav tm="0">
                                          <p:val>
                                            <p:fltVal val="0"/>
                                          </p:val>
                                        </p:tav>
                                        <p:tav tm="100000">
                                          <p:val>
                                            <p:strVal val="#ppt_w"/>
                                          </p:val>
                                        </p:tav>
                                      </p:tavLst>
                                    </p:anim>
                                    <p:anim calcmode="lin" valueType="num">
                                      <p:cBhvr additive="base">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par>
                                <p:cTn id="32" presetID="22" presetClass="entr" presetSubtype="8" fill="hold" grpId="0" nodeType="withEffect">
                                  <p:stCondLst>
                                    <p:cond delay="35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53" presetClass="entr" presetSubtype="16" fill="hold" grpId="0" nodeType="withEffect">
                                  <p:stCondLst>
                                    <p:cond delay="50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ppt_w</p:attrName>
                                        </p:attrNameLst>
                                      </p:cBhvr>
                                      <p:tavLst>
                                        <p:tav tm="0">
                                          <p:val>
                                            <p:fltVal val="0"/>
                                          </p:val>
                                        </p:tav>
                                        <p:tav tm="100000">
                                          <p:val>
                                            <p:strVal val="#ppt_w"/>
                                          </p:val>
                                        </p:tav>
                                      </p:tavLst>
                                    </p:anim>
                                    <p:anim calcmode="lin" valueType="num">
                                      <p:cBhvr additive="base">
                                        <p:cTn id="38" dur="500" fill="hold"/>
                                        <p:tgtEl>
                                          <p:spTgt spid="13"/>
                                        </p:tgtEl>
                                        <p:attrNameLst>
                                          <p:attrName>ppt_h</p:attrName>
                                        </p:attrNameLst>
                                      </p:cBhvr>
                                      <p:tavLst>
                                        <p:tav tm="0">
                                          <p:val>
                                            <p:fltVal val="0"/>
                                          </p:val>
                                        </p:tav>
                                        <p:tav tm="100000">
                                          <p:val>
                                            <p:strVal val="#ppt_h"/>
                                          </p:val>
                                        </p:tav>
                                      </p:tavLst>
                                    </p:anim>
                                    <p:animEffect transition="in" filter="fade">
                                      <p:cBhvr>
                                        <p:cTn id="39" dur="500"/>
                                        <p:tgtEl>
                                          <p:spTgt spid="13"/>
                                        </p:tgtEl>
                                      </p:cBhvr>
                                    </p:animEffect>
                                  </p:childTnLst>
                                </p:cTn>
                              </p:par>
                              <p:par>
                                <p:cTn id="40" presetID="22" presetClass="entr" presetSubtype="8" fill="hold" grpId="0" nodeType="withEffect">
                                  <p:stCondLst>
                                    <p:cond delay="60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par>
                                <p:cTn id="43" presetID="53" presetClass="entr" presetSubtype="16" fill="hold" grpId="0" nodeType="withEffect">
                                  <p:stCondLst>
                                    <p:cond delay="75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ppt_w</p:attrName>
                                        </p:attrNameLst>
                                      </p:cBhvr>
                                      <p:tavLst>
                                        <p:tav tm="0">
                                          <p:val>
                                            <p:fltVal val="0"/>
                                          </p:val>
                                        </p:tav>
                                        <p:tav tm="100000">
                                          <p:val>
                                            <p:strVal val="#ppt_w"/>
                                          </p:val>
                                        </p:tav>
                                      </p:tavLst>
                                    </p:anim>
                                    <p:anim calcmode="lin" valueType="num">
                                      <p:cBhvr additive="base">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par>
                                <p:cTn id="48" presetID="22" presetClass="entr" presetSubtype="8" fill="hold" grpId="0" nodeType="withEffect">
                                  <p:stCondLst>
                                    <p:cond delay="85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19456"/>
            <a:ext cx="5486400" cy="201168"/>
          </a:xfrm>
          <a:prstGeom prst="rect">
            <a:avLst/>
          </a:prstGeom>
          <a:noFill/>
          <a:ln/>
        </p:spPr>
        <p:txBody>
          <a:bodyPr wrap="square" lIns="0" tIns="0" rIns="0" bIns="0" rtlCol="0" anchor="ctr"/>
          <a:lstStyle/>
          <a:p>
            <a:pPr marL="0" indent="0">
              <a:buNone/>
            </a:pPr>
            <a:r>
              <a:rPr lang="en-US" sz="1000" b="1" kern="0" spc="300" dirty="0">
                <a:solidFill>
                  <a:srgbClr val="1F8A7D"/>
                </a:solidFill>
                <a:latin typeface="Calibri" pitchFamily="34" charset="0"/>
                <a:ea typeface="Calibri" pitchFamily="34" charset="-122"/>
                <a:cs typeface="Calibri" pitchFamily="34" charset="-120"/>
              </a:rPr>
              <a:t>PART 6 · EXAM KIT</a:t>
            </a:r>
            <a:endParaRPr lang="en-US" sz="1000" dirty="0"/>
          </a:p>
        </p:txBody>
      </p:sp>
      <p:sp>
        <p:nvSpPr>
          <p:cNvPr id="4" name="Text 1"/>
          <p:cNvSpPr txBox="1"/>
          <p:nvPr/>
        </p:nvSpPr>
        <p:spPr>
          <a:xfrm>
            <a:off x="457200" y="420624"/>
            <a:ext cx="8229600" cy="566928"/>
          </a:xfrm>
          <a:prstGeom prst="rect">
            <a:avLst/>
          </a:prstGeom>
          <a:noFill/>
          <a:ln/>
        </p:spPr>
        <p:txBody>
          <a:bodyPr wrap="square" lIns="0" tIns="0" rIns="0" bIns="0" rtlCol="0" anchor="ctr"/>
          <a:lstStyle/>
          <a:p>
            <a:pPr marL="0" indent="0">
              <a:buNone/>
            </a:pPr>
            <a:r>
              <a:rPr lang="en-US" sz="2800" b="1" dirty="0">
                <a:solidFill>
                  <a:srgbClr val="1B2A49"/>
                </a:solidFill>
                <a:latin typeface="Cambria" pitchFamily="34" charset="0"/>
                <a:ea typeface="Cambria" pitchFamily="34" charset="-122"/>
                <a:cs typeface="Cambria" pitchFamily="34" charset="-120"/>
              </a:rPr>
              <a:t>How to solve any Lesk question: 10 steps</a:t>
            </a:r>
            <a:endParaRPr lang="en-US" sz="2800" dirty="0"/>
          </a:p>
        </p:txBody>
      </p:sp>
      <p:sp>
        <p:nvSpPr>
          <p:cNvPr id="5" name="a1_fade_0_403"/>
          <p:cNvSpPr/>
          <p:nvPr/>
        </p:nvSpPr>
        <p:spPr>
          <a:xfrm>
            <a:off x="457200" y="114300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6" name="a1_fade_60_404"/>
          <p:cNvSpPr txBox="1"/>
          <p:nvPr/>
        </p:nvSpPr>
        <p:spPr>
          <a:xfrm>
            <a:off x="566928" y="120700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1</a:t>
            </a:r>
            <a:endParaRPr lang="en-US" sz="1600" dirty="0"/>
          </a:p>
        </p:txBody>
      </p:sp>
      <p:sp>
        <p:nvSpPr>
          <p:cNvPr id="7" name="a1_fade_60_405"/>
          <p:cNvSpPr txBox="1"/>
          <p:nvPr/>
        </p:nvSpPr>
        <p:spPr>
          <a:xfrm>
            <a:off x="566928" y="150876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Underline the target word</a:t>
            </a:r>
            <a:endParaRPr lang="en-US" sz="1050" dirty="0"/>
          </a:p>
        </p:txBody>
      </p:sp>
      <p:sp>
        <p:nvSpPr>
          <p:cNvPr id="8" name="a1_fade_150_406"/>
          <p:cNvSpPr/>
          <p:nvPr/>
        </p:nvSpPr>
        <p:spPr>
          <a:xfrm>
            <a:off x="2125980" y="114300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9" name="a1_fade_210_407"/>
          <p:cNvSpPr txBox="1"/>
          <p:nvPr/>
        </p:nvSpPr>
        <p:spPr>
          <a:xfrm>
            <a:off x="2235708" y="120700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2</a:t>
            </a:r>
            <a:endParaRPr lang="en-US" sz="1600" dirty="0"/>
          </a:p>
        </p:txBody>
      </p:sp>
      <p:sp>
        <p:nvSpPr>
          <p:cNvPr id="10" name="a1_fade_210_408"/>
          <p:cNvSpPr txBox="1"/>
          <p:nvPr/>
        </p:nvSpPr>
        <p:spPr>
          <a:xfrm>
            <a:off x="2235708" y="150876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Write all possible meanings</a:t>
            </a:r>
            <a:endParaRPr lang="en-US" sz="1050" dirty="0"/>
          </a:p>
        </p:txBody>
      </p:sp>
      <p:sp>
        <p:nvSpPr>
          <p:cNvPr id="11" name="a1_fade_300_409"/>
          <p:cNvSpPr/>
          <p:nvPr/>
        </p:nvSpPr>
        <p:spPr>
          <a:xfrm>
            <a:off x="3794760" y="114300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12" name="a1_fade_360_410"/>
          <p:cNvSpPr txBox="1"/>
          <p:nvPr/>
        </p:nvSpPr>
        <p:spPr>
          <a:xfrm>
            <a:off x="3904488" y="120700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3</a:t>
            </a:r>
            <a:endParaRPr lang="en-US" sz="1600" dirty="0"/>
          </a:p>
        </p:txBody>
      </p:sp>
      <p:sp>
        <p:nvSpPr>
          <p:cNvPr id="13" name="a1_fade_360_411"/>
          <p:cNvSpPr txBox="1"/>
          <p:nvPr/>
        </p:nvSpPr>
        <p:spPr>
          <a:xfrm>
            <a:off x="3904488" y="150876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Write the context words</a:t>
            </a:r>
            <a:endParaRPr lang="en-US" sz="1050" dirty="0"/>
          </a:p>
        </p:txBody>
      </p:sp>
      <p:sp>
        <p:nvSpPr>
          <p:cNvPr id="14" name="a1_fade_450_412"/>
          <p:cNvSpPr/>
          <p:nvPr/>
        </p:nvSpPr>
        <p:spPr>
          <a:xfrm>
            <a:off x="5463540" y="114300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15" name="a1_fade_510_413"/>
          <p:cNvSpPr txBox="1"/>
          <p:nvPr/>
        </p:nvSpPr>
        <p:spPr>
          <a:xfrm>
            <a:off x="5573268" y="120700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4</a:t>
            </a:r>
            <a:endParaRPr lang="en-US" sz="1600" dirty="0"/>
          </a:p>
        </p:txBody>
      </p:sp>
      <p:sp>
        <p:nvSpPr>
          <p:cNvPr id="16" name="a1_fade_510_414"/>
          <p:cNvSpPr txBox="1"/>
          <p:nvPr/>
        </p:nvSpPr>
        <p:spPr>
          <a:xfrm>
            <a:off x="5573268" y="150876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Remove common / stop words</a:t>
            </a:r>
            <a:endParaRPr lang="en-US" sz="1050" dirty="0"/>
          </a:p>
        </p:txBody>
      </p:sp>
      <p:sp>
        <p:nvSpPr>
          <p:cNvPr id="17" name="a1_fade_600_415"/>
          <p:cNvSpPr/>
          <p:nvPr/>
        </p:nvSpPr>
        <p:spPr>
          <a:xfrm>
            <a:off x="7132320" y="114300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18" name="a1_fade_660_416"/>
          <p:cNvSpPr txBox="1"/>
          <p:nvPr/>
        </p:nvSpPr>
        <p:spPr>
          <a:xfrm>
            <a:off x="7242048" y="120700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5</a:t>
            </a:r>
            <a:endParaRPr lang="en-US" sz="1600" dirty="0"/>
          </a:p>
        </p:txBody>
      </p:sp>
      <p:sp>
        <p:nvSpPr>
          <p:cNvPr id="19" name="a1_fade_660_417"/>
          <p:cNvSpPr txBox="1"/>
          <p:nvPr/>
        </p:nvSpPr>
        <p:spPr>
          <a:xfrm>
            <a:off x="7242048" y="150876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Write the definition of every meaning</a:t>
            </a:r>
            <a:endParaRPr lang="en-US" sz="1050" dirty="0"/>
          </a:p>
        </p:txBody>
      </p:sp>
      <p:sp>
        <p:nvSpPr>
          <p:cNvPr id="20" name="a1_fade_750_418"/>
          <p:cNvSpPr/>
          <p:nvPr/>
        </p:nvSpPr>
        <p:spPr>
          <a:xfrm>
            <a:off x="457200" y="214884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21" name="a1_fade_810_419"/>
          <p:cNvSpPr txBox="1"/>
          <p:nvPr/>
        </p:nvSpPr>
        <p:spPr>
          <a:xfrm>
            <a:off x="566928" y="221284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6</a:t>
            </a:r>
            <a:endParaRPr lang="en-US" sz="1600" dirty="0"/>
          </a:p>
        </p:txBody>
      </p:sp>
      <p:sp>
        <p:nvSpPr>
          <p:cNvPr id="22" name="a1_fade_810_420"/>
          <p:cNvSpPr txBox="1"/>
          <p:nvPr/>
        </p:nvSpPr>
        <p:spPr>
          <a:xfrm>
            <a:off x="566928" y="251460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Find common words</a:t>
            </a:r>
            <a:endParaRPr lang="en-US" sz="1050" dirty="0"/>
          </a:p>
        </p:txBody>
      </p:sp>
      <p:sp>
        <p:nvSpPr>
          <p:cNvPr id="23" name="a1_fade_900_421"/>
          <p:cNvSpPr/>
          <p:nvPr/>
        </p:nvSpPr>
        <p:spPr>
          <a:xfrm>
            <a:off x="2125980" y="214884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24" name="a1_fade_960_422"/>
          <p:cNvSpPr txBox="1"/>
          <p:nvPr/>
        </p:nvSpPr>
        <p:spPr>
          <a:xfrm>
            <a:off x="2235708" y="221284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7</a:t>
            </a:r>
            <a:endParaRPr lang="en-US" sz="1600" dirty="0"/>
          </a:p>
        </p:txBody>
      </p:sp>
      <p:sp>
        <p:nvSpPr>
          <p:cNvPr id="25" name="a1_fade_960_423"/>
          <p:cNvSpPr txBox="1"/>
          <p:nvPr/>
        </p:nvSpPr>
        <p:spPr>
          <a:xfrm>
            <a:off x="2235708" y="251460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Count them</a:t>
            </a:r>
            <a:endParaRPr lang="en-US" sz="1050" dirty="0"/>
          </a:p>
        </p:txBody>
      </p:sp>
      <p:sp>
        <p:nvSpPr>
          <p:cNvPr id="26" name="a1_fade_1050_424"/>
          <p:cNvSpPr/>
          <p:nvPr/>
        </p:nvSpPr>
        <p:spPr>
          <a:xfrm>
            <a:off x="3794760" y="214884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27" name="a1_fade_1110_425"/>
          <p:cNvSpPr txBox="1"/>
          <p:nvPr/>
        </p:nvSpPr>
        <p:spPr>
          <a:xfrm>
            <a:off x="3904488" y="221284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8</a:t>
            </a:r>
            <a:endParaRPr lang="en-US" sz="1600" dirty="0"/>
          </a:p>
        </p:txBody>
      </p:sp>
      <p:sp>
        <p:nvSpPr>
          <p:cNvPr id="28" name="a1_fade_1110_426"/>
          <p:cNvSpPr txBox="1"/>
          <p:nvPr/>
        </p:nvSpPr>
        <p:spPr>
          <a:xfrm>
            <a:off x="3904488" y="251460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Make a small score table</a:t>
            </a:r>
            <a:endParaRPr lang="en-US" sz="1050" dirty="0"/>
          </a:p>
        </p:txBody>
      </p:sp>
      <p:sp>
        <p:nvSpPr>
          <p:cNvPr id="29" name="a1_fade_1200_427"/>
          <p:cNvSpPr/>
          <p:nvPr/>
        </p:nvSpPr>
        <p:spPr>
          <a:xfrm>
            <a:off x="5463540" y="2148840"/>
            <a:ext cx="1554480" cy="886968"/>
          </a:xfrm>
          <a:prstGeom prst="roundRect">
            <a:avLst>
              <a:gd name="adj" fmla="val 12371"/>
            </a:avLst>
          </a:prstGeom>
          <a:solidFill>
            <a:srgbClr val="F2F4F8"/>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30" name="a1_fade_1260_428"/>
          <p:cNvSpPr txBox="1"/>
          <p:nvPr/>
        </p:nvSpPr>
        <p:spPr>
          <a:xfrm>
            <a:off x="5573268" y="2212848"/>
            <a:ext cx="365760" cy="320040"/>
          </a:xfrm>
          <a:prstGeom prst="rect">
            <a:avLst/>
          </a:prstGeom>
          <a:noFill/>
          <a:ln/>
        </p:spPr>
        <p:txBody>
          <a:bodyPr wrap="square" lIns="0" tIns="0" rIns="0" bIns="0" rtlCol="0" anchor="t"/>
          <a:lstStyle/>
          <a:p>
            <a:pPr marL="0" indent="0">
              <a:buNone/>
            </a:pPr>
            <a:r>
              <a:rPr lang="en-US" sz="1600" b="1" dirty="0">
                <a:solidFill>
                  <a:srgbClr val="1F8A7D"/>
                </a:solidFill>
                <a:latin typeface="Cambria" pitchFamily="34" charset="0"/>
                <a:ea typeface="Cambria" pitchFamily="34" charset="-122"/>
                <a:cs typeface="Cambria" pitchFamily="34" charset="-120"/>
              </a:rPr>
              <a:t>9</a:t>
            </a:r>
            <a:endParaRPr lang="en-US" sz="1600" dirty="0"/>
          </a:p>
        </p:txBody>
      </p:sp>
      <p:sp>
        <p:nvSpPr>
          <p:cNvPr id="31" name="a1_fade_1260_429"/>
          <p:cNvSpPr txBox="1"/>
          <p:nvPr/>
        </p:nvSpPr>
        <p:spPr>
          <a:xfrm>
            <a:off x="5573268" y="251460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Choose the highest score</a:t>
            </a:r>
            <a:endParaRPr lang="en-US" sz="1050" dirty="0"/>
          </a:p>
        </p:txBody>
      </p:sp>
      <p:sp>
        <p:nvSpPr>
          <p:cNvPr id="32" name="a1_fade_1350_430"/>
          <p:cNvSpPr/>
          <p:nvPr/>
        </p:nvSpPr>
        <p:spPr>
          <a:xfrm>
            <a:off x="7132320" y="2148840"/>
            <a:ext cx="1554480" cy="886968"/>
          </a:xfrm>
          <a:prstGeom prst="roundRect">
            <a:avLst>
              <a:gd name="adj" fmla="val 12371"/>
            </a:avLst>
          </a:prstGeom>
          <a:solidFill>
            <a:srgbClr val="F4A300"/>
          </a:solidFill>
          <a:ln/>
          <a:effectLst>
            <a:outerShdw blurRad="76200" dist="25400" dir="5400000" algn="bl" rotWithShape="0">
              <a:srgbClr val="000000">
                <a:alpha val="14000"/>
              </a:srgbClr>
            </a:outerShdw>
          </a:effectLst>
        </p:spPr>
        <p:txBody>
          <a:bodyPr wrap="square" lIns="76810" tIns="128016" rIns="128016" bIns="76810" rtlCol="0" anchor="ctr"/>
          <a:lstStyle/>
          <a:p>
            <a:pPr marL="0" indent="0" algn="l">
              <a:buNone/>
            </a:pPr>
            <a:endParaRPr lang="en-US" sz="1300" dirty="0"/>
          </a:p>
        </p:txBody>
      </p:sp>
      <p:sp>
        <p:nvSpPr>
          <p:cNvPr id="33" name="a1_fade_1410_431"/>
          <p:cNvSpPr txBox="1"/>
          <p:nvPr/>
        </p:nvSpPr>
        <p:spPr>
          <a:xfrm>
            <a:off x="7242048" y="2212848"/>
            <a:ext cx="365760" cy="320040"/>
          </a:xfrm>
          <a:prstGeom prst="rect">
            <a:avLst/>
          </a:prstGeom>
          <a:noFill/>
          <a:ln/>
        </p:spPr>
        <p:txBody>
          <a:bodyPr wrap="square" lIns="0" tIns="0" rIns="0" bIns="0" rtlCol="0" anchor="t"/>
          <a:lstStyle/>
          <a:p>
            <a:pPr marL="0" indent="0">
              <a:buNone/>
            </a:pPr>
            <a:r>
              <a:rPr lang="en-US" sz="1600" b="1" dirty="0">
                <a:solidFill>
                  <a:srgbClr val="22262E"/>
                </a:solidFill>
                <a:latin typeface="Cambria" pitchFamily="34" charset="0"/>
                <a:ea typeface="Cambria" pitchFamily="34" charset="-122"/>
                <a:cs typeface="Cambria" pitchFamily="34" charset="-120"/>
              </a:rPr>
              <a:t>10</a:t>
            </a:r>
            <a:endParaRPr lang="en-US" sz="1600" dirty="0"/>
          </a:p>
        </p:txBody>
      </p:sp>
      <p:sp>
        <p:nvSpPr>
          <p:cNvPr id="34" name="a1_fade_1410_432"/>
          <p:cNvSpPr txBox="1"/>
          <p:nvPr/>
        </p:nvSpPr>
        <p:spPr>
          <a:xfrm>
            <a:off x="7242048" y="2514600"/>
            <a:ext cx="1371600" cy="502920"/>
          </a:xfrm>
          <a:prstGeom prst="rect">
            <a:avLst/>
          </a:prstGeom>
          <a:noFill/>
          <a:ln/>
        </p:spPr>
        <p:txBody>
          <a:bodyPr wrap="square" lIns="0" tIns="0" rIns="0" bIns="0" rtlCol="0" anchor="t"/>
          <a:lstStyle/>
          <a:p>
            <a:pPr marL="0" indent="0">
              <a:buNone/>
            </a:pPr>
            <a:r>
              <a:rPr lang="en-US" sz="1050" dirty="0">
                <a:solidFill>
                  <a:srgbClr val="22262E"/>
                </a:solidFill>
                <a:latin typeface="Calibri" pitchFamily="34" charset="0"/>
                <a:ea typeface="Calibri" pitchFamily="34" charset="-122"/>
                <a:cs typeface="Calibri" pitchFamily="34" charset="-120"/>
              </a:rPr>
              <a:t>Write the final meaning in words</a:t>
            </a:r>
            <a:endParaRPr lang="en-US" sz="1050" dirty="0"/>
          </a:p>
        </p:txBody>
      </p:sp>
      <p:sp>
        <p:nvSpPr>
          <p:cNvPr id="35" name="a2_wipe_0_433"/>
          <p:cNvSpPr/>
          <p:nvPr/>
        </p:nvSpPr>
        <p:spPr>
          <a:xfrm>
            <a:off x="457200" y="3246120"/>
            <a:ext cx="3017520" cy="1371600"/>
          </a:xfrm>
          <a:prstGeom prst="roundRect">
            <a:avLst>
              <a:gd name="adj" fmla="val 8000"/>
            </a:avLst>
          </a:prstGeom>
          <a:solidFill>
            <a:srgbClr val="E2F3F0"/>
          </a:solidFill>
          <a:ln/>
        </p:spPr>
        <p:txBody>
          <a:bodyPr wrap="square" lIns="76810" tIns="128016" rIns="128016" bIns="76810" rtlCol="0" anchor="t"/>
          <a:lstStyle/>
          <a:p>
            <a:pPr marL="0" indent="0" algn="l">
              <a:buNone/>
            </a:pPr>
            <a:r>
              <a:rPr lang="en-US" sz="1200" b="1" dirty="0">
                <a:solidFill>
                  <a:srgbClr val="22262E"/>
                </a:solidFill>
                <a:latin typeface="Calibri" pitchFamily="34" charset="0"/>
                <a:ea typeface="Calibri" pitchFamily="34" charset="-122"/>
                <a:cs typeface="Calibri" pitchFamily="34" charset="-120"/>
              </a:rPr>
              <a:t>Answer format</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Sense 1 → matching words → score</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Sense 2 → matching words → score</a:t>
            </a:r>
            <a:endParaRPr lang="en-US" sz="1200" dirty="0"/>
          </a:p>
          <a:p>
            <a:pPr marL="0" indent="0" algn="l">
              <a:buNone/>
            </a:pPr>
            <a:r>
              <a:rPr lang="en-US" sz="1200" dirty="0">
                <a:solidFill>
                  <a:srgbClr val="22262E"/>
                </a:solidFill>
                <a:latin typeface="Calibri" pitchFamily="34" charset="0"/>
                <a:ea typeface="Calibri" pitchFamily="34" charset="-122"/>
                <a:cs typeface="Calibri" pitchFamily="34" charset="-120"/>
              </a:rPr>
              <a:t>Highest score → selected sense</a:t>
            </a:r>
            <a:endParaRPr lang="en-US" sz="1200" dirty="0"/>
          </a:p>
        </p:txBody>
      </p:sp>
      <p:sp>
        <p:nvSpPr>
          <p:cNvPr id="36" name="a3_wipe_0_434"/>
          <p:cNvSpPr/>
          <p:nvPr/>
        </p:nvSpPr>
        <p:spPr>
          <a:xfrm>
            <a:off x="3657600" y="3246120"/>
            <a:ext cx="5029200" cy="1371600"/>
          </a:xfrm>
          <a:prstGeom prst="roundRect">
            <a:avLst>
              <a:gd name="adj" fmla="val 8000"/>
            </a:avLst>
          </a:prstGeom>
          <a:solidFill>
            <a:srgbClr val="FFF0C7"/>
          </a:solidFill>
          <a:ln/>
        </p:spPr>
        <p:txBody>
          <a:bodyPr wrap="square" lIns="76810" tIns="128016" rIns="128016" bIns="76810" rtlCol="0" anchor="t"/>
          <a:lstStyle/>
          <a:p>
            <a:pPr marL="0" indent="0" algn="l">
              <a:buNone/>
            </a:pPr>
            <a:r>
              <a:rPr lang="en-US" sz="1150" b="1" dirty="0">
                <a:solidFill>
                  <a:srgbClr val="22262E"/>
                </a:solidFill>
                <a:latin typeface="Calibri" pitchFamily="34" charset="0"/>
                <a:ea typeface="Calibri" pitchFamily="34" charset="-122"/>
                <a:cs typeface="Calibri" pitchFamily="34" charset="-120"/>
              </a:rPr>
              <a:t>Quick exam example:</a:t>
            </a:r>
            <a:r>
              <a:rPr lang="en-US" sz="1150" dirty="0">
                <a:solidFill>
                  <a:srgbClr val="22262E"/>
                </a:solidFill>
                <a:latin typeface="Calibri" pitchFamily="34" charset="0"/>
                <a:ea typeface="Calibri" pitchFamily="34" charset="-122"/>
                <a:cs typeface="Calibri" pitchFamily="34" charset="-120"/>
              </a:rPr>
              <a:t> “The fisherman sat on the bank near the river.”</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Context = {fisherman, sat, near, river}</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Sense 1 (financial): none → score 0</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Sense 2 (river land): {river} → score 1</a:t>
            </a:r>
            <a:endParaRPr lang="en-US" sz="1150" dirty="0"/>
          </a:p>
          <a:p>
            <a:pPr marL="0" indent="0" algn="l">
              <a:buNone/>
            </a:pPr>
            <a:r>
              <a:rPr lang="en-US" sz="1150" dirty="0">
                <a:solidFill>
                  <a:srgbClr val="22262E"/>
                </a:solidFill>
                <a:latin typeface="Calibri" pitchFamily="34" charset="0"/>
                <a:ea typeface="Calibri" pitchFamily="34" charset="-122"/>
                <a:cs typeface="Calibri" pitchFamily="34" charset="-120"/>
              </a:rPr>
              <a:t>bank = land beside a river</a:t>
            </a:r>
            <a:endParaRPr lang="en-US" sz="1150" dirty="0"/>
          </a:p>
        </p:txBody>
      </p:sp>
      <p:sp>
        <p:nvSpPr>
          <p:cNvPr id="37" name="Text 34"/>
          <p:cNvSpPr txBox="1"/>
          <p:nvPr/>
        </p:nvSpPr>
        <p:spPr>
          <a:xfrm>
            <a:off x="457200" y="4818888"/>
            <a:ext cx="3657600" cy="201168"/>
          </a:xfrm>
          <a:prstGeom prst="rect">
            <a:avLst/>
          </a:prstGeom>
          <a:noFill/>
          <a:ln/>
        </p:spPr>
        <p:txBody>
          <a:bodyPr wrap="square" lIns="0" tIns="0" rIns="0" bIns="0" rtlCol="0" anchor="ctr"/>
          <a:lstStyle/>
          <a:p>
            <a:pPr marL="0" indent="0">
              <a:buNone/>
            </a:pPr>
            <a:r>
              <a:rPr lang="en-US" sz="900" dirty="0">
                <a:solidFill>
                  <a:srgbClr val="8A93A6"/>
                </a:solidFill>
                <a:latin typeface="Calibri" pitchFamily="34" charset="0"/>
                <a:ea typeface="Calibri" pitchFamily="34" charset="-122"/>
                <a:cs typeface="Calibri" pitchFamily="34" charset="-120"/>
              </a:rPr>
              <a:t>Lesk Algorithm · Word Sense Disambiguation</a:t>
            </a:r>
            <a:endParaRPr lang="en-US" sz="900" dirty="0"/>
          </a:p>
        </p:txBody>
      </p:sp>
      <p:sp>
        <p:nvSpPr>
          <p:cNvPr id="2"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3A6"/>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6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21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21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45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1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1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6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6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81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81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6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6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05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11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20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2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2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35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41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41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wipe(left)">
                                      <p:cBhvr>
                                        <p:cTn id="99" dur="5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wipe(left)">
                                      <p:cBhvr>
                                        <p:cTn id="10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6074</Words>
  <Application>Microsoft Macintosh PowerPoint</Application>
  <PresentationFormat>On-screen Show (16:9)</PresentationFormat>
  <Paragraphs>561</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Lesk Algorithm</dc:title>
  <dc:subject>PptxGenJS Presentation</dc:subject>
  <dc:creator>PptxGenJS</dc:creator>
  <cp:lastModifiedBy>Devendra Panchal</cp:lastModifiedBy>
  <cp:revision>3</cp:revision>
  <dcterms:created xsi:type="dcterms:W3CDTF">2026-10-01T03:32:45Z</dcterms:created>
  <dcterms:modified xsi:type="dcterms:W3CDTF">2026-10-01T03:40:25Z</dcterms:modified>
</cp:coreProperties>
</file>